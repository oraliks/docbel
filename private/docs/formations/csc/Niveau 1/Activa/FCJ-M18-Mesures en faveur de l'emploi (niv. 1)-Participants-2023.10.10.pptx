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317" r:id="rId16"/>
    <p:sldId id="356" r:id="rId17"/>
    <p:sldId id="270" r:id="rId18"/>
    <p:sldId id="271" r:id="rId19"/>
    <p:sldId id="273" r:id="rId20"/>
    <p:sldId id="274" r:id="rId21"/>
    <p:sldId id="277" r:id="rId22"/>
    <p:sldId id="278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669900"/>
    <a:srgbClr val="FF9933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8" autoAdjust="0"/>
    <p:restoredTop sz="86827" autoAdjust="0"/>
  </p:normalViewPr>
  <p:slideViewPr>
    <p:cSldViewPr>
      <p:cViewPr varScale="1">
        <p:scale>
          <a:sx n="74" d="100"/>
          <a:sy n="74" d="100"/>
        </p:scale>
        <p:origin x="173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08/11/2023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08/11/2023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151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618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C7B4-F368-7047-AF1F-5AE09B22C31E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8582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C7B4-F368-7047-AF1F-5AE09B22C31E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434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C7B4-F368-7047-AF1F-5AE09B22C31E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925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5322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5126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1461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074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085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5191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8851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384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6167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7598-6A2C-4803-A971-B21A40E3B1DC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2070-658A-4BA4-96EB-F8D7571932FC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507-624E-4034-8784-5768A254F469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CE55-37A3-4E0C-B009-6CAC84DA8280}" type="datetime1">
              <a:rPr lang="fr-FR" smtClean="0"/>
              <a:t>08/11/2023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F61A-37A1-478A-83AC-D3AC0E4A81D9}" type="datetime1">
              <a:rPr lang="fr-FR" smtClean="0"/>
              <a:t>08/11/2023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8E54-B153-4785-A3E3-895B02CF9956}" type="datetime1">
              <a:rPr lang="fr-FR" smtClean="0"/>
              <a:t>08/11/2023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0799E-39DC-46F8-B9A6-9FCC70B4418F}" type="datetime1">
              <a:rPr lang="fr-FR" smtClean="0"/>
              <a:t>08/11/2023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91E9-FFB5-4F4F-96A3-A5898EA3BEC6}" type="datetime1">
              <a:rPr lang="fr-FR" smtClean="0"/>
              <a:t>08/11/2023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16D9-B620-4081-97BA-7989F10686CE}" type="datetime1">
              <a:rPr lang="fr-FR" smtClean="0"/>
              <a:t>08/11/2023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A84-1F6A-4697-915C-8CED1A4F22D4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7ED5-DA29-48EB-A182-B02B3276C0F7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7391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228600" y="1981200"/>
            <a:ext cx="7391400" cy="4114800"/>
          </a:xfrm>
        </p:spPr>
        <p:txBody>
          <a:bodyPr/>
          <a:lstStyle/>
          <a:p>
            <a:pPr lvl="0"/>
            <a:r>
              <a:rPr lang="fr-FR" noProof="0"/>
              <a:t>Cliquez sur l'icône pour ajouter un tableau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D713C-6AB0-4950-9672-CBA7C0E4D06A}" type="datetime1">
              <a:rPr lang="fr-FR" smtClean="0"/>
              <a:t>08/11/2023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126E2-B633-460E-B2FC-238B1E9D24D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EC08E-C548-494A-BAC9-6AE1E4A791D1}" type="datetime1">
              <a:rPr lang="fr-FR" smtClean="0"/>
              <a:t>08/11/2023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ctiris.be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endParaRPr lang="fr-BE" sz="5400" b="1" i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fr-BE" sz="5400" b="1" i="1" dirty="0">
                <a:latin typeface="+mj-lt"/>
                <a:cs typeface="Times New Roman" pitchFamily="18" charset="0"/>
              </a:rPr>
              <a:t>Mesures en faveur </a:t>
            </a:r>
          </a:p>
          <a:p>
            <a:pPr algn="ctr">
              <a:buNone/>
            </a:pPr>
            <a:r>
              <a:rPr lang="fr-BE" sz="5400" b="1" i="1" dirty="0">
                <a:latin typeface="+mj-lt"/>
                <a:cs typeface="Times New Roman" pitchFamily="18" charset="0"/>
              </a:rPr>
              <a:t>de l’emploi</a:t>
            </a:r>
          </a:p>
        </p:txBody>
      </p:sp>
    </p:spTree>
    <p:extLst>
      <p:ext uri="{BB962C8B-B14F-4D97-AF65-F5344CB8AC3E}">
        <p14:creationId xmlns:p14="http://schemas.microsoft.com/office/powerpoint/2010/main" val="48759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fr-BE" sz="2200" dirty="0"/>
              <a:t>	1. Régionalisation des régimes d’aide à l’emploi		Pg. 3</a:t>
            </a:r>
          </a:p>
          <a:p>
            <a:pPr>
              <a:buNone/>
            </a:pPr>
            <a:r>
              <a:rPr lang="fr-BE" sz="2200" dirty="0"/>
              <a:t>	</a:t>
            </a:r>
          </a:p>
          <a:p>
            <a:pPr>
              <a:buNone/>
            </a:pPr>
            <a:r>
              <a:rPr lang="fr-BE" sz="2200" dirty="0"/>
              <a:t>	2. Les Impulsions 						Pg. 5</a:t>
            </a:r>
          </a:p>
          <a:p>
            <a:pPr>
              <a:buNone/>
            </a:pPr>
            <a:r>
              <a:rPr lang="fr-BE" sz="2200" dirty="0"/>
              <a:t>	</a:t>
            </a:r>
          </a:p>
          <a:p>
            <a:pPr>
              <a:buNone/>
            </a:pPr>
            <a:r>
              <a:rPr lang="fr-BE" sz="2200" dirty="0"/>
              <a:t>	3. Le plan Sine 						Pg. 20</a:t>
            </a:r>
          </a:p>
          <a:p>
            <a:pPr>
              <a:buNone/>
            </a:pPr>
            <a:r>
              <a:rPr lang="fr-BE" sz="2200" dirty="0"/>
              <a:t>	</a:t>
            </a:r>
          </a:p>
          <a:p>
            <a:pPr>
              <a:buNone/>
            </a:pPr>
            <a:r>
              <a:rPr lang="fr-BE" sz="2200" dirty="0"/>
              <a:t>	4. L’ Activa-Bruxelles						Pg. 27</a:t>
            </a:r>
          </a:p>
          <a:p>
            <a:pPr>
              <a:buNone/>
            </a:pPr>
            <a:r>
              <a:rPr lang="fr-BE" sz="2200" dirty="0"/>
              <a:t>	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403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 txBox="1">
            <a:spLocks/>
          </p:cNvSpPr>
          <p:nvPr/>
        </p:nvSpPr>
        <p:spPr>
          <a:xfrm>
            <a:off x="457200" y="1628800"/>
            <a:ext cx="8229600" cy="3384376"/>
          </a:xfrm>
          <a:prstGeom prst="rect">
            <a:avLst/>
          </a:prstGeom>
          <a:ln w="38100">
            <a:solidFill>
              <a:srgbClr val="6699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1. </a:t>
            </a:r>
            <a:r>
              <a:rPr lang="fr-FR" sz="6600" b="1" noProof="0" dirty="0"/>
              <a:t>Régionalisation </a:t>
            </a:r>
            <a:r>
              <a:rPr kumimoji="0" lang="fr-FR" sz="6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des régimes d’aide à l’emploi</a:t>
            </a:r>
            <a:endParaRPr kumimoji="0" lang="fr-FR" sz="6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050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dirty="0"/>
              <a:t> Aperçu  des régimes par région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788756-B7C5-4DDF-A33E-9B86D5C5AD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88" t="28238" r="12201" b="31143"/>
          <a:stretch/>
        </p:blipFill>
        <p:spPr>
          <a:xfrm>
            <a:off x="611560" y="1700808"/>
            <a:ext cx="807524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 txBox="1">
            <a:spLocks/>
          </p:cNvSpPr>
          <p:nvPr/>
        </p:nvSpPr>
        <p:spPr>
          <a:xfrm>
            <a:off x="404224" y="2384416"/>
            <a:ext cx="8229600" cy="1088749"/>
          </a:xfrm>
          <a:prstGeom prst="rect">
            <a:avLst/>
          </a:prstGeom>
          <a:ln w="38100">
            <a:solidFill>
              <a:srgbClr val="6699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fr-FR" sz="6600" b="1" dirty="0"/>
              <a:t>2</a:t>
            </a:r>
            <a:r>
              <a:rPr kumimoji="0" lang="fr-FR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fr-FR" sz="6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Le </a:t>
            </a:r>
            <a:r>
              <a:rPr lang="fr-FR" sz="6600" b="1" dirty="0"/>
              <a:t>régime</a:t>
            </a:r>
            <a:r>
              <a:rPr kumimoji="0" lang="fr-FR" sz="6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Impulsion</a:t>
            </a:r>
            <a:endParaRPr kumimoji="0" lang="fr-FR" sz="6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4225" y="4068372"/>
            <a:ext cx="822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dirty="0"/>
              <a:t>Décret du 02 février 2017</a:t>
            </a:r>
          </a:p>
          <a:p>
            <a:pPr algn="ctr"/>
            <a:r>
              <a:rPr lang="fr-BE" sz="2400" dirty="0"/>
              <a:t>Arrêté du Gouvernement wallon du 22 juin 2017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237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 </a:t>
            </a:r>
            <a:r>
              <a:rPr lang="fr-BE" sz="4000" b="1" i="1" dirty="0">
                <a:cs typeface="Times New Roman" pitchFamily="18" charset="0"/>
              </a:rPr>
              <a:t>2.1. Principes</a:t>
            </a:r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000" dirty="0"/>
              <a:t>Depuis le </a:t>
            </a:r>
            <a:r>
              <a:rPr lang="fr-BE" sz="2000" b="1" dirty="0">
                <a:solidFill>
                  <a:srgbClr val="C00000"/>
                </a:solidFill>
              </a:rPr>
              <a:t>01.07.2017</a:t>
            </a:r>
            <a:r>
              <a:rPr lang="fr-BE" sz="2000" dirty="0"/>
              <a:t>, la région wallonne a mis en place le plan « Impulsion » </a:t>
            </a:r>
            <a:r>
              <a:rPr lang="fr-BE" sz="2000" b="1" u="sng" dirty="0"/>
              <a:t>3 Mesures</a:t>
            </a:r>
            <a:r>
              <a:rPr lang="fr-BE" sz="2000" dirty="0"/>
              <a:t> :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2000" b="1" dirty="0">
                <a:solidFill>
                  <a:srgbClr val="C00000"/>
                </a:solidFill>
              </a:rPr>
              <a:t>Impulsion – 25 ans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2000" b="1" dirty="0">
                <a:solidFill>
                  <a:srgbClr val="C00000"/>
                </a:solidFill>
              </a:rPr>
              <a:t>Impulsion 12 mois + 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2000" b="1" dirty="0">
                <a:solidFill>
                  <a:srgbClr val="C00000"/>
                </a:solidFill>
              </a:rPr>
              <a:t>Impulsion 55 ans +</a:t>
            </a:r>
          </a:p>
          <a:p>
            <a:pPr marL="758825" lvl="1" indent="0">
              <a:buNone/>
            </a:pPr>
            <a:endParaRPr lang="fr-BE" sz="2000" dirty="0"/>
          </a:p>
          <a:p>
            <a:pPr marL="0" indent="0">
              <a:buNone/>
            </a:pPr>
            <a:r>
              <a:rPr lang="fr-BE" sz="2000" dirty="0">
                <a:sym typeface="Wingdings" panose="05000000000000000000" pitchFamily="2" charset="2"/>
              </a:rPr>
              <a:t> </a:t>
            </a:r>
            <a:r>
              <a:rPr lang="fr-BE" sz="2000" dirty="0"/>
              <a:t>L’ONEm prend en charge une partie de la rémunération nette du travailleur par </a:t>
            </a:r>
            <a:r>
              <a:rPr lang="fr-BE" sz="2000" b="1" dirty="0">
                <a:solidFill>
                  <a:srgbClr val="C00000"/>
                </a:solidFill>
              </a:rPr>
              <a:t>l’allocation de travail</a:t>
            </a:r>
            <a:r>
              <a:rPr lang="fr-BE" sz="2000" b="1" dirty="0">
                <a:solidFill>
                  <a:srgbClr val="0033CC"/>
                </a:solidFill>
              </a:rPr>
              <a:t> </a:t>
            </a:r>
            <a:r>
              <a:rPr lang="fr-BE" sz="2000" dirty="0"/>
              <a:t>(sauf « Impulsion 55 ans + »).</a:t>
            </a:r>
          </a:p>
          <a:p>
            <a:pPr marL="0" indent="0">
              <a:buNone/>
            </a:pPr>
            <a:endParaRPr lang="fr-BE" sz="2000" dirty="0"/>
          </a:p>
          <a:p>
            <a:pPr marL="0" indent="0">
              <a:buNone/>
            </a:pPr>
            <a:r>
              <a:rPr lang="fr-BE" sz="2000" b="1" dirty="0">
                <a:sym typeface="Wingdings" panose="05000000000000000000" pitchFamily="2" charset="2"/>
              </a:rPr>
              <a:t> </a:t>
            </a:r>
            <a:r>
              <a:rPr lang="fr-BE" sz="2000" b="1" dirty="0"/>
              <a:t>Diminution du </a:t>
            </a:r>
            <a:r>
              <a:rPr lang="fr-BE" sz="2000" b="1" dirty="0">
                <a:solidFill>
                  <a:srgbClr val="C00000"/>
                </a:solidFill>
              </a:rPr>
              <a:t>montant des cotisations ONSS </a:t>
            </a:r>
            <a:r>
              <a:rPr lang="fr-BE" sz="2000" dirty="0"/>
              <a:t>patronales pour le régime « Impulsion 55 ans+ ».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366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89216" tIns="44609" rIns="89216" bIns="44609" rtlCol="0" anchor="ctr">
            <a:normAutofit/>
          </a:bodyPr>
          <a:lstStyle/>
          <a:p>
            <a:pPr algn="r"/>
            <a:r>
              <a:rPr lang="fr-FR" sz="4000" b="1" i="1" dirty="0"/>
              <a:t>2.2. Impulsion – 25 ans : Conditions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vert="horz" lIns="89216" tIns="44609" rIns="89216" bIns="44609" rtlCol="0" anchor="t">
            <a:normAutofit fontScale="77500" lnSpcReduction="200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 employeur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 marL="355600" indent="0">
              <a:spcBef>
                <a:spcPts val="600"/>
              </a:spcBef>
              <a:buNone/>
            </a:pPr>
            <a:r>
              <a:rPr lang="fr-BE" dirty="0"/>
              <a:t>Employeurs du secteur privé ou du secteur public pour autant qu’il s’agisse de travailleurs contractuels.</a:t>
            </a:r>
          </a:p>
          <a:p>
            <a:pPr marL="0" indent="0">
              <a:spcBef>
                <a:spcPts val="600"/>
              </a:spcBef>
              <a:buNone/>
            </a:pPr>
            <a:endParaRPr lang="fr-FR" b="1" u="sng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travailleurs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Avoir sa résidence principale sur le territoire de la région wallonne de langue française.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Etre inscrit comme demandeur d’emploi inoccupé.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Avoir </a:t>
            </a:r>
            <a:r>
              <a:rPr lang="fr-BE" b="1" dirty="0">
                <a:solidFill>
                  <a:srgbClr val="C00000"/>
                </a:solidFill>
              </a:rPr>
              <a:t>moins de 25 ans au moment  de l’engagement initial</a:t>
            </a:r>
            <a:r>
              <a:rPr lang="fr-BE" dirty="0"/>
              <a:t>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Etre </a:t>
            </a:r>
            <a:r>
              <a:rPr lang="fr-BE" b="1" dirty="0">
                <a:solidFill>
                  <a:srgbClr val="C00000"/>
                </a:solidFill>
              </a:rPr>
              <a:t>peu </a:t>
            </a:r>
            <a:r>
              <a:rPr lang="fr-BE" dirty="0"/>
              <a:t>(pas de CESS) ou </a:t>
            </a:r>
            <a:r>
              <a:rPr lang="fr-BE" b="1" dirty="0">
                <a:solidFill>
                  <a:srgbClr val="C00000"/>
                </a:solidFill>
              </a:rPr>
              <a:t>moyennement</a:t>
            </a:r>
            <a:r>
              <a:rPr lang="fr-BE" dirty="0"/>
              <a:t> (CESS max.) qualifié.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Etre en </a:t>
            </a:r>
            <a:r>
              <a:rPr lang="fr-BE" b="1" dirty="0">
                <a:solidFill>
                  <a:srgbClr val="C00000"/>
                </a:solidFill>
              </a:rPr>
              <a:t>CDI ou CDD d’au moins 2 mois </a:t>
            </a:r>
            <a:r>
              <a:rPr lang="fr-BE" dirty="0"/>
              <a:t>(depuis le 01/07/2023).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082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89216" tIns="44609" rIns="89216" bIns="44609" rtlCol="0" anchor="ctr">
            <a:normAutofit/>
          </a:bodyPr>
          <a:lstStyle/>
          <a:p>
            <a:pPr algn="r"/>
            <a:r>
              <a:rPr lang="fr-FR" sz="4000" b="1" i="1" dirty="0"/>
              <a:t>2.3. Impulsion 12 mois + : Conditions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vert="horz" lIns="89216" tIns="44609" rIns="89216" bIns="44609" rtlCol="0" anchor="t">
            <a:normAutofit fontScale="85000" lnSpcReduction="100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 employeur:</a:t>
            </a:r>
          </a:p>
          <a:p>
            <a:pPr marL="355600" indent="0">
              <a:spcBef>
                <a:spcPts val="600"/>
              </a:spcBef>
              <a:buNone/>
            </a:pPr>
            <a:r>
              <a:rPr lang="fr-BE" dirty="0"/>
              <a:t>Employeurs du secteur privé ou du secteur public pour autant qu’il s’agisse de travailleurs contractuels .</a:t>
            </a:r>
          </a:p>
          <a:p>
            <a:pPr marL="0" indent="0">
              <a:spcBef>
                <a:spcPts val="600"/>
              </a:spcBef>
              <a:buNone/>
            </a:pPr>
            <a:endParaRPr lang="fr-FR" b="1" u="sng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travailleurs: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Avoir sa résidence principale sur le territoire de la région wallonne  de langue française.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Etre inscrit comme demandeur d’emploi inoccupé (ou assimilé) depuis </a:t>
            </a:r>
            <a:r>
              <a:rPr lang="fr-BE" b="1" dirty="0">
                <a:solidFill>
                  <a:srgbClr val="C00000"/>
                </a:solidFill>
              </a:rPr>
              <a:t>au moins 12 mois</a:t>
            </a:r>
            <a:r>
              <a:rPr lang="fr-BE" dirty="0">
                <a:solidFill>
                  <a:srgbClr val="C00000"/>
                </a:solidFill>
              </a:rPr>
              <a:t>.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Etre en </a:t>
            </a:r>
            <a:r>
              <a:rPr lang="fr-BE" b="1" dirty="0">
                <a:solidFill>
                  <a:srgbClr val="C00000"/>
                </a:solidFill>
              </a:rPr>
              <a:t>CDI ou CDD d’au moins 2 mois </a:t>
            </a:r>
            <a:r>
              <a:rPr lang="fr-BE" dirty="0"/>
              <a:t>(depuis le 01/07/2023.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180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89216" tIns="44609" rIns="89216" bIns="44609" rtlCol="0" anchor="ctr">
            <a:normAutofit/>
          </a:bodyPr>
          <a:lstStyle/>
          <a:p>
            <a:pPr algn="r"/>
            <a:r>
              <a:rPr lang="fr-FR" sz="4000" b="1" i="1" dirty="0"/>
              <a:t>2.4. Impulsion 55 ans + : Conditions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vert="horz" lIns="89216" tIns="44609" rIns="89216" bIns="44609" rtlCol="0" anchor="t">
            <a:normAutofit fontScale="85000" lnSpcReduction="100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 employeur:</a:t>
            </a:r>
          </a:p>
          <a:p>
            <a:pPr marL="355600" indent="0">
              <a:spcBef>
                <a:spcPts val="600"/>
              </a:spcBef>
              <a:buNone/>
            </a:pPr>
            <a:r>
              <a:rPr lang="fr-BE" dirty="0"/>
              <a:t>Employeurs du secteur privé (marchand et non marchand).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fr-FR" b="1" u="sng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Conditions travailleurs: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Avoir </a:t>
            </a:r>
            <a:r>
              <a:rPr lang="fr-BE" b="1" dirty="0">
                <a:solidFill>
                  <a:srgbClr val="C00000"/>
                </a:solidFill>
              </a:rPr>
              <a:t>55 ans au dernier jour du trimestre </a:t>
            </a:r>
            <a:r>
              <a:rPr lang="fr-BE" dirty="0"/>
              <a:t>de l’engagement</a:t>
            </a: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Avoir un </a:t>
            </a:r>
            <a:r>
              <a:rPr lang="fr-BE" b="1" dirty="0"/>
              <a:t>salaire trimestriel inférieur à 16 662,56 euros bruts</a:t>
            </a:r>
            <a:r>
              <a:rPr lang="fr-BE" dirty="0"/>
              <a:t> au 01/01/2023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fr-BE" dirty="0">
                <a:sym typeface="Wingdings" panose="05000000000000000000" pitchFamily="2" charset="2"/>
              </a:rPr>
              <a:t>Cet avantage donne droit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uniquement à des réductions ONSS </a:t>
            </a:r>
            <a:r>
              <a:rPr lang="fr-BE" dirty="0">
                <a:sym typeface="Wingdings" panose="05000000000000000000" pitchFamily="2" charset="2"/>
              </a:rPr>
              <a:t>et peut être cumulé avec le régime « Impulsion 12 mois + ».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36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2.5. Procédure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L’ONEm vérifie si le travailleur satisfait en effet aux conditions le jour qui précède son entrée en service, et durant quelle période quel avantage peut être octroyé. </a:t>
            </a: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DA </a:t>
            </a:r>
            <a:r>
              <a:rPr lang="fr-BE" sz="2800" dirty="0">
                <a:cs typeface="Times New Roman" pitchFamily="18" charset="0"/>
              </a:rPr>
              <a:t>via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script 6.2 </a:t>
            </a:r>
            <a:r>
              <a:rPr lang="fr-BE" sz="2800" dirty="0">
                <a:cs typeface="Times New Roman" pitchFamily="18" charset="0"/>
              </a:rPr>
              <a:t>(Type C9 =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690</a:t>
            </a:r>
            <a:r>
              <a:rPr lang="fr-BE" sz="2800" dirty="0">
                <a:cs typeface="Times New Roman" pitchFamily="18" charset="0"/>
              </a:rPr>
              <a:t>) :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C109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Copie contrat de travail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Annexe « impulsion -25 ans, impulsion 12 mois+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190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2.5. Procédure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sz="3300" b="1" dirty="0">
                <a:solidFill>
                  <a:srgbClr val="C00000"/>
                </a:solidFill>
                <a:cs typeface="Times New Roman" pitchFamily="18" charset="0"/>
              </a:rPr>
              <a:t>Délai : </a:t>
            </a:r>
            <a:r>
              <a:rPr lang="fr-BE" sz="2800" dirty="0">
                <a:cs typeface="Times New Roman" pitchFamily="18" charset="0"/>
              </a:rPr>
              <a:t>fin du 2</a:t>
            </a:r>
            <a:r>
              <a:rPr lang="fr-BE" sz="2800" baseline="30000" dirty="0">
                <a:cs typeface="Times New Roman" pitchFamily="18" charset="0"/>
              </a:rPr>
              <a:t>ème</a:t>
            </a:r>
            <a:r>
              <a:rPr lang="fr-BE" sz="2800" dirty="0">
                <a:cs typeface="Times New Roman" pitchFamily="18" charset="0"/>
              </a:rPr>
              <a:t> mois qui suit l’entrée en service </a:t>
            </a:r>
            <a:r>
              <a:rPr lang="en-GB" sz="2800" dirty="0">
                <a:cs typeface="Times New Roman" pitchFamily="18" charset="0"/>
              </a:rPr>
              <a:t>(AM 92&amp;5 pas applicable)</a:t>
            </a: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endParaRPr lang="en-GB" sz="2800" dirty="0">
              <a:cs typeface="Times New Roman" pitchFamily="18" charset="0"/>
            </a:endParaRPr>
          </a:p>
          <a:p>
            <a:pPr marL="358775" indent="0">
              <a:lnSpc>
                <a:spcPct val="90000"/>
              </a:lnSpc>
              <a:buNone/>
              <a:tabLst>
                <a:tab pos="1349375" algn="l"/>
              </a:tabLst>
            </a:pPr>
            <a:r>
              <a:rPr lang="en-GB" sz="2800" dirty="0"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Avantage</a:t>
            </a:r>
            <a:r>
              <a:rPr lang="en-GB" sz="2800" dirty="0"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sz="2800" b="1" dirty="0">
                <a:cs typeface="Times New Roman" pitchFamily="18" charset="0"/>
                <a:sym typeface="Wingdings" panose="05000000000000000000" pitchFamily="2" charset="2"/>
              </a:rPr>
              <a:t>octroyé</a:t>
            </a:r>
            <a:r>
              <a:rPr lang="en-GB" sz="2800" b="1" dirty="0">
                <a:cs typeface="Times New Roman" pitchFamily="18" charset="0"/>
                <a:sym typeface="Wingdings" panose="05000000000000000000" pitchFamily="2" charset="2"/>
              </a:rPr>
              <a:t> au 1er jour du mois de la réception </a:t>
            </a:r>
            <a:r>
              <a:rPr lang="en-GB" sz="2800" dirty="0">
                <a:cs typeface="Times New Roman" pitchFamily="18" charset="0"/>
                <a:sym typeface="Wingdings" panose="05000000000000000000" pitchFamily="2" charset="2"/>
              </a:rPr>
              <a:t>du dossier en cas d’introduction tardive mais dont la </a:t>
            </a:r>
            <a:r>
              <a:rPr lang="en-GB" sz="2800" b="1" dirty="0">
                <a:cs typeface="Times New Roman" pitchFamily="18" charset="0"/>
                <a:sym typeface="Wingdings" panose="05000000000000000000" pitchFamily="2" charset="2"/>
              </a:rPr>
              <a:t>durée est calculée en fonction de la date de début d’occupation.</a:t>
            </a: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GB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3300" b="1" dirty="0">
                <a:solidFill>
                  <a:srgbClr val="C00000"/>
                </a:solidFill>
                <a:cs typeface="Times New Roman" pitchFamily="18" charset="0"/>
              </a:rPr>
              <a:t>TTPMD: </a:t>
            </a:r>
            <a:r>
              <a:rPr lang="en-GB" sz="2800" dirty="0">
                <a:cs typeface="Times New Roman" pitchFamily="18" charset="0"/>
              </a:rPr>
              <a:t>Obligation d’introduire un script 3.1 pour l’octroi du 99/ ou du 57/</a:t>
            </a:r>
            <a:endParaRPr lang="en-GB" sz="24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351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2.5. Procédure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Nouvelle DA 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b="1" dirty="0">
                <a:cs typeface="Times New Roman" pitchFamily="18" charset="0"/>
              </a:rPr>
              <a:t>Pour chaque nouveau contrat de travail, qu’il y ait une interruption ou non ou qu’il soit conclu avec le même employeur ou un employeur différent </a:t>
            </a:r>
            <a:r>
              <a:rPr lang="fr-BE" sz="2400" dirty="0">
                <a:cs typeface="Times New Roman" pitchFamily="18" charset="0"/>
              </a:rPr>
              <a:t>(règle à partir du 01.07.2023).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fr-BE" sz="2400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Après une </a:t>
            </a:r>
            <a:r>
              <a:rPr lang="fr-BE" sz="2400" b="1" dirty="0">
                <a:cs typeface="Times New Roman" pitchFamily="18" charset="0"/>
              </a:rPr>
              <a:t>suspension de l’allocation suite à un déménagement </a:t>
            </a:r>
            <a:r>
              <a:rPr lang="fr-BE" sz="2400" dirty="0">
                <a:cs typeface="Times New Roman" pitchFamily="18" charset="0"/>
              </a:rPr>
              <a:t>dans une autre région si l’intéressé déménage à nouveau vers la région wallonne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2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sz="24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36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DCAF21-C312-48BC-91F3-040BB2EB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2.5. Procédure</a:t>
            </a:r>
            <a:r>
              <a:rPr lang="fr-BE" sz="4000" b="1" i="1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42CBB-63E1-4ECB-A3DC-31559030B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Signature Annexe Impulsion</a:t>
            </a:r>
          </a:p>
          <a:p>
            <a:pPr marL="0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0" indent="0">
              <a:buNone/>
            </a:pPr>
            <a:r>
              <a:rPr lang="fr-BE" sz="2800" dirty="0"/>
              <a:t>La signature de l’annexe doit être </a:t>
            </a:r>
            <a:r>
              <a:rPr lang="fr-BE" sz="2800" b="1" dirty="0">
                <a:solidFill>
                  <a:srgbClr val="C00000"/>
                </a:solidFill>
              </a:rPr>
              <a:t>concomitante</a:t>
            </a:r>
            <a:r>
              <a:rPr lang="fr-BE" sz="2800" dirty="0"/>
              <a:t> à celle du contrat de travail.</a:t>
            </a:r>
          </a:p>
          <a:p>
            <a:pPr marL="0" indent="0">
              <a:buNone/>
            </a:pPr>
            <a:endParaRPr lang="fr-BE" sz="2800" dirty="0"/>
          </a:p>
          <a:p>
            <a:pPr marL="452438" indent="-452438">
              <a:buFont typeface="Wingdings" panose="05000000000000000000" pitchFamily="2" charset="2"/>
              <a:buChar char="è"/>
            </a:pPr>
            <a:r>
              <a:rPr lang="fr-BE" sz="2800" dirty="0"/>
              <a:t>Si l’annexe n’est pas signée dans le courant du mois pendant lequel débute l’occupation, l’avantage ne pourra être accordé qu’à partir du </a:t>
            </a:r>
            <a:r>
              <a:rPr lang="fr-BE" sz="2800" b="1" dirty="0"/>
              <a:t>1</a:t>
            </a:r>
            <a:r>
              <a:rPr lang="fr-BE" sz="2800" b="1" baseline="30000" dirty="0"/>
              <a:t>er</a:t>
            </a:r>
            <a:r>
              <a:rPr lang="fr-BE" sz="2800" b="1" dirty="0"/>
              <a:t> jour du mois au cours duquel l’annexe a été signée.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51D825-EC94-4C4A-B51B-93101F95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951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L’allocation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BE" dirty="0"/>
              <a:t>Le montant et la durée d’octroi de l’avantage sont déterminés en fonction du type d’« impulsion » et en fonction du </a:t>
            </a:r>
            <a:r>
              <a:rPr lang="fr-BE" b="1" u="sng" dirty="0">
                <a:solidFill>
                  <a:srgbClr val="C00000"/>
                </a:solidFill>
              </a:rPr>
              <a:t>principe de portabilité</a:t>
            </a:r>
            <a:r>
              <a:rPr lang="fr-BE" dirty="0">
                <a:solidFill>
                  <a:srgbClr val="C00000"/>
                </a:solidFill>
              </a:rPr>
              <a:t>.</a:t>
            </a:r>
            <a:endParaRPr lang="fr-BE" dirty="0"/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BE" b="1" dirty="0"/>
              <a:t>Montant allocation de travail:</a:t>
            </a:r>
          </a:p>
          <a:p>
            <a:pPr algn="ctr">
              <a:buNone/>
            </a:pPr>
            <a:r>
              <a:rPr lang="fr-BE" sz="2800" b="1" u="sng" dirty="0">
                <a:solidFill>
                  <a:srgbClr val="C00000"/>
                </a:solidFill>
                <a:cs typeface="Times New Roman" pitchFamily="18" charset="0"/>
              </a:rPr>
              <a:t>Montant de base avantage  x H (heures rémunérées) </a:t>
            </a:r>
          </a:p>
          <a:p>
            <a:pPr>
              <a:buNone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				    (Sx4)</a:t>
            </a:r>
          </a:p>
          <a:p>
            <a:pPr>
              <a:buNone/>
            </a:pPr>
            <a:r>
              <a:rPr lang="fr-BE" sz="2800" b="1" dirty="0"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Une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dégressivité 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va être appliquée aux 2 régimes </a:t>
            </a:r>
            <a:r>
              <a:rPr lang="fr-BE" sz="2800" b="1" dirty="0">
                <a:cs typeface="Times New Roman" pitchFamily="18" charset="0"/>
                <a:sym typeface="Wingdings" panose="05000000000000000000" pitchFamily="2" charset="2"/>
              </a:rPr>
              <a:t>impulsion « – 25ans » et « 12 mois + ».</a:t>
            </a:r>
            <a:endParaRPr lang="fr-BE" sz="2800" b="1" dirty="0">
              <a:cs typeface="Times New Roman" pitchFamily="18" charset="0"/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4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i="1" dirty="0">
                <a:cs typeface="Times New Roman" pitchFamily="18" charset="0"/>
              </a:rPr>
              <a:t>2.6. </a:t>
            </a:r>
            <a:r>
              <a:rPr lang="en-US" sz="4000" b="1" i="1" dirty="0" err="1">
                <a:cs typeface="Times New Roman" pitchFamily="18" charset="0"/>
              </a:rPr>
              <a:t>L’allocation</a:t>
            </a:r>
            <a:r>
              <a:rPr lang="en-US" sz="4000" b="1" i="1" dirty="0">
                <a:cs typeface="Times New Roman" pitchFamily="18" charset="0"/>
              </a:rPr>
              <a:t>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417639"/>
            <a:ext cx="8229600" cy="493871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BE" sz="2400" b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Montant avantage  x H (heures rémunérées) </a:t>
            </a:r>
          </a:p>
          <a:p>
            <a:pPr algn="ctr">
              <a:buNone/>
            </a:pPr>
            <a:r>
              <a:rPr lang="fr-BE" sz="24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(Sx4)</a:t>
            </a:r>
          </a:p>
          <a:p>
            <a:pPr>
              <a:buNone/>
            </a:pPr>
            <a:endParaRPr lang="fr-BE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fr-BE" sz="2800" dirty="0">
              <a:latin typeface="+mj-lt"/>
              <a:cs typeface="Times New Roman" pitchFamily="18" charset="0"/>
            </a:endParaRPr>
          </a:p>
          <a:p>
            <a:pPr>
              <a:buNone/>
            </a:pPr>
            <a:endParaRPr lang="fr-BE" sz="28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6AF7657A-D573-4CC3-97CA-116F29972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097" y="2492896"/>
          <a:ext cx="7920880" cy="375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05406" imgH="2866880" progId="Excel.Sheet.12">
                  <p:embed/>
                </p:oleObj>
              </mc:Choice>
              <mc:Fallback>
                <p:oleObj name="Worksheet" r:id="rId2" imgW="6105406" imgH="2866880" progId="Excel.Sheet.12">
                  <p:embed/>
                  <p:pic>
                    <p:nvPicPr>
                      <p:cNvPr id="6" name="Objet 5">
                        <a:extLst>
                          <a:ext uri="{FF2B5EF4-FFF2-40B4-BE49-F238E27FC236}">
                            <a16:creationId xmlns:a16="http://schemas.microsoft.com/office/drawing/2014/main" id="{6AF7657A-D573-4CC3-97CA-116F299722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1097" y="2492896"/>
                        <a:ext cx="7920880" cy="3752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642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L’allocation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La durée d’octroi maximale de l’avantage est déterminée en fonction du type d’« impulsion » et en fonction du </a:t>
            </a:r>
            <a:r>
              <a:rPr lang="fr-BE" b="1" u="sng" dirty="0">
                <a:solidFill>
                  <a:srgbClr val="C00000"/>
                </a:solidFill>
              </a:rPr>
              <a:t>principe de portabilité</a:t>
            </a:r>
            <a:endParaRPr lang="fr-BE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BE" b="1" dirty="0">
                <a:solidFill>
                  <a:srgbClr val="C00000"/>
                </a:solidFill>
              </a:rPr>
              <a:t>Portabilité 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/>
              <a:t>La durée de l’avantage est déterminée en fonction de la </a:t>
            </a:r>
            <a:r>
              <a:rPr lang="fr-BE" b="1" dirty="0">
                <a:solidFill>
                  <a:srgbClr val="C00000"/>
                </a:solidFill>
              </a:rPr>
              <a:t>1</a:t>
            </a:r>
            <a:r>
              <a:rPr lang="fr-BE" b="1" baseline="30000" dirty="0">
                <a:solidFill>
                  <a:srgbClr val="C00000"/>
                </a:solidFill>
              </a:rPr>
              <a:t>ère</a:t>
            </a:r>
            <a:r>
              <a:rPr lang="fr-BE" b="1" dirty="0">
                <a:solidFill>
                  <a:srgbClr val="C00000"/>
                </a:solidFill>
              </a:rPr>
              <a:t> date de prise de cours de l’avantage </a:t>
            </a:r>
            <a:r>
              <a:rPr lang="fr-BE" dirty="0"/>
              <a:t>même s’il s’agit d’une occupation pour un employeur différent.</a:t>
            </a:r>
          </a:p>
          <a:p>
            <a:pPr marL="720725" lvl="1" indent="0">
              <a:buNone/>
            </a:pPr>
            <a:r>
              <a:rPr lang="fr-BE" dirty="0">
                <a:sym typeface="Wingdings" panose="05000000000000000000" pitchFamily="2" charset="2"/>
              </a:rPr>
              <a:t> Le solde du crédit peut donc être transporté mais le 2</a:t>
            </a:r>
            <a:r>
              <a:rPr lang="fr-BE" baseline="30000" dirty="0">
                <a:sym typeface="Wingdings" panose="05000000000000000000" pitchFamily="2" charset="2"/>
              </a:rPr>
              <a:t>ème</a:t>
            </a:r>
            <a:r>
              <a:rPr lang="fr-BE" dirty="0">
                <a:sym typeface="Wingdings" panose="05000000000000000000" pitchFamily="2" charset="2"/>
              </a:rPr>
              <a:t> employeur n’aura donc </a:t>
            </a:r>
            <a:r>
              <a:rPr lang="fr-BE" b="1" dirty="0">
                <a:sym typeface="Wingdings" panose="05000000000000000000" pitchFamily="2" charset="2"/>
              </a:rPr>
              <a:t>pas droit à la durée maximale.</a:t>
            </a:r>
            <a:endParaRPr lang="fr-BE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/>
              <a:t>La date de fin peut être </a:t>
            </a:r>
            <a:r>
              <a:rPr lang="fr-BE" b="1" dirty="0">
                <a:solidFill>
                  <a:srgbClr val="C00000"/>
                </a:solidFill>
              </a:rPr>
              <a:t>postposée</a:t>
            </a:r>
            <a:r>
              <a:rPr lang="fr-BE" dirty="0"/>
              <a:t> dès qu’il y a une </a:t>
            </a:r>
            <a:r>
              <a:rPr lang="fr-BE" b="1" dirty="0"/>
              <a:t>interruption d’au moins 31 jours calendrier </a:t>
            </a:r>
            <a:r>
              <a:rPr lang="fr-BE" dirty="0"/>
              <a:t>(même non consécutifs) dans l’avantage.</a:t>
            </a:r>
          </a:p>
        </p:txBody>
      </p:sp>
    </p:spTree>
    <p:extLst>
      <p:ext uri="{BB962C8B-B14F-4D97-AF65-F5344CB8AC3E}">
        <p14:creationId xmlns:p14="http://schemas.microsoft.com/office/powerpoint/2010/main" val="31572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2.6. L’allocation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6" name="ZoneTexte 35"/>
          <p:cNvSpPr txBox="1"/>
          <p:nvPr/>
        </p:nvSpPr>
        <p:spPr>
          <a:xfrm>
            <a:off x="1702039" y="3017446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43" name="Connecteur droit avec flèche 42"/>
          <p:cNvCxnSpPr>
            <a:cxnSpLocks/>
            <a:stCxn id="44" idx="0"/>
          </p:cNvCxnSpPr>
          <p:nvPr/>
        </p:nvCxnSpPr>
        <p:spPr>
          <a:xfrm flipH="1" flipV="1">
            <a:off x="1702039" y="3396812"/>
            <a:ext cx="2211" cy="1117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913061" y="4514716"/>
            <a:ext cx="1582378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20/02/2023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‘’EMP A’’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 mois +</a:t>
            </a:r>
            <a:endParaRPr lang="fr-BE" sz="1200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126056" y="3012886"/>
            <a:ext cx="146621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B 38/38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649365" y="3396811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491298" y="5428966"/>
            <a:ext cx="237269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20/02/23 au 31/01/24 : 500 €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01/02/24 au 31/07/24 : 250 €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01/08/24 au 31/01/25 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2999501" y="4289939"/>
            <a:ext cx="122448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21/08/2023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33" name="Connecteur droit avec flèche 32"/>
          <p:cNvCxnSpPr/>
          <p:nvPr/>
        </p:nvCxnSpPr>
        <p:spPr>
          <a:xfrm flipV="1">
            <a:off x="490558" y="3396811"/>
            <a:ext cx="8435280" cy="21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4126057" y="3397882"/>
            <a:ext cx="1" cy="1571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279199" y="5006557"/>
            <a:ext cx="1796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11/09/2023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‘’EMP B’’ – CDD 6 m.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 mois +</a:t>
            </a:r>
            <a:endParaRPr lang="fr-BE" sz="1200" b="1" dirty="0">
              <a:solidFill>
                <a:srgbClr val="FF0000"/>
              </a:solidFill>
            </a:endParaRPr>
          </a:p>
        </p:txBody>
      </p:sp>
      <p:sp>
        <p:nvSpPr>
          <p:cNvPr id="12" name="Rectangle avec flèche vers le bas 11"/>
          <p:cNvSpPr/>
          <p:nvPr/>
        </p:nvSpPr>
        <p:spPr>
          <a:xfrm>
            <a:off x="3649365" y="2437891"/>
            <a:ext cx="409250" cy="535387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1600" b="1" dirty="0"/>
              <a:t>21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 flipH="1" flipV="1">
            <a:off x="5589527" y="3408978"/>
            <a:ext cx="5479" cy="11366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5052849" y="4587710"/>
            <a:ext cx="109000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11/03/2024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004813" y="5938369"/>
            <a:ext cx="237269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11/09/23 au 31/01/24 : 500 €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01/02/24 au 10/03/24 : 250 €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6565563" y="3012886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32" name="Connecteur droit avec flèche 31"/>
          <p:cNvCxnSpPr>
            <a:cxnSpLocks/>
          </p:cNvCxnSpPr>
          <p:nvPr/>
        </p:nvCxnSpPr>
        <p:spPr>
          <a:xfrm flipV="1">
            <a:off x="6565563" y="3408978"/>
            <a:ext cx="0" cy="11787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5997632" y="4587710"/>
            <a:ext cx="1436527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22/04/2024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‘’EMP A’’ - CDI 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 mois +</a:t>
            </a:r>
          </a:p>
          <a:p>
            <a:pPr algn="ctr"/>
            <a:endParaRPr lang="fr-BE" sz="1100" b="1" dirty="0">
              <a:solidFill>
                <a:srgbClr val="FF0000"/>
              </a:solidFill>
            </a:endParaRPr>
          </a:p>
        </p:txBody>
      </p:sp>
      <p:sp>
        <p:nvSpPr>
          <p:cNvPr id="37" name="Rectangle avec flèche vers le bas 36"/>
          <p:cNvSpPr/>
          <p:nvPr/>
        </p:nvSpPr>
        <p:spPr>
          <a:xfrm>
            <a:off x="5957109" y="2477499"/>
            <a:ext cx="409250" cy="535387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1600" b="1" dirty="0"/>
              <a:t>42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6148698" y="6109210"/>
            <a:ext cx="237269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22/04/24 </a:t>
            </a:r>
            <a:r>
              <a:rPr lang="fr-BE" sz="1400" b="1" dirty="0">
                <a:solidFill>
                  <a:prstClr val="black"/>
                </a:solidFill>
              </a:rPr>
              <a:t>au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srgbClr val="003399"/>
                </a:solidFill>
              </a:rPr>
              <a:t>31/07/24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prstClr val="black"/>
                </a:solidFill>
              </a:rPr>
              <a:t>: 250 €</a:t>
            </a:r>
          </a:p>
          <a:p>
            <a:pPr algn="ctr"/>
            <a:r>
              <a:rPr lang="fr-BE" sz="1400" b="1" dirty="0">
                <a:solidFill>
                  <a:srgbClr val="003399"/>
                </a:solidFill>
              </a:rPr>
              <a:t>01/08/24</a:t>
            </a:r>
            <a:r>
              <a:rPr lang="fr-BE" sz="1400" b="1" dirty="0">
                <a:solidFill>
                  <a:srgbClr val="C00000"/>
                </a:solidFill>
              </a:rPr>
              <a:t> </a:t>
            </a:r>
            <a:r>
              <a:rPr lang="fr-BE" sz="1400" b="1" dirty="0"/>
              <a:t>au</a:t>
            </a:r>
            <a:r>
              <a:rPr lang="fr-BE" sz="1400" b="1" dirty="0">
                <a:solidFill>
                  <a:srgbClr val="C00000"/>
                </a:solidFill>
              </a:rPr>
              <a:t> </a:t>
            </a:r>
            <a:r>
              <a:rPr lang="fr-BE" sz="1400" b="1" dirty="0">
                <a:solidFill>
                  <a:srgbClr val="003399"/>
                </a:solidFill>
              </a:rPr>
              <a:t>31/01/25</a:t>
            </a:r>
            <a:r>
              <a:rPr lang="fr-BE" sz="1400" b="1" dirty="0">
                <a:solidFill>
                  <a:srgbClr val="C00000"/>
                </a:solidFill>
              </a:rPr>
              <a:t>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1986" y="1681379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u="sng" dirty="0"/>
              <a:t>Exemple</a:t>
            </a:r>
            <a:endParaRPr lang="fr-BE" sz="2400" b="1" u="sng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8C19A01-FA99-4347-9082-011AD9A314D4}"/>
              </a:ext>
            </a:extLst>
          </p:cNvPr>
          <p:cNvSpPr txBox="1"/>
          <p:nvPr/>
        </p:nvSpPr>
        <p:spPr>
          <a:xfrm>
            <a:off x="5901082" y="1611375"/>
            <a:ext cx="2978208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BE" sz="1400" b="1" dirty="0"/>
              <a:t>21+42 = 63j cal.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BE" sz="1400" b="1" dirty="0"/>
              <a:t>Ok 2 x 31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BE" sz="1400" b="1" dirty="0"/>
              <a:t>Postposer dégressivité de 2 mois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07AC6DF-D000-4E59-9F83-DD925DF8D8F7}"/>
              </a:ext>
            </a:extLst>
          </p:cNvPr>
          <p:cNvSpPr txBox="1"/>
          <p:nvPr/>
        </p:nvSpPr>
        <p:spPr>
          <a:xfrm>
            <a:off x="6148698" y="5509046"/>
            <a:ext cx="237269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22/04/24 </a:t>
            </a:r>
            <a:r>
              <a:rPr lang="fr-BE" sz="1400" b="1" dirty="0">
                <a:solidFill>
                  <a:prstClr val="black"/>
                </a:solidFill>
              </a:rPr>
              <a:t>au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srgbClr val="C00000"/>
                </a:solidFill>
              </a:rPr>
              <a:t>30/09/24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prstClr val="black"/>
                </a:solidFill>
              </a:rPr>
              <a:t>: 250 €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01/10/24 </a:t>
            </a:r>
            <a:r>
              <a:rPr lang="fr-BE" sz="1400" b="1" dirty="0"/>
              <a:t>au</a:t>
            </a:r>
            <a:r>
              <a:rPr lang="fr-BE" sz="1400" b="1" dirty="0">
                <a:solidFill>
                  <a:srgbClr val="C00000"/>
                </a:solidFill>
              </a:rPr>
              <a:t> 31/03/25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3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9" grpId="0" animBg="1"/>
      <p:bldP spid="40" grpId="0"/>
      <p:bldP spid="21" grpId="0"/>
      <p:bldP spid="12" grpId="0" animBg="1"/>
      <p:bldP spid="29" grpId="0"/>
      <p:bldP spid="30" grpId="0" animBg="1"/>
      <p:bldP spid="31" grpId="0" animBg="1"/>
      <p:bldP spid="35" grpId="0"/>
      <p:bldP spid="37" grpId="0" animBg="1"/>
      <p:bldP spid="38" grpId="0" animBg="1"/>
      <p:bldP spid="38" grpId="1" animBg="1"/>
      <p:bldP spid="34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L’allocation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b="1" u="sng" dirty="0"/>
              <a:t>Suspension de l’avantage</a:t>
            </a:r>
            <a:r>
              <a:rPr lang="fr-BE" b="1" dirty="0"/>
              <a:t> :</a:t>
            </a: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contrat de travail prend fin.</a:t>
            </a:r>
          </a:p>
          <a:p>
            <a:pPr marL="0" indent="0">
              <a:buNone/>
            </a:pPr>
            <a:endParaRPr lang="fr-BE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Ne réside plus sur le territoire de la région de langue française.</a:t>
            </a:r>
          </a:p>
          <a:p>
            <a:pPr marL="355600" indent="0"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Fin de l’avantage à partir du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1</a:t>
            </a:r>
            <a:r>
              <a:rPr lang="fr-BE" b="1" baseline="30000" dirty="0">
                <a:solidFill>
                  <a:srgbClr val="C00000"/>
                </a:solidFill>
                <a:sym typeface="Wingdings" panose="05000000000000000000" pitchFamily="2" charset="2"/>
              </a:rPr>
              <a:t>er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 jour du 2</a:t>
            </a:r>
            <a:r>
              <a:rPr lang="fr-BE" b="1" baseline="30000" dirty="0">
                <a:solidFill>
                  <a:srgbClr val="C00000"/>
                </a:solidFill>
                <a:sym typeface="Wingdings" panose="05000000000000000000" pitchFamily="2" charset="2"/>
              </a:rPr>
              <a:t>ème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 mois qui suit</a:t>
            </a:r>
            <a:r>
              <a:rPr lang="fr-BE" dirty="0">
                <a:sym typeface="Wingdings" panose="05000000000000000000" pitchFamily="2" charset="2"/>
              </a:rPr>
              <a:t> le mois au cours duquel le BC est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informé du changement.</a:t>
            </a:r>
            <a:endParaRPr lang="fr-BE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fr-BE" b="1" u="sng" dirty="0"/>
          </a:p>
        </p:txBody>
      </p:sp>
    </p:spTree>
    <p:extLst>
      <p:ext uri="{BB962C8B-B14F-4D97-AF65-F5344CB8AC3E}">
        <p14:creationId xmlns:p14="http://schemas.microsoft.com/office/powerpoint/2010/main" val="158213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L’allocation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b="1" u="sng" dirty="0"/>
              <a:t>Fin de l’avantage de l’avantage</a:t>
            </a:r>
            <a:r>
              <a:rPr lang="fr-BE" sz="3000" b="1" dirty="0"/>
              <a:t> :</a:t>
            </a:r>
          </a:p>
          <a:p>
            <a:pPr marL="0" indent="0">
              <a:buNone/>
            </a:pPr>
            <a:endParaRPr lang="fr-BE" sz="3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Dès que la durée d’octroi arrive à son terme.</a:t>
            </a:r>
          </a:p>
          <a:p>
            <a:pPr marL="0" indent="0">
              <a:buNone/>
            </a:pPr>
            <a:endParaRPr lang="fr-BE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En fonction de l’âge:</a:t>
            </a:r>
          </a:p>
          <a:p>
            <a:pPr marL="534988" lvl="2">
              <a:buFont typeface="Wingdings" panose="05000000000000000000" pitchFamily="2" charset="2"/>
              <a:buChar char="Ø"/>
            </a:pPr>
            <a:r>
              <a:rPr lang="fr-BE" dirty="0"/>
              <a:t> « Impulsion – 25 ans » </a:t>
            </a:r>
            <a:r>
              <a:rPr lang="fr-BE" dirty="0">
                <a:sym typeface="Wingdings" panose="05000000000000000000" pitchFamily="2" charset="2"/>
              </a:rPr>
              <a:t>= Fin au dernier jour du mois du 28</a:t>
            </a:r>
            <a:r>
              <a:rPr lang="fr-BE" baseline="30000" dirty="0">
                <a:sym typeface="Wingdings" panose="05000000000000000000" pitchFamily="2" charset="2"/>
              </a:rPr>
              <a:t>ème</a:t>
            </a:r>
            <a:r>
              <a:rPr lang="fr-BE" dirty="0">
                <a:sym typeface="Wingdings" panose="05000000000000000000" pitchFamily="2" charset="2"/>
              </a:rPr>
              <a:t> anniversaire.</a:t>
            </a:r>
            <a:endParaRPr lang="fr-BE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534988" lvl="2"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 « Impulsion 12+ » = Fin lorsque le travailleur atteint l’âge légal de la pension.</a:t>
            </a:r>
          </a:p>
        </p:txBody>
      </p:sp>
    </p:spTree>
    <p:extLst>
      <p:ext uri="{BB962C8B-B14F-4D97-AF65-F5344CB8AC3E}">
        <p14:creationId xmlns:p14="http://schemas.microsoft.com/office/powerpoint/2010/main" val="6743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2420888"/>
            <a:ext cx="7772400" cy="1656184"/>
          </a:xfrm>
          <a:ln w="28575">
            <a:solidFill>
              <a:srgbClr val="669900"/>
            </a:solidFill>
          </a:ln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BE" sz="6600" dirty="0"/>
              <a:t>3. SINE</a:t>
            </a:r>
            <a:br>
              <a:rPr lang="fr-BE" sz="6600" dirty="0"/>
            </a:br>
            <a:endParaRPr lang="en-US" sz="6600" dirty="0"/>
          </a:p>
        </p:txBody>
      </p:sp>
      <p:sp>
        <p:nvSpPr>
          <p:cNvPr id="3" name="Rectangle 2"/>
          <p:cNvSpPr/>
          <p:nvPr/>
        </p:nvSpPr>
        <p:spPr>
          <a:xfrm>
            <a:off x="3064396" y="4416523"/>
            <a:ext cx="31390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BE" sz="3200" dirty="0">
                <a:solidFill>
                  <a:prstClr val="black"/>
                </a:solidFill>
              </a:rPr>
              <a:t>AR du 03.05.1999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23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3.1. Principe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dirty="0"/>
              <a:t>La mesure SINE (abréviation de Sociale </a:t>
            </a:r>
            <a:r>
              <a:rPr lang="fr-BE" sz="2800" dirty="0" err="1"/>
              <a:t>Inschakelingseconomie</a:t>
            </a:r>
            <a:r>
              <a:rPr lang="fr-BE" sz="2800" dirty="0"/>
              <a:t>, Économie d’Insertion Sociale) vise la réinsertion de chômeurs très difficiles à placer sur le marché de l’emploi, grâce à l’économie sociale d’insertion.</a:t>
            </a:r>
          </a:p>
          <a:p>
            <a:pPr marL="0" indent="0">
              <a:buNone/>
            </a:pPr>
            <a:endParaRPr lang="fr-BE" sz="1600" dirty="0"/>
          </a:p>
          <a:p>
            <a:pPr marL="0" indent="0">
              <a:buNone/>
            </a:pPr>
            <a:r>
              <a:rPr lang="fr-BE" sz="2800" dirty="0"/>
              <a:t>L’employeur qui peut engager des travailleurs dans le cadre de cette mesure bénéficie de réductions ONSS ainsi qu’une intervention de l’ONEm dans le paiement de la rémunération nette : </a:t>
            </a:r>
            <a:r>
              <a:rPr lang="fr-BE" sz="2800" b="1" dirty="0">
                <a:solidFill>
                  <a:srgbClr val="C00000"/>
                </a:solidFill>
              </a:rPr>
              <a:t>l’allocation de réinsertion.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17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3.2. Conditions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b="1" u="sng" dirty="0">
                <a:solidFill>
                  <a:srgbClr val="C00000"/>
                </a:solidFill>
              </a:rPr>
              <a:t>Conditions employeur: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Employeur doit obtenir une attestation du SPF-Emploi dont il ressort qu’il est dans les conditions du SINE.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Les employeurs entrant en ligne de compte sont 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2000" dirty="0"/>
              <a:t> </a:t>
            </a:r>
            <a:r>
              <a:rPr lang="fr-BE" dirty="0"/>
              <a:t>Entreprises de Travail Adapté et ateliers sociaux;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dirty="0"/>
              <a:t> Entreprises d’insertion;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dirty="0"/>
              <a:t> Sociétés de logement de service public;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dirty="0"/>
              <a:t> Agences ALE;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dirty="0"/>
              <a:t> Entreprises de Formation par le Travail;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dirty="0"/>
              <a:t> …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988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Conditions </a:t>
            </a:r>
            <a:endParaRPr lang="en-US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56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200" b="1" u="sng" dirty="0">
                <a:solidFill>
                  <a:srgbClr val="C00000"/>
                </a:solidFill>
              </a:rPr>
              <a:t>Conditions travailleur</a:t>
            </a:r>
            <a:r>
              <a:rPr lang="fr-BE" sz="2200" b="1" dirty="0">
                <a:solidFill>
                  <a:srgbClr val="C00000"/>
                </a:solidFill>
              </a:rPr>
              <a:t> </a:t>
            </a:r>
            <a:r>
              <a:rPr lang="fr-BE" sz="22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200" dirty="0"/>
              <a:t>Etre CCI au début (ou assimilé).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200" dirty="0"/>
              <a:t>Ne pas posséder un diplôme de l’ESS.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200" dirty="0"/>
              <a:t>Etre chômeur (ou assimilé) durant une certaine période:</a:t>
            </a:r>
            <a:br>
              <a:rPr lang="fr-BE" sz="4500" dirty="0"/>
            </a:br>
            <a:endParaRPr lang="fr-BE" sz="2800" dirty="0"/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200" dirty="0">
                <a:sym typeface="Wingdings" panose="05000000000000000000" pitchFamily="2" charset="2"/>
              </a:rPr>
              <a:t> Le travailleur doit introduire le </a:t>
            </a:r>
            <a:r>
              <a:rPr lang="fr-BE" sz="2200" b="1" dirty="0">
                <a:sym typeface="Wingdings" panose="05000000000000000000" pitchFamily="2" charset="2"/>
              </a:rPr>
              <a:t>C63-Sine </a:t>
            </a:r>
            <a:r>
              <a:rPr lang="fr-BE" sz="2200" dirty="0">
                <a:sym typeface="Wingdings" panose="05000000000000000000" pitchFamily="2" charset="2"/>
              </a:rPr>
              <a:t>au BC qui indiquera alors à l’employeur si les conditions sont remplies.</a:t>
            </a:r>
            <a:endParaRPr lang="fr-BE" sz="22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D5ADB7CD-E149-4F22-B602-0E4E837B63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1012" y="3212976"/>
          <a:ext cx="7241976" cy="252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3401" imgH="2685885" progId="Excel.Sheet.12">
                  <p:embed/>
                </p:oleObj>
              </mc:Choice>
              <mc:Fallback>
                <p:oleObj name="Worksheet" r:id="rId2" imgW="6953401" imgH="2685885" progId="Excel.Sheet.12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D5ADB7CD-E149-4F22-B602-0E4E837B63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1012" y="3212976"/>
                        <a:ext cx="7241976" cy="2520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89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3.3. Procédure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DA (script 6.3)</a:t>
            </a:r>
            <a:r>
              <a:rPr lang="fr-BE" dirty="0">
                <a:solidFill>
                  <a:srgbClr val="C00000"/>
                </a:solidFill>
                <a:cs typeface="Times New Roman" pitchFamily="18" charset="0"/>
              </a:rPr>
              <a:t> : </a:t>
            </a:r>
          </a:p>
          <a:p>
            <a:pPr marL="8064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800" dirty="0">
                <a:cs typeface="Times New Roman" pitchFamily="18" charset="0"/>
              </a:rPr>
              <a:t>C109;</a:t>
            </a:r>
          </a:p>
          <a:p>
            <a:pPr marL="8064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800" dirty="0">
                <a:cs typeface="Times New Roman" pitchFamily="18" charset="0"/>
              </a:rPr>
              <a:t>Annexe Sine (avec n° de compte de l’employeur);</a:t>
            </a:r>
          </a:p>
          <a:p>
            <a:pPr marL="8064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Attestation « économie sociale d’insertion » délivrée à l’employeur par le SPF emploi.</a:t>
            </a:r>
          </a:p>
          <a:p>
            <a:pPr marL="463550" indent="0">
              <a:lnSpc>
                <a:spcPct val="90000"/>
              </a:lnSpc>
              <a:buNone/>
            </a:pPr>
            <a:endParaRPr lang="fr-BE" sz="1300" dirty="0">
              <a:cs typeface="Times New Roman" pitchFamily="18" charset="0"/>
              <a:sym typeface="Wingdings" panose="05000000000000000000" pitchFamily="2" charset="2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DA : </a:t>
            </a:r>
            <a:r>
              <a:rPr lang="fr-BE" cap="all" dirty="0">
                <a:cs typeface="Times New Roman" pitchFamily="18" charset="0"/>
              </a:rPr>
              <a:t>à</a:t>
            </a:r>
            <a:r>
              <a:rPr lang="fr-BE" b="1" dirty="0">
                <a:cs typeface="Times New Roman" pitchFamily="18" charset="0"/>
              </a:rPr>
              <a:t> </a:t>
            </a:r>
            <a:r>
              <a:rPr lang="fr-BE" dirty="0">
                <a:cs typeface="Times New Roman" pitchFamily="18" charset="0"/>
              </a:rPr>
              <a:t>chaque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nouveau contrat </a:t>
            </a:r>
            <a:r>
              <a:rPr lang="fr-BE" sz="3000" dirty="0">
                <a:solidFill>
                  <a:prstClr val="black"/>
                </a:solidFill>
                <a:cs typeface="Times New Roman" pitchFamily="18" charset="0"/>
              </a:rPr>
              <a:t>(aussi si contrat ininterrompu chez le même employeur)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ou chaque modification d’horaire.</a:t>
            </a:r>
          </a:p>
          <a:p>
            <a:pPr marL="0" lvl="0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1300" dirty="0">
              <a:solidFill>
                <a:prstClr val="black"/>
              </a:solidFill>
              <a:cs typeface="Times New Roman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: La demande doit être introduite au plus tard à la fin du 4e mois qui suit le début de l’occupation. (AM 92&amp;5 pas d’application</a:t>
            </a:r>
            <a:endParaRPr lang="fr-BE" sz="2800" dirty="0">
              <a:cs typeface="Times New Roman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9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dirty="0"/>
              <a:t>3.4. </a:t>
            </a:r>
            <a:r>
              <a:rPr lang="en-US" sz="4000" b="1" dirty="0" err="1"/>
              <a:t>L’allocation</a:t>
            </a:r>
            <a:r>
              <a:rPr lang="en-US" sz="4000" b="1" dirty="0"/>
              <a:t> de </a:t>
            </a:r>
            <a:r>
              <a:rPr lang="en-US" sz="4000" b="1" dirty="0" err="1"/>
              <a:t>réinsertion</a:t>
            </a:r>
            <a:endParaRPr lang="en-US" sz="4000" b="1" dirty="0"/>
          </a:p>
        </p:txBody>
      </p:sp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dirty="0"/>
              <a:t>Le montant est en </a:t>
            </a:r>
            <a:r>
              <a:rPr lang="fr-BE" sz="2800" b="1" dirty="0"/>
              <a:t>fonction de l’horaire de travail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Temps plein : allocation de 500 €.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Temps partiel : allocation de </a:t>
            </a:r>
            <a:r>
              <a:rPr lang="fr-BE" sz="2800" b="1" dirty="0"/>
              <a:t>500 x Q/S x </a:t>
            </a:r>
            <a:r>
              <a:rPr lang="fr-BE" sz="2800" b="1" dirty="0">
                <a:solidFill>
                  <a:srgbClr val="C00000"/>
                </a:solidFill>
              </a:rPr>
              <a:t>1,5</a:t>
            </a:r>
            <a:r>
              <a:rPr lang="fr-BE" sz="2800" dirty="0"/>
              <a:t>.</a:t>
            </a:r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r>
              <a:rPr lang="fr-BE" sz="2800" b="1" dirty="0">
                <a:sym typeface="Wingdings" panose="05000000000000000000" pitchFamily="2" charset="2"/>
              </a:rPr>
              <a:t> </a:t>
            </a:r>
            <a:r>
              <a:rPr lang="fr-BE" sz="2800" b="1" dirty="0"/>
              <a:t>Limité à 500 € ou au salaire net si &lt; 500 €.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Paiement </a:t>
            </a:r>
            <a:r>
              <a:rPr lang="fr-BE" sz="2800" b="1" dirty="0">
                <a:solidFill>
                  <a:srgbClr val="C00000"/>
                </a:solidFill>
              </a:rPr>
              <a:t>à l’employeur </a:t>
            </a:r>
            <a:r>
              <a:rPr lang="fr-BE" sz="2800" dirty="0"/>
              <a:t> via DRS </a:t>
            </a:r>
            <a:r>
              <a:rPr lang="fr-BE" sz="2800" b="1" dirty="0"/>
              <a:t>Wech 508</a:t>
            </a:r>
          </a:p>
          <a:p>
            <a:pPr marL="0" indent="0">
              <a:buNone/>
            </a:pPr>
            <a:endParaRPr lang="fr-BE" sz="2800" b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82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en-US" sz="4000" b="1" i="1" dirty="0">
                <a:cs typeface="Times New Roman" pitchFamily="18" charset="0"/>
              </a:rPr>
              <a:t>3.4. </a:t>
            </a:r>
            <a:r>
              <a:rPr lang="en-US" sz="4000" b="1" i="1" dirty="0" err="1">
                <a:cs typeface="Times New Roman" pitchFamily="18" charset="0"/>
              </a:rPr>
              <a:t>L’allocation</a:t>
            </a:r>
            <a:r>
              <a:rPr lang="en-US" sz="4000" b="1" i="1" dirty="0">
                <a:cs typeface="Times New Roman" pitchFamily="18" charset="0"/>
              </a:rPr>
              <a:t> de </a:t>
            </a:r>
            <a:r>
              <a:rPr lang="en-US" sz="4000" b="1" i="1" dirty="0" err="1">
                <a:cs typeface="Times New Roman" pitchFamily="18" charset="0"/>
              </a:rPr>
              <a:t>réinsertion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/>
          </a:p>
        </p:txBody>
      </p:sp>
      <p:graphicFrame>
        <p:nvGraphicFramePr>
          <p:cNvPr id="5" name="Espace réservé du contenu 4"/>
          <p:cNvGraphicFramePr>
            <a:graphicFrameLocks noGrp="1" noChangeAspect="1"/>
          </p:cNvGraphicFramePr>
          <p:nvPr>
            <p:ph idx="1"/>
          </p:nvPr>
        </p:nvGraphicFramePr>
        <p:xfrm>
          <a:off x="444323" y="2258805"/>
          <a:ext cx="8229600" cy="408720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 du travailleur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Période de chômage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Carte de travail S27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Allocation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Code S29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Durée avantage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45 ans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 jours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C15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 EUR x Q/S x1,5 (mais 500€ maximum et limité au salaire net)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CA/..3…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trimestre en cours+10 trimestres </a:t>
                      </a:r>
                      <a:r>
                        <a:rPr lang="fr-B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(prolongeable de 10 trimestres)</a:t>
                      </a:r>
                      <a:endParaRPr lang="fr-B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500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624 jours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C16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CA/..4…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trimestre en cours+20 trimestres </a:t>
                      </a:r>
                      <a:r>
                        <a:rPr lang="fr-B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(prolongeable de 20 trimestres)</a:t>
                      </a:r>
                      <a:endParaRPr lang="fr-B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646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≥ 45 ans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 jours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D12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CA/..5…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B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illimité</a:t>
                      </a:r>
                    </a:p>
                  </a:txBody>
                  <a:tcPr marL="5652" marR="5652" marT="565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457200" y="1403648"/>
            <a:ext cx="4258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u="sng" dirty="0"/>
              <a:t>Durée et codes</a:t>
            </a:r>
            <a:r>
              <a:rPr lang="fr-BE" sz="2800" b="1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80996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 txBox="1">
            <a:spLocks/>
          </p:cNvSpPr>
          <p:nvPr/>
        </p:nvSpPr>
        <p:spPr>
          <a:xfrm>
            <a:off x="457200" y="2204864"/>
            <a:ext cx="8229600" cy="2132397"/>
          </a:xfrm>
          <a:prstGeom prst="rect">
            <a:avLst/>
          </a:prstGeom>
          <a:ln w="38100">
            <a:solidFill>
              <a:srgbClr val="6699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4. Le régime « Activa-Bruxelles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61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 4.1. Principes</a:t>
            </a:r>
            <a:endParaRPr lang="fr-BE" sz="40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dirty="0"/>
              <a:t>Depuis le </a:t>
            </a:r>
            <a:r>
              <a:rPr lang="fr-BE" b="1" dirty="0">
                <a:solidFill>
                  <a:srgbClr val="C00000"/>
                </a:solidFill>
              </a:rPr>
              <a:t>01.10.2017</a:t>
            </a:r>
            <a:r>
              <a:rPr lang="fr-BE" dirty="0"/>
              <a:t> la région Bruxelles-Capitale a mis en place 2 plans « Activa-Bruxelles »</a:t>
            </a:r>
          </a:p>
          <a:p>
            <a:pPr marL="623888">
              <a:buFont typeface="Wingdings" panose="05000000000000000000" pitchFamily="2" charset="2"/>
              <a:buChar char="§"/>
            </a:pPr>
            <a:r>
              <a:rPr lang="fr-BE" dirty="0"/>
              <a:t>Le plan activa « général »</a:t>
            </a:r>
          </a:p>
          <a:p>
            <a:pPr marL="623888">
              <a:buFont typeface="Wingdings" panose="05000000000000000000" pitchFamily="2" charset="2"/>
              <a:buChar char="§"/>
            </a:pPr>
            <a:r>
              <a:rPr lang="fr-BE" dirty="0"/>
              <a:t>Le plan activa « aptitude réduites »</a:t>
            </a:r>
          </a:p>
          <a:p>
            <a:pPr marL="758825" lvl="1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L’ONEM prend en charge une partie de la rémunération nette du travailleur par </a:t>
            </a:r>
            <a:r>
              <a:rPr lang="fr-BE" sz="3000" b="1" dirty="0">
                <a:solidFill>
                  <a:srgbClr val="C00000"/>
                </a:solidFill>
              </a:rPr>
              <a:t>l’allocation de travail</a:t>
            </a:r>
            <a:r>
              <a:rPr lang="fr-BE" sz="3000" b="1" dirty="0">
                <a:solidFill>
                  <a:srgbClr val="0033CC"/>
                </a:solidFill>
              </a:rPr>
              <a:t> 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Pas de diminution du montant des cotisations ONSS patronales mais possibilité de percevoir des incitants à la formation.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5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4.2. Conditions : Activa « général »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639762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Condition employeur: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Employeurs du secteur privé ou du secteur public pour autant qu’il s’agisse de travailleurs contractuels.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Contrat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mi-temps minimum </a:t>
            </a:r>
            <a:r>
              <a:rPr lang="fr-BE" sz="2400" dirty="0">
                <a:sym typeface="Wingdings" panose="05000000000000000000" pitchFamily="2" charset="2"/>
              </a:rPr>
              <a:t>(Q ≥ 1/2 S).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Contrat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6 mois minimum </a:t>
            </a:r>
            <a:r>
              <a:rPr lang="fr-BE" sz="2400" dirty="0">
                <a:sym typeface="Wingdings" panose="05000000000000000000" pitchFamily="2" charset="2"/>
              </a:rPr>
              <a:t>(exception intérim d’insertion).</a:t>
            </a: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639762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Conditions travailleur: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Être IDE (ou assimilé) 312 jours/18 mois.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Ne plus être soumis obligation scolaire.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NE pas avoir atteint l’âge légal de la pension.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Avoir sa résidence principale sur le territoire de la région de Bruxelles-Capitale.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00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4.3. Conditions : Activa « aptitude réduite»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39762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Condition employeur: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Employeurs du secteur privé ou du secteur public pour autant qu’il s’agisse de travailleurs contractuels.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Contrat au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minimum 1/3 temps</a:t>
            </a: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 (Q ≥  1/3 S), sauf secteur avec dérogation.</a:t>
            </a:r>
          </a:p>
          <a:p>
            <a:pPr marL="639762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Conditions travailleur: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Etre inscrit comme demandeur d’emploi inoccupé.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Ne plus être soumis obligation scolaire.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Ne pas avoir atteint l’âge légal de la pension.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Avoir sa résidence principale sur le territoire de la région de Bruxelles-Capitale.</a:t>
            </a:r>
          </a:p>
          <a:p>
            <a:pPr marL="10398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prstClr val="black"/>
                </a:solidFill>
                <a:sym typeface="Wingdings" panose="05000000000000000000" pitchFamily="2" charset="2"/>
              </a:rPr>
              <a:t>Avoir une </a:t>
            </a:r>
            <a:r>
              <a:rPr lang="fr-FR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aptitude réduite reconnue par ACTIRIS</a:t>
            </a: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  <a:endParaRPr lang="fr-FR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7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4.4. La carte de travail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Procédure de demande de carte: </a:t>
            </a:r>
            <a:r>
              <a:rPr lang="fr-BE" sz="2800" dirty="0">
                <a:cs typeface="Times New Roman" pitchFamily="18" charset="0"/>
              </a:rPr>
              <a:t>Demande à introduire auprès d’Actiris via le formulaire disponible sur </a:t>
            </a:r>
            <a:r>
              <a:rPr lang="fr-BE" sz="2800" dirty="0">
                <a:cs typeface="Times New Roman" pitchFamily="18" charset="0"/>
                <a:hlinkClick r:id="rId2"/>
              </a:rPr>
              <a:t>www.actiris.be</a:t>
            </a:r>
            <a:r>
              <a:rPr lang="fr-BE" sz="2800" dirty="0">
                <a:cs typeface="Times New Roman" pitchFamily="18" charset="0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fr-BE" sz="1100" dirty="0"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  <a:tabLst>
                <a:tab pos="800100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Délai:</a:t>
            </a:r>
            <a:r>
              <a:rPr lang="fr-BE" sz="2800" b="1" dirty="0">
                <a:cs typeface="Times New Roman" pitchFamily="18" charset="0"/>
                <a:sym typeface="Wingdings" panose="05000000000000000000" pitchFamily="2" charset="2"/>
              </a:rPr>
              <a:t> Préalablement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 à la date d’engagement ou au plus tard dans les </a:t>
            </a:r>
            <a:r>
              <a:rPr lang="fr-BE" sz="2800" b="1" dirty="0">
                <a:cs typeface="Times New Roman" pitchFamily="18" charset="0"/>
                <a:sym typeface="Wingdings" panose="05000000000000000000" pitchFamily="2" charset="2"/>
              </a:rPr>
              <a:t>30 jours calendriers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 suivant cette date.</a:t>
            </a:r>
          </a:p>
          <a:p>
            <a:pPr>
              <a:buFont typeface="Wingdings" panose="05000000000000000000" pitchFamily="2" charset="2"/>
              <a:buChar char="§"/>
              <a:tabLst>
                <a:tab pos="800100" algn="l"/>
              </a:tabLst>
            </a:pPr>
            <a:endParaRPr lang="fr-BE" sz="1100" dirty="0">
              <a:cs typeface="Times New Roman" pitchFamily="18" charset="0"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Validité de la carte: </a:t>
            </a:r>
            <a:r>
              <a:rPr lang="fr-BE" sz="2800" dirty="0">
                <a:cs typeface="Times New Roman" pitchFamily="18" charset="0"/>
              </a:rPr>
              <a:t>12 mois</a:t>
            </a:r>
          </a:p>
          <a:p>
            <a:pPr marL="355600" indent="0">
              <a:lnSpc>
                <a:spcPct val="90000"/>
              </a:lnSpc>
              <a:buNone/>
            </a:pPr>
            <a:r>
              <a:rPr lang="fr-BE" sz="2200" dirty="0"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 Pour bénéficier de l’avantage, l’occupation ininterrompue doit avoir débuté pendant la période  de validité de la carte</a:t>
            </a:r>
          </a:p>
          <a:p>
            <a:pPr marL="355600" indent="0">
              <a:lnSpc>
                <a:spcPct val="90000"/>
              </a:lnSpc>
              <a:buNone/>
            </a:pPr>
            <a:r>
              <a:rPr lang="fr-BE" sz="2200" dirty="0"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 Les données de la carte sont visualisable dans le module S27.</a:t>
            </a: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7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4.5. Procédure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Documents à fournir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: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C109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Copie contrat de travail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dirty="0">
                <a:cs typeface="Times New Roman" pitchFamily="18" charset="0"/>
              </a:rPr>
              <a:t>Annexe « </a:t>
            </a:r>
            <a:r>
              <a:rPr lang="fr-BE" sz="2400" dirty="0" err="1">
                <a:cs typeface="Times New Roman" pitchFamily="18" charset="0"/>
              </a:rPr>
              <a:t>Activa.Brussels</a:t>
            </a:r>
            <a:r>
              <a:rPr lang="fr-BE" sz="2400" dirty="0">
                <a:cs typeface="Times New Roman" pitchFamily="18" charset="0"/>
              </a:rPr>
              <a:t>»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fr-BE" sz="2400" i="1" dirty="0">
                <a:solidFill>
                  <a:srgbClr val="0070C0"/>
                </a:solidFill>
                <a:cs typeface="Times New Roman" pitchFamily="18" charset="0"/>
              </a:rPr>
              <a:t>Copie de la carte Activa-Bruxelles (si pas de flux en S27)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BE" sz="20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r>
              <a:rPr lang="fr-BE" sz="2400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sz="24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400" dirty="0">
                <a:cs typeface="Times New Roman" pitchFamily="18" charset="0"/>
              </a:rPr>
              <a:t>: 4 mois à partir du 1</a:t>
            </a:r>
            <a:r>
              <a:rPr lang="fr-BE" sz="2400" baseline="30000" dirty="0">
                <a:cs typeface="Times New Roman" pitchFamily="18" charset="0"/>
              </a:rPr>
              <a:t>er</a:t>
            </a:r>
            <a:r>
              <a:rPr lang="fr-BE" sz="2400" dirty="0">
                <a:cs typeface="Times New Roman" pitchFamily="18" charset="0"/>
              </a:rPr>
              <a:t>  jour du mois qui suit </a:t>
            </a:r>
            <a:br>
              <a:rPr lang="fr-BE" sz="2400" dirty="0">
                <a:cs typeface="Times New Roman" pitchFamily="18" charset="0"/>
              </a:rPr>
            </a:br>
            <a:r>
              <a:rPr lang="fr-BE" sz="2400" dirty="0">
                <a:cs typeface="Times New Roman" pitchFamily="18" charset="0"/>
              </a:rPr>
              <a:t>l’engagement.</a:t>
            </a:r>
            <a:r>
              <a:rPr lang="en-GB" sz="2400" dirty="0">
                <a:cs typeface="Times New Roman" pitchFamily="18" charset="0"/>
              </a:rPr>
              <a:t> (Art. 92&amp;5 de </a:t>
            </a:r>
            <a:r>
              <a:rPr lang="en-GB" sz="2400" dirty="0" err="1">
                <a:cs typeface="Times New Roman" pitchFamily="18" charset="0"/>
              </a:rPr>
              <a:t>l’AM</a:t>
            </a:r>
            <a:r>
              <a:rPr lang="en-GB" sz="2400" dirty="0">
                <a:cs typeface="Times New Roman" pitchFamily="18" charset="0"/>
              </a:rPr>
              <a:t> du 26.11.1991 pas application)</a:t>
            </a:r>
          </a:p>
          <a:p>
            <a:pPr marL="701675">
              <a:lnSpc>
                <a:spcPct val="90000"/>
              </a:lnSpc>
              <a:buFont typeface="Wingdings" panose="05000000000000000000" pitchFamily="2" charset="2"/>
              <a:buChar char="§"/>
              <a:tabLst>
                <a:tab pos="1349375" algn="l"/>
              </a:tabLst>
            </a:pPr>
            <a:endParaRPr lang="fr-BE" sz="240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  <a:cs typeface="Times New Roman" pitchFamily="18" charset="0"/>
              </a:rPr>
              <a:t>Nouvelle D.A </a:t>
            </a:r>
            <a:r>
              <a:rPr lang="fr-BE" sz="2400" b="1" dirty="0">
                <a:cs typeface="Times New Roman" pitchFamily="18" charset="0"/>
              </a:rPr>
              <a:t>pour chaque nouveau contrat. </a:t>
            </a:r>
            <a:r>
              <a:rPr lang="fr-BE" sz="2400" dirty="0">
                <a:cs typeface="Times New Roman" pitchFamily="18" charset="0"/>
              </a:rPr>
              <a:t>Et ce, même s’il n’y pas d’interruption entre les contrats auprès d’un même employeur.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GB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rgbClr val="C00000"/>
                </a:solidFill>
                <a:cs typeface="Times New Roman" pitchFamily="18" charset="0"/>
              </a:rPr>
              <a:t>TTPMD: </a:t>
            </a:r>
            <a:r>
              <a:rPr lang="en-GB" sz="2400" dirty="0">
                <a:cs typeface="Times New Roman" pitchFamily="18" charset="0"/>
              </a:rPr>
              <a:t>Obligation </a:t>
            </a:r>
            <a:r>
              <a:rPr lang="en-GB" sz="2400" dirty="0" err="1">
                <a:cs typeface="Times New Roman" pitchFamily="18" charset="0"/>
              </a:rPr>
              <a:t>d’introduire</a:t>
            </a:r>
            <a:r>
              <a:rPr lang="en-GB" sz="2400" dirty="0">
                <a:cs typeface="Times New Roman" pitchFamily="18" charset="0"/>
              </a:rPr>
              <a:t> </a:t>
            </a:r>
            <a:r>
              <a:rPr lang="en-GB" sz="2400" dirty="0" err="1">
                <a:cs typeface="Times New Roman" pitchFamily="18" charset="0"/>
              </a:rPr>
              <a:t>une</a:t>
            </a:r>
            <a:r>
              <a:rPr lang="en-GB" sz="2400" dirty="0">
                <a:cs typeface="Times New Roman" pitchFamily="18" charset="0"/>
              </a:rPr>
              <a:t> DA pour </a:t>
            </a:r>
            <a:r>
              <a:rPr lang="en-GB" sz="2400" dirty="0" err="1">
                <a:cs typeface="Times New Roman" pitchFamily="18" charset="0"/>
              </a:rPr>
              <a:t>l’octroi</a:t>
            </a:r>
            <a:r>
              <a:rPr lang="en-GB" sz="2400" dirty="0">
                <a:cs typeface="Times New Roman" pitchFamily="18" charset="0"/>
              </a:rPr>
              <a:t> du 99/ </a:t>
            </a:r>
            <a:r>
              <a:rPr lang="en-GB" sz="2400" dirty="0" err="1">
                <a:cs typeface="Times New Roman" pitchFamily="18" charset="0"/>
              </a:rPr>
              <a:t>ou</a:t>
            </a:r>
            <a:r>
              <a:rPr lang="en-GB" sz="2400" dirty="0">
                <a:cs typeface="Times New Roman" pitchFamily="18" charset="0"/>
              </a:rPr>
              <a:t> du 57/.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87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i="1" dirty="0">
                <a:cs typeface="Times New Roman" pitchFamily="18" charset="0"/>
              </a:rPr>
              <a:t>4.6. </a:t>
            </a:r>
            <a:r>
              <a:rPr lang="en-US" sz="4000" b="1" i="1" dirty="0" err="1">
                <a:cs typeface="Times New Roman" pitchFamily="18" charset="0"/>
              </a:rPr>
              <a:t>L’allocation</a:t>
            </a:r>
            <a:r>
              <a:rPr lang="en-US" sz="4000" b="1" i="1" dirty="0">
                <a:cs typeface="Times New Roman" pitchFamily="18" charset="0"/>
              </a:rPr>
              <a:t>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fr-BE" sz="2400" b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Montant avantage  x H (heures rémunérées)</a:t>
            </a:r>
          </a:p>
          <a:p>
            <a:pPr algn="ctr">
              <a:buNone/>
            </a:pPr>
            <a:r>
              <a:rPr lang="fr-BE" sz="24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(Sx4)</a:t>
            </a:r>
          </a:p>
          <a:p>
            <a:pPr>
              <a:buNone/>
            </a:pPr>
            <a:endParaRPr lang="fr-BE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fr-BE" sz="2800" dirty="0">
              <a:latin typeface="+mj-lt"/>
              <a:cs typeface="Times New Roman" pitchFamily="18" charset="0"/>
            </a:endParaRPr>
          </a:p>
          <a:p>
            <a:pPr>
              <a:buNone/>
            </a:pPr>
            <a:endParaRPr lang="fr-BE" sz="28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58" y="2723083"/>
            <a:ext cx="8272989" cy="36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3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3600" b="1" i="1" dirty="0"/>
              <a:t>4.6. L’allocation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La durée de l’avantage (30 ou 36 mois) </a:t>
            </a:r>
            <a:r>
              <a:rPr lang="fr-BE" b="1" dirty="0">
                <a:solidFill>
                  <a:srgbClr val="C00000"/>
                </a:solidFill>
              </a:rPr>
              <a:t>vaut pour chaque employeur séparément</a:t>
            </a:r>
            <a:r>
              <a:rPr lang="fr-BE" dirty="0"/>
              <a:t> à partir de l’engagement initial.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L’avantage pour un même employeur recommence pour la durée maximale (30 ou 36 mois), s’il y a </a:t>
            </a:r>
            <a:r>
              <a:rPr lang="fr-BE" b="1" dirty="0">
                <a:solidFill>
                  <a:srgbClr val="C00000"/>
                </a:solidFill>
              </a:rPr>
              <a:t>au moins 12 mois d’interruption entre la date de fin de contrat et le réengagement </a:t>
            </a:r>
            <a:r>
              <a:rPr lang="fr-BE" dirty="0"/>
              <a:t>et que l’intéressé rempli à nouveau les conditions (octroi d’une nouvelle carte).</a:t>
            </a:r>
            <a:endParaRPr lang="fr-BE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S’il y a une interruption de moins de 12 mois entre 2 occupations pour le même employeur.</a:t>
            </a:r>
          </a:p>
          <a:p>
            <a:pPr marL="355600" indent="0">
              <a:buNone/>
            </a:pPr>
            <a:r>
              <a:rPr lang="fr-BE" sz="2600" b="1" dirty="0">
                <a:sym typeface="Wingdings" panose="05000000000000000000" pitchFamily="2" charset="2"/>
              </a:rPr>
              <a:t>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 Perte du </a:t>
            </a:r>
            <a:r>
              <a:rPr lang="fr-BE" b="1" dirty="0">
                <a:solidFill>
                  <a:srgbClr val="C00000"/>
                </a:solidFill>
              </a:rPr>
              <a:t>solde de l’avantage non épuisé.</a:t>
            </a:r>
          </a:p>
        </p:txBody>
      </p:sp>
    </p:spTree>
    <p:extLst>
      <p:ext uri="{BB962C8B-B14F-4D97-AF65-F5344CB8AC3E}">
        <p14:creationId xmlns:p14="http://schemas.microsoft.com/office/powerpoint/2010/main" val="55948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F66068-A00C-4790-A6DD-E30F6513C0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75FEFA-702A-4924-840C-B4113CEBEAE2}">
  <ds:schemaRefs>
    <ds:schemaRef ds:uri="594ba5a2-1908-49bb-836f-9f7e6dbdc18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0ec8308-a2f0-4163-8d73-ffca7c91357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C3892FE-4BC6-450D-958A-68D89EA85D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12584</TotalTime>
  <Words>2141</Words>
  <Application>Microsoft Office PowerPoint</Application>
  <PresentationFormat>Affichage à l'écran (4:3)</PresentationFormat>
  <Paragraphs>320</Paragraphs>
  <Slides>34</Slides>
  <Notes>14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Courier New</vt:lpstr>
      <vt:lpstr>Times New Roman</vt:lpstr>
      <vt:lpstr>Wingdings</vt:lpstr>
      <vt:lpstr>Thème Office</vt:lpstr>
      <vt:lpstr>Worksheet</vt:lpstr>
      <vt:lpstr>Présentation PowerPoint</vt:lpstr>
      <vt:lpstr>Table des matières</vt:lpstr>
      <vt:lpstr>Présentation PowerPoint</vt:lpstr>
      <vt:lpstr> Aperçu  des régimes par région</vt:lpstr>
      <vt:lpstr>Présentation PowerPoint</vt:lpstr>
      <vt:lpstr> 2.1. Principes</vt:lpstr>
      <vt:lpstr>2.2. Impulsion – 25 ans : Conditions</vt:lpstr>
      <vt:lpstr>2.3. Impulsion 12 mois + : Conditions</vt:lpstr>
      <vt:lpstr>2.4. Impulsion 55 ans + : Conditions</vt:lpstr>
      <vt:lpstr>2.5. Procédure</vt:lpstr>
      <vt:lpstr>2.5. Procédure</vt:lpstr>
      <vt:lpstr>2.5. Procédure</vt:lpstr>
      <vt:lpstr>2.5. Procédure </vt:lpstr>
      <vt:lpstr>2.6. L’allocation de travail</vt:lpstr>
      <vt:lpstr>2.6. L’allocation de travail</vt:lpstr>
      <vt:lpstr>2.6. L’allocation de travail</vt:lpstr>
      <vt:lpstr>2.6. L’allocation de travail</vt:lpstr>
      <vt:lpstr>2.6. L’allocation de travail</vt:lpstr>
      <vt:lpstr>2.6. L’allocation de travail</vt:lpstr>
      <vt:lpstr>3. SINE </vt:lpstr>
      <vt:lpstr>3.1. Principe</vt:lpstr>
      <vt:lpstr>3.2. Conditions</vt:lpstr>
      <vt:lpstr>3.2. Conditions </vt:lpstr>
      <vt:lpstr>3.3. Procédure</vt:lpstr>
      <vt:lpstr>3.4. L’allocation de réinsertion</vt:lpstr>
      <vt:lpstr>3.4. L’allocation de réinsertion</vt:lpstr>
      <vt:lpstr>Présentation PowerPoint</vt:lpstr>
      <vt:lpstr> 4.1. Principes</vt:lpstr>
      <vt:lpstr>4.2. Conditions : Activa « général »</vt:lpstr>
      <vt:lpstr>4.3. Conditions : Activa « aptitude réduite»</vt:lpstr>
      <vt:lpstr>4.4. La carte de travail</vt:lpstr>
      <vt:lpstr>4.5. Procédure</vt:lpstr>
      <vt:lpstr>4.6. L’allocation de travail</vt:lpstr>
      <vt:lpstr>4.6. L’allocation de travail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FCJ-M18-Mesures en faveur de l'emploi (niv. 1)-FLT</dc:title>
  <dc:creator>u99lge</dc:creator>
  <cp:lastModifiedBy>Ali Bakhouch</cp:lastModifiedBy>
  <cp:revision>685</cp:revision>
  <dcterms:created xsi:type="dcterms:W3CDTF">2010-09-22T12:12:06Z</dcterms:created>
  <dcterms:modified xsi:type="dcterms:W3CDTF">2023-11-08T16:06:20Z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55;#Activa - SINE - PTP|b8ca51da-a514-4531-beb2-b799dc7d8f29</vt:lpwstr>
  </property>
  <property fmtid="{D5CDD505-2E9C-101B-9397-08002B2CF9AE}" pid="8" name="Order">
    <vt:r8>31900</vt:r8>
  </property>
  <property fmtid="{D5CDD505-2E9C-101B-9397-08002B2CF9AE}" pid="9" name="_dlc_DocIdItemGuid">
    <vt:lpwstr>6d325a04-77e8-4f88-9a22-21e049f1e1a3</vt:lpwstr>
  </property>
  <property fmtid="{D5CDD505-2E9C-101B-9397-08002B2CF9AE}" pid="10" name="AuthorIds_UIVersion_18944">
    <vt:lpwstr>21</vt:lpwstr>
  </property>
  <property fmtid="{D5CDD505-2E9C-101B-9397-08002B2CF9AE}" pid="11" name="AuthorIds_UIVersion_19456">
    <vt:lpwstr>21</vt:lpwstr>
  </property>
  <property fmtid="{D5CDD505-2E9C-101B-9397-08002B2CF9AE}" pid="12" name="AuthorIds_UIVersion_19968">
    <vt:lpwstr>21</vt:lpwstr>
  </property>
</Properties>
</file>