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378" r:id="rId6"/>
    <p:sldId id="411" r:id="rId7"/>
    <p:sldId id="424" r:id="rId8"/>
    <p:sldId id="581" r:id="rId9"/>
    <p:sldId id="582" r:id="rId10"/>
    <p:sldId id="596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9933"/>
    <a:srgbClr val="6699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7" autoAdjust="0"/>
    <p:restoredTop sz="90775" autoAdjust="0"/>
  </p:normalViewPr>
  <p:slideViewPr>
    <p:cSldViewPr>
      <p:cViewPr varScale="1">
        <p:scale>
          <a:sx n="83" d="100"/>
          <a:sy n="83" d="100"/>
        </p:scale>
        <p:origin x="139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3.xml" Id="rId8" /><Relationship Type="http://schemas.openxmlformats.org/officeDocument/2006/relationships/handoutMaster" Target="handoutMasters/handoutMaster1.xml" Id="rId13" /><Relationship Type="http://schemas.openxmlformats.org/officeDocument/2006/relationships/customXml" Target="../customXml/item3.xml" Id="rId3" /><Relationship Type="http://schemas.openxmlformats.org/officeDocument/2006/relationships/slide" Target="slides/slide2.xml" Id="rId7" /><Relationship Type="http://schemas.openxmlformats.org/officeDocument/2006/relationships/notesMaster" Target="notesMasters/notesMaster1.xml" Id="rId12" /><Relationship Type="http://schemas.openxmlformats.org/officeDocument/2006/relationships/tableStyles" Target="tableStyles.xml" Id="rId17" /><Relationship Type="http://schemas.openxmlformats.org/officeDocument/2006/relationships/customXml" Target="../customXml/item2.xml" Id="rId2" /><Relationship Type="http://schemas.openxmlformats.org/officeDocument/2006/relationships/theme" Target="theme/theme1.xml" Id="rId16" /><Relationship Type="http://schemas.openxmlformats.org/officeDocument/2006/relationships/customXml" Target="../customXml/item1.xml" Id="rId1" /><Relationship Type="http://schemas.openxmlformats.org/officeDocument/2006/relationships/slide" Target="slides/slide1.xml" Id="rId6" /><Relationship Type="http://schemas.openxmlformats.org/officeDocument/2006/relationships/slide" Target="slides/slide6.xml" Id="rId11" /><Relationship Type="http://schemas.openxmlformats.org/officeDocument/2006/relationships/slideMaster" Target="slideMasters/slideMaster1.xml" Id="rId5" /><Relationship Type="http://schemas.openxmlformats.org/officeDocument/2006/relationships/viewProps" Target="viewProps.xml" Id="rId15" /><Relationship Type="http://schemas.openxmlformats.org/officeDocument/2006/relationships/slide" Target="slides/slide5.xml" Id="rId10" /><Relationship Type="http://schemas.openxmlformats.org/officeDocument/2006/relationships/presProps" Target="presProps.xml" Id="rId14" /><Relationship Type="http://schemas.openxmlformats.org/officeDocument/2006/relationships/slide" Target="slides/slide4.xml" Id="rId9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01/12/2022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01/12/2022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33450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4762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834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4742A2-A700-4112-A494-09AD92282681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40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E7EB2-8706-4F55-A1EF-2F0318504A71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3D82-B4E1-432B-84E2-DCF9F433AF02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D1417E-C3DC-4D1C-9210-00E6D8B3D69F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D85B-37F0-4D1E-B040-23C6EB702502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BDD9E-72E4-43AA-A61A-9F020DBDC0B3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EDE86-C941-46A1-AE89-59A23724C22B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A5524-289D-4CB4-914C-6B2205346F63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A59EE-03F5-4118-BD1B-54356DB9DD6A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5CA02-56FA-40C0-A87A-20C0B335B9B1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ED9EF-2489-40C3-81D0-3073AA76E5A2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AA002-9845-4DFE-8882-731181746D38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E8554-5A23-44D2-B74C-833128875430}" type="datetime1">
              <a:rPr lang="fr-FR" smtClean="0"/>
              <a:t>01/12/2022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450703"/>
          </a:xfrm>
        </p:spPr>
        <p:txBody>
          <a:bodyPr>
            <a:normAutofit/>
          </a:bodyPr>
          <a:lstStyle/>
          <a:p>
            <a:r>
              <a:rPr lang="fr-BE" sz="6600" b="1" i="1" dirty="0"/>
              <a:t>Philosophie Horizon</a:t>
            </a:r>
            <a:br>
              <a:rPr lang="fr-BE" sz="6600" b="1" i="1" dirty="0"/>
            </a:br>
            <a:r>
              <a:rPr lang="fr-BE" b="1" i="1" dirty="0"/>
              <a:t>(</a:t>
            </a:r>
            <a:r>
              <a:rPr lang="fr-BE" b="1" i="1" dirty="0" err="1"/>
              <a:t>niv</a:t>
            </a:r>
            <a:r>
              <a:rPr lang="fr-BE" b="1" i="1" dirty="0"/>
              <a:t>. 1)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07523" y="602128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FLT – Version du 02.12.2022</a:t>
            </a:r>
          </a:p>
        </p:txBody>
      </p:sp>
    </p:spTree>
    <p:extLst>
      <p:ext uri="{BB962C8B-B14F-4D97-AF65-F5344CB8AC3E}">
        <p14:creationId xmlns:p14="http://schemas.microsoft.com/office/powerpoint/2010/main" val="196029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Programme de la formation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480"/>
              </a:spcBef>
              <a:buNone/>
            </a:pPr>
            <a:r>
              <a:rPr lang="fr-BE" sz="2400" dirty="0"/>
              <a:t>1. Navigation.</a:t>
            </a:r>
          </a:p>
          <a:p>
            <a:pPr marL="0" indent="0">
              <a:spcBef>
                <a:spcPts val="480"/>
              </a:spcBef>
              <a:buNone/>
            </a:pPr>
            <a:endParaRPr lang="fr-BE" sz="1050" dirty="0"/>
          </a:p>
          <a:p>
            <a:pPr marL="0" indent="0">
              <a:spcBef>
                <a:spcPts val="480"/>
              </a:spcBef>
              <a:buNone/>
            </a:pPr>
            <a:r>
              <a:rPr lang="fr-BE" sz="2400" dirty="0"/>
              <a:t>2. Philo-Robot.</a:t>
            </a:r>
          </a:p>
          <a:p>
            <a:pPr marL="0" indent="0">
              <a:spcBef>
                <a:spcPts val="480"/>
              </a:spcBef>
              <a:buNone/>
            </a:pPr>
            <a:endParaRPr lang="fr-BE" sz="1050" dirty="0"/>
          </a:p>
          <a:p>
            <a:pPr marL="0" indent="0">
              <a:spcBef>
                <a:spcPts val="480"/>
              </a:spcBef>
              <a:buNone/>
            </a:pPr>
            <a:r>
              <a:rPr lang="fr-BE" sz="2400" dirty="0"/>
              <a:t>3. </a:t>
            </a:r>
            <a:r>
              <a:rPr lang="fr-FR" sz="2400" dirty="0"/>
              <a:t>Classement.</a:t>
            </a:r>
          </a:p>
          <a:p>
            <a:pPr marL="0" indent="0">
              <a:spcBef>
                <a:spcPts val="480"/>
              </a:spcBef>
              <a:buNone/>
            </a:pPr>
            <a:endParaRPr lang="fr-FR" sz="1050" dirty="0"/>
          </a:p>
          <a:p>
            <a:pPr marL="0" indent="0">
              <a:spcBef>
                <a:spcPts val="480"/>
              </a:spcBef>
              <a:buNone/>
            </a:pPr>
            <a:r>
              <a:rPr lang="fr-FR" sz="2400" dirty="0"/>
              <a:t>4. Echéancier électronique.</a:t>
            </a:r>
          </a:p>
          <a:p>
            <a:pPr marL="0" indent="0">
              <a:spcBef>
                <a:spcPts val="480"/>
              </a:spcBef>
              <a:buNone/>
            </a:pPr>
            <a:endParaRPr lang="fr-FR" sz="1050" dirty="0"/>
          </a:p>
          <a:p>
            <a:pPr marL="0" indent="0">
              <a:spcBef>
                <a:spcPts val="480"/>
              </a:spcBef>
              <a:buNone/>
            </a:pPr>
            <a:r>
              <a:rPr lang="fr-FR" sz="2400" dirty="0"/>
              <a:t>5. Syndical ↔ Signalétique.</a:t>
            </a:r>
          </a:p>
          <a:p>
            <a:pPr marL="0" indent="0">
              <a:spcBef>
                <a:spcPts val="480"/>
              </a:spcBef>
              <a:buNone/>
            </a:pPr>
            <a:endParaRPr lang="fr-FR" sz="1050" dirty="0"/>
          </a:p>
          <a:p>
            <a:pPr marL="0" indent="0">
              <a:spcBef>
                <a:spcPts val="480"/>
              </a:spcBef>
              <a:buNone/>
            </a:pPr>
            <a:r>
              <a:rPr lang="fr-FR" sz="2400" dirty="0"/>
              <a:t>6. Retard cotisations.</a:t>
            </a:r>
          </a:p>
          <a:p>
            <a:pPr marL="0" indent="0">
              <a:spcBef>
                <a:spcPts val="480"/>
              </a:spcBef>
              <a:buNone/>
            </a:pPr>
            <a:endParaRPr lang="fr-FR" sz="1050" dirty="0"/>
          </a:p>
          <a:p>
            <a:pPr marL="0" indent="0">
              <a:spcBef>
                <a:spcPts val="480"/>
              </a:spcBef>
              <a:buNone/>
            </a:pPr>
            <a:r>
              <a:rPr lang="fr-FR" sz="2400" dirty="0"/>
              <a:t>7. Attestations.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860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Philo-Robot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5817" t="13361" r="24544" b="5498"/>
          <a:stretch/>
        </p:blipFill>
        <p:spPr>
          <a:xfrm>
            <a:off x="1043608" y="1148342"/>
            <a:ext cx="7056784" cy="55967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3848" y="4365104"/>
            <a:ext cx="2448272" cy="7152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4" name="Rectangle 3">
            <a:hlinkClick r:id="rId4" action="ppaction://hlinksldjump"/>
          </p:cNvPr>
          <p:cNvSpPr/>
          <p:nvPr/>
        </p:nvSpPr>
        <p:spPr>
          <a:xfrm>
            <a:off x="5652120" y="2276872"/>
            <a:ext cx="1368152" cy="26642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0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0F744-E8A8-4364-9183-3D86C092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Classement &amp; pointage C10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A67DC2-19C7-429E-A54C-49681D8FB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/>
              <a:t>Classement</a:t>
            </a:r>
            <a:r>
              <a:rPr lang="fr-BE" sz="3000" dirty="0"/>
              <a:t> </a:t>
            </a:r>
            <a:r>
              <a:rPr lang="fr-BE" sz="3000" b="1" u="sng" dirty="0">
                <a:solidFill>
                  <a:srgbClr val="C00000"/>
                </a:solidFill>
              </a:rPr>
              <a:t>quotidien</a:t>
            </a:r>
            <a:r>
              <a:rPr lang="fr-BE" sz="3000" dirty="0"/>
              <a:t> </a:t>
            </a:r>
            <a:r>
              <a:rPr lang="fr-BE" sz="3000" b="1" dirty="0"/>
              <a:t>obligatoire</a:t>
            </a:r>
            <a:r>
              <a:rPr lang="fr-BE" sz="3000" dirty="0"/>
              <a:t>.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800" dirty="0">
                <a:sym typeface="Wingdings" panose="05000000000000000000" pitchFamily="2" charset="2"/>
              </a:rPr>
              <a:t>15’ de classement </a:t>
            </a:r>
            <a:r>
              <a:rPr lang="fr-BE" sz="2800" u="sng" dirty="0">
                <a:sym typeface="Wingdings" panose="05000000000000000000" pitchFamily="2" charset="2"/>
              </a:rPr>
              <a:t>par lettre</a:t>
            </a:r>
            <a:r>
              <a:rPr lang="fr-BE" sz="2800" dirty="0">
                <a:sym typeface="Wingdings" panose="05000000000000000000" pitchFamily="2" charset="2"/>
              </a:rPr>
              <a:t> </a:t>
            </a:r>
            <a:r>
              <a:rPr lang="fr-BE" sz="2200" dirty="0">
                <a:sym typeface="Wingdings" panose="05000000000000000000" pitchFamily="2" charset="2"/>
              </a:rPr>
              <a:t>(fin de journée),</a:t>
            </a:r>
            <a:r>
              <a:rPr lang="fr-BE" sz="2800" dirty="0">
                <a:sym typeface="Wingdings" panose="05000000000000000000" pitchFamily="2" charset="2"/>
              </a:rPr>
              <a:t> du 27 au 5 du mois suivant </a:t>
            </a:r>
            <a:r>
              <a:rPr lang="fr-BE" sz="2200" dirty="0">
                <a:sym typeface="Wingdings" panose="05000000000000000000" pitchFamily="2" charset="2"/>
              </a:rPr>
              <a:t>(inclus). </a:t>
            </a:r>
          </a:p>
          <a:p>
            <a:pPr marL="72000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800" dirty="0">
                <a:sym typeface="Wingdings" panose="05000000000000000000" pitchFamily="2" charset="2"/>
              </a:rPr>
              <a:t>15’ de classement </a:t>
            </a:r>
            <a:r>
              <a:rPr lang="fr-BE" sz="2800" u="sng" dirty="0">
                <a:sym typeface="Wingdings" panose="05000000000000000000" pitchFamily="2" charset="2"/>
              </a:rPr>
              <a:t>intégral</a:t>
            </a:r>
            <a:r>
              <a:rPr lang="fr-BE" sz="2800" dirty="0">
                <a:sym typeface="Wingdings" panose="05000000000000000000" pitchFamily="2" charset="2"/>
              </a:rPr>
              <a:t> </a:t>
            </a:r>
            <a:r>
              <a:rPr lang="fr-BE" sz="2200" dirty="0">
                <a:sym typeface="Wingdings" panose="05000000000000000000" pitchFamily="2" charset="2"/>
              </a:rPr>
              <a:t>(fin de journée),</a:t>
            </a:r>
            <a:r>
              <a:rPr lang="fr-BE" sz="2800" dirty="0">
                <a:sym typeface="Wingdings" panose="05000000000000000000" pitchFamily="2" charset="2"/>
              </a:rPr>
              <a:t> du 6 au 26 </a:t>
            </a:r>
            <a:r>
              <a:rPr lang="fr-BE" sz="2200" dirty="0">
                <a:sym typeface="Wingdings" panose="05000000000000000000" pitchFamily="2" charset="2"/>
              </a:rPr>
              <a:t>(inclus).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1200" b="1" dirty="0">
              <a:solidFill>
                <a:prstClr val="black"/>
              </a:solidFill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>
                <a:solidFill>
                  <a:prstClr val="black"/>
                </a:solidFill>
              </a:rPr>
              <a:t>Pointage C10</a:t>
            </a:r>
            <a:r>
              <a:rPr lang="fr-BE" sz="3000" dirty="0">
                <a:solidFill>
                  <a:prstClr val="black"/>
                </a:solidFill>
              </a:rPr>
              <a:t>.</a:t>
            </a:r>
          </a:p>
          <a:p>
            <a:pPr marL="720000" lvl="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A débuter le 20 du mois.</a:t>
            </a:r>
          </a:p>
          <a:p>
            <a:pPr marL="720000" lvl="0" indent="-396000">
              <a:spcBef>
                <a:spcPts val="600"/>
              </a:spcBef>
              <a:buSzPct val="80000"/>
              <a:buFont typeface="Wingdings" panose="05000000000000000000" pitchFamily="2" charset="2"/>
              <a:buChar char="è"/>
            </a:pPr>
            <a:r>
              <a:rPr lang="fr-BE" sz="2800" dirty="0">
                <a:solidFill>
                  <a:prstClr val="black"/>
                </a:solidFill>
                <a:sym typeface="Wingdings" panose="05000000000000000000" pitchFamily="2" charset="2"/>
              </a:rPr>
              <a:t>Pointage par gestionnaire &amp; à l’écran </a:t>
            </a:r>
            <a:r>
              <a:rPr lang="fr-BE" sz="2200" dirty="0">
                <a:solidFill>
                  <a:prstClr val="black"/>
                </a:solidFill>
                <a:sym typeface="Wingdings" panose="05000000000000000000" pitchFamily="2" charset="2"/>
              </a:rPr>
              <a:t>(Hz).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4F4FBF-3455-43EE-AB38-0AF93F96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514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0F744-E8A8-4364-9183-3D86C092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 Gestion des délais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4F4FBF-3455-43EE-AB38-0AF93F96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5D62FB70-6DD2-401B-9EBB-3117AFCE38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556792"/>
          <a:ext cx="8229600" cy="4511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24001578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839659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944716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04858686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4932458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Exemple</a:t>
                      </a:r>
                      <a:r>
                        <a:rPr kumimoji="0" lang="fr-BE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DA CC au 17.11.2022 </a:t>
                      </a:r>
                      <a:r>
                        <a:rPr kumimoji="0" lang="fr-BE" sz="1800" b="1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avec</a:t>
                      </a:r>
                      <a:r>
                        <a:rPr kumimoji="0" lang="fr-BE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application art. 92&amp;5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215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/>
                    </a:p>
                    <a:p>
                      <a:pPr algn="ctr"/>
                      <a:r>
                        <a:rPr lang="fr-BE" sz="1600" b="1" dirty="0"/>
                        <a:t>Création de la farde</a:t>
                      </a:r>
                    </a:p>
                    <a:p>
                      <a:pPr algn="ctr"/>
                      <a:endParaRPr lang="fr-BE" sz="1600" b="1" dirty="0"/>
                    </a:p>
                    <a:p>
                      <a:pPr algn="ctr"/>
                      <a:endParaRPr lang="fr-BE" sz="1600" b="1" dirty="0"/>
                    </a:p>
                    <a:p>
                      <a:pPr algn="ctr"/>
                      <a:r>
                        <a:rPr lang="fr-BE" sz="1600" b="1" dirty="0"/>
                        <a:t>Courrier </a:t>
                      </a:r>
                      <a:r>
                        <a:rPr lang="fr-BE" sz="1600" b="0" i="1" dirty="0"/>
                        <a:t>ou</a:t>
                      </a:r>
                      <a:r>
                        <a:rPr lang="fr-BE" sz="1600" b="1" dirty="0"/>
                        <a:t> Accusé réception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BE" sz="1600" b="1" dirty="0">
                          <a:solidFill>
                            <a:schemeClr val="tx1"/>
                          </a:solidFill>
                        </a:rPr>
                        <a:t>Tâche</a:t>
                      </a:r>
                    </a:p>
                    <a:p>
                      <a:pPr algn="ctr"/>
                      <a:r>
                        <a:rPr lang="fr-BE" sz="1600" b="1" dirty="0">
                          <a:solidFill>
                            <a:schemeClr val="tx1"/>
                          </a:solidFill>
                        </a:rPr>
                        <a:t>« farde à suivre »</a:t>
                      </a:r>
                    </a:p>
                    <a:p>
                      <a:pPr algn="ctr"/>
                      <a:endParaRPr lang="fr-BE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BE" sz="1200" dirty="0"/>
                        <a:t>(le 17/12)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fr-BE" sz="1600" b="1" i="1" baseline="30000" dirty="0">
                          <a:solidFill>
                            <a:srgbClr val="C00000"/>
                          </a:solidFill>
                        </a:rPr>
                        <a:t>ier</a:t>
                      </a:r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 rappel</a:t>
                      </a:r>
                    </a:p>
                    <a:p>
                      <a:pPr algn="ctr"/>
                      <a:r>
                        <a:rPr lang="fr-BE" sz="1200" b="0" i="1" dirty="0">
                          <a:solidFill>
                            <a:schemeClr val="tx1"/>
                          </a:solidFill>
                        </a:rPr>
                        <a:t>(courrier)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/>
                    </a:p>
                    <a:p>
                      <a:pPr algn="ctr"/>
                      <a:r>
                        <a:rPr lang="fr-BE" sz="1600" b="1" dirty="0"/>
                        <a:t>Tâche</a:t>
                      </a:r>
                    </a:p>
                    <a:p>
                      <a:pPr algn="ctr"/>
                      <a:r>
                        <a:rPr lang="fr-BE" sz="1600" b="1" dirty="0"/>
                        <a:t>« échéance pour</a:t>
                      </a:r>
                    </a:p>
                    <a:p>
                      <a:pPr algn="ctr"/>
                      <a:r>
                        <a:rPr lang="fr-BE" sz="1600" b="1" dirty="0"/>
                        <a:t>envoi C9 »</a:t>
                      </a:r>
                    </a:p>
                    <a:p>
                      <a:pPr algn="ctr"/>
                      <a:r>
                        <a:rPr lang="fr-BE" sz="1200" dirty="0"/>
                        <a:t>(le 04/01)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fr-BE" sz="1600" b="1" i="1" baseline="30000" dirty="0">
                          <a:solidFill>
                            <a:srgbClr val="C00000"/>
                          </a:solidFill>
                        </a:rPr>
                        <a:t>ème</a:t>
                      </a:r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 rappel</a:t>
                      </a:r>
                    </a:p>
                    <a:p>
                      <a:pPr algn="ctr"/>
                      <a:r>
                        <a:rPr lang="fr-BE" sz="1200" b="0" i="1" dirty="0">
                          <a:solidFill>
                            <a:schemeClr val="tx1"/>
                          </a:solidFill>
                        </a:rPr>
                        <a:t>(courrier)</a:t>
                      </a: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+ 92§5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/>
                    </a:p>
                    <a:p>
                      <a:pPr algn="ctr"/>
                      <a:r>
                        <a:rPr lang="fr-BE" sz="1600" b="1" dirty="0"/>
                        <a:t>Tâche « échéance pour envoi C9 »</a:t>
                      </a:r>
                    </a:p>
                    <a:p>
                      <a:pPr algn="ctr"/>
                      <a:r>
                        <a:rPr lang="fr-BE" sz="1200" dirty="0"/>
                        <a:t>(le 06/02)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C9 type K</a:t>
                      </a:r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2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sz="600" b="0" i="0" dirty="0"/>
                    </a:p>
                    <a:p>
                      <a:r>
                        <a:rPr lang="fr-BE" sz="1600" b="1" i="1" dirty="0"/>
                        <a:t>Date de suivi des flux encore à recevoir</a:t>
                      </a:r>
                    </a:p>
                    <a:p>
                      <a:endParaRPr lang="fr-BE" sz="6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16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+ 3 sem.</a:t>
                      </a:r>
                    </a:p>
                    <a:p>
                      <a:pPr algn="ctr"/>
                      <a:r>
                        <a:rPr lang="fr-BE" sz="1600" b="0" i="1" dirty="0"/>
                        <a:t>= 09.01.2023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+ 1 mois</a:t>
                      </a:r>
                    </a:p>
                    <a:p>
                      <a:pPr algn="ctr"/>
                      <a:r>
                        <a:rPr lang="fr-BE" sz="1600" i="1" dirty="0"/>
                        <a:t>= 09.02.2023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Envoi du dossier</a:t>
                      </a:r>
                    </a:p>
                    <a:p>
                      <a:pPr algn="ctr"/>
                      <a:r>
                        <a:rPr lang="fr-BE" sz="1600" i="1" dirty="0"/>
                        <a:t>C9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56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sz="600" b="0" i="0" dirty="0"/>
                    </a:p>
                    <a:p>
                      <a:r>
                        <a:rPr lang="fr-BE" sz="1600" b="1" i="1" dirty="0"/>
                        <a:t>Échéance pour envoyer C9</a:t>
                      </a:r>
                    </a:p>
                    <a:p>
                      <a:endParaRPr lang="fr-BE" sz="1600" b="1" i="1" dirty="0"/>
                    </a:p>
                    <a:p>
                      <a:endParaRPr lang="fr-BE" sz="6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sz="1600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i="1" dirty="0"/>
                        <a:t>= 09.01.2023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+ 1 mois</a:t>
                      </a:r>
                    </a:p>
                    <a:p>
                      <a:pPr algn="ctr"/>
                      <a:r>
                        <a:rPr lang="fr-BE" sz="1600" i="1" dirty="0"/>
                        <a:t>= 09.02.2023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Envoi du dossier</a:t>
                      </a:r>
                    </a:p>
                    <a:p>
                      <a:pPr algn="ctr"/>
                      <a:r>
                        <a:rPr lang="fr-BE" sz="1600" i="1" dirty="0"/>
                        <a:t>C9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157304"/>
                  </a:ext>
                </a:extLst>
              </a:tr>
            </a:tbl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6EA8DC1C-5172-4FC2-AAA9-5A458FB5D1AB}"/>
              </a:ext>
            </a:extLst>
          </p:cNvPr>
          <p:cNvSpPr txBox="1"/>
          <p:nvPr/>
        </p:nvSpPr>
        <p:spPr>
          <a:xfrm>
            <a:off x="2195736" y="4136559"/>
            <a:ext cx="1584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600" i="1" dirty="0"/>
              <a:t>Date par défaut</a:t>
            </a:r>
          </a:p>
          <a:p>
            <a:pPr algn="ctr"/>
            <a:r>
              <a:rPr lang="fr-BE" sz="1600" i="1" dirty="0"/>
              <a:t>= 19.12.2022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8821BC8-3C39-4090-8979-5986025F21B2}"/>
              </a:ext>
            </a:extLst>
          </p:cNvPr>
          <p:cNvSpPr txBox="1"/>
          <p:nvPr/>
        </p:nvSpPr>
        <p:spPr>
          <a:xfrm>
            <a:off x="2120534" y="5167687"/>
            <a:ext cx="1584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1600" i="1" dirty="0"/>
              <a:t>Date par défaut</a:t>
            </a:r>
          </a:p>
          <a:p>
            <a:pPr algn="ctr"/>
            <a:r>
              <a:rPr lang="fr-BE" sz="1600" i="1" dirty="0"/>
              <a:t>= 09.01.2023</a:t>
            </a:r>
          </a:p>
        </p:txBody>
      </p:sp>
    </p:spTree>
    <p:extLst>
      <p:ext uri="{BB962C8B-B14F-4D97-AF65-F5344CB8AC3E}">
        <p14:creationId xmlns:p14="http://schemas.microsoft.com/office/powerpoint/2010/main" val="363207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00F744-E8A8-4364-9183-3D86C0921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sz="4000" b="1" i="1" dirty="0"/>
              <a:t> Gestion des délais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E4F4FBF-3455-43EE-AB38-0AF93F965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8" name="Espace réservé du contenu 7">
            <a:extLst>
              <a:ext uri="{FF2B5EF4-FFF2-40B4-BE49-F238E27FC236}">
                <a16:creationId xmlns:a16="http://schemas.microsoft.com/office/drawing/2014/main" id="{5D62FB70-6DD2-401B-9EBB-3117AFCE38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556792"/>
          <a:ext cx="8229600" cy="4175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24001578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18396594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944716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04858686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4932458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800" b="1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Exemple</a:t>
                      </a:r>
                      <a:r>
                        <a:rPr kumimoji="0" lang="fr-BE" sz="18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: DA CT au 17.11.2022 &amp; </a:t>
                      </a:r>
                      <a:r>
                        <a:rPr kumimoji="0" lang="fr-BE" sz="1800" b="1" i="1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aucun document signé par l’intéressé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8215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/>
                    </a:p>
                    <a:p>
                      <a:pPr algn="ctr"/>
                      <a:r>
                        <a:rPr lang="fr-BE" sz="1600" b="1" dirty="0"/>
                        <a:t>Création de la farde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BE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Courrier</a:t>
                      </a:r>
                      <a:endParaRPr lang="fr-BE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BE" sz="1600" b="1" dirty="0">
                          <a:solidFill>
                            <a:schemeClr val="tx1"/>
                          </a:solidFill>
                        </a:rPr>
                        <a:t>Tâche</a:t>
                      </a:r>
                    </a:p>
                    <a:p>
                      <a:pPr algn="ctr"/>
                      <a:r>
                        <a:rPr lang="fr-BE" sz="1600" b="1" dirty="0">
                          <a:solidFill>
                            <a:schemeClr val="tx1"/>
                          </a:solidFill>
                        </a:rPr>
                        <a:t>« farde à suivre »</a:t>
                      </a:r>
                    </a:p>
                    <a:p>
                      <a:pPr algn="ctr"/>
                      <a:endParaRPr lang="fr-BE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fr-BE" sz="1200" dirty="0"/>
                        <a:t>(le 31/12)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1</a:t>
                      </a:r>
                      <a:r>
                        <a:rPr lang="fr-BE" sz="1600" b="1" i="1" baseline="30000" dirty="0">
                          <a:solidFill>
                            <a:srgbClr val="C00000"/>
                          </a:solidFill>
                        </a:rPr>
                        <a:t>ier</a:t>
                      </a:r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 rappel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(courrier)</a:t>
                      </a:r>
                      <a:endParaRPr lang="fr-BE" sz="1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/>
                    </a:p>
                    <a:p>
                      <a:pPr algn="ctr"/>
                      <a:r>
                        <a:rPr lang="fr-BE" sz="1600" b="1" dirty="0"/>
                        <a:t>Tâche</a:t>
                      </a:r>
                    </a:p>
                    <a:p>
                      <a:pPr algn="ctr"/>
                      <a:r>
                        <a:rPr lang="fr-BE" sz="1600" b="1" dirty="0"/>
                        <a:t>« échéance pour</a:t>
                      </a:r>
                    </a:p>
                    <a:p>
                      <a:pPr algn="ctr"/>
                      <a:r>
                        <a:rPr lang="fr-BE" sz="1600" b="1" dirty="0"/>
                        <a:t>envoi C9 »</a:t>
                      </a:r>
                    </a:p>
                    <a:p>
                      <a:pPr algn="ctr"/>
                      <a:r>
                        <a:rPr lang="fr-BE" sz="1200" dirty="0"/>
                        <a:t>(le 18/01)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2</a:t>
                      </a:r>
                      <a:r>
                        <a:rPr lang="fr-BE" sz="1600" b="1" i="1" baseline="30000" dirty="0">
                          <a:solidFill>
                            <a:srgbClr val="C00000"/>
                          </a:solidFill>
                        </a:rPr>
                        <a:t>ème</a:t>
                      </a:r>
                      <a:r>
                        <a:rPr lang="fr-BE" sz="1600" b="1" i="1" dirty="0">
                          <a:solidFill>
                            <a:srgbClr val="C00000"/>
                          </a:solidFill>
                        </a:rPr>
                        <a:t> rappel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2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(courrier)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BE" sz="1600" b="1" i="1" kern="1200" noProof="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+ 92§5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fr-BE" sz="600" b="0" dirty="0"/>
                    </a:p>
                    <a:p>
                      <a:pPr algn="ctr"/>
                      <a:r>
                        <a:rPr lang="fr-BE" sz="1600" b="1" dirty="0"/>
                        <a:t>Tâche « échéance pour envoi C9 »</a:t>
                      </a:r>
                    </a:p>
                    <a:p>
                      <a:pPr algn="ctr"/>
                      <a:r>
                        <a:rPr lang="fr-BE" sz="1200" dirty="0"/>
                        <a:t>(le 20/02)</a:t>
                      </a: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  <a:p>
                      <a:pPr algn="ctr"/>
                      <a:endParaRPr lang="fr-BE" sz="600" b="1" i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82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sz="600" b="0" i="0" dirty="0"/>
                    </a:p>
                    <a:p>
                      <a:r>
                        <a:rPr lang="fr-BE" sz="1600" b="1" i="1" dirty="0"/>
                        <a:t>Date de suivi des flux encore à recevoir</a:t>
                      </a:r>
                    </a:p>
                    <a:p>
                      <a:endParaRPr lang="fr-BE" sz="6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i="1" dirty="0"/>
                        <a:t>Date par défaut</a:t>
                      </a:r>
                    </a:p>
                    <a:p>
                      <a:pPr algn="ctr"/>
                      <a:r>
                        <a:rPr lang="fr-BE" sz="1600" i="1" dirty="0"/>
                        <a:t>= 02.01.2023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+ 3 sem.</a:t>
                      </a:r>
                    </a:p>
                    <a:p>
                      <a:pPr algn="ctr"/>
                      <a:r>
                        <a:rPr lang="fr-BE" sz="1600" b="0" i="1" dirty="0"/>
                        <a:t>= 23.01.2023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+ 1 mois</a:t>
                      </a:r>
                    </a:p>
                    <a:p>
                      <a:pPr algn="ctr"/>
                      <a:r>
                        <a:rPr lang="fr-BE" sz="1600" i="1" dirty="0"/>
                        <a:t>= 23.02.2023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Dossier supprimé</a:t>
                      </a:r>
                    </a:p>
                    <a:p>
                      <a:pPr algn="ctr"/>
                      <a:r>
                        <a:rPr lang="fr-BE" sz="1550" i="1" dirty="0"/>
                        <a:t>(classé sans suite)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563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BE" sz="600" b="0" i="0" dirty="0"/>
                    </a:p>
                    <a:p>
                      <a:r>
                        <a:rPr lang="fr-BE" sz="1600" b="1" i="1" dirty="0"/>
                        <a:t>Échéance pour envoyer C9</a:t>
                      </a:r>
                    </a:p>
                    <a:p>
                      <a:endParaRPr lang="fr-BE" sz="600" b="1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i="1" dirty="0"/>
                        <a:t>Date par défaut</a:t>
                      </a:r>
                    </a:p>
                    <a:p>
                      <a:pPr algn="ctr"/>
                      <a:r>
                        <a:rPr lang="fr-BE" sz="1600" i="1" dirty="0"/>
                        <a:t>= 23.01.2023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i="1" dirty="0"/>
                        <a:t>Date par défaut</a:t>
                      </a:r>
                    </a:p>
                    <a:p>
                      <a:pPr algn="ctr"/>
                      <a:r>
                        <a:rPr lang="fr-BE" sz="1600" i="1" dirty="0"/>
                        <a:t>= 23.01.2023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600" b="1" i="1" dirty="0"/>
                        <a:t>+ 1 mois</a:t>
                      </a:r>
                    </a:p>
                    <a:p>
                      <a:pPr algn="ctr"/>
                      <a:r>
                        <a:rPr lang="fr-BE" sz="1600" i="1" dirty="0"/>
                        <a:t>= 23.02.2023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6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Dossier supprimé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BE" sz="15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(classé sans suite)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157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742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5D32BFEA545C4385104AB5091D3485" ma:contentTypeVersion="4" ma:contentTypeDescription="Crée un document." ma:contentTypeScope="" ma:versionID="0bb1294de808c5098690370d06029b9e">
  <xsd:schema xmlns:xsd="http://www.w3.org/2001/XMLSchema" xmlns:xs="http://www.w3.org/2001/XMLSchema" xmlns:p="http://schemas.microsoft.com/office/2006/metadata/properties" xmlns:ns2="447dc5be-6c5f-4788-b00f-a02e84403ceb" xmlns:ns3="41daa35d-0841-4078-8e3c-042c746e8d98" targetNamespace="http://schemas.microsoft.com/office/2006/metadata/properties" ma:root="true" ma:fieldsID="76ec0f4aec764fe0c01f4239d0947e3c" ns2:_="" ns3:_="">
    <xsd:import namespace="447dc5be-6c5f-4788-b00f-a02e84403ceb"/>
    <xsd:import namespace="41daa35d-0841-4078-8e3c-042c746e8d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7dc5be-6c5f-4788-b00f-a02e84403c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aa35d-0841-4078-8e3c-042c746e8d9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59B0BE50-39CF-45DC-BC9D-D0E1F5066850}"/>
</file>

<file path=customXml/itemProps2.xml><?xml version="1.0" encoding="utf-8"?>
<ds:datastoreItem xmlns:ds="http://schemas.openxmlformats.org/officeDocument/2006/customXml" ds:itemID="{BC5912B8-7172-455B-B8CB-E7D19A411EF7}">
  <ds:schemaRefs>
    <ds:schemaRef ds:uri="http://purl.org/dc/dcmitype/"/>
    <ds:schemaRef ds:uri="http://schemas.microsoft.com/office/2006/metadata/properties"/>
    <ds:schemaRef ds:uri="http://purl.org/dc/terms/"/>
    <ds:schemaRef ds:uri="bdec1399-7c99-4025-bfb6-e1e799e6630a"/>
    <ds:schemaRef ds:uri="1e832426-6819-49af-b751-404cdfce1567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7d2a3af0-b854-4018-b3fb-98bf2b75e19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8191F75-C793-484F-A1E1-B36BAD56C631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298E588F-E969-41BF-A41A-CCD51C775311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17857</TotalTime>
  <Words>365</Words>
  <Application>Microsoft Office PowerPoint</Application>
  <PresentationFormat>Affichage à l'écran (4:3)</PresentationFormat>
  <Paragraphs>132</Paragraphs>
  <Slides>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Thème Office</vt:lpstr>
      <vt:lpstr>Philosophie Horizon (niv. 1)</vt:lpstr>
      <vt:lpstr>Programme de la formation</vt:lpstr>
      <vt:lpstr>Philo-Robot</vt:lpstr>
      <vt:lpstr>Classement &amp; pointage C10</vt:lpstr>
      <vt:lpstr> Gestion des délais</vt:lpstr>
      <vt:lpstr> Gestion des délais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FCJ-M08-Philosophie Hz (niv. 1)-Participants</dc:title>
  <dc:creator>u99lge</dc:creator>
  <cp:lastModifiedBy>Jerome Martini</cp:lastModifiedBy>
  <cp:revision>897</cp:revision>
  <dcterms:created xsi:type="dcterms:W3CDTF">2010-09-22T12:12:06Z</dcterms:created>
  <dcterms:modified xsi:type="dcterms:W3CDTF">2022-12-01T12:16:49Z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0x010100735D32BFEA545C4385104AB5091D3485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17;#Admissibilité|d1ac0b1f-1e4c-4aa8-9a97-5b01e61985ba;#22;#Indemnisabilité|b5f95997-28b8-41b1-bbb7-1a3d8a5995b4;#26;#Paiement|bbe82f01-f3c6-4a35-a642-de01f3e9fac7;#13;#Tâches|addb87cc-e52a-4e6f-a061-fdea8baf7830;#18;#Vérités|91331765-02c2-47c0-8605-37a5a3e877f2</vt:lpwstr>
  </property>
  <property fmtid="{D5CDD505-2E9C-101B-9397-08002B2CF9AE}" pid="7" name="Thème">
    <vt:lpwstr>52;#Philosophie Horizon - Base|1dc6ba00-42be-46d6-8ddb-8b3a423674bd</vt:lpwstr>
  </property>
  <property fmtid="{D5CDD505-2E9C-101B-9397-08002B2CF9AE}" pid="8" name="Order">
    <vt:r8>243100</vt:r8>
  </property>
  <property fmtid="{D5CDD505-2E9C-101B-9397-08002B2CF9AE}" pid="9" name="_dlc_DocIdItemGuid">
    <vt:lpwstr>ce7b0717-cb50-4a78-948b-01fa5d8e1776</vt:lpwstr>
  </property>
</Properties>
</file>