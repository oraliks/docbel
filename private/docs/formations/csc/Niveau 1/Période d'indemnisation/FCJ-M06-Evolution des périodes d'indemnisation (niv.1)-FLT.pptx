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5"/>
    <p:sldMasterId id="2147483660" r:id="rId6"/>
  </p:sldMasterIdLst>
  <p:notesMasterIdLst>
    <p:notesMasterId r:id="rId56"/>
  </p:notesMasterIdLst>
  <p:handoutMasterIdLst>
    <p:handoutMasterId r:id="rId57"/>
  </p:handoutMasterIdLst>
  <p:sldIdLst>
    <p:sldId id="573" r:id="rId7"/>
    <p:sldId id="631" r:id="rId8"/>
    <p:sldId id="593" r:id="rId9"/>
    <p:sldId id="587" r:id="rId10"/>
    <p:sldId id="598" r:id="rId11"/>
    <p:sldId id="594" r:id="rId12"/>
    <p:sldId id="503" r:id="rId13"/>
    <p:sldId id="509" r:id="rId14"/>
    <p:sldId id="508" r:id="rId15"/>
    <p:sldId id="510" r:id="rId16"/>
    <p:sldId id="507" r:id="rId17"/>
    <p:sldId id="572" r:id="rId18"/>
    <p:sldId id="517" r:id="rId19"/>
    <p:sldId id="520" r:id="rId20"/>
    <p:sldId id="595" r:id="rId21"/>
    <p:sldId id="526" r:id="rId22"/>
    <p:sldId id="561" r:id="rId23"/>
    <p:sldId id="527" r:id="rId24"/>
    <p:sldId id="528" r:id="rId25"/>
    <p:sldId id="603" r:id="rId26"/>
    <p:sldId id="604" r:id="rId27"/>
    <p:sldId id="532" r:id="rId28"/>
    <p:sldId id="533" r:id="rId29"/>
    <p:sldId id="622" r:id="rId30"/>
    <p:sldId id="605" r:id="rId31"/>
    <p:sldId id="606" r:id="rId32"/>
    <p:sldId id="623" r:id="rId33"/>
    <p:sldId id="540" r:id="rId34"/>
    <p:sldId id="551" r:id="rId35"/>
    <p:sldId id="450" r:id="rId36"/>
    <p:sldId id="632" r:id="rId37"/>
    <p:sldId id="544" r:id="rId38"/>
    <p:sldId id="633" r:id="rId39"/>
    <p:sldId id="546" r:id="rId40"/>
    <p:sldId id="634" r:id="rId41"/>
    <p:sldId id="554" r:id="rId42"/>
    <p:sldId id="626" r:id="rId43"/>
    <p:sldId id="635" r:id="rId44"/>
    <p:sldId id="628" r:id="rId45"/>
    <p:sldId id="636" r:id="rId46"/>
    <p:sldId id="637" r:id="rId47"/>
    <p:sldId id="638" r:id="rId48"/>
    <p:sldId id="639" r:id="rId49"/>
    <p:sldId id="640" r:id="rId50"/>
    <p:sldId id="609" r:id="rId51"/>
    <p:sldId id="611" r:id="rId52"/>
    <p:sldId id="613" r:id="rId53"/>
    <p:sldId id="615" r:id="rId54"/>
    <p:sldId id="617" r:id="rId55"/>
  </p:sldIdLst>
  <p:sldSz cx="9144000" cy="6858000" type="screen4x3"/>
  <p:notesSz cx="6735763" cy="98663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ippe Barbier" initials="PB" lastIdx="2" clrIdx="0">
    <p:extLst>
      <p:ext uri="{19B8F6BF-5375-455C-9EA6-DF929625EA0E}">
        <p15:presenceInfo xmlns:p15="http://schemas.microsoft.com/office/powerpoint/2012/main" userId="S-1-5-21-969678584-1814248037-6498272-59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3399"/>
    <a:srgbClr val="FF9933"/>
    <a:srgbClr val="669900"/>
    <a:srgbClr val="00FF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56" autoAdjust="0"/>
    <p:restoredTop sz="93922" autoAdjust="0"/>
  </p:normalViewPr>
  <p:slideViewPr>
    <p:cSldViewPr>
      <p:cViewPr varScale="1">
        <p:scale>
          <a:sx n="82" d="100"/>
          <a:sy n="82" d="100"/>
        </p:scale>
        <p:origin x="1272" y="72"/>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commentAuthors" Target="commentAuthors.xml"/><Relationship Id="rId5" Type="http://schemas.openxmlformats.org/officeDocument/2006/relationships/slideMaster" Target="slideMasters/slideMaster1.xml"/><Relationship Id="rId61" Type="http://schemas.openxmlformats.org/officeDocument/2006/relationships/theme" Target="theme/theme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handoutMaster" Target="handoutMasters/handoutMaster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viewProps" Target="viewProps.xml"/><Relationship Id="rId9"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18830" cy="49331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15374" y="0"/>
            <a:ext cx="2918830" cy="493316"/>
          </a:xfrm>
          <a:prstGeom prst="rect">
            <a:avLst/>
          </a:prstGeom>
        </p:spPr>
        <p:txBody>
          <a:bodyPr vert="horz" lIns="91440" tIns="45720" rIns="91440" bIns="45720" rtlCol="0"/>
          <a:lstStyle>
            <a:lvl1pPr algn="r">
              <a:defRPr sz="1200"/>
            </a:lvl1pPr>
          </a:lstStyle>
          <a:p>
            <a:fld id="{E47068CA-F0DC-447A-B9ED-AE95D731C7D8}" type="datetimeFigureOut">
              <a:rPr lang="fr-FR" smtClean="0"/>
              <a:pPr/>
              <a:t>24/11/2022</a:t>
            </a:fld>
            <a:endParaRPr lang="fr-FR"/>
          </a:p>
        </p:txBody>
      </p:sp>
      <p:sp>
        <p:nvSpPr>
          <p:cNvPr id="4" name="Espace réservé du pied de page 3"/>
          <p:cNvSpPr>
            <a:spLocks noGrp="1"/>
          </p:cNvSpPr>
          <p:nvPr>
            <p:ph type="ftr" sz="quarter" idx="2"/>
          </p:nvPr>
        </p:nvSpPr>
        <p:spPr>
          <a:xfrm>
            <a:off x="0" y="9371285"/>
            <a:ext cx="2918830" cy="493316"/>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15374" y="9371285"/>
            <a:ext cx="2918830" cy="493316"/>
          </a:xfrm>
          <a:prstGeom prst="rect">
            <a:avLst/>
          </a:prstGeom>
        </p:spPr>
        <p:txBody>
          <a:bodyPr vert="horz" lIns="91440" tIns="45720" rIns="91440" bIns="45720" rtlCol="0" anchor="b"/>
          <a:lstStyle>
            <a:lvl1pPr algn="r">
              <a:defRPr sz="1200"/>
            </a:lvl1pPr>
          </a:lstStyle>
          <a:p>
            <a:fld id="{49110657-391D-4BAF-82B8-BBA3EA77C61C}" type="slidenum">
              <a:rPr lang="fr-FR" smtClean="0"/>
              <a:pPr/>
              <a:t>‹N°›</a:t>
            </a:fld>
            <a:endParaRPr lang="fr-FR"/>
          </a:p>
        </p:txBody>
      </p:sp>
    </p:spTree>
    <p:extLst>
      <p:ext uri="{BB962C8B-B14F-4D97-AF65-F5344CB8AC3E}">
        <p14:creationId xmlns:p14="http://schemas.microsoft.com/office/powerpoint/2010/main" val="26919770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18830" cy="49331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15374" y="0"/>
            <a:ext cx="2918830" cy="493316"/>
          </a:xfrm>
          <a:prstGeom prst="rect">
            <a:avLst/>
          </a:prstGeom>
        </p:spPr>
        <p:txBody>
          <a:bodyPr vert="horz" lIns="91440" tIns="45720" rIns="91440" bIns="45720" rtlCol="0"/>
          <a:lstStyle>
            <a:lvl1pPr algn="r">
              <a:defRPr sz="1200"/>
            </a:lvl1pPr>
          </a:lstStyle>
          <a:p>
            <a:fld id="{B000F49C-6693-442B-81D1-9FE7387508D2}" type="datetimeFigureOut">
              <a:rPr lang="fr-FR" smtClean="0"/>
              <a:pPr/>
              <a:t>24/11/2022</a:t>
            </a:fld>
            <a:endParaRPr lang="fr-FR"/>
          </a:p>
        </p:txBody>
      </p:sp>
      <p:sp>
        <p:nvSpPr>
          <p:cNvPr id="4" name="Espace réservé de l'image des diapositives 3"/>
          <p:cNvSpPr>
            <a:spLocks noGrp="1" noRot="1" noChangeAspect="1"/>
          </p:cNvSpPr>
          <p:nvPr>
            <p:ph type="sldImg" idx="2"/>
          </p:nvPr>
        </p:nvSpPr>
        <p:spPr>
          <a:xfrm>
            <a:off x="900113" y="739775"/>
            <a:ext cx="4935537" cy="3700463"/>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3577" y="4686500"/>
            <a:ext cx="5388610" cy="443984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1285"/>
            <a:ext cx="2918830" cy="49331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15374" y="9371285"/>
            <a:ext cx="2918830" cy="493316"/>
          </a:xfrm>
          <a:prstGeom prst="rect">
            <a:avLst/>
          </a:prstGeom>
        </p:spPr>
        <p:txBody>
          <a:bodyPr vert="horz" lIns="91440" tIns="45720" rIns="91440" bIns="45720" rtlCol="0" anchor="b"/>
          <a:lstStyle>
            <a:lvl1pPr algn="r">
              <a:defRPr sz="1200"/>
            </a:lvl1pPr>
          </a:lstStyle>
          <a:p>
            <a:fld id="{784742A2-A700-4112-A494-09AD92282681}" type="slidenum">
              <a:rPr lang="fr-FR" smtClean="0"/>
              <a:pPr/>
              <a:t>‹N°›</a:t>
            </a:fld>
            <a:endParaRPr lang="fr-FR"/>
          </a:p>
        </p:txBody>
      </p:sp>
    </p:spTree>
    <p:extLst>
      <p:ext uri="{BB962C8B-B14F-4D97-AF65-F5344CB8AC3E}">
        <p14:creationId xmlns:p14="http://schemas.microsoft.com/office/powerpoint/2010/main" val="1422369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a:t>
            </a:fld>
            <a:endParaRPr lang="fr-FR"/>
          </a:p>
        </p:txBody>
      </p:sp>
    </p:spTree>
    <p:extLst>
      <p:ext uri="{BB962C8B-B14F-4D97-AF65-F5344CB8AC3E}">
        <p14:creationId xmlns:p14="http://schemas.microsoft.com/office/powerpoint/2010/main" val="2721581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a:t>
            </a:fld>
            <a:endParaRPr lang="fr-FR"/>
          </a:p>
        </p:txBody>
      </p:sp>
    </p:spTree>
    <p:extLst>
      <p:ext uri="{BB962C8B-B14F-4D97-AF65-F5344CB8AC3E}">
        <p14:creationId xmlns:p14="http://schemas.microsoft.com/office/powerpoint/2010/main" val="574344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a:t>
            </a:fld>
            <a:endParaRPr lang="fr-FR"/>
          </a:p>
        </p:txBody>
      </p:sp>
    </p:spTree>
    <p:extLst>
      <p:ext uri="{BB962C8B-B14F-4D97-AF65-F5344CB8AC3E}">
        <p14:creationId xmlns:p14="http://schemas.microsoft.com/office/powerpoint/2010/main" val="3110201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Espace réservé de l'image des diapositives 1"/>
          <p:cNvSpPr>
            <a:spLocks noGrp="1" noRot="1" noChangeAspect="1" noTextEdit="1"/>
          </p:cNvSpPr>
          <p:nvPr>
            <p:ph type="sldImg"/>
          </p:nvPr>
        </p:nvSpPr>
        <p:spPr>
          <a:ln/>
        </p:spPr>
      </p:sp>
      <p:sp>
        <p:nvSpPr>
          <p:cNvPr id="269315" name="Espace réservé des commentaires 2"/>
          <p:cNvSpPr>
            <a:spLocks noGrp="1"/>
          </p:cNvSpPr>
          <p:nvPr>
            <p:ph type="body" idx="1"/>
          </p:nvPr>
        </p:nvSpPr>
        <p:spPr>
          <a:noFill/>
        </p:spPr>
        <p:txBody>
          <a:bodyPr/>
          <a:lstStyle/>
          <a:p>
            <a:r>
              <a:rPr lang="fr-BE" altLang="en-US" dirty="0">
                <a:latin typeface="Times New Roman" panose="02020603050405020304" pitchFamily="18" charset="0"/>
              </a:rPr>
              <a:t> </a:t>
            </a:r>
            <a:endParaRPr lang="en-US" altLang="en-US" dirty="0">
              <a:latin typeface="Times New Roman" panose="02020603050405020304" pitchFamily="18" charset="0"/>
            </a:endParaRPr>
          </a:p>
        </p:txBody>
      </p:sp>
      <p:sp>
        <p:nvSpPr>
          <p:cNvPr id="269316" name="Espace réservé du numéro de diapositive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6D3F553-86FF-4E70-ABFD-A13F03D89777}" type="slidenum">
              <a:rPr lang="fr-FR" altLang="en-US" sz="1200" smtClean="0"/>
              <a:pPr/>
              <a:t>6</a:t>
            </a:fld>
            <a:endParaRPr lang="fr-FR" altLang="en-US" sz="1200"/>
          </a:p>
        </p:txBody>
      </p:sp>
    </p:spTree>
    <p:extLst>
      <p:ext uri="{BB962C8B-B14F-4D97-AF65-F5344CB8AC3E}">
        <p14:creationId xmlns:p14="http://schemas.microsoft.com/office/powerpoint/2010/main" val="2897941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baseline="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7</a:t>
            </a:fld>
            <a:endParaRPr lang="fr-FR"/>
          </a:p>
        </p:txBody>
      </p:sp>
    </p:spTree>
    <p:extLst>
      <p:ext uri="{BB962C8B-B14F-4D97-AF65-F5344CB8AC3E}">
        <p14:creationId xmlns:p14="http://schemas.microsoft.com/office/powerpoint/2010/main" val="1785004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8</a:t>
            </a:fld>
            <a:endParaRPr lang="fr-FR"/>
          </a:p>
        </p:txBody>
      </p:sp>
    </p:spTree>
    <p:extLst>
      <p:ext uri="{BB962C8B-B14F-4D97-AF65-F5344CB8AC3E}">
        <p14:creationId xmlns:p14="http://schemas.microsoft.com/office/powerpoint/2010/main" val="2507464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Font typeface="Wingdings" pitchFamily="2" charset="2"/>
              <a:buNone/>
            </a:pPr>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9</a:t>
            </a:fld>
            <a:endParaRPr lang="fr-FR"/>
          </a:p>
        </p:txBody>
      </p:sp>
    </p:spTree>
    <p:extLst>
      <p:ext uri="{BB962C8B-B14F-4D97-AF65-F5344CB8AC3E}">
        <p14:creationId xmlns:p14="http://schemas.microsoft.com/office/powerpoint/2010/main" val="2507464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10</a:t>
            </a:fld>
            <a:endParaRPr lang="fr-FR"/>
          </a:p>
        </p:txBody>
      </p:sp>
    </p:spTree>
    <p:extLst>
      <p:ext uri="{BB962C8B-B14F-4D97-AF65-F5344CB8AC3E}">
        <p14:creationId xmlns:p14="http://schemas.microsoft.com/office/powerpoint/2010/main" val="2507464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11</a:t>
            </a:fld>
            <a:endParaRPr lang="fr-FR"/>
          </a:p>
        </p:txBody>
      </p:sp>
    </p:spTree>
    <p:extLst>
      <p:ext uri="{BB962C8B-B14F-4D97-AF65-F5344CB8AC3E}">
        <p14:creationId xmlns:p14="http://schemas.microsoft.com/office/powerpoint/2010/main" val="1473474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87452E34-C519-400A-AB8D-76AF527C5018}" type="slidenum">
              <a:rPr lang="nl-BE" smtClean="0"/>
              <a:pPr/>
              <a:t>12</a:t>
            </a:fld>
            <a:endParaRPr lang="nl-BE"/>
          </a:p>
        </p:txBody>
      </p:sp>
    </p:spTree>
    <p:extLst>
      <p:ext uri="{BB962C8B-B14F-4D97-AF65-F5344CB8AC3E}">
        <p14:creationId xmlns:p14="http://schemas.microsoft.com/office/powerpoint/2010/main" val="2159364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13</a:t>
            </a:fld>
            <a:endParaRPr lang="fr-FR"/>
          </a:p>
        </p:txBody>
      </p:sp>
    </p:spTree>
    <p:extLst>
      <p:ext uri="{BB962C8B-B14F-4D97-AF65-F5344CB8AC3E}">
        <p14:creationId xmlns:p14="http://schemas.microsoft.com/office/powerpoint/2010/main" val="3296567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14</a:t>
            </a:fld>
            <a:endParaRPr lang="fr-FR"/>
          </a:p>
        </p:txBody>
      </p:sp>
    </p:spTree>
    <p:extLst>
      <p:ext uri="{BB962C8B-B14F-4D97-AF65-F5344CB8AC3E}">
        <p14:creationId xmlns:p14="http://schemas.microsoft.com/office/powerpoint/2010/main" val="8984631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15</a:t>
            </a:fld>
            <a:endParaRPr lang="fr-FR"/>
          </a:p>
        </p:txBody>
      </p:sp>
    </p:spTree>
    <p:extLst>
      <p:ext uri="{BB962C8B-B14F-4D97-AF65-F5344CB8AC3E}">
        <p14:creationId xmlns:p14="http://schemas.microsoft.com/office/powerpoint/2010/main" val="2786621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16</a:t>
            </a:fld>
            <a:endParaRPr lang="fr-FR"/>
          </a:p>
        </p:txBody>
      </p:sp>
    </p:spTree>
    <p:extLst>
      <p:ext uri="{BB962C8B-B14F-4D97-AF65-F5344CB8AC3E}">
        <p14:creationId xmlns:p14="http://schemas.microsoft.com/office/powerpoint/2010/main" val="898463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17</a:t>
            </a:fld>
            <a:endParaRPr lang="fr-FR"/>
          </a:p>
        </p:txBody>
      </p:sp>
    </p:spTree>
    <p:extLst>
      <p:ext uri="{BB962C8B-B14F-4D97-AF65-F5344CB8AC3E}">
        <p14:creationId xmlns:p14="http://schemas.microsoft.com/office/powerpoint/2010/main" val="2197410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18</a:t>
            </a:fld>
            <a:endParaRPr lang="fr-FR"/>
          </a:p>
        </p:txBody>
      </p:sp>
    </p:spTree>
    <p:extLst>
      <p:ext uri="{BB962C8B-B14F-4D97-AF65-F5344CB8AC3E}">
        <p14:creationId xmlns:p14="http://schemas.microsoft.com/office/powerpoint/2010/main" val="14358760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19</a:t>
            </a:fld>
            <a:endParaRPr lang="fr-FR"/>
          </a:p>
        </p:txBody>
      </p:sp>
    </p:spTree>
    <p:extLst>
      <p:ext uri="{BB962C8B-B14F-4D97-AF65-F5344CB8AC3E}">
        <p14:creationId xmlns:p14="http://schemas.microsoft.com/office/powerpoint/2010/main" val="29594192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a:p>
        </p:txBody>
      </p:sp>
    </p:spTree>
    <p:extLst>
      <p:ext uri="{BB962C8B-B14F-4D97-AF65-F5344CB8AC3E}">
        <p14:creationId xmlns:p14="http://schemas.microsoft.com/office/powerpoint/2010/main" val="1132060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None/>
            </a:pPr>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21</a:t>
            </a:fld>
            <a:endParaRPr lang="fr-FR"/>
          </a:p>
        </p:txBody>
      </p:sp>
    </p:spTree>
    <p:extLst>
      <p:ext uri="{BB962C8B-B14F-4D97-AF65-F5344CB8AC3E}">
        <p14:creationId xmlns:p14="http://schemas.microsoft.com/office/powerpoint/2010/main" val="2092708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22</a:t>
            </a:fld>
            <a:endParaRPr lang="fr-FR"/>
          </a:p>
        </p:txBody>
      </p:sp>
    </p:spTree>
    <p:extLst>
      <p:ext uri="{BB962C8B-B14F-4D97-AF65-F5344CB8AC3E}">
        <p14:creationId xmlns:p14="http://schemas.microsoft.com/office/powerpoint/2010/main" val="41056624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23</a:t>
            </a:fld>
            <a:endParaRPr lang="fr-FR"/>
          </a:p>
        </p:txBody>
      </p:sp>
    </p:spTree>
    <p:extLst>
      <p:ext uri="{BB962C8B-B14F-4D97-AF65-F5344CB8AC3E}">
        <p14:creationId xmlns:p14="http://schemas.microsoft.com/office/powerpoint/2010/main" val="4260125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24</a:t>
            </a:fld>
            <a:endParaRPr lang="fr-FR"/>
          </a:p>
        </p:txBody>
      </p:sp>
    </p:spTree>
    <p:extLst>
      <p:ext uri="{BB962C8B-B14F-4D97-AF65-F5344CB8AC3E}">
        <p14:creationId xmlns:p14="http://schemas.microsoft.com/office/powerpoint/2010/main" val="3088233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25</a:t>
            </a:fld>
            <a:endParaRPr lang="fr-FR"/>
          </a:p>
        </p:txBody>
      </p:sp>
    </p:spTree>
    <p:extLst>
      <p:ext uri="{BB962C8B-B14F-4D97-AF65-F5344CB8AC3E}">
        <p14:creationId xmlns:p14="http://schemas.microsoft.com/office/powerpoint/2010/main" val="7378763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26</a:t>
            </a:fld>
            <a:endParaRPr lang="fr-FR"/>
          </a:p>
        </p:txBody>
      </p:sp>
    </p:spTree>
    <p:extLst>
      <p:ext uri="{BB962C8B-B14F-4D97-AF65-F5344CB8AC3E}">
        <p14:creationId xmlns:p14="http://schemas.microsoft.com/office/powerpoint/2010/main" val="37935470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27</a:t>
            </a:fld>
            <a:endParaRPr lang="fr-FR"/>
          </a:p>
        </p:txBody>
      </p:sp>
    </p:spTree>
    <p:extLst>
      <p:ext uri="{BB962C8B-B14F-4D97-AF65-F5344CB8AC3E}">
        <p14:creationId xmlns:p14="http://schemas.microsoft.com/office/powerpoint/2010/main" val="27067424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28</a:t>
            </a:fld>
            <a:endParaRPr lang="fr-FR"/>
          </a:p>
        </p:txBody>
      </p:sp>
    </p:spTree>
    <p:extLst>
      <p:ext uri="{BB962C8B-B14F-4D97-AF65-F5344CB8AC3E}">
        <p14:creationId xmlns:p14="http://schemas.microsoft.com/office/powerpoint/2010/main" val="31707204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29</a:t>
            </a:fld>
            <a:endParaRPr lang="fr-FR"/>
          </a:p>
        </p:txBody>
      </p:sp>
    </p:spTree>
    <p:extLst>
      <p:ext uri="{BB962C8B-B14F-4D97-AF65-F5344CB8AC3E}">
        <p14:creationId xmlns:p14="http://schemas.microsoft.com/office/powerpoint/2010/main" val="31707204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BE" sz="1100" baseline="0" dirty="0"/>
              <a:t>.</a:t>
            </a: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742A2-A700-4112-A494-09AD92282681}"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395448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Espace réservé de l'image des diapositives 1"/>
          <p:cNvSpPr>
            <a:spLocks noGrp="1" noRot="1" noChangeAspect="1" noTextEdit="1"/>
          </p:cNvSpPr>
          <p:nvPr>
            <p:ph type="sldImg"/>
          </p:nvPr>
        </p:nvSpPr>
        <p:spPr>
          <a:ln/>
        </p:spPr>
      </p:sp>
      <p:sp>
        <p:nvSpPr>
          <p:cNvPr id="161795" name="Espace réservé des commentaires 2"/>
          <p:cNvSpPr>
            <a:spLocks noGrp="1"/>
          </p:cNvSpPr>
          <p:nvPr>
            <p:ph type="body" idx="1"/>
          </p:nvPr>
        </p:nvSpPr>
        <p:spPr>
          <a:noFill/>
        </p:spPr>
        <p:txBody>
          <a:bodyPr/>
          <a:lstStyle/>
          <a:p>
            <a:endParaRPr lang="fr-BE" dirty="0">
              <a:latin typeface="Times New Roman" pitchFamily="18" charset="0"/>
            </a:endParaRPr>
          </a:p>
        </p:txBody>
      </p:sp>
      <p:sp>
        <p:nvSpPr>
          <p:cNvPr id="161796" name="Espace réservé du numéro de diapositive 3"/>
          <p:cNvSpPr>
            <a:spLocks noGrp="1"/>
          </p:cNvSpPr>
          <p:nvPr>
            <p:ph type="sldNum" sz="quarter" idx="5"/>
          </p:nvPr>
        </p:nvSpPr>
        <p:spPr>
          <a:noFill/>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0951BC8-CC52-4975-8277-B97528521E34}" type="slidenum">
              <a:rPr lang="fr-BE" sz="1200" smtClean="0"/>
              <a:pPr eaLnBrk="1" hangingPunct="1"/>
              <a:t>32</a:t>
            </a:fld>
            <a:endParaRPr lang="fr-BE" sz="1200"/>
          </a:p>
        </p:txBody>
      </p:sp>
    </p:spTree>
    <p:extLst>
      <p:ext uri="{BB962C8B-B14F-4D97-AF65-F5344CB8AC3E}">
        <p14:creationId xmlns:p14="http://schemas.microsoft.com/office/powerpoint/2010/main" val="247535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Espace réservé de l'image des diapositives 1"/>
          <p:cNvSpPr>
            <a:spLocks noGrp="1" noRot="1" noChangeAspect="1" noTextEdit="1"/>
          </p:cNvSpPr>
          <p:nvPr>
            <p:ph type="sldImg"/>
          </p:nvPr>
        </p:nvSpPr>
        <p:spPr>
          <a:ln/>
        </p:spPr>
      </p:sp>
      <p:sp>
        <p:nvSpPr>
          <p:cNvPr id="164867" name="Espace réservé des commentaires 2"/>
          <p:cNvSpPr>
            <a:spLocks noGrp="1"/>
          </p:cNvSpPr>
          <p:nvPr>
            <p:ph type="body" idx="1"/>
          </p:nvPr>
        </p:nvSpPr>
        <p:spPr>
          <a:noFill/>
        </p:spPr>
        <p:txBody>
          <a:bodyPr/>
          <a:lstStyle/>
          <a:p>
            <a:endParaRPr lang="fr-BE">
              <a:latin typeface="Times New Roman" pitchFamily="18" charset="0"/>
            </a:endParaRPr>
          </a:p>
        </p:txBody>
      </p:sp>
      <p:sp>
        <p:nvSpPr>
          <p:cNvPr id="164868" name="Espace réservé du numéro de diapositive 3"/>
          <p:cNvSpPr>
            <a:spLocks noGrp="1"/>
          </p:cNvSpPr>
          <p:nvPr>
            <p:ph type="sldNum" sz="quarter" idx="5"/>
          </p:nvPr>
        </p:nvSpPr>
        <p:spPr>
          <a:noFill/>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54E62D3E-A2CA-48DB-AE7D-66A7A1B13A09}" type="slidenum">
              <a:rPr lang="fr-BE" sz="1200" smtClean="0"/>
              <a:pPr eaLnBrk="1" hangingPunct="1"/>
              <a:t>34</a:t>
            </a:fld>
            <a:endParaRPr lang="fr-BE" sz="1200"/>
          </a:p>
        </p:txBody>
      </p:sp>
    </p:spTree>
    <p:extLst>
      <p:ext uri="{BB962C8B-B14F-4D97-AF65-F5344CB8AC3E}">
        <p14:creationId xmlns:p14="http://schemas.microsoft.com/office/powerpoint/2010/main" val="41510781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baseline="0" dirty="0"/>
          </a:p>
        </p:txBody>
      </p:sp>
      <p:sp>
        <p:nvSpPr>
          <p:cNvPr id="4" name="Espace réservé du numéro de diapositive 3"/>
          <p:cNvSpPr>
            <a:spLocks noGrp="1"/>
          </p:cNvSpPr>
          <p:nvPr>
            <p:ph type="sldNum" sz="quarter" idx="10"/>
          </p:nvPr>
        </p:nvSpPr>
        <p:spPr/>
        <p:txBody>
          <a:bodyPr/>
          <a:lstStyle/>
          <a:p>
            <a:fld id="{ED89342A-8BC0-4426-BDC8-211B86627404}" type="slidenum">
              <a:rPr lang="fr-BE" smtClean="0"/>
              <a:t>36</a:t>
            </a:fld>
            <a:endParaRPr lang="fr-BE"/>
          </a:p>
        </p:txBody>
      </p:sp>
    </p:spTree>
    <p:extLst>
      <p:ext uri="{BB962C8B-B14F-4D97-AF65-F5344CB8AC3E}">
        <p14:creationId xmlns:p14="http://schemas.microsoft.com/office/powerpoint/2010/main" val="2824088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37</a:t>
            </a:fld>
            <a:endParaRPr lang="fr-FR"/>
          </a:p>
        </p:txBody>
      </p:sp>
    </p:spTree>
    <p:extLst>
      <p:ext uri="{BB962C8B-B14F-4D97-AF65-F5344CB8AC3E}">
        <p14:creationId xmlns:p14="http://schemas.microsoft.com/office/powerpoint/2010/main" val="20375416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39</a:t>
            </a:fld>
            <a:endParaRPr lang="fr-FR"/>
          </a:p>
        </p:txBody>
      </p:sp>
    </p:spTree>
    <p:extLst>
      <p:ext uri="{BB962C8B-B14F-4D97-AF65-F5344CB8AC3E}">
        <p14:creationId xmlns:p14="http://schemas.microsoft.com/office/powerpoint/2010/main" val="270386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742A2-A700-4112-A494-09AD92282681}"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288431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742A2-A700-4112-A494-09AD92282681}"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31605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45</a:t>
            </a:fld>
            <a:endParaRPr lang="fr-FR"/>
          </a:p>
        </p:txBody>
      </p:sp>
    </p:spTree>
    <p:extLst>
      <p:ext uri="{BB962C8B-B14F-4D97-AF65-F5344CB8AC3E}">
        <p14:creationId xmlns:p14="http://schemas.microsoft.com/office/powerpoint/2010/main" val="20154090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46</a:t>
            </a:fld>
            <a:endParaRPr lang="fr-FR"/>
          </a:p>
        </p:txBody>
      </p:sp>
    </p:spTree>
    <p:extLst>
      <p:ext uri="{BB962C8B-B14F-4D97-AF65-F5344CB8AC3E}">
        <p14:creationId xmlns:p14="http://schemas.microsoft.com/office/powerpoint/2010/main" val="40627497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47</a:t>
            </a:fld>
            <a:endParaRPr lang="fr-FR"/>
          </a:p>
        </p:txBody>
      </p:sp>
    </p:spTree>
    <p:extLst>
      <p:ext uri="{BB962C8B-B14F-4D97-AF65-F5344CB8AC3E}">
        <p14:creationId xmlns:p14="http://schemas.microsoft.com/office/powerpoint/2010/main" val="40898353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48</a:t>
            </a:fld>
            <a:endParaRPr lang="fr-FR"/>
          </a:p>
        </p:txBody>
      </p:sp>
    </p:spTree>
    <p:extLst>
      <p:ext uri="{BB962C8B-B14F-4D97-AF65-F5344CB8AC3E}">
        <p14:creationId xmlns:p14="http://schemas.microsoft.com/office/powerpoint/2010/main" val="1299284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49</a:t>
            </a:fld>
            <a:endParaRPr lang="fr-FR"/>
          </a:p>
        </p:txBody>
      </p:sp>
    </p:spTree>
    <p:extLst>
      <p:ext uri="{BB962C8B-B14F-4D97-AF65-F5344CB8AC3E}">
        <p14:creationId xmlns:p14="http://schemas.microsoft.com/office/powerpoint/2010/main" val="2031878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35CBD07-C61D-4C65-93AF-B79F85256A96}"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F79A7D3D-477F-4697-BBB8-4C620BE83E4B}"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94BEC371-F7D2-4E44-8409-A62F17C6DB3B}"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ED453BFC-E39C-4D5E-9E20-4E6667FFD285}" type="datetime1">
              <a:rPr lang="fr-FR" smtClean="0"/>
              <a:t>24/11/2022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145F93A7-D4F5-4F08-A462-6D6CDAD6EDEC}" type="datetime1">
              <a:rPr lang="fr-FR" smtClean="0"/>
              <a:t>24/11/2022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7A944089-489E-4908-96F2-D8C315DE0DB2}" type="datetime1">
              <a:rPr lang="fr-FR" smtClean="0"/>
              <a:t>24/11/2022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724940A-F02B-4F2E-8D81-16EDB742CE53}" type="datetime1">
              <a:rPr lang="fr-FR" smtClean="0"/>
              <a:t>24/11/2022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0671ACA0-A217-4C84-A28C-2F76604093FD}" type="datetime1">
              <a:rPr lang="fr-FR" smtClean="0"/>
              <a:t>24/11/2022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2752CE02-52F1-4300-8E15-8EE2E47808FF}" type="datetime1">
              <a:rPr lang="fr-FR" smtClean="0"/>
              <a:t>24/11/2022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D16069D-72C6-45F8-97A6-5C893349DAF2}"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4352898-AB69-4006-BCCF-EC46C855CFB5}"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542BE29-6DEB-46ED-A5C9-5D602CD07B49}"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80750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FFB99494-69DF-42AD-9B3E-68C96E544C83}"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4176615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E5E0F0BB-30BE-41B7-A190-55DA2922192C}"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514590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A681DC1-3B84-4403-BA21-DBD65B602BDF}" type="datetime1">
              <a:rPr lang="fr-FR" smtClean="0"/>
              <a:t>24/11/2022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0123277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0EA0F4A5-EC15-48B1-B10C-98698B1703F6}" type="datetime1">
              <a:rPr lang="fr-FR" smtClean="0"/>
              <a:t>24/11/2022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218094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E94781E6-418C-4E1A-8FD9-CC68F23B3B7B}" type="datetime1">
              <a:rPr lang="fr-FR" smtClean="0"/>
              <a:t>24/11/2022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313587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D8AD280-8B40-4ABA-8637-85F89BEFC879}" type="datetime1">
              <a:rPr lang="fr-FR" smtClean="0"/>
              <a:t>24/11/2022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629279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5CD5AF0-236F-4CDC-9159-A3CF9D431DA0}" type="datetime1">
              <a:rPr lang="fr-FR" smtClean="0"/>
              <a:t>24/11/2022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2277542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D7D8523-75AA-42C5-8F58-5631083F8021}" type="datetime1">
              <a:rPr lang="fr-FR" smtClean="0"/>
              <a:t>24/11/2022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9684424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1A4CE18C-A24F-4E68-B43E-714392E98DE6}"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0228056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869E36D-E801-4ECE-A080-E222A08A7309}" type="datetime1">
              <a:rPr lang="fr-FR" smtClean="0"/>
              <a:t>24/11/2022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458373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6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2D4FFD-508A-4EEA-A456-8C64B5ABA00A}" type="datetime1">
              <a:rPr lang="fr-FR" smtClean="0"/>
              <a:t>24/11/2022</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8C7055-96EF-4CFC-967C-7CE7AF507163}" type="datetime1">
              <a:rPr lang="fr-FR" smtClean="0"/>
              <a:t>24/11/2022</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a:p>
        </p:txBody>
      </p:sp>
    </p:spTree>
    <p:extLst>
      <p:ext uri="{BB962C8B-B14F-4D97-AF65-F5344CB8AC3E}">
        <p14:creationId xmlns:p14="http://schemas.microsoft.com/office/powerpoint/2010/main" val="3043246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45.xml"/><Relationship Id="rId7" Type="http://schemas.openxmlformats.org/officeDocument/2006/relationships/slide" Target="slide49.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slide" Target="slide47.xml"/><Relationship Id="rId5" Type="http://schemas.openxmlformats.org/officeDocument/2006/relationships/slide" Target="slide46.xml"/><Relationship Id="rId4" Type="http://schemas.openxmlformats.org/officeDocument/2006/relationships/image" Target="../media/image3.png"/><Relationship Id="rId9" Type="http://schemas.openxmlformats.org/officeDocument/2006/relationships/slide" Target="slide4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p:txBody>
          <a:bodyPr>
            <a:noAutofit/>
          </a:bodyPr>
          <a:lstStyle/>
          <a:p>
            <a:r>
              <a:rPr lang="fr-FR" sz="6000" b="1" i="1" dirty="0">
                <a:cs typeface="Times New Roman" pitchFamily="18" charset="0"/>
              </a:rPr>
              <a:t>Les périodes d’indemnisation</a:t>
            </a:r>
          </a:p>
        </p:txBody>
      </p:sp>
      <p:sp>
        <p:nvSpPr>
          <p:cNvPr id="4" name="Sous-titre 3"/>
          <p:cNvSpPr>
            <a:spLocks noGrp="1"/>
          </p:cNvSpPr>
          <p:nvPr>
            <p:ph type="subTitle" idx="1"/>
          </p:nvPr>
        </p:nvSpPr>
        <p:spPr>
          <a:xfrm>
            <a:off x="1007604" y="4211464"/>
            <a:ext cx="7128792" cy="766936"/>
          </a:xfrm>
        </p:spPr>
        <p:txBody>
          <a:bodyPr>
            <a:normAutofit/>
          </a:bodyPr>
          <a:lstStyle/>
          <a:p>
            <a:pPr lvl="0"/>
            <a:r>
              <a:rPr lang="fr-BE" sz="4000" b="1" i="1" dirty="0">
                <a:solidFill>
                  <a:srgbClr val="C00000"/>
                </a:solidFill>
              </a:rPr>
              <a:t>Art. 114 de l’AR </a:t>
            </a:r>
            <a:r>
              <a:rPr lang="fr-BE" sz="4000" b="1" i="1" dirty="0">
                <a:solidFill>
                  <a:prstClr val="black"/>
                </a:solidFill>
              </a:rPr>
              <a:t>du 25.11.1991</a:t>
            </a:r>
          </a:p>
          <a:p>
            <a:pPr algn="l"/>
            <a:endParaRPr lang="fr-FR" sz="1700" i="1" dirty="0">
              <a:solidFill>
                <a:schemeClr val="tx1"/>
              </a:solidFill>
              <a:cs typeface="Times New Roman" pitchFamily="18" charset="0"/>
            </a:endParaRPr>
          </a:p>
          <a:p>
            <a:endParaRPr lang="fr-BE" sz="5400" dirty="0">
              <a:solidFill>
                <a:schemeClr val="tx1"/>
              </a:solidFill>
            </a:endParaRP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1</a:t>
            </a:fld>
            <a:endParaRPr lang="fr-FR"/>
          </a:p>
        </p:txBody>
      </p:sp>
      <p:sp>
        <p:nvSpPr>
          <p:cNvPr id="2" name="ZoneTexte 1">
            <a:extLst>
              <a:ext uri="{FF2B5EF4-FFF2-40B4-BE49-F238E27FC236}">
                <a16:creationId xmlns:a16="http://schemas.microsoft.com/office/drawing/2014/main" id="{4E69911C-4B23-421B-A2EA-B573C9CAB528}"/>
              </a:ext>
            </a:extLst>
          </p:cNvPr>
          <p:cNvSpPr txBox="1"/>
          <p:nvPr/>
        </p:nvSpPr>
        <p:spPr>
          <a:xfrm>
            <a:off x="685800" y="5733256"/>
            <a:ext cx="2662064" cy="369332"/>
          </a:xfrm>
          <a:prstGeom prst="rect">
            <a:avLst/>
          </a:prstGeom>
          <a:noFill/>
        </p:spPr>
        <p:txBody>
          <a:bodyPr wrap="square" rtlCol="0">
            <a:spAutoFit/>
          </a:bodyPr>
          <a:lstStyle/>
          <a:p>
            <a:r>
              <a:rPr lang="fr-BE" dirty="0"/>
              <a:t>FLT-Version du 22.11.2022</a:t>
            </a:r>
          </a:p>
        </p:txBody>
      </p:sp>
    </p:spTree>
    <p:extLst>
      <p:ext uri="{BB962C8B-B14F-4D97-AF65-F5344CB8AC3E}">
        <p14:creationId xmlns:p14="http://schemas.microsoft.com/office/powerpoint/2010/main" val="42751037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7D1DAB-BA19-4F1F-9189-7D8FF939447F}"/>
              </a:ext>
            </a:extLst>
          </p:cNvPr>
          <p:cNvSpPr>
            <a:spLocks noGrp="1"/>
          </p:cNvSpPr>
          <p:nvPr>
            <p:ph type="title"/>
          </p:nvPr>
        </p:nvSpPr>
        <p:spPr>
          <a:xfrm>
            <a:off x="457200" y="136525"/>
            <a:ext cx="8229600" cy="700187"/>
          </a:xfrm>
        </p:spPr>
        <p:txBody>
          <a:bodyPr>
            <a:normAutofit fontScale="90000"/>
          </a:bodyPr>
          <a:lstStyle/>
          <a:p>
            <a:r>
              <a:rPr lang="fr-BE" b="1" i="1" dirty="0">
                <a:solidFill>
                  <a:srgbClr val="C00000"/>
                </a:solidFill>
              </a:rPr>
              <a:t>Table des matières</a:t>
            </a:r>
            <a:endParaRPr lang="fr-BE" dirty="0"/>
          </a:p>
        </p:txBody>
      </p:sp>
      <p:graphicFrame>
        <p:nvGraphicFramePr>
          <p:cNvPr id="5" name="Espace réservé du contenu 4">
            <a:extLst>
              <a:ext uri="{FF2B5EF4-FFF2-40B4-BE49-F238E27FC236}">
                <a16:creationId xmlns:a16="http://schemas.microsoft.com/office/drawing/2014/main" id="{92BCFD12-26A6-4E61-83FC-D3883A8880F2}"/>
              </a:ext>
            </a:extLst>
          </p:cNvPr>
          <p:cNvGraphicFramePr>
            <a:graphicFrameLocks noGrp="1"/>
          </p:cNvGraphicFramePr>
          <p:nvPr>
            <p:ph idx="1"/>
            <p:extLst>
              <p:ext uri="{D42A27DB-BD31-4B8C-83A1-F6EECF244321}">
                <p14:modId xmlns:p14="http://schemas.microsoft.com/office/powerpoint/2010/main" val="3601566642"/>
              </p:ext>
            </p:extLst>
          </p:nvPr>
        </p:nvGraphicFramePr>
        <p:xfrm>
          <a:off x="827584" y="914400"/>
          <a:ext cx="7488832" cy="5943600"/>
        </p:xfrm>
        <a:graphic>
          <a:graphicData uri="http://schemas.openxmlformats.org/drawingml/2006/table">
            <a:tbl>
              <a:tblPr firstRow="1" bandRow="1">
                <a:tableStyleId>{2D5ABB26-0587-4C30-8999-92F81FD0307C}</a:tableStyleId>
              </a:tblPr>
              <a:tblGrid>
                <a:gridCol w="6010103">
                  <a:extLst>
                    <a:ext uri="{9D8B030D-6E8A-4147-A177-3AD203B41FA5}">
                      <a16:colId xmlns:a16="http://schemas.microsoft.com/office/drawing/2014/main" val="2006143717"/>
                    </a:ext>
                  </a:extLst>
                </a:gridCol>
                <a:gridCol w="1478729">
                  <a:extLst>
                    <a:ext uri="{9D8B030D-6E8A-4147-A177-3AD203B41FA5}">
                      <a16:colId xmlns:a16="http://schemas.microsoft.com/office/drawing/2014/main" val="1067910118"/>
                    </a:ext>
                  </a:extLst>
                </a:gridCol>
              </a:tblGrid>
              <a:tr h="370840">
                <a:tc>
                  <a:txBody>
                    <a:bodyPr/>
                    <a:lstStyle/>
                    <a:p>
                      <a:r>
                        <a:rPr lang="fr-BE" sz="2000" dirty="0"/>
                        <a:t>1. Introduction</a:t>
                      </a:r>
                      <a:endParaRPr lang="fr-BE" sz="2000" b="1" dirty="0"/>
                    </a:p>
                  </a:txBody>
                  <a:tcPr/>
                </a:tc>
                <a:tc>
                  <a:txBody>
                    <a:bodyPr/>
                    <a:lstStyle/>
                    <a:p>
                      <a:pPr algn="r"/>
                      <a:r>
                        <a:rPr lang="fr-BE" sz="2000" dirty="0"/>
                        <a:t>Pg.   3</a:t>
                      </a:r>
                      <a:endParaRPr lang="fr-BE" sz="2000" b="1" dirty="0"/>
                    </a:p>
                  </a:txBody>
                  <a:tcPr/>
                </a:tc>
                <a:extLst>
                  <a:ext uri="{0D108BD9-81ED-4DB2-BD59-A6C34878D82A}">
                    <a16:rowId xmlns:a16="http://schemas.microsoft.com/office/drawing/2014/main" val="3115090518"/>
                  </a:ext>
                </a:extLst>
              </a:tr>
              <a:tr h="370840">
                <a:tc>
                  <a:txBody>
                    <a:bodyPr/>
                    <a:lstStyle/>
                    <a:p>
                      <a:r>
                        <a:rPr lang="fr-BE" sz="2000" dirty="0"/>
                        <a:t>2. Les périodes d’indemnisation	</a:t>
                      </a:r>
                      <a:endParaRPr lang="fr-BE" sz="2000" b="1" dirty="0"/>
                    </a:p>
                  </a:txBody>
                  <a:tcPr/>
                </a:tc>
                <a:tc>
                  <a:txBody>
                    <a:bodyPr/>
                    <a:lstStyle/>
                    <a:p>
                      <a:pPr algn="r"/>
                      <a:r>
                        <a:rPr lang="fr-BE" sz="2000" dirty="0"/>
                        <a:t>Pg.   5</a:t>
                      </a:r>
                      <a:endParaRPr lang="fr-BE" sz="2000" b="1" dirty="0"/>
                    </a:p>
                  </a:txBody>
                  <a:tcPr/>
                </a:tc>
                <a:extLst>
                  <a:ext uri="{0D108BD9-81ED-4DB2-BD59-A6C34878D82A}">
                    <a16:rowId xmlns:a16="http://schemas.microsoft.com/office/drawing/2014/main" val="702503838"/>
                  </a:ext>
                </a:extLst>
              </a:tr>
              <a:tr h="370840">
                <a:tc>
                  <a:txBody>
                    <a:bodyPr/>
                    <a:lstStyle/>
                    <a:p>
                      <a:r>
                        <a:rPr lang="fr-BE" sz="2000" dirty="0"/>
                        <a:t>     2.1. Les périodes d’indemnisation</a:t>
                      </a:r>
                      <a:endParaRPr lang="fr-BE" sz="2000" b="1" dirty="0"/>
                    </a:p>
                  </a:txBody>
                  <a:tcPr/>
                </a:tc>
                <a:tc>
                  <a:txBody>
                    <a:bodyPr/>
                    <a:lstStyle/>
                    <a:p>
                      <a:pPr algn="r"/>
                      <a:r>
                        <a:rPr lang="fr-BE" sz="2000" dirty="0"/>
                        <a:t>Pg.   6</a:t>
                      </a:r>
                      <a:endParaRPr lang="fr-BE" sz="2000" b="1" dirty="0"/>
                    </a:p>
                  </a:txBody>
                  <a:tcPr/>
                </a:tc>
                <a:extLst>
                  <a:ext uri="{0D108BD9-81ED-4DB2-BD59-A6C34878D82A}">
                    <a16:rowId xmlns:a16="http://schemas.microsoft.com/office/drawing/2014/main" val="3462059738"/>
                  </a:ext>
                </a:extLst>
              </a:tr>
              <a:tr h="370840">
                <a:tc>
                  <a:txBody>
                    <a:bodyPr/>
                    <a:lstStyle/>
                    <a:p>
                      <a:r>
                        <a:rPr lang="fr-BE" sz="2000" dirty="0"/>
                        <a:t>     2.2. Evolution des périodes d’indemnisation</a:t>
                      </a:r>
                      <a:endParaRPr lang="fr-BE" sz="2000" b="1" dirty="0"/>
                    </a:p>
                  </a:txBody>
                  <a:tcPr/>
                </a:tc>
                <a:tc>
                  <a:txBody>
                    <a:bodyPr/>
                    <a:lstStyle/>
                    <a:p>
                      <a:pPr algn="r"/>
                      <a:r>
                        <a:rPr lang="fr-BE" sz="2000" dirty="0"/>
                        <a:t>Pg. 11</a:t>
                      </a:r>
                      <a:endParaRPr lang="fr-BE" sz="2000" b="1" dirty="0"/>
                    </a:p>
                  </a:txBody>
                  <a:tcPr/>
                </a:tc>
                <a:extLst>
                  <a:ext uri="{0D108BD9-81ED-4DB2-BD59-A6C34878D82A}">
                    <a16:rowId xmlns:a16="http://schemas.microsoft.com/office/drawing/2014/main" val="3635530983"/>
                  </a:ext>
                </a:extLst>
              </a:tr>
              <a:tr h="370840">
                <a:tc>
                  <a:txBody>
                    <a:bodyPr/>
                    <a:lstStyle/>
                    <a:p>
                      <a:r>
                        <a:rPr lang="fr-BE" sz="2000" dirty="0"/>
                        <a:t>     2.3. PP et périodes d’indemnisation</a:t>
                      </a:r>
                      <a:endParaRPr lang="fr-BE" sz="2000" b="1" dirty="0"/>
                    </a:p>
                  </a:txBody>
                  <a:tcPr/>
                </a:tc>
                <a:tc>
                  <a:txBody>
                    <a:bodyPr/>
                    <a:lstStyle/>
                    <a:p>
                      <a:pPr algn="r"/>
                      <a:r>
                        <a:rPr lang="fr-BE" sz="2000" dirty="0"/>
                        <a:t>Pg. 15</a:t>
                      </a:r>
                      <a:endParaRPr lang="fr-BE" sz="2000" b="1" dirty="0"/>
                    </a:p>
                  </a:txBody>
                  <a:tcPr/>
                </a:tc>
                <a:extLst>
                  <a:ext uri="{0D108BD9-81ED-4DB2-BD59-A6C34878D82A}">
                    <a16:rowId xmlns:a16="http://schemas.microsoft.com/office/drawing/2014/main" val="804124422"/>
                  </a:ext>
                </a:extLst>
              </a:tr>
              <a:tr h="370840">
                <a:tc>
                  <a:txBody>
                    <a:bodyPr/>
                    <a:lstStyle/>
                    <a:p>
                      <a:r>
                        <a:rPr lang="fr-BE" sz="2000" dirty="0"/>
                        <a:t>     2.4. Exercices</a:t>
                      </a:r>
                      <a:endParaRPr lang="fr-BE" sz="2000" b="1" dirty="0"/>
                    </a:p>
                  </a:txBody>
                  <a:tcPr/>
                </a:tc>
                <a:tc>
                  <a:txBody>
                    <a:bodyPr/>
                    <a:lstStyle/>
                    <a:p>
                      <a:pPr algn="r"/>
                      <a:r>
                        <a:rPr lang="fr-BE" sz="2000" dirty="0"/>
                        <a:t>Pg. 17</a:t>
                      </a:r>
                      <a:endParaRPr lang="fr-BE" sz="2000" b="1" dirty="0"/>
                    </a:p>
                  </a:txBody>
                  <a:tcPr/>
                </a:tc>
                <a:extLst>
                  <a:ext uri="{0D108BD9-81ED-4DB2-BD59-A6C34878D82A}">
                    <a16:rowId xmlns:a16="http://schemas.microsoft.com/office/drawing/2014/main" val="3612923014"/>
                  </a:ext>
                </a:extLst>
              </a:tr>
              <a:tr h="370840">
                <a:tc>
                  <a:txBody>
                    <a:bodyPr/>
                    <a:lstStyle/>
                    <a:p>
                      <a:r>
                        <a:rPr lang="fr-BE" sz="2000" dirty="0"/>
                        <a:t>3. La fixation</a:t>
                      </a:r>
                      <a:endParaRPr lang="fr-BE" sz="2000" b="1" dirty="0"/>
                    </a:p>
                  </a:txBody>
                  <a:tcPr/>
                </a:tc>
                <a:tc>
                  <a:txBody>
                    <a:bodyPr/>
                    <a:lstStyle/>
                    <a:p>
                      <a:pPr algn="r"/>
                      <a:r>
                        <a:rPr lang="fr-BE" sz="2000" dirty="0"/>
                        <a:t>Pg. 18</a:t>
                      </a:r>
                      <a:endParaRPr lang="fr-BE" sz="2000" b="1" dirty="0"/>
                    </a:p>
                  </a:txBody>
                  <a:tcPr/>
                </a:tc>
                <a:extLst>
                  <a:ext uri="{0D108BD9-81ED-4DB2-BD59-A6C34878D82A}">
                    <a16:rowId xmlns:a16="http://schemas.microsoft.com/office/drawing/2014/main" val="600531708"/>
                  </a:ext>
                </a:extLst>
              </a:tr>
              <a:tr h="370840">
                <a:tc>
                  <a:txBody>
                    <a:bodyPr/>
                    <a:lstStyle/>
                    <a:p>
                      <a:r>
                        <a:rPr lang="fr-BE" sz="2000" dirty="0"/>
                        <a:t>     3.1. Fixation – PP+</a:t>
                      </a:r>
                      <a:endParaRPr lang="fr-BE" sz="2000" b="1" dirty="0"/>
                    </a:p>
                  </a:txBody>
                  <a:tcPr/>
                </a:tc>
                <a:tc>
                  <a:txBody>
                    <a:bodyPr/>
                    <a:lstStyle/>
                    <a:p>
                      <a:pPr algn="r"/>
                      <a:r>
                        <a:rPr lang="fr-BE" sz="2000" dirty="0"/>
                        <a:t>Pg. 20</a:t>
                      </a:r>
                      <a:endParaRPr lang="fr-BE" sz="2000" b="1" dirty="0"/>
                    </a:p>
                  </a:txBody>
                  <a:tcPr/>
                </a:tc>
                <a:extLst>
                  <a:ext uri="{0D108BD9-81ED-4DB2-BD59-A6C34878D82A}">
                    <a16:rowId xmlns:a16="http://schemas.microsoft.com/office/drawing/2014/main" val="215805387"/>
                  </a:ext>
                </a:extLst>
              </a:tr>
              <a:tr h="370840">
                <a:tc>
                  <a:txBody>
                    <a:bodyPr/>
                    <a:lstStyle/>
                    <a:p>
                      <a:r>
                        <a:rPr lang="fr-BE" sz="2000" dirty="0"/>
                        <a:t>     3.2. Fixation – aptitude réduite</a:t>
                      </a:r>
                      <a:endParaRPr lang="fr-BE" sz="2000" b="1" dirty="0"/>
                    </a:p>
                  </a:txBody>
                  <a:tcPr/>
                </a:tc>
                <a:tc>
                  <a:txBody>
                    <a:bodyPr/>
                    <a:lstStyle/>
                    <a:p>
                      <a:pPr algn="r"/>
                      <a:r>
                        <a:rPr lang="fr-BE" sz="2000" dirty="0"/>
                        <a:t>Pg. 22</a:t>
                      </a:r>
                      <a:endParaRPr lang="fr-BE" sz="2000" b="1" dirty="0"/>
                    </a:p>
                  </a:txBody>
                  <a:tcPr/>
                </a:tc>
                <a:extLst>
                  <a:ext uri="{0D108BD9-81ED-4DB2-BD59-A6C34878D82A}">
                    <a16:rowId xmlns:a16="http://schemas.microsoft.com/office/drawing/2014/main" val="419724616"/>
                  </a:ext>
                </a:extLst>
              </a:tr>
              <a:tr h="370840">
                <a:tc>
                  <a:txBody>
                    <a:bodyPr/>
                    <a:lstStyle/>
                    <a:p>
                      <a:r>
                        <a:rPr lang="fr-BE" sz="2000" dirty="0"/>
                        <a:t>     3.3. Fixation – Age</a:t>
                      </a:r>
                      <a:endParaRPr lang="fr-BE" sz="2000" b="1" dirty="0"/>
                    </a:p>
                  </a:txBody>
                  <a:tcPr/>
                </a:tc>
                <a:tc>
                  <a:txBody>
                    <a:bodyPr/>
                    <a:lstStyle/>
                    <a:p>
                      <a:pPr algn="r"/>
                      <a:r>
                        <a:rPr lang="fr-BE" sz="2000" dirty="0"/>
                        <a:t>Pg. 25</a:t>
                      </a:r>
                      <a:endParaRPr lang="fr-BE" sz="2000" b="1" dirty="0"/>
                    </a:p>
                  </a:txBody>
                  <a:tcPr/>
                </a:tc>
                <a:extLst>
                  <a:ext uri="{0D108BD9-81ED-4DB2-BD59-A6C34878D82A}">
                    <a16:rowId xmlns:a16="http://schemas.microsoft.com/office/drawing/2014/main" val="3771162518"/>
                  </a:ext>
                </a:extLst>
              </a:tr>
              <a:tr h="370840">
                <a:tc>
                  <a:txBody>
                    <a:bodyPr/>
                    <a:lstStyle/>
                    <a:p>
                      <a:r>
                        <a:rPr lang="fr-BE" sz="2000" dirty="0"/>
                        <a:t>     3.4. Fixation  et suffixes</a:t>
                      </a:r>
                      <a:endParaRPr lang="fr-BE" sz="2000" b="1" dirty="0"/>
                    </a:p>
                  </a:txBody>
                  <a:tcPr/>
                </a:tc>
                <a:tc>
                  <a:txBody>
                    <a:bodyPr/>
                    <a:lstStyle/>
                    <a:p>
                      <a:pPr algn="r"/>
                      <a:r>
                        <a:rPr lang="fr-BE" sz="2000" dirty="0"/>
                        <a:t>Pg. 28</a:t>
                      </a:r>
                      <a:endParaRPr lang="fr-BE" sz="2000" b="1" dirty="0"/>
                    </a:p>
                  </a:txBody>
                  <a:tcPr/>
                </a:tc>
                <a:extLst>
                  <a:ext uri="{0D108BD9-81ED-4DB2-BD59-A6C34878D82A}">
                    <a16:rowId xmlns:a16="http://schemas.microsoft.com/office/drawing/2014/main" val="3081035296"/>
                  </a:ext>
                </a:extLst>
              </a:tr>
              <a:tr h="370840">
                <a:tc>
                  <a:txBody>
                    <a:bodyPr/>
                    <a:lstStyle/>
                    <a:p>
                      <a:r>
                        <a:rPr lang="fr-BE" sz="2000" dirty="0"/>
                        <a:t>     3.5. Fixation et article d’indemnisation</a:t>
                      </a:r>
                      <a:endParaRPr lang="fr-BE" sz="2000" b="1" dirty="0"/>
                    </a:p>
                  </a:txBody>
                  <a:tcPr/>
                </a:tc>
                <a:tc>
                  <a:txBody>
                    <a:bodyPr/>
                    <a:lstStyle/>
                    <a:p>
                      <a:pPr algn="r"/>
                      <a:r>
                        <a:rPr lang="fr-BE" sz="2000" dirty="0"/>
                        <a:t>Pg. 29</a:t>
                      </a:r>
                      <a:endParaRPr lang="fr-BE" sz="2000" b="1" dirty="0"/>
                    </a:p>
                  </a:txBody>
                  <a:tcPr/>
                </a:tc>
                <a:extLst>
                  <a:ext uri="{0D108BD9-81ED-4DB2-BD59-A6C34878D82A}">
                    <a16:rowId xmlns:a16="http://schemas.microsoft.com/office/drawing/2014/main" val="15169898"/>
                  </a:ext>
                </a:extLst>
              </a:tr>
              <a:tr h="370840">
                <a:tc>
                  <a:txBody>
                    <a:bodyPr/>
                    <a:lstStyle/>
                    <a:p>
                      <a:r>
                        <a:rPr lang="fr-BE" sz="2000" dirty="0"/>
                        <a:t>     3.6. Exercices</a:t>
                      </a:r>
                      <a:endParaRPr lang="fr-BE" sz="2000" b="1" dirty="0"/>
                    </a:p>
                  </a:txBody>
                  <a:tcPr/>
                </a:tc>
                <a:tc>
                  <a:txBody>
                    <a:bodyPr/>
                    <a:lstStyle/>
                    <a:p>
                      <a:pPr algn="r"/>
                      <a:r>
                        <a:rPr lang="fr-BE" sz="2000" dirty="0"/>
                        <a:t>Pg. 31</a:t>
                      </a:r>
                      <a:endParaRPr lang="fr-BE" sz="2000" b="1" dirty="0"/>
                    </a:p>
                  </a:txBody>
                  <a:tcPr/>
                </a:tc>
                <a:extLst>
                  <a:ext uri="{0D108BD9-81ED-4DB2-BD59-A6C34878D82A}">
                    <a16:rowId xmlns:a16="http://schemas.microsoft.com/office/drawing/2014/main" val="951074307"/>
                  </a:ext>
                </a:extLst>
              </a:tr>
              <a:tr h="370840">
                <a:tc>
                  <a:txBody>
                    <a:bodyPr/>
                    <a:lstStyle/>
                    <a:p>
                      <a:r>
                        <a:rPr lang="fr-BE" sz="2000" dirty="0"/>
                        <a:t>4. L’allocation majorée</a:t>
                      </a:r>
                      <a:endParaRPr lang="fr-BE" sz="2000" b="1" dirty="0"/>
                    </a:p>
                  </a:txBody>
                  <a:tcPr/>
                </a:tc>
                <a:tc>
                  <a:txBody>
                    <a:bodyPr/>
                    <a:lstStyle/>
                    <a:p>
                      <a:pPr algn="r"/>
                      <a:r>
                        <a:rPr lang="fr-BE" sz="2000" dirty="0"/>
                        <a:t>Pg. 35</a:t>
                      </a:r>
                      <a:endParaRPr lang="fr-BE" sz="2000" b="1" dirty="0"/>
                    </a:p>
                  </a:txBody>
                  <a:tcPr/>
                </a:tc>
                <a:extLst>
                  <a:ext uri="{0D108BD9-81ED-4DB2-BD59-A6C34878D82A}">
                    <a16:rowId xmlns:a16="http://schemas.microsoft.com/office/drawing/2014/main" val="3437935660"/>
                  </a:ext>
                </a:extLst>
              </a:tr>
              <a:tr h="370840">
                <a:tc>
                  <a:txBody>
                    <a:bodyPr/>
                    <a:lstStyle/>
                    <a:p>
                      <a:r>
                        <a:rPr lang="fr-BE" sz="2000" dirty="0"/>
                        <a:t>     4.1. Exercices</a:t>
                      </a:r>
                      <a:endParaRPr lang="fr-BE" sz="2000" b="1" dirty="0"/>
                    </a:p>
                  </a:txBody>
                  <a:tcPr/>
                </a:tc>
                <a:tc>
                  <a:txBody>
                    <a:bodyPr/>
                    <a:lstStyle/>
                    <a:p>
                      <a:pPr algn="r"/>
                      <a:r>
                        <a:rPr lang="fr-BE" sz="2000" dirty="0"/>
                        <a:t>Pg. 37</a:t>
                      </a:r>
                      <a:endParaRPr lang="fr-BE" sz="2000" b="1" dirty="0"/>
                    </a:p>
                  </a:txBody>
                  <a:tcPr/>
                </a:tc>
                <a:extLst>
                  <a:ext uri="{0D108BD9-81ED-4DB2-BD59-A6C34878D82A}">
                    <a16:rowId xmlns:a16="http://schemas.microsoft.com/office/drawing/2014/main" val="1943893126"/>
                  </a:ext>
                </a:extLst>
              </a:tr>
            </a:tbl>
          </a:graphicData>
        </a:graphic>
      </p:graphicFrame>
      <p:sp>
        <p:nvSpPr>
          <p:cNvPr id="4" name="Espace réservé du numéro de diapositive 3">
            <a:extLst>
              <a:ext uri="{FF2B5EF4-FFF2-40B4-BE49-F238E27FC236}">
                <a16:creationId xmlns:a16="http://schemas.microsoft.com/office/drawing/2014/main" id="{80E6E988-3301-476C-A744-2BE1344701B6}"/>
              </a:ext>
            </a:extLst>
          </p:cNvPr>
          <p:cNvSpPr>
            <a:spLocks noGrp="1"/>
          </p:cNvSpPr>
          <p:nvPr>
            <p:ph type="sldNum" sz="quarter" idx="12"/>
          </p:nvPr>
        </p:nvSpPr>
        <p:spPr/>
        <p:txBody>
          <a:bodyPr/>
          <a:lstStyle/>
          <a:p>
            <a:fld id="{55E9056B-6A30-4F99-BDE9-C450E66AE125}" type="slidenum">
              <a:rPr lang="fr-FR" smtClean="0"/>
              <a:pPr/>
              <a:t>2</a:t>
            </a:fld>
            <a:endParaRPr lang="fr-FR"/>
          </a:p>
        </p:txBody>
      </p:sp>
    </p:spTree>
    <p:extLst>
      <p:ext uri="{BB962C8B-B14F-4D97-AF65-F5344CB8AC3E}">
        <p14:creationId xmlns:p14="http://schemas.microsoft.com/office/powerpoint/2010/main" val="865466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BE" b="1" i="1" dirty="0">
                <a:cs typeface="Times New Roman" pitchFamily="18" charset="0"/>
              </a:rPr>
              <a:t>1. Introduction</a:t>
            </a:r>
          </a:p>
        </p:txBody>
      </p:sp>
      <p:sp>
        <p:nvSpPr>
          <p:cNvPr id="3" name="Espace réservé du contenu 2"/>
          <p:cNvSpPr>
            <a:spLocks noGrp="1"/>
          </p:cNvSpPr>
          <p:nvPr>
            <p:ph idx="1"/>
          </p:nvPr>
        </p:nvSpPr>
        <p:spPr>
          <a:xfrm>
            <a:off x="323528" y="1600200"/>
            <a:ext cx="8712968" cy="4525963"/>
          </a:xfrm>
        </p:spPr>
        <p:txBody>
          <a:bodyPr>
            <a:normAutofit/>
          </a:bodyPr>
          <a:lstStyle/>
          <a:p>
            <a:pPr marL="0" indent="0">
              <a:buNone/>
            </a:pPr>
            <a:r>
              <a:rPr lang="fr-FR" dirty="0"/>
              <a:t>Le montant de l’allocation octroyée au chômeur dépend de divers facteurs :</a:t>
            </a:r>
          </a:p>
          <a:p>
            <a:r>
              <a:rPr lang="fr-FR" dirty="0"/>
              <a:t>la </a:t>
            </a:r>
            <a:r>
              <a:rPr lang="fr-FR" dirty="0">
                <a:solidFill>
                  <a:srgbClr val="C00000"/>
                </a:solidFill>
              </a:rPr>
              <a:t>situation familiale</a:t>
            </a:r>
            <a:r>
              <a:rPr lang="fr-FR" dirty="0"/>
              <a:t>. (110 AR)</a:t>
            </a:r>
          </a:p>
          <a:p>
            <a:r>
              <a:rPr lang="fr-FR" dirty="0"/>
              <a:t>la rémunération de l'emploi qui entre en ligne de compte pour fixer </a:t>
            </a:r>
            <a:r>
              <a:rPr lang="fr-FR" dirty="0">
                <a:solidFill>
                  <a:srgbClr val="C00000"/>
                </a:solidFill>
              </a:rPr>
              <a:t>le code chiffré</a:t>
            </a:r>
            <a:r>
              <a:rPr lang="fr-FR" dirty="0"/>
              <a:t>. (111 AR)</a:t>
            </a:r>
          </a:p>
          <a:p>
            <a:r>
              <a:rPr lang="fr-FR" dirty="0"/>
              <a:t>la durée du chômage =  « </a:t>
            </a:r>
            <a:r>
              <a:rPr lang="fr-FR" dirty="0">
                <a:solidFill>
                  <a:srgbClr val="C00000"/>
                </a:solidFill>
              </a:rPr>
              <a:t>Périodes d’indemnisation</a:t>
            </a:r>
            <a:r>
              <a:rPr lang="fr-FR" dirty="0"/>
              <a:t> ». (114 AR)</a:t>
            </a:r>
          </a:p>
          <a:p>
            <a:endParaRPr lang="fr-BE" sz="3200"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3</a:t>
            </a:fld>
            <a:endParaRPr lang="fr-FR"/>
          </a:p>
        </p:txBody>
      </p:sp>
    </p:spTree>
    <p:extLst>
      <p:ext uri="{BB962C8B-B14F-4D97-AF65-F5344CB8AC3E}">
        <p14:creationId xmlns:p14="http://schemas.microsoft.com/office/powerpoint/2010/main" val="2608157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i="1" dirty="0">
                <a:cs typeface="Times New Roman" pitchFamily="18" charset="0"/>
              </a:rPr>
              <a:t>1. Introduction</a:t>
            </a:r>
            <a:endParaRPr lang="fr-BE" dirty="0"/>
          </a:p>
        </p:txBody>
      </p:sp>
      <p:sp>
        <p:nvSpPr>
          <p:cNvPr id="3" name="Espace réservé du contenu 2"/>
          <p:cNvSpPr>
            <a:spLocks noGrp="1"/>
          </p:cNvSpPr>
          <p:nvPr>
            <p:ph idx="1"/>
          </p:nvPr>
        </p:nvSpPr>
        <p:spPr/>
        <p:txBody>
          <a:bodyPr/>
          <a:lstStyle/>
          <a:p>
            <a:pPr>
              <a:buFont typeface="Wingdings" pitchFamily="2" charset="2"/>
              <a:buChar char="§"/>
            </a:pPr>
            <a:r>
              <a:rPr lang="fr-BE" dirty="0"/>
              <a:t>Une </a:t>
            </a:r>
            <a:r>
              <a:rPr lang="fr-BE" b="1" dirty="0"/>
              <a:t>« cascade » chômage complet</a:t>
            </a:r>
            <a:r>
              <a:rPr lang="fr-BE" dirty="0"/>
              <a:t> est composée de </a:t>
            </a:r>
            <a:r>
              <a:rPr lang="fr-BE" b="1" dirty="0">
                <a:solidFill>
                  <a:srgbClr val="C00000"/>
                </a:solidFill>
              </a:rPr>
              <a:t>3 périodes d’indemnisation.</a:t>
            </a:r>
          </a:p>
          <a:p>
            <a:pPr marL="0" indent="0">
              <a:buNone/>
            </a:pPr>
            <a:endParaRPr lang="fr-BE" b="1" dirty="0">
              <a:solidFill>
                <a:srgbClr val="C00000"/>
              </a:solidFill>
            </a:endParaRPr>
          </a:p>
          <a:p>
            <a:pPr>
              <a:buFont typeface="Wingdings" pitchFamily="2" charset="2"/>
              <a:buChar char="§"/>
            </a:pPr>
            <a:r>
              <a:rPr lang="fr-BE" dirty="0"/>
              <a:t>Et à l’intérieur de ces périodes, nous retrouverons différentes </a:t>
            </a:r>
            <a:r>
              <a:rPr lang="fr-BE" b="1" dirty="0">
                <a:solidFill>
                  <a:srgbClr val="C00000"/>
                </a:solidFill>
              </a:rPr>
              <a:t>phases </a:t>
            </a:r>
            <a:r>
              <a:rPr lang="fr-BE" dirty="0"/>
              <a:t>intermédiaires. Celles-ci peuvent être </a:t>
            </a:r>
            <a:r>
              <a:rPr lang="fr-BE" b="1" dirty="0">
                <a:solidFill>
                  <a:srgbClr val="C00000"/>
                </a:solidFill>
              </a:rPr>
              <a:t>fixes</a:t>
            </a:r>
            <a:r>
              <a:rPr lang="fr-BE" dirty="0"/>
              <a:t> ou </a:t>
            </a:r>
            <a:r>
              <a:rPr lang="fr-BE" b="1" dirty="0">
                <a:solidFill>
                  <a:srgbClr val="C00000"/>
                </a:solidFill>
              </a:rPr>
              <a:t>variables</a:t>
            </a:r>
            <a:r>
              <a:rPr lang="fr-BE" dirty="0"/>
              <a:t> … </a:t>
            </a: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4</a:t>
            </a:fld>
            <a:endParaRPr lang="fr-FR"/>
          </a:p>
        </p:txBody>
      </p:sp>
    </p:spTree>
    <p:extLst>
      <p:ext uri="{BB962C8B-B14F-4D97-AF65-F5344CB8AC3E}">
        <p14:creationId xmlns:p14="http://schemas.microsoft.com/office/powerpoint/2010/main" val="34356495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p:txBody>
          <a:bodyPr>
            <a:normAutofit/>
          </a:bodyPr>
          <a:lstStyle/>
          <a:p>
            <a:pPr algn="r"/>
            <a:r>
              <a:rPr lang="fr-BE" b="1" i="1" dirty="0">
                <a:cs typeface="Times New Roman" pitchFamily="18" charset="0"/>
              </a:rPr>
              <a:t>2. Les périodes  d’indemnisation</a:t>
            </a:r>
            <a:endParaRPr lang="en-US" b="1" i="1" dirty="0">
              <a:cs typeface="Times New Roman" pitchFamily="18" charset="0"/>
            </a:endParaRPr>
          </a:p>
        </p:txBody>
      </p:sp>
      <p:sp>
        <p:nvSpPr>
          <p:cNvPr id="3" name="Espace réservé du contenu 2"/>
          <p:cNvSpPr>
            <a:spLocks noGrp="1"/>
          </p:cNvSpPr>
          <p:nvPr>
            <p:ph type="subTitle" idx="1"/>
          </p:nvPr>
        </p:nvSpPr>
        <p:spPr/>
        <p:txBody>
          <a:bodyPr/>
          <a:lstStyle/>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5</a:t>
            </a:fld>
            <a:endParaRPr lang="fr-FR"/>
          </a:p>
        </p:txBody>
      </p:sp>
    </p:spTree>
    <p:extLst>
      <p:ext uri="{BB962C8B-B14F-4D97-AF65-F5344CB8AC3E}">
        <p14:creationId xmlns:p14="http://schemas.microsoft.com/office/powerpoint/2010/main" val="2115340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fontScale="90000"/>
          </a:bodyPr>
          <a:lstStyle/>
          <a:p>
            <a:pPr algn="r">
              <a:defRPr/>
            </a:pPr>
            <a:r>
              <a:rPr lang="fr-BE" b="1" i="1" dirty="0">
                <a:cs typeface="Times New Roman" pitchFamily="18" charset="0"/>
              </a:rPr>
              <a:t>2.1. Les périodes d’indemnisation</a:t>
            </a:r>
            <a:br>
              <a:rPr lang="fr-BE" b="1" i="1" dirty="0">
                <a:solidFill>
                  <a:srgbClr val="C00000"/>
                </a:solidFill>
                <a:cs typeface="Times New Roman" pitchFamily="18" charset="0"/>
              </a:rPr>
            </a:br>
            <a:r>
              <a:rPr lang="fr-BE" sz="2700" b="1" i="1" dirty="0">
                <a:cs typeface="Times New Roman" pitchFamily="18" charset="0"/>
              </a:rPr>
              <a:t>cascade lors d’une 1</a:t>
            </a:r>
            <a:r>
              <a:rPr lang="fr-BE" sz="2700" b="1" i="1" baseline="30000" dirty="0">
                <a:cs typeface="Times New Roman" pitchFamily="18" charset="0"/>
              </a:rPr>
              <a:t>er</a:t>
            </a:r>
            <a:r>
              <a:rPr lang="fr-BE" sz="2700" b="1" i="1" dirty="0">
                <a:cs typeface="Times New Roman" pitchFamily="18" charset="0"/>
              </a:rPr>
              <a:t> DA</a:t>
            </a:r>
            <a:endParaRPr lang="en-US" sz="3100" b="1" i="1" dirty="0">
              <a:cs typeface="Times New Roman" pitchFamily="18" charset="0"/>
            </a:endParaRPr>
          </a:p>
        </p:txBody>
      </p:sp>
      <p:sp>
        <p:nvSpPr>
          <p:cNvPr id="268291" name="Espace réservé du contenu 2"/>
          <p:cNvSpPr>
            <a:spLocks noGrp="1"/>
          </p:cNvSpPr>
          <p:nvPr>
            <p:ph idx="1"/>
          </p:nvPr>
        </p:nvSpPr>
        <p:spPr>
          <a:xfrm>
            <a:off x="457200" y="1600200"/>
            <a:ext cx="8291513" cy="4525963"/>
          </a:xfrm>
        </p:spPr>
        <p:txBody>
          <a:bodyPr/>
          <a:lstStyle/>
          <a:p>
            <a:pPr marL="0" indent="0">
              <a:buFont typeface="Arial" panose="020B0604020202020204" pitchFamily="34" charset="0"/>
              <a:buNone/>
            </a:pPr>
            <a:endParaRPr lang="fr-FR" altLang="en-US" sz="2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fr-FR" altLang="en-US" sz="2800" dirty="0">
              <a:latin typeface="Times New Roman" panose="02020603050405020304" pitchFamily="18" charset="0"/>
              <a:cs typeface="Times New Roman" panose="02020603050405020304" pitchFamily="18" charset="0"/>
            </a:endParaRPr>
          </a:p>
        </p:txBody>
      </p:sp>
      <p:sp>
        <p:nvSpPr>
          <p:cNvPr id="268292" name="Espace réservé du numéro de diapositive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F21C606-2CF9-4CD3-8170-939F7D074653}" type="slidenum">
              <a:rPr lang="fr-FR" altLang="en-US" sz="1200" smtClean="0">
                <a:solidFill>
                  <a:srgbClr val="898989"/>
                </a:solidFill>
                <a:latin typeface="Times New Roman" panose="02020603050405020304" pitchFamily="18" charset="0"/>
              </a:rPr>
              <a:pPr>
                <a:spcBef>
                  <a:spcPct val="0"/>
                </a:spcBef>
                <a:buFontTx/>
                <a:buNone/>
              </a:pPr>
              <a:t>6</a:t>
            </a:fld>
            <a:endParaRPr lang="fr-FR" altLang="en-US" sz="1200">
              <a:solidFill>
                <a:srgbClr val="898989"/>
              </a:solidFill>
              <a:latin typeface="Times New Roman" panose="02020603050405020304" pitchFamily="18" charset="0"/>
            </a:endParaRPr>
          </a:p>
        </p:txBody>
      </p:sp>
      <p:sp>
        <p:nvSpPr>
          <p:cNvPr id="9" name="Rectangle 8"/>
          <p:cNvSpPr/>
          <p:nvPr/>
        </p:nvSpPr>
        <p:spPr>
          <a:xfrm>
            <a:off x="769938" y="2781300"/>
            <a:ext cx="719137" cy="1384300"/>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sz="3200" b="1" i="1" dirty="0">
                <a:solidFill>
                  <a:schemeClr val="tx1"/>
                </a:solidFill>
              </a:rPr>
              <a:t>11</a:t>
            </a:r>
          </a:p>
          <a:p>
            <a:pPr algn="ctr">
              <a:defRPr/>
            </a:pPr>
            <a:r>
              <a:rPr lang="fr-BE" sz="2000" b="1" i="1" dirty="0">
                <a:solidFill>
                  <a:schemeClr val="tx1"/>
                </a:solidFill>
              </a:rPr>
              <a:t>3 mois</a:t>
            </a:r>
          </a:p>
        </p:txBody>
      </p:sp>
      <p:sp>
        <p:nvSpPr>
          <p:cNvPr id="12" name="Rectangle 11"/>
          <p:cNvSpPr/>
          <p:nvPr/>
        </p:nvSpPr>
        <p:spPr>
          <a:xfrm>
            <a:off x="2938463" y="2781300"/>
            <a:ext cx="820737" cy="138430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sz="3200" b="1" i="1" dirty="0">
                <a:solidFill>
                  <a:schemeClr val="tx1"/>
                </a:solidFill>
              </a:rPr>
              <a:t>2A</a:t>
            </a:r>
          </a:p>
          <a:p>
            <a:pPr algn="ctr">
              <a:defRPr/>
            </a:pPr>
            <a:r>
              <a:rPr lang="fr-BE" sz="2000" b="1" i="1" dirty="0">
                <a:solidFill>
                  <a:schemeClr val="tx1"/>
                </a:solidFill>
              </a:rPr>
              <a:t>2 mois</a:t>
            </a:r>
          </a:p>
        </p:txBody>
      </p:sp>
      <p:sp>
        <p:nvSpPr>
          <p:cNvPr id="13" name="Rectangle 12"/>
          <p:cNvSpPr/>
          <p:nvPr/>
        </p:nvSpPr>
        <p:spPr>
          <a:xfrm>
            <a:off x="3768725" y="2781300"/>
            <a:ext cx="5124450" cy="1389063"/>
          </a:xfrm>
          <a:prstGeom prst="rect">
            <a:avLst/>
          </a:prstGeom>
          <a:solidFill>
            <a:schemeClr val="bg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sz="2800" b="1" i="1" dirty="0">
                <a:solidFill>
                  <a:schemeClr val="tx1"/>
                </a:solidFill>
              </a:rPr>
              <a:t>29</a:t>
            </a:r>
          </a:p>
          <a:p>
            <a:pPr algn="ctr">
              <a:defRPr/>
            </a:pPr>
            <a:r>
              <a:rPr lang="fr-BE" sz="2800" b="1" i="1" dirty="0">
                <a:solidFill>
                  <a:schemeClr val="tx1"/>
                </a:solidFill>
              </a:rPr>
              <a:t>(= Taux forfait)</a:t>
            </a:r>
          </a:p>
        </p:txBody>
      </p:sp>
      <p:sp>
        <p:nvSpPr>
          <p:cNvPr id="14" name="Accolade ouvrante 13"/>
          <p:cNvSpPr/>
          <p:nvPr/>
        </p:nvSpPr>
        <p:spPr>
          <a:xfrm rot="16200000">
            <a:off x="1620838" y="3295650"/>
            <a:ext cx="466725" cy="2168525"/>
          </a:xfrm>
          <a:prstGeom prst="leftBrace">
            <a:avLst/>
          </a:prstGeom>
          <a:ln/>
        </p:spPr>
        <p:style>
          <a:lnRef idx="3">
            <a:schemeClr val="dk1"/>
          </a:lnRef>
          <a:fillRef idx="0">
            <a:schemeClr val="dk1"/>
          </a:fillRef>
          <a:effectRef idx="2">
            <a:schemeClr val="dk1"/>
          </a:effectRef>
          <a:fontRef idx="minor">
            <a:schemeClr val="tx1"/>
          </a:fontRef>
        </p:style>
        <p:txBody>
          <a:bodyPr anchor="ctr"/>
          <a:lstStyle/>
          <a:p>
            <a:pPr algn="ctr">
              <a:defRPr/>
            </a:pPr>
            <a:endParaRPr lang="fr-BE"/>
          </a:p>
        </p:txBody>
      </p:sp>
      <p:sp>
        <p:nvSpPr>
          <p:cNvPr id="15" name="Accolade ouvrante 14"/>
          <p:cNvSpPr/>
          <p:nvPr/>
        </p:nvSpPr>
        <p:spPr>
          <a:xfrm rot="16200000">
            <a:off x="5682456" y="1400970"/>
            <a:ext cx="466725" cy="5954712"/>
          </a:xfrm>
          <a:prstGeom prst="leftBrace">
            <a:avLst/>
          </a:prstGeom>
          <a:ln/>
        </p:spPr>
        <p:style>
          <a:lnRef idx="3">
            <a:schemeClr val="dk1"/>
          </a:lnRef>
          <a:fillRef idx="0">
            <a:schemeClr val="dk1"/>
          </a:fillRef>
          <a:effectRef idx="2">
            <a:schemeClr val="dk1"/>
          </a:effectRef>
          <a:fontRef idx="minor">
            <a:schemeClr val="tx1"/>
          </a:fontRef>
        </p:style>
        <p:txBody>
          <a:bodyPr anchor="ctr"/>
          <a:lstStyle/>
          <a:p>
            <a:pPr algn="ctr">
              <a:defRPr/>
            </a:pPr>
            <a:endParaRPr lang="fr-BE"/>
          </a:p>
        </p:txBody>
      </p:sp>
      <p:sp>
        <p:nvSpPr>
          <p:cNvPr id="18" name="Rectangle 17"/>
          <p:cNvSpPr/>
          <p:nvPr/>
        </p:nvSpPr>
        <p:spPr>
          <a:xfrm>
            <a:off x="296863" y="4852988"/>
            <a:ext cx="3024187" cy="447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b="1" i="1" dirty="0">
                <a:solidFill>
                  <a:schemeClr val="tx1"/>
                </a:solidFill>
              </a:rPr>
              <a:t>1</a:t>
            </a:r>
            <a:r>
              <a:rPr lang="fr-BE" b="1" i="1" baseline="30000" dirty="0">
                <a:solidFill>
                  <a:schemeClr val="tx1"/>
                </a:solidFill>
              </a:rPr>
              <a:t>ère</a:t>
            </a:r>
            <a:r>
              <a:rPr lang="fr-BE" b="1" i="1" dirty="0">
                <a:solidFill>
                  <a:schemeClr val="tx1"/>
                </a:solidFill>
              </a:rPr>
              <a:t> période :</a:t>
            </a:r>
          </a:p>
          <a:p>
            <a:pPr algn="ctr">
              <a:defRPr/>
            </a:pPr>
            <a:r>
              <a:rPr lang="fr-BE" b="1" i="1" dirty="0">
                <a:solidFill>
                  <a:srgbClr val="C00000"/>
                </a:solidFill>
              </a:rPr>
              <a:t>3</a:t>
            </a:r>
            <a:r>
              <a:rPr lang="fr-BE" b="1" i="1" dirty="0">
                <a:solidFill>
                  <a:schemeClr val="tx1"/>
                </a:solidFill>
              </a:rPr>
              <a:t> </a:t>
            </a:r>
            <a:r>
              <a:rPr lang="fr-BE" b="1" i="1" dirty="0">
                <a:solidFill>
                  <a:srgbClr val="C00000"/>
                </a:solidFill>
              </a:rPr>
              <a:t>phases fixes</a:t>
            </a:r>
          </a:p>
        </p:txBody>
      </p:sp>
      <p:sp>
        <p:nvSpPr>
          <p:cNvPr id="19" name="Rectangle 18"/>
          <p:cNvSpPr/>
          <p:nvPr/>
        </p:nvSpPr>
        <p:spPr>
          <a:xfrm>
            <a:off x="4004008" y="4602163"/>
            <a:ext cx="3823619"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b="1" i="1" dirty="0">
                <a:solidFill>
                  <a:schemeClr val="tx1"/>
                </a:solidFill>
              </a:rPr>
              <a:t>2</a:t>
            </a:r>
            <a:r>
              <a:rPr lang="fr-BE" b="1" i="1" baseline="30000" dirty="0">
                <a:solidFill>
                  <a:schemeClr val="tx1"/>
                </a:solidFill>
              </a:rPr>
              <a:t>ème</a:t>
            </a:r>
            <a:r>
              <a:rPr lang="fr-BE" b="1" i="1" dirty="0">
                <a:solidFill>
                  <a:schemeClr val="tx1"/>
                </a:solidFill>
              </a:rPr>
              <a:t> période : </a:t>
            </a:r>
          </a:p>
          <a:p>
            <a:pPr algn="ctr">
              <a:defRPr/>
            </a:pPr>
            <a:r>
              <a:rPr lang="fr-BE" b="1" i="1" dirty="0">
                <a:solidFill>
                  <a:srgbClr val="C00000"/>
                </a:solidFill>
              </a:rPr>
              <a:t>1 phase fixe &amp; suffixe 29 (illimité)            </a:t>
            </a:r>
          </a:p>
        </p:txBody>
      </p:sp>
      <p:sp>
        <p:nvSpPr>
          <p:cNvPr id="20" name="Rectangle 19"/>
          <p:cNvSpPr/>
          <p:nvPr/>
        </p:nvSpPr>
        <p:spPr>
          <a:xfrm>
            <a:off x="7445375" y="4398963"/>
            <a:ext cx="2022475" cy="906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BE" b="1" i="1" dirty="0">
              <a:solidFill>
                <a:srgbClr val="C00000"/>
              </a:solidFill>
            </a:endParaRPr>
          </a:p>
        </p:txBody>
      </p:sp>
      <p:sp>
        <p:nvSpPr>
          <p:cNvPr id="27" name="Rectangle 26"/>
          <p:cNvSpPr/>
          <p:nvPr/>
        </p:nvSpPr>
        <p:spPr>
          <a:xfrm>
            <a:off x="1476375" y="2781300"/>
            <a:ext cx="719138" cy="1389063"/>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sz="3200" b="1" i="1" dirty="0">
                <a:solidFill>
                  <a:schemeClr val="tx1"/>
                </a:solidFill>
              </a:rPr>
              <a:t>12</a:t>
            </a:r>
          </a:p>
          <a:p>
            <a:pPr algn="ctr">
              <a:defRPr/>
            </a:pPr>
            <a:r>
              <a:rPr lang="fr-BE" sz="2000" b="1" i="1" dirty="0">
                <a:solidFill>
                  <a:schemeClr val="tx1"/>
                </a:solidFill>
              </a:rPr>
              <a:t>3 mois</a:t>
            </a:r>
          </a:p>
        </p:txBody>
      </p:sp>
      <p:sp>
        <p:nvSpPr>
          <p:cNvPr id="28" name="Rectangle 27"/>
          <p:cNvSpPr/>
          <p:nvPr/>
        </p:nvSpPr>
        <p:spPr>
          <a:xfrm>
            <a:off x="2195513" y="2774950"/>
            <a:ext cx="742950" cy="1395413"/>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sz="3200" b="1" i="1" dirty="0">
                <a:solidFill>
                  <a:schemeClr val="tx1"/>
                </a:solidFill>
              </a:rPr>
              <a:t>13</a:t>
            </a:r>
          </a:p>
          <a:p>
            <a:pPr algn="ctr">
              <a:defRPr/>
            </a:pPr>
            <a:r>
              <a:rPr lang="fr-BE" sz="2000" b="1" i="1" dirty="0">
                <a:solidFill>
                  <a:schemeClr val="tx1"/>
                </a:solidFill>
              </a:rPr>
              <a:t>6 mois</a:t>
            </a:r>
          </a:p>
        </p:txBody>
      </p:sp>
      <p:cxnSp>
        <p:nvCxnSpPr>
          <p:cNvPr id="5" name="Connecteur droit 4"/>
          <p:cNvCxnSpPr/>
          <p:nvPr/>
        </p:nvCxnSpPr>
        <p:spPr>
          <a:xfrm>
            <a:off x="3759200" y="1341438"/>
            <a:ext cx="0" cy="46799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Double flèche horizontale 20"/>
          <p:cNvSpPr/>
          <p:nvPr/>
        </p:nvSpPr>
        <p:spPr>
          <a:xfrm>
            <a:off x="769938" y="1557338"/>
            <a:ext cx="2989262" cy="792162"/>
          </a:xfrm>
          <a:prstGeom prst="leftRightArrow">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b="1" dirty="0">
                <a:solidFill>
                  <a:schemeClr val="tx1"/>
                </a:solidFill>
              </a:rPr>
              <a:t>Phases Fixes</a:t>
            </a:r>
          </a:p>
        </p:txBody>
      </p:sp>
      <p:sp>
        <p:nvSpPr>
          <p:cNvPr id="33" name="Double flèche horizontale 32"/>
          <p:cNvSpPr/>
          <p:nvPr/>
        </p:nvSpPr>
        <p:spPr>
          <a:xfrm>
            <a:off x="3759200" y="1557338"/>
            <a:ext cx="4106863" cy="792162"/>
          </a:xfrm>
          <a:prstGeom prst="leftRightArrow">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BE" b="1" dirty="0">
                <a:solidFill>
                  <a:schemeClr val="tx1"/>
                </a:solidFill>
              </a:rPr>
              <a:t>En attente calcul du PP</a:t>
            </a:r>
          </a:p>
        </p:txBody>
      </p:sp>
    </p:spTree>
    <p:extLst>
      <p:ext uri="{BB962C8B-B14F-4D97-AF65-F5344CB8AC3E}">
        <p14:creationId xmlns:p14="http://schemas.microsoft.com/office/powerpoint/2010/main" val="20860290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10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nodePh="1">
                                  <p:stCondLst>
                                    <p:cond delay="0"/>
                                  </p:stCondLst>
                                  <p:endCondLst>
                                    <p:cond evt="begin" delay="0">
                                      <p:tn val="46"/>
                                    </p:cond>
                                  </p:endCondLst>
                                  <p:childTnLst>
                                    <p:set>
                                      <p:cBhvr>
                                        <p:cTn id="47" dur="1" fill="hold">
                                          <p:stCondLst>
                                            <p:cond delay="0"/>
                                          </p:stCondLst>
                                        </p:cTn>
                                        <p:tgtEl>
                                          <p:spTgt spid="20"/>
                                        </p:tgtEl>
                                        <p:attrNameLst>
                                          <p:attrName>style.visibility</p:attrName>
                                        </p:attrNameLst>
                                      </p:cBhvr>
                                      <p:to>
                                        <p:strVal val="visible"/>
                                      </p:to>
                                    </p:set>
                                    <p:animEffect transition="in" filter="fade">
                                      <p:cBhvr>
                                        <p:cTn id="48" dur="1000"/>
                                        <p:tgtEl>
                                          <p:spTgt spid="2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1000"/>
                                        <p:tgtEl>
                                          <p:spTgt spid="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1000"/>
                                        <p:tgtEl>
                                          <p:spTgt spid="2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5" grpId="0" animBg="1"/>
      <p:bldP spid="18" grpId="0"/>
      <p:bldP spid="19" grpId="0"/>
      <p:bldP spid="20" grpId="0"/>
      <p:bldP spid="27" grpId="0" animBg="1"/>
      <p:bldP spid="28" grpId="0" animBg="1"/>
      <p:bldP spid="21"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fontScale="90000"/>
          </a:bodyPr>
          <a:lstStyle/>
          <a:p>
            <a:pPr algn="r"/>
            <a:r>
              <a:rPr lang="fr-BE" b="1" i="1" dirty="0">
                <a:cs typeface="Times New Roman" pitchFamily="18" charset="0"/>
              </a:rPr>
              <a:t>2.1. Les périodes d’indemnisation</a:t>
            </a:r>
            <a:br>
              <a:rPr lang="fr-BE" b="1" i="1" dirty="0">
                <a:solidFill>
                  <a:srgbClr val="C00000"/>
                </a:solidFill>
                <a:cs typeface="Times New Roman" pitchFamily="18" charset="0"/>
              </a:rPr>
            </a:br>
            <a:r>
              <a:rPr lang="fr-BE" sz="2700" b="1" i="1" dirty="0">
                <a:cs typeface="Times New Roman" pitchFamily="18" charset="0"/>
              </a:rPr>
              <a:t>cascade complète </a:t>
            </a:r>
            <a:endParaRPr lang="en-US" sz="3600" b="1" i="1" dirty="0">
              <a:cs typeface="Times New Roman" pitchFamily="18" charset="0"/>
            </a:endParaRPr>
          </a:p>
        </p:txBody>
      </p:sp>
      <p:sp>
        <p:nvSpPr>
          <p:cNvPr id="3" name="Espace réservé du contenu 2"/>
          <p:cNvSpPr>
            <a:spLocks noGrp="1"/>
          </p:cNvSpPr>
          <p:nvPr>
            <p:ph idx="1"/>
          </p:nvPr>
        </p:nvSpPr>
        <p:spPr>
          <a:xfrm>
            <a:off x="107504" y="1600200"/>
            <a:ext cx="8928992" cy="4560242"/>
          </a:xfrm>
        </p:spPr>
        <p:txBody>
          <a:bodyPr>
            <a:noAutofit/>
          </a:bodyPr>
          <a:lstStyle/>
          <a:p>
            <a:pPr marL="0" indent="0">
              <a:buNone/>
            </a:pPr>
            <a:endParaRPr lang="fr-FR" sz="2800" dirty="0">
              <a:latin typeface="Times New Roman" pitchFamily="18" charset="0"/>
              <a:cs typeface="Times New Roman" pitchFamily="18" charset="0"/>
            </a:endParaRPr>
          </a:p>
          <a:p>
            <a:pPr marL="0" indent="0">
              <a:buNone/>
            </a:pPr>
            <a:endParaRPr lang="fr-FR" sz="2800" dirty="0">
              <a:latin typeface="Times New Roman" pitchFamily="18" charset="0"/>
              <a:cs typeface="Times New Roman" pitchFamily="18" charset="0"/>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7</a:t>
            </a:fld>
            <a:endParaRPr lang="fr-FR" dirty="0"/>
          </a:p>
        </p:txBody>
      </p:sp>
      <p:sp>
        <p:nvSpPr>
          <p:cNvPr id="9" name="Rectangle 8"/>
          <p:cNvSpPr/>
          <p:nvPr/>
        </p:nvSpPr>
        <p:spPr>
          <a:xfrm>
            <a:off x="769577" y="2780928"/>
            <a:ext cx="720078" cy="1385458"/>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11</a:t>
            </a:r>
          </a:p>
          <a:p>
            <a:pPr algn="ctr"/>
            <a:r>
              <a:rPr lang="fr-BE" sz="2000" b="1" i="1" dirty="0">
                <a:solidFill>
                  <a:schemeClr val="tx1"/>
                </a:solidFill>
              </a:rPr>
              <a:t>3 mois</a:t>
            </a:r>
          </a:p>
        </p:txBody>
      </p:sp>
      <p:sp>
        <p:nvSpPr>
          <p:cNvPr id="12" name="Rectangle 11"/>
          <p:cNvSpPr/>
          <p:nvPr/>
        </p:nvSpPr>
        <p:spPr>
          <a:xfrm>
            <a:off x="2938330" y="2780928"/>
            <a:ext cx="820077" cy="138546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2A</a:t>
            </a:r>
          </a:p>
          <a:p>
            <a:pPr algn="ctr"/>
            <a:r>
              <a:rPr lang="fr-BE" sz="2000" b="1" i="1" dirty="0">
                <a:solidFill>
                  <a:schemeClr val="tx1"/>
                </a:solidFill>
              </a:rPr>
              <a:t>2 mois</a:t>
            </a:r>
          </a:p>
        </p:txBody>
      </p:sp>
      <p:sp>
        <p:nvSpPr>
          <p:cNvPr id="13" name="Rectangle 12"/>
          <p:cNvSpPr/>
          <p:nvPr/>
        </p:nvSpPr>
        <p:spPr>
          <a:xfrm>
            <a:off x="7855642" y="2780930"/>
            <a:ext cx="1036838" cy="1390016"/>
          </a:xfrm>
          <a:prstGeom prst="rect">
            <a:avLst/>
          </a:prstGeom>
          <a:solidFill>
            <a:schemeClr val="bg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F</a:t>
            </a:r>
          </a:p>
          <a:p>
            <a:pPr algn="ctr"/>
            <a:r>
              <a:rPr lang="fr-BE" sz="2000" b="1" i="1" dirty="0">
                <a:solidFill>
                  <a:schemeClr val="tx1"/>
                </a:solidFill>
              </a:rPr>
              <a:t>Illimité</a:t>
            </a:r>
          </a:p>
        </p:txBody>
      </p:sp>
      <p:sp>
        <p:nvSpPr>
          <p:cNvPr id="14" name="Accolade ouvrante 13"/>
          <p:cNvSpPr/>
          <p:nvPr/>
        </p:nvSpPr>
        <p:spPr>
          <a:xfrm rot="16200000">
            <a:off x="1620704" y="3295021"/>
            <a:ext cx="466501" cy="2168755"/>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BE"/>
          </a:p>
        </p:txBody>
      </p:sp>
      <p:sp>
        <p:nvSpPr>
          <p:cNvPr id="15" name="Accolade ouvrante 14"/>
          <p:cNvSpPr/>
          <p:nvPr/>
        </p:nvSpPr>
        <p:spPr>
          <a:xfrm rot="16200000">
            <a:off x="5163734" y="1919343"/>
            <a:ext cx="466506" cy="4917310"/>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BE"/>
          </a:p>
        </p:txBody>
      </p:sp>
      <p:sp>
        <p:nvSpPr>
          <p:cNvPr id="16" name="Accolade ouvrante 15"/>
          <p:cNvSpPr/>
          <p:nvPr/>
        </p:nvSpPr>
        <p:spPr>
          <a:xfrm rot="16200000">
            <a:off x="8159336" y="3878105"/>
            <a:ext cx="440305" cy="1025988"/>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BE"/>
          </a:p>
        </p:txBody>
      </p:sp>
      <p:sp>
        <p:nvSpPr>
          <p:cNvPr id="18" name="Rectangle 17"/>
          <p:cNvSpPr/>
          <p:nvPr/>
        </p:nvSpPr>
        <p:spPr>
          <a:xfrm>
            <a:off x="296953" y="4852372"/>
            <a:ext cx="3024336" cy="448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i="1" dirty="0">
                <a:solidFill>
                  <a:schemeClr val="tx1"/>
                </a:solidFill>
              </a:rPr>
              <a:t>1</a:t>
            </a:r>
            <a:r>
              <a:rPr lang="fr-BE" sz="2400" b="1" i="1" baseline="30000" dirty="0">
                <a:solidFill>
                  <a:schemeClr val="tx1"/>
                </a:solidFill>
              </a:rPr>
              <a:t>ère</a:t>
            </a:r>
            <a:r>
              <a:rPr lang="fr-BE" sz="2400" b="1" i="1" dirty="0">
                <a:solidFill>
                  <a:schemeClr val="tx1"/>
                </a:solidFill>
              </a:rPr>
              <a:t> période :</a:t>
            </a:r>
          </a:p>
          <a:p>
            <a:pPr algn="ctr"/>
            <a:r>
              <a:rPr lang="fr-BE" sz="2400" b="1" i="1" dirty="0">
                <a:solidFill>
                  <a:srgbClr val="C00000"/>
                </a:solidFill>
              </a:rPr>
              <a:t>3</a:t>
            </a:r>
            <a:r>
              <a:rPr lang="fr-BE" sz="2400" b="1" i="1" dirty="0">
                <a:solidFill>
                  <a:schemeClr val="tx1"/>
                </a:solidFill>
              </a:rPr>
              <a:t> </a:t>
            </a:r>
            <a:r>
              <a:rPr lang="fr-BE" sz="2400" b="1" i="1" dirty="0">
                <a:solidFill>
                  <a:srgbClr val="C00000"/>
                </a:solidFill>
              </a:rPr>
              <a:t>phases fixes</a:t>
            </a:r>
          </a:p>
        </p:txBody>
      </p:sp>
      <p:sp>
        <p:nvSpPr>
          <p:cNvPr id="19" name="Rectangle 18"/>
          <p:cNvSpPr/>
          <p:nvPr/>
        </p:nvSpPr>
        <p:spPr>
          <a:xfrm>
            <a:off x="3886393" y="4844124"/>
            <a:ext cx="3024336"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i="1" dirty="0">
                <a:solidFill>
                  <a:schemeClr val="tx1"/>
                </a:solidFill>
              </a:rPr>
              <a:t>2</a:t>
            </a:r>
            <a:r>
              <a:rPr lang="fr-BE" sz="2400" b="1" i="1" baseline="30000" dirty="0">
                <a:solidFill>
                  <a:schemeClr val="tx1"/>
                </a:solidFill>
              </a:rPr>
              <a:t>ème</a:t>
            </a:r>
            <a:r>
              <a:rPr lang="fr-BE" sz="2400" b="1" i="1" dirty="0">
                <a:solidFill>
                  <a:schemeClr val="tx1"/>
                </a:solidFill>
              </a:rPr>
              <a:t> période :               </a:t>
            </a:r>
            <a:r>
              <a:rPr lang="fr-BE" sz="2400" b="1" i="1" dirty="0">
                <a:solidFill>
                  <a:srgbClr val="C00000"/>
                </a:solidFill>
              </a:rPr>
              <a:t>1 phase fixe &amp;               5 phases variables</a:t>
            </a:r>
            <a:endParaRPr lang="fr-BE" b="1" i="1" dirty="0">
              <a:solidFill>
                <a:srgbClr val="C00000"/>
              </a:solidFill>
            </a:endParaRPr>
          </a:p>
        </p:txBody>
      </p:sp>
      <p:sp>
        <p:nvSpPr>
          <p:cNvPr id="20" name="Rectangle 19"/>
          <p:cNvSpPr/>
          <p:nvPr/>
        </p:nvSpPr>
        <p:spPr>
          <a:xfrm>
            <a:off x="7445603" y="4399370"/>
            <a:ext cx="2022941" cy="9060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i="1" dirty="0">
                <a:solidFill>
                  <a:schemeClr val="tx1"/>
                </a:solidFill>
              </a:rPr>
              <a:t>Forfait</a:t>
            </a:r>
            <a:endParaRPr lang="fr-BE" sz="2400" b="1" i="1" dirty="0">
              <a:solidFill>
                <a:srgbClr val="C00000"/>
              </a:solidFill>
            </a:endParaRPr>
          </a:p>
        </p:txBody>
      </p:sp>
      <p:sp>
        <p:nvSpPr>
          <p:cNvPr id="22" name="Rectangle 21"/>
          <p:cNvSpPr/>
          <p:nvPr/>
        </p:nvSpPr>
        <p:spPr>
          <a:xfrm>
            <a:off x="3758407" y="2780930"/>
            <a:ext cx="820077" cy="138546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2B</a:t>
            </a:r>
          </a:p>
          <a:p>
            <a:pPr algn="ctr"/>
            <a:r>
              <a:rPr lang="fr-BE" sz="2000" b="1" i="1" dirty="0">
                <a:solidFill>
                  <a:schemeClr val="tx1"/>
                </a:solidFill>
              </a:rPr>
              <a:t>10 mois</a:t>
            </a:r>
          </a:p>
        </p:txBody>
      </p:sp>
      <p:sp>
        <p:nvSpPr>
          <p:cNvPr id="23" name="Rectangle 22"/>
          <p:cNvSpPr/>
          <p:nvPr/>
        </p:nvSpPr>
        <p:spPr>
          <a:xfrm>
            <a:off x="4578484" y="2780930"/>
            <a:ext cx="820077" cy="138546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21</a:t>
            </a:r>
          </a:p>
          <a:p>
            <a:pPr algn="ctr"/>
            <a:r>
              <a:rPr lang="fr-BE" sz="2000" b="1" i="1" dirty="0">
                <a:solidFill>
                  <a:schemeClr val="tx1"/>
                </a:solidFill>
              </a:rPr>
              <a:t>6 mois</a:t>
            </a:r>
          </a:p>
        </p:txBody>
      </p:sp>
      <p:sp>
        <p:nvSpPr>
          <p:cNvPr id="24" name="Rectangle 23"/>
          <p:cNvSpPr/>
          <p:nvPr/>
        </p:nvSpPr>
        <p:spPr>
          <a:xfrm>
            <a:off x="5395411" y="2780928"/>
            <a:ext cx="820077" cy="1390018"/>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22</a:t>
            </a:r>
          </a:p>
          <a:p>
            <a:pPr algn="ctr"/>
            <a:r>
              <a:rPr lang="fr-BE" sz="2000" b="1" i="1" dirty="0">
                <a:solidFill>
                  <a:schemeClr val="tx1"/>
                </a:solidFill>
              </a:rPr>
              <a:t>6 mois</a:t>
            </a:r>
          </a:p>
        </p:txBody>
      </p:sp>
      <p:sp>
        <p:nvSpPr>
          <p:cNvPr id="25" name="Rectangle 24"/>
          <p:cNvSpPr/>
          <p:nvPr/>
        </p:nvSpPr>
        <p:spPr>
          <a:xfrm>
            <a:off x="6215488" y="2781246"/>
            <a:ext cx="820077" cy="1394578"/>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23</a:t>
            </a:r>
          </a:p>
          <a:p>
            <a:pPr algn="ctr"/>
            <a:r>
              <a:rPr lang="fr-BE" sz="2000" b="1" i="1" dirty="0">
                <a:solidFill>
                  <a:schemeClr val="tx1"/>
                </a:solidFill>
              </a:rPr>
              <a:t>6 mois</a:t>
            </a:r>
          </a:p>
        </p:txBody>
      </p:sp>
      <p:sp>
        <p:nvSpPr>
          <p:cNvPr id="26" name="Rectangle 25"/>
          <p:cNvSpPr/>
          <p:nvPr/>
        </p:nvSpPr>
        <p:spPr>
          <a:xfrm>
            <a:off x="7035565" y="2780930"/>
            <a:ext cx="820077" cy="1390016"/>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24</a:t>
            </a:r>
          </a:p>
          <a:p>
            <a:pPr algn="ctr"/>
            <a:r>
              <a:rPr lang="fr-BE" sz="2000" b="1" i="1" dirty="0">
                <a:solidFill>
                  <a:schemeClr val="tx1"/>
                </a:solidFill>
              </a:rPr>
              <a:t>6 mois</a:t>
            </a:r>
          </a:p>
        </p:txBody>
      </p:sp>
      <p:sp>
        <p:nvSpPr>
          <p:cNvPr id="27" name="Rectangle 26"/>
          <p:cNvSpPr/>
          <p:nvPr/>
        </p:nvSpPr>
        <p:spPr>
          <a:xfrm>
            <a:off x="1475659" y="2780930"/>
            <a:ext cx="720078" cy="1390016"/>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12</a:t>
            </a:r>
          </a:p>
          <a:p>
            <a:pPr algn="ctr"/>
            <a:r>
              <a:rPr lang="fr-BE" sz="2000" b="1" i="1" dirty="0">
                <a:solidFill>
                  <a:schemeClr val="tx1"/>
                </a:solidFill>
              </a:rPr>
              <a:t>3 mois</a:t>
            </a:r>
          </a:p>
        </p:txBody>
      </p:sp>
      <p:sp>
        <p:nvSpPr>
          <p:cNvPr id="28" name="Rectangle 27"/>
          <p:cNvSpPr/>
          <p:nvPr/>
        </p:nvSpPr>
        <p:spPr>
          <a:xfrm>
            <a:off x="2195736" y="2775414"/>
            <a:ext cx="742595" cy="1395531"/>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dirty="0">
                <a:solidFill>
                  <a:schemeClr val="tx1"/>
                </a:solidFill>
              </a:rPr>
              <a:t>13</a:t>
            </a:r>
          </a:p>
          <a:p>
            <a:pPr algn="ctr"/>
            <a:r>
              <a:rPr lang="fr-BE" sz="2000" b="1" i="1" dirty="0">
                <a:solidFill>
                  <a:schemeClr val="tx1"/>
                </a:solidFill>
              </a:rPr>
              <a:t>6 mois</a:t>
            </a:r>
          </a:p>
        </p:txBody>
      </p:sp>
      <p:cxnSp>
        <p:nvCxnSpPr>
          <p:cNvPr id="5" name="Connecteur droit 4"/>
          <p:cNvCxnSpPr/>
          <p:nvPr/>
        </p:nvCxnSpPr>
        <p:spPr>
          <a:xfrm>
            <a:off x="3758407" y="1340768"/>
            <a:ext cx="0" cy="468052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Double flèche horizontale 20"/>
          <p:cNvSpPr/>
          <p:nvPr/>
        </p:nvSpPr>
        <p:spPr>
          <a:xfrm>
            <a:off x="769578" y="1556792"/>
            <a:ext cx="2988830" cy="792088"/>
          </a:xfrm>
          <a:prstGeom prst="leftRightArrow">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dirty="0">
                <a:solidFill>
                  <a:schemeClr val="tx1"/>
                </a:solidFill>
              </a:rPr>
              <a:t>Phases Fixes</a:t>
            </a:r>
          </a:p>
        </p:txBody>
      </p:sp>
      <p:sp>
        <p:nvSpPr>
          <p:cNvPr id="33" name="Double flèche horizontale 32"/>
          <p:cNvSpPr/>
          <p:nvPr/>
        </p:nvSpPr>
        <p:spPr>
          <a:xfrm>
            <a:off x="3758407" y="1556792"/>
            <a:ext cx="4108087" cy="792088"/>
          </a:xfrm>
          <a:prstGeom prst="leftRightArrow">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dirty="0">
                <a:solidFill>
                  <a:schemeClr val="tx1"/>
                </a:solidFill>
              </a:rPr>
              <a:t>Phases variables</a:t>
            </a:r>
          </a:p>
        </p:txBody>
      </p:sp>
    </p:spTree>
    <p:extLst>
      <p:ext uri="{BB962C8B-B14F-4D97-AF65-F5344CB8AC3E}">
        <p14:creationId xmlns:p14="http://schemas.microsoft.com/office/powerpoint/2010/main" val="1684746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10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10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10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10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10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100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1000"/>
                                        <p:tgtEl>
                                          <p:spTgt spid="13"/>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1000"/>
                                        <p:tgtEl>
                                          <p:spTgt spid="2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10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fade">
                                      <p:cBhvr>
                                        <p:cTn id="81" dur="1000"/>
                                        <p:tgtEl>
                                          <p:spTgt spid="5"/>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1000"/>
                                        <p:tgtEl>
                                          <p:spTgt spid="21"/>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5" grpId="0" animBg="1"/>
      <p:bldP spid="16" grpId="0" animBg="1"/>
      <p:bldP spid="18" grpId="0"/>
      <p:bldP spid="19" grpId="0"/>
      <p:bldP spid="20" grpId="0"/>
      <p:bldP spid="22" grpId="0" animBg="1"/>
      <p:bldP spid="23" grpId="0" animBg="1"/>
      <p:bldP spid="24" grpId="0" animBg="1"/>
      <p:bldP spid="25" grpId="0" animBg="1"/>
      <p:bldP spid="26" grpId="0" animBg="1"/>
      <p:bldP spid="27" grpId="0" animBg="1"/>
      <p:bldP spid="28" grpId="0" animBg="1"/>
      <p:bldP spid="21" grpId="0" animBg="1"/>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pPr algn="r"/>
            <a:r>
              <a:rPr lang="fr-BE" b="1" i="1" dirty="0">
                <a:cs typeface="Times New Roman" pitchFamily="18" charset="0"/>
              </a:rPr>
              <a:t>2.1. Les périodes d’indemnisation</a:t>
            </a:r>
            <a:endParaRPr lang="fr-FR" b="1" i="1" noProof="0" dirty="0">
              <a:cs typeface="Times New Roman" pitchFamily="18" charset="0"/>
            </a:endParaRPr>
          </a:p>
        </p:txBody>
      </p:sp>
      <p:sp>
        <p:nvSpPr>
          <p:cNvPr id="3" name="Tijdelijke aanduiding voor inhoud 2"/>
          <p:cNvSpPr>
            <a:spLocks noGrp="1"/>
          </p:cNvSpPr>
          <p:nvPr>
            <p:ph idx="1"/>
          </p:nvPr>
        </p:nvSpPr>
        <p:spPr/>
        <p:txBody>
          <a:bodyPr>
            <a:noAutofit/>
          </a:bodyPr>
          <a:lstStyle/>
          <a:p>
            <a:pPr marL="0" indent="0">
              <a:buNone/>
            </a:pPr>
            <a:r>
              <a:rPr lang="fr-FR" sz="2800" i="1" noProof="0" dirty="0"/>
              <a:t>La </a:t>
            </a:r>
            <a:r>
              <a:rPr lang="fr-FR" sz="2800" i="1" noProof="0" dirty="0">
                <a:solidFill>
                  <a:srgbClr val="C00000"/>
                </a:solidFill>
              </a:rPr>
              <a:t>1</a:t>
            </a:r>
            <a:r>
              <a:rPr lang="fr-FR" sz="2800" i="1" baseline="30000" noProof="0" dirty="0">
                <a:solidFill>
                  <a:srgbClr val="C00000"/>
                </a:solidFill>
              </a:rPr>
              <a:t>ière</a:t>
            </a:r>
            <a:r>
              <a:rPr lang="fr-FR" sz="2800" i="1" noProof="0" dirty="0">
                <a:solidFill>
                  <a:srgbClr val="C00000"/>
                </a:solidFill>
              </a:rPr>
              <a:t> </a:t>
            </a:r>
            <a:r>
              <a:rPr lang="fr-FR" sz="2800" b="1" i="1" noProof="0" dirty="0">
                <a:solidFill>
                  <a:srgbClr val="C00000"/>
                </a:solidFill>
              </a:rPr>
              <a:t>période d’indemnisation </a:t>
            </a:r>
            <a:r>
              <a:rPr lang="fr-FR" sz="2800" i="1" noProof="0" dirty="0"/>
              <a:t>comprend 3 phases :</a:t>
            </a:r>
            <a:endParaRPr lang="fr-FR" sz="2800" i="1" dirty="0"/>
          </a:p>
          <a:p>
            <a:pPr>
              <a:buFont typeface="Wingdings" pitchFamily="2" charset="2"/>
              <a:buChar char="§"/>
            </a:pPr>
            <a:r>
              <a:rPr lang="fr-FR" sz="2800" noProof="0" dirty="0"/>
              <a:t>1</a:t>
            </a:r>
            <a:r>
              <a:rPr lang="fr-FR" sz="2800" baseline="30000" noProof="0" dirty="0"/>
              <a:t>ère</a:t>
            </a:r>
            <a:r>
              <a:rPr lang="fr-FR" sz="2800" noProof="0" dirty="0"/>
              <a:t>  phase : durée de 3 mois</a:t>
            </a:r>
            <a:r>
              <a:rPr lang="fr-FR" sz="2800" b="1" noProof="0" dirty="0"/>
              <a:t> </a:t>
            </a:r>
            <a:r>
              <a:rPr lang="fr-FR" sz="2000" b="1" noProof="0" dirty="0">
                <a:sym typeface="Wingdings" pitchFamily="2" charset="2"/>
              </a:rPr>
              <a:t></a:t>
            </a:r>
            <a:r>
              <a:rPr lang="fr-FR" sz="2800" b="1" noProof="0" dirty="0">
                <a:sym typeface="Wingdings" pitchFamily="2" charset="2"/>
              </a:rPr>
              <a:t> </a:t>
            </a:r>
            <a:r>
              <a:rPr lang="fr-FR" sz="2800" dirty="0">
                <a:sym typeface="Wingdings" pitchFamily="2" charset="2"/>
              </a:rPr>
              <a:t>suffixe</a:t>
            </a:r>
            <a:r>
              <a:rPr lang="fr-FR" sz="2800" b="1" dirty="0">
                <a:sym typeface="Wingdings" pitchFamily="2" charset="2"/>
              </a:rPr>
              <a:t> </a:t>
            </a:r>
            <a:r>
              <a:rPr lang="fr-FR" sz="2800" b="1" dirty="0">
                <a:solidFill>
                  <a:srgbClr val="C00000"/>
                </a:solidFill>
                <a:sym typeface="Wingdings" pitchFamily="2" charset="2"/>
              </a:rPr>
              <a:t>1.1</a:t>
            </a:r>
            <a:endParaRPr lang="fr-FR" sz="2800" b="1" dirty="0">
              <a:solidFill>
                <a:srgbClr val="C00000"/>
              </a:solidFill>
            </a:endParaRPr>
          </a:p>
          <a:p>
            <a:pPr lvl="1">
              <a:buFont typeface="Wingdings" panose="05000000000000000000" pitchFamily="2" charset="2"/>
              <a:buChar char="è"/>
            </a:pPr>
            <a:r>
              <a:rPr lang="fr-FR" dirty="0"/>
              <a:t>Indemnisation à </a:t>
            </a:r>
            <a:r>
              <a:rPr lang="fr-FR" b="1" noProof="0" dirty="0"/>
              <a:t>65% du </a:t>
            </a:r>
            <a:r>
              <a:rPr lang="fr-FR" b="1" dirty="0"/>
              <a:t>plafond C</a:t>
            </a:r>
            <a:r>
              <a:rPr lang="fr-FR" sz="2000" b="1" dirty="0"/>
              <a:t> </a:t>
            </a:r>
          </a:p>
          <a:p>
            <a:pPr>
              <a:buFont typeface="Wingdings" pitchFamily="2" charset="2"/>
              <a:buChar char="§"/>
            </a:pPr>
            <a:r>
              <a:rPr lang="fr-FR" sz="2800" noProof="0" dirty="0"/>
              <a:t>2</a:t>
            </a:r>
            <a:r>
              <a:rPr lang="fr-FR" sz="2800" baseline="30000" noProof="0" dirty="0"/>
              <a:t>ème</a:t>
            </a:r>
            <a:r>
              <a:rPr lang="fr-FR" sz="2800" noProof="0" dirty="0"/>
              <a:t> phase : durée de 3 mois</a:t>
            </a:r>
            <a:r>
              <a:rPr lang="fr-FR" sz="2000" noProof="0" dirty="0"/>
              <a:t> </a:t>
            </a:r>
            <a:r>
              <a:rPr lang="fr-FR" sz="2000" b="1" noProof="0" dirty="0">
                <a:sym typeface="Wingdings" pitchFamily="2" charset="2"/>
              </a:rPr>
              <a:t> </a:t>
            </a:r>
            <a:r>
              <a:rPr lang="fr-FR" sz="2800" noProof="0" dirty="0">
                <a:sym typeface="Wingdings" pitchFamily="2" charset="2"/>
              </a:rPr>
              <a:t>suffixe </a:t>
            </a:r>
            <a:r>
              <a:rPr lang="fr-FR" sz="2800" b="1" noProof="0" dirty="0">
                <a:solidFill>
                  <a:srgbClr val="C00000"/>
                </a:solidFill>
                <a:sym typeface="Wingdings" pitchFamily="2" charset="2"/>
              </a:rPr>
              <a:t>1.2</a:t>
            </a:r>
            <a:endParaRPr lang="fr-FR" sz="2800" b="1" noProof="0" dirty="0"/>
          </a:p>
          <a:p>
            <a:pPr marL="457200" lvl="1" indent="0">
              <a:buNone/>
            </a:pPr>
            <a:r>
              <a:rPr lang="fr-FR" sz="2000" dirty="0">
                <a:sym typeface="Wingdings" pitchFamily="2" charset="2"/>
              </a:rPr>
              <a:t></a:t>
            </a:r>
            <a:r>
              <a:rPr lang="fr-FR" dirty="0">
                <a:sym typeface="Wingdings" pitchFamily="2" charset="2"/>
              </a:rPr>
              <a:t> Indemnisation à </a:t>
            </a:r>
            <a:r>
              <a:rPr lang="fr-FR" b="1" noProof="0" dirty="0"/>
              <a:t>60% du plafond C ;</a:t>
            </a:r>
          </a:p>
          <a:p>
            <a:pPr>
              <a:buFont typeface="Wingdings" pitchFamily="2" charset="2"/>
              <a:buChar char="§"/>
            </a:pPr>
            <a:r>
              <a:rPr lang="fr-FR" sz="2800" noProof="0" dirty="0"/>
              <a:t>3</a:t>
            </a:r>
            <a:r>
              <a:rPr lang="fr-FR" sz="2800" baseline="30000" noProof="0" dirty="0"/>
              <a:t>ème</a:t>
            </a:r>
            <a:r>
              <a:rPr lang="fr-FR" sz="2800" noProof="0" dirty="0"/>
              <a:t> phase : durée de 6 mois </a:t>
            </a:r>
            <a:r>
              <a:rPr lang="fr-FR" sz="2000" noProof="0" dirty="0">
                <a:sym typeface="Wingdings" pitchFamily="2" charset="2"/>
              </a:rPr>
              <a:t> </a:t>
            </a:r>
            <a:r>
              <a:rPr lang="fr-FR" sz="2800" noProof="0" dirty="0">
                <a:sym typeface="Wingdings" pitchFamily="2" charset="2"/>
              </a:rPr>
              <a:t>suffixe </a:t>
            </a:r>
            <a:r>
              <a:rPr lang="fr-FR" sz="2800" b="1" noProof="0" dirty="0">
                <a:solidFill>
                  <a:srgbClr val="C00000"/>
                </a:solidFill>
                <a:sym typeface="Wingdings" pitchFamily="2" charset="2"/>
              </a:rPr>
              <a:t>1.3</a:t>
            </a:r>
            <a:endParaRPr lang="fr-FR" sz="2800" noProof="0" dirty="0"/>
          </a:p>
          <a:p>
            <a:pPr marL="457200" lvl="1" indent="0">
              <a:buNone/>
            </a:pPr>
            <a:r>
              <a:rPr lang="fr-FR" sz="2000" dirty="0">
                <a:sym typeface="Wingdings" pitchFamily="2" charset="2"/>
              </a:rPr>
              <a:t></a:t>
            </a:r>
            <a:r>
              <a:rPr lang="fr-FR" dirty="0">
                <a:sym typeface="Wingdings" pitchFamily="2" charset="2"/>
              </a:rPr>
              <a:t> Indemnisation à </a:t>
            </a:r>
            <a:r>
              <a:rPr lang="fr-FR" b="1" noProof="0" dirty="0"/>
              <a:t>60% du plafond B ;</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8</a:t>
            </a:fld>
            <a:endParaRPr lang="fr-FR"/>
          </a:p>
        </p:txBody>
      </p:sp>
    </p:spTree>
    <p:extLst>
      <p:ext uri="{BB962C8B-B14F-4D97-AF65-F5344CB8AC3E}">
        <p14:creationId xmlns:p14="http://schemas.microsoft.com/office/powerpoint/2010/main" val="37365971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pPr algn="r"/>
            <a:r>
              <a:rPr lang="fr-BE" b="1" i="1" dirty="0">
                <a:cs typeface="Times New Roman" pitchFamily="18" charset="0"/>
              </a:rPr>
              <a:t>2.1. Les périodes d’indemnisation</a:t>
            </a:r>
            <a:endParaRPr lang="fr-FR" b="1" i="1" noProof="0" dirty="0">
              <a:cs typeface="Times New Roman" pitchFamily="18" charset="0"/>
            </a:endParaRPr>
          </a:p>
        </p:txBody>
      </p:sp>
      <p:sp>
        <p:nvSpPr>
          <p:cNvPr id="3" name="Tijdelijke aanduiding voor inhoud 2"/>
          <p:cNvSpPr>
            <a:spLocks noGrp="1"/>
          </p:cNvSpPr>
          <p:nvPr>
            <p:ph idx="1"/>
          </p:nvPr>
        </p:nvSpPr>
        <p:spPr/>
        <p:txBody>
          <a:bodyPr>
            <a:noAutofit/>
          </a:bodyPr>
          <a:lstStyle/>
          <a:p>
            <a:pPr marL="0" indent="0">
              <a:buNone/>
            </a:pPr>
            <a:r>
              <a:rPr lang="fr-FR" sz="2800" i="1" noProof="0" dirty="0"/>
              <a:t>La </a:t>
            </a:r>
            <a:r>
              <a:rPr lang="fr-FR" sz="2800" b="1" i="1" noProof="0" dirty="0">
                <a:solidFill>
                  <a:srgbClr val="C00000"/>
                </a:solidFill>
              </a:rPr>
              <a:t>2</a:t>
            </a:r>
            <a:r>
              <a:rPr lang="fr-FR" sz="2800" b="1" i="1" baseline="30000" noProof="0" dirty="0">
                <a:solidFill>
                  <a:srgbClr val="C00000"/>
                </a:solidFill>
              </a:rPr>
              <a:t>ème</a:t>
            </a:r>
            <a:r>
              <a:rPr lang="fr-FR" sz="2800" b="1" i="1" noProof="0" dirty="0">
                <a:solidFill>
                  <a:srgbClr val="C00000"/>
                </a:solidFill>
              </a:rPr>
              <a:t> période d’indemnisation </a:t>
            </a:r>
            <a:r>
              <a:rPr lang="fr-FR" sz="2800" i="1" noProof="0" dirty="0"/>
              <a:t>comprend :</a:t>
            </a:r>
            <a:endParaRPr lang="fr-FR" sz="2800" i="1" dirty="0"/>
          </a:p>
          <a:p>
            <a:pPr>
              <a:buFont typeface="Wingdings" pitchFamily="2" charset="2"/>
              <a:buChar char="§"/>
            </a:pPr>
            <a:r>
              <a:rPr lang="fr-FR" sz="2800" noProof="0" dirty="0"/>
              <a:t>Une phase 1 : durée de 2 mois </a:t>
            </a:r>
            <a:r>
              <a:rPr lang="fr-FR" sz="2000" b="1" noProof="0" dirty="0">
                <a:sym typeface="Wingdings" pitchFamily="2" charset="2"/>
              </a:rPr>
              <a:t> </a:t>
            </a:r>
            <a:r>
              <a:rPr lang="fr-FR" sz="2800" noProof="0" dirty="0">
                <a:sym typeface="Wingdings" pitchFamily="2" charset="2"/>
              </a:rPr>
              <a:t>suffixe</a:t>
            </a:r>
            <a:r>
              <a:rPr lang="fr-FR" sz="2000" b="1" noProof="0" dirty="0">
                <a:sym typeface="Wingdings" pitchFamily="2" charset="2"/>
              </a:rPr>
              <a:t> </a:t>
            </a:r>
            <a:r>
              <a:rPr lang="fr-FR" sz="2800" b="1" noProof="0" dirty="0">
                <a:solidFill>
                  <a:srgbClr val="C00000"/>
                </a:solidFill>
                <a:sym typeface="Wingdings" pitchFamily="2" charset="2"/>
              </a:rPr>
              <a:t>2.A</a:t>
            </a:r>
          </a:p>
          <a:p>
            <a:pPr>
              <a:buFont typeface="Wingdings" pitchFamily="2" charset="2"/>
              <a:buChar char="§"/>
            </a:pPr>
            <a:r>
              <a:rPr lang="fr-FR" sz="2800" noProof="0" dirty="0"/>
              <a:t>Une phase 2.0 : durée de 2 mois par année de PP avec un maximum de 10 mois</a:t>
            </a:r>
            <a:r>
              <a:rPr lang="fr-FR" sz="2800" b="1" noProof="0" dirty="0"/>
              <a:t> </a:t>
            </a:r>
            <a:r>
              <a:rPr lang="fr-FR" sz="2000" b="1" dirty="0">
                <a:sym typeface="Wingdings" pitchFamily="2" charset="2"/>
              </a:rPr>
              <a:t> </a:t>
            </a:r>
            <a:r>
              <a:rPr lang="fr-FR" sz="2800" dirty="0">
                <a:sym typeface="Wingdings" pitchFamily="2" charset="2"/>
              </a:rPr>
              <a:t>suffixe</a:t>
            </a:r>
            <a:r>
              <a:rPr lang="fr-FR" sz="2000" b="1" dirty="0">
                <a:sym typeface="Wingdings" pitchFamily="2" charset="2"/>
              </a:rPr>
              <a:t> </a:t>
            </a:r>
            <a:r>
              <a:rPr lang="fr-FR" sz="2800" b="1" dirty="0">
                <a:solidFill>
                  <a:srgbClr val="C00000"/>
                </a:solidFill>
                <a:sym typeface="Wingdings" pitchFamily="2" charset="2"/>
              </a:rPr>
              <a:t>2.B</a:t>
            </a:r>
          </a:p>
          <a:p>
            <a:pPr marL="457200" lvl="1" indent="0">
              <a:buNone/>
            </a:pPr>
            <a:r>
              <a:rPr lang="fr-FR" sz="2000" dirty="0">
                <a:sym typeface="Wingdings" pitchFamily="2" charset="2"/>
              </a:rPr>
              <a:t></a:t>
            </a:r>
            <a:r>
              <a:rPr lang="fr-FR" dirty="0">
                <a:sym typeface="Wingdings" pitchFamily="2" charset="2"/>
              </a:rPr>
              <a:t> A = </a:t>
            </a:r>
            <a:r>
              <a:rPr lang="fr-FR" dirty="0"/>
              <a:t>Indemnisation à </a:t>
            </a:r>
            <a:r>
              <a:rPr lang="fr-FR" b="1" dirty="0"/>
              <a:t>60 % du plafond A</a:t>
            </a:r>
          </a:p>
          <a:p>
            <a:pPr marL="457200" lvl="1" indent="0">
              <a:buNone/>
            </a:pPr>
            <a:r>
              <a:rPr lang="fr-FR" sz="2000" dirty="0">
                <a:sym typeface="Wingdings" pitchFamily="2" charset="2"/>
              </a:rPr>
              <a:t></a:t>
            </a:r>
            <a:r>
              <a:rPr lang="fr-FR" dirty="0">
                <a:sym typeface="Wingdings" pitchFamily="2" charset="2"/>
              </a:rPr>
              <a:t> N = </a:t>
            </a:r>
            <a:r>
              <a:rPr lang="fr-FR" dirty="0"/>
              <a:t>Indemnisation à </a:t>
            </a:r>
            <a:r>
              <a:rPr lang="fr-FR" b="1" dirty="0"/>
              <a:t>55 % du plafond AY</a:t>
            </a:r>
          </a:p>
          <a:p>
            <a:pPr marL="457200" lvl="1" indent="0">
              <a:buNone/>
            </a:pPr>
            <a:r>
              <a:rPr lang="fr-FR" sz="2000" dirty="0">
                <a:sym typeface="Wingdings" pitchFamily="2" charset="2"/>
              </a:rPr>
              <a:t></a:t>
            </a:r>
            <a:r>
              <a:rPr lang="fr-FR" dirty="0">
                <a:sym typeface="Wingdings" pitchFamily="2" charset="2"/>
              </a:rPr>
              <a:t> B = </a:t>
            </a:r>
            <a:r>
              <a:rPr lang="fr-FR" dirty="0"/>
              <a:t>Indemnisation à </a:t>
            </a:r>
            <a:r>
              <a:rPr lang="fr-FR" b="1" dirty="0"/>
              <a:t>40 % du plafond A</a:t>
            </a:r>
          </a:p>
          <a:p>
            <a:pPr>
              <a:buFont typeface="Wingdings" pitchFamily="2" charset="2"/>
              <a:buChar char="§"/>
            </a:pPr>
            <a:r>
              <a:rPr lang="fr-FR" sz="2800" noProof="0" dirty="0"/>
              <a:t>Des phases intermédiaires 2.1 à 2.4 : durée en fonction du PP </a:t>
            </a:r>
            <a:r>
              <a:rPr lang="fr-FR" sz="2800" noProof="0" dirty="0">
                <a:sym typeface="Wingdings" pitchFamily="2" charset="2"/>
              </a:rPr>
              <a:t> 2 mois par année de PP avec une durée maximum de </a:t>
            </a:r>
            <a:r>
              <a:rPr lang="fr-FR" sz="2800" noProof="0" dirty="0"/>
              <a:t>6 mois par phase intermédiaire.</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9</a:t>
            </a:fld>
            <a:endParaRPr lang="fr-FR"/>
          </a:p>
        </p:txBody>
      </p:sp>
    </p:spTree>
    <p:extLst>
      <p:ext uri="{BB962C8B-B14F-4D97-AF65-F5344CB8AC3E}">
        <p14:creationId xmlns:p14="http://schemas.microsoft.com/office/powerpoint/2010/main" val="2237481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pPr algn="r"/>
            <a:r>
              <a:rPr lang="fr-BE" b="1" i="1" dirty="0">
                <a:cs typeface="Times New Roman" pitchFamily="18" charset="0"/>
              </a:rPr>
              <a:t>2.1. Les périodes d’indemnisation</a:t>
            </a:r>
            <a:endParaRPr lang="fr-FR" b="1" i="1" noProof="0" dirty="0">
              <a:cs typeface="Times New Roman" pitchFamily="18" charset="0"/>
            </a:endParaRPr>
          </a:p>
        </p:txBody>
      </p:sp>
      <p:sp>
        <p:nvSpPr>
          <p:cNvPr id="3" name="Tijdelijke aanduiding voor inhoud 2"/>
          <p:cNvSpPr>
            <a:spLocks noGrp="1"/>
          </p:cNvSpPr>
          <p:nvPr>
            <p:ph idx="1"/>
          </p:nvPr>
        </p:nvSpPr>
        <p:spPr/>
        <p:txBody>
          <a:bodyPr>
            <a:noAutofit/>
          </a:bodyPr>
          <a:lstStyle/>
          <a:p>
            <a:pPr marL="0" indent="0">
              <a:buNone/>
            </a:pPr>
            <a:r>
              <a:rPr lang="fr-FR" sz="2800" i="1" noProof="0" dirty="0"/>
              <a:t>La </a:t>
            </a:r>
            <a:r>
              <a:rPr lang="fr-FR" sz="2800" b="1" i="1" noProof="0" dirty="0">
                <a:solidFill>
                  <a:srgbClr val="C00000"/>
                </a:solidFill>
              </a:rPr>
              <a:t>3</a:t>
            </a:r>
            <a:r>
              <a:rPr lang="fr-FR" sz="2800" b="1" i="1" baseline="30000" noProof="0" dirty="0">
                <a:solidFill>
                  <a:srgbClr val="C00000"/>
                </a:solidFill>
              </a:rPr>
              <a:t>ème</a:t>
            </a:r>
            <a:r>
              <a:rPr lang="fr-FR" sz="2800" b="1" i="1" noProof="0" dirty="0">
                <a:solidFill>
                  <a:srgbClr val="C00000"/>
                </a:solidFill>
              </a:rPr>
              <a:t> période d’indemnisation </a:t>
            </a:r>
            <a:r>
              <a:rPr lang="fr-FR" sz="2800" i="1" noProof="0" dirty="0"/>
              <a:t>comprend une phase forfaitaire octroyée à durée illimitée </a:t>
            </a:r>
            <a:r>
              <a:rPr lang="fr-FR" sz="2000" i="1" noProof="0" dirty="0">
                <a:sym typeface="Wingdings" pitchFamily="2" charset="2"/>
              </a:rPr>
              <a:t></a:t>
            </a:r>
            <a:r>
              <a:rPr lang="fr-FR" sz="2800" i="1" noProof="0" dirty="0">
                <a:sym typeface="Wingdings" pitchFamily="2" charset="2"/>
              </a:rPr>
              <a:t> suffixe</a:t>
            </a:r>
            <a:r>
              <a:rPr lang="fr-FR" sz="2800" b="1" i="1" noProof="0" dirty="0">
                <a:solidFill>
                  <a:srgbClr val="C00000"/>
                </a:solidFill>
                <a:sym typeface="Wingdings" pitchFamily="2" charset="2"/>
              </a:rPr>
              <a:t> F</a:t>
            </a:r>
          </a:p>
          <a:p>
            <a:pPr lvl="1">
              <a:buFont typeface="Wingdings" pitchFamily="2" charset="2"/>
              <a:buChar char="§"/>
            </a:pPr>
            <a:r>
              <a:rPr lang="fr-FR" sz="3000" b="1" dirty="0">
                <a:solidFill>
                  <a:srgbClr val="C00000"/>
                </a:solidFill>
              </a:rPr>
              <a:t>AF</a:t>
            </a:r>
            <a:r>
              <a:rPr lang="fr-FR" sz="3000" dirty="0"/>
              <a:t> = 61,54 € / jour</a:t>
            </a:r>
          </a:p>
          <a:p>
            <a:pPr marL="457200" lvl="1" indent="0">
              <a:buNone/>
            </a:pPr>
            <a:r>
              <a:rPr lang="fr-FR" sz="3000" dirty="0">
                <a:sym typeface="Wingdings" pitchFamily="2" charset="2"/>
              </a:rPr>
              <a:t>	</a:t>
            </a:r>
            <a:r>
              <a:rPr lang="fr-FR" sz="2400" dirty="0">
                <a:sym typeface="Wingdings" pitchFamily="2" charset="2"/>
              </a:rPr>
              <a:t></a:t>
            </a:r>
            <a:r>
              <a:rPr lang="fr-FR" sz="3000" dirty="0">
                <a:sym typeface="Wingdings" pitchFamily="2" charset="2"/>
              </a:rPr>
              <a:t> Maximum par mois = 1.600,04 €</a:t>
            </a:r>
          </a:p>
          <a:p>
            <a:pPr lvl="1">
              <a:buFont typeface="Wingdings" pitchFamily="2" charset="2"/>
              <a:buChar char="§"/>
            </a:pPr>
            <a:r>
              <a:rPr lang="fr-FR" sz="3000" b="1" noProof="0" dirty="0">
                <a:solidFill>
                  <a:srgbClr val="C00000"/>
                </a:solidFill>
                <a:sym typeface="Wingdings" pitchFamily="2" charset="2"/>
              </a:rPr>
              <a:t>NF</a:t>
            </a:r>
            <a:r>
              <a:rPr lang="fr-FR" sz="3000" noProof="0" dirty="0">
                <a:sym typeface="Wingdings" pitchFamily="2" charset="2"/>
              </a:rPr>
              <a:t> =  </a:t>
            </a:r>
            <a:r>
              <a:rPr lang="fr-FR" sz="3000" dirty="0">
                <a:sym typeface="Wingdings" pitchFamily="2" charset="2"/>
              </a:rPr>
              <a:t>49,86</a:t>
            </a:r>
            <a:r>
              <a:rPr lang="fr-FR" sz="3000" noProof="0" dirty="0">
                <a:sym typeface="Wingdings" pitchFamily="2" charset="2"/>
              </a:rPr>
              <a:t> € / jour </a:t>
            </a:r>
          </a:p>
          <a:p>
            <a:pPr marL="457200" lvl="1" indent="0">
              <a:buNone/>
            </a:pPr>
            <a:r>
              <a:rPr lang="fr-FR" sz="3000" dirty="0">
                <a:sym typeface="Wingdings" pitchFamily="2" charset="2"/>
              </a:rPr>
              <a:t>	</a:t>
            </a:r>
            <a:r>
              <a:rPr lang="fr-FR" sz="2400" noProof="0" dirty="0">
                <a:sym typeface="Wingdings" pitchFamily="2" charset="2"/>
              </a:rPr>
              <a:t></a:t>
            </a:r>
            <a:r>
              <a:rPr lang="fr-FR" sz="3000" noProof="0" dirty="0">
                <a:sym typeface="Wingdings" pitchFamily="2" charset="2"/>
              </a:rPr>
              <a:t> Maximum par mois = </a:t>
            </a:r>
            <a:r>
              <a:rPr lang="fr-FR" sz="3000" dirty="0">
                <a:sym typeface="Wingdings" pitchFamily="2" charset="2"/>
              </a:rPr>
              <a:t>1.296,36</a:t>
            </a:r>
            <a:r>
              <a:rPr lang="fr-FR" sz="3000" noProof="0" dirty="0">
                <a:sym typeface="Wingdings" pitchFamily="2" charset="2"/>
              </a:rPr>
              <a:t> €</a:t>
            </a:r>
          </a:p>
          <a:p>
            <a:pPr lvl="1">
              <a:buFont typeface="Wingdings" pitchFamily="2" charset="2"/>
              <a:buChar char="§"/>
            </a:pPr>
            <a:r>
              <a:rPr lang="fr-FR" sz="3000" b="1" dirty="0">
                <a:solidFill>
                  <a:srgbClr val="C00000"/>
                </a:solidFill>
                <a:sym typeface="Wingdings" pitchFamily="2" charset="2"/>
              </a:rPr>
              <a:t>BF</a:t>
            </a:r>
            <a:r>
              <a:rPr lang="fr-FR" sz="3000" dirty="0">
                <a:sym typeface="Wingdings" pitchFamily="2" charset="2"/>
              </a:rPr>
              <a:t> =  25,88 € / jour </a:t>
            </a:r>
          </a:p>
          <a:p>
            <a:pPr marL="457200" lvl="1" indent="0">
              <a:buNone/>
            </a:pPr>
            <a:r>
              <a:rPr lang="fr-FR" sz="3000" dirty="0">
                <a:sym typeface="Wingdings" pitchFamily="2" charset="2"/>
              </a:rPr>
              <a:t>	</a:t>
            </a:r>
            <a:r>
              <a:rPr lang="fr-FR" sz="2400" dirty="0">
                <a:sym typeface="Wingdings" pitchFamily="2" charset="2"/>
              </a:rPr>
              <a:t></a:t>
            </a:r>
            <a:r>
              <a:rPr lang="fr-FR" sz="3000" dirty="0">
                <a:sym typeface="Wingdings" pitchFamily="2" charset="2"/>
              </a:rPr>
              <a:t> Maximum par mois = 672,88 €</a:t>
            </a:r>
          </a:p>
          <a:p>
            <a:pPr marL="457200" lvl="1" indent="0" algn="r">
              <a:buNone/>
            </a:pPr>
            <a:r>
              <a:rPr lang="fr-FR" sz="1800" noProof="0" dirty="0">
                <a:sym typeface="Wingdings" pitchFamily="2" charset="2"/>
              </a:rPr>
              <a:t>(Barèmes 01.11.2022)</a:t>
            </a:r>
            <a:endParaRPr lang="fr-FR" sz="1800" noProof="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10</a:t>
            </a:fld>
            <a:endParaRPr lang="fr-FR"/>
          </a:p>
        </p:txBody>
      </p:sp>
    </p:spTree>
    <p:extLst>
      <p:ext uri="{BB962C8B-B14F-4D97-AF65-F5344CB8AC3E}">
        <p14:creationId xmlns:p14="http://schemas.microsoft.com/office/powerpoint/2010/main" val="244584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Evolution des périodes :</a:t>
            </a:r>
            <a:br>
              <a:rPr lang="fr-BE" b="1" i="1" dirty="0"/>
            </a:br>
            <a:r>
              <a:rPr lang="fr-BE" b="1" i="1" dirty="0">
                <a:cs typeface="Times New Roman" pitchFamily="18" charset="0"/>
              </a:rPr>
              <a:t>exemple</a:t>
            </a:r>
            <a:endParaRPr lang="fr-BE" dirty="0"/>
          </a:p>
        </p:txBody>
      </p:sp>
      <p:sp>
        <p:nvSpPr>
          <p:cNvPr id="3" name="Espace réservé du contenu 2"/>
          <p:cNvSpPr>
            <a:spLocks noGrp="1"/>
          </p:cNvSpPr>
          <p:nvPr>
            <p:ph idx="1"/>
          </p:nvPr>
        </p:nvSpPr>
        <p:spPr>
          <a:xfrm>
            <a:off x="395536" y="1598066"/>
            <a:ext cx="8229600" cy="4525963"/>
          </a:xfrm>
          <a:ln w="19050">
            <a:noFill/>
          </a:ln>
        </p:spPr>
        <p:txBody>
          <a:bodyPr>
            <a:noAutofit/>
          </a:bodyPr>
          <a:lstStyle/>
          <a:p>
            <a:pPr>
              <a:spcBef>
                <a:spcPts val="0"/>
              </a:spcBef>
              <a:buFont typeface="Wingdings" pitchFamily="2" charset="2"/>
              <a:buChar char="§"/>
            </a:pPr>
            <a:r>
              <a:rPr lang="fr-BE" sz="2400" dirty="0"/>
              <a:t>01/78.A</a:t>
            </a:r>
            <a:r>
              <a:rPr lang="fr-BE" sz="2400" b="1" dirty="0">
                <a:solidFill>
                  <a:srgbClr val="C00000"/>
                </a:solidFill>
              </a:rPr>
              <a:t>11</a:t>
            </a:r>
            <a:r>
              <a:rPr lang="fr-BE" sz="2400" dirty="0">
                <a:solidFill>
                  <a:srgbClr val="C00000"/>
                </a:solidFill>
              </a:rPr>
              <a:t>	</a:t>
            </a:r>
            <a:r>
              <a:rPr lang="fr-BE" sz="2400" dirty="0"/>
              <a:t>= 1</a:t>
            </a:r>
            <a:r>
              <a:rPr lang="fr-BE" sz="2400" baseline="30000" dirty="0"/>
              <a:t>er </a:t>
            </a:r>
            <a:r>
              <a:rPr lang="fr-BE" sz="2400" dirty="0"/>
              <a:t>période – phase 1 </a:t>
            </a:r>
          </a:p>
          <a:p>
            <a:pPr>
              <a:spcBef>
                <a:spcPts val="0"/>
              </a:spcBef>
              <a:buFont typeface="Wingdings" pitchFamily="2" charset="2"/>
              <a:buChar char="§"/>
            </a:pPr>
            <a:r>
              <a:rPr lang="fr-BE" sz="2400" dirty="0"/>
              <a:t>01/78.A</a:t>
            </a:r>
            <a:r>
              <a:rPr lang="fr-BE" sz="2400" b="1" dirty="0">
                <a:solidFill>
                  <a:srgbClr val="C00000"/>
                </a:solidFill>
              </a:rPr>
              <a:t>12</a:t>
            </a:r>
            <a:r>
              <a:rPr lang="fr-BE" sz="2400" dirty="0">
                <a:solidFill>
                  <a:srgbClr val="C00000"/>
                </a:solidFill>
              </a:rPr>
              <a:t>	</a:t>
            </a:r>
            <a:r>
              <a:rPr lang="fr-BE" sz="2400" dirty="0"/>
              <a:t>= 1</a:t>
            </a:r>
            <a:r>
              <a:rPr lang="fr-BE" sz="2400" baseline="30000" dirty="0"/>
              <a:t>er </a:t>
            </a:r>
            <a:r>
              <a:rPr lang="fr-BE" sz="2400" dirty="0"/>
              <a:t>période – phase 2</a:t>
            </a:r>
          </a:p>
          <a:p>
            <a:pPr>
              <a:spcBef>
                <a:spcPts val="0"/>
              </a:spcBef>
              <a:buFont typeface="Wingdings" pitchFamily="2" charset="2"/>
              <a:buChar char="§"/>
            </a:pPr>
            <a:r>
              <a:rPr lang="fr-BE" sz="2400" dirty="0"/>
              <a:t>01/78.A</a:t>
            </a:r>
            <a:r>
              <a:rPr lang="fr-BE" sz="2400" b="1" dirty="0">
                <a:solidFill>
                  <a:srgbClr val="C00000"/>
                </a:solidFill>
              </a:rPr>
              <a:t>13</a:t>
            </a:r>
            <a:r>
              <a:rPr lang="fr-BE" sz="2400" dirty="0">
                <a:solidFill>
                  <a:srgbClr val="C00000"/>
                </a:solidFill>
              </a:rPr>
              <a:t>	</a:t>
            </a:r>
            <a:r>
              <a:rPr lang="fr-BE" sz="2400" dirty="0"/>
              <a:t>= 1</a:t>
            </a:r>
            <a:r>
              <a:rPr lang="fr-BE" sz="2400" baseline="30000" dirty="0"/>
              <a:t>er </a:t>
            </a:r>
            <a:r>
              <a:rPr lang="fr-BE" sz="2400" dirty="0"/>
              <a:t>période – phase 3</a:t>
            </a:r>
          </a:p>
          <a:p>
            <a:pPr>
              <a:spcBef>
                <a:spcPts val="0"/>
              </a:spcBef>
              <a:buFont typeface="Wingdings" pitchFamily="2" charset="2"/>
              <a:buChar char="§"/>
            </a:pPr>
            <a:r>
              <a:rPr lang="fr-BE" sz="2400" dirty="0"/>
              <a:t>01/78.A</a:t>
            </a:r>
            <a:r>
              <a:rPr lang="fr-BE" sz="2400" b="1" dirty="0">
                <a:solidFill>
                  <a:srgbClr val="C00000"/>
                </a:solidFill>
              </a:rPr>
              <a:t>2A</a:t>
            </a:r>
            <a:r>
              <a:rPr lang="fr-BE" sz="2400" dirty="0">
                <a:solidFill>
                  <a:srgbClr val="C00000"/>
                </a:solidFill>
              </a:rPr>
              <a:t>	</a:t>
            </a:r>
            <a:r>
              <a:rPr lang="fr-BE" sz="2400" dirty="0"/>
              <a:t>= 2</a:t>
            </a:r>
            <a:r>
              <a:rPr lang="fr-BE" sz="2400" baseline="30000" dirty="0"/>
              <a:t>ème</a:t>
            </a:r>
            <a:r>
              <a:rPr lang="fr-BE" sz="2400" dirty="0"/>
              <a:t> période – phase 1 </a:t>
            </a:r>
          </a:p>
          <a:p>
            <a:pPr>
              <a:spcBef>
                <a:spcPts val="0"/>
              </a:spcBef>
              <a:buFont typeface="Wingdings" pitchFamily="2" charset="2"/>
              <a:buChar char="§"/>
            </a:pPr>
            <a:r>
              <a:rPr lang="fr-BE" sz="2400" dirty="0"/>
              <a:t>01/78.A</a:t>
            </a:r>
            <a:r>
              <a:rPr lang="fr-BE" sz="2400" b="1" dirty="0">
                <a:solidFill>
                  <a:srgbClr val="C00000"/>
                </a:solidFill>
              </a:rPr>
              <a:t>2B</a:t>
            </a:r>
            <a:r>
              <a:rPr lang="fr-BE" sz="2400" dirty="0">
                <a:solidFill>
                  <a:srgbClr val="C00000"/>
                </a:solidFill>
              </a:rPr>
              <a:t>	</a:t>
            </a:r>
            <a:r>
              <a:rPr lang="fr-BE" sz="2400" dirty="0"/>
              <a:t>= 2</a:t>
            </a:r>
            <a:r>
              <a:rPr lang="fr-BE" sz="2400" baseline="30000" dirty="0"/>
              <a:t>ème </a:t>
            </a:r>
            <a:r>
              <a:rPr lang="fr-BE" sz="2400" dirty="0"/>
              <a:t>période – phase 2.0</a:t>
            </a:r>
          </a:p>
          <a:p>
            <a:pPr>
              <a:spcBef>
                <a:spcPts val="0"/>
              </a:spcBef>
              <a:buFont typeface="Wingdings" pitchFamily="2" charset="2"/>
              <a:buChar char="§"/>
            </a:pPr>
            <a:r>
              <a:rPr lang="fr-BE" sz="2400" dirty="0"/>
              <a:t>01/78.A</a:t>
            </a:r>
            <a:r>
              <a:rPr lang="fr-BE" sz="2400" b="1" dirty="0">
                <a:solidFill>
                  <a:srgbClr val="C00000"/>
                </a:solidFill>
              </a:rPr>
              <a:t>21</a:t>
            </a:r>
            <a:r>
              <a:rPr lang="fr-BE" sz="2400" dirty="0">
                <a:solidFill>
                  <a:srgbClr val="C00000"/>
                </a:solidFill>
              </a:rPr>
              <a:t>	</a:t>
            </a:r>
            <a:r>
              <a:rPr lang="fr-BE" sz="2400" dirty="0"/>
              <a:t>= 2</a:t>
            </a:r>
            <a:r>
              <a:rPr lang="fr-BE" sz="2400" baseline="30000" dirty="0"/>
              <a:t>ème  </a:t>
            </a:r>
            <a:r>
              <a:rPr lang="fr-BE" sz="2400" dirty="0"/>
              <a:t>période – 1</a:t>
            </a:r>
            <a:r>
              <a:rPr lang="fr-BE" sz="2400" baseline="30000" dirty="0"/>
              <a:t>ère</a:t>
            </a:r>
            <a:r>
              <a:rPr lang="fr-BE" sz="2400" dirty="0"/>
              <a:t> phase intermédiaire   </a:t>
            </a:r>
          </a:p>
          <a:p>
            <a:pPr>
              <a:spcBef>
                <a:spcPts val="0"/>
              </a:spcBef>
              <a:buFont typeface="Wingdings" pitchFamily="2" charset="2"/>
              <a:buChar char="§"/>
            </a:pPr>
            <a:r>
              <a:rPr lang="fr-BE" sz="2400" dirty="0"/>
              <a:t>01/78.A</a:t>
            </a:r>
            <a:r>
              <a:rPr lang="fr-BE" sz="2400" b="1" dirty="0">
                <a:solidFill>
                  <a:srgbClr val="C00000"/>
                </a:solidFill>
              </a:rPr>
              <a:t>22</a:t>
            </a:r>
            <a:r>
              <a:rPr lang="fr-BE" sz="2400" dirty="0">
                <a:solidFill>
                  <a:srgbClr val="C00000"/>
                </a:solidFill>
              </a:rPr>
              <a:t>	</a:t>
            </a:r>
            <a:r>
              <a:rPr lang="fr-BE" sz="2400" dirty="0"/>
              <a:t>= 2</a:t>
            </a:r>
            <a:r>
              <a:rPr lang="fr-BE" sz="2400" baseline="30000" dirty="0"/>
              <a:t>ème  </a:t>
            </a:r>
            <a:r>
              <a:rPr lang="fr-BE" sz="2400" dirty="0"/>
              <a:t>période – 2</a:t>
            </a:r>
            <a:r>
              <a:rPr lang="fr-BE" sz="2400" baseline="30000" dirty="0"/>
              <a:t>ème</a:t>
            </a:r>
            <a:r>
              <a:rPr lang="fr-BE" sz="2400" dirty="0"/>
              <a:t> phase intermédiaire </a:t>
            </a:r>
          </a:p>
          <a:p>
            <a:pPr>
              <a:spcBef>
                <a:spcPts val="0"/>
              </a:spcBef>
              <a:buFont typeface="Wingdings" pitchFamily="2" charset="2"/>
              <a:buChar char="§"/>
            </a:pPr>
            <a:r>
              <a:rPr lang="fr-BE" sz="2400" dirty="0"/>
              <a:t>01/78.A</a:t>
            </a:r>
            <a:r>
              <a:rPr lang="fr-BE" sz="2400" b="1" dirty="0">
                <a:solidFill>
                  <a:srgbClr val="C00000"/>
                </a:solidFill>
              </a:rPr>
              <a:t>23</a:t>
            </a:r>
            <a:r>
              <a:rPr lang="fr-BE" sz="2400" dirty="0">
                <a:solidFill>
                  <a:srgbClr val="C00000"/>
                </a:solidFill>
              </a:rPr>
              <a:t>	</a:t>
            </a:r>
            <a:r>
              <a:rPr lang="fr-BE" sz="2400" dirty="0"/>
              <a:t>= 2</a:t>
            </a:r>
            <a:r>
              <a:rPr lang="fr-BE" sz="2400" baseline="30000" dirty="0"/>
              <a:t>ème  </a:t>
            </a:r>
            <a:r>
              <a:rPr lang="fr-BE" sz="2400" dirty="0"/>
              <a:t>période – 3</a:t>
            </a:r>
            <a:r>
              <a:rPr lang="fr-BE" sz="2400" baseline="30000" dirty="0"/>
              <a:t>ème</a:t>
            </a:r>
            <a:r>
              <a:rPr lang="fr-BE" sz="2400" dirty="0"/>
              <a:t> phase intermédiaire </a:t>
            </a:r>
          </a:p>
          <a:p>
            <a:pPr>
              <a:spcBef>
                <a:spcPts val="0"/>
              </a:spcBef>
              <a:buFont typeface="Wingdings" pitchFamily="2" charset="2"/>
              <a:buChar char="§"/>
            </a:pPr>
            <a:r>
              <a:rPr lang="fr-BE" sz="2400" dirty="0"/>
              <a:t>01/78.A</a:t>
            </a:r>
            <a:r>
              <a:rPr lang="fr-BE" sz="2400" b="1" dirty="0">
                <a:solidFill>
                  <a:srgbClr val="C00000"/>
                </a:solidFill>
              </a:rPr>
              <a:t>24</a:t>
            </a:r>
            <a:r>
              <a:rPr lang="fr-BE" sz="2400" dirty="0">
                <a:solidFill>
                  <a:srgbClr val="C00000"/>
                </a:solidFill>
              </a:rPr>
              <a:t>	</a:t>
            </a:r>
            <a:r>
              <a:rPr lang="fr-BE" sz="2400" dirty="0"/>
              <a:t>= 2</a:t>
            </a:r>
            <a:r>
              <a:rPr lang="fr-BE" sz="2400" baseline="30000" dirty="0"/>
              <a:t>ème  </a:t>
            </a:r>
            <a:r>
              <a:rPr lang="fr-BE" sz="2400" dirty="0"/>
              <a:t>période – 4</a:t>
            </a:r>
            <a:r>
              <a:rPr lang="fr-BE" sz="2400" baseline="30000" dirty="0"/>
              <a:t>ème</a:t>
            </a:r>
            <a:r>
              <a:rPr lang="fr-BE" sz="2400" dirty="0"/>
              <a:t> phase intermédiaire </a:t>
            </a:r>
          </a:p>
          <a:p>
            <a:pPr>
              <a:spcBef>
                <a:spcPts val="0"/>
              </a:spcBef>
              <a:buFont typeface="Wingdings" pitchFamily="2" charset="2"/>
              <a:buChar char="§"/>
            </a:pPr>
            <a:r>
              <a:rPr lang="fr-BE" sz="2400" dirty="0"/>
              <a:t>01/78.A</a:t>
            </a:r>
            <a:r>
              <a:rPr lang="fr-BE" sz="2400" b="1" dirty="0">
                <a:solidFill>
                  <a:srgbClr val="C00000"/>
                </a:solidFill>
              </a:rPr>
              <a:t>F</a:t>
            </a:r>
            <a:r>
              <a:rPr lang="fr-BE" sz="2400" dirty="0"/>
              <a:t>   	= 3</a:t>
            </a:r>
            <a:r>
              <a:rPr lang="fr-BE" sz="2400" baseline="30000" dirty="0"/>
              <a:t>ème</a:t>
            </a:r>
            <a:r>
              <a:rPr lang="fr-BE" sz="2400" dirty="0"/>
              <a:t> période – phase forfaitaire</a:t>
            </a:r>
            <a:endParaRPr lang="fr-BE" sz="2400" dirty="0">
              <a:solidFill>
                <a:srgbClr val="C00000"/>
              </a:solidFill>
            </a:endParaRPr>
          </a:p>
        </p:txBody>
      </p:sp>
      <p:sp>
        <p:nvSpPr>
          <p:cNvPr id="6" name="Accolade fermante 5"/>
          <p:cNvSpPr/>
          <p:nvPr/>
        </p:nvSpPr>
        <p:spPr>
          <a:xfrm>
            <a:off x="7308304" y="3140968"/>
            <a:ext cx="600613" cy="1822666"/>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p>
        </p:txBody>
      </p:sp>
      <p:sp>
        <p:nvSpPr>
          <p:cNvPr id="7" name="Accolade fermante 6"/>
          <p:cNvSpPr/>
          <p:nvPr/>
        </p:nvSpPr>
        <p:spPr>
          <a:xfrm>
            <a:off x="6995723" y="4963634"/>
            <a:ext cx="144016" cy="360040"/>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p>
        </p:txBody>
      </p:sp>
      <p:sp>
        <p:nvSpPr>
          <p:cNvPr id="8" name="Espace réservé du numéro de diapositive 7"/>
          <p:cNvSpPr>
            <a:spLocks noGrp="1"/>
          </p:cNvSpPr>
          <p:nvPr>
            <p:ph type="sldNum" sz="quarter" idx="12"/>
          </p:nvPr>
        </p:nvSpPr>
        <p:spPr/>
        <p:txBody>
          <a:bodyPr/>
          <a:lstStyle/>
          <a:p>
            <a:fld id="{55E9056B-6A30-4F99-BDE9-C450E66AE125}" type="slidenum">
              <a:rPr lang="fr-FR" smtClean="0"/>
              <a:pPr/>
              <a:t>11</a:t>
            </a:fld>
            <a:endParaRPr lang="fr-FR"/>
          </a:p>
        </p:txBody>
      </p:sp>
      <p:sp>
        <p:nvSpPr>
          <p:cNvPr id="4" name="Rectangle 3"/>
          <p:cNvSpPr/>
          <p:nvPr/>
        </p:nvSpPr>
        <p:spPr>
          <a:xfrm>
            <a:off x="5853859" y="1915702"/>
            <a:ext cx="161935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Max. 14 mois</a:t>
            </a:r>
          </a:p>
        </p:txBody>
      </p:sp>
      <p:sp>
        <p:nvSpPr>
          <p:cNvPr id="9" name="Rectangle 8"/>
          <p:cNvSpPr/>
          <p:nvPr/>
        </p:nvSpPr>
        <p:spPr>
          <a:xfrm>
            <a:off x="7863021" y="3502768"/>
            <a:ext cx="1335436" cy="1067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600" dirty="0">
                <a:solidFill>
                  <a:schemeClr val="tx1"/>
                </a:solidFill>
              </a:rPr>
              <a:t>2 mois/année de PP ; Max. 34 mois</a:t>
            </a:r>
          </a:p>
        </p:txBody>
      </p:sp>
      <p:sp>
        <p:nvSpPr>
          <p:cNvPr id="10" name="Rectangle 9"/>
          <p:cNvSpPr/>
          <p:nvPr/>
        </p:nvSpPr>
        <p:spPr>
          <a:xfrm>
            <a:off x="6942103" y="4686454"/>
            <a:ext cx="161935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dirty="0">
                <a:solidFill>
                  <a:schemeClr val="tx1"/>
                </a:solidFill>
              </a:rPr>
              <a:t>Illimité</a:t>
            </a:r>
          </a:p>
        </p:txBody>
      </p:sp>
      <p:sp>
        <p:nvSpPr>
          <p:cNvPr id="11" name="Accolade fermante 10"/>
          <p:cNvSpPr/>
          <p:nvPr/>
        </p:nvSpPr>
        <p:spPr>
          <a:xfrm>
            <a:off x="5418151" y="1598066"/>
            <a:ext cx="600613" cy="1542902"/>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p>
        </p:txBody>
      </p:sp>
    </p:spTree>
    <p:extLst>
      <p:ext uri="{BB962C8B-B14F-4D97-AF65-F5344CB8AC3E}">
        <p14:creationId xmlns:p14="http://schemas.microsoft.com/office/powerpoint/2010/main" val="3516415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1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1000"/>
                                        <p:tgtEl>
                                          <p:spTgt spid="1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fade">
                                      <p:cBhvr>
                                        <p:cTn id="60" dur="1000"/>
                                        <p:tgtEl>
                                          <p:spTgt spid="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fade">
                                      <p:cBhvr>
                                        <p:cTn id="65" dur="1000"/>
                                        <p:tgtEl>
                                          <p:spTgt spid="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fade">
                                      <p:cBhvr>
                                        <p:cTn id="68" dur="10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7"/>
                                        </p:tgtEl>
                                        <p:attrNameLst>
                                          <p:attrName>style.visibility</p:attrName>
                                        </p:attrNameLst>
                                      </p:cBhvr>
                                      <p:to>
                                        <p:strVal val="visible"/>
                                      </p:to>
                                    </p:set>
                                    <p:animEffect transition="in" filter="fade">
                                      <p:cBhvr>
                                        <p:cTn id="73" dur="1000"/>
                                        <p:tgtEl>
                                          <p:spTgt spid="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4" grpId="0"/>
      <p:bldP spid="9" grpId="0"/>
      <p:bldP spid="10" grpId="0"/>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p:cNvSpPr>
            <a:spLocks noGrp="1"/>
          </p:cNvSpPr>
          <p:nvPr>
            <p:ph type="sldNum" sz="quarter" idx="12"/>
          </p:nvPr>
        </p:nvSpPr>
        <p:spPr/>
        <p:txBody>
          <a:bodyPr/>
          <a:lstStyle/>
          <a:p>
            <a:fld id="{55E9056B-6A30-4F99-BDE9-C450E66AE125}" type="slidenum">
              <a:rPr lang="fr-FR" smtClean="0"/>
              <a:pPr/>
              <a:t>12</a:t>
            </a:fld>
            <a:endParaRPr lang="fr-FR"/>
          </a:p>
        </p:txBody>
      </p:sp>
      <p:grpSp>
        <p:nvGrpSpPr>
          <p:cNvPr id="2" name="Group 4">
            <a:extLst>
              <a:ext uri="{FF2B5EF4-FFF2-40B4-BE49-F238E27FC236}">
                <a16:creationId xmlns:a16="http://schemas.microsoft.com/office/drawing/2014/main" id="{53678F18-CCF6-43CC-8040-7C5B1D6E20DD}"/>
              </a:ext>
            </a:extLst>
          </p:cNvPr>
          <p:cNvGrpSpPr>
            <a:grpSpLocks noChangeAspect="1"/>
          </p:cNvGrpSpPr>
          <p:nvPr/>
        </p:nvGrpSpPr>
        <p:grpSpPr bwMode="auto">
          <a:xfrm>
            <a:off x="1252538" y="-4762"/>
            <a:ext cx="6794500" cy="6877050"/>
            <a:chOff x="789" y="-3"/>
            <a:chExt cx="4280" cy="4332"/>
          </a:xfrm>
        </p:grpSpPr>
        <p:sp>
          <p:nvSpPr>
            <p:cNvPr id="4" name="AutoShape 3">
              <a:extLst>
                <a:ext uri="{FF2B5EF4-FFF2-40B4-BE49-F238E27FC236}">
                  <a16:creationId xmlns:a16="http://schemas.microsoft.com/office/drawing/2014/main" id="{1A30AC61-83B1-4386-B5E7-22AC019D48CA}"/>
                </a:ext>
              </a:extLst>
            </p:cNvPr>
            <p:cNvSpPr>
              <a:spLocks noChangeAspect="1" noChangeArrowheads="1" noTextEdit="1"/>
            </p:cNvSpPr>
            <p:nvPr/>
          </p:nvSpPr>
          <p:spPr bwMode="auto">
            <a:xfrm>
              <a:off x="795" y="3"/>
              <a:ext cx="4170"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grpSp>
          <p:nvGrpSpPr>
            <p:cNvPr id="5" name="Group 205">
              <a:extLst>
                <a:ext uri="{FF2B5EF4-FFF2-40B4-BE49-F238E27FC236}">
                  <a16:creationId xmlns:a16="http://schemas.microsoft.com/office/drawing/2014/main" id="{915A567E-3158-420A-A673-2CC6C886831D}"/>
                </a:ext>
              </a:extLst>
            </p:cNvPr>
            <p:cNvGrpSpPr>
              <a:grpSpLocks/>
            </p:cNvGrpSpPr>
            <p:nvPr/>
          </p:nvGrpSpPr>
          <p:grpSpPr bwMode="auto">
            <a:xfrm>
              <a:off x="789" y="-3"/>
              <a:ext cx="4280" cy="4332"/>
              <a:chOff x="789" y="-3"/>
              <a:chExt cx="4280" cy="4332"/>
            </a:xfrm>
          </p:grpSpPr>
          <p:sp>
            <p:nvSpPr>
              <p:cNvPr id="27" name="Rectangle 5">
                <a:extLst>
                  <a:ext uri="{FF2B5EF4-FFF2-40B4-BE49-F238E27FC236}">
                    <a16:creationId xmlns:a16="http://schemas.microsoft.com/office/drawing/2014/main" id="{A68FF39C-0776-4AEA-9224-2D70077A488A}"/>
                  </a:ext>
                </a:extLst>
              </p:cNvPr>
              <p:cNvSpPr>
                <a:spLocks noChangeArrowheads="1"/>
              </p:cNvSpPr>
              <p:nvPr/>
            </p:nvSpPr>
            <p:spPr bwMode="auto">
              <a:xfrm>
                <a:off x="795" y="3"/>
                <a:ext cx="4170" cy="46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8" name="Rectangle 6">
                <a:extLst>
                  <a:ext uri="{FF2B5EF4-FFF2-40B4-BE49-F238E27FC236}">
                    <a16:creationId xmlns:a16="http://schemas.microsoft.com/office/drawing/2014/main" id="{2895EC32-C0FA-49A5-BBE1-63C4A628C1F9}"/>
                  </a:ext>
                </a:extLst>
              </p:cNvPr>
              <p:cNvSpPr>
                <a:spLocks noChangeArrowheads="1"/>
              </p:cNvSpPr>
              <p:nvPr/>
            </p:nvSpPr>
            <p:spPr bwMode="auto">
              <a:xfrm>
                <a:off x="795" y="466"/>
                <a:ext cx="4170" cy="1046"/>
              </a:xfrm>
              <a:prstGeom prst="rect">
                <a:avLst/>
              </a:prstGeom>
              <a:solidFill>
                <a:srgbClr val="D8E4B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9" name="Rectangle 7">
                <a:extLst>
                  <a:ext uri="{FF2B5EF4-FFF2-40B4-BE49-F238E27FC236}">
                    <a16:creationId xmlns:a16="http://schemas.microsoft.com/office/drawing/2014/main" id="{DFA3F368-4BE4-4C9B-AA71-8825407333DB}"/>
                  </a:ext>
                </a:extLst>
              </p:cNvPr>
              <p:cNvSpPr>
                <a:spLocks noChangeArrowheads="1"/>
              </p:cNvSpPr>
              <p:nvPr/>
            </p:nvSpPr>
            <p:spPr bwMode="auto">
              <a:xfrm>
                <a:off x="795" y="1507"/>
                <a:ext cx="4170" cy="2122"/>
              </a:xfrm>
              <a:prstGeom prst="rect">
                <a:avLst/>
              </a:prstGeom>
              <a:solidFill>
                <a:srgbClr val="EBF1D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30" name="Rectangle 8">
                <a:extLst>
                  <a:ext uri="{FF2B5EF4-FFF2-40B4-BE49-F238E27FC236}">
                    <a16:creationId xmlns:a16="http://schemas.microsoft.com/office/drawing/2014/main" id="{D6F6B7CD-19F1-45EB-977E-7E3551F6A78C}"/>
                  </a:ext>
                </a:extLst>
              </p:cNvPr>
              <p:cNvSpPr>
                <a:spLocks noChangeArrowheads="1"/>
              </p:cNvSpPr>
              <p:nvPr/>
            </p:nvSpPr>
            <p:spPr bwMode="auto">
              <a:xfrm>
                <a:off x="795" y="3623"/>
                <a:ext cx="4170" cy="700"/>
              </a:xfrm>
              <a:prstGeom prst="rect">
                <a:avLst/>
              </a:prstGeom>
              <a:solidFill>
                <a:srgbClr val="DAEE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31" name="Rectangle 9">
                <a:extLst>
                  <a:ext uri="{FF2B5EF4-FFF2-40B4-BE49-F238E27FC236}">
                    <a16:creationId xmlns:a16="http://schemas.microsoft.com/office/drawing/2014/main" id="{9CC50F4C-EB50-4ED9-9E60-62C3F3431942}"/>
                  </a:ext>
                </a:extLst>
              </p:cNvPr>
              <p:cNvSpPr>
                <a:spLocks noChangeArrowheads="1"/>
              </p:cNvSpPr>
              <p:nvPr/>
            </p:nvSpPr>
            <p:spPr bwMode="auto">
              <a:xfrm>
                <a:off x="1483" y="576"/>
                <a:ext cx="405"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2" name="Rectangle 10">
                <a:extLst>
                  <a:ext uri="{FF2B5EF4-FFF2-40B4-BE49-F238E27FC236}">
                    <a16:creationId xmlns:a16="http://schemas.microsoft.com/office/drawing/2014/main" id="{57321E04-5528-4ADF-9FDE-3027E3238C2D}"/>
                  </a:ext>
                </a:extLst>
              </p:cNvPr>
              <p:cNvSpPr>
                <a:spLocks noChangeArrowheads="1"/>
              </p:cNvSpPr>
              <p:nvPr/>
            </p:nvSpPr>
            <p:spPr bwMode="auto">
              <a:xfrm>
                <a:off x="2154" y="576"/>
                <a:ext cx="35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3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3" name="Rectangle 11">
                <a:extLst>
                  <a:ext uri="{FF2B5EF4-FFF2-40B4-BE49-F238E27FC236}">
                    <a16:creationId xmlns:a16="http://schemas.microsoft.com/office/drawing/2014/main" id="{78ECE551-3125-438F-B2C0-7D4046A40C86}"/>
                  </a:ext>
                </a:extLst>
              </p:cNvPr>
              <p:cNvSpPr>
                <a:spLocks noChangeArrowheads="1"/>
              </p:cNvSpPr>
              <p:nvPr/>
            </p:nvSpPr>
            <p:spPr bwMode="auto">
              <a:xfrm>
                <a:off x="2663" y="500"/>
                <a:ext cx="717"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4" name="Rectangle 12">
                <a:extLst>
                  <a:ext uri="{FF2B5EF4-FFF2-40B4-BE49-F238E27FC236}">
                    <a16:creationId xmlns:a16="http://schemas.microsoft.com/office/drawing/2014/main" id="{F31FEB01-6B80-491A-BBF3-E4CF97C184D7}"/>
                  </a:ext>
                </a:extLst>
              </p:cNvPr>
              <p:cNvSpPr>
                <a:spLocks noChangeArrowheads="1"/>
              </p:cNvSpPr>
              <p:nvPr/>
            </p:nvSpPr>
            <p:spPr bwMode="auto">
              <a:xfrm>
                <a:off x="2663" y="599"/>
                <a:ext cx="37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5" name="Rectangle 13">
                <a:extLst>
                  <a:ext uri="{FF2B5EF4-FFF2-40B4-BE49-F238E27FC236}">
                    <a16:creationId xmlns:a16="http://schemas.microsoft.com/office/drawing/2014/main" id="{87ADDDB4-C330-438A-B5B4-B96CB72D9255}"/>
                  </a:ext>
                </a:extLst>
              </p:cNvPr>
              <p:cNvSpPr>
                <a:spLocks noChangeArrowheads="1"/>
              </p:cNvSpPr>
              <p:nvPr/>
            </p:nvSpPr>
            <p:spPr bwMode="auto">
              <a:xfrm>
                <a:off x="2663" y="697"/>
                <a:ext cx="40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6" name="Rectangle 14">
                <a:extLst>
                  <a:ext uri="{FF2B5EF4-FFF2-40B4-BE49-F238E27FC236}">
                    <a16:creationId xmlns:a16="http://schemas.microsoft.com/office/drawing/2014/main" id="{910B8F30-1C6F-4E15-BCA0-1534D16CF39A}"/>
                  </a:ext>
                </a:extLst>
              </p:cNvPr>
              <p:cNvSpPr>
                <a:spLocks noChangeArrowheads="1"/>
              </p:cNvSpPr>
              <p:nvPr/>
            </p:nvSpPr>
            <p:spPr bwMode="auto">
              <a:xfrm>
                <a:off x="4427" y="529"/>
                <a:ext cx="5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fr-FR" altLang="fr-FR" sz="1400" i="1" dirty="0">
                    <a:solidFill>
                      <a:srgbClr val="000000"/>
                    </a:solidFill>
                    <a:latin typeface="Calibri" panose="020F0502020204030204" pitchFamily="34" charset="0"/>
                  </a:rPr>
                  <a:t>2038</a:t>
                </a:r>
                <a:r>
                  <a:rPr kumimoji="0" lang="fr-FR" altLang="fr-FR" sz="1400" b="0" i="1" u="none" strike="noStrike" cap="none" normalizeH="0" baseline="0" dirty="0">
                    <a:ln>
                      <a:noFill/>
                    </a:ln>
                    <a:solidFill>
                      <a:srgbClr val="000000"/>
                    </a:solidFill>
                    <a:effectLst/>
                    <a:latin typeface="Calibri" panose="020F0502020204030204" pitchFamily="34" charset="0"/>
                  </a:rPr>
                  <a:t>,66 €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7" name="Rectangle 15">
                <a:extLst>
                  <a:ext uri="{FF2B5EF4-FFF2-40B4-BE49-F238E27FC236}">
                    <a16:creationId xmlns:a16="http://schemas.microsoft.com/office/drawing/2014/main" id="{76BF653D-37A8-4C97-92FA-5CE51A636266}"/>
                  </a:ext>
                </a:extLst>
              </p:cNvPr>
              <p:cNvSpPr>
                <a:spLocks noChangeArrowheads="1"/>
              </p:cNvSpPr>
              <p:nvPr/>
            </p:nvSpPr>
            <p:spPr bwMode="auto">
              <a:xfrm>
                <a:off x="4537" y="674"/>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(78,41 €)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8" name="Rectangle 16">
                <a:extLst>
                  <a:ext uri="{FF2B5EF4-FFF2-40B4-BE49-F238E27FC236}">
                    <a16:creationId xmlns:a16="http://schemas.microsoft.com/office/drawing/2014/main" id="{50E6C0B5-3B59-4637-B20E-594DEA3BC200}"/>
                  </a:ext>
                </a:extLst>
              </p:cNvPr>
              <p:cNvSpPr>
                <a:spLocks noChangeArrowheads="1"/>
              </p:cNvSpPr>
              <p:nvPr/>
            </p:nvSpPr>
            <p:spPr bwMode="auto">
              <a:xfrm>
                <a:off x="1483" y="923"/>
                <a:ext cx="405"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9" name="Rectangle 17">
                <a:extLst>
                  <a:ext uri="{FF2B5EF4-FFF2-40B4-BE49-F238E27FC236}">
                    <a16:creationId xmlns:a16="http://schemas.microsoft.com/office/drawing/2014/main" id="{89E875CA-2C5F-4250-B416-74ED2CCC6995}"/>
                  </a:ext>
                </a:extLst>
              </p:cNvPr>
              <p:cNvSpPr>
                <a:spLocks noChangeArrowheads="1"/>
              </p:cNvSpPr>
              <p:nvPr/>
            </p:nvSpPr>
            <p:spPr bwMode="auto">
              <a:xfrm>
                <a:off x="2154" y="923"/>
                <a:ext cx="35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3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0" name="Rectangle 18">
                <a:extLst>
                  <a:ext uri="{FF2B5EF4-FFF2-40B4-BE49-F238E27FC236}">
                    <a16:creationId xmlns:a16="http://schemas.microsoft.com/office/drawing/2014/main" id="{765EDC3B-199A-4A2A-81C1-305D7A24E34A}"/>
                  </a:ext>
                </a:extLst>
              </p:cNvPr>
              <p:cNvSpPr>
                <a:spLocks noChangeArrowheads="1"/>
              </p:cNvSpPr>
              <p:nvPr/>
            </p:nvSpPr>
            <p:spPr bwMode="auto">
              <a:xfrm>
                <a:off x="2663" y="847"/>
                <a:ext cx="717"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1" name="Rectangle 19">
                <a:extLst>
                  <a:ext uri="{FF2B5EF4-FFF2-40B4-BE49-F238E27FC236}">
                    <a16:creationId xmlns:a16="http://schemas.microsoft.com/office/drawing/2014/main" id="{D85C727A-E4CE-4166-AA38-D0328C6F2646}"/>
                  </a:ext>
                </a:extLst>
              </p:cNvPr>
              <p:cNvSpPr>
                <a:spLocks noChangeArrowheads="1"/>
              </p:cNvSpPr>
              <p:nvPr/>
            </p:nvSpPr>
            <p:spPr bwMode="auto">
              <a:xfrm>
                <a:off x="2663" y="946"/>
                <a:ext cx="37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2" name="Rectangle 20">
                <a:extLst>
                  <a:ext uri="{FF2B5EF4-FFF2-40B4-BE49-F238E27FC236}">
                    <a16:creationId xmlns:a16="http://schemas.microsoft.com/office/drawing/2014/main" id="{997387CB-C6C5-40AA-A2CE-4F53FA714C31}"/>
                  </a:ext>
                </a:extLst>
              </p:cNvPr>
              <p:cNvSpPr>
                <a:spLocks noChangeArrowheads="1"/>
              </p:cNvSpPr>
              <p:nvPr/>
            </p:nvSpPr>
            <p:spPr bwMode="auto">
              <a:xfrm>
                <a:off x="2663" y="1044"/>
                <a:ext cx="40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3" name="Rectangle 21">
                <a:extLst>
                  <a:ext uri="{FF2B5EF4-FFF2-40B4-BE49-F238E27FC236}">
                    <a16:creationId xmlns:a16="http://schemas.microsoft.com/office/drawing/2014/main" id="{8AB42815-4DE8-4085-B405-5B34825291F3}"/>
                  </a:ext>
                </a:extLst>
              </p:cNvPr>
              <p:cNvSpPr>
                <a:spLocks noChangeArrowheads="1"/>
              </p:cNvSpPr>
              <p:nvPr/>
            </p:nvSpPr>
            <p:spPr bwMode="auto">
              <a:xfrm>
                <a:off x="4433" y="876"/>
                <a:ext cx="53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dirty="0">
                    <a:ln>
                      <a:noFill/>
                    </a:ln>
                    <a:solidFill>
                      <a:srgbClr val="000000"/>
                    </a:solidFill>
                    <a:effectLst/>
                    <a:latin typeface="Calibri" panose="020F0502020204030204" pitchFamily="34" charset="0"/>
                  </a:rPr>
                  <a:t>1881,88 €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4" name="Rectangle 22">
                <a:extLst>
                  <a:ext uri="{FF2B5EF4-FFF2-40B4-BE49-F238E27FC236}">
                    <a16:creationId xmlns:a16="http://schemas.microsoft.com/office/drawing/2014/main" id="{66344509-8FA0-4B4E-B7C4-2D9A2A59BF7E}"/>
                  </a:ext>
                </a:extLst>
              </p:cNvPr>
              <p:cNvSpPr>
                <a:spLocks noChangeArrowheads="1"/>
              </p:cNvSpPr>
              <p:nvPr/>
            </p:nvSpPr>
            <p:spPr bwMode="auto">
              <a:xfrm>
                <a:off x="4537" y="1021"/>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a:t>
                </a:r>
                <a:r>
                  <a:rPr lang="fr-FR" altLang="fr-FR" sz="900" b="1" i="1" dirty="0">
                    <a:solidFill>
                      <a:srgbClr val="000000"/>
                    </a:solidFill>
                    <a:latin typeface="Calibri" panose="020F0502020204030204" pitchFamily="34" charset="0"/>
                  </a:rPr>
                  <a:t>72</a:t>
                </a:r>
                <a:r>
                  <a:rPr kumimoji="0" lang="fr-FR" altLang="fr-FR" sz="900" b="1" i="1" u="none" strike="noStrike" cap="none" normalizeH="0" baseline="0" dirty="0">
                    <a:ln>
                      <a:noFill/>
                    </a:ln>
                    <a:solidFill>
                      <a:srgbClr val="000000"/>
                    </a:solidFill>
                    <a:effectLst/>
                    <a:latin typeface="Calibri" panose="020F0502020204030204" pitchFamily="34" charset="0"/>
                  </a:rPr>
                  <a:t>,38 €)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5" name="Rectangle 23">
                <a:extLst>
                  <a:ext uri="{FF2B5EF4-FFF2-40B4-BE49-F238E27FC236}">
                    <a16:creationId xmlns:a16="http://schemas.microsoft.com/office/drawing/2014/main" id="{E5538D6D-A4CF-4D6A-A450-8B83736067B1}"/>
                  </a:ext>
                </a:extLst>
              </p:cNvPr>
              <p:cNvSpPr>
                <a:spLocks noChangeArrowheads="1"/>
              </p:cNvSpPr>
              <p:nvPr/>
            </p:nvSpPr>
            <p:spPr bwMode="auto">
              <a:xfrm>
                <a:off x="1483" y="1270"/>
                <a:ext cx="405"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3</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6" name="Rectangle 24">
                <a:extLst>
                  <a:ext uri="{FF2B5EF4-FFF2-40B4-BE49-F238E27FC236}">
                    <a16:creationId xmlns:a16="http://schemas.microsoft.com/office/drawing/2014/main" id="{D9E3FED3-FFEB-4FEE-BCE0-B462C682A018}"/>
                  </a:ext>
                </a:extLst>
              </p:cNvPr>
              <p:cNvSpPr>
                <a:spLocks noChangeArrowheads="1"/>
              </p:cNvSpPr>
              <p:nvPr/>
            </p:nvSpPr>
            <p:spPr bwMode="auto">
              <a:xfrm>
                <a:off x="2154" y="1270"/>
                <a:ext cx="35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7" name="Rectangle 25">
                <a:extLst>
                  <a:ext uri="{FF2B5EF4-FFF2-40B4-BE49-F238E27FC236}">
                    <a16:creationId xmlns:a16="http://schemas.microsoft.com/office/drawing/2014/main" id="{AF99E088-B9C0-404F-94BF-DE3A78A0004F}"/>
                  </a:ext>
                </a:extLst>
              </p:cNvPr>
              <p:cNvSpPr>
                <a:spLocks noChangeArrowheads="1"/>
              </p:cNvSpPr>
              <p:nvPr/>
            </p:nvSpPr>
            <p:spPr bwMode="auto">
              <a:xfrm>
                <a:off x="2663" y="1194"/>
                <a:ext cx="717"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8" name="Rectangle 26">
                <a:extLst>
                  <a:ext uri="{FF2B5EF4-FFF2-40B4-BE49-F238E27FC236}">
                    <a16:creationId xmlns:a16="http://schemas.microsoft.com/office/drawing/2014/main" id="{8220B95F-C2A7-4FE1-963C-D58D568ADDE7}"/>
                  </a:ext>
                </a:extLst>
              </p:cNvPr>
              <p:cNvSpPr>
                <a:spLocks noChangeArrowheads="1"/>
              </p:cNvSpPr>
              <p:nvPr/>
            </p:nvSpPr>
            <p:spPr bwMode="auto">
              <a:xfrm>
                <a:off x="2663" y="1293"/>
                <a:ext cx="37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9" name="Rectangle 27">
                <a:extLst>
                  <a:ext uri="{FF2B5EF4-FFF2-40B4-BE49-F238E27FC236}">
                    <a16:creationId xmlns:a16="http://schemas.microsoft.com/office/drawing/2014/main" id="{46C856E6-72C0-46BD-A3F2-26879EAD7555}"/>
                  </a:ext>
                </a:extLst>
              </p:cNvPr>
              <p:cNvSpPr>
                <a:spLocks noChangeArrowheads="1"/>
              </p:cNvSpPr>
              <p:nvPr/>
            </p:nvSpPr>
            <p:spPr bwMode="auto">
              <a:xfrm>
                <a:off x="2663" y="1391"/>
                <a:ext cx="40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0" name="Rectangle 28">
                <a:extLst>
                  <a:ext uri="{FF2B5EF4-FFF2-40B4-BE49-F238E27FC236}">
                    <a16:creationId xmlns:a16="http://schemas.microsoft.com/office/drawing/2014/main" id="{C3314F64-912E-4BBB-AFF7-43A02F52AC09}"/>
                  </a:ext>
                </a:extLst>
              </p:cNvPr>
              <p:cNvSpPr>
                <a:spLocks noChangeArrowheads="1"/>
              </p:cNvSpPr>
              <p:nvPr/>
            </p:nvSpPr>
            <p:spPr bwMode="auto">
              <a:xfrm>
                <a:off x="4433" y="1223"/>
                <a:ext cx="6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dirty="0">
                    <a:ln>
                      <a:noFill/>
                    </a:ln>
                    <a:solidFill>
                      <a:srgbClr val="000000"/>
                    </a:solidFill>
                    <a:effectLst/>
                    <a:latin typeface="Calibri" panose="020F0502020204030204" pitchFamily="34" charset="0"/>
                  </a:rPr>
                  <a:t>1753,96 €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1" name="Rectangle 29">
                <a:extLst>
                  <a:ext uri="{FF2B5EF4-FFF2-40B4-BE49-F238E27FC236}">
                    <a16:creationId xmlns:a16="http://schemas.microsoft.com/office/drawing/2014/main" id="{32ED9E99-ADA8-41FC-8B36-A6B9F5F8D5B7}"/>
                  </a:ext>
                </a:extLst>
              </p:cNvPr>
              <p:cNvSpPr>
                <a:spLocks noChangeArrowheads="1"/>
              </p:cNvSpPr>
              <p:nvPr/>
            </p:nvSpPr>
            <p:spPr bwMode="auto">
              <a:xfrm>
                <a:off x="4537" y="1368"/>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(67,46 €)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2" name="Rectangle 30">
                <a:extLst>
                  <a:ext uri="{FF2B5EF4-FFF2-40B4-BE49-F238E27FC236}">
                    <a16:creationId xmlns:a16="http://schemas.microsoft.com/office/drawing/2014/main" id="{B77456F1-73EE-471A-A0BF-2A2735362527}"/>
                  </a:ext>
                </a:extLst>
              </p:cNvPr>
              <p:cNvSpPr>
                <a:spLocks noChangeArrowheads="1"/>
              </p:cNvSpPr>
              <p:nvPr/>
            </p:nvSpPr>
            <p:spPr bwMode="auto">
              <a:xfrm>
                <a:off x="1437" y="2345"/>
                <a:ext cx="49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3" name="Rectangle 31">
                <a:extLst>
                  <a:ext uri="{FF2B5EF4-FFF2-40B4-BE49-F238E27FC236}">
                    <a16:creationId xmlns:a16="http://schemas.microsoft.com/office/drawing/2014/main" id="{D891932A-E31A-4C06-A600-F2208988692C}"/>
                  </a:ext>
                </a:extLst>
              </p:cNvPr>
              <p:cNvSpPr>
                <a:spLocks noChangeArrowheads="1"/>
              </p:cNvSpPr>
              <p:nvPr/>
            </p:nvSpPr>
            <p:spPr bwMode="auto">
              <a:xfrm>
                <a:off x="2033" y="2345"/>
                <a:ext cx="60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4" name="Rectangle 32">
                <a:extLst>
                  <a:ext uri="{FF2B5EF4-FFF2-40B4-BE49-F238E27FC236}">
                    <a16:creationId xmlns:a16="http://schemas.microsoft.com/office/drawing/2014/main" id="{9C879208-2DF8-4856-B2CB-09EA91B85D30}"/>
                  </a:ext>
                </a:extLst>
              </p:cNvPr>
              <p:cNvSpPr>
                <a:spLocks noChangeArrowheads="1"/>
              </p:cNvSpPr>
              <p:nvPr/>
            </p:nvSpPr>
            <p:spPr bwMode="auto">
              <a:xfrm>
                <a:off x="1437" y="2692"/>
                <a:ext cx="49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2.2</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5" name="Rectangle 33">
                <a:extLst>
                  <a:ext uri="{FF2B5EF4-FFF2-40B4-BE49-F238E27FC236}">
                    <a16:creationId xmlns:a16="http://schemas.microsoft.com/office/drawing/2014/main" id="{2C596066-9B35-4850-83B8-3CA3A5A41CF1}"/>
                  </a:ext>
                </a:extLst>
              </p:cNvPr>
              <p:cNvSpPr>
                <a:spLocks noChangeArrowheads="1"/>
              </p:cNvSpPr>
              <p:nvPr/>
            </p:nvSpPr>
            <p:spPr bwMode="auto">
              <a:xfrm>
                <a:off x="2033" y="2692"/>
                <a:ext cx="60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Calibri" panose="020F0502020204030204" pitchFamily="34" charset="0"/>
                  </a:rPr>
                  <a:t>Max. 6 mois</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6" name="Rectangle 34">
                <a:extLst>
                  <a:ext uri="{FF2B5EF4-FFF2-40B4-BE49-F238E27FC236}">
                    <a16:creationId xmlns:a16="http://schemas.microsoft.com/office/drawing/2014/main" id="{9E4615BB-305F-4B07-B254-62B21B53B535}"/>
                  </a:ext>
                </a:extLst>
              </p:cNvPr>
              <p:cNvSpPr>
                <a:spLocks noChangeArrowheads="1"/>
              </p:cNvSpPr>
              <p:nvPr/>
            </p:nvSpPr>
            <p:spPr bwMode="auto">
              <a:xfrm>
                <a:off x="1437" y="3039"/>
                <a:ext cx="49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2.3</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7" name="Rectangle 35">
                <a:extLst>
                  <a:ext uri="{FF2B5EF4-FFF2-40B4-BE49-F238E27FC236}">
                    <a16:creationId xmlns:a16="http://schemas.microsoft.com/office/drawing/2014/main" id="{FA3C40A8-0A05-46F0-9F49-3E21B420711A}"/>
                  </a:ext>
                </a:extLst>
              </p:cNvPr>
              <p:cNvSpPr>
                <a:spLocks noChangeArrowheads="1"/>
              </p:cNvSpPr>
              <p:nvPr/>
            </p:nvSpPr>
            <p:spPr bwMode="auto">
              <a:xfrm>
                <a:off x="2033" y="3039"/>
                <a:ext cx="60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8" name="Rectangle 36">
                <a:extLst>
                  <a:ext uri="{FF2B5EF4-FFF2-40B4-BE49-F238E27FC236}">
                    <a16:creationId xmlns:a16="http://schemas.microsoft.com/office/drawing/2014/main" id="{333E82B1-223D-486A-BB4D-62B611A98026}"/>
                  </a:ext>
                </a:extLst>
              </p:cNvPr>
              <p:cNvSpPr>
                <a:spLocks noChangeArrowheads="1"/>
              </p:cNvSpPr>
              <p:nvPr/>
            </p:nvSpPr>
            <p:spPr bwMode="auto">
              <a:xfrm>
                <a:off x="1437" y="3386"/>
                <a:ext cx="49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2.4</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9" name="Rectangle 37">
                <a:extLst>
                  <a:ext uri="{FF2B5EF4-FFF2-40B4-BE49-F238E27FC236}">
                    <a16:creationId xmlns:a16="http://schemas.microsoft.com/office/drawing/2014/main" id="{17763225-3162-484D-8DB2-E3D82CA08BD9}"/>
                  </a:ext>
                </a:extLst>
              </p:cNvPr>
              <p:cNvSpPr>
                <a:spLocks noChangeArrowheads="1"/>
              </p:cNvSpPr>
              <p:nvPr/>
            </p:nvSpPr>
            <p:spPr bwMode="auto">
              <a:xfrm>
                <a:off x="2033" y="3386"/>
                <a:ext cx="60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0" name="Rectangle 38">
                <a:extLst>
                  <a:ext uri="{FF2B5EF4-FFF2-40B4-BE49-F238E27FC236}">
                    <a16:creationId xmlns:a16="http://schemas.microsoft.com/office/drawing/2014/main" id="{BC3C2D0D-75CB-48A3-B75B-80471B788632}"/>
                  </a:ext>
                </a:extLst>
              </p:cNvPr>
              <p:cNvSpPr>
                <a:spLocks noChangeArrowheads="1"/>
              </p:cNvSpPr>
              <p:nvPr/>
            </p:nvSpPr>
            <p:spPr bwMode="auto">
              <a:xfrm>
                <a:off x="2663" y="3698"/>
                <a:ext cx="578"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1" name="Rectangle 39">
                <a:extLst>
                  <a:ext uri="{FF2B5EF4-FFF2-40B4-BE49-F238E27FC236}">
                    <a16:creationId xmlns:a16="http://schemas.microsoft.com/office/drawing/2014/main" id="{5C974D35-4C6D-4C80-8C2A-1FF73772F458}"/>
                  </a:ext>
                </a:extLst>
              </p:cNvPr>
              <p:cNvSpPr>
                <a:spLocks noChangeArrowheads="1"/>
              </p:cNvSpPr>
              <p:nvPr/>
            </p:nvSpPr>
            <p:spPr bwMode="auto">
              <a:xfrm>
                <a:off x="4479" y="3641"/>
                <a:ext cx="57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1" u="none" strike="noStrike" cap="none" normalizeH="0" baseline="0" dirty="0">
                    <a:ln>
                      <a:noFill/>
                    </a:ln>
                    <a:solidFill>
                      <a:srgbClr val="000000"/>
                    </a:solidFill>
                    <a:effectLst/>
                    <a:latin typeface="Calibri" panose="020F0502020204030204" pitchFamily="34" charset="0"/>
                  </a:rPr>
                  <a:t>1600,04 €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2" name="Rectangle 40">
                <a:extLst>
                  <a:ext uri="{FF2B5EF4-FFF2-40B4-BE49-F238E27FC236}">
                    <a16:creationId xmlns:a16="http://schemas.microsoft.com/office/drawing/2014/main" id="{C8CCE614-6810-48D9-94D6-B7A9F894D5D5}"/>
                  </a:ext>
                </a:extLst>
              </p:cNvPr>
              <p:cNvSpPr>
                <a:spLocks noChangeArrowheads="1"/>
              </p:cNvSpPr>
              <p:nvPr/>
            </p:nvSpPr>
            <p:spPr bwMode="auto">
              <a:xfrm>
                <a:off x="4525" y="3762"/>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(61,54 €)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3" name="Rectangle 41">
                <a:extLst>
                  <a:ext uri="{FF2B5EF4-FFF2-40B4-BE49-F238E27FC236}">
                    <a16:creationId xmlns:a16="http://schemas.microsoft.com/office/drawing/2014/main" id="{153006E3-9541-4112-8957-21D4E6F60F8E}"/>
                  </a:ext>
                </a:extLst>
              </p:cNvPr>
              <p:cNvSpPr>
                <a:spLocks noChangeArrowheads="1"/>
              </p:cNvSpPr>
              <p:nvPr/>
            </p:nvSpPr>
            <p:spPr bwMode="auto">
              <a:xfrm>
                <a:off x="2663" y="3930"/>
                <a:ext cx="197"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4" name="Rectangle 42">
                <a:extLst>
                  <a:ext uri="{FF2B5EF4-FFF2-40B4-BE49-F238E27FC236}">
                    <a16:creationId xmlns:a16="http://schemas.microsoft.com/office/drawing/2014/main" id="{E512C9C4-E68E-4FB7-9338-1B1AEB8396C8}"/>
                  </a:ext>
                </a:extLst>
              </p:cNvPr>
              <p:cNvSpPr>
                <a:spLocks noChangeArrowheads="1"/>
              </p:cNvSpPr>
              <p:nvPr/>
            </p:nvSpPr>
            <p:spPr bwMode="auto">
              <a:xfrm>
                <a:off x="4479" y="3872"/>
                <a:ext cx="57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1" u="none" strike="noStrike" cap="none" normalizeH="0" baseline="0" dirty="0">
                    <a:ln>
                      <a:noFill/>
                    </a:ln>
                    <a:solidFill>
                      <a:srgbClr val="000000"/>
                    </a:solidFill>
                    <a:effectLst/>
                    <a:latin typeface="Calibri" panose="020F0502020204030204" pitchFamily="34" charset="0"/>
                  </a:rPr>
                  <a:t>1296,36 €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5" name="Rectangle 43">
                <a:extLst>
                  <a:ext uri="{FF2B5EF4-FFF2-40B4-BE49-F238E27FC236}">
                    <a16:creationId xmlns:a16="http://schemas.microsoft.com/office/drawing/2014/main" id="{5F87016D-74E3-4006-909F-F890C382C04E}"/>
                  </a:ext>
                </a:extLst>
              </p:cNvPr>
              <p:cNvSpPr>
                <a:spLocks noChangeArrowheads="1"/>
              </p:cNvSpPr>
              <p:nvPr/>
            </p:nvSpPr>
            <p:spPr bwMode="auto">
              <a:xfrm>
                <a:off x="4525" y="3993"/>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(49,86 €)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6" name="Rectangle 44">
                <a:extLst>
                  <a:ext uri="{FF2B5EF4-FFF2-40B4-BE49-F238E27FC236}">
                    <a16:creationId xmlns:a16="http://schemas.microsoft.com/office/drawing/2014/main" id="{0DDE7298-80AF-42C4-9300-7EE8261E5811}"/>
                  </a:ext>
                </a:extLst>
              </p:cNvPr>
              <p:cNvSpPr>
                <a:spLocks noChangeArrowheads="1"/>
              </p:cNvSpPr>
              <p:nvPr/>
            </p:nvSpPr>
            <p:spPr bwMode="auto">
              <a:xfrm>
                <a:off x="2663" y="4161"/>
                <a:ext cx="40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7" name="Rectangle 45">
                <a:extLst>
                  <a:ext uri="{FF2B5EF4-FFF2-40B4-BE49-F238E27FC236}">
                    <a16:creationId xmlns:a16="http://schemas.microsoft.com/office/drawing/2014/main" id="{09BD72FC-D1A0-4C7E-AF04-36B41BA87E94}"/>
                  </a:ext>
                </a:extLst>
              </p:cNvPr>
              <p:cNvSpPr>
                <a:spLocks noChangeArrowheads="1"/>
              </p:cNvSpPr>
              <p:nvPr/>
            </p:nvSpPr>
            <p:spPr bwMode="auto">
              <a:xfrm>
                <a:off x="4502" y="4103"/>
                <a:ext cx="52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1" u="none" strike="noStrike" cap="none" normalizeH="0" baseline="0" dirty="0">
                    <a:ln>
                      <a:noFill/>
                    </a:ln>
                    <a:solidFill>
                      <a:srgbClr val="000000"/>
                    </a:solidFill>
                    <a:effectLst/>
                    <a:latin typeface="Calibri" panose="020F0502020204030204" pitchFamily="34" charset="0"/>
                  </a:rPr>
                  <a:t>672,88 €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8" name="Rectangle 46">
                <a:extLst>
                  <a:ext uri="{FF2B5EF4-FFF2-40B4-BE49-F238E27FC236}">
                    <a16:creationId xmlns:a16="http://schemas.microsoft.com/office/drawing/2014/main" id="{3923EC86-D53C-49CA-A345-F0080CA9C719}"/>
                  </a:ext>
                </a:extLst>
              </p:cNvPr>
              <p:cNvSpPr>
                <a:spLocks noChangeArrowheads="1"/>
              </p:cNvSpPr>
              <p:nvPr/>
            </p:nvSpPr>
            <p:spPr bwMode="auto">
              <a:xfrm>
                <a:off x="4537" y="4225"/>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(25,88 €)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69" name="Rectangle 47">
                <a:extLst>
                  <a:ext uri="{FF2B5EF4-FFF2-40B4-BE49-F238E27FC236}">
                    <a16:creationId xmlns:a16="http://schemas.microsoft.com/office/drawing/2014/main" id="{B7F8083B-5F8C-4F46-A162-3CA7969BB737}"/>
                  </a:ext>
                </a:extLst>
              </p:cNvPr>
              <p:cNvSpPr>
                <a:spLocks noChangeArrowheads="1"/>
              </p:cNvSpPr>
              <p:nvPr/>
            </p:nvSpPr>
            <p:spPr bwMode="auto">
              <a:xfrm>
                <a:off x="1032" y="3878"/>
                <a:ext cx="16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1" u="none" strike="noStrike" cap="none" normalizeH="0" baseline="0">
                    <a:ln>
                      <a:noFill/>
                    </a:ln>
                    <a:solidFill>
                      <a:srgbClr val="000000"/>
                    </a:solidFill>
                    <a:effectLst/>
                    <a:latin typeface="Calibri" panose="020F0502020204030204" pitchFamily="34" charset="0"/>
                  </a:rPr>
                  <a:t>3</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0" name="Rectangle 48">
                <a:extLst>
                  <a:ext uri="{FF2B5EF4-FFF2-40B4-BE49-F238E27FC236}">
                    <a16:creationId xmlns:a16="http://schemas.microsoft.com/office/drawing/2014/main" id="{51F88F45-7380-4111-8019-8B02517DE773}"/>
                  </a:ext>
                </a:extLst>
              </p:cNvPr>
              <p:cNvSpPr>
                <a:spLocks noChangeArrowheads="1"/>
              </p:cNvSpPr>
              <p:nvPr/>
            </p:nvSpPr>
            <p:spPr bwMode="auto">
              <a:xfrm>
                <a:off x="1483" y="3907"/>
                <a:ext cx="405"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1" name="Rectangle 49">
                <a:extLst>
                  <a:ext uri="{FF2B5EF4-FFF2-40B4-BE49-F238E27FC236}">
                    <a16:creationId xmlns:a16="http://schemas.microsoft.com/office/drawing/2014/main" id="{3CBBCDB6-E13A-457D-9391-2B2F915FADB5}"/>
                  </a:ext>
                </a:extLst>
              </p:cNvPr>
              <p:cNvSpPr>
                <a:spLocks noChangeArrowheads="1"/>
              </p:cNvSpPr>
              <p:nvPr/>
            </p:nvSpPr>
            <p:spPr bwMode="auto">
              <a:xfrm>
                <a:off x="2172" y="3918"/>
                <a:ext cx="289"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a:ln>
                      <a:noFill/>
                    </a:ln>
                    <a:solidFill>
                      <a:srgbClr val="000000"/>
                    </a:solidFill>
                    <a:effectLst/>
                    <a:latin typeface="Calibri" panose="020F0502020204030204" pitchFamily="34" charset="0"/>
                  </a:rPr>
                  <a:t>Illimité</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2" name="Rectangle 50">
                <a:extLst>
                  <a:ext uri="{FF2B5EF4-FFF2-40B4-BE49-F238E27FC236}">
                    <a16:creationId xmlns:a16="http://schemas.microsoft.com/office/drawing/2014/main" id="{DCEE09BE-67B7-46F0-AC74-73E423797994}"/>
                  </a:ext>
                </a:extLst>
              </p:cNvPr>
              <p:cNvSpPr>
                <a:spLocks noChangeArrowheads="1"/>
              </p:cNvSpPr>
              <p:nvPr/>
            </p:nvSpPr>
            <p:spPr bwMode="auto">
              <a:xfrm>
                <a:off x="3658" y="3907"/>
                <a:ext cx="35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Forfait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3" name="Rectangle 51">
                <a:extLst>
                  <a:ext uri="{FF2B5EF4-FFF2-40B4-BE49-F238E27FC236}">
                    <a16:creationId xmlns:a16="http://schemas.microsoft.com/office/drawing/2014/main" id="{27B0FF34-980F-4A9C-9014-C341BCF26A67}"/>
                  </a:ext>
                </a:extLst>
              </p:cNvPr>
              <p:cNvSpPr>
                <a:spLocks noChangeArrowheads="1"/>
              </p:cNvSpPr>
              <p:nvPr/>
            </p:nvSpPr>
            <p:spPr bwMode="auto">
              <a:xfrm>
                <a:off x="3253" y="2866"/>
                <a:ext cx="117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Dégressivité semestrielle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4" name="Rectangle 52">
                <a:extLst>
                  <a:ext uri="{FF2B5EF4-FFF2-40B4-BE49-F238E27FC236}">
                    <a16:creationId xmlns:a16="http://schemas.microsoft.com/office/drawing/2014/main" id="{4BF93100-F6CE-44C8-88B7-9E188CFFD601}"/>
                  </a:ext>
                </a:extLst>
              </p:cNvPr>
              <p:cNvSpPr>
                <a:spLocks noChangeArrowheads="1"/>
              </p:cNvSpPr>
              <p:nvPr/>
            </p:nvSpPr>
            <p:spPr bwMode="auto">
              <a:xfrm>
                <a:off x="1032" y="2472"/>
                <a:ext cx="16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1" u="none" strike="noStrike" cap="none" normalizeH="0" baseline="0">
                    <a:ln>
                      <a:noFill/>
                    </a:ln>
                    <a:solidFill>
                      <a:srgbClr val="000000"/>
                    </a:solidFill>
                    <a:effectLst/>
                    <a:latin typeface="Calibri" panose="020F0502020204030204" pitchFamily="34" charset="0"/>
                  </a:rPr>
                  <a:t>2</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5" name="Rectangle 53">
                <a:extLst>
                  <a:ext uri="{FF2B5EF4-FFF2-40B4-BE49-F238E27FC236}">
                    <a16:creationId xmlns:a16="http://schemas.microsoft.com/office/drawing/2014/main" id="{677D2B79-393C-462F-9E4D-9A6005C54A38}"/>
                  </a:ext>
                </a:extLst>
              </p:cNvPr>
              <p:cNvSpPr>
                <a:spLocks noChangeArrowheads="1"/>
              </p:cNvSpPr>
              <p:nvPr/>
            </p:nvSpPr>
            <p:spPr bwMode="auto">
              <a:xfrm>
                <a:off x="1437" y="1981"/>
                <a:ext cx="49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2.0</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6" name="Rectangle 54">
                <a:extLst>
                  <a:ext uri="{FF2B5EF4-FFF2-40B4-BE49-F238E27FC236}">
                    <a16:creationId xmlns:a16="http://schemas.microsoft.com/office/drawing/2014/main" id="{3EA58311-73C1-4F76-8B54-88D0510712EC}"/>
                  </a:ext>
                </a:extLst>
              </p:cNvPr>
              <p:cNvSpPr>
                <a:spLocks noChangeArrowheads="1"/>
              </p:cNvSpPr>
              <p:nvPr/>
            </p:nvSpPr>
            <p:spPr bwMode="auto">
              <a:xfrm>
                <a:off x="2004" y="1981"/>
                <a:ext cx="659"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10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7" name="Rectangle 55">
                <a:extLst>
                  <a:ext uri="{FF2B5EF4-FFF2-40B4-BE49-F238E27FC236}">
                    <a16:creationId xmlns:a16="http://schemas.microsoft.com/office/drawing/2014/main" id="{68CEE8EE-E129-4368-A0D4-169F35D2F2C7}"/>
                  </a:ext>
                </a:extLst>
              </p:cNvPr>
              <p:cNvSpPr>
                <a:spLocks noChangeArrowheads="1"/>
              </p:cNvSpPr>
              <p:nvPr/>
            </p:nvSpPr>
            <p:spPr bwMode="auto">
              <a:xfrm>
                <a:off x="2663" y="2791"/>
                <a:ext cx="1168"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8" name="Rectangle 56">
                <a:extLst>
                  <a:ext uri="{FF2B5EF4-FFF2-40B4-BE49-F238E27FC236}">
                    <a16:creationId xmlns:a16="http://schemas.microsoft.com/office/drawing/2014/main" id="{F0BBEF9F-CE67-4167-BE07-94CA48CCFB0C}"/>
                  </a:ext>
                </a:extLst>
              </p:cNvPr>
              <p:cNvSpPr>
                <a:spLocks noChangeArrowheads="1"/>
              </p:cNvSpPr>
              <p:nvPr/>
            </p:nvSpPr>
            <p:spPr bwMode="auto">
              <a:xfrm>
                <a:off x="2663" y="2889"/>
                <a:ext cx="37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9" name="Rectangle 57">
                <a:extLst>
                  <a:ext uri="{FF2B5EF4-FFF2-40B4-BE49-F238E27FC236}">
                    <a16:creationId xmlns:a16="http://schemas.microsoft.com/office/drawing/2014/main" id="{133BD1BD-7FE8-4DB4-BB4F-B5B474EBBC9A}"/>
                  </a:ext>
                </a:extLst>
              </p:cNvPr>
              <p:cNvSpPr>
                <a:spLocks noChangeArrowheads="1"/>
              </p:cNvSpPr>
              <p:nvPr/>
            </p:nvSpPr>
            <p:spPr bwMode="auto">
              <a:xfrm>
                <a:off x="2663" y="2987"/>
                <a:ext cx="40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0" name="Rectangle 58">
                <a:extLst>
                  <a:ext uri="{FF2B5EF4-FFF2-40B4-BE49-F238E27FC236}">
                    <a16:creationId xmlns:a16="http://schemas.microsoft.com/office/drawing/2014/main" id="{115ABF7B-D5A0-460C-870D-7AB321B57D3A}"/>
                  </a:ext>
                </a:extLst>
              </p:cNvPr>
              <p:cNvSpPr>
                <a:spLocks noChangeArrowheads="1"/>
              </p:cNvSpPr>
              <p:nvPr/>
            </p:nvSpPr>
            <p:spPr bwMode="auto">
              <a:xfrm>
                <a:off x="2663" y="2079"/>
                <a:ext cx="40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1" name="Rectangle 59">
                <a:extLst>
                  <a:ext uri="{FF2B5EF4-FFF2-40B4-BE49-F238E27FC236}">
                    <a16:creationId xmlns:a16="http://schemas.microsoft.com/office/drawing/2014/main" id="{4E9482BF-986C-40D5-A7EA-A1B4926E4149}"/>
                  </a:ext>
                </a:extLst>
              </p:cNvPr>
              <p:cNvSpPr>
                <a:spLocks noChangeArrowheads="1"/>
              </p:cNvSpPr>
              <p:nvPr/>
            </p:nvSpPr>
            <p:spPr bwMode="auto">
              <a:xfrm>
                <a:off x="2663" y="1830"/>
                <a:ext cx="197"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2" name="Rectangle 60">
                <a:extLst>
                  <a:ext uri="{FF2B5EF4-FFF2-40B4-BE49-F238E27FC236}">
                    <a16:creationId xmlns:a16="http://schemas.microsoft.com/office/drawing/2014/main" id="{437D65F5-8511-4480-AF69-450FF526F6BD}"/>
                  </a:ext>
                </a:extLst>
              </p:cNvPr>
              <p:cNvSpPr>
                <a:spLocks noChangeArrowheads="1"/>
              </p:cNvSpPr>
              <p:nvPr/>
            </p:nvSpPr>
            <p:spPr bwMode="auto">
              <a:xfrm>
                <a:off x="2663" y="1582"/>
                <a:ext cx="578"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3" name="Rectangle 61">
                <a:extLst>
                  <a:ext uri="{FF2B5EF4-FFF2-40B4-BE49-F238E27FC236}">
                    <a16:creationId xmlns:a16="http://schemas.microsoft.com/office/drawing/2014/main" id="{C1947AC8-D5E9-44EB-BCAC-CBC37336DDD3}"/>
                  </a:ext>
                </a:extLst>
              </p:cNvPr>
              <p:cNvSpPr>
                <a:spLocks noChangeArrowheads="1"/>
              </p:cNvSpPr>
              <p:nvPr/>
            </p:nvSpPr>
            <p:spPr bwMode="auto">
              <a:xfrm>
                <a:off x="3398" y="1559"/>
                <a:ext cx="87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60 % du plafond A</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4" name="Rectangle 62">
                <a:extLst>
                  <a:ext uri="{FF2B5EF4-FFF2-40B4-BE49-F238E27FC236}">
                    <a16:creationId xmlns:a16="http://schemas.microsoft.com/office/drawing/2014/main" id="{EA9B5CF3-6612-4BB3-A37B-E16641966DBF}"/>
                  </a:ext>
                </a:extLst>
              </p:cNvPr>
              <p:cNvSpPr>
                <a:spLocks noChangeArrowheads="1"/>
              </p:cNvSpPr>
              <p:nvPr/>
            </p:nvSpPr>
            <p:spPr bwMode="auto">
              <a:xfrm rot="16200000">
                <a:off x="3941" y="2807"/>
                <a:ext cx="119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Montant de base - (n/5 x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5" name="Rectangle 63">
                <a:extLst>
                  <a:ext uri="{FF2B5EF4-FFF2-40B4-BE49-F238E27FC236}">
                    <a16:creationId xmlns:a16="http://schemas.microsoft.com/office/drawing/2014/main" id="{8AB7EB23-34C6-461B-B7A4-0731EC739B71}"/>
                  </a:ext>
                </a:extLst>
              </p:cNvPr>
              <p:cNvSpPr>
                <a:spLocks noChangeArrowheads="1"/>
              </p:cNvSpPr>
              <p:nvPr/>
            </p:nvSpPr>
            <p:spPr bwMode="auto">
              <a:xfrm rot="16200000">
                <a:off x="4063" y="2813"/>
                <a:ext cx="123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dirty="0">
                    <a:ln>
                      <a:noFill/>
                    </a:ln>
                    <a:solidFill>
                      <a:srgbClr val="000000"/>
                    </a:solidFill>
                    <a:effectLst/>
                    <a:latin typeface="Calibri" panose="020F0502020204030204" pitchFamily="34" charset="0"/>
                  </a:rPr>
                  <a:t>(montant de base - forfait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6" name="Rectangle 64">
                <a:extLst>
                  <a:ext uri="{FF2B5EF4-FFF2-40B4-BE49-F238E27FC236}">
                    <a16:creationId xmlns:a16="http://schemas.microsoft.com/office/drawing/2014/main" id="{060A4F69-DA5C-4E3A-A028-AB7DA6B14A2A}"/>
                  </a:ext>
                </a:extLst>
              </p:cNvPr>
              <p:cNvSpPr>
                <a:spLocks noChangeArrowheads="1"/>
              </p:cNvSpPr>
              <p:nvPr/>
            </p:nvSpPr>
            <p:spPr bwMode="auto">
              <a:xfrm rot="16200000">
                <a:off x="4629" y="2825"/>
                <a:ext cx="39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réduit))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7" name="Rectangle 65">
                <a:extLst>
                  <a:ext uri="{FF2B5EF4-FFF2-40B4-BE49-F238E27FC236}">
                    <a16:creationId xmlns:a16="http://schemas.microsoft.com/office/drawing/2014/main" id="{B817C635-16F2-4C5B-A185-62DDBB040BE3}"/>
                  </a:ext>
                </a:extLst>
              </p:cNvPr>
              <p:cNvSpPr>
                <a:spLocks noChangeArrowheads="1"/>
              </p:cNvSpPr>
              <p:nvPr/>
            </p:nvSpPr>
            <p:spPr bwMode="auto">
              <a:xfrm>
                <a:off x="3374" y="1807"/>
                <a:ext cx="925"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55 % du plafond AY</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8" name="Rectangle 66">
                <a:extLst>
                  <a:ext uri="{FF2B5EF4-FFF2-40B4-BE49-F238E27FC236}">
                    <a16:creationId xmlns:a16="http://schemas.microsoft.com/office/drawing/2014/main" id="{FB7DF3E0-2ADC-4742-B28D-3DCF9773F9B5}"/>
                  </a:ext>
                </a:extLst>
              </p:cNvPr>
              <p:cNvSpPr>
                <a:spLocks noChangeArrowheads="1"/>
              </p:cNvSpPr>
              <p:nvPr/>
            </p:nvSpPr>
            <p:spPr bwMode="auto">
              <a:xfrm>
                <a:off x="3398" y="2056"/>
                <a:ext cx="87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Calibri" panose="020F0502020204030204" pitchFamily="34" charset="0"/>
                  </a:rPr>
                  <a:t>40 % du plafond A</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9" name="Rectangle 67">
                <a:extLst>
                  <a:ext uri="{FF2B5EF4-FFF2-40B4-BE49-F238E27FC236}">
                    <a16:creationId xmlns:a16="http://schemas.microsoft.com/office/drawing/2014/main" id="{82771C35-C4B8-49C7-BEA0-50CDC4AF7455}"/>
                  </a:ext>
                </a:extLst>
              </p:cNvPr>
              <p:cNvSpPr>
                <a:spLocks noChangeArrowheads="1"/>
              </p:cNvSpPr>
              <p:nvPr/>
            </p:nvSpPr>
            <p:spPr bwMode="auto">
              <a:xfrm>
                <a:off x="4433" y="1512"/>
                <a:ext cx="58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dirty="0">
                    <a:ln>
                      <a:noFill/>
                    </a:ln>
                    <a:solidFill>
                      <a:srgbClr val="000000"/>
                    </a:solidFill>
                    <a:effectLst/>
                    <a:latin typeface="Calibri" panose="020F0502020204030204" pitchFamily="34" charset="0"/>
                  </a:rPr>
                  <a:t>1639,04 €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0" name="Rectangle 68">
                <a:extLst>
                  <a:ext uri="{FF2B5EF4-FFF2-40B4-BE49-F238E27FC236}">
                    <a16:creationId xmlns:a16="http://schemas.microsoft.com/office/drawing/2014/main" id="{72D5F78A-D42C-4E77-9A66-329F0E62C069}"/>
                  </a:ext>
                </a:extLst>
              </p:cNvPr>
              <p:cNvSpPr>
                <a:spLocks noChangeArrowheads="1"/>
              </p:cNvSpPr>
              <p:nvPr/>
            </p:nvSpPr>
            <p:spPr bwMode="auto">
              <a:xfrm>
                <a:off x="4537" y="1657"/>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a:t>
                </a:r>
                <a:r>
                  <a:rPr lang="fr-FR" altLang="fr-FR" sz="900" b="1" i="1" dirty="0">
                    <a:solidFill>
                      <a:srgbClr val="000000"/>
                    </a:solidFill>
                    <a:latin typeface="Calibri" panose="020F0502020204030204" pitchFamily="34" charset="0"/>
                  </a:rPr>
                  <a:t>63</a:t>
                </a:r>
                <a:r>
                  <a:rPr kumimoji="0" lang="fr-FR" altLang="fr-FR" sz="900" b="1" i="1" u="none" strike="noStrike" cap="none" normalizeH="0" baseline="0" dirty="0">
                    <a:ln>
                      <a:noFill/>
                    </a:ln>
                    <a:solidFill>
                      <a:srgbClr val="000000"/>
                    </a:solidFill>
                    <a:effectLst/>
                    <a:latin typeface="Calibri" panose="020F0502020204030204" pitchFamily="34" charset="0"/>
                  </a:rPr>
                  <a:t>,04 €)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1" name="Rectangle 69">
                <a:extLst>
                  <a:ext uri="{FF2B5EF4-FFF2-40B4-BE49-F238E27FC236}">
                    <a16:creationId xmlns:a16="http://schemas.microsoft.com/office/drawing/2014/main" id="{8C5CFC06-247E-498F-A216-BFF5C80179FB}"/>
                  </a:ext>
                </a:extLst>
              </p:cNvPr>
              <p:cNvSpPr>
                <a:spLocks noChangeArrowheads="1"/>
              </p:cNvSpPr>
              <p:nvPr/>
            </p:nvSpPr>
            <p:spPr bwMode="auto">
              <a:xfrm>
                <a:off x="4433" y="1761"/>
                <a:ext cx="58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dirty="0">
                    <a:ln>
                      <a:noFill/>
                    </a:ln>
                    <a:solidFill>
                      <a:srgbClr val="000000"/>
                    </a:solidFill>
                    <a:effectLst/>
                    <a:latin typeface="Calibri" panose="020F0502020204030204" pitchFamily="34" charset="0"/>
                  </a:rPr>
                  <a:t>1469,78 €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2" name="Rectangle 70">
                <a:extLst>
                  <a:ext uri="{FF2B5EF4-FFF2-40B4-BE49-F238E27FC236}">
                    <a16:creationId xmlns:a16="http://schemas.microsoft.com/office/drawing/2014/main" id="{41DE692E-F181-4F9B-B896-8EA82237C2AD}"/>
                  </a:ext>
                </a:extLst>
              </p:cNvPr>
              <p:cNvSpPr>
                <a:spLocks noChangeArrowheads="1"/>
              </p:cNvSpPr>
              <p:nvPr/>
            </p:nvSpPr>
            <p:spPr bwMode="auto">
              <a:xfrm>
                <a:off x="4537" y="1906"/>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(56,53 €)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3" name="Rectangle 71">
                <a:extLst>
                  <a:ext uri="{FF2B5EF4-FFF2-40B4-BE49-F238E27FC236}">
                    <a16:creationId xmlns:a16="http://schemas.microsoft.com/office/drawing/2014/main" id="{CE856DB4-5EFB-4D2B-8EC8-496819325E82}"/>
                  </a:ext>
                </a:extLst>
              </p:cNvPr>
              <p:cNvSpPr>
                <a:spLocks noChangeArrowheads="1"/>
              </p:cNvSpPr>
              <p:nvPr/>
            </p:nvSpPr>
            <p:spPr bwMode="auto">
              <a:xfrm>
                <a:off x="4433" y="2010"/>
                <a:ext cx="53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dirty="0">
                    <a:ln>
                      <a:noFill/>
                    </a:ln>
                    <a:solidFill>
                      <a:srgbClr val="000000"/>
                    </a:solidFill>
                    <a:effectLst/>
                    <a:latin typeface="Calibri" panose="020F0502020204030204" pitchFamily="34" charset="0"/>
                  </a:rPr>
                  <a:t>1092,78 €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4" name="Rectangle 72">
                <a:extLst>
                  <a:ext uri="{FF2B5EF4-FFF2-40B4-BE49-F238E27FC236}">
                    <a16:creationId xmlns:a16="http://schemas.microsoft.com/office/drawing/2014/main" id="{9AB91F01-A065-483F-AF62-A5F2BC6BBCBC}"/>
                  </a:ext>
                </a:extLst>
              </p:cNvPr>
              <p:cNvSpPr>
                <a:spLocks noChangeArrowheads="1"/>
              </p:cNvSpPr>
              <p:nvPr/>
            </p:nvSpPr>
            <p:spPr bwMode="auto">
              <a:xfrm>
                <a:off x="4537" y="2154"/>
                <a:ext cx="26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dirty="0">
                    <a:ln>
                      <a:noFill/>
                    </a:ln>
                    <a:solidFill>
                      <a:srgbClr val="000000"/>
                    </a:solidFill>
                    <a:effectLst/>
                    <a:latin typeface="Calibri" panose="020F0502020204030204" pitchFamily="34" charset="0"/>
                  </a:rPr>
                  <a:t>(42,03 €)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5" name="Rectangle 73">
                <a:extLst>
                  <a:ext uri="{FF2B5EF4-FFF2-40B4-BE49-F238E27FC236}">
                    <a16:creationId xmlns:a16="http://schemas.microsoft.com/office/drawing/2014/main" id="{F71D45DD-1773-4A31-8FE7-7DC4FD4AEE76}"/>
                  </a:ext>
                </a:extLst>
              </p:cNvPr>
              <p:cNvSpPr>
                <a:spLocks noChangeArrowheads="1"/>
              </p:cNvSpPr>
              <p:nvPr/>
            </p:nvSpPr>
            <p:spPr bwMode="auto">
              <a:xfrm>
                <a:off x="4404" y="119"/>
                <a:ext cx="66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Maximum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6" name="Rectangle 74">
                <a:extLst>
                  <a:ext uri="{FF2B5EF4-FFF2-40B4-BE49-F238E27FC236}">
                    <a16:creationId xmlns:a16="http://schemas.microsoft.com/office/drawing/2014/main" id="{14F39303-B0E8-4C7A-BFE8-30CC315FEC39}"/>
                  </a:ext>
                </a:extLst>
              </p:cNvPr>
              <p:cNvSpPr>
                <a:spLocks noChangeArrowheads="1"/>
              </p:cNvSpPr>
              <p:nvPr/>
            </p:nvSpPr>
            <p:spPr bwMode="auto">
              <a:xfrm>
                <a:off x="4404" y="281"/>
                <a:ext cx="513"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800" b="1" i="1" u="none" strike="noStrike" cap="none" normalizeH="0" baseline="0" dirty="0">
                    <a:ln>
                      <a:noFill/>
                    </a:ln>
                    <a:solidFill>
                      <a:srgbClr val="000000"/>
                    </a:solidFill>
                    <a:effectLst/>
                    <a:latin typeface="Calibri" panose="020F0502020204030204" pitchFamily="34" charset="0"/>
                  </a:rPr>
                  <a:t>barème 01.11.2022</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7" name="Rectangle 75">
                <a:extLst>
                  <a:ext uri="{FF2B5EF4-FFF2-40B4-BE49-F238E27FC236}">
                    <a16:creationId xmlns:a16="http://schemas.microsoft.com/office/drawing/2014/main" id="{36938CAA-2824-47BE-9F83-3C0CD3FBC1A0}"/>
                  </a:ext>
                </a:extLst>
              </p:cNvPr>
              <p:cNvSpPr>
                <a:spLocks noChangeArrowheads="1"/>
              </p:cNvSpPr>
              <p:nvPr/>
            </p:nvSpPr>
            <p:spPr bwMode="auto">
              <a:xfrm>
                <a:off x="2143" y="159"/>
                <a:ext cx="38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Durée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8" name="Rectangle 76">
                <a:extLst>
                  <a:ext uri="{FF2B5EF4-FFF2-40B4-BE49-F238E27FC236}">
                    <a16:creationId xmlns:a16="http://schemas.microsoft.com/office/drawing/2014/main" id="{3A9ABFBD-A9D5-4F6F-9A4F-B98C5766E1A9}"/>
                  </a:ext>
                </a:extLst>
              </p:cNvPr>
              <p:cNvSpPr>
                <a:spLocks noChangeArrowheads="1"/>
              </p:cNvSpPr>
              <p:nvPr/>
            </p:nvSpPr>
            <p:spPr bwMode="auto">
              <a:xfrm>
                <a:off x="2698" y="78"/>
                <a:ext cx="57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Situation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9" name="Rectangle 77">
                <a:extLst>
                  <a:ext uri="{FF2B5EF4-FFF2-40B4-BE49-F238E27FC236}">
                    <a16:creationId xmlns:a16="http://schemas.microsoft.com/office/drawing/2014/main" id="{5FD05C68-BE68-4E46-B390-32374C36EC8B}"/>
                  </a:ext>
                </a:extLst>
              </p:cNvPr>
              <p:cNvSpPr>
                <a:spLocks noChangeArrowheads="1"/>
              </p:cNvSpPr>
              <p:nvPr/>
            </p:nvSpPr>
            <p:spPr bwMode="auto">
              <a:xfrm>
                <a:off x="2704" y="240"/>
                <a:ext cx="5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familiale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0" name="Rectangle 78">
                <a:extLst>
                  <a:ext uri="{FF2B5EF4-FFF2-40B4-BE49-F238E27FC236}">
                    <a16:creationId xmlns:a16="http://schemas.microsoft.com/office/drawing/2014/main" id="{F1DE9DFF-77CE-4187-9F3C-956BFD44D4D5}"/>
                  </a:ext>
                </a:extLst>
              </p:cNvPr>
              <p:cNvSpPr>
                <a:spLocks noChangeArrowheads="1"/>
              </p:cNvSpPr>
              <p:nvPr/>
            </p:nvSpPr>
            <p:spPr bwMode="auto">
              <a:xfrm>
                <a:off x="3253" y="159"/>
                <a:ext cx="1209"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 du salaire plafonné</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1" name="Rectangle 79">
                <a:extLst>
                  <a:ext uri="{FF2B5EF4-FFF2-40B4-BE49-F238E27FC236}">
                    <a16:creationId xmlns:a16="http://schemas.microsoft.com/office/drawing/2014/main" id="{6CD614B1-E94C-46BC-839A-DBCD5B9F79A7}"/>
                  </a:ext>
                </a:extLst>
              </p:cNvPr>
              <p:cNvSpPr>
                <a:spLocks noChangeArrowheads="1"/>
              </p:cNvSpPr>
              <p:nvPr/>
            </p:nvSpPr>
            <p:spPr bwMode="auto">
              <a:xfrm>
                <a:off x="1506" y="159"/>
                <a:ext cx="38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Phase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2" name="Rectangle 80">
                <a:extLst>
                  <a:ext uri="{FF2B5EF4-FFF2-40B4-BE49-F238E27FC236}">
                    <a16:creationId xmlns:a16="http://schemas.microsoft.com/office/drawing/2014/main" id="{9FF425C5-8292-4EAC-8728-32C53C381FA9}"/>
                  </a:ext>
                </a:extLst>
              </p:cNvPr>
              <p:cNvSpPr>
                <a:spLocks noChangeArrowheads="1"/>
              </p:cNvSpPr>
              <p:nvPr/>
            </p:nvSpPr>
            <p:spPr bwMode="auto">
              <a:xfrm>
                <a:off x="888" y="159"/>
                <a:ext cx="47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Période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3" name="Rectangle 81">
                <a:extLst>
                  <a:ext uri="{FF2B5EF4-FFF2-40B4-BE49-F238E27FC236}">
                    <a16:creationId xmlns:a16="http://schemas.microsoft.com/office/drawing/2014/main" id="{E44070FA-2C9F-4E5F-8CB0-BB5C7AC38503}"/>
                  </a:ext>
                </a:extLst>
              </p:cNvPr>
              <p:cNvSpPr>
                <a:spLocks noChangeArrowheads="1"/>
              </p:cNvSpPr>
              <p:nvPr/>
            </p:nvSpPr>
            <p:spPr bwMode="auto">
              <a:xfrm>
                <a:off x="1483" y="1617"/>
                <a:ext cx="405"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4" name="Rectangle 82">
                <a:extLst>
                  <a:ext uri="{FF2B5EF4-FFF2-40B4-BE49-F238E27FC236}">
                    <a16:creationId xmlns:a16="http://schemas.microsoft.com/office/drawing/2014/main" id="{7AA95F89-2B11-4D5B-8913-95706635DED9}"/>
                  </a:ext>
                </a:extLst>
              </p:cNvPr>
              <p:cNvSpPr>
                <a:spLocks noChangeArrowheads="1"/>
              </p:cNvSpPr>
              <p:nvPr/>
            </p:nvSpPr>
            <p:spPr bwMode="auto">
              <a:xfrm>
                <a:off x="3403" y="923"/>
                <a:ext cx="86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60 % du plafond C</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5" name="Rectangle 83">
                <a:extLst>
                  <a:ext uri="{FF2B5EF4-FFF2-40B4-BE49-F238E27FC236}">
                    <a16:creationId xmlns:a16="http://schemas.microsoft.com/office/drawing/2014/main" id="{5AF24F89-A121-48DF-98F7-42EAA6736C37}"/>
                  </a:ext>
                </a:extLst>
              </p:cNvPr>
              <p:cNvSpPr>
                <a:spLocks noChangeArrowheads="1"/>
              </p:cNvSpPr>
              <p:nvPr/>
            </p:nvSpPr>
            <p:spPr bwMode="auto">
              <a:xfrm>
                <a:off x="1032" y="894"/>
                <a:ext cx="16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1" u="none" strike="noStrike" cap="none" normalizeH="0" baseline="0">
                    <a:ln>
                      <a:noFill/>
                    </a:ln>
                    <a:solidFill>
                      <a:srgbClr val="000000"/>
                    </a:solidFill>
                    <a:effectLst/>
                    <a:latin typeface="Calibri" panose="020F0502020204030204" pitchFamily="34" charset="0"/>
                  </a:rPr>
                  <a:t>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6" name="Rectangle 84">
                <a:extLst>
                  <a:ext uri="{FF2B5EF4-FFF2-40B4-BE49-F238E27FC236}">
                    <a16:creationId xmlns:a16="http://schemas.microsoft.com/office/drawing/2014/main" id="{5E2519AA-6ECF-4699-AC73-48C40C8C0FE5}"/>
                  </a:ext>
                </a:extLst>
              </p:cNvPr>
              <p:cNvSpPr>
                <a:spLocks noChangeArrowheads="1"/>
              </p:cNvSpPr>
              <p:nvPr/>
            </p:nvSpPr>
            <p:spPr bwMode="auto">
              <a:xfrm>
                <a:off x="2143" y="1617"/>
                <a:ext cx="376"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2 mois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7" name="Rectangle 85">
                <a:extLst>
                  <a:ext uri="{FF2B5EF4-FFF2-40B4-BE49-F238E27FC236}">
                    <a16:creationId xmlns:a16="http://schemas.microsoft.com/office/drawing/2014/main" id="{EE8BFE0A-60FB-48F4-B091-0B9735FCB348}"/>
                  </a:ext>
                </a:extLst>
              </p:cNvPr>
              <p:cNvSpPr>
                <a:spLocks noChangeArrowheads="1"/>
              </p:cNvSpPr>
              <p:nvPr/>
            </p:nvSpPr>
            <p:spPr bwMode="auto">
              <a:xfrm>
                <a:off x="3403" y="576"/>
                <a:ext cx="966"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65 % du plafond C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8" name="Rectangle 86">
                <a:extLst>
                  <a:ext uri="{FF2B5EF4-FFF2-40B4-BE49-F238E27FC236}">
                    <a16:creationId xmlns:a16="http://schemas.microsoft.com/office/drawing/2014/main" id="{E23E6DD5-16E8-43BB-A4C3-CC199AA13A00}"/>
                  </a:ext>
                </a:extLst>
              </p:cNvPr>
              <p:cNvSpPr>
                <a:spLocks noChangeArrowheads="1"/>
              </p:cNvSpPr>
              <p:nvPr/>
            </p:nvSpPr>
            <p:spPr bwMode="auto">
              <a:xfrm>
                <a:off x="3403" y="1270"/>
                <a:ext cx="86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60 % du plafond B</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9" name="Line 87">
                <a:extLst>
                  <a:ext uri="{FF2B5EF4-FFF2-40B4-BE49-F238E27FC236}">
                    <a16:creationId xmlns:a16="http://schemas.microsoft.com/office/drawing/2014/main" id="{FD1F2049-9DF8-4D6E-ADB1-7F529213A72E}"/>
                  </a:ext>
                </a:extLst>
              </p:cNvPr>
              <p:cNvSpPr>
                <a:spLocks noChangeShapeType="1"/>
              </p:cNvSpPr>
              <p:nvPr/>
            </p:nvSpPr>
            <p:spPr bwMode="auto">
              <a:xfrm flipV="1">
                <a:off x="795"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0" name="Rectangle 88">
                <a:extLst>
                  <a:ext uri="{FF2B5EF4-FFF2-40B4-BE49-F238E27FC236}">
                    <a16:creationId xmlns:a16="http://schemas.microsoft.com/office/drawing/2014/main" id="{8668DE4C-887C-47F2-89E4-8BE6D921A911}"/>
                  </a:ext>
                </a:extLst>
              </p:cNvPr>
              <p:cNvSpPr>
                <a:spLocks noChangeArrowheads="1"/>
              </p:cNvSpPr>
              <p:nvPr/>
            </p:nvSpPr>
            <p:spPr bwMode="auto">
              <a:xfrm>
                <a:off x="795"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1" name="Line 89">
                <a:extLst>
                  <a:ext uri="{FF2B5EF4-FFF2-40B4-BE49-F238E27FC236}">
                    <a16:creationId xmlns:a16="http://schemas.microsoft.com/office/drawing/2014/main" id="{376E8E53-F039-4521-A6CD-D9EAA7B75418}"/>
                  </a:ext>
                </a:extLst>
              </p:cNvPr>
              <p:cNvSpPr>
                <a:spLocks noChangeShapeType="1"/>
              </p:cNvSpPr>
              <p:nvPr/>
            </p:nvSpPr>
            <p:spPr bwMode="auto">
              <a:xfrm flipV="1">
                <a:off x="1373"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2" name="Rectangle 90">
                <a:extLst>
                  <a:ext uri="{FF2B5EF4-FFF2-40B4-BE49-F238E27FC236}">
                    <a16:creationId xmlns:a16="http://schemas.microsoft.com/office/drawing/2014/main" id="{773B4D16-3253-4D7D-8FB5-CBE31387F6C4}"/>
                  </a:ext>
                </a:extLst>
              </p:cNvPr>
              <p:cNvSpPr>
                <a:spLocks noChangeArrowheads="1"/>
              </p:cNvSpPr>
              <p:nvPr/>
            </p:nvSpPr>
            <p:spPr bwMode="auto">
              <a:xfrm>
                <a:off x="1373"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3" name="Line 91">
                <a:extLst>
                  <a:ext uri="{FF2B5EF4-FFF2-40B4-BE49-F238E27FC236}">
                    <a16:creationId xmlns:a16="http://schemas.microsoft.com/office/drawing/2014/main" id="{032BC746-B808-48D7-AA56-600C6B5EBF2C}"/>
                  </a:ext>
                </a:extLst>
              </p:cNvPr>
              <p:cNvSpPr>
                <a:spLocks noChangeShapeType="1"/>
              </p:cNvSpPr>
              <p:nvPr/>
            </p:nvSpPr>
            <p:spPr bwMode="auto">
              <a:xfrm flipV="1">
                <a:off x="1952"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4" name="Rectangle 92">
                <a:extLst>
                  <a:ext uri="{FF2B5EF4-FFF2-40B4-BE49-F238E27FC236}">
                    <a16:creationId xmlns:a16="http://schemas.microsoft.com/office/drawing/2014/main" id="{D681526D-746C-4535-A822-4D84D97FCD5B}"/>
                  </a:ext>
                </a:extLst>
              </p:cNvPr>
              <p:cNvSpPr>
                <a:spLocks noChangeArrowheads="1"/>
              </p:cNvSpPr>
              <p:nvPr/>
            </p:nvSpPr>
            <p:spPr bwMode="auto">
              <a:xfrm>
                <a:off x="1952"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5" name="Line 93">
                <a:extLst>
                  <a:ext uri="{FF2B5EF4-FFF2-40B4-BE49-F238E27FC236}">
                    <a16:creationId xmlns:a16="http://schemas.microsoft.com/office/drawing/2014/main" id="{D614E932-926D-4BAE-9DC1-825EA3209096}"/>
                  </a:ext>
                </a:extLst>
              </p:cNvPr>
              <p:cNvSpPr>
                <a:spLocks noChangeShapeType="1"/>
              </p:cNvSpPr>
              <p:nvPr/>
            </p:nvSpPr>
            <p:spPr bwMode="auto">
              <a:xfrm flipV="1">
                <a:off x="2646"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6" name="Rectangle 94">
                <a:extLst>
                  <a:ext uri="{FF2B5EF4-FFF2-40B4-BE49-F238E27FC236}">
                    <a16:creationId xmlns:a16="http://schemas.microsoft.com/office/drawing/2014/main" id="{342BE529-D0D2-4043-B6C9-CC63F0921E31}"/>
                  </a:ext>
                </a:extLst>
              </p:cNvPr>
              <p:cNvSpPr>
                <a:spLocks noChangeArrowheads="1"/>
              </p:cNvSpPr>
              <p:nvPr/>
            </p:nvSpPr>
            <p:spPr bwMode="auto">
              <a:xfrm>
                <a:off x="2646"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7" name="Line 95">
                <a:extLst>
                  <a:ext uri="{FF2B5EF4-FFF2-40B4-BE49-F238E27FC236}">
                    <a16:creationId xmlns:a16="http://schemas.microsoft.com/office/drawing/2014/main" id="{11D4B078-B559-46A8-A481-E2195DE23E67}"/>
                  </a:ext>
                </a:extLst>
              </p:cNvPr>
              <p:cNvSpPr>
                <a:spLocks noChangeShapeType="1"/>
              </p:cNvSpPr>
              <p:nvPr/>
            </p:nvSpPr>
            <p:spPr bwMode="auto">
              <a:xfrm flipV="1">
                <a:off x="3224"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8" name="Rectangle 96">
                <a:extLst>
                  <a:ext uri="{FF2B5EF4-FFF2-40B4-BE49-F238E27FC236}">
                    <a16:creationId xmlns:a16="http://schemas.microsoft.com/office/drawing/2014/main" id="{D250261F-FC7B-4D84-837A-D41E0F11ABE0}"/>
                  </a:ext>
                </a:extLst>
              </p:cNvPr>
              <p:cNvSpPr>
                <a:spLocks noChangeArrowheads="1"/>
              </p:cNvSpPr>
              <p:nvPr/>
            </p:nvSpPr>
            <p:spPr bwMode="auto">
              <a:xfrm>
                <a:off x="3224"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9" name="Line 97">
                <a:extLst>
                  <a:ext uri="{FF2B5EF4-FFF2-40B4-BE49-F238E27FC236}">
                    <a16:creationId xmlns:a16="http://schemas.microsoft.com/office/drawing/2014/main" id="{9C27D924-3D11-4577-B101-E159DEADB47D}"/>
                  </a:ext>
                </a:extLst>
              </p:cNvPr>
              <p:cNvSpPr>
                <a:spLocks noChangeShapeType="1"/>
              </p:cNvSpPr>
              <p:nvPr/>
            </p:nvSpPr>
            <p:spPr bwMode="auto">
              <a:xfrm flipV="1">
                <a:off x="4381"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20" name="Rectangle 98">
                <a:extLst>
                  <a:ext uri="{FF2B5EF4-FFF2-40B4-BE49-F238E27FC236}">
                    <a16:creationId xmlns:a16="http://schemas.microsoft.com/office/drawing/2014/main" id="{D413BE54-2520-418C-8443-8458000AC19E}"/>
                  </a:ext>
                </a:extLst>
              </p:cNvPr>
              <p:cNvSpPr>
                <a:spLocks noChangeArrowheads="1"/>
              </p:cNvSpPr>
              <p:nvPr/>
            </p:nvSpPr>
            <p:spPr bwMode="auto">
              <a:xfrm>
                <a:off x="4381"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1" name="Rectangle 99">
                <a:extLst>
                  <a:ext uri="{FF2B5EF4-FFF2-40B4-BE49-F238E27FC236}">
                    <a16:creationId xmlns:a16="http://schemas.microsoft.com/office/drawing/2014/main" id="{1DB8A944-F46A-49C1-ADA0-4AF3597CA4F6}"/>
                  </a:ext>
                </a:extLst>
              </p:cNvPr>
              <p:cNvSpPr>
                <a:spLocks noChangeArrowheads="1"/>
              </p:cNvSpPr>
              <p:nvPr/>
            </p:nvSpPr>
            <p:spPr bwMode="auto">
              <a:xfrm>
                <a:off x="801" y="-3"/>
                <a:ext cx="416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2" name="Line 100">
                <a:extLst>
                  <a:ext uri="{FF2B5EF4-FFF2-40B4-BE49-F238E27FC236}">
                    <a16:creationId xmlns:a16="http://schemas.microsoft.com/office/drawing/2014/main" id="{D987D0B5-70B9-4CD7-9C6E-6269414CA323}"/>
                  </a:ext>
                </a:extLst>
              </p:cNvPr>
              <p:cNvSpPr>
                <a:spLocks noChangeShapeType="1"/>
              </p:cNvSpPr>
              <p:nvPr/>
            </p:nvSpPr>
            <p:spPr bwMode="auto">
              <a:xfrm flipV="1">
                <a:off x="4959"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23" name="Rectangle 101">
                <a:extLst>
                  <a:ext uri="{FF2B5EF4-FFF2-40B4-BE49-F238E27FC236}">
                    <a16:creationId xmlns:a16="http://schemas.microsoft.com/office/drawing/2014/main" id="{A264CB7F-320F-4EA8-9823-ACA166941196}"/>
                  </a:ext>
                </a:extLst>
              </p:cNvPr>
              <p:cNvSpPr>
                <a:spLocks noChangeArrowheads="1"/>
              </p:cNvSpPr>
              <p:nvPr/>
            </p:nvSpPr>
            <p:spPr bwMode="auto">
              <a:xfrm>
                <a:off x="4959"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4" name="Line 102">
                <a:extLst>
                  <a:ext uri="{FF2B5EF4-FFF2-40B4-BE49-F238E27FC236}">
                    <a16:creationId xmlns:a16="http://schemas.microsoft.com/office/drawing/2014/main" id="{2831C2A2-0B2A-470A-A98A-A4416966CC42}"/>
                  </a:ext>
                </a:extLst>
              </p:cNvPr>
              <p:cNvSpPr>
                <a:spLocks noChangeShapeType="1"/>
              </p:cNvSpPr>
              <p:nvPr/>
            </p:nvSpPr>
            <p:spPr bwMode="auto">
              <a:xfrm>
                <a:off x="801" y="466"/>
                <a:ext cx="415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25" name="Rectangle 103">
                <a:extLst>
                  <a:ext uri="{FF2B5EF4-FFF2-40B4-BE49-F238E27FC236}">
                    <a16:creationId xmlns:a16="http://schemas.microsoft.com/office/drawing/2014/main" id="{91DC80E1-2388-42BD-AC9A-53DFC4584E8A}"/>
                  </a:ext>
                </a:extLst>
              </p:cNvPr>
              <p:cNvSpPr>
                <a:spLocks noChangeArrowheads="1"/>
              </p:cNvSpPr>
              <p:nvPr/>
            </p:nvSpPr>
            <p:spPr bwMode="auto">
              <a:xfrm>
                <a:off x="801" y="466"/>
                <a:ext cx="415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6" name="Rectangle 104">
                <a:extLst>
                  <a:ext uri="{FF2B5EF4-FFF2-40B4-BE49-F238E27FC236}">
                    <a16:creationId xmlns:a16="http://schemas.microsoft.com/office/drawing/2014/main" id="{6C6A9DB1-C52E-47BE-8362-3250FF1AE846}"/>
                  </a:ext>
                </a:extLst>
              </p:cNvPr>
              <p:cNvSpPr>
                <a:spLocks noChangeArrowheads="1"/>
              </p:cNvSpPr>
              <p:nvPr/>
            </p:nvSpPr>
            <p:spPr bwMode="auto">
              <a:xfrm>
                <a:off x="1379" y="813"/>
                <a:ext cx="573"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7" name="Rectangle 105">
                <a:extLst>
                  <a:ext uri="{FF2B5EF4-FFF2-40B4-BE49-F238E27FC236}">
                    <a16:creationId xmlns:a16="http://schemas.microsoft.com/office/drawing/2014/main" id="{255FA940-5C33-488F-8774-F1CAF9F7D974}"/>
                  </a:ext>
                </a:extLst>
              </p:cNvPr>
              <p:cNvSpPr>
                <a:spLocks noChangeArrowheads="1"/>
              </p:cNvSpPr>
              <p:nvPr/>
            </p:nvSpPr>
            <p:spPr bwMode="auto">
              <a:xfrm>
                <a:off x="1958" y="813"/>
                <a:ext cx="68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8" name="Rectangle 106">
                <a:extLst>
                  <a:ext uri="{FF2B5EF4-FFF2-40B4-BE49-F238E27FC236}">
                    <a16:creationId xmlns:a16="http://schemas.microsoft.com/office/drawing/2014/main" id="{DF554AEF-4ED0-4B0C-84D3-6651AE8ABE6B}"/>
                  </a:ext>
                </a:extLst>
              </p:cNvPr>
              <p:cNvSpPr>
                <a:spLocks noChangeArrowheads="1"/>
              </p:cNvSpPr>
              <p:nvPr/>
            </p:nvSpPr>
            <p:spPr bwMode="auto">
              <a:xfrm>
                <a:off x="2652" y="813"/>
                <a:ext cx="5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9" name="Rectangle 107">
                <a:extLst>
                  <a:ext uri="{FF2B5EF4-FFF2-40B4-BE49-F238E27FC236}">
                    <a16:creationId xmlns:a16="http://schemas.microsoft.com/office/drawing/2014/main" id="{554B81E7-3E3F-48DC-9FAF-8EB8E9012EF0}"/>
                  </a:ext>
                </a:extLst>
              </p:cNvPr>
              <p:cNvSpPr>
                <a:spLocks noChangeArrowheads="1"/>
              </p:cNvSpPr>
              <p:nvPr/>
            </p:nvSpPr>
            <p:spPr bwMode="auto">
              <a:xfrm>
                <a:off x="3230" y="813"/>
                <a:ext cx="11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0" name="Rectangle 108">
                <a:extLst>
                  <a:ext uri="{FF2B5EF4-FFF2-40B4-BE49-F238E27FC236}">
                    <a16:creationId xmlns:a16="http://schemas.microsoft.com/office/drawing/2014/main" id="{BE667872-64FA-4734-AA51-798E8F7723C0}"/>
                  </a:ext>
                </a:extLst>
              </p:cNvPr>
              <p:cNvSpPr>
                <a:spLocks noChangeArrowheads="1"/>
              </p:cNvSpPr>
              <p:nvPr/>
            </p:nvSpPr>
            <p:spPr bwMode="auto">
              <a:xfrm>
                <a:off x="4387" y="813"/>
                <a:ext cx="56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1" name="Rectangle 109">
                <a:extLst>
                  <a:ext uri="{FF2B5EF4-FFF2-40B4-BE49-F238E27FC236}">
                    <a16:creationId xmlns:a16="http://schemas.microsoft.com/office/drawing/2014/main" id="{25CB9856-C119-4CD9-ABB5-8324A24C1D61}"/>
                  </a:ext>
                </a:extLst>
              </p:cNvPr>
              <p:cNvSpPr>
                <a:spLocks noChangeArrowheads="1"/>
              </p:cNvSpPr>
              <p:nvPr/>
            </p:nvSpPr>
            <p:spPr bwMode="auto">
              <a:xfrm>
                <a:off x="1379" y="1160"/>
                <a:ext cx="573"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2" name="Rectangle 110">
                <a:extLst>
                  <a:ext uri="{FF2B5EF4-FFF2-40B4-BE49-F238E27FC236}">
                    <a16:creationId xmlns:a16="http://schemas.microsoft.com/office/drawing/2014/main" id="{B424B1BD-F50A-480D-835E-5C6EF390175D}"/>
                  </a:ext>
                </a:extLst>
              </p:cNvPr>
              <p:cNvSpPr>
                <a:spLocks noChangeArrowheads="1"/>
              </p:cNvSpPr>
              <p:nvPr/>
            </p:nvSpPr>
            <p:spPr bwMode="auto">
              <a:xfrm>
                <a:off x="1958" y="1160"/>
                <a:ext cx="68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3" name="Rectangle 111">
                <a:extLst>
                  <a:ext uri="{FF2B5EF4-FFF2-40B4-BE49-F238E27FC236}">
                    <a16:creationId xmlns:a16="http://schemas.microsoft.com/office/drawing/2014/main" id="{BA1CF730-9947-45C9-ABE8-31EDE9FFDC7F}"/>
                  </a:ext>
                </a:extLst>
              </p:cNvPr>
              <p:cNvSpPr>
                <a:spLocks noChangeArrowheads="1"/>
              </p:cNvSpPr>
              <p:nvPr/>
            </p:nvSpPr>
            <p:spPr bwMode="auto">
              <a:xfrm>
                <a:off x="2652" y="1160"/>
                <a:ext cx="5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4" name="Rectangle 112">
                <a:extLst>
                  <a:ext uri="{FF2B5EF4-FFF2-40B4-BE49-F238E27FC236}">
                    <a16:creationId xmlns:a16="http://schemas.microsoft.com/office/drawing/2014/main" id="{9A4642F1-E911-45F0-8D88-C3D9F3BF94CC}"/>
                  </a:ext>
                </a:extLst>
              </p:cNvPr>
              <p:cNvSpPr>
                <a:spLocks noChangeArrowheads="1"/>
              </p:cNvSpPr>
              <p:nvPr/>
            </p:nvSpPr>
            <p:spPr bwMode="auto">
              <a:xfrm>
                <a:off x="3230" y="1160"/>
                <a:ext cx="115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5" name="Rectangle 113">
                <a:extLst>
                  <a:ext uri="{FF2B5EF4-FFF2-40B4-BE49-F238E27FC236}">
                    <a16:creationId xmlns:a16="http://schemas.microsoft.com/office/drawing/2014/main" id="{7DBB063C-68C3-4DF0-AC3B-F1AE75FB43B0}"/>
                  </a:ext>
                </a:extLst>
              </p:cNvPr>
              <p:cNvSpPr>
                <a:spLocks noChangeArrowheads="1"/>
              </p:cNvSpPr>
              <p:nvPr/>
            </p:nvSpPr>
            <p:spPr bwMode="auto">
              <a:xfrm>
                <a:off x="4387" y="1160"/>
                <a:ext cx="56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6" name="Line 114">
                <a:extLst>
                  <a:ext uri="{FF2B5EF4-FFF2-40B4-BE49-F238E27FC236}">
                    <a16:creationId xmlns:a16="http://schemas.microsoft.com/office/drawing/2014/main" id="{7C373A85-2A37-4843-B2B1-3A407D6A8B50}"/>
                  </a:ext>
                </a:extLst>
              </p:cNvPr>
              <p:cNvSpPr>
                <a:spLocks noChangeShapeType="1"/>
              </p:cNvSpPr>
              <p:nvPr/>
            </p:nvSpPr>
            <p:spPr bwMode="auto">
              <a:xfrm>
                <a:off x="1373" y="9"/>
                <a:ext cx="0" cy="149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37" name="Rectangle 115">
                <a:extLst>
                  <a:ext uri="{FF2B5EF4-FFF2-40B4-BE49-F238E27FC236}">
                    <a16:creationId xmlns:a16="http://schemas.microsoft.com/office/drawing/2014/main" id="{5A35DE3E-35C0-4B3E-AD6F-B93ABAF967BA}"/>
                  </a:ext>
                </a:extLst>
              </p:cNvPr>
              <p:cNvSpPr>
                <a:spLocks noChangeArrowheads="1"/>
              </p:cNvSpPr>
              <p:nvPr/>
            </p:nvSpPr>
            <p:spPr bwMode="auto">
              <a:xfrm>
                <a:off x="1373" y="9"/>
                <a:ext cx="6" cy="14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8" name="Line 116">
                <a:extLst>
                  <a:ext uri="{FF2B5EF4-FFF2-40B4-BE49-F238E27FC236}">
                    <a16:creationId xmlns:a16="http://schemas.microsoft.com/office/drawing/2014/main" id="{50144E10-F198-460A-9A7C-91684A18E97B}"/>
                  </a:ext>
                </a:extLst>
              </p:cNvPr>
              <p:cNvSpPr>
                <a:spLocks noChangeShapeType="1"/>
              </p:cNvSpPr>
              <p:nvPr/>
            </p:nvSpPr>
            <p:spPr bwMode="auto">
              <a:xfrm>
                <a:off x="1952" y="9"/>
                <a:ext cx="0" cy="149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39" name="Rectangle 117">
                <a:extLst>
                  <a:ext uri="{FF2B5EF4-FFF2-40B4-BE49-F238E27FC236}">
                    <a16:creationId xmlns:a16="http://schemas.microsoft.com/office/drawing/2014/main" id="{485E7D52-EEA3-4CD2-941A-9960264E4CEA}"/>
                  </a:ext>
                </a:extLst>
              </p:cNvPr>
              <p:cNvSpPr>
                <a:spLocks noChangeArrowheads="1"/>
              </p:cNvSpPr>
              <p:nvPr/>
            </p:nvSpPr>
            <p:spPr bwMode="auto">
              <a:xfrm>
                <a:off x="1952" y="9"/>
                <a:ext cx="6" cy="14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0" name="Line 118">
                <a:extLst>
                  <a:ext uri="{FF2B5EF4-FFF2-40B4-BE49-F238E27FC236}">
                    <a16:creationId xmlns:a16="http://schemas.microsoft.com/office/drawing/2014/main" id="{18D9FB04-3896-4769-804F-0AB154F3FCBC}"/>
                  </a:ext>
                </a:extLst>
              </p:cNvPr>
              <p:cNvSpPr>
                <a:spLocks noChangeShapeType="1"/>
              </p:cNvSpPr>
              <p:nvPr/>
            </p:nvSpPr>
            <p:spPr bwMode="auto">
              <a:xfrm>
                <a:off x="2646" y="9"/>
                <a:ext cx="0" cy="149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1" name="Rectangle 119">
                <a:extLst>
                  <a:ext uri="{FF2B5EF4-FFF2-40B4-BE49-F238E27FC236}">
                    <a16:creationId xmlns:a16="http://schemas.microsoft.com/office/drawing/2014/main" id="{F9F8912A-D74B-4572-9712-6906CC2C8FF3}"/>
                  </a:ext>
                </a:extLst>
              </p:cNvPr>
              <p:cNvSpPr>
                <a:spLocks noChangeArrowheads="1"/>
              </p:cNvSpPr>
              <p:nvPr/>
            </p:nvSpPr>
            <p:spPr bwMode="auto">
              <a:xfrm>
                <a:off x="2646" y="9"/>
                <a:ext cx="6" cy="14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2" name="Line 120">
                <a:extLst>
                  <a:ext uri="{FF2B5EF4-FFF2-40B4-BE49-F238E27FC236}">
                    <a16:creationId xmlns:a16="http://schemas.microsoft.com/office/drawing/2014/main" id="{27598056-8A46-433D-BD9B-71C339A07D4B}"/>
                  </a:ext>
                </a:extLst>
              </p:cNvPr>
              <p:cNvSpPr>
                <a:spLocks noChangeShapeType="1"/>
              </p:cNvSpPr>
              <p:nvPr/>
            </p:nvSpPr>
            <p:spPr bwMode="auto">
              <a:xfrm>
                <a:off x="3224" y="9"/>
                <a:ext cx="0" cy="149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3" name="Rectangle 121">
                <a:extLst>
                  <a:ext uri="{FF2B5EF4-FFF2-40B4-BE49-F238E27FC236}">
                    <a16:creationId xmlns:a16="http://schemas.microsoft.com/office/drawing/2014/main" id="{D4F33C11-0777-4F44-B827-AE2316976DDE}"/>
                  </a:ext>
                </a:extLst>
              </p:cNvPr>
              <p:cNvSpPr>
                <a:spLocks noChangeArrowheads="1"/>
              </p:cNvSpPr>
              <p:nvPr/>
            </p:nvSpPr>
            <p:spPr bwMode="auto">
              <a:xfrm>
                <a:off x="3224" y="9"/>
                <a:ext cx="6" cy="14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4" name="Line 122">
                <a:extLst>
                  <a:ext uri="{FF2B5EF4-FFF2-40B4-BE49-F238E27FC236}">
                    <a16:creationId xmlns:a16="http://schemas.microsoft.com/office/drawing/2014/main" id="{CD5C83C8-8ED8-494F-A51B-7C64748FAE3B}"/>
                  </a:ext>
                </a:extLst>
              </p:cNvPr>
              <p:cNvSpPr>
                <a:spLocks noChangeShapeType="1"/>
              </p:cNvSpPr>
              <p:nvPr/>
            </p:nvSpPr>
            <p:spPr bwMode="auto">
              <a:xfrm>
                <a:off x="4381" y="9"/>
                <a:ext cx="0" cy="149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5" name="Rectangle 123">
                <a:extLst>
                  <a:ext uri="{FF2B5EF4-FFF2-40B4-BE49-F238E27FC236}">
                    <a16:creationId xmlns:a16="http://schemas.microsoft.com/office/drawing/2014/main" id="{1F18B2F1-577E-4A75-8B63-CE9A81D77985}"/>
                  </a:ext>
                </a:extLst>
              </p:cNvPr>
              <p:cNvSpPr>
                <a:spLocks noChangeArrowheads="1"/>
              </p:cNvSpPr>
              <p:nvPr/>
            </p:nvSpPr>
            <p:spPr bwMode="auto">
              <a:xfrm>
                <a:off x="4381" y="9"/>
                <a:ext cx="6" cy="149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6" name="Rectangle 124">
                <a:extLst>
                  <a:ext uri="{FF2B5EF4-FFF2-40B4-BE49-F238E27FC236}">
                    <a16:creationId xmlns:a16="http://schemas.microsoft.com/office/drawing/2014/main" id="{8DCFAEC9-126D-4B0A-8EAB-05628DEFA301}"/>
                  </a:ext>
                </a:extLst>
              </p:cNvPr>
              <p:cNvSpPr>
                <a:spLocks noChangeArrowheads="1"/>
              </p:cNvSpPr>
              <p:nvPr/>
            </p:nvSpPr>
            <p:spPr bwMode="auto">
              <a:xfrm>
                <a:off x="801" y="1501"/>
                <a:ext cx="416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7" name="Line 125">
                <a:extLst>
                  <a:ext uri="{FF2B5EF4-FFF2-40B4-BE49-F238E27FC236}">
                    <a16:creationId xmlns:a16="http://schemas.microsoft.com/office/drawing/2014/main" id="{093587EB-86E2-40C1-B7A5-DB18D9283FA5}"/>
                  </a:ext>
                </a:extLst>
              </p:cNvPr>
              <p:cNvSpPr>
                <a:spLocks noChangeShapeType="1"/>
              </p:cNvSpPr>
              <p:nvPr/>
            </p:nvSpPr>
            <p:spPr bwMode="auto">
              <a:xfrm>
                <a:off x="2652" y="1738"/>
                <a:ext cx="57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8" name="Rectangle 126">
                <a:extLst>
                  <a:ext uri="{FF2B5EF4-FFF2-40B4-BE49-F238E27FC236}">
                    <a16:creationId xmlns:a16="http://schemas.microsoft.com/office/drawing/2014/main" id="{C9406641-5324-49F0-BC90-976BCEFC69CF}"/>
                  </a:ext>
                </a:extLst>
              </p:cNvPr>
              <p:cNvSpPr>
                <a:spLocks noChangeArrowheads="1"/>
              </p:cNvSpPr>
              <p:nvPr/>
            </p:nvSpPr>
            <p:spPr bwMode="auto">
              <a:xfrm>
                <a:off x="2652" y="1738"/>
                <a:ext cx="5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9" name="Line 127">
                <a:extLst>
                  <a:ext uri="{FF2B5EF4-FFF2-40B4-BE49-F238E27FC236}">
                    <a16:creationId xmlns:a16="http://schemas.microsoft.com/office/drawing/2014/main" id="{DCC7F4DD-56B1-475B-A8EA-06F120C3CC0D}"/>
                  </a:ext>
                </a:extLst>
              </p:cNvPr>
              <p:cNvSpPr>
                <a:spLocks noChangeShapeType="1"/>
              </p:cNvSpPr>
              <p:nvPr/>
            </p:nvSpPr>
            <p:spPr bwMode="auto">
              <a:xfrm>
                <a:off x="3230" y="1738"/>
                <a:ext cx="11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50" name="Rectangle 128">
                <a:extLst>
                  <a:ext uri="{FF2B5EF4-FFF2-40B4-BE49-F238E27FC236}">
                    <a16:creationId xmlns:a16="http://schemas.microsoft.com/office/drawing/2014/main" id="{0B7D436B-64BB-4662-BF25-5554F0D3FB66}"/>
                  </a:ext>
                </a:extLst>
              </p:cNvPr>
              <p:cNvSpPr>
                <a:spLocks noChangeArrowheads="1"/>
              </p:cNvSpPr>
              <p:nvPr/>
            </p:nvSpPr>
            <p:spPr bwMode="auto">
              <a:xfrm>
                <a:off x="3230" y="1738"/>
                <a:ext cx="115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1" name="Line 129">
                <a:extLst>
                  <a:ext uri="{FF2B5EF4-FFF2-40B4-BE49-F238E27FC236}">
                    <a16:creationId xmlns:a16="http://schemas.microsoft.com/office/drawing/2014/main" id="{345F89E3-D253-47E3-AD33-E571A851075D}"/>
                  </a:ext>
                </a:extLst>
              </p:cNvPr>
              <p:cNvSpPr>
                <a:spLocks noChangeShapeType="1"/>
              </p:cNvSpPr>
              <p:nvPr/>
            </p:nvSpPr>
            <p:spPr bwMode="auto">
              <a:xfrm>
                <a:off x="4387" y="1738"/>
                <a:ext cx="566"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52" name="Rectangle 130">
                <a:extLst>
                  <a:ext uri="{FF2B5EF4-FFF2-40B4-BE49-F238E27FC236}">
                    <a16:creationId xmlns:a16="http://schemas.microsoft.com/office/drawing/2014/main" id="{8F0B0E03-7D12-4BE4-820F-099359689FF0}"/>
                  </a:ext>
                </a:extLst>
              </p:cNvPr>
              <p:cNvSpPr>
                <a:spLocks noChangeArrowheads="1"/>
              </p:cNvSpPr>
              <p:nvPr/>
            </p:nvSpPr>
            <p:spPr bwMode="auto">
              <a:xfrm>
                <a:off x="4387" y="1738"/>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3" name="Rectangle 131">
                <a:extLst>
                  <a:ext uri="{FF2B5EF4-FFF2-40B4-BE49-F238E27FC236}">
                    <a16:creationId xmlns:a16="http://schemas.microsoft.com/office/drawing/2014/main" id="{2CAAF44E-666A-459F-AD52-DAC8C30C9ADA}"/>
                  </a:ext>
                </a:extLst>
              </p:cNvPr>
              <p:cNvSpPr>
                <a:spLocks noChangeArrowheads="1"/>
              </p:cNvSpPr>
              <p:nvPr/>
            </p:nvSpPr>
            <p:spPr bwMode="auto">
              <a:xfrm>
                <a:off x="1379" y="1854"/>
                <a:ext cx="573"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4" name="Rectangle 132">
                <a:extLst>
                  <a:ext uri="{FF2B5EF4-FFF2-40B4-BE49-F238E27FC236}">
                    <a16:creationId xmlns:a16="http://schemas.microsoft.com/office/drawing/2014/main" id="{74907C23-B658-40BC-9F36-70CD8386A2BB}"/>
                  </a:ext>
                </a:extLst>
              </p:cNvPr>
              <p:cNvSpPr>
                <a:spLocks noChangeArrowheads="1"/>
              </p:cNvSpPr>
              <p:nvPr/>
            </p:nvSpPr>
            <p:spPr bwMode="auto">
              <a:xfrm>
                <a:off x="1958" y="1854"/>
                <a:ext cx="68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5" name="Line 133">
                <a:extLst>
                  <a:ext uri="{FF2B5EF4-FFF2-40B4-BE49-F238E27FC236}">
                    <a16:creationId xmlns:a16="http://schemas.microsoft.com/office/drawing/2014/main" id="{A7AE7B8F-AF41-428F-B6FC-5E30EB4B7D6B}"/>
                  </a:ext>
                </a:extLst>
              </p:cNvPr>
              <p:cNvSpPr>
                <a:spLocks noChangeShapeType="1"/>
              </p:cNvSpPr>
              <p:nvPr/>
            </p:nvSpPr>
            <p:spPr bwMode="auto">
              <a:xfrm>
                <a:off x="2652" y="2004"/>
                <a:ext cx="57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56" name="Rectangle 134">
                <a:extLst>
                  <a:ext uri="{FF2B5EF4-FFF2-40B4-BE49-F238E27FC236}">
                    <a16:creationId xmlns:a16="http://schemas.microsoft.com/office/drawing/2014/main" id="{6DD97720-F93A-48CD-9047-DE3CA6CCEB38}"/>
                  </a:ext>
                </a:extLst>
              </p:cNvPr>
              <p:cNvSpPr>
                <a:spLocks noChangeArrowheads="1"/>
              </p:cNvSpPr>
              <p:nvPr/>
            </p:nvSpPr>
            <p:spPr bwMode="auto">
              <a:xfrm>
                <a:off x="2652" y="2004"/>
                <a:ext cx="5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7" name="Line 135">
                <a:extLst>
                  <a:ext uri="{FF2B5EF4-FFF2-40B4-BE49-F238E27FC236}">
                    <a16:creationId xmlns:a16="http://schemas.microsoft.com/office/drawing/2014/main" id="{F8838A2A-E358-4D01-829B-CDCB54CBE9D2}"/>
                  </a:ext>
                </a:extLst>
              </p:cNvPr>
              <p:cNvSpPr>
                <a:spLocks noChangeShapeType="1"/>
              </p:cNvSpPr>
              <p:nvPr/>
            </p:nvSpPr>
            <p:spPr bwMode="auto">
              <a:xfrm>
                <a:off x="3230" y="2004"/>
                <a:ext cx="11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58" name="Rectangle 136">
                <a:extLst>
                  <a:ext uri="{FF2B5EF4-FFF2-40B4-BE49-F238E27FC236}">
                    <a16:creationId xmlns:a16="http://schemas.microsoft.com/office/drawing/2014/main" id="{E0BDD3CD-2D88-4A2E-9B8C-85F2AA4E4418}"/>
                  </a:ext>
                </a:extLst>
              </p:cNvPr>
              <p:cNvSpPr>
                <a:spLocks noChangeArrowheads="1"/>
              </p:cNvSpPr>
              <p:nvPr/>
            </p:nvSpPr>
            <p:spPr bwMode="auto">
              <a:xfrm>
                <a:off x="3230" y="2004"/>
                <a:ext cx="115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9" name="Line 137">
                <a:extLst>
                  <a:ext uri="{FF2B5EF4-FFF2-40B4-BE49-F238E27FC236}">
                    <a16:creationId xmlns:a16="http://schemas.microsoft.com/office/drawing/2014/main" id="{188A935E-94E5-45DB-BCE4-CA09D38D2295}"/>
                  </a:ext>
                </a:extLst>
              </p:cNvPr>
              <p:cNvSpPr>
                <a:spLocks noChangeShapeType="1"/>
              </p:cNvSpPr>
              <p:nvPr/>
            </p:nvSpPr>
            <p:spPr bwMode="auto">
              <a:xfrm>
                <a:off x="4387" y="2004"/>
                <a:ext cx="566"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60" name="Rectangle 138">
                <a:extLst>
                  <a:ext uri="{FF2B5EF4-FFF2-40B4-BE49-F238E27FC236}">
                    <a16:creationId xmlns:a16="http://schemas.microsoft.com/office/drawing/2014/main" id="{FFDFD7FB-5CA3-4C1F-8339-ED77F5C6A333}"/>
                  </a:ext>
                </a:extLst>
              </p:cNvPr>
              <p:cNvSpPr>
                <a:spLocks noChangeArrowheads="1"/>
              </p:cNvSpPr>
              <p:nvPr/>
            </p:nvSpPr>
            <p:spPr bwMode="auto">
              <a:xfrm>
                <a:off x="4387" y="2004"/>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1" name="Rectangle 139">
                <a:extLst>
                  <a:ext uri="{FF2B5EF4-FFF2-40B4-BE49-F238E27FC236}">
                    <a16:creationId xmlns:a16="http://schemas.microsoft.com/office/drawing/2014/main" id="{23D91A10-157E-411F-BF28-88D767DF65DD}"/>
                  </a:ext>
                </a:extLst>
              </p:cNvPr>
              <p:cNvSpPr>
                <a:spLocks noChangeArrowheads="1"/>
              </p:cNvSpPr>
              <p:nvPr/>
            </p:nvSpPr>
            <p:spPr bwMode="auto">
              <a:xfrm>
                <a:off x="1379" y="2235"/>
                <a:ext cx="573"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2" name="Rectangle 140">
                <a:extLst>
                  <a:ext uri="{FF2B5EF4-FFF2-40B4-BE49-F238E27FC236}">
                    <a16:creationId xmlns:a16="http://schemas.microsoft.com/office/drawing/2014/main" id="{D2C7A4FF-594A-4C59-8705-6A4EA82AF08E}"/>
                  </a:ext>
                </a:extLst>
              </p:cNvPr>
              <p:cNvSpPr>
                <a:spLocks noChangeArrowheads="1"/>
              </p:cNvSpPr>
              <p:nvPr/>
            </p:nvSpPr>
            <p:spPr bwMode="auto">
              <a:xfrm>
                <a:off x="1958" y="2235"/>
                <a:ext cx="6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3" name="Rectangle 141">
                <a:extLst>
                  <a:ext uri="{FF2B5EF4-FFF2-40B4-BE49-F238E27FC236}">
                    <a16:creationId xmlns:a16="http://schemas.microsoft.com/office/drawing/2014/main" id="{0A24FBFE-5D9C-408B-9EC8-CAEDE4B302CD}"/>
                  </a:ext>
                </a:extLst>
              </p:cNvPr>
              <p:cNvSpPr>
                <a:spLocks noChangeArrowheads="1"/>
              </p:cNvSpPr>
              <p:nvPr/>
            </p:nvSpPr>
            <p:spPr bwMode="auto">
              <a:xfrm>
                <a:off x="2652" y="2235"/>
                <a:ext cx="5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4" name="Rectangle 142">
                <a:extLst>
                  <a:ext uri="{FF2B5EF4-FFF2-40B4-BE49-F238E27FC236}">
                    <a16:creationId xmlns:a16="http://schemas.microsoft.com/office/drawing/2014/main" id="{C37BA7E5-9ECA-4075-B63D-F9BD92C1F94A}"/>
                  </a:ext>
                </a:extLst>
              </p:cNvPr>
              <p:cNvSpPr>
                <a:spLocks noChangeArrowheads="1"/>
              </p:cNvSpPr>
              <p:nvPr/>
            </p:nvSpPr>
            <p:spPr bwMode="auto">
              <a:xfrm>
                <a:off x="3230" y="2235"/>
                <a:ext cx="115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5" name="Rectangle 143">
                <a:extLst>
                  <a:ext uri="{FF2B5EF4-FFF2-40B4-BE49-F238E27FC236}">
                    <a16:creationId xmlns:a16="http://schemas.microsoft.com/office/drawing/2014/main" id="{1CD40619-30C0-472E-9954-8DDFB3C09DFA}"/>
                  </a:ext>
                </a:extLst>
              </p:cNvPr>
              <p:cNvSpPr>
                <a:spLocks noChangeArrowheads="1"/>
              </p:cNvSpPr>
              <p:nvPr/>
            </p:nvSpPr>
            <p:spPr bwMode="auto">
              <a:xfrm>
                <a:off x="4387" y="2235"/>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6" name="Rectangle 144">
                <a:extLst>
                  <a:ext uri="{FF2B5EF4-FFF2-40B4-BE49-F238E27FC236}">
                    <a16:creationId xmlns:a16="http://schemas.microsoft.com/office/drawing/2014/main" id="{956B8EC4-D36F-4CC3-ACF0-C58EF2969A25}"/>
                  </a:ext>
                </a:extLst>
              </p:cNvPr>
              <p:cNvSpPr>
                <a:spLocks noChangeArrowheads="1"/>
              </p:cNvSpPr>
              <p:nvPr/>
            </p:nvSpPr>
            <p:spPr bwMode="auto">
              <a:xfrm>
                <a:off x="1379" y="2582"/>
                <a:ext cx="573"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7" name="Rectangle 145">
                <a:extLst>
                  <a:ext uri="{FF2B5EF4-FFF2-40B4-BE49-F238E27FC236}">
                    <a16:creationId xmlns:a16="http://schemas.microsoft.com/office/drawing/2014/main" id="{766BF64E-6EF5-4675-A513-6746C4AEEDF8}"/>
                  </a:ext>
                </a:extLst>
              </p:cNvPr>
              <p:cNvSpPr>
                <a:spLocks noChangeArrowheads="1"/>
              </p:cNvSpPr>
              <p:nvPr/>
            </p:nvSpPr>
            <p:spPr bwMode="auto">
              <a:xfrm>
                <a:off x="1958" y="2582"/>
                <a:ext cx="6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8" name="Rectangle 146">
                <a:extLst>
                  <a:ext uri="{FF2B5EF4-FFF2-40B4-BE49-F238E27FC236}">
                    <a16:creationId xmlns:a16="http://schemas.microsoft.com/office/drawing/2014/main" id="{86C4FF1F-2DCE-4014-9D96-4C98BB98800C}"/>
                  </a:ext>
                </a:extLst>
              </p:cNvPr>
              <p:cNvSpPr>
                <a:spLocks noChangeArrowheads="1"/>
              </p:cNvSpPr>
              <p:nvPr/>
            </p:nvSpPr>
            <p:spPr bwMode="auto">
              <a:xfrm>
                <a:off x="1379" y="2929"/>
                <a:ext cx="573"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9" name="Rectangle 147">
                <a:extLst>
                  <a:ext uri="{FF2B5EF4-FFF2-40B4-BE49-F238E27FC236}">
                    <a16:creationId xmlns:a16="http://schemas.microsoft.com/office/drawing/2014/main" id="{64361EB5-E043-422E-AB09-30BC3C82725D}"/>
                  </a:ext>
                </a:extLst>
              </p:cNvPr>
              <p:cNvSpPr>
                <a:spLocks noChangeArrowheads="1"/>
              </p:cNvSpPr>
              <p:nvPr/>
            </p:nvSpPr>
            <p:spPr bwMode="auto">
              <a:xfrm>
                <a:off x="1958" y="2929"/>
                <a:ext cx="6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0" name="Rectangle 148">
                <a:extLst>
                  <a:ext uri="{FF2B5EF4-FFF2-40B4-BE49-F238E27FC236}">
                    <a16:creationId xmlns:a16="http://schemas.microsoft.com/office/drawing/2014/main" id="{8840C159-D81A-4D9D-95E7-CC731B3A859B}"/>
                  </a:ext>
                </a:extLst>
              </p:cNvPr>
              <p:cNvSpPr>
                <a:spLocks noChangeArrowheads="1"/>
              </p:cNvSpPr>
              <p:nvPr/>
            </p:nvSpPr>
            <p:spPr bwMode="auto">
              <a:xfrm>
                <a:off x="1379" y="3276"/>
                <a:ext cx="573"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1" name="Rectangle 149">
                <a:extLst>
                  <a:ext uri="{FF2B5EF4-FFF2-40B4-BE49-F238E27FC236}">
                    <a16:creationId xmlns:a16="http://schemas.microsoft.com/office/drawing/2014/main" id="{59833CE8-8474-473F-BFF2-5AC51FCCF2D4}"/>
                  </a:ext>
                </a:extLst>
              </p:cNvPr>
              <p:cNvSpPr>
                <a:spLocks noChangeArrowheads="1"/>
              </p:cNvSpPr>
              <p:nvPr/>
            </p:nvSpPr>
            <p:spPr bwMode="auto">
              <a:xfrm>
                <a:off x="1958" y="3276"/>
                <a:ext cx="68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2" name="Line 150">
                <a:extLst>
                  <a:ext uri="{FF2B5EF4-FFF2-40B4-BE49-F238E27FC236}">
                    <a16:creationId xmlns:a16="http://schemas.microsoft.com/office/drawing/2014/main" id="{606A0CF1-9F11-4E8B-8965-B19D116AEC23}"/>
                  </a:ext>
                </a:extLst>
              </p:cNvPr>
              <p:cNvSpPr>
                <a:spLocks noChangeShapeType="1"/>
              </p:cNvSpPr>
              <p:nvPr/>
            </p:nvSpPr>
            <p:spPr bwMode="auto">
              <a:xfrm>
                <a:off x="801" y="3623"/>
                <a:ext cx="4152"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73" name="Rectangle 151">
                <a:extLst>
                  <a:ext uri="{FF2B5EF4-FFF2-40B4-BE49-F238E27FC236}">
                    <a16:creationId xmlns:a16="http://schemas.microsoft.com/office/drawing/2014/main" id="{9020DD67-8EB0-4C9D-A397-F5D1464456E2}"/>
                  </a:ext>
                </a:extLst>
              </p:cNvPr>
              <p:cNvSpPr>
                <a:spLocks noChangeArrowheads="1"/>
              </p:cNvSpPr>
              <p:nvPr/>
            </p:nvSpPr>
            <p:spPr bwMode="auto">
              <a:xfrm>
                <a:off x="801" y="3623"/>
                <a:ext cx="415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4" name="Rectangle 152">
                <a:extLst>
                  <a:ext uri="{FF2B5EF4-FFF2-40B4-BE49-F238E27FC236}">
                    <a16:creationId xmlns:a16="http://schemas.microsoft.com/office/drawing/2014/main" id="{5F79B54B-CE7C-4156-88D8-78BC6D6A97EA}"/>
                  </a:ext>
                </a:extLst>
              </p:cNvPr>
              <p:cNvSpPr>
                <a:spLocks noChangeArrowheads="1"/>
              </p:cNvSpPr>
              <p:nvPr/>
            </p:nvSpPr>
            <p:spPr bwMode="auto">
              <a:xfrm>
                <a:off x="2652" y="3855"/>
                <a:ext cx="5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5" name="Rectangle 153">
                <a:extLst>
                  <a:ext uri="{FF2B5EF4-FFF2-40B4-BE49-F238E27FC236}">
                    <a16:creationId xmlns:a16="http://schemas.microsoft.com/office/drawing/2014/main" id="{0DA98E42-31AD-4F11-BD99-DDECB00E2135}"/>
                  </a:ext>
                </a:extLst>
              </p:cNvPr>
              <p:cNvSpPr>
                <a:spLocks noChangeArrowheads="1"/>
              </p:cNvSpPr>
              <p:nvPr/>
            </p:nvSpPr>
            <p:spPr bwMode="auto">
              <a:xfrm>
                <a:off x="4387" y="3855"/>
                <a:ext cx="56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6" name="Rectangle 154">
                <a:extLst>
                  <a:ext uri="{FF2B5EF4-FFF2-40B4-BE49-F238E27FC236}">
                    <a16:creationId xmlns:a16="http://schemas.microsoft.com/office/drawing/2014/main" id="{67BF8C3E-9E15-4013-9B28-28A311C753BB}"/>
                  </a:ext>
                </a:extLst>
              </p:cNvPr>
              <p:cNvSpPr>
                <a:spLocks noChangeArrowheads="1"/>
              </p:cNvSpPr>
              <p:nvPr/>
            </p:nvSpPr>
            <p:spPr bwMode="auto">
              <a:xfrm>
                <a:off x="2652" y="4086"/>
                <a:ext cx="5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7" name="Rectangle 155">
                <a:extLst>
                  <a:ext uri="{FF2B5EF4-FFF2-40B4-BE49-F238E27FC236}">
                    <a16:creationId xmlns:a16="http://schemas.microsoft.com/office/drawing/2014/main" id="{B679E168-631F-4DBA-B025-65F78F298984}"/>
                  </a:ext>
                </a:extLst>
              </p:cNvPr>
              <p:cNvSpPr>
                <a:spLocks noChangeArrowheads="1"/>
              </p:cNvSpPr>
              <p:nvPr/>
            </p:nvSpPr>
            <p:spPr bwMode="auto">
              <a:xfrm>
                <a:off x="4387" y="4086"/>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8" name="Rectangle 156">
                <a:extLst>
                  <a:ext uri="{FF2B5EF4-FFF2-40B4-BE49-F238E27FC236}">
                    <a16:creationId xmlns:a16="http://schemas.microsoft.com/office/drawing/2014/main" id="{5363BD6E-8C80-4741-8A81-31BABF5603E6}"/>
                  </a:ext>
                </a:extLst>
              </p:cNvPr>
              <p:cNvSpPr>
                <a:spLocks noChangeArrowheads="1"/>
              </p:cNvSpPr>
              <p:nvPr/>
            </p:nvSpPr>
            <p:spPr bwMode="auto">
              <a:xfrm>
                <a:off x="789" y="-3"/>
                <a:ext cx="12" cy="432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9" name="Line 157">
                <a:extLst>
                  <a:ext uri="{FF2B5EF4-FFF2-40B4-BE49-F238E27FC236}">
                    <a16:creationId xmlns:a16="http://schemas.microsoft.com/office/drawing/2014/main" id="{6883D1D5-E2BB-4BE9-A676-A0FF9BFD92E9}"/>
                  </a:ext>
                </a:extLst>
              </p:cNvPr>
              <p:cNvSpPr>
                <a:spLocks noChangeShapeType="1"/>
              </p:cNvSpPr>
              <p:nvPr/>
            </p:nvSpPr>
            <p:spPr bwMode="auto">
              <a:xfrm>
                <a:off x="1373" y="1512"/>
                <a:ext cx="0" cy="2799"/>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0" name="Rectangle 158">
                <a:extLst>
                  <a:ext uri="{FF2B5EF4-FFF2-40B4-BE49-F238E27FC236}">
                    <a16:creationId xmlns:a16="http://schemas.microsoft.com/office/drawing/2014/main" id="{E615DEE2-4324-4106-BE48-AF72C831A1EA}"/>
                  </a:ext>
                </a:extLst>
              </p:cNvPr>
              <p:cNvSpPr>
                <a:spLocks noChangeArrowheads="1"/>
              </p:cNvSpPr>
              <p:nvPr/>
            </p:nvSpPr>
            <p:spPr bwMode="auto">
              <a:xfrm>
                <a:off x="1373" y="1512"/>
                <a:ext cx="6" cy="27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1" name="Line 159">
                <a:extLst>
                  <a:ext uri="{FF2B5EF4-FFF2-40B4-BE49-F238E27FC236}">
                    <a16:creationId xmlns:a16="http://schemas.microsoft.com/office/drawing/2014/main" id="{C17C6CE3-2EBF-4B0F-B181-6A100C50E064}"/>
                  </a:ext>
                </a:extLst>
              </p:cNvPr>
              <p:cNvSpPr>
                <a:spLocks noChangeShapeType="1"/>
              </p:cNvSpPr>
              <p:nvPr/>
            </p:nvSpPr>
            <p:spPr bwMode="auto">
              <a:xfrm>
                <a:off x="1952" y="1512"/>
                <a:ext cx="0" cy="2799"/>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2" name="Rectangle 160">
                <a:extLst>
                  <a:ext uri="{FF2B5EF4-FFF2-40B4-BE49-F238E27FC236}">
                    <a16:creationId xmlns:a16="http://schemas.microsoft.com/office/drawing/2014/main" id="{05DF9414-2FD2-4577-B59A-2D66A1534DAA}"/>
                  </a:ext>
                </a:extLst>
              </p:cNvPr>
              <p:cNvSpPr>
                <a:spLocks noChangeArrowheads="1"/>
              </p:cNvSpPr>
              <p:nvPr/>
            </p:nvSpPr>
            <p:spPr bwMode="auto">
              <a:xfrm>
                <a:off x="1952" y="1512"/>
                <a:ext cx="6" cy="27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3" name="Line 161">
                <a:extLst>
                  <a:ext uri="{FF2B5EF4-FFF2-40B4-BE49-F238E27FC236}">
                    <a16:creationId xmlns:a16="http://schemas.microsoft.com/office/drawing/2014/main" id="{979829D5-3329-43D1-BB57-0CE1C0DF8F2D}"/>
                  </a:ext>
                </a:extLst>
              </p:cNvPr>
              <p:cNvSpPr>
                <a:spLocks noChangeShapeType="1"/>
              </p:cNvSpPr>
              <p:nvPr/>
            </p:nvSpPr>
            <p:spPr bwMode="auto">
              <a:xfrm>
                <a:off x="2646" y="1512"/>
                <a:ext cx="0" cy="2799"/>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4" name="Rectangle 162">
                <a:extLst>
                  <a:ext uri="{FF2B5EF4-FFF2-40B4-BE49-F238E27FC236}">
                    <a16:creationId xmlns:a16="http://schemas.microsoft.com/office/drawing/2014/main" id="{45343E3D-A8D4-46A8-8C94-1F143E8ED446}"/>
                  </a:ext>
                </a:extLst>
              </p:cNvPr>
              <p:cNvSpPr>
                <a:spLocks noChangeArrowheads="1"/>
              </p:cNvSpPr>
              <p:nvPr/>
            </p:nvSpPr>
            <p:spPr bwMode="auto">
              <a:xfrm>
                <a:off x="2646" y="1512"/>
                <a:ext cx="6" cy="27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5" name="Line 163">
                <a:extLst>
                  <a:ext uri="{FF2B5EF4-FFF2-40B4-BE49-F238E27FC236}">
                    <a16:creationId xmlns:a16="http://schemas.microsoft.com/office/drawing/2014/main" id="{1791CF86-D055-43E7-98C4-D1955471A026}"/>
                  </a:ext>
                </a:extLst>
              </p:cNvPr>
              <p:cNvSpPr>
                <a:spLocks noChangeShapeType="1"/>
              </p:cNvSpPr>
              <p:nvPr/>
            </p:nvSpPr>
            <p:spPr bwMode="auto">
              <a:xfrm>
                <a:off x="3224" y="1512"/>
                <a:ext cx="0" cy="2799"/>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6" name="Rectangle 164">
                <a:extLst>
                  <a:ext uri="{FF2B5EF4-FFF2-40B4-BE49-F238E27FC236}">
                    <a16:creationId xmlns:a16="http://schemas.microsoft.com/office/drawing/2014/main" id="{2009A714-E963-434F-8DFB-AA5EA2D8F717}"/>
                  </a:ext>
                </a:extLst>
              </p:cNvPr>
              <p:cNvSpPr>
                <a:spLocks noChangeArrowheads="1"/>
              </p:cNvSpPr>
              <p:nvPr/>
            </p:nvSpPr>
            <p:spPr bwMode="auto">
              <a:xfrm>
                <a:off x="3224" y="1512"/>
                <a:ext cx="6" cy="27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7" name="Line 165">
                <a:extLst>
                  <a:ext uri="{FF2B5EF4-FFF2-40B4-BE49-F238E27FC236}">
                    <a16:creationId xmlns:a16="http://schemas.microsoft.com/office/drawing/2014/main" id="{50602C6A-F2B6-43C9-B603-D40B1389D7CE}"/>
                  </a:ext>
                </a:extLst>
              </p:cNvPr>
              <p:cNvSpPr>
                <a:spLocks noChangeShapeType="1"/>
              </p:cNvSpPr>
              <p:nvPr/>
            </p:nvSpPr>
            <p:spPr bwMode="auto">
              <a:xfrm flipV="1">
                <a:off x="3802"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8" name="Rectangle 166">
                <a:extLst>
                  <a:ext uri="{FF2B5EF4-FFF2-40B4-BE49-F238E27FC236}">
                    <a16:creationId xmlns:a16="http://schemas.microsoft.com/office/drawing/2014/main" id="{A38E72DB-E583-4705-9992-8DA104A6A5A2}"/>
                  </a:ext>
                </a:extLst>
              </p:cNvPr>
              <p:cNvSpPr>
                <a:spLocks noChangeArrowheads="1"/>
              </p:cNvSpPr>
              <p:nvPr/>
            </p:nvSpPr>
            <p:spPr bwMode="auto">
              <a:xfrm>
                <a:off x="3802"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9" name="Line 167">
                <a:extLst>
                  <a:ext uri="{FF2B5EF4-FFF2-40B4-BE49-F238E27FC236}">
                    <a16:creationId xmlns:a16="http://schemas.microsoft.com/office/drawing/2014/main" id="{7F0AFADD-E5A9-4B83-ABD2-265AA93984E0}"/>
                  </a:ext>
                </a:extLst>
              </p:cNvPr>
              <p:cNvSpPr>
                <a:spLocks noChangeShapeType="1"/>
              </p:cNvSpPr>
              <p:nvPr/>
            </p:nvSpPr>
            <p:spPr bwMode="auto">
              <a:xfrm>
                <a:off x="4381" y="1512"/>
                <a:ext cx="0" cy="2799"/>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90" name="Rectangle 168">
                <a:extLst>
                  <a:ext uri="{FF2B5EF4-FFF2-40B4-BE49-F238E27FC236}">
                    <a16:creationId xmlns:a16="http://schemas.microsoft.com/office/drawing/2014/main" id="{FD1F1A6A-FFB4-43B1-BDDB-52BE5E79D4BC}"/>
                  </a:ext>
                </a:extLst>
              </p:cNvPr>
              <p:cNvSpPr>
                <a:spLocks noChangeArrowheads="1"/>
              </p:cNvSpPr>
              <p:nvPr/>
            </p:nvSpPr>
            <p:spPr bwMode="auto">
              <a:xfrm>
                <a:off x="4381" y="1512"/>
                <a:ext cx="6" cy="27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1" name="Rectangle 169">
                <a:extLst>
                  <a:ext uri="{FF2B5EF4-FFF2-40B4-BE49-F238E27FC236}">
                    <a16:creationId xmlns:a16="http://schemas.microsoft.com/office/drawing/2014/main" id="{E28086D7-A5E3-4CC7-B097-DBBF4201BAFF}"/>
                  </a:ext>
                </a:extLst>
              </p:cNvPr>
              <p:cNvSpPr>
                <a:spLocks noChangeArrowheads="1"/>
              </p:cNvSpPr>
              <p:nvPr/>
            </p:nvSpPr>
            <p:spPr bwMode="auto">
              <a:xfrm>
                <a:off x="801" y="4311"/>
                <a:ext cx="4164"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2" name="Rectangle 170">
                <a:extLst>
                  <a:ext uri="{FF2B5EF4-FFF2-40B4-BE49-F238E27FC236}">
                    <a16:creationId xmlns:a16="http://schemas.microsoft.com/office/drawing/2014/main" id="{3522AF55-2BE8-40B9-B5EF-C50C85A99C31}"/>
                  </a:ext>
                </a:extLst>
              </p:cNvPr>
              <p:cNvSpPr>
                <a:spLocks noChangeArrowheads="1"/>
              </p:cNvSpPr>
              <p:nvPr/>
            </p:nvSpPr>
            <p:spPr bwMode="auto">
              <a:xfrm>
                <a:off x="4953" y="9"/>
                <a:ext cx="12" cy="43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3" name="Line 171">
                <a:extLst>
                  <a:ext uri="{FF2B5EF4-FFF2-40B4-BE49-F238E27FC236}">
                    <a16:creationId xmlns:a16="http://schemas.microsoft.com/office/drawing/2014/main" id="{26CC4F6C-8BB4-4A57-8FCF-691035BD21A6}"/>
                  </a:ext>
                </a:extLst>
              </p:cNvPr>
              <p:cNvSpPr>
                <a:spLocks noChangeShapeType="1"/>
              </p:cNvSpPr>
              <p:nvPr/>
            </p:nvSpPr>
            <p:spPr bwMode="auto">
              <a:xfrm>
                <a:off x="795" y="43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94" name="Rectangle 172">
                <a:extLst>
                  <a:ext uri="{FF2B5EF4-FFF2-40B4-BE49-F238E27FC236}">
                    <a16:creationId xmlns:a16="http://schemas.microsoft.com/office/drawing/2014/main" id="{43F5B1EF-A9A1-4351-9E81-55EDA4392EA1}"/>
                  </a:ext>
                </a:extLst>
              </p:cNvPr>
              <p:cNvSpPr>
                <a:spLocks noChangeArrowheads="1"/>
              </p:cNvSpPr>
              <p:nvPr/>
            </p:nvSpPr>
            <p:spPr bwMode="auto">
              <a:xfrm>
                <a:off x="795" y="43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5" name="Line 173">
                <a:extLst>
                  <a:ext uri="{FF2B5EF4-FFF2-40B4-BE49-F238E27FC236}">
                    <a16:creationId xmlns:a16="http://schemas.microsoft.com/office/drawing/2014/main" id="{90FD81CC-9BC2-4213-BB21-9A7FD26D64C4}"/>
                  </a:ext>
                </a:extLst>
              </p:cNvPr>
              <p:cNvSpPr>
                <a:spLocks noChangeShapeType="1"/>
              </p:cNvSpPr>
              <p:nvPr/>
            </p:nvSpPr>
            <p:spPr bwMode="auto">
              <a:xfrm>
                <a:off x="1373" y="43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96" name="Rectangle 174">
                <a:extLst>
                  <a:ext uri="{FF2B5EF4-FFF2-40B4-BE49-F238E27FC236}">
                    <a16:creationId xmlns:a16="http://schemas.microsoft.com/office/drawing/2014/main" id="{45C71ADB-B447-47CB-9798-6519F031C9C9}"/>
                  </a:ext>
                </a:extLst>
              </p:cNvPr>
              <p:cNvSpPr>
                <a:spLocks noChangeArrowheads="1"/>
              </p:cNvSpPr>
              <p:nvPr/>
            </p:nvSpPr>
            <p:spPr bwMode="auto">
              <a:xfrm>
                <a:off x="1373" y="43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7" name="Line 175">
                <a:extLst>
                  <a:ext uri="{FF2B5EF4-FFF2-40B4-BE49-F238E27FC236}">
                    <a16:creationId xmlns:a16="http://schemas.microsoft.com/office/drawing/2014/main" id="{E10563E8-8BB1-4E8F-87AA-DB6502F453BB}"/>
                  </a:ext>
                </a:extLst>
              </p:cNvPr>
              <p:cNvSpPr>
                <a:spLocks noChangeShapeType="1"/>
              </p:cNvSpPr>
              <p:nvPr/>
            </p:nvSpPr>
            <p:spPr bwMode="auto">
              <a:xfrm>
                <a:off x="1952" y="43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98" name="Rectangle 176">
                <a:extLst>
                  <a:ext uri="{FF2B5EF4-FFF2-40B4-BE49-F238E27FC236}">
                    <a16:creationId xmlns:a16="http://schemas.microsoft.com/office/drawing/2014/main" id="{34650178-3D9F-44EB-8D3D-BFC761031C5A}"/>
                  </a:ext>
                </a:extLst>
              </p:cNvPr>
              <p:cNvSpPr>
                <a:spLocks noChangeArrowheads="1"/>
              </p:cNvSpPr>
              <p:nvPr/>
            </p:nvSpPr>
            <p:spPr bwMode="auto">
              <a:xfrm>
                <a:off x="1952" y="43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9" name="Line 177">
                <a:extLst>
                  <a:ext uri="{FF2B5EF4-FFF2-40B4-BE49-F238E27FC236}">
                    <a16:creationId xmlns:a16="http://schemas.microsoft.com/office/drawing/2014/main" id="{7E4E472B-BB28-4E44-ADD5-E1829F38A462}"/>
                  </a:ext>
                </a:extLst>
              </p:cNvPr>
              <p:cNvSpPr>
                <a:spLocks noChangeShapeType="1"/>
              </p:cNvSpPr>
              <p:nvPr/>
            </p:nvSpPr>
            <p:spPr bwMode="auto">
              <a:xfrm>
                <a:off x="2646" y="43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0" name="Rectangle 178">
                <a:extLst>
                  <a:ext uri="{FF2B5EF4-FFF2-40B4-BE49-F238E27FC236}">
                    <a16:creationId xmlns:a16="http://schemas.microsoft.com/office/drawing/2014/main" id="{4DD1A641-966D-49DF-97F1-85A91DA1561B}"/>
                  </a:ext>
                </a:extLst>
              </p:cNvPr>
              <p:cNvSpPr>
                <a:spLocks noChangeArrowheads="1"/>
              </p:cNvSpPr>
              <p:nvPr/>
            </p:nvSpPr>
            <p:spPr bwMode="auto">
              <a:xfrm>
                <a:off x="2646" y="43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1" name="Line 179">
                <a:extLst>
                  <a:ext uri="{FF2B5EF4-FFF2-40B4-BE49-F238E27FC236}">
                    <a16:creationId xmlns:a16="http://schemas.microsoft.com/office/drawing/2014/main" id="{49E01C78-380F-4B1E-95C0-5DB1CD7DD6D5}"/>
                  </a:ext>
                </a:extLst>
              </p:cNvPr>
              <p:cNvSpPr>
                <a:spLocks noChangeShapeType="1"/>
              </p:cNvSpPr>
              <p:nvPr/>
            </p:nvSpPr>
            <p:spPr bwMode="auto">
              <a:xfrm>
                <a:off x="3224" y="43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2" name="Rectangle 180">
                <a:extLst>
                  <a:ext uri="{FF2B5EF4-FFF2-40B4-BE49-F238E27FC236}">
                    <a16:creationId xmlns:a16="http://schemas.microsoft.com/office/drawing/2014/main" id="{35C2179E-2936-444A-949E-32740E4D1BFF}"/>
                  </a:ext>
                </a:extLst>
              </p:cNvPr>
              <p:cNvSpPr>
                <a:spLocks noChangeArrowheads="1"/>
              </p:cNvSpPr>
              <p:nvPr/>
            </p:nvSpPr>
            <p:spPr bwMode="auto">
              <a:xfrm>
                <a:off x="3224" y="43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3" name="Line 181">
                <a:extLst>
                  <a:ext uri="{FF2B5EF4-FFF2-40B4-BE49-F238E27FC236}">
                    <a16:creationId xmlns:a16="http://schemas.microsoft.com/office/drawing/2014/main" id="{564A61E0-C137-4BDA-A946-2E5751593C8A}"/>
                  </a:ext>
                </a:extLst>
              </p:cNvPr>
              <p:cNvSpPr>
                <a:spLocks noChangeShapeType="1"/>
              </p:cNvSpPr>
              <p:nvPr/>
            </p:nvSpPr>
            <p:spPr bwMode="auto">
              <a:xfrm>
                <a:off x="3802" y="43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4" name="Rectangle 182">
                <a:extLst>
                  <a:ext uri="{FF2B5EF4-FFF2-40B4-BE49-F238E27FC236}">
                    <a16:creationId xmlns:a16="http://schemas.microsoft.com/office/drawing/2014/main" id="{219C6B8C-80D4-4818-897A-885A49BEC4E7}"/>
                  </a:ext>
                </a:extLst>
              </p:cNvPr>
              <p:cNvSpPr>
                <a:spLocks noChangeArrowheads="1"/>
              </p:cNvSpPr>
              <p:nvPr/>
            </p:nvSpPr>
            <p:spPr bwMode="auto">
              <a:xfrm>
                <a:off x="3802" y="43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5" name="Line 183">
                <a:extLst>
                  <a:ext uri="{FF2B5EF4-FFF2-40B4-BE49-F238E27FC236}">
                    <a16:creationId xmlns:a16="http://schemas.microsoft.com/office/drawing/2014/main" id="{2EBF5E2F-E8D1-473D-9C21-962B5CB7DB31}"/>
                  </a:ext>
                </a:extLst>
              </p:cNvPr>
              <p:cNvSpPr>
                <a:spLocks noChangeShapeType="1"/>
              </p:cNvSpPr>
              <p:nvPr/>
            </p:nvSpPr>
            <p:spPr bwMode="auto">
              <a:xfrm>
                <a:off x="4381" y="43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6" name="Rectangle 184">
                <a:extLst>
                  <a:ext uri="{FF2B5EF4-FFF2-40B4-BE49-F238E27FC236}">
                    <a16:creationId xmlns:a16="http://schemas.microsoft.com/office/drawing/2014/main" id="{33AA90AB-EF57-4447-B95C-2EC04C784FE5}"/>
                  </a:ext>
                </a:extLst>
              </p:cNvPr>
              <p:cNvSpPr>
                <a:spLocks noChangeArrowheads="1"/>
              </p:cNvSpPr>
              <p:nvPr/>
            </p:nvSpPr>
            <p:spPr bwMode="auto">
              <a:xfrm>
                <a:off x="4381" y="43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7" name="Line 185">
                <a:extLst>
                  <a:ext uri="{FF2B5EF4-FFF2-40B4-BE49-F238E27FC236}">
                    <a16:creationId xmlns:a16="http://schemas.microsoft.com/office/drawing/2014/main" id="{5EBB3B28-1CF7-4EF1-937E-A8206F632D98}"/>
                  </a:ext>
                </a:extLst>
              </p:cNvPr>
              <p:cNvSpPr>
                <a:spLocks noChangeShapeType="1"/>
              </p:cNvSpPr>
              <p:nvPr/>
            </p:nvSpPr>
            <p:spPr bwMode="auto">
              <a:xfrm>
                <a:off x="4959" y="43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8" name="Rectangle 186">
                <a:extLst>
                  <a:ext uri="{FF2B5EF4-FFF2-40B4-BE49-F238E27FC236}">
                    <a16:creationId xmlns:a16="http://schemas.microsoft.com/office/drawing/2014/main" id="{47D4D1C8-E715-454E-A6B4-E1F0AD67FBF7}"/>
                  </a:ext>
                </a:extLst>
              </p:cNvPr>
              <p:cNvSpPr>
                <a:spLocks noChangeArrowheads="1"/>
              </p:cNvSpPr>
              <p:nvPr/>
            </p:nvSpPr>
            <p:spPr bwMode="auto">
              <a:xfrm>
                <a:off x="4959" y="43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9" name="Line 187">
                <a:extLst>
                  <a:ext uri="{FF2B5EF4-FFF2-40B4-BE49-F238E27FC236}">
                    <a16:creationId xmlns:a16="http://schemas.microsoft.com/office/drawing/2014/main" id="{5C84E15A-94CD-47A0-AA01-718AB79257DA}"/>
                  </a:ext>
                </a:extLst>
              </p:cNvPr>
              <p:cNvSpPr>
                <a:spLocks noChangeShapeType="1"/>
              </p:cNvSpPr>
              <p:nvPr/>
            </p:nvSpPr>
            <p:spPr bwMode="auto">
              <a:xfrm>
                <a:off x="4965" y="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0" name="Rectangle 188">
                <a:extLst>
                  <a:ext uri="{FF2B5EF4-FFF2-40B4-BE49-F238E27FC236}">
                    <a16:creationId xmlns:a16="http://schemas.microsoft.com/office/drawing/2014/main" id="{E733B8C9-8477-4048-A7EC-C7CA4735BFFC}"/>
                  </a:ext>
                </a:extLst>
              </p:cNvPr>
              <p:cNvSpPr>
                <a:spLocks noChangeArrowheads="1"/>
              </p:cNvSpPr>
              <p:nvPr/>
            </p:nvSpPr>
            <p:spPr bwMode="auto">
              <a:xfrm>
                <a:off x="4965" y="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1" name="Line 189">
                <a:extLst>
                  <a:ext uri="{FF2B5EF4-FFF2-40B4-BE49-F238E27FC236}">
                    <a16:creationId xmlns:a16="http://schemas.microsoft.com/office/drawing/2014/main" id="{68E6412C-E094-41F8-BC7C-C44B15A8EF88}"/>
                  </a:ext>
                </a:extLst>
              </p:cNvPr>
              <p:cNvSpPr>
                <a:spLocks noChangeShapeType="1"/>
              </p:cNvSpPr>
              <p:nvPr/>
            </p:nvSpPr>
            <p:spPr bwMode="auto">
              <a:xfrm>
                <a:off x="4965" y="234"/>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2" name="Rectangle 190">
                <a:extLst>
                  <a:ext uri="{FF2B5EF4-FFF2-40B4-BE49-F238E27FC236}">
                    <a16:creationId xmlns:a16="http://schemas.microsoft.com/office/drawing/2014/main" id="{95E3D64F-62BF-4C50-881B-9E1AE9AE42A9}"/>
                  </a:ext>
                </a:extLst>
              </p:cNvPr>
              <p:cNvSpPr>
                <a:spLocks noChangeArrowheads="1"/>
              </p:cNvSpPr>
              <p:nvPr/>
            </p:nvSpPr>
            <p:spPr bwMode="auto">
              <a:xfrm>
                <a:off x="4965" y="234"/>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3" name="Line 191">
                <a:extLst>
                  <a:ext uri="{FF2B5EF4-FFF2-40B4-BE49-F238E27FC236}">
                    <a16:creationId xmlns:a16="http://schemas.microsoft.com/office/drawing/2014/main" id="{5CD36ABA-67C3-4D48-B30F-C51B32744FD6}"/>
                  </a:ext>
                </a:extLst>
              </p:cNvPr>
              <p:cNvSpPr>
                <a:spLocks noChangeShapeType="1"/>
              </p:cNvSpPr>
              <p:nvPr/>
            </p:nvSpPr>
            <p:spPr bwMode="auto">
              <a:xfrm>
                <a:off x="4965" y="466"/>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4" name="Rectangle 192">
                <a:extLst>
                  <a:ext uri="{FF2B5EF4-FFF2-40B4-BE49-F238E27FC236}">
                    <a16:creationId xmlns:a16="http://schemas.microsoft.com/office/drawing/2014/main" id="{5F45E879-9AD9-4FC7-BC90-7DD5CDB00708}"/>
                  </a:ext>
                </a:extLst>
              </p:cNvPr>
              <p:cNvSpPr>
                <a:spLocks noChangeArrowheads="1"/>
              </p:cNvSpPr>
              <p:nvPr/>
            </p:nvSpPr>
            <p:spPr bwMode="auto">
              <a:xfrm>
                <a:off x="4965" y="466"/>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5" name="Line 193">
                <a:extLst>
                  <a:ext uri="{FF2B5EF4-FFF2-40B4-BE49-F238E27FC236}">
                    <a16:creationId xmlns:a16="http://schemas.microsoft.com/office/drawing/2014/main" id="{2F677FF2-8263-4FD6-A9EC-5A999E59CCA6}"/>
                  </a:ext>
                </a:extLst>
              </p:cNvPr>
              <p:cNvSpPr>
                <a:spLocks noChangeShapeType="1"/>
              </p:cNvSpPr>
              <p:nvPr/>
            </p:nvSpPr>
            <p:spPr bwMode="auto">
              <a:xfrm>
                <a:off x="4965" y="81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6" name="Rectangle 194">
                <a:extLst>
                  <a:ext uri="{FF2B5EF4-FFF2-40B4-BE49-F238E27FC236}">
                    <a16:creationId xmlns:a16="http://schemas.microsoft.com/office/drawing/2014/main" id="{FCF26145-3702-4643-AE42-8658596F5FBD}"/>
                  </a:ext>
                </a:extLst>
              </p:cNvPr>
              <p:cNvSpPr>
                <a:spLocks noChangeArrowheads="1"/>
              </p:cNvSpPr>
              <p:nvPr/>
            </p:nvSpPr>
            <p:spPr bwMode="auto">
              <a:xfrm>
                <a:off x="4965" y="813"/>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7" name="Line 195">
                <a:extLst>
                  <a:ext uri="{FF2B5EF4-FFF2-40B4-BE49-F238E27FC236}">
                    <a16:creationId xmlns:a16="http://schemas.microsoft.com/office/drawing/2014/main" id="{9B17CAB6-54F7-42FD-B71D-6B34BD387E45}"/>
                  </a:ext>
                </a:extLst>
              </p:cNvPr>
              <p:cNvSpPr>
                <a:spLocks noChangeShapeType="1"/>
              </p:cNvSpPr>
              <p:nvPr/>
            </p:nvSpPr>
            <p:spPr bwMode="auto">
              <a:xfrm>
                <a:off x="4965" y="1160"/>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8" name="Rectangle 196">
                <a:extLst>
                  <a:ext uri="{FF2B5EF4-FFF2-40B4-BE49-F238E27FC236}">
                    <a16:creationId xmlns:a16="http://schemas.microsoft.com/office/drawing/2014/main" id="{F84E1E8C-B12E-415C-B1E4-4CFB2ED4E356}"/>
                  </a:ext>
                </a:extLst>
              </p:cNvPr>
              <p:cNvSpPr>
                <a:spLocks noChangeArrowheads="1"/>
              </p:cNvSpPr>
              <p:nvPr/>
            </p:nvSpPr>
            <p:spPr bwMode="auto">
              <a:xfrm>
                <a:off x="4965" y="1160"/>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9" name="Line 197">
                <a:extLst>
                  <a:ext uri="{FF2B5EF4-FFF2-40B4-BE49-F238E27FC236}">
                    <a16:creationId xmlns:a16="http://schemas.microsoft.com/office/drawing/2014/main" id="{C069A14C-C866-4AA0-8A0C-83B2AD567960}"/>
                  </a:ext>
                </a:extLst>
              </p:cNvPr>
              <p:cNvSpPr>
                <a:spLocks noChangeShapeType="1"/>
              </p:cNvSpPr>
              <p:nvPr/>
            </p:nvSpPr>
            <p:spPr bwMode="auto">
              <a:xfrm>
                <a:off x="4965" y="1507"/>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0" name="Rectangle 198">
                <a:extLst>
                  <a:ext uri="{FF2B5EF4-FFF2-40B4-BE49-F238E27FC236}">
                    <a16:creationId xmlns:a16="http://schemas.microsoft.com/office/drawing/2014/main" id="{8FEC98DE-4388-44BC-8BB4-7AEC68126BAB}"/>
                  </a:ext>
                </a:extLst>
              </p:cNvPr>
              <p:cNvSpPr>
                <a:spLocks noChangeArrowheads="1"/>
              </p:cNvSpPr>
              <p:nvPr/>
            </p:nvSpPr>
            <p:spPr bwMode="auto">
              <a:xfrm>
                <a:off x="4965" y="1507"/>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21" name="Line 199">
                <a:extLst>
                  <a:ext uri="{FF2B5EF4-FFF2-40B4-BE49-F238E27FC236}">
                    <a16:creationId xmlns:a16="http://schemas.microsoft.com/office/drawing/2014/main" id="{04C06D11-9B35-4590-A9BC-9A1FB1C3D4BF}"/>
                  </a:ext>
                </a:extLst>
              </p:cNvPr>
              <p:cNvSpPr>
                <a:spLocks noChangeShapeType="1"/>
              </p:cNvSpPr>
              <p:nvPr/>
            </p:nvSpPr>
            <p:spPr bwMode="auto">
              <a:xfrm>
                <a:off x="4965" y="1622"/>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2" name="Rectangle 200">
                <a:extLst>
                  <a:ext uri="{FF2B5EF4-FFF2-40B4-BE49-F238E27FC236}">
                    <a16:creationId xmlns:a16="http://schemas.microsoft.com/office/drawing/2014/main" id="{78D8CF8D-B7B0-40F7-8638-49026B51159C}"/>
                  </a:ext>
                </a:extLst>
              </p:cNvPr>
              <p:cNvSpPr>
                <a:spLocks noChangeArrowheads="1"/>
              </p:cNvSpPr>
              <p:nvPr/>
            </p:nvSpPr>
            <p:spPr bwMode="auto">
              <a:xfrm>
                <a:off x="4965" y="1622"/>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23" name="Line 201">
                <a:extLst>
                  <a:ext uri="{FF2B5EF4-FFF2-40B4-BE49-F238E27FC236}">
                    <a16:creationId xmlns:a16="http://schemas.microsoft.com/office/drawing/2014/main" id="{C9EA684C-E260-4F4C-9787-695AD6CDD7C7}"/>
                  </a:ext>
                </a:extLst>
              </p:cNvPr>
              <p:cNvSpPr>
                <a:spLocks noChangeShapeType="1"/>
              </p:cNvSpPr>
              <p:nvPr/>
            </p:nvSpPr>
            <p:spPr bwMode="auto">
              <a:xfrm>
                <a:off x="4965" y="1738"/>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4" name="Rectangle 202">
                <a:extLst>
                  <a:ext uri="{FF2B5EF4-FFF2-40B4-BE49-F238E27FC236}">
                    <a16:creationId xmlns:a16="http://schemas.microsoft.com/office/drawing/2014/main" id="{000E74D4-8F1B-45CD-A557-03CDC7476CC2}"/>
                  </a:ext>
                </a:extLst>
              </p:cNvPr>
              <p:cNvSpPr>
                <a:spLocks noChangeArrowheads="1"/>
              </p:cNvSpPr>
              <p:nvPr/>
            </p:nvSpPr>
            <p:spPr bwMode="auto">
              <a:xfrm>
                <a:off x="4965" y="1738"/>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25" name="Line 203">
                <a:extLst>
                  <a:ext uri="{FF2B5EF4-FFF2-40B4-BE49-F238E27FC236}">
                    <a16:creationId xmlns:a16="http://schemas.microsoft.com/office/drawing/2014/main" id="{2BDA98D1-EE9C-4167-B32D-EB4379845A40}"/>
                  </a:ext>
                </a:extLst>
              </p:cNvPr>
              <p:cNvSpPr>
                <a:spLocks noChangeShapeType="1"/>
              </p:cNvSpPr>
              <p:nvPr/>
            </p:nvSpPr>
            <p:spPr bwMode="auto">
              <a:xfrm>
                <a:off x="4965" y="1854"/>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6" name="Rectangle 204">
                <a:extLst>
                  <a:ext uri="{FF2B5EF4-FFF2-40B4-BE49-F238E27FC236}">
                    <a16:creationId xmlns:a16="http://schemas.microsoft.com/office/drawing/2014/main" id="{E9B8191A-283F-4189-8574-F050A16126AC}"/>
                  </a:ext>
                </a:extLst>
              </p:cNvPr>
              <p:cNvSpPr>
                <a:spLocks noChangeArrowheads="1"/>
              </p:cNvSpPr>
              <p:nvPr/>
            </p:nvSpPr>
            <p:spPr bwMode="auto">
              <a:xfrm>
                <a:off x="4965" y="1854"/>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grpSp>
        <p:sp>
          <p:nvSpPr>
            <p:cNvPr id="6" name="Line 206">
              <a:extLst>
                <a:ext uri="{FF2B5EF4-FFF2-40B4-BE49-F238E27FC236}">
                  <a16:creationId xmlns:a16="http://schemas.microsoft.com/office/drawing/2014/main" id="{D7BD40E1-142E-40DD-8CB7-5B6FB4600726}"/>
                </a:ext>
              </a:extLst>
            </p:cNvPr>
            <p:cNvSpPr>
              <a:spLocks noChangeShapeType="1"/>
            </p:cNvSpPr>
            <p:nvPr/>
          </p:nvSpPr>
          <p:spPr bwMode="auto">
            <a:xfrm>
              <a:off x="4965" y="2004"/>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8" name="Rectangle 207">
              <a:extLst>
                <a:ext uri="{FF2B5EF4-FFF2-40B4-BE49-F238E27FC236}">
                  <a16:creationId xmlns:a16="http://schemas.microsoft.com/office/drawing/2014/main" id="{F299CA9E-D230-45D2-A3F6-68D7E75DBE88}"/>
                </a:ext>
              </a:extLst>
            </p:cNvPr>
            <p:cNvSpPr>
              <a:spLocks noChangeArrowheads="1"/>
            </p:cNvSpPr>
            <p:nvPr/>
          </p:nvSpPr>
          <p:spPr bwMode="auto">
            <a:xfrm>
              <a:off x="4965" y="2004"/>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9" name="Line 208">
              <a:extLst>
                <a:ext uri="{FF2B5EF4-FFF2-40B4-BE49-F238E27FC236}">
                  <a16:creationId xmlns:a16="http://schemas.microsoft.com/office/drawing/2014/main" id="{74048AC8-EF85-428E-B6BB-28F33F6BB685}"/>
                </a:ext>
              </a:extLst>
            </p:cNvPr>
            <p:cNvSpPr>
              <a:spLocks noChangeShapeType="1"/>
            </p:cNvSpPr>
            <p:nvPr/>
          </p:nvSpPr>
          <p:spPr bwMode="auto">
            <a:xfrm>
              <a:off x="4965" y="2120"/>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0" name="Rectangle 209">
              <a:extLst>
                <a:ext uri="{FF2B5EF4-FFF2-40B4-BE49-F238E27FC236}">
                  <a16:creationId xmlns:a16="http://schemas.microsoft.com/office/drawing/2014/main" id="{282B9598-BC80-4F6B-A925-C97CC12CD6E1}"/>
                </a:ext>
              </a:extLst>
            </p:cNvPr>
            <p:cNvSpPr>
              <a:spLocks noChangeArrowheads="1"/>
            </p:cNvSpPr>
            <p:nvPr/>
          </p:nvSpPr>
          <p:spPr bwMode="auto">
            <a:xfrm>
              <a:off x="4965" y="2120"/>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 name="Line 210">
              <a:extLst>
                <a:ext uri="{FF2B5EF4-FFF2-40B4-BE49-F238E27FC236}">
                  <a16:creationId xmlns:a16="http://schemas.microsoft.com/office/drawing/2014/main" id="{172749B5-404A-4DEB-92BB-A42A9A7EEFB4}"/>
                </a:ext>
              </a:extLst>
            </p:cNvPr>
            <p:cNvSpPr>
              <a:spLocks noChangeShapeType="1"/>
            </p:cNvSpPr>
            <p:nvPr/>
          </p:nvSpPr>
          <p:spPr bwMode="auto">
            <a:xfrm>
              <a:off x="4965" y="2235"/>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2" name="Rectangle 211">
              <a:extLst>
                <a:ext uri="{FF2B5EF4-FFF2-40B4-BE49-F238E27FC236}">
                  <a16:creationId xmlns:a16="http://schemas.microsoft.com/office/drawing/2014/main" id="{D9A43122-3E48-4C67-A6C5-CC3454660C39}"/>
                </a:ext>
              </a:extLst>
            </p:cNvPr>
            <p:cNvSpPr>
              <a:spLocks noChangeArrowheads="1"/>
            </p:cNvSpPr>
            <p:nvPr/>
          </p:nvSpPr>
          <p:spPr bwMode="auto">
            <a:xfrm>
              <a:off x="4965" y="2235"/>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 name="Line 212">
              <a:extLst>
                <a:ext uri="{FF2B5EF4-FFF2-40B4-BE49-F238E27FC236}">
                  <a16:creationId xmlns:a16="http://schemas.microsoft.com/office/drawing/2014/main" id="{6752968D-1A4E-4E1E-8646-623B5411B164}"/>
                </a:ext>
              </a:extLst>
            </p:cNvPr>
            <p:cNvSpPr>
              <a:spLocks noChangeShapeType="1"/>
            </p:cNvSpPr>
            <p:nvPr/>
          </p:nvSpPr>
          <p:spPr bwMode="auto">
            <a:xfrm>
              <a:off x="4965" y="2582"/>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 name="Rectangle 213">
              <a:extLst>
                <a:ext uri="{FF2B5EF4-FFF2-40B4-BE49-F238E27FC236}">
                  <a16:creationId xmlns:a16="http://schemas.microsoft.com/office/drawing/2014/main" id="{3ADFA315-AAFB-4786-906A-AF9B6C45EAC5}"/>
                </a:ext>
              </a:extLst>
            </p:cNvPr>
            <p:cNvSpPr>
              <a:spLocks noChangeArrowheads="1"/>
            </p:cNvSpPr>
            <p:nvPr/>
          </p:nvSpPr>
          <p:spPr bwMode="auto">
            <a:xfrm>
              <a:off x="4965" y="2582"/>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 name="Line 214">
              <a:extLst>
                <a:ext uri="{FF2B5EF4-FFF2-40B4-BE49-F238E27FC236}">
                  <a16:creationId xmlns:a16="http://schemas.microsoft.com/office/drawing/2014/main" id="{04465A70-EA24-4CB7-9AFE-88DF3719356F}"/>
                </a:ext>
              </a:extLst>
            </p:cNvPr>
            <p:cNvSpPr>
              <a:spLocks noChangeShapeType="1"/>
            </p:cNvSpPr>
            <p:nvPr/>
          </p:nvSpPr>
          <p:spPr bwMode="auto">
            <a:xfrm>
              <a:off x="4965" y="29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6" name="Rectangle 215">
              <a:extLst>
                <a:ext uri="{FF2B5EF4-FFF2-40B4-BE49-F238E27FC236}">
                  <a16:creationId xmlns:a16="http://schemas.microsoft.com/office/drawing/2014/main" id="{9B05D280-7749-42EC-9347-87934CBBB71D}"/>
                </a:ext>
              </a:extLst>
            </p:cNvPr>
            <p:cNvSpPr>
              <a:spLocks noChangeArrowheads="1"/>
            </p:cNvSpPr>
            <p:nvPr/>
          </p:nvSpPr>
          <p:spPr bwMode="auto">
            <a:xfrm>
              <a:off x="4965" y="2929"/>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 name="Line 216">
              <a:extLst>
                <a:ext uri="{FF2B5EF4-FFF2-40B4-BE49-F238E27FC236}">
                  <a16:creationId xmlns:a16="http://schemas.microsoft.com/office/drawing/2014/main" id="{5A2E65FB-D801-4DF0-B303-FF557D618F22}"/>
                </a:ext>
              </a:extLst>
            </p:cNvPr>
            <p:cNvSpPr>
              <a:spLocks noChangeShapeType="1"/>
            </p:cNvSpPr>
            <p:nvPr/>
          </p:nvSpPr>
          <p:spPr bwMode="auto">
            <a:xfrm>
              <a:off x="4965" y="3276"/>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 name="Rectangle 217">
              <a:extLst>
                <a:ext uri="{FF2B5EF4-FFF2-40B4-BE49-F238E27FC236}">
                  <a16:creationId xmlns:a16="http://schemas.microsoft.com/office/drawing/2014/main" id="{7B1739B5-EAAD-4AA5-8931-DA3B632FAB10}"/>
                </a:ext>
              </a:extLst>
            </p:cNvPr>
            <p:cNvSpPr>
              <a:spLocks noChangeArrowheads="1"/>
            </p:cNvSpPr>
            <p:nvPr/>
          </p:nvSpPr>
          <p:spPr bwMode="auto">
            <a:xfrm>
              <a:off x="4965" y="3276"/>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 name="Line 218">
              <a:extLst>
                <a:ext uri="{FF2B5EF4-FFF2-40B4-BE49-F238E27FC236}">
                  <a16:creationId xmlns:a16="http://schemas.microsoft.com/office/drawing/2014/main" id="{C30D78EB-882D-45B3-AF3A-A7DD8C0C21AB}"/>
                </a:ext>
              </a:extLst>
            </p:cNvPr>
            <p:cNvSpPr>
              <a:spLocks noChangeShapeType="1"/>
            </p:cNvSpPr>
            <p:nvPr/>
          </p:nvSpPr>
          <p:spPr bwMode="auto">
            <a:xfrm>
              <a:off x="4965" y="362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 name="Rectangle 219">
              <a:extLst>
                <a:ext uri="{FF2B5EF4-FFF2-40B4-BE49-F238E27FC236}">
                  <a16:creationId xmlns:a16="http://schemas.microsoft.com/office/drawing/2014/main" id="{B5C2B3BD-5534-4684-8F00-56D83BA96972}"/>
                </a:ext>
              </a:extLst>
            </p:cNvPr>
            <p:cNvSpPr>
              <a:spLocks noChangeArrowheads="1"/>
            </p:cNvSpPr>
            <p:nvPr/>
          </p:nvSpPr>
          <p:spPr bwMode="auto">
            <a:xfrm>
              <a:off x="4965" y="36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 name="Line 220">
              <a:extLst>
                <a:ext uri="{FF2B5EF4-FFF2-40B4-BE49-F238E27FC236}">
                  <a16:creationId xmlns:a16="http://schemas.microsoft.com/office/drawing/2014/main" id="{65792CEF-B4F5-4B3B-9C4B-94637D12893C}"/>
                </a:ext>
              </a:extLst>
            </p:cNvPr>
            <p:cNvSpPr>
              <a:spLocks noChangeShapeType="1"/>
            </p:cNvSpPr>
            <p:nvPr/>
          </p:nvSpPr>
          <p:spPr bwMode="auto">
            <a:xfrm>
              <a:off x="4965" y="3855"/>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 name="Rectangle 221">
              <a:extLst>
                <a:ext uri="{FF2B5EF4-FFF2-40B4-BE49-F238E27FC236}">
                  <a16:creationId xmlns:a16="http://schemas.microsoft.com/office/drawing/2014/main" id="{866911A7-9999-487C-8649-3D4609FC0B7D}"/>
                </a:ext>
              </a:extLst>
            </p:cNvPr>
            <p:cNvSpPr>
              <a:spLocks noChangeArrowheads="1"/>
            </p:cNvSpPr>
            <p:nvPr/>
          </p:nvSpPr>
          <p:spPr bwMode="auto">
            <a:xfrm>
              <a:off x="4965" y="3855"/>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3" name="Line 222">
              <a:extLst>
                <a:ext uri="{FF2B5EF4-FFF2-40B4-BE49-F238E27FC236}">
                  <a16:creationId xmlns:a16="http://schemas.microsoft.com/office/drawing/2014/main" id="{354D41C9-0BF4-401F-AB76-9C5455A81BCD}"/>
                </a:ext>
              </a:extLst>
            </p:cNvPr>
            <p:cNvSpPr>
              <a:spLocks noChangeShapeType="1"/>
            </p:cNvSpPr>
            <p:nvPr/>
          </p:nvSpPr>
          <p:spPr bwMode="auto">
            <a:xfrm>
              <a:off x="4965" y="4086"/>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4" name="Rectangle 223">
              <a:extLst>
                <a:ext uri="{FF2B5EF4-FFF2-40B4-BE49-F238E27FC236}">
                  <a16:creationId xmlns:a16="http://schemas.microsoft.com/office/drawing/2014/main" id="{368BFA97-014C-4DE1-BB14-DABC86E70FB8}"/>
                </a:ext>
              </a:extLst>
            </p:cNvPr>
            <p:cNvSpPr>
              <a:spLocks noChangeArrowheads="1"/>
            </p:cNvSpPr>
            <p:nvPr/>
          </p:nvSpPr>
          <p:spPr bwMode="auto">
            <a:xfrm>
              <a:off x="4965" y="4086"/>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5" name="Line 224">
              <a:extLst>
                <a:ext uri="{FF2B5EF4-FFF2-40B4-BE49-F238E27FC236}">
                  <a16:creationId xmlns:a16="http://schemas.microsoft.com/office/drawing/2014/main" id="{94E12FD6-E381-4123-B580-85D11F1D5DF4}"/>
                </a:ext>
              </a:extLst>
            </p:cNvPr>
            <p:cNvSpPr>
              <a:spLocks noChangeShapeType="1"/>
            </p:cNvSpPr>
            <p:nvPr/>
          </p:nvSpPr>
          <p:spPr bwMode="auto">
            <a:xfrm>
              <a:off x="4965" y="4317"/>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6" name="Rectangle 225">
              <a:extLst>
                <a:ext uri="{FF2B5EF4-FFF2-40B4-BE49-F238E27FC236}">
                  <a16:creationId xmlns:a16="http://schemas.microsoft.com/office/drawing/2014/main" id="{5406D016-7602-46A8-A070-384E69AD6F9E}"/>
                </a:ext>
              </a:extLst>
            </p:cNvPr>
            <p:cNvSpPr>
              <a:spLocks noChangeArrowheads="1"/>
            </p:cNvSpPr>
            <p:nvPr/>
          </p:nvSpPr>
          <p:spPr bwMode="auto">
            <a:xfrm>
              <a:off x="4965" y="4317"/>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grpSp>
    </p:spTree>
    <p:extLst>
      <p:ext uri="{BB962C8B-B14F-4D97-AF65-F5344CB8AC3E}">
        <p14:creationId xmlns:p14="http://schemas.microsoft.com/office/powerpoint/2010/main" val="36535986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Evolution des périodes :</a:t>
            </a:r>
            <a:br>
              <a:rPr lang="fr-BE" b="1" i="1" dirty="0"/>
            </a:br>
            <a:r>
              <a:rPr lang="fr-BE" b="1" i="1" dirty="0">
                <a:cs typeface="Times New Roman" pitchFamily="18" charset="0"/>
              </a:rPr>
              <a:t>les phases 2.1 à 2.4</a:t>
            </a:r>
            <a:endParaRPr lang="fr-BE" dirty="0"/>
          </a:p>
        </p:txBody>
      </p:sp>
      <p:sp>
        <p:nvSpPr>
          <p:cNvPr id="3" name="Espace réservé du contenu 2"/>
          <p:cNvSpPr>
            <a:spLocks noGrp="1"/>
          </p:cNvSpPr>
          <p:nvPr>
            <p:ph idx="1"/>
          </p:nvPr>
        </p:nvSpPr>
        <p:spPr/>
        <p:txBody>
          <a:bodyPr>
            <a:normAutofit/>
          </a:bodyPr>
          <a:lstStyle/>
          <a:p>
            <a:pPr>
              <a:spcBef>
                <a:spcPts val="672"/>
              </a:spcBef>
              <a:buFont typeface="Wingdings" pitchFamily="2" charset="2"/>
              <a:buChar char="§"/>
            </a:pPr>
            <a:r>
              <a:rPr lang="fr-BE" dirty="0"/>
              <a:t>Ces phases seront présentes en fonction du passé professionnel de l’intéressé.</a:t>
            </a:r>
          </a:p>
          <a:p>
            <a:pPr>
              <a:spcBef>
                <a:spcPts val="672"/>
              </a:spcBef>
              <a:buFont typeface="Wingdings" pitchFamily="2" charset="2"/>
              <a:buChar char="§"/>
            </a:pPr>
            <a:r>
              <a:rPr lang="fr-BE" dirty="0"/>
              <a:t>Le montant dégressif pendant les phases intermédiaires 2.1 à 2.4 est obtenu par le biais d'une formule garantissant une diminution proportionnelle de l'allocation en 4 étapes. </a:t>
            </a:r>
          </a:p>
          <a:p>
            <a:pPr>
              <a:spcBef>
                <a:spcPts val="672"/>
              </a:spcBef>
              <a:buFont typeface="Wingdings" pitchFamily="2" charset="2"/>
              <a:buChar char="§"/>
            </a:pPr>
            <a:r>
              <a:rPr lang="fr-BE" dirty="0"/>
              <a:t>Cette diminution s’effectue donc en fonction du montant individuel de l’allocation.</a:t>
            </a: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13</a:t>
            </a:fld>
            <a:endParaRPr lang="fr-FR"/>
          </a:p>
        </p:txBody>
      </p:sp>
    </p:spTree>
    <p:extLst>
      <p:ext uri="{BB962C8B-B14F-4D97-AF65-F5344CB8AC3E}">
        <p14:creationId xmlns:p14="http://schemas.microsoft.com/office/powerpoint/2010/main" val="36939914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2.2. Evolution des périodes : </a:t>
            </a:r>
            <a:br>
              <a:rPr lang="fr-BE" b="1" i="1" dirty="0"/>
            </a:br>
            <a:r>
              <a:rPr lang="fr-BE" b="1" i="1" dirty="0">
                <a:cs typeface="Times New Roman" pitchFamily="18" charset="0"/>
              </a:rPr>
              <a:t>1</a:t>
            </a:r>
            <a:r>
              <a:rPr lang="fr-BE" b="1" i="1" baseline="30000" dirty="0">
                <a:cs typeface="Times New Roman" pitchFamily="18" charset="0"/>
              </a:rPr>
              <a:t>ère</a:t>
            </a:r>
            <a:r>
              <a:rPr lang="fr-BE" b="1" i="1" dirty="0">
                <a:cs typeface="Times New Roman" pitchFamily="18" charset="0"/>
              </a:rPr>
              <a:t> DA &amp; Périodes d’indemnisation</a:t>
            </a:r>
            <a:endParaRPr lang="fr-BE" dirty="0"/>
          </a:p>
        </p:txBody>
      </p:sp>
      <p:sp>
        <p:nvSpPr>
          <p:cNvPr id="3" name="Espace réservé du contenu 2"/>
          <p:cNvSpPr>
            <a:spLocks noGrp="1"/>
          </p:cNvSpPr>
          <p:nvPr>
            <p:ph idx="1"/>
          </p:nvPr>
        </p:nvSpPr>
        <p:spPr>
          <a:xfrm>
            <a:off x="457200" y="1600200"/>
            <a:ext cx="8229600" cy="4756150"/>
          </a:xfrm>
        </p:spPr>
        <p:txBody>
          <a:bodyPr>
            <a:normAutofit fontScale="92500" lnSpcReduction="20000"/>
          </a:bodyPr>
          <a:lstStyle/>
          <a:p>
            <a:pPr marL="0" indent="0">
              <a:lnSpc>
                <a:spcPct val="110000"/>
              </a:lnSpc>
              <a:spcBef>
                <a:spcPts val="672"/>
              </a:spcBef>
              <a:buNone/>
            </a:pPr>
            <a:r>
              <a:rPr lang="fr-BE" sz="3100" dirty="0"/>
              <a:t>Lorsque nous effectuons une 1</a:t>
            </a:r>
            <a:r>
              <a:rPr lang="fr-BE" sz="3100" baseline="30000" dirty="0"/>
              <a:t>ière</a:t>
            </a:r>
            <a:r>
              <a:rPr lang="fr-BE" sz="3100" dirty="0"/>
              <a:t> DA et </a:t>
            </a:r>
            <a:r>
              <a:rPr lang="fr-BE" sz="3100" u="sng" dirty="0"/>
              <a:t>que le PP n’est pas connu</a:t>
            </a:r>
            <a:r>
              <a:rPr lang="fr-BE" sz="3100" dirty="0"/>
              <a:t> </a:t>
            </a:r>
            <a:r>
              <a:rPr lang="fr-BE" sz="3100" dirty="0">
                <a:sym typeface="Wingdings" pitchFamily="2" charset="2"/>
              </a:rPr>
              <a:t> L’ONEm octroiera un </a:t>
            </a:r>
            <a:r>
              <a:rPr lang="fr-BE" sz="3100" b="1" dirty="0">
                <a:solidFill>
                  <a:srgbClr val="C00000"/>
                </a:solidFill>
                <a:sym typeface="Wingdings" pitchFamily="2" charset="2"/>
              </a:rPr>
              <a:t>suffixe 29 </a:t>
            </a:r>
            <a:r>
              <a:rPr lang="fr-BE" sz="3100" dirty="0">
                <a:sym typeface="Wingdings" pitchFamily="2" charset="2"/>
              </a:rPr>
              <a:t>qui est le signal pour calculer le passé professionnel de l’intéressé.</a:t>
            </a:r>
          </a:p>
          <a:p>
            <a:pPr marL="0" indent="0">
              <a:lnSpc>
                <a:spcPct val="110000"/>
              </a:lnSpc>
              <a:spcBef>
                <a:spcPts val="672"/>
              </a:spcBef>
              <a:buNone/>
            </a:pPr>
            <a:r>
              <a:rPr lang="fr-BE" sz="2600" dirty="0">
                <a:sym typeface="Wingdings" pitchFamily="2" charset="2"/>
              </a:rPr>
              <a:t>Exemple : </a:t>
            </a:r>
            <a:endParaRPr lang="fr-BE" sz="2600" dirty="0"/>
          </a:p>
          <a:p>
            <a:pPr lvl="1">
              <a:lnSpc>
                <a:spcPct val="110000"/>
              </a:lnSpc>
              <a:spcBef>
                <a:spcPts val="672"/>
              </a:spcBef>
              <a:buFont typeface="Wingdings" pitchFamily="2" charset="2"/>
              <a:buChar char="§"/>
            </a:pPr>
            <a:r>
              <a:rPr lang="fr-BE" sz="3100" dirty="0"/>
              <a:t>01/70.A</a:t>
            </a:r>
            <a:r>
              <a:rPr lang="fr-BE" sz="3100" b="1" dirty="0">
                <a:solidFill>
                  <a:srgbClr val="C00000"/>
                </a:solidFill>
              </a:rPr>
              <a:t>11 </a:t>
            </a:r>
            <a:r>
              <a:rPr lang="fr-BE" sz="3100" dirty="0"/>
              <a:t>	au 02.11.2022</a:t>
            </a:r>
          </a:p>
          <a:p>
            <a:pPr lvl="1">
              <a:lnSpc>
                <a:spcPct val="110000"/>
              </a:lnSpc>
              <a:spcBef>
                <a:spcPts val="672"/>
              </a:spcBef>
              <a:buFont typeface="Wingdings" pitchFamily="2" charset="2"/>
              <a:buChar char="§"/>
            </a:pPr>
            <a:r>
              <a:rPr lang="fr-BE" sz="3100" dirty="0"/>
              <a:t>01/70.A</a:t>
            </a:r>
            <a:r>
              <a:rPr lang="fr-BE" sz="3100" b="1" dirty="0">
                <a:solidFill>
                  <a:srgbClr val="C00000"/>
                </a:solidFill>
              </a:rPr>
              <a:t>12</a:t>
            </a:r>
            <a:r>
              <a:rPr lang="fr-BE" sz="3100" dirty="0"/>
              <a:t>	au 02.02.2023</a:t>
            </a:r>
          </a:p>
          <a:p>
            <a:pPr lvl="1">
              <a:lnSpc>
                <a:spcPct val="110000"/>
              </a:lnSpc>
              <a:spcBef>
                <a:spcPts val="672"/>
              </a:spcBef>
              <a:buFont typeface="Wingdings" pitchFamily="2" charset="2"/>
              <a:buChar char="§"/>
            </a:pPr>
            <a:r>
              <a:rPr lang="fr-BE" sz="3100" dirty="0"/>
              <a:t>01/70.A</a:t>
            </a:r>
            <a:r>
              <a:rPr lang="fr-BE" sz="3100" b="1" dirty="0">
                <a:solidFill>
                  <a:srgbClr val="C00000"/>
                </a:solidFill>
              </a:rPr>
              <a:t>13</a:t>
            </a:r>
            <a:r>
              <a:rPr lang="fr-BE" sz="3100" dirty="0"/>
              <a:t>	au 02.05.2023</a:t>
            </a:r>
          </a:p>
          <a:p>
            <a:pPr lvl="1">
              <a:lnSpc>
                <a:spcPct val="110000"/>
              </a:lnSpc>
              <a:spcBef>
                <a:spcPts val="672"/>
              </a:spcBef>
              <a:buFont typeface="Wingdings" pitchFamily="2" charset="2"/>
              <a:buChar char="§"/>
            </a:pPr>
            <a:r>
              <a:rPr lang="fr-BE" sz="3100" dirty="0"/>
              <a:t>01/70.A</a:t>
            </a:r>
            <a:r>
              <a:rPr lang="fr-BE" sz="3100" b="1" dirty="0">
                <a:solidFill>
                  <a:srgbClr val="C00000"/>
                </a:solidFill>
              </a:rPr>
              <a:t>2A</a:t>
            </a:r>
            <a:r>
              <a:rPr lang="fr-BE" sz="3100" dirty="0"/>
              <a:t>	au 02.11.2023</a:t>
            </a:r>
          </a:p>
          <a:p>
            <a:pPr lvl="1">
              <a:lnSpc>
                <a:spcPct val="110000"/>
              </a:lnSpc>
              <a:spcBef>
                <a:spcPts val="672"/>
              </a:spcBef>
              <a:buFont typeface="Wingdings" pitchFamily="2" charset="2"/>
              <a:buChar char="§"/>
            </a:pPr>
            <a:r>
              <a:rPr lang="fr-BE" sz="3100" dirty="0"/>
              <a:t>01/70.A</a:t>
            </a:r>
            <a:r>
              <a:rPr lang="fr-BE" sz="3100" b="1" dirty="0">
                <a:solidFill>
                  <a:srgbClr val="C00000"/>
                </a:solidFill>
              </a:rPr>
              <a:t>29</a:t>
            </a:r>
            <a:r>
              <a:rPr lang="fr-BE" sz="3100" dirty="0"/>
              <a:t>	au 02.01.2024</a:t>
            </a:r>
          </a:p>
          <a:p>
            <a:pPr lvl="1"/>
            <a:endParaRPr lang="fr-BE" dirty="0"/>
          </a:p>
          <a:p>
            <a:pPr lvl="1"/>
            <a:endParaRPr lang="fr-BE"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14</a:t>
            </a:fld>
            <a:endParaRPr lang="fr-FR"/>
          </a:p>
        </p:txBody>
      </p:sp>
    </p:spTree>
    <p:extLst>
      <p:ext uri="{BB962C8B-B14F-4D97-AF65-F5344CB8AC3E}">
        <p14:creationId xmlns:p14="http://schemas.microsoft.com/office/powerpoint/2010/main" val="13757634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cs typeface="Times New Roman" pitchFamily="18" charset="0"/>
              </a:rPr>
              <a:t>2.3. PP &amp; Périodes d’indemnisation</a:t>
            </a:r>
            <a:endParaRPr lang="fr-BE" dirty="0"/>
          </a:p>
        </p:txBody>
      </p:sp>
      <p:sp>
        <p:nvSpPr>
          <p:cNvPr id="3" name="Espace réservé du contenu 2"/>
          <p:cNvSpPr>
            <a:spLocks noGrp="1"/>
          </p:cNvSpPr>
          <p:nvPr>
            <p:ph idx="1"/>
          </p:nvPr>
        </p:nvSpPr>
        <p:spPr>
          <a:xfrm>
            <a:off x="457200" y="1417638"/>
            <a:ext cx="8229600" cy="4938712"/>
          </a:xfrm>
        </p:spPr>
        <p:txBody>
          <a:bodyPr>
            <a:normAutofit fontScale="92500" lnSpcReduction="10000"/>
          </a:bodyPr>
          <a:lstStyle/>
          <a:p>
            <a:pPr marL="0" indent="0">
              <a:lnSpc>
                <a:spcPct val="110000"/>
              </a:lnSpc>
              <a:spcBef>
                <a:spcPts val="672"/>
              </a:spcBef>
              <a:buNone/>
            </a:pPr>
            <a:r>
              <a:rPr lang="fr-BE" dirty="0"/>
              <a:t>Après le calcul du PP, si l’intéressé justifie </a:t>
            </a:r>
            <a:r>
              <a:rPr lang="fr-BE" u="sng" dirty="0"/>
              <a:t>7 ans </a:t>
            </a:r>
            <a:r>
              <a:rPr lang="fr-BE" dirty="0"/>
              <a:t>de PP la cascade sera:</a:t>
            </a:r>
            <a:endParaRPr lang="fr-BE" dirty="0">
              <a:sym typeface="Wingdings" pitchFamily="2" charset="2"/>
            </a:endParaRPr>
          </a:p>
          <a:p>
            <a:pPr lvl="1">
              <a:lnSpc>
                <a:spcPct val="110000"/>
              </a:lnSpc>
              <a:spcBef>
                <a:spcPts val="672"/>
              </a:spcBef>
              <a:buFont typeface="Wingdings" pitchFamily="2" charset="2"/>
              <a:buChar char="§"/>
            </a:pPr>
            <a:r>
              <a:rPr lang="fr-BE" sz="3200" dirty="0"/>
              <a:t>01/70.A</a:t>
            </a:r>
            <a:r>
              <a:rPr lang="fr-BE" sz="3200" b="1" dirty="0">
                <a:solidFill>
                  <a:srgbClr val="C00000"/>
                </a:solidFill>
              </a:rPr>
              <a:t>11 </a:t>
            </a:r>
            <a:r>
              <a:rPr lang="fr-BE" sz="3200" dirty="0"/>
              <a:t>	au 02.11.2022</a:t>
            </a:r>
          </a:p>
          <a:p>
            <a:pPr lvl="1">
              <a:lnSpc>
                <a:spcPct val="110000"/>
              </a:lnSpc>
              <a:spcBef>
                <a:spcPts val="672"/>
              </a:spcBef>
              <a:buFont typeface="Wingdings" pitchFamily="2" charset="2"/>
              <a:buChar char="§"/>
            </a:pPr>
            <a:r>
              <a:rPr lang="fr-BE" sz="3200" dirty="0"/>
              <a:t>01/70.A</a:t>
            </a:r>
            <a:r>
              <a:rPr lang="fr-BE" sz="3200" b="1" dirty="0">
                <a:solidFill>
                  <a:srgbClr val="C00000"/>
                </a:solidFill>
              </a:rPr>
              <a:t>12</a:t>
            </a:r>
            <a:r>
              <a:rPr lang="fr-BE" sz="3200" dirty="0"/>
              <a:t>	au 02.02.2023</a:t>
            </a:r>
          </a:p>
          <a:p>
            <a:pPr lvl="1">
              <a:lnSpc>
                <a:spcPct val="110000"/>
              </a:lnSpc>
              <a:spcBef>
                <a:spcPts val="672"/>
              </a:spcBef>
              <a:buFont typeface="Wingdings" pitchFamily="2" charset="2"/>
              <a:buChar char="§"/>
            </a:pPr>
            <a:r>
              <a:rPr lang="fr-BE" sz="3200" dirty="0"/>
              <a:t>01/70.A</a:t>
            </a:r>
            <a:r>
              <a:rPr lang="fr-BE" sz="3200" b="1" dirty="0">
                <a:solidFill>
                  <a:srgbClr val="C00000"/>
                </a:solidFill>
              </a:rPr>
              <a:t>13</a:t>
            </a:r>
            <a:r>
              <a:rPr lang="fr-BE" sz="3200" dirty="0"/>
              <a:t>	au 02.05.2023</a:t>
            </a:r>
          </a:p>
          <a:p>
            <a:pPr lvl="1">
              <a:lnSpc>
                <a:spcPct val="110000"/>
              </a:lnSpc>
              <a:spcBef>
                <a:spcPts val="672"/>
              </a:spcBef>
              <a:buFont typeface="Wingdings" pitchFamily="2" charset="2"/>
              <a:buChar char="§"/>
            </a:pPr>
            <a:r>
              <a:rPr lang="fr-BE" sz="3200" dirty="0"/>
              <a:t>01/70.A</a:t>
            </a:r>
            <a:r>
              <a:rPr lang="fr-BE" sz="3200" b="1" dirty="0">
                <a:solidFill>
                  <a:srgbClr val="C00000"/>
                </a:solidFill>
              </a:rPr>
              <a:t>2A</a:t>
            </a:r>
            <a:r>
              <a:rPr lang="fr-BE" sz="3200" dirty="0"/>
              <a:t>	au 02.11.2023</a:t>
            </a:r>
          </a:p>
          <a:p>
            <a:pPr lvl="1">
              <a:lnSpc>
                <a:spcPct val="110000"/>
              </a:lnSpc>
              <a:spcBef>
                <a:spcPts val="672"/>
              </a:spcBef>
              <a:buFont typeface="Wingdings" pitchFamily="2" charset="2"/>
              <a:buChar char="§"/>
            </a:pPr>
            <a:r>
              <a:rPr lang="fr-BE" sz="3200" dirty="0"/>
              <a:t>01/70.A</a:t>
            </a:r>
            <a:r>
              <a:rPr lang="fr-BE" sz="3200" b="1" dirty="0">
                <a:solidFill>
                  <a:srgbClr val="C00000"/>
                </a:solidFill>
              </a:rPr>
              <a:t>2B</a:t>
            </a:r>
            <a:r>
              <a:rPr lang="fr-BE" sz="3200" dirty="0"/>
              <a:t>	au 02.01.2024</a:t>
            </a:r>
          </a:p>
          <a:p>
            <a:pPr lvl="1">
              <a:lnSpc>
                <a:spcPct val="110000"/>
              </a:lnSpc>
              <a:spcBef>
                <a:spcPts val="672"/>
              </a:spcBef>
              <a:buFont typeface="Wingdings" pitchFamily="2" charset="2"/>
              <a:buChar char="§"/>
            </a:pPr>
            <a:r>
              <a:rPr lang="fr-BE" sz="3200" dirty="0"/>
              <a:t>01/70.A</a:t>
            </a:r>
            <a:r>
              <a:rPr lang="fr-BE" sz="3200" b="1" dirty="0">
                <a:solidFill>
                  <a:srgbClr val="C00000"/>
                </a:solidFill>
              </a:rPr>
              <a:t>21</a:t>
            </a:r>
            <a:r>
              <a:rPr lang="fr-BE" sz="3200" dirty="0"/>
              <a:t>	au 02.11.2024</a:t>
            </a:r>
          </a:p>
          <a:p>
            <a:pPr lvl="1">
              <a:lnSpc>
                <a:spcPct val="110000"/>
              </a:lnSpc>
              <a:spcBef>
                <a:spcPts val="672"/>
              </a:spcBef>
              <a:buFont typeface="Wingdings" pitchFamily="2" charset="2"/>
              <a:buChar char="§"/>
            </a:pPr>
            <a:r>
              <a:rPr lang="fr-BE" sz="3200" dirty="0"/>
              <a:t>01/70.A</a:t>
            </a:r>
            <a:r>
              <a:rPr lang="fr-BE" sz="3200" b="1" dirty="0">
                <a:solidFill>
                  <a:srgbClr val="C00000"/>
                </a:solidFill>
              </a:rPr>
              <a:t>F</a:t>
            </a:r>
            <a:r>
              <a:rPr lang="fr-BE" sz="3200" dirty="0"/>
              <a:t>	au 02.03.2025</a:t>
            </a:r>
          </a:p>
          <a:p>
            <a:pPr lvl="1"/>
            <a:endParaRPr lang="fr-BE" dirty="0"/>
          </a:p>
          <a:p>
            <a:pPr lvl="1"/>
            <a:endParaRPr lang="fr-BE" dirty="0"/>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15</a:t>
            </a:fld>
            <a:endParaRPr lang="fr-FR"/>
          </a:p>
        </p:txBody>
      </p:sp>
    </p:spTree>
    <p:extLst>
      <p:ext uri="{BB962C8B-B14F-4D97-AF65-F5344CB8AC3E}">
        <p14:creationId xmlns:p14="http://schemas.microsoft.com/office/powerpoint/2010/main" val="1554154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cs typeface="Times New Roman" pitchFamily="18" charset="0"/>
              </a:rPr>
              <a:t>2.3. PP &amp; Périodes d’indemnisation</a:t>
            </a:r>
            <a:endParaRPr lang="fr-BE" dirty="0"/>
          </a:p>
        </p:txBody>
      </p:sp>
      <p:sp>
        <p:nvSpPr>
          <p:cNvPr id="3" name="Espace réservé du contenu 2"/>
          <p:cNvSpPr>
            <a:spLocks noGrp="1"/>
          </p:cNvSpPr>
          <p:nvPr>
            <p:ph idx="1"/>
          </p:nvPr>
        </p:nvSpPr>
        <p:spPr>
          <a:xfrm>
            <a:off x="323528" y="1268760"/>
            <a:ext cx="8496944" cy="4857403"/>
          </a:xfrm>
        </p:spPr>
        <p:txBody>
          <a:bodyPr>
            <a:noAutofit/>
          </a:bodyPr>
          <a:lstStyle/>
          <a:p>
            <a:pPr marL="0" indent="0">
              <a:lnSpc>
                <a:spcPct val="110000"/>
              </a:lnSpc>
              <a:spcBef>
                <a:spcPts val="672"/>
              </a:spcBef>
              <a:buNone/>
            </a:pPr>
            <a:r>
              <a:rPr lang="fr-BE" sz="2600" dirty="0"/>
              <a:t>Si l’intéressé justifie </a:t>
            </a:r>
            <a:r>
              <a:rPr lang="fr-BE" sz="2600" u="sng" dirty="0"/>
              <a:t>12 ans </a:t>
            </a:r>
            <a:r>
              <a:rPr lang="fr-BE" sz="2600" dirty="0"/>
              <a:t>de PP la cascade sera:</a:t>
            </a:r>
            <a:endParaRPr lang="fr-BE" sz="2600" dirty="0">
              <a:sym typeface="Wingdings" pitchFamily="2" charset="2"/>
            </a:endParaRPr>
          </a:p>
          <a:p>
            <a:pPr lvl="1">
              <a:lnSpc>
                <a:spcPct val="110000"/>
              </a:lnSpc>
              <a:spcBef>
                <a:spcPts val="672"/>
              </a:spcBef>
              <a:buFont typeface="Wingdings" pitchFamily="2" charset="2"/>
              <a:buChar char="§"/>
            </a:pPr>
            <a:r>
              <a:rPr lang="fr-BE" sz="2600" dirty="0"/>
              <a:t>01/70.A</a:t>
            </a:r>
            <a:r>
              <a:rPr lang="fr-BE" sz="2600" b="1" dirty="0">
                <a:solidFill>
                  <a:srgbClr val="C00000"/>
                </a:solidFill>
              </a:rPr>
              <a:t>11 	</a:t>
            </a:r>
            <a:r>
              <a:rPr lang="fr-BE" sz="2600" dirty="0"/>
              <a:t>	au 02.11.2022</a:t>
            </a:r>
          </a:p>
          <a:p>
            <a:pPr lvl="1">
              <a:lnSpc>
                <a:spcPct val="110000"/>
              </a:lnSpc>
              <a:spcBef>
                <a:spcPts val="672"/>
              </a:spcBef>
              <a:buFont typeface="Wingdings" pitchFamily="2" charset="2"/>
              <a:buChar char="§"/>
            </a:pPr>
            <a:r>
              <a:rPr lang="fr-BE" sz="2600" dirty="0"/>
              <a:t>01/70.A</a:t>
            </a:r>
            <a:r>
              <a:rPr lang="fr-BE" sz="2600" b="1" dirty="0">
                <a:solidFill>
                  <a:srgbClr val="C00000"/>
                </a:solidFill>
              </a:rPr>
              <a:t>12</a:t>
            </a:r>
            <a:r>
              <a:rPr lang="fr-BE" sz="2600" dirty="0"/>
              <a:t>		au 02.02.2023</a:t>
            </a:r>
          </a:p>
          <a:p>
            <a:pPr lvl="1">
              <a:lnSpc>
                <a:spcPct val="110000"/>
              </a:lnSpc>
              <a:spcBef>
                <a:spcPts val="672"/>
              </a:spcBef>
              <a:buFont typeface="Wingdings" pitchFamily="2" charset="2"/>
              <a:buChar char="§"/>
            </a:pPr>
            <a:r>
              <a:rPr lang="fr-BE" sz="2600" dirty="0"/>
              <a:t>01/70.A</a:t>
            </a:r>
            <a:r>
              <a:rPr lang="fr-BE" sz="2600" b="1" dirty="0">
                <a:solidFill>
                  <a:srgbClr val="C00000"/>
                </a:solidFill>
              </a:rPr>
              <a:t>13</a:t>
            </a:r>
            <a:r>
              <a:rPr lang="fr-BE" sz="2600" dirty="0"/>
              <a:t>		au 02.05.2023</a:t>
            </a:r>
          </a:p>
          <a:p>
            <a:pPr lvl="1">
              <a:lnSpc>
                <a:spcPct val="110000"/>
              </a:lnSpc>
              <a:spcBef>
                <a:spcPts val="672"/>
              </a:spcBef>
              <a:buFont typeface="Wingdings" pitchFamily="2" charset="2"/>
              <a:buChar char="§"/>
            </a:pPr>
            <a:r>
              <a:rPr lang="fr-BE" sz="2600" dirty="0"/>
              <a:t>01/70.A</a:t>
            </a:r>
            <a:r>
              <a:rPr lang="fr-BE" sz="2600" b="1" dirty="0">
                <a:solidFill>
                  <a:srgbClr val="C00000"/>
                </a:solidFill>
              </a:rPr>
              <a:t>2A</a:t>
            </a:r>
            <a:r>
              <a:rPr lang="fr-BE" sz="2600" dirty="0"/>
              <a:t>		au 02.11.2023</a:t>
            </a:r>
          </a:p>
          <a:p>
            <a:pPr lvl="1">
              <a:lnSpc>
                <a:spcPct val="110000"/>
              </a:lnSpc>
              <a:spcBef>
                <a:spcPts val="672"/>
              </a:spcBef>
              <a:buFont typeface="Wingdings" pitchFamily="2" charset="2"/>
              <a:buChar char="§"/>
            </a:pPr>
            <a:r>
              <a:rPr lang="fr-BE" sz="2600" dirty="0"/>
              <a:t>01/70.A</a:t>
            </a:r>
            <a:r>
              <a:rPr lang="fr-BE" sz="2600" b="1" dirty="0">
                <a:solidFill>
                  <a:srgbClr val="C00000"/>
                </a:solidFill>
              </a:rPr>
              <a:t>2B</a:t>
            </a:r>
            <a:r>
              <a:rPr lang="fr-BE" sz="2600" dirty="0"/>
              <a:t>		au 02.01.2024</a:t>
            </a:r>
          </a:p>
          <a:p>
            <a:pPr lvl="1">
              <a:lnSpc>
                <a:spcPct val="110000"/>
              </a:lnSpc>
              <a:spcBef>
                <a:spcPts val="672"/>
              </a:spcBef>
              <a:buFont typeface="Wingdings" pitchFamily="2" charset="2"/>
              <a:buChar char="§"/>
            </a:pPr>
            <a:r>
              <a:rPr lang="fr-BE" sz="2600" dirty="0"/>
              <a:t>01/70.A</a:t>
            </a:r>
            <a:r>
              <a:rPr lang="fr-BE" sz="2600" b="1" dirty="0">
                <a:solidFill>
                  <a:srgbClr val="C00000"/>
                </a:solidFill>
              </a:rPr>
              <a:t>21</a:t>
            </a:r>
            <a:r>
              <a:rPr lang="fr-BE" sz="2600" dirty="0"/>
              <a:t>		au 02.11.2024</a:t>
            </a:r>
          </a:p>
          <a:p>
            <a:pPr lvl="1">
              <a:lnSpc>
                <a:spcPct val="110000"/>
              </a:lnSpc>
              <a:spcBef>
                <a:spcPts val="672"/>
              </a:spcBef>
              <a:buFont typeface="Wingdings" pitchFamily="2" charset="2"/>
              <a:buChar char="§"/>
            </a:pPr>
            <a:r>
              <a:rPr lang="fr-BE" sz="2600" dirty="0"/>
              <a:t>01/70.A</a:t>
            </a:r>
            <a:r>
              <a:rPr lang="fr-BE" sz="2600" b="1" dirty="0">
                <a:solidFill>
                  <a:srgbClr val="C00000"/>
                </a:solidFill>
              </a:rPr>
              <a:t>22</a:t>
            </a:r>
            <a:r>
              <a:rPr lang="fr-BE" sz="2600" dirty="0"/>
              <a:t>		au 02.05.2025</a:t>
            </a:r>
          </a:p>
          <a:p>
            <a:pPr lvl="1">
              <a:lnSpc>
                <a:spcPct val="110000"/>
              </a:lnSpc>
              <a:spcBef>
                <a:spcPts val="672"/>
              </a:spcBef>
              <a:buFont typeface="Wingdings" pitchFamily="2" charset="2"/>
              <a:buChar char="§"/>
            </a:pPr>
            <a:r>
              <a:rPr lang="fr-BE" sz="2600" dirty="0"/>
              <a:t>01/70.A</a:t>
            </a:r>
            <a:r>
              <a:rPr lang="fr-BE" sz="2600" b="1" dirty="0">
                <a:solidFill>
                  <a:srgbClr val="C00000"/>
                </a:solidFill>
              </a:rPr>
              <a:t>23		</a:t>
            </a:r>
            <a:r>
              <a:rPr lang="fr-BE" sz="2600" dirty="0"/>
              <a:t>au 02.11.2025</a:t>
            </a:r>
          </a:p>
          <a:p>
            <a:pPr lvl="1">
              <a:lnSpc>
                <a:spcPct val="110000"/>
              </a:lnSpc>
              <a:spcBef>
                <a:spcPts val="672"/>
              </a:spcBef>
              <a:buFont typeface="Wingdings" pitchFamily="2" charset="2"/>
              <a:buChar char="§"/>
            </a:pPr>
            <a:r>
              <a:rPr lang="fr-BE" sz="2600" dirty="0"/>
              <a:t>01/70.A</a:t>
            </a:r>
            <a:r>
              <a:rPr lang="fr-BE" sz="2600" b="1" dirty="0">
                <a:solidFill>
                  <a:srgbClr val="C00000"/>
                </a:solidFill>
              </a:rPr>
              <a:t>F</a:t>
            </a:r>
            <a:r>
              <a:rPr lang="fr-BE" sz="2600" dirty="0"/>
              <a:t>		au 02.01.2026</a:t>
            </a: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16</a:t>
            </a:fld>
            <a:endParaRPr lang="fr-FR"/>
          </a:p>
        </p:txBody>
      </p:sp>
    </p:spTree>
    <p:extLst>
      <p:ext uri="{BB962C8B-B14F-4D97-AF65-F5344CB8AC3E}">
        <p14:creationId xmlns:p14="http://schemas.microsoft.com/office/powerpoint/2010/main" val="29821721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r"/>
            <a:r>
              <a:rPr lang="nl-BE" b="1" i="1" dirty="0"/>
              <a:t>2.4. </a:t>
            </a:r>
            <a:r>
              <a:rPr lang="nl-BE" b="1" i="1" dirty="0" err="1"/>
              <a:t>Exercice</a:t>
            </a:r>
            <a:r>
              <a:rPr lang="nl-BE" b="1" i="1" dirty="0"/>
              <a:t> 1</a:t>
            </a:r>
          </a:p>
        </p:txBody>
      </p:sp>
      <p:sp>
        <p:nvSpPr>
          <p:cNvPr id="3" name="Tijdelijke aanduiding voor inhoud 2"/>
          <p:cNvSpPr>
            <a:spLocks noGrp="1"/>
          </p:cNvSpPr>
          <p:nvPr>
            <p:ph idx="1"/>
          </p:nvPr>
        </p:nvSpPr>
        <p:spPr/>
        <p:txBody>
          <a:bodyPr>
            <a:normAutofit fontScale="92500" lnSpcReduction="20000"/>
          </a:bodyPr>
          <a:lstStyle/>
          <a:p>
            <a:pPr marL="514350" indent="-514350">
              <a:buAutoNum type="arabicPeriod"/>
            </a:pPr>
            <a:r>
              <a:rPr lang="nl-BE" dirty="0"/>
              <a:t>L ’intéressé a travaillé pendant 2 ans		</a:t>
            </a:r>
          </a:p>
          <a:p>
            <a:pPr marL="514350" indent="-514350">
              <a:buAutoNum type="arabicPeriod"/>
            </a:pPr>
            <a:r>
              <a:rPr lang="nl-BE" dirty="0"/>
              <a:t>L’intéressé a travaillé pendant 5 ans	</a:t>
            </a:r>
          </a:p>
          <a:p>
            <a:pPr marL="514350" indent="-514350">
              <a:buAutoNum type="arabicPeriod"/>
            </a:pPr>
            <a:r>
              <a:rPr lang="nl-BE" dirty="0"/>
              <a:t>L’intéressé a travaillé pendant 6 ans</a:t>
            </a:r>
          </a:p>
          <a:p>
            <a:pPr marL="514350" indent="-514350">
              <a:buAutoNum type="arabicPeriod"/>
            </a:pPr>
            <a:r>
              <a:rPr lang="nl-BE" dirty="0"/>
              <a:t>L’intéressé a travaillé pendant 15 ans </a:t>
            </a:r>
          </a:p>
          <a:p>
            <a:pPr marL="514350" indent="-514350">
              <a:buAutoNum type="arabicPeriod"/>
            </a:pPr>
            <a:r>
              <a:rPr lang="nl-BE" dirty="0"/>
              <a:t>L’intéressé a travaillé pendant 20 ans</a:t>
            </a:r>
          </a:p>
          <a:p>
            <a:pPr marL="514350" indent="-514350">
              <a:buAutoNum type="arabicPeriod"/>
            </a:pPr>
            <a:endParaRPr lang="nl-BE" dirty="0"/>
          </a:p>
          <a:p>
            <a:pPr marL="0" indent="0">
              <a:buNone/>
            </a:pPr>
            <a:r>
              <a:rPr lang="nl-BE" dirty="0">
                <a:sym typeface="Wingdings" panose="05000000000000000000" pitchFamily="2" charset="2"/>
              </a:rPr>
              <a:t> Quelle sera sa cascade complète  en phases ?</a:t>
            </a:r>
          </a:p>
          <a:p>
            <a:pPr marL="0" indent="0">
              <a:buNone/>
            </a:pPr>
            <a:r>
              <a:rPr lang="nl-BE" dirty="0">
                <a:sym typeface="Wingdings" panose="05000000000000000000" pitchFamily="2" charset="2"/>
              </a:rPr>
              <a:t>(nombre de mois par phase + suffixe)</a:t>
            </a:r>
          </a:p>
          <a:p>
            <a:pPr marL="0" indent="0">
              <a:buNone/>
            </a:pPr>
            <a:r>
              <a:rPr lang="nl-BE" dirty="0">
                <a:sym typeface="Wingdings" panose="05000000000000000000" pitchFamily="2" charset="2"/>
              </a:rPr>
              <a:t> La date de DA initiale est </a:t>
            </a:r>
            <a:r>
              <a:rPr lang="nl-BE" dirty="0" err="1">
                <a:sym typeface="Wingdings" panose="05000000000000000000" pitchFamily="2" charset="2"/>
              </a:rPr>
              <a:t>le</a:t>
            </a:r>
            <a:r>
              <a:rPr lang="nl-BE" dirty="0">
                <a:sym typeface="Wingdings" panose="05000000000000000000" pitchFamily="2" charset="2"/>
              </a:rPr>
              <a:t> </a:t>
            </a:r>
            <a:r>
              <a:rPr lang="nl-BE" b="1" dirty="0">
                <a:solidFill>
                  <a:srgbClr val="C00000"/>
                </a:solidFill>
                <a:sym typeface="Wingdings" panose="05000000000000000000" pitchFamily="2" charset="2"/>
              </a:rPr>
              <a:t>24.11.2022</a:t>
            </a:r>
            <a:endParaRPr lang="nl-BE" b="1" dirty="0">
              <a:solidFill>
                <a:srgbClr val="C00000"/>
              </a:solidFill>
            </a:endParaRPr>
          </a:p>
        </p:txBody>
      </p:sp>
      <p:sp>
        <p:nvSpPr>
          <p:cNvPr id="5" name="Tijdelijke aanduiding voor dianummer 4"/>
          <p:cNvSpPr>
            <a:spLocks noGrp="1"/>
          </p:cNvSpPr>
          <p:nvPr>
            <p:ph type="sldNum" sz="quarter" idx="12"/>
          </p:nvPr>
        </p:nvSpPr>
        <p:spPr/>
        <p:txBody>
          <a:bodyPr/>
          <a:lstStyle/>
          <a:p>
            <a:fld id="{BDBE9B73-5FDC-46B2-A79B-5912A94C84D5}" type="slidenum">
              <a:rPr lang="nl-BE" smtClean="0"/>
              <a:pPr/>
              <a:t>17</a:t>
            </a:fld>
            <a:endParaRPr lang="nl-BE"/>
          </a:p>
        </p:txBody>
      </p:sp>
      <p:pic>
        <p:nvPicPr>
          <p:cNvPr id="4" name="Image 3">
            <a:hlinkClick r:id="rId3" action="ppaction://hlinksldjump"/>
          </p:cNvPr>
          <p:cNvPicPr>
            <a:picLocks noChangeAspect="1"/>
          </p:cNvPicPr>
          <p:nvPr/>
        </p:nvPicPr>
        <p:blipFill>
          <a:blip r:embed="rId4"/>
          <a:stretch>
            <a:fillRect/>
          </a:stretch>
        </p:blipFill>
        <p:spPr>
          <a:xfrm>
            <a:off x="7491412" y="1693781"/>
            <a:ext cx="257175" cy="219075"/>
          </a:xfrm>
          <a:prstGeom prst="rect">
            <a:avLst/>
          </a:prstGeom>
        </p:spPr>
      </p:pic>
      <p:pic>
        <p:nvPicPr>
          <p:cNvPr id="6" name="Image 5">
            <a:hlinkClick r:id="rId5" action="ppaction://hlinksldjump"/>
          </p:cNvPr>
          <p:cNvPicPr>
            <a:picLocks noChangeAspect="1"/>
          </p:cNvPicPr>
          <p:nvPr/>
        </p:nvPicPr>
        <p:blipFill>
          <a:blip r:embed="rId4"/>
          <a:stretch>
            <a:fillRect/>
          </a:stretch>
        </p:blipFill>
        <p:spPr>
          <a:xfrm>
            <a:off x="7491412" y="2128358"/>
            <a:ext cx="257175" cy="219075"/>
          </a:xfrm>
          <a:prstGeom prst="rect">
            <a:avLst/>
          </a:prstGeom>
        </p:spPr>
      </p:pic>
      <p:pic>
        <p:nvPicPr>
          <p:cNvPr id="7" name="Image 6">
            <a:hlinkClick r:id="rId6" action="ppaction://hlinksldjump"/>
          </p:cNvPr>
          <p:cNvPicPr>
            <a:picLocks noChangeAspect="1"/>
          </p:cNvPicPr>
          <p:nvPr/>
        </p:nvPicPr>
        <p:blipFill>
          <a:blip r:embed="rId4"/>
          <a:stretch>
            <a:fillRect/>
          </a:stretch>
        </p:blipFill>
        <p:spPr>
          <a:xfrm>
            <a:off x="7491412" y="2592305"/>
            <a:ext cx="257175" cy="219075"/>
          </a:xfrm>
          <a:prstGeom prst="rect">
            <a:avLst/>
          </a:prstGeom>
        </p:spPr>
      </p:pic>
      <p:pic>
        <p:nvPicPr>
          <p:cNvPr id="8" name="Image 7">
            <a:hlinkClick r:id="rId7" action="ppaction://hlinksldjump"/>
          </p:cNvPr>
          <p:cNvPicPr>
            <a:picLocks noChangeAspect="1"/>
          </p:cNvPicPr>
          <p:nvPr/>
        </p:nvPicPr>
        <p:blipFill>
          <a:blip r:embed="rId8"/>
          <a:stretch>
            <a:fillRect/>
          </a:stretch>
        </p:blipFill>
        <p:spPr>
          <a:xfrm>
            <a:off x="7491412" y="3481353"/>
            <a:ext cx="256054" cy="219475"/>
          </a:xfrm>
          <a:prstGeom prst="rect">
            <a:avLst/>
          </a:prstGeom>
        </p:spPr>
      </p:pic>
      <p:pic>
        <p:nvPicPr>
          <p:cNvPr id="9" name="Image 8">
            <a:hlinkClick r:id="rId9" action="ppaction://hlinksldjump"/>
          </p:cNvPr>
          <p:cNvPicPr>
            <a:picLocks noChangeAspect="1"/>
          </p:cNvPicPr>
          <p:nvPr/>
        </p:nvPicPr>
        <p:blipFill>
          <a:blip r:embed="rId8"/>
          <a:stretch>
            <a:fillRect/>
          </a:stretch>
        </p:blipFill>
        <p:spPr>
          <a:xfrm>
            <a:off x="7491412" y="3025532"/>
            <a:ext cx="256054" cy="219475"/>
          </a:xfrm>
          <a:prstGeom prst="rect">
            <a:avLst/>
          </a:prstGeom>
        </p:spPr>
      </p:pic>
    </p:spTree>
    <p:extLst>
      <p:ext uri="{BB962C8B-B14F-4D97-AF65-F5344CB8AC3E}">
        <p14:creationId xmlns:p14="http://schemas.microsoft.com/office/powerpoint/2010/main" val="5291173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cs typeface="Times New Roman" pitchFamily="18" charset="0"/>
              </a:rPr>
              <a:t>3. La fixation</a:t>
            </a:r>
            <a:endParaRPr lang="fr-BE" dirty="0"/>
          </a:p>
        </p:txBody>
      </p:sp>
      <p:sp>
        <p:nvSpPr>
          <p:cNvPr id="3" name="Espace réservé du contenu 2"/>
          <p:cNvSpPr>
            <a:spLocks noGrp="1"/>
          </p:cNvSpPr>
          <p:nvPr>
            <p:ph idx="1"/>
          </p:nvPr>
        </p:nvSpPr>
        <p:spPr/>
        <p:txBody>
          <a:bodyPr>
            <a:normAutofit/>
          </a:bodyPr>
          <a:lstStyle/>
          <a:p>
            <a:pPr marL="0" indent="0">
              <a:spcBef>
                <a:spcPts val="672"/>
              </a:spcBef>
              <a:buNone/>
            </a:pPr>
            <a:r>
              <a:rPr lang="fr-BE" b="1" i="1" dirty="0">
                <a:solidFill>
                  <a:srgbClr val="C00000"/>
                </a:solidFill>
              </a:rPr>
              <a:t>Les périodes d’indemnisation peuvent être fixées </a:t>
            </a:r>
            <a:r>
              <a:rPr lang="fr-BE" sz="2400" dirty="0">
                <a:sym typeface="Wingdings" pitchFamily="2" charset="2"/>
              </a:rPr>
              <a:t></a:t>
            </a:r>
            <a:r>
              <a:rPr lang="fr-BE" dirty="0"/>
              <a:t> L’intéressé « reste » dans la phase fixée, et les périodes suivantes sont supprimées</a:t>
            </a:r>
          </a:p>
          <a:p>
            <a:pPr marL="0" indent="0">
              <a:spcBef>
                <a:spcPts val="672"/>
              </a:spcBef>
              <a:buNone/>
            </a:pPr>
            <a:endParaRPr lang="fr-BE" sz="1400" dirty="0"/>
          </a:p>
          <a:p>
            <a:pPr marL="0" indent="0">
              <a:spcBef>
                <a:spcPts val="672"/>
              </a:spcBef>
              <a:buNone/>
            </a:pPr>
            <a:r>
              <a:rPr lang="fr-BE" u="sng" dirty="0"/>
              <a:t>Il existe 3 motifs de fixation</a:t>
            </a:r>
            <a:r>
              <a:rPr lang="fr-BE" dirty="0"/>
              <a:t> :</a:t>
            </a:r>
          </a:p>
          <a:p>
            <a:pPr lvl="1">
              <a:spcBef>
                <a:spcPts val="672"/>
              </a:spcBef>
              <a:buFont typeface="Wingdings" pitchFamily="2" charset="2"/>
              <a:buChar char="§"/>
            </a:pPr>
            <a:r>
              <a:rPr lang="fr-BE" sz="3200" dirty="0"/>
              <a:t>Le passé professionnel (PP+)</a:t>
            </a:r>
          </a:p>
          <a:p>
            <a:pPr lvl="1">
              <a:spcBef>
                <a:spcPts val="672"/>
              </a:spcBef>
              <a:buFont typeface="Wingdings" pitchFamily="2" charset="2"/>
              <a:buChar char="§"/>
            </a:pPr>
            <a:r>
              <a:rPr lang="fr-BE" sz="3200" dirty="0"/>
              <a:t>Une aptitude au travail réduite</a:t>
            </a:r>
          </a:p>
          <a:p>
            <a:pPr lvl="1">
              <a:spcBef>
                <a:spcPts val="672"/>
              </a:spcBef>
              <a:buFont typeface="Wingdings" pitchFamily="2" charset="2"/>
              <a:buChar char="§"/>
            </a:pPr>
            <a:r>
              <a:rPr lang="fr-BE" sz="3200" dirty="0"/>
              <a:t>L’âge</a:t>
            </a:r>
          </a:p>
          <a:p>
            <a:pPr lvl="1">
              <a:spcBef>
                <a:spcPts val="672"/>
              </a:spcBef>
              <a:buFont typeface="Wingdings" pitchFamily="2" charset="2"/>
              <a:buChar char="§"/>
            </a:pPr>
            <a:endParaRPr lang="fr-BE" sz="3200"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18</a:t>
            </a:fld>
            <a:endParaRPr lang="fr-FR"/>
          </a:p>
        </p:txBody>
      </p:sp>
    </p:spTree>
    <p:extLst>
      <p:ext uri="{BB962C8B-B14F-4D97-AF65-F5344CB8AC3E}">
        <p14:creationId xmlns:p14="http://schemas.microsoft.com/office/powerpoint/2010/main" val="3414988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cs typeface="Times New Roman" pitchFamily="18" charset="0"/>
              </a:rPr>
              <a:t>3. La fixation</a:t>
            </a:r>
            <a:endParaRPr lang="fr-BE" dirty="0"/>
          </a:p>
        </p:txBody>
      </p:sp>
      <p:sp>
        <p:nvSpPr>
          <p:cNvPr id="3" name="Espace réservé du contenu 2"/>
          <p:cNvSpPr>
            <a:spLocks noGrp="1"/>
          </p:cNvSpPr>
          <p:nvPr>
            <p:ph idx="1"/>
          </p:nvPr>
        </p:nvSpPr>
        <p:spPr/>
        <p:txBody>
          <a:bodyPr>
            <a:noAutofit/>
          </a:bodyPr>
          <a:lstStyle/>
          <a:p>
            <a:pPr marL="0" indent="0">
              <a:spcBef>
                <a:spcPts val="672"/>
              </a:spcBef>
              <a:buNone/>
            </a:pPr>
            <a:r>
              <a:rPr lang="fr-BE" sz="2800" dirty="0"/>
              <a:t>La fixation peut avoir lieu pendant les périodes d’indemnisation :</a:t>
            </a:r>
          </a:p>
          <a:p>
            <a:pPr>
              <a:spcBef>
                <a:spcPts val="672"/>
              </a:spcBef>
              <a:buFont typeface="Wingdings" pitchFamily="2" charset="2"/>
              <a:buChar char="§"/>
            </a:pPr>
            <a:r>
              <a:rPr lang="fr-BE" sz="2800" b="1" dirty="0">
                <a:solidFill>
                  <a:srgbClr val="C00000"/>
                </a:solidFill>
              </a:rPr>
              <a:t>soit ab initio </a:t>
            </a:r>
            <a:r>
              <a:rPr lang="fr-BE" sz="2600" dirty="0"/>
              <a:t>= avant la fin de la 1</a:t>
            </a:r>
            <a:r>
              <a:rPr lang="fr-BE" sz="2600" baseline="30000" dirty="0"/>
              <a:t>ère</a:t>
            </a:r>
            <a:r>
              <a:rPr lang="fr-BE" sz="2600" dirty="0"/>
              <a:t> phase de la deuxième période d’indemnisation = avant la fin de la phase 2A = pendant les 14 premiers mois (phase fixe) ;</a:t>
            </a:r>
          </a:p>
          <a:p>
            <a:pPr>
              <a:spcBef>
                <a:spcPts val="672"/>
              </a:spcBef>
              <a:buFont typeface="Wingdings" pitchFamily="2" charset="2"/>
              <a:buChar char="§"/>
            </a:pPr>
            <a:r>
              <a:rPr lang="fr-BE" sz="2800" b="1" dirty="0">
                <a:solidFill>
                  <a:srgbClr val="C00000"/>
                </a:solidFill>
              </a:rPr>
              <a:t>soit ultérieurement </a:t>
            </a:r>
            <a:r>
              <a:rPr lang="fr-BE" sz="2800" dirty="0"/>
              <a:t>: </a:t>
            </a:r>
          </a:p>
          <a:p>
            <a:pPr lvl="1">
              <a:spcBef>
                <a:spcPts val="672"/>
              </a:spcBef>
              <a:buFont typeface="Wingdings" pitchFamily="2" charset="2"/>
              <a:buChar char="§"/>
            </a:pPr>
            <a:r>
              <a:rPr lang="fr-BE" sz="2600" dirty="0"/>
              <a:t>pendant une phase variable de la deuxième période d’indemnisation à partir de la phase 2.0 jusqu’à la phase 2.4 (phase variable) ;</a:t>
            </a:r>
          </a:p>
          <a:p>
            <a:pPr lvl="1">
              <a:spcBef>
                <a:spcPts val="672"/>
              </a:spcBef>
              <a:buFont typeface="Wingdings" pitchFamily="2" charset="2"/>
              <a:buChar char="§"/>
            </a:pPr>
            <a:r>
              <a:rPr lang="fr-BE" sz="2600" dirty="0"/>
              <a:t>pendant la phase forfaitaire 3</a:t>
            </a:r>
            <a:r>
              <a:rPr lang="fr-BE" sz="2600" baseline="30000" dirty="0"/>
              <a:t>ème</a:t>
            </a:r>
            <a:r>
              <a:rPr lang="fr-BE" sz="2600" dirty="0"/>
              <a:t> période ;</a:t>
            </a: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19</a:t>
            </a:fld>
            <a:endParaRPr lang="fr-FR"/>
          </a:p>
        </p:txBody>
      </p:sp>
    </p:spTree>
    <p:extLst>
      <p:ext uri="{BB962C8B-B14F-4D97-AF65-F5344CB8AC3E}">
        <p14:creationId xmlns:p14="http://schemas.microsoft.com/office/powerpoint/2010/main" val="2878488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BE" b="1" i="1" dirty="0">
                <a:solidFill>
                  <a:prstClr val="black"/>
                </a:solidFill>
                <a:cs typeface="Times New Roman" pitchFamily="18" charset="0"/>
              </a:rPr>
              <a:t>3.1. Fixation – PP+</a:t>
            </a:r>
            <a:endParaRPr lang="fr-BE" b="1" i="1" dirty="0">
              <a:latin typeface="Times New Roman" pitchFamily="18" charset="0"/>
              <a:cs typeface="Times New Roman" pitchFamily="18" charset="0"/>
            </a:endParaRPr>
          </a:p>
        </p:txBody>
      </p:sp>
      <p:sp>
        <p:nvSpPr>
          <p:cNvPr id="3" name="Espace réservé du contenu 2"/>
          <p:cNvSpPr>
            <a:spLocks noGrp="1"/>
          </p:cNvSpPr>
          <p:nvPr>
            <p:ph idx="1"/>
          </p:nvPr>
        </p:nvSpPr>
        <p:spPr>
          <a:xfrm>
            <a:off x="179512" y="1600200"/>
            <a:ext cx="8784976" cy="4525963"/>
          </a:xfrm>
          <a:noFill/>
          <a:ln>
            <a:noFill/>
          </a:ln>
        </p:spPr>
        <p:txBody>
          <a:bodyPr>
            <a:normAutofit fontScale="25000" lnSpcReduction="20000"/>
          </a:bodyPr>
          <a:lstStyle/>
          <a:p>
            <a:pPr marL="0" indent="0">
              <a:lnSpc>
                <a:spcPct val="120000"/>
              </a:lnSpc>
              <a:spcBef>
                <a:spcPts val="672"/>
              </a:spcBef>
              <a:buNone/>
            </a:pPr>
            <a:r>
              <a:rPr lang="fr-BE" sz="12800" b="1" i="1" dirty="0">
                <a:solidFill>
                  <a:srgbClr val="C00000"/>
                </a:solidFill>
              </a:rPr>
              <a:t>Fixation sur base du passé professionnel de 25 ans (PP+).</a:t>
            </a:r>
          </a:p>
          <a:p>
            <a:pPr marL="0" indent="0">
              <a:lnSpc>
                <a:spcPct val="120000"/>
              </a:lnSpc>
              <a:spcBef>
                <a:spcPts val="672"/>
              </a:spcBef>
              <a:buNone/>
            </a:pPr>
            <a:r>
              <a:rPr lang="fr-BE" sz="12800" b="1" dirty="0"/>
              <a:t>Quand le travailleur a-t-il atteint le PP + ?</a:t>
            </a:r>
          </a:p>
          <a:p>
            <a:pPr>
              <a:lnSpc>
                <a:spcPct val="120000"/>
              </a:lnSpc>
              <a:spcBef>
                <a:spcPts val="672"/>
              </a:spcBef>
              <a:buFont typeface="Wingdings" pitchFamily="2" charset="2"/>
              <a:buChar char="§"/>
            </a:pPr>
            <a:r>
              <a:rPr lang="fr-BE" sz="12800" b="1" dirty="0"/>
              <a:t>La fixation ab initio </a:t>
            </a:r>
            <a:r>
              <a:rPr lang="fr-BE" sz="12800" dirty="0"/>
              <a:t>: </a:t>
            </a:r>
          </a:p>
          <a:p>
            <a:pPr marL="0" indent="0">
              <a:lnSpc>
                <a:spcPct val="120000"/>
              </a:lnSpc>
              <a:spcBef>
                <a:spcPts val="672"/>
              </a:spcBef>
              <a:buNone/>
            </a:pPr>
            <a:r>
              <a:rPr lang="fr-FR" sz="9600" dirty="0">
                <a:sym typeface="Wingdings" pitchFamily="2" charset="2"/>
              </a:rPr>
              <a:t> </a:t>
            </a:r>
            <a:r>
              <a:rPr lang="fr-BE" sz="12800" dirty="0"/>
              <a:t>L'allocation du travailleur qui atteint un "passé professionnel qualifié suffisant" avant la fin de la première phase de la deuxième période d'indemnisation (2A), ne diminue plus.</a:t>
            </a:r>
            <a:endParaRPr lang="fr-BE" sz="9600" dirty="0"/>
          </a:p>
          <a:p>
            <a:pPr marL="0" indent="0">
              <a:buNone/>
            </a:pPr>
            <a:endParaRPr lang="fr-BE" dirty="0"/>
          </a:p>
          <a:p>
            <a:pPr marL="0" indent="0">
              <a:buNone/>
            </a:pPr>
            <a:endParaRPr lang="fr-BE" dirty="0"/>
          </a:p>
          <a:p>
            <a:pPr marL="0" indent="0">
              <a:buNone/>
            </a:pPr>
            <a:r>
              <a:rPr lang="fr-BE" dirty="0"/>
              <a:t>							</a:t>
            </a:r>
          </a:p>
          <a:p>
            <a:pPr marL="0" indent="0">
              <a:buNone/>
            </a:pPr>
            <a:r>
              <a:rPr lang="fr-BE" dirty="0"/>
              <a:t>									</a:t>
            </a:r>
          </a:p>
          <a:p>
            <a:pPr marL="0" indent="0">
              <a:buNone/>
            </a:pPr>
            <a:endParaRPr lang="fr-BE"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20</a:t>
            </a:fld>
            <a:endParaRPr lang="fr-FR" dirty="0"/>
          </a:p>
        </p:txBody>
      </p:sp>
    </p:spTree>
    <p:extLst>
      <p:ext uri="{BB962C8B-B14F-4D97-AF65-F5344CB8AC3E}">
        <p14:creationId xmlns:p14="http://schemas.microsoft.com/office/powerpoint/2010/main" val="148098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BE" b="1" i="1" dirty="0">
                <a:solidFill>
                  <a:prstClr val="black"/>
                </a:solidFill>
                <a:cs typeface="Times New Roman" pitchFamily="18" charset="0"/>
              </a:rPr>
              <a:t>3.1. Fixation – PP+</a:t>
            </a:r>
            <a:endParaRPr lang="fr-BE"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a:buFont typeface="Wingdings" pitchFamily="2" charset="2"/>
              <a:buChar char="§"/>
            </a:pPr>
            <a:r>
              <a:rPr lang="fr-BE" b="1" dirty="0"/>
              <a:t>La fixation pendant une phase variable ou pendant le forfait</a:t>
            </a:r>
          </a:p>
          <a:p>
            <a:pPr marL="0" indent="0">
              <a:buNone/>
            </a:pPr>
            <a:r>
              <a:rPr lang="fr-FR" sz="2400" dirty="0">
                <a:sym typeface="Wingdings" pitchFamily="2" charset="2"/>
              </a:rPr>
              <a:t></a:t>
            </a:r>
            <a:r>
              <a:rPr lang="fr-FR" sz="4000" dirty="0">
                <a:sym typeface="Wingdings" pitchFamily="2" charset="2"/>
              </a:rPr>
              <a:t> </a:t>
            </a:r>
            <a:r>
              <a:rPr lang="fr-BE" dirty="0"/>
              <a:t>Si le "passé professionnel qualifié suffisant" est atteint dans une phase ultérieure, le niveau d'allocations qui vaut pour la phase au cours de laquelle le travailleur atteint le PP+ est maintenu.</a:t>
            </a:r>
          </a:p>
          <a:p>
            <a:pPr marL="0" indent="0">
              <a:buNone/>
            </a:pPr>
            <a:endParaRPr lang="fr-BE" b="1" dirty="0"/>
          </a:p>
          <a:p>
            <a:pPr marL="0" indent="0">
              <a:buNone/>
            </a:pPr>
            <a:endParaRPr lang="fr-BE"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21</a:t>
            </a:fld>
            <a:endParaRPr lang="fr-FR"/>
          </a:p>
        </p:txBody>
      </p:sp>
    </p:spTree>
    <p:extLst>
      <p:ext uri="{BB962C8B-B14F-4D97-AF65-F5344CB8AC3E}">
        <p14:creationId xmlns:p14="http://schemas.microsoft.com/office/powerpoint/2010/main" val="37602502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BE" b="1" i="1" dirty="0">
                <a:solidFill>
                  <a:prstClr val="black"/>
                </a:solidFill>
                <a:cs typeface="Times New Roman" pitchFamily="18" charset="0"/>
              </a:rPr>
              <a:t>3.2. Fixation – Aptitude réduite</a:t>
            </a:r>
            <a:endParaRPr lang="fr-BE" b="1" i="1" dirty="0">
              <a:cs typeface="Times New Roman" pitchFamily="18" charset="0"/>
            </a:endParaRPr>
          </a:p>
        </p:txBody>
      </p:sp>
      <p:sp>
        <p:nvSpPr>
          <p:cNvPr id="3" name="Espace réservé du contenu 2"/>
          <p:cNvSpPr>
            <a:spLocks noGrp="1"/>
          </p:cNvSpPr>
          <p:nvPr>
            <p:ph idx="1"/>
          </p:nvPr>
        </p:nvSpPr>
        <p:spPr/>
        <p:txBody>
          <a:bodyPr>
            <a:noAutofit/>
          </a:bodyPr>
          <a:lstStyle/>
          <a:p>
            <a:pPr marL="0" indent="0">
              <a:spcBef>
                <a:spcPts val="672"/>
              </a:spcBef>
              <a:buNone/>
            </a:pPr>
            <a:r>
              <a:rPr lang="fr-BE" sz="3000" b="1" i="1" dirty="0">
                <a:solidFill>
                  <a:srgbClr val="C00000"/>
                </a:solidFill>
              </a:rPr>
              <a:t>Fixation suite à une aptitude au travail réduite</a:t>
            </a:r>
          </a:p>
          <a:p>
            <a:pPr marL="0" indent="0" hangingPunct="0">
              <a:spcBef>
                <a:spcPts val="672"/>
              </a:spcBef>
              <a:buNone/>
            </a:pPr>
            <a:r>
              <a:rPr lang="fr-FR" sz="3000" dirty="0"/>
              <a:t>Il est tenu compte de la situation le jour à partir duquel </a:t>
            </a:r>
            <a:r>
              <a:rPr lang="fr-FR" sz="3000" b="1" dirty="0">
                <a:solidFill>
                  <a:srgbClr val="C00000"/>
                </a:solidFill>
              </a:rPr>
              <a:t>l’inaptitude permanente au travail de 33% au moins </a:t>
            </a:r>
            <a:r>
              <a:rPr lang="fr-FR" sz="3000" dirty="0"/>
              <a:t>est </a:t>
            </a:r>
            <a:r>
              <a:rPr lang="fr-FR" sz="3000" b="1" dirty="0"/>
              <a:t>reconnue</a:t>
            </a:r>
            <a:r>
              <a:rPr lang="fr-FR" sz="3000" dirty="0"/>
              <a:t> </a:t>
            </a:r>
            <a:r>
              <a:rPr lang="fr-FR" sz="2400" dirty="0"/>
              <a:t>(même si ce jour est un jour non indemnisable (ex. dimanche)).</a:t>
            </a:r>
            <a:endParaRPr lang="fr-BE" sz="2400" dirty="0"/>
          </a:p>
          <a:p>
            <a:pPr>
              <a:spcBef>
                <a:spcPts val="672"/>
              </a:spcBef>
              <a:buFont typeface="Wingdings" pitchFamily="2" charset="2"/>
              <a:buChar char="§"/>
            </a:pPr>
            <a:r>
              <a:rPr lang="fr-BE" sz="3000" b="1" i="1" dirty="0"/>
              <a:t>Fixation ab initio</a:t>
            </a:r>
          </a:p>
          <a:p>
            <a:pPr marL="0" indent="0">
              <a:spcBef>
                <a:spcPts val="672"/>
              </a:spcBef>
              <a:buNone/>
            </a:pPr>
            <a:r>
              <a:rPr lang="fr-FR" sz="2400" dirty="0">
                <a:sym typeface="Wingdings" pitchFamily="2" charset="2"/>
              </a:rPr>
              <a:t></a:t>
            </a:r>
            <a:r>
              <a:rPr lang="fr-FR" sz="3000" dirty="0">
                <a:sym typeface="Wingdings" pitchFamily="2" charset="2"/>
              </a:rPr>
              <a:t> </a:t>
            </a:r>
            <a:r>
              <a:rPr lang="fr-FR" sz="3000" dirty="0"/>
              <a:t>L'allocation du travailleur qui présente ≥ 33 % d'inaptitude permanente au travail avant la fin de la première phase 2A ne diminue plus. ( fixation 2A)</a:t>
            </a: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22</a:t>
            </a:fld>
            <a:endParaRPr lang="fr-FR"/>
          </a:p>
        </p:txBody>
      </p:sp>
    </p:spTree>
    <p:extLst>
      <p:ext uri="{BB962C8B-B14F-4D97-AF65-F5344CB8AC3E}">
        <p14:creationId xmlns:p14="http://schemas.microsoft.com/office/powerpoint/2010/main" val="924949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BE" b="1" i="1" dirty="0">
                <a:solidFill>
                  <a:prstClr val="black"/>
                </a:solidFill>
                <a:cs typeface="Times New Roman" pitchFamily="18" charset="0"/>
              </a:rPr>
              <a:t>3.2. Fixation – Aptitude réduite</a:t>
            </a:r>
            <a:endParaRPr lang="fr-BE"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hangingPunct="0">
              <a:spcBef>
                <a:spcPts val="672"/>
              </a:spcBef>
              <a:buFont typeface="Wingdings" pitchFamily="2" charset="2"/>
              <a:buChar char="§"/>
            </a:pPr>
            <a:r>
              <a:rPr lang="fr-FR" b="1" i="1" dirty="0"/>
              <a:t>La fixation pendant une phase variable</a:t>
            </a:r>
            <a:r>
              <a:rPr lang="fr-FR" i="1" dirty="0"/>
              <a:t> </a:t>
            </a:r>
            <a:r>
              <a:rPr lang="fr-FR" b="1" i="1" dirty="0"/>
              <a:t>ou le forfait</a:t>
            </a:r>
            <a:endParaRPr lang="fr-BE" b="1" i="1" dirty="0"/>
          </a:p>
          <a:p>
            <a:pPr marL="0" indent="0" hangingPunct="0">
              <a:spcBef>
                <a:spcPts val="672"/>
              </a:spcBef>
              <a:buNone/>
            </a:pPr>
            <a:r>
              <a:rPr lang="fr-FR" sz="2400" dirty="0">
                <a:sym typeface="Wingdings" pitchFamily="2" charset="2"/>
              </a:rPr>
              <a:t></a:t>
            </a:r>
            <a:r>
              <a:rPr lang="fr-FR" sz="4000" dirty="0">
                <a:sym typeface="Wingdings" pitchFamily="2" charset="2"/>
              </a:rPr>
              <a:t> </a:t>
            </a:r>
            <a:r>
              <a:rPr lang="fr-FR" dirty="0"/>
              <a:t>Si la date à partir de laquelle l'aptitude réduite est reconnue se situe dans une phase ultérieure, le montant d'allocations qui vaut pour la phase au cours de laquelle le travailleur présente une inaptitude permanente au travail de 33% au moins, est maintenu. </a:t>
            </a:r>
            <a:endParaRPr lang="fr-BE" dirty="0"/>
          </a:p>
          <a:p>
            <a:pPr marL="0" indent="0">
              <a:buNone/>
            </a:pPr>
            <a:endParaRPr lang="fr-BE"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23</a:t>
            </a:fld>
            <a:endParaRPr lang="fr-FR"/>
          </a:p>
        </p:txBody>
      </p:sp>
    </p:spTree>
    <p:extLst>
      <p:ext uri="{BB962C8B-B14F-4D97-AF65-F5344CB8AC3E}">
        <p14:creationId xmlns:p14="http://schemas.microsoft.com/office/powerpoint/2010/main" val="1237241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solidFill>
                  <a:prstClr val="black"/>
                </a:solidFill>
                <a:cs typeface="Times New Roman" pitchFamily="18" charset="0"/>
              </a:rPr>
              <a:t>3.2. Fixation – Aptitude réduite Exemple</a:t>
            </a:r>
            <a:endParaRPr lang="fr-BE" dirty="0"/>
          </a:p>
        </p:txBody>
      </p:sp>
      <p:sp>
        <p:nvSpPr>
          <p:cNvPr id="3" name="Espace réservé du contenu 2"/>
          <p:cNvSpPr>
            <a:spLocks noGrp="1"/>
          </p:cNvSpPr>
          <p:nvPr>
            <p:ph idx="1"/>
          </p:nvPr>
        </p:nvSpPr>
        <p:spPr/>
        <p:txBody>
          <a:bodyPr>
            <a:normAutofit fontScale="85000" lnSpcReduction="10000"/>
          </a:bodyPr>
          <a:lstStyle/>
          <a:p>
            <a:pPr marL="0" indent="0" hangingPunct="0">
              <a:buNone/>
            </a:pPr>
            <a:r>
              <a:rPr lang="fr-FR" i="1" dirty="0"/>
              <a:t>DA 12.11.2020 et </a:t>
            </a:r>
            <a:r>
              <a:rPr lang="fr-FR" i="1" u="sng" dirty="0"/>
              <a:t>8 ans de passé professionnel </a:t>
            </a:r>
            <a:r>
              <a:rPr lang="fr-FR" i="1" dirty="0"/>
              <a:t>=&gt; passage au forfait le 12.05.2023</a:t>
            </a:r>
            <a:endParaRPr lang="fr-BE" dirty="0"/>
          </a:p>
          <a:p>
            <a:pPr hangingPunct="0">
              <a:buFont typeface="Wingdings" pitchFamily="2" charset="2"/>
              <a:buChar char="§"/>
            </a:pPr>
            <a:r>
              <a:rPr lang="fr-FR" i="1" dirty="0"/>
              <a:t>Première période : 12.11.2020 (3-3-6 mois)</a:t>
            </a:r>
            <a:endParaRPr lang="fr-BE" dirty="0"/>
          </a:p>
          <a:p>
            <a:pPr hangingPunct="0">
              <a:buFont typeface="Wingdings" pitchFamily="2" charset="2"/>
              <a:buChar char="§"/>
            </a:pPr>
            <a:r>
              <a:rPr lang="fr-FR" i="1" dirty="0"/>
              <a:t>Deuxième période – phase 2A : 12.11.2021 (2 mois)</a:t>
            </a:r>
            <a:endParaRPr lang="fr-BE" dirty="0"/>
          </a:p>
          <a:p>
            <a:pPr hangingPunct="0">
              <a:buFont typeface="Wingdings" pitchFamily="2" charset="2"/>
              <a:buChar char="§"/>
            </a:pPr>
            <a:r>
              <a:rPr lang="fr-FR" i="1" dirty="0"/>
              <a:t>Deuxième période – phase 2B : 12.01.2022 (10 mois)</a:t>
            </a:r>
            <a:endParaRPr lang="fr-BE" dirty="0"/>
          </a:p>
          <a:p>
            <a:pPr hangingPunct="0">
              <a:buFont typeface="Wingdings" pitchFamily="2" charset="2"/>
              <a:buChar char="§"/>
            </a:pPr>
            <a:r>
              <a:rPr lang="fr-FR" i="1" dirty="0"/>
              <a:t>Deuxième période – phase 21 : 12.11.2022 (6 mois)</a:t>
            </a:r>
          </a:p>
          <a:p>
            <a:pPr hangingPunct="0">
              <a:buFont typeface="Wingdings" pitchFamily="2" charset="2"/>
              <a:buChar char="§"/>
            </a:pPr>
            <a:r>
              <a:rPr lang="fr-FR" i="1" dirty="0"/>
              <a:t>Troisième période – Forfait : </a:t>
            </a:r>
            <a:r>
              <a:rPr lang="fr-BE" i="1" dirty="0"/>
              <a:t>12.05.2023</a:t>
            </a:r>
            <a:endParaRPr lang="fr-BE" dirty="0"/>
          </a:p>
          <a:p>
            <a:pPr marL="0" indent="0" hangingPunct="0">
              <a:buNone/>
            </a:pPr>
            <a:r>
              <a:rPr lang="fr-FR" sz="2800" i="1" dirty="0">
                <a:sym typeface="Wingdings" pitchFamily="2" charset="2"/>
              </a:rPr>
              <a:t>	</a:t>
            </a:r>
            <a:r>
              <a:rPr lang="fr-FR" i="1" dirty="0">
                <a:sym typeface="Wingdings" pitchFamily="2" charset="2"/>
              </a:rPr>
              <a:t> Si </a:t>
            </a:r>
            <a:r>
              <a:rPr lang="fr-FR" i="1" dirty="0"/>
              <a:t>incapacité de 33% reconnue le 22.11.2022</a:t>
            </a:r>
          </a:p>
          <a:p>
            <a:pPr marL="0" indent="0" hangingPunct="0">
              <a:buNone/>
            </a:pPr>
            <a:r>
              <a:rPr lang="fr-FR" sz="2800" i="1" dirty="0">
                <a:sym typeface="Wingdings" pitchFamily="2" charset="2"/>
              </a:rPr>
              <a:t>	</a:t>
            </a:r>
            <a:r>
              <a:rPr lang="fr-FR" i="1" dirty="0">
                <a:sym typeface="Wingdings" pitchFamily="2" charset="2"/>
              </a:rPr>
              <a:t> </a:t>
            </a:r>
            <a:r>
              <a:rPr lang="fr-BE" i="1" dirty="0">
                <a:sym typeface="Wingdings" pitchFamily="2" charset="2"/>
              </a:rPr>
              <a:t>Le 22.11.2022 est en phase 21</a:t>
            </a:r>
            <a:endParaRPr lang="fr-BE" dirty="0"/>
          </a:p>
          <a:p>
            <a:pPr marL="0" indent="0" hangingPunct="0">
              <a:buNone/>
            </a:pPr>
            <a:r>
              <a:rPr lang="fr-BE" sz="2800" i="1" dirty="0">
                <a:sym typeface="Wingdings" pitchFamily="2" charset="2"/>
              </a:rPr>
              <a:t>	 </a:t>
            </a:r>
            <a:r>
              <a:rPr lang="fr-FR" i="1" dirty="0">
                <a:sym typeface="Wingdings" pitchFamily="2" charset="2"/>
              </a:rPr>
              <a:t>Il y aura une fixation de la phase 21</a:t>
            </a:r>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24</a:t>
            </a:fld>
            <a:endParaRPr lang="fr-FR"/>
          </a:p>
        </p:txBody>
      </p:sp>
    </p:spTree>
    <p:extLst>
      <p:ext uri="{BB962C8B-B14F-4D97-AF65-F5344CB8AC3E}">
        <p14:creationId xmlns:p14="http://schemas.microsoft.com/office/powerpoint/2010/main" val="4079429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sz="4900" b="1" i="1" dirty="0">
                <a:solidFill>
                  <a:prstClr val="black"/>
                </a:solidFill>
                <a:cs typeface="Times New Roman" pitchFamily="18" charset="0"/>
              </a:rPr>
              <a:t>3.3. Fixation – Age </a:t>
            </a:r>
            <a:endParaRPr lang="fr-BE" dirty="0"/>
          </a:p>
        </p:txBody>
      </p:sp>
      <p:sp>
        <p:nvSpPr>
          <p:cNvPr id="3" name="Espace réservé du contenu 2"/>
          <p:cNvSpPr>
            <a:spLocks noGrp="1"/>
          </p:cNvSpPr>
          <p:nvPr>
            <p:ph idx="1"/>
          </p:nvPr>
        </p:nvSpPr>
        <p:spPr/>
        <p:txBody>
          <a:bodyPr>
            <a:normAutofit/>
          </a:bodyPr>
          <a:lstStyle/>
          <a:p>
            <a:pPr marL="0" indent="0">
              <a:spcBef>
                <a:spcPts val="672"/>
              </a:spcBef>
              <a:buNone/>
            </a:pPr>
            <a:r>
              <a:rPr lang="fr-BE" b="1" i="1" dirty="0">
                <a:solidFill>
                  <a:srgbClr val="C00000"/>
                </a:solidFill>
              </a:rPr>
              <a:t>Fixation sur base de la condition d’âge = 55ans</a:t>
            </a:r>
            <a:endParaRPr lang="fr-BE" sz="1200" b="1" i="1" dirty="0">
              <a:solidFill>
                <a:srgbClr val="C00000"/>
              </a:solidFill>
            </a:endParaRPr>
          </a:p>
          <a:p>
            <a:pPr>
              <a:spcBef>
                <a:spcPts val="672"/>
              </a:spcBef>
              <a:buFont typeface="Wingdings" pitchFamily="2" charset="2"/>
              <a:buChar char="§"/>
            </a:pPr>
            <a:r>
              <a:rPr lang="fr-BE" dirty="0">
                <a:sym typeface="Wingdings" pitchFamily="2" charset="2"/>
              </a:rPr>
              <a:t>On tient compte de la situation au 1</a:t>
            </a:r>
            <a:r>
              <a:rPr lang="fr-BE" baseline="30000" dirty="0">
                <a:sym typeface="Wingdings" pitchFamily="2" charset="2"/>
              </a:rPr>
              <a:t>er</a:t>
            </a:r>
            <a:r>
              <a:rPr lang="fr-BE" dirty="0">
                <a:sym typeface="Wingdings" pitchFamily="2" charset="2"/>
              </a:rPr>
              <a:t> jour du mois civil au cours duquel le travailleur atteint 55ans (même si ce jour est un jour non indemnisable).</a:t>
            </a:r>
          </a:p>
          <a:p>
            <a:pPr>
              <a:spcBef>
                <a:spcPts val="672"/>
              </a:spcBef>
              <a:buFont typeface="Wingdings" pitchFamily="2" charset="2"/>
              <a:buChar char="§"/>
            </a:pPr>
            <a:r>
              <a:rPr lang="fr-BE" dirty="0">
                <a:sym typeface="Wingdings" pitchFamily="2" charset="2"/>
              </a:rPr>
              <a:t>Exemple : 55 ans le 22.05.AAAA</a:t>
            </a:r>
          </a:p>
          <a:p>
            <a:pPr marL="365125" indent="0">
              <a:spcBef>
                <a:spcPts val="672"/>
              </a:spcBef>
              <a:buNone/>
            </a:pPr>
            <a:r>
              <a:rPr lang="fr-BE" sz="2400" dirty="0">
                <a:sym typeface="Wingdings" pitchFamily="2" charset="2"/>
              </a:rPr>
              <a:t></a:t>
            </a:r>
            <a:r>
              <a:rPr lang="fr-BE" dirty="0">
                <a:sym typeface="Wingdings" pitchFamily="2" charset="2"/>
              </a:rPr>
              <a:t> 55 ans pris en compte à partir du 01.05.AAAA.</a:t>
            </a: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25</a:t>
            </a:fld>
            <a:endParaRPr lang="fr-FR"/>
          </a:p>
        </p:txBody>
      </p:sp>
    </p:spTree>
    <p:extLst>
      <p:ext uri="{BB962C8B-B14F-4D97-AF65-F5344CB8AC3E}">
        <p14:creationId xmlns:p14="http://schemas.microsoft.com/office/powerpoint/2010/main" val="9108411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BE" b="1" i="1" dirty="0">
                <a:solidFill>
                  <a:prstClr val="black"/>
                </a:solidFill>
                <a:cs typeface="Times New Roman" pitchFamily="18" charset="0"/>
              </a:rPr>
              <a:t>3.3. Fixation – Age </a:t>
            </a:r>
            <a:endParaRPr lang="fr-BE"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Autofit/>
          </a:bodyPr>
          <a:lstStyle/>
          <a:p>
            <a:pPr>
              <a:spcBef>
                <a:spcPts val="672"/>
              </a:spcBef>
              <a:buFont typeface="Wingdings" pitchFamily="2" charset="2"/>
              <a:buChar char="§"/>
            </a:pPr>
            <a:r>
              <a:rPr lang="fr-BE" sz="2800" b="1" i="1" dirty="0"/>
              <a:t>Fixation Ab </a:t>
            </a:r>
            <a:r>
              <a:rPr lang="fr-BE" sz="2800" b="1" i="1" dirty="0" err="1"/>
              <a:t>initio</a:t>
            </a:r>
            <a:endParaRPr lang="fr-BE" sz="2800" b="1" i="1" dirty="0"/>
          </a:p>
          <a:p>
            <a:pPr marL="0" indent="0" hangingPunct="0">
              <a:spcBef>
                <a:spcPts val="672"/>
              </a:spcBef>
              <a:buNone/>
            </a:pPr>
            <a:r>
              <a:rPr lang="fr-FR" sz="2400" dirty="0">
                <a:sym typeface="Wingdings" pitchFamily="2" charset="2"/>
              </a:rPr>
              <a:t></a:t>
            </a:r>
            <a:r>
              <a:rPr lang="fr-FR" sz="2800" dirty="0">
                <a:sym typeface="Wingdings" pitchFamily="2" charset="2"/>
              </a:rPr>
              <a:t> Si </a:t>
            </a:r>
            <a:r>
              <a:rPr lang="fr-FR" sz="2800" dirty="0"/>
              <a:t>55 ans avant la fin de la </a:t>
            </a:r>
            <a:r>
              <a:rPr lang="fr-FR" sz="2800" b="1" dirty="0"/>
              <a:t>phase 2A</a:t>
            </a:r>
            <a:r>
              <a:rPr lang="fr-FR" sz="2400" b="1" dirty="0">
                <a:sym typeface="Wingdings" pitchFamily="2" charset="2"/>
              </a:rPr>
              <a:t></a:t>
            </a:r>
            <a:r>
              <a:rPr lang="fr-FR" sz="2800" b="1" dirty="0">
                <a:sym typeface="Wingdings" pitchFamily="2" charset="2"/>
              </a:rPr>
              <a:t> l’allocation ne diminuera</a:t>
            </a:r>
            <a:r>
              <a:rPr lang="fr-FR" sz="2800" dirty="0"/>
              <a:t> plus et les périodes d’indemnisation suivantes sont supprimées. </a:t>
            </a:r>
          </a:p>
          <a:p>
            <a:pPr>
              <a:spcBef>
                <a:spcPts val="672"/>
              </a:spcBef>
              <a:buFont typeface="Wingdings" pitchFamily="2" charset="2"/>
              <a:buChar char="§"/>
            </a:pPr>
            <a:r>
              <a:rPr lang="fr-BE" sz="2800" b="1" i="1" dirty="0"/>
              <a:t>Fixation pendant une phase variable</a:t>
            </a:r>
            <a:endParaRPr lang="fr-FR" sz="2800" b="1" i="1" dirty="0">
              <a:sym typeface="Wingdings" pitchFamily="2" charset="2"/>
            </a:endParaRPr>
          </a:p>
          <a:p>
            <a:pPr marL="0" indent="0" hangingPunct="0">
              <a:spcBef>
                <a:spcPts val="672"/>
              </a:spcBef>
              <a:buNone/>
            </a:pPr>
            <a:r>
              <a:rPr lang="fr-FR" sz="2400" dirty="0">
                <a:sym typeface="Wingdings" pitchFamily="2" charset="2"/>
              </a:rPr>
              <a:t></a:t>
            </a:r>
            <a:r>
              <a:rPr lang="fr-FR" sz="2800" dirty="0">
                <a:sym typeface="Wingdings" pitchFamily="2" charset="2"/>
              </a:rPr>
              <a:t> </a:t>
            </a:r>
            <a:r>
              <a:rPr lang="fr-FR" sz="2800" dirty="0"/>
              <a:t>Si 55 ans sont atteints dans une phase ultérieure, le montant d'allocation qui vaut pour la phase au cours de laquelle le travailleur atteint le mois de son 55</a:t>
            </a:r>
            <a:r>
              <a:rPr lang="fr-FR" sz="2800" baseline="30000" dirty="0"/>
              <a:t>ème</a:t>
            </a:r>
            <a:r>
              <a:rPr lang="fr-FR" sz="2800" dirty="0"/>
              <a:t> anniversaire est maintenu, et les périodes d’indemnisation suivantes sont supprimées. </a:t>
            </a:r>
            <a:endParaRPr lang="fr-FR" sz="2800" i="1" dirty="0"/>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26</a:t>
            </a:fld>
            <a:endParaRPr lang="fr-FR"/>
          </a:p>
        </p:txBody>
      </p:sp>
    </p:spTree>
    <p:extLst>
      <p:ext uri="{BB962C8B-B14F-4D97-AF65-F5344CB8AC3E}">
        <p14:creationId xmlns:p14="http://schemas.microsoft.com/office/powerpoint/2010/main" val="1538887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solidFill>
                  <a:prstClr val="black"/>
                </a:solidFill>
                <a:cs typeface="Times New Roman" pitchFamily="18" charset="0"/>
              </a:rPr>
              <a:t>3.3. Fixation – Age : </a:t>
            </a:r>
            <a:br>
              <a:rPr lang="fr-BE" b="1" i="1" dirty="0">
                <a:solidFill>
                  <a:prstClr val="black"/>
                </a:solidFill>
                <a:cs typeface="Times New Roman" pitchFamily="18" charset="0"/>
              </a:rPr>
            </a:br>
            <a:r>
              <a:rPr lang="fr-BE" b="1" i="1" dirty="0">
                <a:solidFill>
                  <a:prstClr val="black"/>
                </a:solidFill>
                <a:cs typeface="Times New Roman" pitchFamily="18" charset="0"/>
              </a:rPr>
              <a:t>exemple</a:t>
            </a:r>
            <a:endParaRPr lang="fr-BE" dirty="0"/>
          </a:p>
        </p:txBody>
      </p:sp>
      <p:sp>
        <p:nvSpPr>
          <p:cNvPr id="3" name="Espace réservé du contenu 2"/>
          <p:cNvSpPr>
            <a:spLocks noGrp="1"/>
          </p:cNvSpPr>
          <p:nvPr>
            <p:ph idx="1"/>
          </p:nvPr>
        </p:nvSpPr>
        <p:spPr/>
        <p:txBody>
          <a:bodyPr>
            <a:normAutofit fontScale="85000" lnSpcReduction="10000"/>
          </a:bodyPr>
          <a:lstStyle/>
          <a:p>
            <a:pPr marL="0" indent="0" hangingPunct="0">
              <a:buNone/>
            </a:pPr>
            <a:r>
              <a:rPr lang="fr-FR" i="1" dirty="0"/>
              <a:t>DA 08.09.2021 et </a:t>
            </a:r>
            <a:r>
              <a:rPr lang="fr-FR" i="1" u="sng" dirty="0"/>
              <a:t>4 ans de passé professionnel </a:t>
            </a:r>
            <a:r>
              <a:rPr lang="fr-FR" i="1" dirty="0"/>
              <a:t>=&gt; passage au forfait le 08.07.2023</a:t>
            </a:r>
            <a:endParaRPr lang="fr-BE" dirty="0"/>
          </a:p>
          <a:p>
            <a:pPr hangingPunct="0">
              <a:buFont typeface="Wingdings" pitchFamily="2" charset="2"/>
              <a:buChar char="§"/>
            </a:pPr>
            <a:r>
              <a:rPr lang="fr-FR" i="1" dirty="0"/>
              <a:t>Première période : 08.09.2021 (3-3-6 mois)</a:t>
            </a:r>
            <a:endParaRPr lang="fr-BE" dirty="0"/>
          </a:p>
          <a:p>
            <a:pPr hangingPunct="0">
              <a:buFont typeface="Wingdings" pitchFamily="2" charset="2"/>
              <a:buChar char="§"/>
            </a:pPr>
            <a:r>
              <a:rPr lang="fr-FR" i="1" dirty="0"/>
              <a:t>Deuxième période – phase 2A : 08.09.2022 (2 mois)</a:t>
            </a:r>
            <a:endParaRPr lang="fr-BE" dirty="0"/>
          </a:p>
          <a:p>
            <a:pPr hangingPunct="0">
              <a:buFont typeface="Wingdings" pitchFamily="2" charset="2"/>
              <a:buChar char="§"/>
            </a:pPr>
            <a:r>
              <a:rPr lang="fr-FR" i="1" dirty="0"/>
              <a:t>Deuxième période – phase 2B : 08.11.2022 (8 mois)</a:t>
            </a:r>
            <a:endParaRPr lang="fr-BE" dirty="0"/>
          </a:p>
          <a:p>
            <a:pPr hangingPunct="0">
              <a:buFont typeface="Wingdings" pitchFamily="2" charset="2"/>
              <a:buChar char="§"/>
            </a:pPr>
            <a:r>
              <a:rPr lang="fr-FR" i="1" dirty="0"/>
              <a:t>Troisième période – Forfait : 08.07.2023</a:t>
            </a:r>
            <a:endParaRPr lang="fr-BE" dirty="0"/>
          </a:p>
          <a:p>
            <a:pPr marL="0" indent="0" hangingPunct="0">
              <a:buNone/>
            </a:pPr>
            <a:r>
              <a:rPr lang="fr-FR" sz="2800" i="1" dirty="0">
                <a:sym typeface="Wingdings" pitchFamily="2" charset="2"/>
              </a:rPr>
              <a:t>	</a:t>
            </a:r>
            <a:r>
              <a:rPr lang="fr-FR" i="1" dirty="0">
                <a:sym typeface="Wingdings" pitchFamily="2" charset="2"/>
              </a:rPr>
              <a:t> Si </a:t>
            </a:r>
            <a:r>
              <a:rPr lang="fr-FR" i="1" dirty="0"/>
              <a:t>55 ans le 12 novembre 2022</a:t>
            </a:r>
          </a:p>
          <a:p>
            <a:pPr marL="0" indent="0" hangingPunct="0">
              <a:buNone/>
            </a:pPr>
            <a:r>
              <a:rPr lang="fr-FR" sz="2800" i="1" dirty="0">
                <a:sym typeface="Wingdings" pitchFamily="2" charset="2"/>
              </a:rPr>
              <a:t>	</a:t>
            </a:r>
            <a:r>
              <a:rPr lang="fr-FR" i="1" dirty="0">
                <a:sym typeface="Wingdings" pitchFamily="2" charset="2"/>
              </a:rPr>
              <a:t> </a:t>
            </a:r>
            <a:r>
              <a:rPr lang="fr-BE" i="1" dirty="0">
                <a:sym typeface="Wingdings" pitchFamily="2" charset="2"/>
              </a:rPr>
              <a:t>Le 01.11.2022 est en phase 2A</a:t>
            </a:r>
            <a:endParaRPr lang="fr-BE" dirty="0"/>
          </a:p>
          <a:p>
            <a:pPr marL="0" indent="0" hangingPunct="0">
              <a:buNone/>
            </a:pPr>
            <a:r>
              <a:rPr lang="fr-BE" sz="2800" i="1" dirty="0">
                <a:sym typeface="Wingdings" pitchFamily="2" charset="2"/>
              </a:rPr>
              <a:t>	 </a:t>
            </a:r>
            <a:r>
              <a:rPr lang="fr-FR" i="1" dirty="0">
                <a:sym typeface="Wingdings" pitchFamily="2" charset="2"/>
              </a:rPr>
              <a:t>Il y aura une fixation ab initio</a:t>
            </a:r>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27</a:t>
            </a:fld>
            <a:endParaRPr lang="fr-FR"/>
          </a:p>
        </p:txBody>
      </p:sp>
    </p:spTree>
    <p:extLst>
      <p:ext uri="{BB962C8B-B14F-4D97-AF65-F5344CB8AC3E}">
        <p14:creationId xmlns:p14="http://schemas.microsoft.com/office/powerpoint/2010/main" val="756275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cs typeface="Times New Roman" pitchFamily="18" charset="0"/>
              </a:rPr>
              <a:t>3.4. Fixation &amp; suffixes</a:t>
            </a:r>
            <a:endParaRPr lang="fr-BE" dirty="0"/>
          </a:p>
        </p:txBody>
      </p:sp>
      <p:sp>
        <p:nvSpPr>
          <p:cNvPr id="3" name="Espace réservé du contenu 2"/>
          <p:cNvSpPr>
            <a:spLocks noGrp="1"/>
          </p:cNvSpPr>
          <p:nvPr>
            <p:ph idx="1"/>
          </p:nvPr>
        </p:nvSpPr>
        <p:spPr/>
        <p:txBody>
          <a:bodyPr/>
          <a:lstStyle/>
          <a:p>
            <a:pPr marL="0" indent="0">
              <a:spcBef>
                <a:spcPts val="672"/>
              </a:spcBef>
              <a:buNone/>
            </a:pPr>
            <a:r>
              <a:rPr lang="fr-BE" dirty="0"/>
              <a:t>Si la fixation est </a:t>
            </a:r>
            <a:r>
              <a:rPr lang="fr-BE" dirty="0">
                <a:solidFill>
                  <a:srgbClr val="C00000"/>
                </a:solidFill>
              </a:rPr>
              <a:t>ab initio </a:t>
            </a:r>
            <a:r>
              <a:rPr lang="fr-BE" sz="2400" dirty="0">
                <a:sym typeface="Wingdings" pitchFamily="2" charset="2"/>
              </a:rPr>
              <a:t></a:t>
            </a:r>
            <a:r>
              <a:rPr lang="fr-BE" dirty="0">
                <a:sym typeface="Wingdings" pitchFamily="2" charset="2"/>
              </a:rPr>
              <a:t> octroi d’un suffixe particulier en fonction de l’évènement qui a permis la fixation :</a:t>
            </a:r>
            <a:endParaRPr lang="fr-BE" dirty="0"/>
          </a:p>
          <a:p>
            <a:pPr>
              <a:spcBef>
                <a:spcPts val="672"/>
              </a:spcBef>
              <a:buFont typeface="Wingdings" pitchFamily="2" charset="2"/>
              <a:buChar char="§"/>
            </a:pPr>
            <a:r>
              <a:rPr lang="fr-BE" dirty="0">
                <a:solidFill>
                  <a:srgbClr val="C00000"/>
                </a:solidFill>
              </a:rPr>
              <a:t>PP+</a:t>
            </a:r>
            <a:r>
              <a:rPr lang="fr-BE" dirty="0"/>
              <a:t>  = suffixe </a:t>
            </a:r>
            <a:r>
              <a:rPr lang="fr-BE" b="1" dirty="0">
                <a:solidFill>
                  <a:srgbClr val="C00000"/>
                </a:solidFill>
              </a:rPr>
              <a:t>3</a:t>
            </a:r>
            <a:r>
              <a:rPr lang="fr-BE" dirty="0">
                <a:solidFill>
                  <a:srgbClr val="C00000"/>
                </a:solidFill>
              </a:rPr>
              <a:t> </a:t>
            </a:r>
            <a:r>
              <a:rPr lang="fr-BE" dirty="0"/>
              <a:t>  </a:t>
            </a:r>
          </a:p>
          <a:p>
            <a:pPr>
              <a:spcBef>
                <a:spcPts val="672"/>
              </a:spcBef>
              <a:buFont typeface="Wingdings" pitchFamily="2" charset="2"/>
              <a:buChar char="§"/>
            </a:pPr>
            <a:r>
              <a:rPr lang="fr-BE" dirty="0">
                <a:solidFill>
                  <a:srgbClr val="C00000"/>
                </a:solidFill>
              </a:rPr>
              <a:t>Inaptitude permanente ≥ 33%</a:t>
            </a:r>
            <a:r>
              <a:rPr lang="fr-BE" dirty="0"/>
              <a:t>  = suffixe </a:t>
            </a:r>
            <a:r>
              <a:rPr lang="fr-BE" b="1" dirty="0">
                <a:solidFill>
                  <a:srgbClr val="C00000"/>
                </a:solidFill>
              </a:rPr>
              <a:t>5</a:t>
            </a:r>
          </a:p>
          <a:p>
            <a:pPr>
              <a:spcBef>
                <a:spcPts val="672"/>
              </a:spcBef>
              <a:buFont typeface="Wingdings" pitchFamily="2" charset="2"/>
              <a:buChar char="§"/>
            </a:pPr>
            <a:r>
              <a:rPr lang="fr-BE" dirty="0">
                <a:solidFill>
                  <a:srgbClr val="C00000"/>
                </a:solidFill>
              </a:rPr>
              <a:t>55 ans  </a:t>
            </a:r>
            <a:r>
              <a:rPr lang="fr-BE" dirty="0"/>
              <a:t>=</a:t>
            </a:r>
            <a:r>
              <a:rPr lang="fr-BE" dirty="0">
                <a:solidFill>
                  <a:srgbClr val="C00000"/>
                </a:solidFill>
              </a:rPr>
              <a:t> </a:t>
            </a:r>
            <a:r>
              <a:rPr lang="fr-BE" dirty="0"/>
              <a:t>suffixe </a:t>
            </a:r>
            <a:r>
              <a:rPr lang="fr-BE" b="1" dirty="0">
                <a:solidFill>
                  <a:srgbClr val="C00000"/>
                </a:solidFill>
              </a:rPr>
              <a:t>2C</a:t>
            </a:r>
          </a:p>
          <a:p>
            <a:pPr marL="0" indent="0">
              <a:spcBef>
                <a:spcPts val="672"/>
              </a:spcBef>
              <a:buNone/>
            </a:pPr>
            <a:r>
              <a:rPr lang="fr-BE" dirty="0"/>
              <a:t>En plus du suffixe, un article d’indemnisation est octroyé…</a:t>
            </a: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28</a:t>
            </a:fld>
            <a:endParaRPr lang="fr-FR"/>
          </a:p>
        </p:txBody>
      </p:sp>
    </p:spTree>
    <p:extLst>
      <p:ext uri="{BB962C8B-B14F-4D97-AF65-F5344CB8AC3E}">
        <p14:creationId xmlns:p14="http://schemas.microsoft.com/office/powerpoint/2010/main" val="3859676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cs typeface="Times New Roman" pitchFamily="18" charset="0"/>
              </a:rPr>
              <a:t>3.5. Fixation et article d’indemnisation</a:t>
            </a:r>
            <a:endParaRPr lang="fr-BE" dirty="0"/>
          </a:p>
        </p:txBody>
      </p:sp>
      <p:sp>
        <p:nvSpPr>
          <p:cNvPr id="3" name="Espace réservé du contenu 2"/>
          <p:cNvSpPr>
            <a:spLocks noGrp="1"/>
          </p:cNvSpPr>
          <p:nvPr>
            <p:ph idx="1"/>
          </p:nvPr>
        </p:nvSpPr>
        <p:spPr/>
        <p:txBody>
          <a:bodyPr>
            <a:normAutofit/>
          </a:bodyPr>
          <a:lstStyle/>
          <a:p>
            <a:pPr marL="0" indent="0">
              <a:spcBef>
                <a:spcPts val="672"/>
              </a:spcBef>
              <a:buNone/>
            </a:pPr>
            <a:r>
              <a:rPr lang="fr-BE" dirty="0"/>
              <a:t>Si la fixation est </a:t>
            </a:r>
            <a:r>
              <a:rPr lang="fr-BE" dirty="0">
                <a:solidFill>
                  <a:srgbClr val="C00000"/>
                </a:solidFill>
              </a:rPr>
              <a:t>ultérieure </a:t>
            </a:r>
            <a:r>
              <a:rPr lang="fr-BE" sz="2400" dirty="0">
                <a:sym typeface="Wingdings" pitchFamily="2" charset="2"/>
              </a:rPr>
              <a:t></a:t>
            </a:r>
            <a:r>
              <a:rPr lang="fr-BE" dirty="0">
                <a:sym typeface="Wingdings" pitchFamily="2" charset="2"/>
              </a:rPr>
              <a:t> octroi d’un article d’indemnisation en fonction de l’évènement qui a permis la fixation :</a:t>
            </a:r>
            <a:endParaRPr lang="fr-BE" dirty="0"/>
          </a:p>
          <a:p>
            <a:pPr>
              <a:spcBef>
                <a:spcPts val="672"/>
              </a:spcBef>
              <a:buFont typeface="Wingdings" pitchFamily="2" charset="2"/>
              <a:buChar char="§"/>
            </a:pPr>
            <a:r>
              <a:rPr lang="fr-BE" dirty="0">
                <a:solidFill>
                  <a:srgbClr val="C00000"/>
                </a:solidFill>
              </a:rPr>
              <a:t>PP+</a:t>
            </a:r>
            <a:r>
              <a:rPr lang="fr-BE" dirty="0"/>
              <a:t>  = </a:t>
            </a:r>
            <a:r>
              <a:rPr lang="fr-BE" b="1" dirty="0"/>
              <a:t>A</a:t>
            </a:r>
            <a:r>
              <a:rPr lang="fr-BE" b="1" baseline="30000" dirty="0"/>
              <a:t>ind </a:t>
            </a:r>
            <a:r>
              <a:rPr lang="fr-BE" b="1" dirty="0"/>
              <a:t>FIX 1</a:t>
            </a:r>
          </a:p>
          <a:p>
            <a:pPr>
              <a:spcBef>
                <a:spcPts val="672"/>
              </a:spcBef>
              <a:buFont typeface="Wingdings" pitchFamily="2" charset="2"/>
              <a:buChar char="§"/>
            </a:pPr>
            <a:r>
              <a:rPr lang="fr-BE" dirty="0">
                <a:solidFill>
                  <a:srgbClr val="C00000"/>
                </a:solidFill>
              </a:rPr>
              <a:t>Inaptitude permanente ≥ 33%</a:t>
            </a:r>
            <a:r>
              <a:rPr lang="fr-BE" dirty="0"/>
              <a:t>  = </a:t>
            </a:r>
            <a:r>
              <a:rPr lang="fr-BE" b="1" dirty="0"/>
              <a:t>A</a:t>
            </a:r>
            <a:r>
              <a:rPr lang="fr-BE" b="1" baseline="30000" dirty="0"/>
              <a:t>ind</a:t>
            </a:r>
            <a:r>
              <a:rPr lang="fr-BE" b="1" dirty="0"/>
              <a:t> FIX 2</a:t>
            </a:r>
            <a:endParaRPr lang="fr-BE" b="1" dirty="0">
              <a:solidFill>
                <a:srgbClr val="C00000"/>
              </a:solidFill>
            </a:endParaRPr>
          </a:p>
          <a:p>
            <a:pPr>
              <a:spcBef>
                <a:spcPts val="672"/>
              </a:spcBef>
              <a:buFont typeface="Wingdings" pitchFamily="2" charset="2"/>
              <a:buChar char="§"/>
            </a:pPr>
            <a:r>
              <a:rPr lang="fr-BE" dirty="0">
                <a:solidFill>
                  <a:srgbClr val="C00000"/>
                </a:solidFill>
              </a:rPr>
              <a:t>55 ans  </a:t>
            </a:r>
            <a:r>
              <a:rPr lang="fr-BE" dirty="0"/>
              <a:t>=</a:t>
            </a:r>
            <a:r>
              <a:rPr lang="fr-BE" dirty="0">
                <a:solidFill>
                  <a:srgbClr val="C00000"/>
                </a:solidFill>
              </a:rPr>
              <a:t> </a:t>
            </a:r>
            <a:r>
              <a:rPr lang="fr-BE" b="1" dirty="0"/>
              <a:t>A</a:t>
            </a:r>
            <a:r>
              <a:rPr lang="fr-BE" b="1" baseline="30000" dirty="0"/>
              <a:t>ind</a:t>
            </a:r>
            <a:r>
              <a:rPr lang="fr-BE" b="1" dirty="0"/>
              <a:t> FIX 3</a:t>
            </a:r>
          </a:p>
          <a:p>
            <a:pPr marL="0" indent="0">
              <a:spcBef>
                <a:spcPts val="672"/>
              </a:spcBef>
              <a:buNone/>
            </a:pPr>
            <a:r>
              <a:rPr lang="fr-BE" sz="2800" dirty="0"/>
              <a:t>En cas de combinaison de plusieurs évènements, nous pourrions avoir un article FIX12, FIX 13 etc. …</a:t>
            </a: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29</a:t>
            </a:fld>
            <a:endParaRPr lang="fr-FR"/>
          </a:p>
        </p:txBody>
      </p:sp>
    </p:spTree>
    <p:extLst>
      <p:ext uri="{BB962C8B-B14F-4D97-AF65-F5344CB8AC3E}">
        <p14:creationId xmlns:p14="http://schemas.microsoft.com/office/powerpoint/2010/main" val="1442444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36525"/>
            <a:ext cx="8229600" cy="1060227"/>
          </a:xfrm>
        </p:spPr>
        <p:txBody>
          <a:bodyPr>
            <a:normAutofit/>
          </a:bodyPr>
          <a:lstStyle/>
          <a:p>
            <a:pPr algn="r"/>
            <a:r>
              <a:rPr lang="fr-BE" sz="4000" b="1" i="1" dirty="0">
                <a:solidFill>
                  <a:prstClr val="black"/>
                </a:solidFill>
                <a:cs typeface="Times New Roman" pitchFamily="18" charset="0"/>
              </a:rPr>
              <a:t>Schéma récapitulatif</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5" name="Tableau 4">
            <a:extLst>
              <a:ext uri="{FF2B5EF4-FFF2-40B4-BE49-F238E27FC236}">
                <a16:creationId xmlns:a16="http://schemas.microsoft.com/office/drawing/2014/main" id="{076C4ADC-0133-4ED7-98A2-415910A72ACE}"/>
              </a:ext>
            </a:extLst>
          </p:cNvPr>
          <p:cNvGraphicFramePr>
            <a:graphicFrameLocks noGrp="1"/>
          </p:cNvGraphicFramePr>
          <p:nvPr>
            <p:extLst>
              <p:ext uri="{D42A27DB-BD31-4B8C-83A1-F6EECF244321}">
                <p14:modId xmlns:p14="http://schemas.microsoft.com/office/powerpoint/2010/main" val="2594400089"/>
              </p:ext>
            </p:extLst>
          </p:nvPr>
        </p:nvGraphicFramePr>
        <p:xfrm>
          <a:off x="251520" y="1196752"/>
          <a:ext cx="8640959" cy="5386603"/>
        </p:xfrm>
        <a:graphic>
          <a:graphicData uri="http://schemas.openxmlformats.org/drawingml/2006/table">
            <a:tbl>
              <a:tblPr/>
              <a:tblGrid>
                <a:gridCol w="1760468">
                  <a:extLst>
                    <a:ext uri="{9D8B030D-6E8A-4147-A177-3AD203B41FA5}">
                      <a16:colId xmlns:a16="http://schemas.microsoft.com/office/drawing/2014/main" val="1208154131"/>
                    </a:ext>
                  </a:extLst>
                </a:gridCol>
                <a:gridCol w="1379032">
                  <a:extLst>
                    <a:ext uri="{9D8B030D-6E8A-4147-A177-3AD203B41FA5}">
                      <a16:colId xmlns:a16="http://schemas.microsoft.com/office/drawing/2014/main" val="4142996405"/>
                    </a:ext>
                  </a:extLst>
                </a:gridCol>
                <a:gridCol w="902240">
                  <a:extLst>
                    <a:ext uri="{9D8B030D-6E8A-4147-A177-3AD203B41FA5}">
                      <a16:colId xmlns:a16="http://schemas.microsoft.com/office/drawing/2014/main" val="440003820"/>
                    </a:ext>
                  </a:extLst>
                </a:gridCol>
                <a:gridCol w="1078287">
                  <a:extLst>
                    <a:ext uri="{9D8B030D-6E8A-4147-A177-3AD203B41FA5}">
                      <a16:colId xmlns:a16="http://schemas.microsoft.com/office/drawing/2014/main" val="4069793082"/>
                    </a:ext>
                  </a:extLst>
                </a:gridCol>
                <a:gridCol w="880233">
                  <a:extLst>
                    <a:ext uri="{9D8B030D-6E8A-4147-A177-3AD203B41FA5}">
                      <a16:colId xmlns:a16="http://schemas.microsoft.com/office/drawing/2014/main" val="2606681869"/>
                    </a:ext>
                  </a:extLst>
                </a:gridCol>
                <a:gridCol w="880233">
                  <a:extLst>
                    <a:ext uri="{9D8B030D-6E8A-4147-A177-3AD203B41FA5}">
                      <a16:colId xmlns:a16="http://schemas.microsoft.com/office/drawing/2014/main" val="248619947"/>
                    </a:ext>
                  </a:extLst>
                </a:gridCol>
                <a:gridCol w="880233">
                  <a:extLst>
                    <a:ext uri="{9D8B030D-6E8A-4147-A177-3AD203B41FA5}">
                      <a16:colId xmlns:a16="http://schemas.microsoft.com/office/drawing/2014/main" val="3024414249"/>
                    </a:ext>
                  </a:extLst>
                </a:gridCol>
                <a:gridCol w="880233">
                  <a:extLst>
                    <a:ext uri="{9D8B030D-6E8A-4147-A177-3AD203B41FA5}">
                      <a16:colId xmlns:a16="http://schemas.microsoft.com/office/drawing/2014/main" val="430178823"/>
                    </a:ext>
                  </a:extLst>
                </a:gridCol>
              </a:tblGrid>
              <a:tr h="475431">
                <a:tc gridSpan="2">
                  <a:txBody>
                    <a:bodyPr/>
                    <a:lstStyle/>
                    <a:p>
                      <a:pPr algn="ctr" fontAlgn="b"/>
                      <a:r>
                        <a:rPr lang="fr-BE" sz="2400" b="1" i="0" u="none" strike="noStrike">
                          <a:solidFill>
                            <a:srgbClr val="000000"/>
                          </a:solidFill>
                          <a:effectLst/>
                          <a:latin typeface="Calibri" panose="020F0502020204030204" pitchFamily="34" charset="0"/>
                        </a:rPr>
                        <a:t>Période</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lang="fr-BE"/>
                    </a:p>
                  </a:txBody>
                  <a:tcPr/>
                </a:tc>
                <a:tc gridSpan="6">
                  <a:txBody>
                    <a:bodyPr/>
                    <a:lstStyle/>
                    <a:p>
                      <a:pPr algn="ctr" fontAlgn="b"/>
                      <a:r>
                        <a:rPr lang="fr-BE" sz="2400" b="1" i="0" u="none" strike="noStrike">
                          <a:solidFill>
                            <a:srgbClr val="000000"/>
                          </a:solidFill>
                          <a:effectLst/>
                          <a:latin typeface="Calibri" panose="020F0502020204030204" pitchFamily="34" charset="0"/>
                        </a:rPr>
                        <a:t>Suffixe</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41005818"/>
                  </a:ext>
                </a:extLst>
              </a:tr>
              <a:tr h="253402">
                <a:tc rowSpan="3">
                  <a:txBody>
                    <a:bodyPr/>
                    <a:lstStyle/>
                    <a:p>
                      <a:pPr algn="ctr" fontAlgn="ctr"/>
                      <a:r>
                        <a:rPr lang="fr-BE" sz="2200" b="0" i="0" u="none" strike="noStrike">
                          <a:solidFill>
                            <a:srgbClr val="000000"/>
                          </a:solidFill>
                          <a:effectLst/>
                          <a:latin typeface="Calibri" panose="020F0502020204030204" pitchFamily="34" charset="0"/>
                        </a:rPr>
                        <a:t>1ère période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rowSpan="3">
                  <a:txBody>
                    <a:bodyPr/>
                    <a:lstStyle/>
                    <a:p>
                      <a:pPr algn="ctr" fontAlgn="b"/>
                      <a:r>
                        <a:rPr lang="fr-BE"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fr-BE" sz="1200" b="1" i="0" u="none" strike="noStrike">
                          <a:solidFill>
                            <a:srgbClr val="FF0000"/>
                          </a:solidFill>
                          <a:effectLst/>
                          <a:latin typeface="Calibri" panose="020F0502020204030204" pitchFamily="34" charset="0"/>
                        </a:rPr>
                        <a:t>11</a:t>
                      </a:r>
                    </a:p>
                  </a:txBody>
                  <a:tcPr marL="9525" marR="9525" marT="9525"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1 à 3</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1618728195"/>
                  </a:ext>
                </a:extLst>
              </a:tr>
              <a:tr h="253402">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12</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dirty="0">
                          <a:solidFill>
                            <a:srgbClr val="000000"/>
                          </a:solidFill>
                          <a:effectLst/>
                          <a:latin typeface="Calibri" panose="020F0502020204030204" pitchFamily="34" charset="0"/>
                        </a:rPr>
                        <a:t>mois 4 à 6</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05176191"/>
                  </a:ext>
                </a:extLst>
              </a:tr>
              <a:tr h="265470">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13</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7 à 12</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447761124"/>
                  </a:ext>
                </a:extLst>
              </a:tr>
              <a:tr h="253402">
                <a:tc rowSpan="15">
                  <a:txBody>
                    <a:bodyPr/>
                    <a:lstStyle/>
                    <a:p>
                      <a:pPr algn="ctr" fontAlgn="ctr"/>
                      <a:r>
                        <a:rPr lang="fr-BE" sz="2200" b="0" i="0" u="none" strike="noStrike" dirty="0">
                          <a:solidFill>
                            <a:srgbClr val="000000"/>
                          </a:solidFill>
                          <a:effectLst/>
                          <a:latin typeface="Calibri" panose="020F0502020204030204" pitchFamily="34" charset="0"/>
                        </a:rPr>
                        <a:t>2ème période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rowSpan="7">
                  <a:txBody>
                    <a:bodyPr/>
                    <a:lstStyle/>
                    <a:p>
                      <a:pPr algn="ctr" fontAlgn="ctr"/>
                      <a:r>
                        <a:rPr lang="fr-BE" sz="1100" b="0" i="0" u="none" strike="noStrike">
                          <a:solidFill>
                            <a:srgbClr val="000000"/>
                          </a:solidFill>
                          <a:effectLst/>
                          <a:latin typeface="Calibri" panose="020F0502020204030204" pitchFamily="34" charset="0"/>
                        </a:rPr>
                        <a:t>Allocation dégressive             (en fonction du PP)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BE" sz="1200" b="1" i="0" u="none" strike="noStrike">
                          <a:solidFill>
                            <a:srgbClr val="FF0000"/>
                          </a:solidFill>
                          <a:effectLst/>
                          <a:latin typeface="Calibri" panose="020F0502020204030204" pitchFamily="34" charset="0"/>
                        </a:rPr>
                        <a:t>2A</a:t>
                      </a:r>
                    </a:p>
                  </a:txBody>
                  <a:tcPr marL="9525" marR="9525" marT="9525"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13 à 14</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1059223390"/>
                  </a:ext>
                </a:extLst>
              </a:tr>
              <a:tr h="253402">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29</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1" i="0" u="none" strike="noStrike">
                          <a:solidFill>
                            <a:srgbClr val="000000"/>
                          </a:solidFill>
                          <a:effectLst/>
                          <a:latin typeface="Calibri" panose="020F0502020204030204" pitchFamily="34" charset="0"/>
                        </a:rPr>
                        <a:t>en attente calcul PP</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986263712"/>
                  </a:ext>
                </a:extLst>
              </a:tr>
              <a:tr h="253402">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2B</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15 à 24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551923148"/>
                  </a:ext>
                </a:extLst>
              </a:tr>
              <a:tr h="253402">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21</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25 à 30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499571504"/>
                  </a:ext>
                </a:extLst>
              </a:tr>
              <a:tr h="253402">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22</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31 à 36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71957779"/>
                  </a:ext>
                </a:extLst>
              </a:tr>
              <a:tr h="253402">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23</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37 à 42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100633182"/>
                  </a:ext>
                </a:extLst>
              </a:tr>
              <a:tr h="253402">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24</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43 à 48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657757394"/>
                  </a:ext>
                </a:extLst>
              </a:tr>
              <a:tr h="253402">
                <a:tc vMerge="1">
                  <a:txBody>
                    <a:bodyPr/>
                    <a:lstStyle/>
                    <a:p>
                      <a:endParaRPr lang="fr-BE"/>
                    </a:p>
                  </a:txBody>
                  <a:tcPr/>
                </a:tc>
                <a:tc rowSpan="4" gridSpan="2">
                  <a:txBody>
                    <a:bodyPr/>
                    <a:lstStyle/>
                    <a:p>
                      <a:pPr algn="ctr" fontAlgn="ctr"/>
                      <a:r>
                        <a:rPr lang="fr-BE" sz="1400" b="1" i="0" u="none" strike="noStrike">
                          <a:solidFill>
                            <a:srgbClr val="000000"/>
                          </a:solidFill>
                          <a:effectLst/>
                          <a:latin typeface="Calibri" panose="020F0502020204030204" pitchFamily="34" charset="0"/>
                        </a:rPr>
                        <a:t>Allocation fixée ab initio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h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fr-BE" sz="1100" b="0" i="0" u="none" strike="noStrike">
                          <a:solidFill>
                            <a:srgbClr val="000000"/>
                          </a:solidFill>
                          <a:effectLst/>
                          <a:latin typeface="Calibri" panose="020F0502020204030204" pitchFamily="34" charset="0"/>
                        </a:rPr>
                        <a:t>PP+</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fr-BE" sz="1100" b="0" i="0" u="none" strike="noStrike">
                          <a:solidFill>
                            <a:srgbClr val="000000"/>
                          </a:solidFill>
                          <a:effectLst/>
                          <a:latin typeface="Calibri" panose="020F0502020204030204" pitchFamily="34" charset="0"/>
                        </a:rPr>
                        <a:t>33%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fr-BE" sz="1100" b="0" i="0" u="none" strike="noStrike">
                          <a:solidFill>
                            <a:srgbClr val="000000"/>
                          </a:solidFill>
                          <a:effectLst/>
                          <a:latin typeface="Calibri" panose="020F0502020204030204" pitchFamily="34" charset="0"/>
                        </a:rPr>
                        <a:t>55+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18348630"/>
                  </a:ext>
                </a:extLst>
              </a:tr>
              <a:tr h="253402">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ctr" fontAlgn="ctr"/>
                      <a:r>
                        <a:rPr lang="fr-BE" sz="1100" b="0" i="0" u="none" strike="noStrike">
                          <a:solidFill>
                            <a:srgbClr val="000000"/>
                          </a:solidFill>
                          <a:effectLst/>
                          <a:latin typeface="Calibri" panose="020F0502020204030204" pitchFamily="34" charset="0"/>
                        </a:rPr>
                        <a:t>PP+</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776484890"/>
                  </a:ext>
                </a:extLst>
              </a:tr>
              <a:tr h="253402">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ctr" fontAlgn="ctr"/>
                      <a:r>
                        <a:rPr lang="fr-BE"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5</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5</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31328252"/>
                  </a:ext>
                </a:extLst>
              </a:tr>
              <a:tr h="241335">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ctr" fontAlgn="ctr"/>
                      <a:r>
                        <a:rPr lang="fr-BE" sz="1100" b="0" i="0" u="none" strike="noStrike">
                          <a:solidFill>
                            <a:srgbClr val="000000"/>
                          </a:solidFill>
                          <a:effectLst/>
                          <a:latin typeface="Calibri" panose="020F0502020204030204" pitchFamily="34" charset="0"/>
                        </a:rPr>
                        <a:t>55+</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5</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2C</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1589765"/>
                  </a:ext>
                </a:extLst>
              </a:tr>
              <a:tr h="241335">
                <a:tc vMerge="1">
                  <a:txBody>
                    <a:bodyPr/>
                    <a:lstStyle/>
                    <a:p>
                      <a:endParaRPr lang="fr-BE"/>
                    </a:p>
                  </a:txBody>
                  <a:tcPr/>
                </a:tc>
                <a:tc rowSpan="4" gridSpan="2">
                  <a:txBody>
                    <a:bodyPr/>
                    <a:lstStyle/>
                    <a:p>
                      <a:pPr algn="ctr" fontAlgn="ctr"/>
                      <a:r>
                        <a:rPr lang="fr-BE" sz="1400" b="1" i="0" u="none" strike="noStrike">
                          <a:solidFill>
                            <a:srgbClr val="000000"/>
                          </a:solidFill>
                          <a:effectLst/>
                          <a:latin typeface="Calibri" panose="020F0502020204030204" pitchFamily="34" charset="0"/>
                        </a:rPr>
                        <a:t>Allocation fixée à un moment ultérieur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h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PP+</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gridSpan="4">
                  <a:txBody>
                    <a:bodyPr/>
                    <a:lstStyle/>
                    <a:p>
                      <a:pPr algn="l" fontAlgn="b"/>
                      <a:r>
                        <a:rPr lang="fr-BE" sz="1100" b="1" i="0" u="none" strike="noStrike">
                          <a:solidFill>
                            <a:srgbClr val="FF0000"/>
                          </a:solidFill>
                          <a:effectLst/>
                          <a:latin typeface="Calibri" panose="020F0502020204030204" pitchFamily="34" charset="0"/>
                        </a:rPr>
                        <a:t>Suffixe phase fixée + Art.Ind. FIX1</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806546648"/>
                  </a:ext>
                </a:extLst>
              </a:tr>
              <a:tr h="241335">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33%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gridSpan="4">
                  <a:txBody>
                    <a:bodyPr/>
                    <a:lstStyle/>
                    <a:p>
                      <a:pPr algn="l" fontAlgn="b"/>
                      <a:r>
                        <a:rPr lang="fr-BE" sz="1100" b="1" i="0" u="none" strike="noStrike">
                          <a:solidFill>
                            <a:srgbClr val="FF0000"/>
                          </a:solidFill>
                          <a:effectLst/>
                          <a:latin typeface="Calibri" panose="020F0502020204030204" pitchFamily="34" charset="0"/>
                        </a:rPr>
                        <a:t>Suffixe phase fixée + Art.Ind. FIX2</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694824187"/>
                  </a:ext>
                </a:extLst>
              </a:tr>
              <a:tr h="241335">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55+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gridSpan="4">
                  <a:txBody>
                    <a:bodyPr/>
                    <a:lstStyle/>
                    <a:p>
                      <a:pPr algn="l" fontAlgn="b"/>
                      <a:r>
                        <a:rPr lang="fr-BE" sz="1100" b="1" i="0" u="none" strike="noStrike">
                          <a:solidFill>
                            <a:srgbClr val="FF0000"/>
                          </a:solidFill>
                          <a:effectLst/>
                          <a:latin typeface="Calibri" panose="020F0502020204030204" pitchFamily="34" charset="0"/>
                        </a:rPr>
                        <a:t>Suffixe phase fixée + Art.Ind. FIX3</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055668553"/>
                  </a:ext>
                </a:extLst>
              </a:tr>
              <a:tr h="241335">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Combinaison</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l" fontAlgn="b"/>
                      <a:r>
                        <a:rPr lang="fr-BE" sz="1100" b="1" i="0" u="none" strike="noStrike">
                          <a:solidFill>
                            <a:srgbClr val="FF0000"/>
                          </a:solidFill>
                          <a:effectLst/>
                          <a:latin typeface="Calibri" panose="020F0502020204030204" pitchFamily="34" charset="0"/>
                        </a:rPr>
                        <a:t>Suffixe phase fixée + Art.Ind FIX 12, 13, 23 ou 123</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195210868"/>
                  </a:ext>
                </a:extLst>
              </a:tr>
              <a:tr h="398203">
                <a:tc>
                  <a:txBody>
                    <a:bodyPr/>
                    <a:lstStyle/>
                    <a:p>
                      <a:pPr algn="ctr" fontAlgn="ctr"/>
                      <a:r>
                        <a:rPr lang="fr-BE" sz="2000" b="0" i="0" u="none" strike="noStrike">
                          <a:solidFill>
                            <a:srgbClr val="000000"/>
                          </a:solidFill>
                          <a:effectLst/>
                          <a:latin typeface="Calibri" panose="020F0502020204030204" pitchFamily="34" charset="0"/>
                        </a:rPr>
                        <a:t>3ème période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BE" sz="1400" b="1" i="0" u="none" strike="noStrike">
                          <a:solidFill>
                            <a:srgbClr val="000000"/>
                          </a:solidFill>
                          <a:effectLst/>
                          <a:latin typeface="Calibri" panose="020F0502020204030204" pitchFamily="34" charset="0"/>
                        </a:rPr>
                        <a:t>Allocation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algn="l" fontAlgn="ctr"/>
                      <a:r>
                        <a:rPr lang="da-DK" sz="1100" b="1" i="0" u="none" strike="noStrike" dirty="0">
                          <a:solidFill>
                            <a:srgbClr val="FF0000"/>
                          </a:solidFill>
                          <a:effectLst/>
                          <a:latin typeface="Calibri" panose="020F0502020204030204" pitchFamily="34" charset="0"/>
                        </a:rPr>
                        <a:t>F (AF, NF ou BF)</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266517584"/>
                  </a:ext>
                </a:extLst>
              </a:tr>
            </a:tbl>
          </a:graphicData>
        </a:graphic>
      </p:graphicFrame>
    </p:spTree>
    <p:extLst>
      <p:ext uri="{BB962C8B-B14F-4D97-AF65-F5344CB8AC3E}">
        <p14:creationId xmlns:p14="http://schemas.microsoft.com/office/powerpoint/2010/main" val="1856077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72667F-01E9-492E-8F92-36A81374123C}"/>
              </a:ext>
            </a:extLst>
          </p:cNvPr>
          <p:cNvSpPr>
            <a:spLocks noGrp="1"/>
          </p:cNvSpPr>
          <p:nvPr>
            <p:ph type="title"/>
          </p:nvPr>
        </p:nvSpPr>
        <p:spPr/>
        <p:txBody>
          <a:bodyPr/>
          <a:lstStyle/>
          <a:p>
            <a:pPr algn="r"/>
            <a:r>
              <a:rPr lang="fr-BE" b="1" i="1" dirty="0"/>
              <a:t>3.6. Exercice 2</a:t>
            </a:r>
          </a:p>
        </p:txBody>
      </p:sp>
      <p:graphicFrame>
        <p:nvGraphicFramePr>
          <p:cNvPr id="5" name="Tableau 5">
            <a:extLst>
              <a:ext uri="{FF2B5EF4-FFF2-40B4-BE49-F238E27FC236}">
                <a16:creationId xmlns:a16="http://schemas.microsoft.com/office/drawing/2014/main" id="{0DF8184F-2DEB-4E2F-88A5-6E175C785E46}"/>
              </a:ext>
            </a:extLst>
          </p:cNvPr>
          <p:cNvGraphicFramePr>
            <a:graphicFrameLocks noGrp="1"/>
          </p:cNvGraphicFramePr>
          <p:nvPr>
            <p:ph idx="1"/>
            <p:extLst>
              <p:ext uri="{D42A27DB-BD31-4B8C-83A1-F6EECF244321}">
                <p14:modId xmlns:p14="http://schemas.microsoft.com/office/powerpoint/2010/main" val="1240734917"/>
              </p:ext>
            </p:extLst>
          </p:nvPr>
        </p:nvGraphicFramePr>
        <p:xfrm>
          <a:off x="1219273" y="1493520"/>
          <a:ext cx="6408712" cy="3733800"/>
        </p:xfrm>
        <a:graphic>
          <a:graphicData uri="http://schemas.openxmlformats.org/drawingml/2006/table">
            <a:tbl>
              <a:tblPr firstRow="1" bandRow="1">
                <a:tableStyleId>{F5AB1C69-6EDB-4FF4-983F-18BD219EF322}</a:tableStyleId>
              </a:tblPr>
              <a:tblGrid>
                <a:gridCol w="3204356">
                  <a:extLst>
                    <a:ext uri="{9D8B030D-6E8A-4147-A177-3AD203B41FA5}">
                      <a16:colId xmlns:a16="http://schemas.microsoft.com/office/drawing/2014/main" val="23111460"/>
                    </a:ext>
                  </a:extLst>
                </a:gridCol>
                <a:gridCol w="3204356">
                  <a:extLst>
                    <a:ext uri="{9D8B030D-6E8A-4147-A177-3AD203B41FA5}">
                      <a16:colId xmlns:a16="http://schemas.microsoft.com/office/drawing/2014/main" val="749894702"/>
                    </a:ext>
                  </a:extLst>
                </a:gridCol>
              </a:tblGrid>
              <a:tr h="370840">
                <a:tc gridSpan="2">
                  <a:txBody>
                    <a:bodyPr/>
                    <a:lstStyle/>
                    <a:p>
                      <a:pPr algn="ctr"/>
                      <a:r>
                        <a:rPr lang="fr-BE" sz="2900" dirty="0"/>
                        <a:t>Cascade valable au 22.09.2021</a:t>
                      </a:r>
                    </a:p>
                  </a:txBody>
                  <a:tcPr/>
                </a:tc>
                <a:tc hMerge="1">
                  <a:txBody>
                    <a:bodyPr/>
                    <a:lstStyle/>
                    <a:p>
                      <a:endParaRPr lang="fr-BE" dirty="0"/>
                    </a:p>
                  </a:txBody>
                  <a:tcPr/>
                </a:tc>
                <a:extLst>
                  <a:ext uri="{0D108BD9-81ED-4DB2-BD59-A6C34878D82A}">
                    <a16:rowId xmlns:a16="http://schemas.microsoft.com/office/drawing/2014/main" val="1872254459"/>
                  </a:ext>
                </a:extLst>
              </a:tr>
              <a:tr h="370840">
                <a:tc>
                  <a:txBody>
                    <a:bodyPr/>
                    <a:lstStyle/>
                    <a:p>
                      <a:r>
                        <a:rPr lang="fr-BE" sz="2900" dirty="0"/>
                        <a:t>01/57.B11</a:t>
                      </a:r>
                    </a:p>
                  </a:txBody>
                  <a:tcPr/>
                </a:tc>
                <a:tc>
                  <a:txBody>
                    <a:bodyPr/>
                    <a:lstStyle/>
                    <a:p>
                      <a:r>
                        <a:rPr lang="fr-BE" sz="2900" dirty="0"/>
                        <a:t>22.09.2021</a:t>
                      </a:r>
                    </a:p>
                  </a:txBody>
                  <a:tcPr/>
                </a:tc>
                <a:extLst>
                  <a:ext uri="{0D108BD9-81ED-4DB2-BD59-A6C34878D82A}">
                    <a16:rowId xmlns:a16="http://schemas.microsoft.com/office/drawing/2014/main" val="40032652"/>
                  </a:ext>
                </a:extLst>
              </a:tr>
              <a:tr h="370840">
                <a:tc>
                  <a:txBody>
                    <a:bodyPr/>
                    <a:lstStyle/>
                    <a:p>
                      <a:r>
                        <a:rPr lang="fr-BE" sz="2900" dirty="0"/>
                        <a:t>01/57.B12</a:t>
                      </a:r>
                    </a:p>
                  </a:txBody>
                  <a:tcPr/>
                </a:tc>
                <a:tc>
                  <a:txBody>
                    <a:bodyPr/>
                    <a:lstStyle/>
                    <a:p>
                      <a:r>
                        <a:rPr lang="fr-BE" sz="2900" dirty="0"/>
                        <a:t>22.12.2021</a:t>
                      </a:r>
                    </a:p>
                  </a:txBody>
                  <a:tcPr/>
                </a:tc>
                <a:extLst>
                  <a:ext uri="{0D108BD9-81ED-4DB2-BD59-A6C34878D82A}">
                    <a16:rowId xmlns:a16="http://schemas.microsoft.com/office/drawing/2014/main" val="3930351139"/>
                  </a:ext>
                </a:extLst>
              </a:tr>
              <a:tr h="370840">
                <a:tc>
                  <a:txBody>
                    <a:bodyPr/>
                    <a:lstStyle/>
                    <a:p>
                      <a:r>
                        <a:rPr lang="fr-BE" sz="2900" dirty="0"/>
                        <a:t>01/57.B13</a:t>
                      </a:r>
                    </a:p>
                  </a:txBody>
                  <a:tcPr/>
                </a:tc>
                <a:tc>
                  <a:txBody>
                    <a:bodyPr/>
                    <a:lstStyle/>
                    <a:p>
                      <a:r>
                        <a:rPr lang="fr-BE" sz="2900" dirty="0"/>
                        <a:t>22.03.2022</a:t>
                      </a:r>
                    </a:p>
                  </a:txBody>
                  <a:tcPr/>
                </a:tc>
                <a:extLst>
                  <a:ext uri="{0D108BD9-81ED-4DB2-BD59-A6C34878D82A}">
                    <a16:rowId xmlns:a16="http://schemas.microsoft.com/office/drawing/2014/main" val="3692074212"/>
                  </a:ext>
                </a:extLst>
              </a:tr>
              <a:tr h="370840">
                <a:tc>
                  <a:txBody>
                    <a:bodyPr/>
                    <a:lstStyle/>
                    <a:p>
                      <a:r>
                        <a:rPr lang="fr-BE" sz="2900" dirty="0"/>
                        <a:t>01/57.B2A</a:t>
                      </a:r>
                    </a:p>
                  </a:txBody>
                  <a:tcPr/>
                </a:tc>
                <a:tc>
                  <a:txBody>
                    <a:bodyPr/>
                    <a:lstStyle/>
                    <a:p>
                      <a:r>
                        <a:rPr lang="fr-BE" sz="2900" dirty="0"/>
                        <a:t>22.09.2022</a:t>
                      </a:r>
                    </a:p>
                  </a:txBody>
                  <a:tcPr/>
                </a:tc>
                <a:extLst>
                  <a:ext uri="{0D108BD9-81ED-4DB2-BD59-A6C34878D82A}">
                    <a16:rowId xmlns:a16="http://schemas.microsoft.com/office/drawing/2014/main" val="85555861"/>
                  </a:ext>
                </a:extLst>
              </a:tr>
              <a:tr h="370840">
                <a:tc>
                  <a:txBody>
                    <a:bodyPr/>
                    <a:lstStyle/>
                    <a:p>
                      <a:r>
                        <a:rPr lang="fr-BE" sz="2900" dirty="0"/>
                        <a:t>01/57.B2B</a:t>
                      </a:r>
                    </a:p>
                  </a:txBody>
                  <a:tcPr/>
                </a:tc>
                <a:tc>
                  <a:txBody>
                    <a:bodyPr/>
                    <a:lstStyle/>
                    <a:p>
                      <a:r>
                        <a:rPr lang="fr-BE" sz="2900" dirty="0"/>
                        <a:t>22.11.2022</a:t>
                      </a:r>
                    </a:p>
                  </a:txBody>
                  <a:tcPr/>
                </a:tc>
                <a:extLst>
                  <a:ext uri="{0D108BD9-81ED-4DB2-BD59-A6C34878D82A}">
                    <a16:rowId xmlns:a16="http://schemas.microsoft.com/office/drawing/2014/main" val="2286476322"/>
                  </a:ext>
                </a:extLst>
              </a:tr>
              <a:tr h="370840">
                <a:tc>
                  <a:txBody>
                    <a:bodyPr/>
                    <a:lstStyle/>
                    <a:p>
                      <a:r>
                        <a:rPr lang="fr-BE" sz="2900" dirty="0"/>
                        <a:t>01/57.BF</a:t>
                      </a:r>
                    </a:p>
                  </a:txBody>
                  <a:tcPr/>
                </a:tc>
                <a:tc>
                  <a:txBody>
                    <a:bodyPr/>
                    <a:lstStyle/>
                    <a:p>
                      <a:r>
                        <a:rPr lang="fr-BE" sz="2900" dirty="0"/>
                        <a:t>22.05.2023</a:t>
                      </a:r>
                    </a:p>
                  </a:txBody>
                  <a:tcPr/>
                </a:tc>
                <a:extLst>
                  <a:ext uri="{0D108BD9-81ED-4DB2-BD59-A6C34878D82A}">
                    <a16:rowId xmlns:a16="http://schemas.microsoft.com/office/drawing/2014/main" val="3530924053"/>
                  </a:ext>
                </a:extLst>
              </a:tr>
            </a:tbl>
          </a:graphicData>
        </a:graphic>
      </p:graphicFrame>
      <p:sp>
        <p:nvSpPr>
          <p:cNvPr id="4" name="Espace réservé du numéro de diapositive 3">
            <a:extLst>
              <a:ext uri="{FF2B5EF4-FFF2-40B4-BE49-F238E27FC236}">
                <a16:creationId xmlns:a16="http://schemas.microsoft.com/office/drawing/2014/main" id="{2B63265D-502E-4EF1-812D-EE981757B599}"/>
              </a:ext>
            </a:extLst>
          </p:cNvPr>
          <p:cNvSpPr>
            <a:spLocks noGrp="1"/>
          </p:cNvSpPr>
          <p:nvPr>
            <p:ph type="sldNum" sz="quarter" idx="12"/>
          </p:nvPr>
        </p:nvSpPr>
        <p:spPr/>
        <p:txBody>
          <a:bodyPr/>
          <a:lstStyle/>
          <a:p>
            <a:fld id="{55E9056B-6A30-4F99-BDE9-C450E66AE125}" type="slidenum">
              <a:rPr lang="fr-FR" smtClean="0"/>
              <a:pPr/>
              <a:t>31</a:t>
            </a:fld>
            <a:endParaRPr lang="fr-FR"/>
          </a:p>
        </p:txBody>
      </p:sp>
      <p:sp>
        <p:nvSpPr>
          <p:cNvPr id="7" name="ZoneTexte 6">
            <a:extLst>
              <a:ext uri="{FF2B5EF4-FFF2-40B4-BE49-F238E27FC236}">
                <a16:creationId xmlns:a16="http://schemas.microsoft.com/office/drawing/2014/main" id="{9081C005-98AC-4BED-8C11-393FC39E7EB0}"/>
              </a:ext>
            </a:extLst>
          </p:cNvPr>
          <p:cNvSpPr txBox="1"/>
          <p:nvPr/>
        </p:nvSpPr>
        <p:spPr>
          <a:xfrm>
            <a:off x="683568" y="5589240"/>
            <a:ext cx="7704856" cy="1015663"/>
          </a:xfrm>
          <a:prstGeom prst="rect">
            <a:avLst/>
          </a:prstGeom>
          <a:noFill/>
        </p:spPr>
        <p:txBody>
          <a:bodyPr wrap="square" rtlCol="0">
            <a:spAutoFit/>
          </a:bodyPr>
          <a:lstStyle/>
          <a:p>
            <a:r>
              <a:rPr lang="fr-BE" sz="3000" dirty="0"/>
              <a:t>Inaptitude de 33% reconnue le 03.11.2022</a:t>
            </a:r>
          </a:p>
          <a:p>
            <a:r>
              <a:rPr lang="fr-BE" sz="3000" dirty="0"/>
              <a:t>Cascade ?</a:t>
            </a:r>
          </a:p>
        </p:txBody>
      </p:sp>
    </p:spTree>
    <p:extLst>
      <p:ext uri="{BB962C8B-B14F-4D97-AF65-F5344CB8AC3E}">
        <p14:creationId xmlns:p14="http://schemas.microsoft.com/office/powerpoint/2010/main" val="808496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6096"/>
            <a:ext cx="8229600" cy="947693"/>
          </a:xfrm>
        </p:spPr>
        <p:txBody>
          <a:bodyPr/>
          <a:lstStyle/>
          <a:p>
            <a:pPr algn="r"/>
            <a:r>
              <a:rPr lang="fr-BE" b="1" i="1" dirty="0">
                <a:cs typeface="Times New Roman" pitchFamily="18" charset="0"/>
              </a:rPr>
              <a:t>3.6. </a:t>
            </a:r>
            <a:r>
              <a:rPr lang="fr-BE" b="1" i="1" dirty="0"/>
              <a:t>Solution – Exercice 2</a:t>
            </a:r>
          </a:p>
        </p:txBody>
      </p:sp>
      <p:sp>
        <p:nvSpPr>
          <p:cNvPr id="3" name="Espace réservé du contenu 2"/>
          <p:cNvSpPr>
            <a:spLocks noGrp="1"/>
          </p:cNvSpPr>
          <p:nvPr>
            <p:ph idx="1"/>
          </p:nvPr>
        </p:nvSpPr>
        <p:spPr>
          <a:xfrm>
            <a:off x="468559" y="1581913"/>
            <a:ext cx="8229600" cy="4525963"/>
          </a:xfrm>
        </p:spPr>
        <p:txBody>
          <a:bodyPr>
            <a:normAutofit/>
          </a:bodyPr>
          <a:lstStyle/>
          <a:p>
            <a:pPr marL="400050" lvl="1" indent="0">
              <a:buNone/>
            </a:pPr>
            <a:r>
              <a:rPr lang="en-US" sz="3000" dirty="0"/>
              <a:t>01/57.B11	22.09.2021</a:t>
            </a:r>
          </a:p>
          <a:p>
            <a:pPr marL="400050" lvl="1" indent="0">
              <a:buNone/>
            </a:pPr>
            <a:r>
              <a:rPr lang="en-US" sz="3000" dirty="0"/>
              <a:t>01/57.B12	22.12.2021</a:t>
            </a:r>
          </a:p>
          <a:p>
            <a:pPr marL="400050" lvl="1" indent="0">
              <a:buNone/>
            </a:pPr>
            <a:r>
              <a:rPr lang="en-US" sz="3000" dirty="0"/>
              <a:t>01/57.B13	22.03.2022</a:t>
            </a:r>
          </a:p>
          <a:p>
            <a:pPr marL="400050" lvl="1" indent="0">
              <a:buNone/>
            </a:pPr>
            <a:r>
              <a:rPr lang="en-US" sz="3000" dirty="0"/>
              <a:t>01/57.B2A	22.09.2022</a:t>
            </a:r>
          </a:p>
          <a:p>
            <a:pPr marL="400050" lvl="1" indent="0">
              <a:buNone/>
            </a:pPr>
            <a:r>
              <a:rPr lang="en-US" sz="3000" dirty="0"/>
              <a:t>01/57.B2B	22.11.2022	</a:t>
            </a:r>
          </a:p>
          <a:p>
            <a:pPr marL="400050" lvl="1" indent="0">
              <a:buNone/>
            </a:pPr>
            <a:r>
              <a:rPr lang="en-US" sz="3000" dirty="0"/>
              <a:t>01/57.BF   	22.05.2023</a:t>
            </a:r>
          </a:p>
          <a:p>
            <a:pPr lvl="0">
              <a:buFont typeface="Wingdings" pitchFamily="2" charset="2"/>
              <a:buChar char="§"/>
            </a:pPr>
            <a:r>
              <a:rPr lang="en-US" dirty="0">
                <a:solidFill>
                  <a:prstClr val="black"/>
                </a:solidFill>
              </a:rPr>
              <a:t>C2 </a:t>
            </a:r>
            <a:r>
              <a:rPr lang="en-US" b="1" dirty="0" err="1">
                <a:solidFill>
                  <a:prstClr val="black"/>
                </a:solidFill>
              </a:rPr>
              <a:t>ONEm</a:t>
            </a:r>
            <a:r>
              <a:rPr lang="en-US" b="1" dirty="0">
                <a:solidFill>
                  <a:prstClr val="black"/>
                </a:solidFill>
              </a:rPr>
              <a:t> </a:t>
            </a:r>
            <a:r>
              <a:rPr lang="en-US" b="1" dirty="0" err="1">
                <a:solidFill>
                  <a:prstClr val="black"/>
                </a:solidFill>
              </a:rPr>
              <a:t>valable</a:t>
            </a:r>
            <a:r>
              <a:rPr lang="en-US" b="1" dirty="0">
                <a:solidFill>
                  <a:prstClr val="black"/>
                </a:solidFill>
              </a:rPr>
              <a:t> </a:t>
            </a:r>
            <a:r>
              <a:rPr lang="en-US" dirty="0">
                <a:solidFill>
                  <a:prstClr val="black"/>
                </a:solidFill>
              </a:rPr>
              <a:t>au 03.11.2022</a:t>
            </a:r>
          </a:p>
        </p:txBody>
      </p:sp>
      <p:sp>
        <p:nvSpPr>
          <p:cNvPr id="4" name="ZoneTexte 3"/>
          <p:cNvSpPr txBox="1">
            <a:spLocks noChangeArrowheads="1"/>
          </p:cNvSpPr>
          <p:nvPr/>
        </p:nvSpPr>
        <p:spPr bwMode="auto">
          <a:xfrm>
            <a:off x="5837261" y="3102439"/>
            <a:ext cx="30861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fr-BE" b="1" dirty="0">
                <a:latin typeface="+mn-lt"/>
              </a:rPr>
              <a:t>Au 03.11.2022: 2</a:t>
            </a:r>
            <a:r>
              <a:rPr lang="fr-BE" b="1" baseline="30000" dirty="0">
                <a:latin typeface="+mn-lt"/>
              </a:rPr>
              <a:t>ème</a:t>
            </a:r>
            <a:r>
              <a:rPr lang="fr-BE" b="1" dirty="0">
                <a:latin typeface="+mn-lt"/>
              </a:rPr>
              <a:t>  période/phase 2A = fixation ab initio</a:t>
            </a:r>
          </a:p>
        </p:txBody>
      </p:sp>
      <p:sp>
        <p:nvSpPr>
          <p:cNvPr id="5" name="Flèche droite 4"/>
          <p:cNvSpPr/>
          <p:nvPr/>
        </p:nvSpPr>
        <p:spPr>
          <a:xfrm flipH="1">
            <a:off x="4717561" y="3610698"/>
            <a:ext cx="936625" cy="288131"/>
          </a:xfrm>
          <a:prstGeom prst="right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BE"/>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32</a:t>
            </a:fld>
            <a:endParaRPr lang="fr-FR"/>
          </a:p>
        </p:txBody>
      </p:sp>
      <p:sp>
        <p:nvSpPr>
          <p:cNvPr id="8" name="Titre 1"/>
          <p:cNvSpPr txBox="1">
            <a:spLocks/>
          </p:cNvSpPr>
          <p:nvPr/>
        </p:nvSpPr>
        <p:spPr>
          <a:xfrm>
            <a:off x="858416" y="3102439"/>
            <a:ext cx="7427168" cy="76063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BE" sz="3000" dirty="0">
                <a:solidFill>
                  <a:srgbClr val="C00000"/>
                </a:solidFill>
              </a:rPr>
              <a:t>01/57.B5	      22.09.2022  + Art. </a:t>
            </a:r>
            <a:r>
              <a:rPr lang="fr-BE" sz="3000" dirty="0" err="1">
                <a:solidFill>
                  <a:srgbClr val="C00000"/>
                </a:solidFill>
              </a:rPr>
              <a:t>ind</a:t>
            </a:r>
            <a:r>
              <a:rPr lang="fr-BE" sz="3000" dirty="0">
                <a:solidFill>
                  <a:srgbClr val="C00000"/>
                </a:solidFill>
              </a:rPr>
              <a:t> FIX2</a:t>
            </a:r>
          </a:p>
        </p:txBody>
      </p:sp>
      <p:sp>
        <p:nvSpPr>
          <p:cNvPr id="9" name="Titre 1"/>
          <p:cNvSpPr txBox="1">
            <a:spLocks/>
          </p:cNvSpPr>
          <p:nvPr/>
        </p:nvSpPr>
        <p:spPr>
          <a:xfrm>
            <a:off x="433983" y="6097363"/>
            <a:ext cx="7427168" cy="76063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fr-BE" sz="3200" dirty="0">
              <a:solidFill>
                <a:srgbClr val="C00000"/>
              </a:solidFill>
            </a:endParaRPr>
          </a:p>
        </p:txBody>
      </p:sp>
      <p:sp>
        <p:nvSpPr>
          <p:cNvPr id="10" name="ZoneTexte 9"/>
          <p:cNvSpPr txBox="1"/>
          <p:nvPr/>
        </p:nvSpPr>
        <p:spPr>
          <a:xfrm flipH="1">
            <a:off x="433982" y="1025198"/>
            <a:ext cx="6946329" cy="646331"/>
          </a:xfrm>
          <a:prstGeom prst="rect">
            <a:avLst/>
          </a:prstGeom>
          <a:noFill/>
        </p:spPr>
        <p:txBody>
          <a:bodyPr wrap="square" rtlCol="0">
            <a:spAutoFit/>
          </a:bodyPr>
          <a:lstStyle/>
          <a:p>
            <a:pPr>
              <a:buFont typeface="Wingdings" pitchFamily="2" charset="2"/>
              <a:buChar char="§"/>
            </a:pPr>
            <a:r>
              <a:rPr lang="fr-BE" sz="3600" dirty="0"/>
              <a:t>  </a:t>
            </a:r>
            <a:r>
              <a:rPr lang="fr-BE" sz="3200" dirty="0"/>
              <a:t>Vérité S04 valable au </a:t>
            </a:r>
            <a:r>
              <a:rPr lang="fr-BE" sz="3200" dirty="0">
                <a:solidFill>
                  <a:srgbClr val="C00000"/>
                </a:solidFill>
              </a:rPr>
              <a:t>03.11.2022:</a:t>
            </a:r>
            <a:r>
              <a:rPr lang="fr-BE" sz="3200" dirty="0"/>
              <a:t> </a:t>
            </a:r>
          </a:p>
        </p:txBody>
      </p:sp>
      <p:sp>
        <p:nvSpPr>
          <p:cNvPr id="11" name="ZoneTexte 10"/>
          <p:cNvSpPr txBox="1"/>
          <p:nvPr/>
        </p:nvSpPr>
        <p:spPr>
          <a:xfrm flipH="1">
            <a:off x="429316" y="1028751"/>
            <a:ext cx="6946329" cy="646331"/>
          </a:xfrm>
          <a:prstGeom prst="rect">
            <a:avLst/>
          </a:prstGeom>
          <a:noFill/>
        </p:spPr>
        <p:txBody>
          <a:bodyPr wrap="square" rtlCol="0">
            <a:spAutoFit/>
          </a:bodyPr>
          <a:lstStyle/>
          <a:p>
            <a:pPr>
              <a:buFont typeface="Wingdings" pitchFamily="2" charset="2"/>
              <a:buChar char="§"/>
            </a:pPr>
            <a:r>
              <a:rPr lang="fr-BE" sz="3600" dirty="0"/>
              <a:t>  </a:t>
            </a:r>
            <a:r>
              <a:rPr lang="fr-BE" sz="3200" dirty="0"/>
              <a:t>Vérité S04 valable initialement </a:t>
            </a:r>
          </a:p>
        </p:txBody>
      </p:sp>
      <p:sp>
        <p:nvSpPr>
          <p:cNvPr id="12" name="ZoneTexte 11">
            <a:extLst>
              <a:ext uri="{FF2B5EF4-FFF2-40B4-BE49-F238E27FC236}">
                <a16:creationId xmlns:a16="http://schemas.microsoft.com/office/drawing/2014/main" id="{9D171DED-96C0-4C34-8803-4308581641B7}"/>
              </a:ext>
            </a:extLst>
          </p:cNvPr>
          <p:cNvSpPr txBox="1"/>
          <p:nvPr/>
        </p:nvSpPr>
        <p:spPr>
          <a:xfrm>
            <a:off x="916553" y="5484636"/>
            <a:ext cx="7602016" cy="553998"/>
          </a:xfrm>
          <a:prstGeom prst="rect">
            <a:avLst/>
          </a:prstGeom>
          <a:noFill/>
        </p:spPr>
        <p:txBody>
          <a:bodyPr wrap="square" rtlCol="0">
            <a:spAutoFit/>
          </a:bodyPr>
          <a:lstStyle/>
          <a:p>
            <a:r>
              <a:rPr lang="fr-BE" sz="3000" dirty="0">
                <a:solidFill>
                  <a:srgbClr val="C00000"/>
                </a:solidFill>
              </a:rPr>
              <a:t>01/57.B5	      03.11.2022 + Art. d’</a:t>
            </a:r>
            <a:r>
              <a:rPr lang="fr-BE" sz="3000" dirty="0" err="1">
                <a:solidFill>
                  <a:srgbClr val="C00000"/>
                </a:solidFill>
              </a:rPr>
              <a:t>indem</a:t>
            </a:r>
            <a:r>
              <a:rPr lang="fr-BE" sz="3000" dirty="0">
                <a:solidFill>
                  <a:srgbClr val="C00000"/>
                </a:solidFill>
              </a:rPr>
              <a:t>. FIX2</a:t>
            </a:r>
          </a:p>
        </p:txBody>
      </p:sp>
    </p:spTree>
    <p:extLst>
      <p:ext uri="{BB962C8B-B14F-4D97-AF65-F5344CB8AC3E}">
        <p14:creationId xmlns:p14="http://schemas.microsoft.com/office/powerpoint/2010/main" val="3778077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xit" presetSubtype="0" fill="hold" grpId="1" nodeType="withEffect">
                                  <p:stCondLst>
                                    <p:cond delay="0"/>
                                  </p:stCondLst>
                                  <p:childTnLst>
                                    <p:animEffect transition="out" filter="fade">
                                      <p:cBhvr>
                                        <p:cTn id="42" dur="500"/>
                                        <p:tgtEl>
                                          <p:spTgt spid="11"/>
                                        </p:tgtEl>
                                      </p:cBhvr>
                                    </p:animEffect>
                                    <p:set>
                                      <p:cBhvr>
                                        <p:cTn id="43" dur="1" fill="hold">
                                          <p:stCondLst>
                                            <p:cond delay="499"/>
                                          </p:stCondLst>
                                        </p:cTn>
                                        <p:tgtEl>
                                          <p:spTgt spid="11"/>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4"/>
                                        </p:tgtEl>
                                      </p:cBhvr>
                                    </p:animEffect>
                                    <p:set>
                                      <p:cBhvr>
                                        <p:cTn id="46" dur="1" fill="hold">
                                          <p:stCondLst>
                                            <p:cond delay="499"/>
                                          </p:stCondLst>
                                        </p:cTn>
                                        <p:tgtEl>
                                          <p:spTgt spid="4"/>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5"/>
                                        </p:tgtEl>
                                      </p:cBhvr>
                                    </p:animEffect>
                                    <p:set>
                                      <p:cBhvr>
                                        <p:cTn id="49" dur="1" fill="hold">
                                          <p:stCondLst>
                                            <p:cond delay="499"/>
                                          </p:stCondLst>
                                        </p:cTn>
                                        <p:tgtEl>
                                          <p:spTgt spid="5"/>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3">
                                            <p:txEl>
                                              <p:pRg st="3" end="3"/>
                                            </p:txEl>
                                          </p:spTgt>
                                        </p:tgtEl>
                                      </p:cBhvr>
                                    </p:animEffect>
                                    <p:set>
                                      <p:cBhvr>
                                        <p:cTn id="52" dur="1" fill="hold">
                                          <p:stCondLst>
                                            <p:cond delay="499"/>
                                          </p:stCondLst>
                                        </p:cTn>
                                        <p:tgtEl>
                                          <p:spTgt spid="3">
                                            <p:txEl>
                                              <p:pRg st="3" end="3"/>
                                            </p:txEl>
                                          </p:spTgt>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3">
                                            <p:txEl>
                                              <p:pRg st="4" end="4"/>
                                            </p:txEl>
                                          </p:spTgt>
                                        </p:tgtEl>
                                      </p:cBhvr>
                                    </p:animEffect>
                                    <p:set>
                                      <p:cBhvr>
                                        <p:cTn id="55" dur="1" fill="hold">
                                          <p:stCondLst>
                                            <p:cond delay="499"/>
                                          </p:stCondLst>
                                        </p:cTn>
                                        <p:tgtEl>
                                          <p:spTgt spid="3">
                                            <p:txEl>
                                              <p:pRg st="4" end="4"/>
                                            </p:txEl>
                                          </p:spTgt>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3">
                                            <p:txEl>
                                              <p:pRg st="5" end="5"/>
                                            </p:txEl>
                                          </p:spTgt>
                                        </p:tgtEl>
                                      </p:cBhvr>
                                    </p:animEffect>
                                    <p:set>
                                      <p:cBhvr>
                                        <p:cTn id="58" dur="1" fill="hold">
                                          <p:stCondLst>
                                            <p:cond delay="499"/>
                                          </p:stCondLst>
                                        </p:cTn>
                                        <p:tgtEl>
                                          <p:spTgt spid="3">
                                            <p:txEl>
                                              <p:pRg st="5" end="5"/>
                                            </p:txEl>
                                          </p:spTgt>
                                        </p:tgtEl>
                                        <p:attrNameLst>
                                          <p:attrName>style.visibility</p:attrName>
                                        </p:attrNameLst>
                                      </p:cBhvr>
                                      <p:to>
                                        <p:strVal val="hidden"/>
                                      </p:to>
                                    </p:set>
                                  </p:childTnLst>
                                </p:cTn>
                              </p:par>
                              <p:par>
                                <p:cTn id="59" presetID="10" presetClass="entr" presetSubtype="0" fill="hold" grpId="0" nodeType="with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fade">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
                                            <p:txEl>
                                              <p:pRg st="6" end="6"/>
                                            </p:txEl>
                                          </p:spTgt>
                                        </p:tgtEl>
                                        <p:attrNameLst>
                                          <p:attrName>style.visibility</p:attrName>
                                        </p:attrNameLst>
                                      </p:cBhvr>
                                      <p:to>
                                        <p:strVal val="visible"/>
                                      </p:to>
                                    </p:set>
                                    <p:animEffect transition="in" filter="fade">
                                      <p:cBhvr>
                                        <p:cTn id="66" dur="500"/>
                                        <p:tgtEl>
                                          <p:spTgt spid="3">
                                            <p:txEl>
                                              <p:pRg st="6" end="6"/>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4" grpId="0" animBg="1"/>
      <p:bldP spid="4" grpId="1" animBg="1"/>
      <p:bldP spid="5" grpId="0" animBg="1"/>
      <p:bldP spid="5" grpId="1" animBg="1"/>
      <p:bldP spid="8" grpId="0"/>
      <p:bldP spid="10" grpId="0"/>
      <p:bldP spid="11" grpId="0"/>
      <p:bldP spid="11" grpId="1"/>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8315C7-1718-4B22-A772-05C6AD80660B}"/>
              </a:ext>
            </a:extLst>
          </p:cNvPr>
          <p:cNvSpPr>
            <a:spLocks noGrp="1"/>
          </p:cNvSpPr>
          <p:nvPr>
            <p:ph type="title"/>
          </p:nvPr>
        </p:nvSpPr>
        <p:spPr/>
        <p:txBody>
          <a:bodyPr/>
          <a:lstStyle/>
          <a:p>
            <a:pPr algn="r"/>
            <a:r>
              <a:rPr lang="fr-BE" b="1" i="1" dirty="0"/>
              <a:t>3.6. Exercice 3</a:t>
            </a:r>
          </a:p>
        </p:txBody>
      </p:sp>
      <p:graphicFrame>
        <p:nvGraphicFramePr>
          <p:cNvPr id="5" name="Tableau 5">
            <a:extLst>
              <a:ext uri="{FF2B5EF4-FFF2-40B4-BE49-F238E27FC236}">
                <a16:creationId xmlns:a16="http://schemas.microsoft.com/office/drawing/2014/main" id="{27D5DF4A-145D-41DB-B096-982F361022CB}"/>
              </a:ext>
            </a:extLst>
          </p:cNvPr>
          <p:cNvGraphicFramePr>
            <a:graphicFrameLocks noGrp="1"/>
          </p:cNvGraphicFramePr>
          <p:nvPr>
            <p:ph idx="1"/>
            <p:extLst>
              <p:ext uri="{D42A27DB-BD31-4B8C-83A1-F6EECF244321}">
                <p14:modId xmlns:p14="http://schemas.microsoft.com/office/powerpoint/2010/main" val="4051880786"/>
              </p:ext>
            </p:extLst>
          </p:nvPr>
        </p:nvGraphicFramePr>
        <p:xfrm>
          <a:off x="1691680" y="1196752"/>
          <a:ext cx="6264696" cy="4145280"/>
        </p:xfrm>
        <a:graphic>
          <a:graphicData uri="http://schemas.openxmlformats.org/drawingml/2006/table">
            <a:tbl>
              <a:tblPr firstRow="1" bandRow="1">
                <a:tableStyleId>{F5AB1C69-6EDB-4FF4-983F-18BD219EF322}</a:tableStyleId>
              </a:tblPr>
              <a:tblGrid>
                <a:gridCol w="3132348">
                  <a:extLst>
                    <a:ext uri="{9D8B030D-6E8A-4147-A177-3AD203B41FA5}">
                      <a16:colId xmlns:a16="http://schemas.microsoft.com/office/drawing/2014/main" val="178044346"/>
                    </a:ext>
                  </a:extLst>
                </a:gridCol>
                <a:gridCol w="3132348">
                  <a:extLst>
                    <a:ext uri="{9D8B030D-6E8A-4147-A177-3AD203B41FA5}">
                      <a16:colId xmlns:a16="http://schemas.microsoft.com/office/drawing/2014/main" val="1866169997"/>
                    </a:ext>
                  </a:extLst>
                </a:gridCol>
              </a:tblGrid>
              <a:tr h="198224">
                <a:tc gridSpan="2">
                  <a:txBody>
                    <a:bodyPr/>
                    <a:lstStyle/>
                    <a:p>
                      <a:pPr algn="ctr"/>
                      <a:r>
                        <a:rPr lang="fr-BE" sz="2800" dirty="0"/>
                        <a:t>Cascade valable au 06.11.2020</a:t>
                      </a:r>
                    </a:p>
                  </a:txBody>
                  <a:tcPr/>
                </a:tc>
                <a:tc hMerge="1">
                  <a:txBody>
                    <a:bodyPr/>
                    <a:lstStyle/>
                    <a:p>
                      <a:endParaRPr lang="fr-BE" dirty="0"/>
                    </a:p>
                  </a:txBody>
                  <a:tcPr/>
                </a:tc>
                <a:extLst>
                  <a:ext uri="{0D108BD9-81ED-4DB2-BD59-A6C34878D82A}">
                    <a16:rowId xmlns:a16="http://schemas.microsoft.com/office/drawing/2014/main" val="3305510714"/>
                  </a:ext>
                </a:extLst>
              </a:tr>
              <a:tr h="370840">
                <a:tc>
                  <a:txBody>
                    <a:bodyPr/>
                    <a:lstStyle/>
                    <a:p>
                      <a:pPr algn="l"/>
                      <a:r>
                        <a:rPr lang="fr-BE" sz="2800" dirty="0"/>
                        <a:t>01/61.N11</a:t>
                      </a:r>
                    </a:p>
                  </a:txBody>
                  <a:tcPr/>
                </a:tc>
                <a:tc>
                  <a:txBody>
                    <a:bodyPr/>
                    <a:lstStyle/>
                    <a:p>
                      <a:pPr algn="l"/>
                      <a:r>
                        <a:rPr lang="fr-BE" sz="2800" dirty="0"/>
                        <a:t>06.11.2020</a:t>
                      </a:r>
                    </a:p>
                  </a:txBody>
                  <a:tcPr/>
                </a:tc>
                <a:extLst>
                  <a:ext uri="{0D108BD9-81ED-4DB2-BD59-A6C34878D82A}">
                    <a16:rowId xmlns:a16="http://schemas.microsoft.com/office/drawing/2014/main" val="606670295"/>
                  </a:ext>
                </a:extLst>
              </a:tr>
              <a:tr h="370840">
                <a:tc>
                  <a:txBody>
                    <a:bodyPr/>
                    <a:lstStyle/>
                    <a:p>
                      <a:pPr algn="l"/>
                      <a:r>
                        <a:rPr lang="fr-BE" sz="2800" dirty="0"/>
                        <a:t>01/61.N12</a:t>
                      </a:r>
                    </a:p>
                  </a:txBody>
                  <a:tcPr/>
                </a:tc>
                <a:tc>
                  <a:txBody>
                    <a:bodyPr/>
                    <a:lstStyle/>
                    <a:p>
                      <a:pPr algn="l"/>
                      <a:r>
                        <a:rPr lang="fr-BE" sz="2800" dirty="0"/>
                        <a:t>06.02.2021</a:t>
                      </a:r>
                    </a:p>
                  </a:txBody>
                  <a:tcPr/>
                </a:tc>
                <a:extLst>
                  <a:ext uri="{0D108BD9-81ED-4DB2-BD59-A6C34878D82A}">
                    <a16:rowId xmlns:a16="http://schemas.microsoft.com/office/drawing/2014/main" val="674767392"/>
                  </a:ext>
                </a:extLst>
              </a:tr>
              <a:tr h="370840">
                <a:tc>
                  <a:txBody>
                    <a:bodyPr/>
                    <a:lstStyle/>
                    <a:p>
                      <a:pPr algn="l"/>
                      <a:r>
                        <a:rPr lang="fr-BE" sz="2800" dirty="0"/>
                        <a:t>01/61.N13</a:t>
                      </a:r>
                    </a:p>
                  </a:txBody>
                  <a:tcPr/>
                </a:tc>
                <a:tc>
                  <a:txBody>
                    <a:bodyPr/>
                    <a:lstStyle/>
                    <a:p>
                      <a:pPr algn="l"/>
                      <a:r>
                        <a:rPr lang="fr-BE" sz="2800" dirty="0"/>
                        <a:t>06.05.2021</a:t>
                      </a:r>
                    </a:p>
                  </a:txBody>
                  <a:tcPr/>
                </a:tc>
                <a:extLst>
                  <a:ext uri="{0D108BD9-81ED-4DB2-BD59-A6C34878D82A}">
                    <a16:rowId xmlns:a16="http://schemas.microsoft.com/office/drawing/2014/main" val="46360764"/>
                  </a:ext>
                </a:extLst>
              </a:tr>
              <a:tr h="370840">
                <a:tc>
                  <a:txBody>
                    <a:bodyPr/>
                    <a:lstStyle/>
                    <a:p>
                      <a:pPr algn="l"/>
                      <a:r>
                        <a:rPr lang="fr-BE" sz="2800" dirty="0"/>
                        <a:t>01/61.N2A</a:t>
                      </a:r>
                    </a:p>
                  </a:txBody>
                  <a:tcPr/>
                </a:tc>
                <a:tc>
                  <a:txBody>
                    <a:bodyPr/>
                    <a:lstStyle/>
                    <a:p>
                      <a:pPr algn="l"/>
                      <a:r>
                        <a:rPr lang="fr-BE" sz="2800" dirty="0"/>
                        <a:t>06.11.2021</a:t>
                      </a:r>
                    </a:p>
                  </a:txBody>
                  <a:tcPr/>
                </a:tc>
                <a:extLst>
                  <a:ext uri="{0D108BD9-81ED-4DB2-BD59-A6C34878D82A}">
                    <a16:rowId xmlns:a16="http://schemas.microsoft.com/office/drawing/2014/main" val="2329951675"/>
                  </a:ext>
                </a:extLst>
              </a:tr>
              <a:tr h="370840">
                <a:tc>
                  <a:txBody>
                    <a:bodyPr/>
                    <a:lstStyle/>
                    <a:p>
                      <a:pPr algn="l"/>
                      <a:r>
                        <a:rPr lang="fr-BE" sz="2800" dirty="0"/>
                        <a:t>01/61.N2B</a:t>
                      </a:r>
                    </a:p>
                  </a:txBody>
                  <a:tcPr/>
                </a:tc>
                <a:tc>
                  <a:txBody>
                    <a:bodyPr/>
                    <a:lstStyle/>
                    <a:p>
                      <a:pPr algn="l"/>
                      <a:r>
                        <a:rPr lang="fr-BE" sz="2800" dirty="0"/>
                        <a:t>06.01.2022</a:t>
                      </a:r>
                    </a:p>
                  </a:txBody>
                  <a:tcPr/>
                </a:tc>
                <a:extLst>
                  <a:ext uri="{0D108BD9-81ED-4DB2-BD59-A6C34878D82A}">
                    <a16:rowId xmlns:a16="http://schemas.microsoft.com/office/drawing/2014/main" val="3735643632"/>
                  </a:ext>
                </a:extLst>
              </a:tr>
              <a:tr h="370840">
                <a:tc>
                  <a:txBody>
                    <a:bodyPr/>
                    <a:lstStyle/>
                    <a:p>
                      <a:pPr algn="l"/>
                      <a:r>
                        <a:rPr lang="fr-BE" sz="2800" dirty="0"/>
                        <a:t>01/61.N21</a:t>
                      </a:r>
                    </a:p>
                  </a:txBody>
                  <a:tcPr/>
                </a:tc>
                <a:tc>
                  <a:txBody>
                    <a:bodyPr/>
                    <a:lstStyle/>
                    <a:p>
                      <a:pPr algn="l"/>
                      <a:r>
                        <a:rPr lang="fr-BE" sz="2800" dirty="0"/>
                        <a:t>06.11.2022</a:t>
                      </a:r>
                    </a:p>
                  </a:txBody>
                  <a:tcPr/>
                </a:tc>
                <a:extLst>
                  <a:ext uri="{0D108BD9-81ED-4DB2-BD59-A6C34878D82A}">
                    <a16:rowId xmlns:a16="http://schemas.microsoft.com/office/drawing/2014/main" val="3417097840"/>
                  </a:ext>
                </a:extLst>
              </a:tr>
              <a:tr h="370840">
                <a:tc>
                  <a:txBody>
                    <a:bodyPr/>
                    <a:lstStyle/>
                    <a:p>
                      <a:pPr algn="l"/>
                      <a:r>
                        <a:rPr lang="fr-BE" sz="2800" dirty="0"/>
                        <a:t>01/61.NF</a:t>
                      </a:r>
                    </a:p>
                  </a:txBody>
                  <a:tcPr/>
                </a:tc>
                <a:tc>
                  <a:txBody>
                    <a:bodyPr/>
                    <a:lstStyle/>
                    <a:p>
                      <a:pPr algn="l"/>
                      <a:r>
                        <a:rPr lang="fr-BE" sz="2800" dirty="0"/>
                        <a:t>06.01.2023</a:t>
                      </a:r>
                    </a:p>
                  </a:txBody>
                  <a:tcPr/>
                </a:tc>
                <a:extLst>
                  <a:ext uri="{0D108BD9-81ED-4DB2-BD59-A6C34878D82A}">
                    <a16:rowId xmlns:a16="http://schemas.microsoft.com/office/drawing/2014/main" val="2488406694"/>
                  </a:ext>
                </a:extLst>
              </a:tr>
            </a:tbl>
          </a:graphicData>
        </a:graphic>
      </p:graphicFrame>
      <p:sp>
        <p:nvSpPr>
          <p:cNvPr id="4" name="Espace réservé du numéro de diapositive 3">
            <a:extLst>
              <a:ext uri="{FF2B5EF4-FFF2-40B4-BE49-F238E27FC236}">
                <a16:creationId xmlns:a16="http://schemas.microsoft.com/office/drawing/2014/main" id="{BF819822-EDC4-49AF-B435-3B3B96F84D3F}"/>
              </a:ext>
            </a:extLst>
          </p:cNvPr>
          <p:cNvSpPr>
            <a:spLocks noGrp="1"/>
          </p:cNvSpPr>
          <p:nvPr>
            <p:ph type="sldNum" sz="quarter" idx="12"/>
          </p:nvPr>
        </p:nvSpPr>
        <p:spPr/>
        <p:txBody>
          <a:bodyPr/>
          <a:lstStyle/>
          <a:p>
            <a:fld id="{55E9056B-6A30-4F99-BDE9-C450E66AE125}" type="slidenum">
              <a:rPr lang="fr-FR" smtClean="0"/>
              <a:pPr/>
              <a:t>33</a:t>
            </a:fld>
            <a:endParaRPr lang="fr-FR"/>
          </a:p>
        </p:txBody>
      </p:sp>
      <p:sp>
        <p:nvSpPr>
          <p:cNvPr id="7" name="ZoneTexte 6">
            <a:extLst>
              <a:ext uri="{FF2B5EF4-FFF2-40B4-BE49-F238E27FC236}">
                <a16:creationId xmlns:a16="http://schemas.microsoft.com/office/drawing/2014/main" id="{875D93D3-8225-4852-A53A-86778ADC0E1F}"/>
              </a:ext>
            </a:extLst>
          </p:cNvPr>
          <p:cNvSpPr txBox="1"/>
          <p:nvPr/>
        </p:nvSpPr>
        <p:spPr>
          <a:xfrm>
            <a:off x="451139" y="5356876"/>
            <a:ext cx="8229600" cy="1015663"/>
          </a:xfrm>
          <a:prstGeom prst="rect">
            <a:avLst/>
          </a:prstGeom>
          <a:noFill/>
        </p:spPr>
        <p:txBody>
          <a:bodyPr wrap="square" rtlCol="0">
            <a:spAutoFit/>
          </a:bodyPr>
          <a:lstStyle/>
          <a:p>
            <a:r>
              <a:rPr lang="fr-BE" sz="3000" dirty="0"/>
              <a:t>55 ans le 15.11.2022</a:t>
            </a:r>
          </a:p>
          <a:p>
            <a:r>
              <a:rPr lang="fr-BE" sz="3000" dirty="0"/>
              <a:t>Cascade ?</a:t>
            </a:r>
          </a:p>
        </p:txBody>
      </p:sp>
    </p:spTree>
    <p:extLst>
      <p:ext uri="{BB962C8B-B14F-4D97-AF65-F5344CB8AC3E}">
        <p14:creationId xmlns:p14="http://schemas.microsoft.com/office/powerpoint/2010/main" val="37759374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822055"/>
          </a:xfrm>
        </p:spPr>
        <p:txBody>
          <a:bodyPr/>
          <a:lstStyle/>
          <a:p>
            <a:pPr algn="r"/>
            <a:r>
              <a:rPr lang="fr-BE" b="1" i="1" dirty="0">
                <a:cs typeface="Times New Roman" pitchFamily="18" charset="0"/>
              </a:rPr>
              <a:t>3.6. </a:t>
            </a:r>
            <a:r>
              <a:rPr lang="fr-BE" b="1" i="1" dirty="0"/>
              <a:t>Solution – Exercice 3</a:t>
            </a:r>
            <a:endParaRPr lang="fr-BE" dirty="0"/>
          </a:p>
        </p:txBody>
      </p:sp>
      <p:sp>
        <p:nvSpPr>
          <p:cNvPr id="3" name="Espace réservé du contenu 2"/>
          <p:cNvSpPr>
            <a:spLocks noGrp="1"/>
          </p:cNvSpPr>
          <p:nvPr>
            <p:ph idx="1"/>
          </p:nvPr>
        </p:nvSpPr>
        <p:spPr>
          <a:xfrm>
            <a:off x="457200" y="1600200"/>
            <a:ext cx="8229600" cy="4756150"/>
          </a:xfrm>
        </p:spPr>
        <p:txBody>
          <a:bodyPr>
            <a:normAutofit lnSpcReduction="10000"/>
          </a:bodyPr>
          <a:lstStyle/>
          <a:p>
            <a:pPr marL="400050" lvl="1" indent="0">
              <a:buFont typeface="Arial" pitchFamily="34" charset="0"/>
              <a:buNone/>
              <a:defRPr/>
            </a:pPr>
            <a:r>
              <a:rPr lang="fr-FR" sz="3000" dirty="0"/>
              <a:t>01/61</a:t>
            </a:r>
            <a:r>
              <a:rPr lang="fr-FR" sz="3000" i="1" dirty="0"/>
              <a:t>.</a:t>
            </a:r>
            <a:r>
              <a:rPr lang="fr-FR" sz="3000" dirty="0"/>
              <a:t>N11		06.11.2020</a:t>
            </a:r>
          </a:p>
          <a:p>
            <a:pPr marL="400050" lvl="1" indent="0">
              <a:buFont typeface="Arial" pitchFamily="34" charset="0"/>
              <a:buNone/>
              <a:defRPr/>
            </a:pPr>
            <a:r>
              <a:rPr lang="fr-FR" sz="3000" dirty="0"/>
              <a:t>01/61.N12		06.02.2021</a:t>
            </a:r>
          </a:p>
          <a:p>
            <a:pPr marL="400050" lvl="1" indent="0">
              <a:buFont typeface="Arial" pitchFamily="34" charset="0"/>
              <a:buNone/>
              <a:defRPr/>
            </a:pPr>
            <a:r>
              <a:rPr lang="fr-FR" sz="3000" dirty="0"/>
              <a:t>01/61.N13		06.05.2021</a:t>
            </a:r>
          </a:p>
          <a:p>
            <a:pPr marL="400050" lvl="1" indent="0">
              <a:buFont typeface="Arial" pitchFamily="34" charset="0"/>
              <a:buNone/>
              <a:defRPr/>
            </a:pPr>
            <a:r>
              <a:rPr lang="fr-FR" sz="3000" dirty="0"/>
              <a:t>01/61.N2A		06.11.2021</a:t>
            </a:r>
          </a:p>
          <a:p>
            <a:pPr marL="400050" lvl="1" indent="0">
              <a:buFont typeface="Arial" pitchFamily="34" charset="0"/>
              <a:buNone/>
              <a:defRPr/>
            </a:pPr>
            <a:r>
              <a:rPr lang="fr-FR" sz="3000" dirty="0"/>
              <a:t>01/61.N2B		06.01.2022 </a:t>
            </a:r>
          </a:p>
          <a:p>
            <a:pPr marL="400050" lvl="1" indent="0">
              <a:buFont typeface="Arial" pitchFamily="34" charset="0"/>
              <a:buNone/>
              <a:defRPr/>
            </a:pPr>
            <a:r>
              <a:rPr lang="fr-BE" sz="3000" dirty="0"/>
              <a:t>01/61.N21		06.11.2022</a:t>
            </a:r>
          </a:p>
          <a:p>
            <a:pPr marL="400050" lvl="1" indent="0">
              <a:buFont typeface="Arial" pitchFamily="34" charset="0"/>
              <a:buNone/>
              <a:defRPr/>
            </a:pPr>
            <a:r>
              <a:rPr lang="fr-BE" sz="3000" dirty="0"/>
              <a:t>01/61.NF  		06.01.2023 </a:t>
            </a:r>
          </a:p>
          <a:p>
            <a:pPr marL="514350" lvl="0" indent="-514350">
              <a:spcBef>
                <a:spcPts val="0"/>
              </a:spcBef>
              <a:buFont typeface="Wingdings" panose="05000000000000000000" pitchFamily="2" charset="2"/>
              <a:buChar char="§"/>
            </a:pPr>
            <a:r>
              <a:rPr lang="fr-BE" sz="3000" b="1" dirty="0">
                <a:solidFill>
                  <a:prstClr val="black"/>
                </a:solidFill>
              </a:rPr>
              <a:t>C2 </a:t>
            </a:r>
            <a:r>
              <a:rPr lang="fr-BE" sz="3000" b="1" dirty="0" err="1">
                <a:solidFill>
                  <a:prstClr val="black"/>
                </a:solidFill>
              </a:rPr>
              <a:t>ONEm</a:t>
            </a:r>
            <a:r>
              <a:rPr lang="fr-BE" sz="3000" b="1" dirty="0">
                <a:solidFill>
                  <a:prstClr val="black"/>
                </a:solidFill>
              </a:rPr>
              <a:t> valable au 01.11.2022 :</a:t>
            </a:r>
            <a:endParaRPr lang="en-US" sz="3000" b="1" dirty="0">
              <a:solidFill>
                <a:prstClr val="black"/>
              </a:solidFill>
            </a:endParaRPr>
          </a:p>
          <a:p>
            <a:pPr marL="0" lvl="0" indent="0">
              <a:buNone/>
              <a:defRPr/>
            </a:pPr>
            <a:r>
              <a:rPr lang="fr-BE" sz="3000" dirty="0">
                <a:solidFill>
                  <a:srgbClr val="C00000"/>
                </a:solidFill>
              </a:rPr>
              <a:t>     01/61.N2B 	           01.11.2022  Art. </a:t>
            </a:r>
            <a:r>
              <a:rPr lang="fr-BE" sz="3000" dirty="0" err="1">
                <a:solidFill>
                  <a:srgbClr val="C00000"/>
                </a:solidFill>
              </a:rPr>
              <a:t>ind</a:t>
            </a:r>
            <a:r>
              <a:rPr lang="fr-BE" sz="3000" dirty="0">
                <a:solidFill>
                  <a:srgbClr val="C00000"/>
                </a:solidFill>
              </a:rPr>
              <a:t> Fix 3</a:t>
            </a:r>
          </a:p>
          <a:p>
            <a:pPr marL="400050" lvl="1" indent="0">
              <a:buFont typeface="Arial" pitchFamily="34" charset="0"/>
              <a:buNone/>
              <a:defRPr/>
            </a:pPr>
            <a:endParaRPr lang="fr-BE" sz="3000" dirty="0"/>
          </a:p>
        </p:txBody>
      </p:sp>
      <p:sp>
        <p:nvSpPr>
          <p:cNvPr id="4" name="ZoneTexte 3"/>
          <p:cNvSpPr txBox="1">
            <a:spLocks noChangeArrowheads="1"/>
          </p:cNvSpPr>
          <p:nvPr/>
        </p:nvSpPr>
        <p:spPr bwMode="auto">
          <a:xfrm>
            <a:off x="6043696" y="3436560"/>
            <a:ext cx="3044825" cy="157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fr-BE" b="1" dirty="0">
                <a:latin typeface="+mn-lt"/>
              </a:rPr>
              <a:t>Au 01.11.22:  2</a:t>
            </a:r>
            <a:r>
              <a:rPr lang="fr-BE" b="1" baseline="30000" dirty="0">
                <a:latin typeface="+mn-lt"/>
              </a:rPr>
              <a:t>ème</a:t>
            </a:r>
            <a:r>
              <a:rPr lang="fr-BE" b="1" dirty="0">
                <a:latin typeface="+mn-lt"/>
              </a:rPr>
              <a:t>    période/phase 2B = fixation phase ultérieure</a:t>
            </a: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34</a:t>
            </a:fld>
            <a:endParaRPr lang="fr-FR"/>
          </a:p>
        </p:txBody>
      </p:sp>
      <p:sp>
        <p:nvSpPr>
          <p:cNvPr id="7" name="Flèche droite 6"/>
          <p:cNvSpPr/>
          <p:nvPr/>
        </p:nvSpPr>
        <p:spPr>
          <a:xfrm flipH="1">
            <a:off x="5107071" y="3957343"/>
            <a:ext cx="936625" cy="288131"/>
          </a:xfrm>
          <a:prstGeom prst="right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BE"/>
          </a:p>
        </p:txBody>
      </p:sp>
      <p:sp>
        <p:nvSpPr>
          <p:cNvPr id="6" name="ZoneTexte 5"/>
          <p:cNvSpPr txBox="1"/>
          <p:nvPr/>
        </p:nvSpPr>
        <p:spPr>
          <a:xfrm>
            <a:off x="827584" y="3547008"/>
            <a:ext cx="7859216" cy="554400"/>
          </a:xfrm>
          <a:prstGeom prst="rect">
            <a:avLst/>
          </a:prstGeom>
          <a:noFill/>
        </p:spPr>
        <p:txBody>
          <a:bodyPr wrap="square" rtlCol="0">
            <a:spAutoFit/>
          </a:bodyPr>
          <a:lstStyle/>
          <a:p>
            <a:pPr>
              <a:spcBef>
                <a:spcPct val="20000"/>
              </a:spcBef>
              <a:defRPr/>
            </a:pPr>
            <a:r>
              <a:rPr lang="fr-BE" sz="3000" dirty="0">
                <a:solidFill>
                  <a:srgbClr val="C00000"/>
                </a:solidFill>
              </a:rPr>
              <a:t>01/61.N2B 	                 06.01.2022  Art. ind </a:t>
            </a:r>
            <a:r>
              <a:rPr lang="fr-BE" sz="3000" dirty="0" err="1">
                <a:solidFill>
                  <a:srgbClr val="C00000"/>
                </a:solidFill>
              </a:rPr>
              <a:t>Fix</a:t>
            </a:r>
            <a:r>
              <a:rPr lang="fr-BE" sz="3000" dirty="0">
                <a:solidFill>
                  <a:srgbClr val="C00000"/>
                </a:solidFill>
              </a:rPr>
              <a:t> 3</a:t>
            </a:r>
          </a:p>
        </p:txBody>
      </p:sp>
      <p:sp>
        <p:nvSpPr>
          <p:cNvPr id="5" name="ZoneTexte 4"/>
          <p:cNvSpPr txBox="1"/>
          <p:nvPr/>
        </p:nvSpPr>
        <p:spPr>
          <a:xfrm flipH="1">
            <a:off x="443731" y="953869"/>
            <a:ext cx="7427169" cy="553998"/>
          </a:xfrm>
          <a:prstGeom prst="rect">
            <a:avLst/>
          </a:prstGeom>
          <a:noFill/>
        </p:spPr>
        <p:txBody>
          <a:bodyPr wrap="square" rtlCol="0">
            <a:spAutoFit/>
          </a:bodyPr>
          <a:lstStyle/>
          <a:p>
            <a:pPr marL="514350" indent="-514350">
              <a:buFont typeface="Wingdings" panose="05000000000000000000" pitchFamily="2" charset="2"/>
              <a:buChar char="§"/>
            </a:pPr>
            <a:r>
              <a:rPr lang="fr-BE" sz="3000" b="1" dirty="0"/>
              <a:t>Vérité S04 valable initialement </a:t>
            </a:r>
            <a:r>
              <a:rPr lang="fr-BE" sz="3000" dirty="0"/>
              <a:t>:</a:t>
            </a:r>
            <a:endParaRPr lang="en-US" sz="3000" dirty="0"/>
          </a:p>
        </p:txBody>
      </p:sp>
      <p:sp>
        <p:nvSpPr>
          <p:cNvPr id="10" name="ZoneTexte 9"/>
          <p:cNvSpPr txBox="1"/>
          <p:nvPr/>
        </p:nvSpPr>
        <p:spPr>
          <a:xfrm flipH="1">
            <a:off x="443731" y="923092"/>
            <a:ext cx="6414048" cy="584775"/>
          </a:xfrm>
          <a:prstGeom prst="rect">
            <a:avLst/>
          </a:prstGeom>
          <a:noFill/>
        </p:spPr>
        <p:txBody>
          <a:bodyPr wrap="square" rtlCol="0">
            <a:spAutoFit/>
          </a:bodyPr>
          <a:lstStyle/>
          <a:p>
            <a:pPr marL="457200" indent="-457200">
              <a:buFont typeface="Wingdings" panose="05000000000000000000" pitchFamily="2" charset="2"/>
              <a:buChar char="§"/>
            </a:pPr>
            <a:r>
              <a:rPr lang="fr-BE" sz="3000" dirty="0"/>
              <a:t> </a:t>
            </a:r>
            <a:r>
              <a:rPr lang="fr-BE" sz="3000" b="1" dirty="0"/>
              <a:t>Vérité S04 valable au </a:t>
            </a:r>
            <a:r>
              <a:rPr lang="fr-BE" sz="3000" b="1" dirty="0">
                <a:solidFill>
                  <a:srgbClr val="C00000"/>
                </a:solidFill>
              </a:rPr>
              <a:t>01.11.2022</a:t>
            </a:r>
            <a:r>
              <a:rPr lang="fr-BE" sz="3000" b="1" dirty="0"/>
              <a:t> </a:t>
            </a:r>
            <a:r>
              <a:rPr lang="fr-BE" sz="3200" dirty="0"/>
              <a:t>:</a:t>
            </a:r>
            <a:endParaRPr lang="en-US" sz="3200" dirty="0"/>
          </a:p>
        </p:txBody>
      </p:sp>
    </p:spTree>
    <p:extLst>
      <p:ext uri="{BB962C8B-B14F-4D97-AF65-F5344CB8AC3E}">
        <p14:creationId xmlns:p14="http://schemas.microsoft.com/office/powerpoint/2010/main" val="40516195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ppt_x"/>
                                          </p:val>
                                        </p:tav>
                                        <p:tav tm="100000">
                                          <p:val>
                                            <p:strVal val="#ppt_x"/>
                                          </p:val>
                                        </p:tav>
                                      </p:tavLst>
                                    </p:anim>
                                    <p:anim calcmode="lin" valueType="num">
                                      <p:cBhvr additive="base">
                                        <p:cTn id="35" dur="500" fill="hold"/>
                                        <p:tgtEl>
                                          <p:spTgt spid="7"/>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additive="base">
                                        <p:cTn id="38" dur="500" fill="hold"/>
                                        <p:tgtEl>
                                          <p:spTgt spid="4"/>
                                        </p:tgtEl>
                                        <p:attrNameLst>
                                          <p:attrName>ppt_x</p:attrName>
                                        </p:attrNameLst>
                                      </p:cBhvr>
                                      <p:tavLst>
                                        <p:tav tm="0">
                                          <p:val>
                                            <p:strVal val="#ppt_x"/>
                                          </p:val>
                                        </p:tav>
                                        <p:tav tm="100000">
                                          <p:val>
                                            <p:strVal val="#ppt_x"/>
                                          </p:val>
                                        </p:tav>
                                      </p:tavLst>
                                    </p:anim>
                                    <p:anim calcmode="lin" valueType="num">
                                      <p:cBhvr additive="base">
                                        <p:cTn id="3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5"/>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nodeType="clickEffect">
                                  <p:stCondLst>
                                    <p:cond delay="0"/>
                                  </p:stCondLst>
                                  <p:childTnLst>
                                    <p:set>
                                      <p:cBhvr>
                                        <p:cTn id="51" dur="1" fill="hold">
                                          <p:stCondLst>
                                            <p:cond delay="0"/>
                                          </p:stCondLst>
                                        </p:cTn>
                                        <p:tgtEl>
                                          <p:spTgt spid="3">
                                            <p:txEl>
                                              <p:pRg st="4" end="4"/>
                                            </p:txEl>
                                          </p:spTgt>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3">
                                            <p:txEl>
                                              <p:pRg st="5" end="5"/>
                                            </p:txEl>
                                          </p:spTgt>
                                        </p:tgtEl>
                                        <p:attrNameLst>
                                          <p:attrName>style.visibility</p:attrName>
                                        </p:attrNameLst>
                                      </p:cBhvr>
                                      <p:to>
                                        <p:strVal val="hidden"/>
                                      </p:to>
                                    </p:set>
                                  </p:childTnLst>
                                </p:cTn>
                              </p:par>
                              <p:par>
                                <p:cTn id="54" presetID="1" presetClass="exit" presetSubtype="0" fill="hold" nodeType="withEffect">
                                  <p:stCondLst>
                                    <p:cond delay="0"/>
                                  </p:stCondLst>
                                  <p:childTnLst>
                                    <p:set>
                                      <p:cBhvr>
                                        <p:cTn id="55" dur="1" fill="hold">
                                          <p:stCondLst>
                                            <p:cond delay="0"/>
                                          </p:stCondLst>
                                        </p:cTn>
                                        <p:tgtEl>
                                          <p:spTgt spid="3">
                                            <p:txEl>
                                              <p:pRg st="6" end="6"/>
                                            </p:txEl>
                                          </p:spTgt>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 nodeType="clickEffect">
                                  <p:stCondLst>
                                    <p:cond delay="0"/>
                                  </p:stCondLst>
                                  <p:childTnLst>
                                    <p:set>
                                      <p:cBhvr>
                                        <p:cTn id="59" dur="1" fill="hold">
                                          <p:stCondLst>
                                            <p:cond delay="0"/>
                                          </p:stCondLst>
                                        </p:cTn>
                                        <p:tgtEl>
                                          <p:spTgt spid="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1" nodeType="clickEffect">
                                  <p:stCondLst>
                                    <p:cond delay="0"/>
                                  </p:stCondLst>
                                  <p:childTnLst>
                                    <p:set>
                                      <p:cBhvr>
                                        <p:cTn id="63" dur="1" fill="hold">
                                          <p:stCondLst>
                                            <p:cond delay="0"/>
                                          </p:stCondLst>
                                        </p:cTn>
                                        <p:tgtEl>
                                          <p:spTgt spid="7"/>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7" grpId="0" animBg="1"/>
      <p:bldP spid="7" grpId="1" animBg="1"/>
      <p:bldP spid="6" grpId="0"/>
      <p:bldP spid="5" grpId="0"/>
      <p:bldP spid="5" grpId="1"/>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970211-3009-493C-ABFD-3DAA92361FDA}"/>
              </a:ext>
            </a:extLst>
          </p:cNvPr>
          <p:cNvSpPr>
            <a:spLocks noGrp="1"/>
          </p:cNvSpPr>
          <p:nvPr>
            <p:ph type="title"/>
          </p:nvPr>
        </p:nvSpPr>
        <p:spPr/>
        <p:txBody>
          <a:bodyPr/>
          <a:lstStyle/>
          <a:p>
            <a:pPr algn="r"/>
            <a:r>
              <a:rPr lang="fr-BE" b="1" i="1" dirty="0"/>
              <a:t>4. L’allocation majorée: B+</a:t>
            </a:r>
          </a:p>
        </p:txBody>
      </p:sp>
      <p:sp>
        <p:nvSpPr>
          <p:cNvPr id="3" name="Espace réservé du contenu 2">
            <a:extLst>
              <a:ext uri="{FF2B5EF4-FFF2-40B4-BE49-F238E27FC236}">
                <a16:creationId xmlns:a16="http://schemas.microsoft.com/office/drawing/2014/main" id="{ADF7CDCD-CF69-4596-A7CA-6537DD164CFA}"/>
              </a:ext>
            </a:extLst>
          </p:cNvPr>
          <p:cNvSpPr>
            <a:spLocks noGrp="1"/>
          </p:cNvSpPr>
          <p:nvPr>
            <p:ph idx="1"/>
          </p:nvPr>
        </p:nvSpPr>
        <p:spPr/>
        <p:txBody>
          <a:bodyPr>
            <a:normAutofit fontScale="92500" lnSpcReduction="20000"/>
          </a:bodyPr>
          <a:lstStyle/>
          <a:p>
            <a:pPr marL="0" indent="0">
              <a:buNone/>
            </a:pPr>
            <a:r>
              <a:rPr lang="fr-BE" u="sng" dirty="0"/>
              <a:t>Conditions</a:t>
            </a:r>
            <a:r>
              <a:rPr lang="fr-BE" dirty="0"/>
              <a:t>:</a:t>
            </a:r>
          </a:p>
          <a:p>
            <a:pPr>
              <a:buFont typeface="Wingdings" panose="05000000000000000000" pitchFamily="2" charset="2"/>
              <a:buChar char="§"/>
            </a:pPr>
            <a:r>
              <a:rPr lang="fr-BE" dirty="0">
                <a:solidFill>
                  <a:prstClr val="black"/>
                </a:solidFill>
              </a:rPr>
              <a:t>les conjoints/partenaires bénéficient </a:t>
            </a:r>
            <a:r>
              <a:rPr lang="fr-BE" b="1" dirty="0">
                <a:solidFill>
                  <a:prstClr val="black"/>
                </a:solidFill>
              </a:rPr>
              <a:t>que </a:t>
            </a:r>
            <a:r>
              <a:rPr lang="fr-BE" dirty="0">
                <a:solidFill>
                  <a:prstClr val="black"/>
                </a:solidFill>
              </a:rPr>
              <a:t>d’allocations de </a:t>
            </a:r>
            <a:r>
              <a:rPr lang="fr-BE" b="1" dirty="0">
                <a:solidFill>
                  <a:srgbClr val="C00000"/>
                </a:solidFill>
              </a:rPr>
              <a:t>chômage complet </a:t>
            </a:r>
            <a:r>
              <a:rPr lang="fr-BE" dirty="0">
                <a:solidFill>
                  <a:prstClr val="black"/>
                </a:solidFill>
              </a:rPr>
              <a:t>au cours du mois </a:t>
            </a:r>
          </a:p>
          <a:p>
            <a:pPr>
              <a:buFont typeface="Wingdings" panose="05000000000000000000" pitchFamily="2" charset="2"/>
              <a:buChar char="§"/>
            </a:pPr>
            <a:r>
              <a:rPr lang="fr-BE" dirty="0">
                <a:latin typeface="+mj-lt"/>
                <a:ea typeface="Times New Roman" panose="02020603050405020304" pitchFamily="18" charset="0"/>
                <a:cs typeface="Times New Roman" panose="02020603050405020304" pitchFamily="18" charset="0"/>
              </a:rPr>
              <a:t>Le </a:t>
            </a:r>
            <a:r>
              <a:rPr lang="fr-BE" b="1" dirty="0">
                <a:solidFill>
                  <a:srgbClr val="C00000"/>
                </a:solidFill>
                <a:latin typeface="+mj-lt"/>
                <a:ea typeface="Times New Roman" panose="02020603050405020304" pitchFamily="18" charset="0"/>
                <a:cs typeface="Times New Roman" panose="02020603050405020304" pitchFamily="18" charset="0"/>
              </a:rPr>
              <a:t>taux journalier de chaque allocation ne doit pas dépasser le taux journalier octroyé après la 1</a:t>
            </a:r>
            <a:r>
              <a:rPr lang="fr-BE" b="1" baseline="30000" dirty="0">
                <a:solidFill>
                  <a:srgbClr val="C00000"/>
                </a:solidFill>
                <a:latin typeface="+mj-lt"/>
                <a:ea typeface="Times New Roman" panose="02020603050405020304" pitchFamily="18" charset="0"/>
                <a:cs typeface="Times New Roman" panose="02020603050405020304" pitchFamily="18" charset="0"/>
              </a:rPr>
              <a:t>ère</a:t>
            </a:r>
            <a:r>
              <a:rPr lang="fr-BE" b="1" dirty="0">
                <a:solidFill>
                  <a:srgbClr val="C00000"/>
                </a:solidFill>
                <a:latin typeface="+mj-lt"/>
                <a:ea typeface="Times New Roman" panose="02020603050405020304" pitchFamily="18" charset="0"/>
                <a:cs typeface="Times New Roman" panose="02020603050405020304" pitchFamily="18" charset="0"/>
              </a:rPr>
              <a:t> période d’indemnisation</a:t>
            </a:r>
            <a:r>
              <a:rPr lang="fr-BE" dirty="0">
                <a:latin typeface="+mj-lt"/>
                <a:ea typeface="Times New Roman" panose="02020603050405020304" pitchFamily="18" charset="0"/>
                <a:cs typeface="Times New Roman" panose="02020603050405020304" pitchFamily="18" charset="0"/>
              </a:rPr>
              <a:t>. (taux journalier max. « 78B2A »)</a:t>
            </a:r>
          </a:p>
          <a:p>
            <a:pPr>
              <a:buFont typeface="Wingdings" panose="05000000000000000000" pitchFamily="2" charset="2"/>
              <a:buChar char="§"/>
            </a:pPr>
            <a:r>
              <a:rPr lang="fr-BE" dirty="0"/>
              <a:t>Le bénéficiaire de l’allocation majorée doit percevoir une allocation journalière inférieure au taux majoré (phases 21, 22, 23, 24 et F).</a:t>
            </a:r>
          </a:p>
          <a:p>
            <a:pPr>
              <a:buFont typeface="Wingdings" panose="05000000000000000000" pitchFamily="2" charset="2"/>
              <a:buChar char="§"/>
            </a:pPr>
            <a:endParaRPr lang="fr-BE" dirty="0">
              <a:latin typeface="+mj-lt"/>
              <a:ea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fr-BE" dirty="0">
              <a:latin typeface="+mj-lt"/>
              <a:ea typeface="Calibri" panose="020F0502020204030204" pitchFamily="34" charset="0"/>
              <a:cs typeface="Times New Roman" panose="02020603050405020304" pitchFamily="18" charset="0"/>
            </a:endParaRPr>
          </a:p>
          <a:p>
            <a:pPr>
              <a:buFont typeface="Wingdings" panose="05000000000000000000" pitchFamily="2" charset="2"/>
              <a:buChar char="§"/>
            </a:pPr>
            <a:endParaRPr lang="fr-BE" dirty="0"/>
          </a:p>
        </p:txBody>
      </p:sp>
      <p:sp>
        <p:nvSpPr>
          <p:cNvPr id="4" name="Espace réservé du numéro de diapositive 3">
            <a:extLst>
              <a:ext uri="{FF2B5EF4-FFF2-40B4-BE49-F238E27FC236}">
                <a16:creationId xmlns:a16="http://schemas.microsoft.com/office/drawing/2014/main" id="{1089C2FA-6F2E-4E14-9BEC-05F8FAC01BB5}"/>
              </a:ext>
            </a:extLst>
          </p:cNvPr>
          <p:cNvSpPr>
            <a:spLocks noGrp="1"/>
          </p:cNvSpPr>
          <p:nvPr>
            <p:ph type="sldNum" sz="quarter" idx="12"/>
          </p:nvPr>
        </p:nvSpPr>
        <p:spPr/>
        <p:txBody>
          <a:bodyPr/>
          <a:lstStyle/>
          <a:p>
            <a:fld id="{55E9056B-6A30-4F99-BDE9-C450E66AE125}" type="slidenum">
              <a:rPr lang="fr-FR" smtClean="0"/>
              <a:pPr/>
              <a:t>35</a:t>
            </a:fld>
            <a:endParaRPr lang="fr-FR"/>
          </a:p>
        </p:txBody>
      </p:sp>
    </p:spTree>
    <p:extLst>
      <p:ext uri="{BB962C8B-B14F-4D97-AF65-F5344CB8AC3E}">
        <p14:creationId xmlns:p14="http://schemas.microsoft.com/office/powerpoint/2010/main" val="253009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p:cNvSpPr>
            <a:spLocks noGrp="1"/>
          </p:cNvSpPr>
          <p:nvPr>
            <p:ph type="title"/>
          </p:nvPr>
        </p:nvSpPr>
        <p:spPr/>
        <p:txBody>
          <a:bodyPr>
            <a:noAutofit/>
          </a:bodyPr>
          <a:lstStyle/>
          <a:p>
            <a:pPr algn="r"/>
            <a:r>
              <a:rPr lang="fr-BE" b="1" i="1" dirty="0">
                <a:cs typeface="Times New Roman" pitchFamily="18" charset="0"/>
              </a:rPr>
              <a:t>4. L’allocation majorée </a:t>
            </a:r>
          </a:p>
        </p:txBody>
      </p:sp>
      <p:sp>
        <p:nvSpPr>
          <p:cNvPr id="3" name="Tijdelijke aanduiding voor inhoud 2"/>
          <p:cNvSpPr>
            <a:spLocks noGrp="1"/>
          </p:cNvSpPr>
          <p:nvPr>
            <p:ph idx="1"/>
          </p:nvPr>
        </p:nvSpPr>
        <p:spPr>
          <a:xfrm>
            <a:off x="251520" y="1600200"/>
            <a:ext cx="8712968" cy="4525963"/>
          </a:xfrm>
        </p:spPr>
        <p:txBody>
          <a:bodyPr>
            <a:normAutofit/>
          </a:bodyPr>
          <a:lstStyle/>
          <a:p>
            <a:pPr marL="7938" indent="0">
              <a:buNone/>
            </a:pPr>
            <a:r>
              <a:rPr lang="fr-FR" sz="3000" u="sng" noProof="0" dirty="0"/>
              <a:t>Formalité pratique</a:t>
            </a:r>
            <a:r>
              <a:rPr lang="fr-FR" sz="3000" noProof="0" dirty="0"/>
              <a:t> : </a:t>
            </a:r>
          </a:p>
          <a:p>
            <a:pPr marL="465138" indent="-457200">
              <a:buFont typeface="Wingdings" pitchFamily="2" charset="2"/>
              <a:buChar char="§"/>
            </a:pPr>
            <a:r>
              <a:rPr lang="fr-FR" sz="3000" noProof="0" dirty="0"/>
              <a:t>joindre un formulaire </a:t>
            </a:r>
            <a:r>
              <a:rPr lang="fr-FR" sz="3000" b="1" noProof="0" dirty="0">
                <a:solidFill>
                  <a:srgbClr val="C00000"/>
                </a:solidFill>
              </a:rPr>
              <a:t>C105 </a:t>
            </a:r>
            <a:r>
              <a:rPr lang="fr-FR" sz="3000" noProof="0" dirty="0"/>
              <a:t>au dossier de paiement</a:t>
            </a:r>
          </a:p>
          <a:p>
            <a:pPr marL="7938" indent="0">
              <a:buNone/>
            </a:pPr>
            <a:r>
              <a:rPr lang="fr-FR" sz="3000" i="1" noProof="0" dirty="0"/>
              <a:t>Remarque: Ce document doit être signé par le chômeur </a:t>
            </a:r>
            <a:r>
              <a:rPr lang="fr-FR" sz="3000" b="1" i="1" noProof="0" dirty="0"/>
              <a:t>ET</a:t>
            </a:r>
            <a:r>
              <a:rPr lang="fr-FR" sz="3000" i="1" noProof="0" dirty="0"/>
              <a:t> le partenaire s’ils ne sont pas mariés</a:t>
            </a:r>
          </a:p>
          <a:p>
            <a:pPr marL="7938" indent="0">
              <a:buNone/>
            </a:pPr>
            <a:endParaRPr lang="fr-FR" sz="3000" u="sng" noProof="0" dirty="0"/>
          </a:p>
          <a:p>
            <a:pPr marL="7938" indent="0">
              <a:buNone/>
            </a:pPr>
            <a:r>
              <a:rPr lang="fr-FR" sz="3000" u="sng" noProof="0" dirty="0"/>
              <a:t>Montant de l’allocation</a:t>
            </a:r>
            <a:r>
              <a:rPr lang="fr-FR" sz="3000" u="sng" dirty="0"/>
              <a:t> </a:t>
            </a:r>
            <a:endParaRPr lang="fr-FR" sz="3000" dirty="0"/>
          </a:p>
          <a:p>
            <a:pPr marL="465138" indent="-457200">
              <a:buFont typeface="Wingdings" panose="05000000000000000000" pitchFamily="2" charset="2"/>
              <a:buChar char="§"/>
            </a:pPr>
            <a:r>
              <a:rPr lang="fr-FR" sz="3000" b="1" noProof="0" dirty="0">
                <a:solidFill>
                  <a:srgbClr val="C00000"/>
                </a:solidFill>
              </a:rPr>
              <a:t>35,85 euros </a:t>
            </a:r>
            <a:r>
              <a:rPr lang="fr-FR" sz="3000" dirty="0"/>
              <a:t>(forfait majoré - barème 01.11.2022)</a:t>
            </a:r>
            <a:endParaRPr lang="fr-FR" sz="3000" noProof="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36</a:t>
            </a:fld>
            <a:endParaRPr lang="fr-FR"/>
          </a:p>
        </p:txBody>
      </p:sp>
    </p:spTree>
    <p:extLst>
      <p:ext uri="{BB962C8B-B14F-4D97-AF65-F5344CB8AC3E}">
        <p14:creationId xmlns:p14="http://schemas.microsoft.com/office/powerpoint/2010/main" val="433584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2C223D-DFDF-4DF8-A284-96204D047F88}"/>
              </a:ext>
            </a:extLst>
          </p:cNvPr>
          <p:cNvSpPr>
            <a:spLocks noGrp="1"/>
          </p:cNvSpPr>
          <p:nvPr>
            <p:ph type="title"/>
          </p:nvPr>
        </p:nvSpPr>
        <p:spPr/>
        <p:txBody>
          <a:bodyPr>
            <a:normAutofit/>
          </a:bodyPr>
          <a:lstStyle/>
          <a:p>
            <a:pPr algn="r"/>
            <a:r>
              <a:rPr lang="fr-BE" b="1" i="1" dirty="0"/>
              <a:t>4.1.Exercice 4</a:t>
            </a:r>
            <a:endParaRPr lang="fr-BE" dirty="0"/>
          </a:p>
        </p:txBody>
      </p:sp>
      <p:graphicFrame>
        <p:nvGraphicFramePr>
          <p:cNvPr id="5" name="Espace réservé du contenu 4">
            <a:extLst>
              <a:ext uri="{FF2B5EF4-FFF2-40B4-BE49-F238E27FC236}">
                <a16:creationId xmlns:a16="http://schemas.microsoft.com/office/drawing/2014/main" id="{4230EE83-45E8-441A-A94B-413E5820E1F6}"/>
              </a:ext>
            </a:extLst>
          </p:cNvPr>
          <p:cNvGraphicFramePr>
            <a:graphicFrameLocks noGrp="1"/>
          </p:cNvGraphicFramePr>
          <p:nvPr>
            <p:ph idx="1"/>
            <p:extLst>
              <p:ext uri="{D42A27DB-BD31-4B8C-83A1-F6EECF244321}">
                <p14:modId xmlns:p14="http://schemas.microsoft.com/office/powerpoint/2010/main" val="459990971"/>
              </p:ext>
            </p:extLst>
          </p:nvPr>
        </p:nvGraphicFramePr>
        <p:xfrm>
          <a:off x="318356" y="2658040"/>
          <a:ext cx="8507288" cy="3668182"/>
        </p:xfrm>
        <a:graphic>
          <a:graphicData uri="http://schemas.openxmlformats.org/drawingml/2006/table">
            <a:tbl>
              <a:tblPr firstRow="1" bandRow="1">
                <a:tableStyleId>{F5AB1C69-6EDB-4FF4-983F-18BD219EF322}</a:tableStyleId>
              </a:tblPr>
              <a:tblGrid>
                <a:gridCol w="2126822">
                  <a:extLst>
                    <a:ext uri="{9D8B030D-6E8A-4147-A177-3AD203B41FA5}">
                      <a16:colId xmlns:a16="http://schemas.microsoft.com/office/drawing/2014/main" val="3312632992"/>
                    </a:ext>
                  </a:extLst>
                </a:gridCol>
                <a:gridCol w="2126822">
                  <a:extLst>
                    <a:ext uri="{9D8B030D-6E8A-4147-A177-3AD203B41FA5}">
                      <a16:colId xmlns:a16="http://schemas.microsoft.com/office/drawing/2014/main" val="1188377055"/>
                    </a:ext>
                  </a:extLst>
                </a:gridCol>
                <a:gridCol w="2126822">
                  <a:extLst>
                    <a:ext uri="{9D8B030D-6E8A-4147-A177-3AD203B41FA5}">
                      <a16:colId xmlns:a16="http://schemas.microsoft.com/office/drawing/2014/main" val="3096636479"/>
                    </a:ext>
                  </a:extLst>
                </a:gridCol>
                <a:gridCol w="2126822">
                  <a:extLst>
                    <a:ext uri="{9D8B030D-6E8A-4147-A177-3AD203B41FA5}">
                      <a16:colId xmlns:a16="http://schemas.microsoft.com/office/drawing/2014/main" val="1110429196"/>
                    </a:ext>
                  </a:extLst>
                </a:gridCol>
              </a:tblGrid>
              <a:tr h="559222">
                <a:tc gridSpan="2">
                  <a:txBody>
                    <a:bodyPr/>
                    <a:lstStyle/>
                    <a:p>
                      <a:pPr algn="ctr"/>
                      <a:r>
                        <a:rPr lang="fr-BE" sz="2800" dirty="0"/>
                        <a:t>cascade de Marie: </a:t>
                      </a:r>
                    </a:p>
                  </a:txBody>
                  <a:tcPr/>
                </a:tc>
                <a:tc hMerge="1">
                  <a:txBody>
                    <a:bodyPr/>
                    <a:lstStyle/>
                    <a:p>
                      <a:endParaRPr lang="fr-BE"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800" dirty="0"/>
                        <a:t>Cascade de Paul:</a:t>
                      </a:r>
                    </a:p>
                  </a:txBody>
                  <a:tcPr/>
                </a:tc>
                <a:tc hMerge="1">
                  <a:txBody>
                    <a:bodyPr/>
                    <a:lstStyle/>
                    <a:p>
                      <a:endParaRPr lang="fr-BE" dirty="0"/>
                    </a:p>
                  </a:txBody>
                  <a:tcPr/>
                </a:tc>
                <a:extLst>
                  <a:ext uri="{0D108BD9-81ED-4DB2-BD59-A6C34878D82A}">
                    <a16:rowId xmlns:a16="http://schemas.microsoft.com/office/drawing/2014/main" val="4105903020"/>
                  </a:ext>
                </a:extLst>
              </a:tr>
              <a:tr h="484206">
                <a:tc>
                  <a:txBody>
                    <a:bodyPr/>
                    <a:lstStyle/>
                    <a:p>
                      <a:r>
                        <a:rPr lang="fr-BE" sz="2800" dirty="0"/>
                        <a:t>01/74.B11..</a:t>
                      </a:r>
                    </a:p>
                  </a:txBody>
                  <a:tcPr/>
                </a:tc>
                <a:tc>
                  <a:txBody>
                    <a:bodyPr/>
                    <a:lstStyle/>
                    <a:p>
                      <a:r>
                        <a:rPr lang="fr-BE" sz="2800" dirty="0"/>
                        <a:t>15.07.2021</a:t>
                      </a:r>
                    </a:p>
                  </a:txBody>
                  <a:tcPr/>
                </a:tc>
                <a:tc>
                  <a:txBody>
                    <a:bodyPr/>
                    <a:lstStyle/>
                    <a:p>
                      <a:r>
                        <a:rPr lang="fr-BE" sz="2800" dirty="0"/>
                        <a:t>01/67.B11..</a:t>
                      </a:r>
                    </a:p>
                  </a:txBody>
                  <a:tcPr/>
                </a:tc>
                <a:tc>
                  <a:txBody>
                    <a:bodyPr/>
                    <a:lstStyle/>
                    <a:p>
                      <a:r>
                        <a:rPr lang="fr-BE" sz="2800" dirty="0"/>
                        <a:t>19.09.2018</a:t>
                      </a:r>
                    </a:p>
                  </a:txBody>
                  <a:tcPr/>
                </a:tc>
                <a:extLst>
                  <a:ext uri="{0D108BD9-81ED-4DB2-BD59-A6C34878D82A}">
                    <a16:rowId xmlns:a16="http://schemas.microsoft.com/office/drawing/2014/main" val="3236708744"/>
                  </a:ext>
                </a:extLst>
              </a:tr>
              <a:tr h="484206">
                <a:tc>
                  <a:txBody>
                    <a:bodyPr/>
                    <a:lstStyle/>
                    <a:p>
                      <a:r>
                        <a:rPr lang="fr-BE" sz="2800" dirty="0"/>
                        <a:t>01/74.B12..</a:t>
                      </a:r>
                    </a:p>
                  </a:txBody>
                  <a:tcPr/>
                </a:tc>
                <a:tc>
                  <a:txBody>
                    <a:bodyPr/>
                    <a:lstStyle/>
                    <a:p>
                      <a:r>
                        <a:rPr lang="fr-BE" sz="2800" dirty="0"/>
                        <a:t>15.10.2021</a:t>
                      </a:r>
                    </a:p>
                  </a:txBody>
                  <a:tcPr/>
                </a:tc>
                <a:tc>
                  <a:txBody>
                    <a:bodyPr/>
                    <a:lstStyle/>
                    <a:p>
                      <a:r>
                        <a:rPr lang="fr-BE" sz="2800" dirty="0"/>
                        <a:t>01/67.B12..</a:t>
                      </a:r>
                    </a:p>
                  </a:txBody>
                  <a:tcPr/>
                </a:tc>
                <a:tc>
                  <a:txBody>
                    <a:bodyPr/>
                    <a:lstStyle/>
                    <a:p>
                      <a:r>
                        <a:rPr lang="fr-BE" sz="2800" dirty="0"/>
                        <a:t>19.12.2018</a:t>
                      </a:r>
                    </a:p>
                  </a:txBody>
                  <a:tcPr/>
                </a:tc>
                <a:extLst>
                  <a:ext uri="{0D108BD9-81ED-4DB2-BD59-A6C34878D82A}">
                    <a16:rowId xmlns:a16="http://schemas.microsoft.com/office/drawing/2014/main" val="2438523756"/>
                  </a:ext>
                </a:extLst>
              </a:tr>
              <a:tr h="484206">
                <a:tc>
                  <a:txBody>
                    <a:bodyPr/>
                    <a:lstStyle/>
                    <a:p>
                      <a:r>
                        <a:rPr lang="fr-BE" sz="2800" dirty="0"/>
                        <a:t>01/74.B13..</a:t>
                      </a:r>
                    </a:p>
                  </a:txBody>
                  <a:tcPr/>
                </a:tc>
                <a:tc>
                  <a:txBody>
                    <a:bodyPr/>
                    <a:lstStyle/>
                    <a:p>
                      <a:r>
                        <a:rPr lang="fr-BE" sz="2800" dirty="0"/>
                        <a:t>15.01.2022</a:t>
                      </a:r>
                    </a:p>
                  </a:txBody>
                  <a:tcPr/>
                </a:tc>
                <a:tc>
                  <a:txBody>
                    <a:bodyPr/>
                    <a:lstStyle/>
                    <a:p>
                      <a:r>
                        <a:rPr lang="fr-BE" sz="2800" dirty="0"/>
                        <a:t>01/67.B13..</a:t>
                      </a:r>
                    </a:p>
                  </a:txBody>
                  <a:tcPr/>
                </a:tc>
                <a:tc>
                  <a:txBody>
                    <a:bodyPr/>
                    <a:lstStyle/>
                    <a:p>
                      <a:r>
                        <a:rPr lang="fr-BE" sz="2800" dirty="0"/>
                        <a:t>19.03.2019</a:t>
                      </a:r>
                    </a:p>
                  </a:txBody>
                  <a:tcPr/>
                </a:tc>
                <a:extLst>
                  <a:ext uri="{0D108BD9-81ED-4DB2-BD59-A6C34878D82A}">
                    <a16:rowId xmlns:a16="http://schemas.microsoft.com/office/drawing/2014/main" val="1524680760"/>
                  </a:ext>
                </a:extLst>
              </a:tr>
              <a:tr h="484206">
                <a:tc>
                  <a:txBody>
                    <a:bodyPr/>
                    <a:lstStyle/>
                    <a:p>
                      <a:r>
                        <a:rPr lang="fr-BE" sz="2800" dirty="0"/>
                        <a:t>01/74.B2A..</a:t>
                      </a:r>
                    </a:p>
                  </a:txBody>
                  <a:tcPr/>
                </a:tc>
                <a:tc>
                  <a:txBody>
                    <a:bodyPr/>
                    <a:lstStyle/>
                    <a:p>
                      <a:r>
                        <a:rPr lang="fr-BE" sz="2800" dirty="0"/>
                        <a:t>15.07.2022</a:t>
                      </a:r>
                    </a:p>
                  </a:txBody>
                  <a:tcPr/>
                </a:tc>
                <a:tc>
                  <a:txBody>
                    <a:bodyPr/>
                    <a:lstStyle/>
                    <a:p>
                      <a:r>
                        <a:rPr lang="fr-BE" sz="2800" dirty="0"/>
                        <a:t>01/67.B2A..</a:t>
                      </a:r>
                    </a:p>
                  </a:txBody>
                  <a:tcPr/>
                </a:tc>
                <a:tc>
                  <a:txBody>
                    <a:bodyPr/>
                    <a:lstStyle/>
                    <a:p>
                      <a:r>
                        <a:rPr lang="fr-BE" sz="2800" dirty="0"/>
                        <a:t>19.09.2019</a:t>
                      </a:r>
                    </a:p>
                  </a:txBody>
                  <a:tcPr/>
                </a:tc>
                <a:extLst>
                  <a:ext uri="{0D108BD9-81ED-4DB2-BD59-A6C34878D82A}">
                    <a16:rowId xmlns:a16="http://schemas.microsoft.com/office/drawing/2014/main" val="187540817"/>
                  </a:ext>
                </a:extLst>
              </a:tr>
              <a:tr h="484206">
                <a:tc>
                  <a:txBody>
                    <a:bodyPr/>
                    <a:lstStyle/>
                    <a:p>
                      <a:r>
                        <a:rPr lang="fr-BE" sz="2800" dirty="0"/>
                        <a:t>01/74.B2B..</a:t>
                      </a:r>
                    </a:p>
                  </a:txBody>
                  <a:tcPr/>
                </a:tc>
                <a:tc>
                  <a:txBody>
                    <a:bodyPr/>
                    <a:lstStyle/>
                    <a:p>
                      <a:r>
                        <a:rPr lang="fr-BE" sz="2800" dirty="0"/>
                        <a:t>15.09.2022</a:t>
                      </a:r>
                    </a:p>
                  </a:txBody>
                  <a:tcPr/>
                </a:tc>
                <a:tc>
                  <a:txBody>
                    <a:bodyPr/>
                    <a:lstStyle/>
                    <a:p>
                      <a:r>
                        <a:rPr lang="fr-BE" sz="2800" dirty="0"/>
                        <a:t>01/67.B2B..</a:t>
                      </a:r>
                    </a:p>
                  </a:txBody>
                  <a:tcPr/>
                </a:tc>
                <a:tc>
                  <a:txBody>
                    <a:bodyPr/>
                    <a:lstStyle/>
                    <a:p>
                      <a:r>
                        <a:rPr lang="fr-BE" sz="2800" dirty="0"/>
                        <a:t>19.11.2019</a:t>
                      </a:r>
                    </a:p>
                  </a:txBody>
                  <a:tcPr/>
                </a:tc>
                <a:extLst>
                  <a:ext uri="{0D108BD9-81ED-4DB2-BD59-A6C34878D82A}">
                    <a16:rowId xmlns:a16="http://schemas.microsoft.com/office/drawing/2014/main" val="2822173673"/>
                  </a:ext>
                </a:extLst>
              </a:tr>
              <a:tr h="484206">
                <a:tc>
                  <a:txBody>
                    <a:bodyPr/>
                    <a:lstStyle/>
                    <a:p>
                      <a:r>
                        <a:rPr lang="fr-BE" sz="2800" dirty="0"/>
                        <a:t>01/74.BF..</a:t>
                      </a:r>
                    </a:p>
                  </a:txBody>
                  <a:tcPr/>
                </a:tc>
                <a:tc>
                  <a:txBody>
                    <a:bodyPr/>
                    <a:lstStyle/>
                    <a:p>
                      <a:r>
                        <a:rPr lang="fr-BE" sz="2800" dirty="0"/>
                        <a:t>15.05.2023</a:t>
                      </a:r>
                    </a:p>
                  </a:txBody>
                  <a:tcPr/>
                </a:tc>
                <a:tc>
                  <a:txBody>
                    <a:bodyPr/>
                    <a:lstStyle/>
                    <a:p>
                      <a:r>
                        <a:rPr lang="fr-BE" sz="2800" dirty="0"/>
                        <a:t>01/67.BF..</a:t>
                      </a:r>
                    </a:p>
                  </a:txBody>
                  <a:tcPr/>
                </a:tc>
                <a:tc>
                  <a:txBody>
                    <a:bodyPr/>
                    <a:lstStyle/>
                    <a:p>
                      <a:r>
                        <a:rPr lang="fr-BE" sz="2800" dirty="0"/>
                        <a:t>19.01.2020</a:t>
                      </a:r>
                    </a:p>
                  </a:txBody>
                  <a:tcPr/>
                </a:tc>
                <a:extLst>
                  <a:ext uri="{0D108BD9-81ED-4DB2-BD59-A6C34878D82A}">
                    <a16:rowId xmlns:a16="http://schemas.microsoft.com/office/drawing/2014/main" val="1210284433"/>
                  </a:ext>
                </a:extLst>
              </a:tr>
            </a:tbl>
          </a:graphicData>
        </a:graphic>
      </p:graphicFrame>
      <p:sp>
        <p:nvSpPr>
          <p:cNvPr id="4" name="Espace réservé du numéro de diapositive 3">
            <a:extLst>
              <a:ext uri="{FF2B5EF4-FFF2-40B4-BE49-F238E27FC236}">
                <a16:creationId xmlns:a16="http://schemas.microsoft.com/office/drawing/2014/main" id="{F4CBEDFA-C00E-4BB8-B163-FD58A40942CC}"/>
              </a:ext>
            </a:extLst>
          </p:cNvPr>
          <p:cNvSpPr>
            <a:spLocks noGrp="1"/>
          </p:cNvSpPr>
          <p:nvPr>
            <p:ph type="sldNum" sz="quarter" idx="12"/>
          </p:nvPr>
        </p:nvSpPr>
        <p:spPr/>
        <p:txBody>
          <a:bodyPr/>
          <a:lstStyle/>
          <a:p>
            <a:fld id="{55E9056B-6A30-4F99-BDE9-C450E66AE125}" type="slidenum">
              <a:rPr lang="fr-FR" smtClean="0"/>
              <a:pPr/>
              <a:t>37</a:t>
            </a:fld>
            <a:endParaRPr lang="fr-FR"/>
          </a:p>
        </p:txBody>
      </p:sp>
      <p:sp>
        <p:nvSpPr>
          <p:cNvPr id="3" name="ZoneTexte 2">
            <a:extLst>
              <a:ext uri="{FF2B5EF4-FFF2-40B4-BE49-F238E27FC236}">
                <a16:creationId xmlns:a16="http://schemas.microsoft.com/office/drawing/2014/main" id="{861B656C-46BC-43AA-A78E-A9A63E23A752}"/>
              </a:ext>
            </a:extLst>
          </p:cNvPr>
          <p:cNvSpPr txBox="1"/>
          <p:nvPr/>
        </p:nvSpPr>
        <p:spPr>
          <a:xfrm>
            <a:off x="179512" y="1196752"/>
            <a:ext cx="8784976" cy="1431161"/>
          </a:xfrm>
          <a:prstGeom prst="rect">
            <a:avLst/>
          </a:prstGeom>
          <a:noFill/>
        </p:spPr>
        <p:txBody>
          <a:bodyPr wrap="square" rtlCol="0">
            <a:spAutoFit/>
          </a:bodyPr>
          <a:lstStyle/>
          <a:p>
            <a:r>
              <a:rPr lang="fr-BE" sz="2900" dirty="0"/>
              <a:t>Paul &amp; Marie (conjoints) sont en chômage complet tout le mois de 10/2022, qui peux prétendre à une allocation majorée et joindre un C105 à sa carte de contrôle ?</a:t>
            </a:r>
          </a:p>
        </p:txBody>
      </p:sp>
    </p:spTree>
    <p:extLst>
      <p:ext uri="{BB962C8B-B14F-4D97-AF65-F5344CB8AC3E}">
        <p14:creationId xmlns:p14="http://schemas.microsoft.com/office/powerpoint/2010/main" val="746135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036B64-022C-4654-BB21-780CF7533052}"/>
              </a:ext>
            </a:extLst>
          </p:cNvPr>
          <p:cNvSpPr>
            <a:spLocks noGrp="1"/>
          </p:cNvSpPr>
          <p:nvPr>
            <p:ph type="title"/>
          </p:nvPr>
        </p:nvSpPr>
        <p:spPr/>
        <p:txBody>
          <a:bodyPr/>
          <a:lstStyle/>
          <a:p>
            <a:pPr algn="r"/>
            <a:r>
              <a:rPr lang="fr-BE" b="1" i="1" dirty="0"/>
              <a:t>4.1. Solution exercice 4</a:t>
            </a:r>
          </a:p>
        </p:txBody>
      </p:sp>
      <p:sp>
        <p:nvSpPr>
          <p:cNvPr id="3" name="Espace réservé du contenu 2">
            <a:extLst>
              <a:ext uri="{FF2B5EF4-FFF2-40B4-BE49-F238E27FC236}">
                <a16:creationId xmlns:a16="http://schemas.microsoft.com/office/drawing/2014/main" id="{7032DF95-A260-4532-8D44-D11DAE2EC795}"/>
              </a:ext>
            </a:extLst>
          </p:cNvPr>
          <p:cNvSpPr>
            <a:spLocks noGrp="1"/>
          </p:cNvSpPr>
          <p:nvPr>
            <p:ph idx="1"/>
          </p:nvPr>
        </p:nvSpPr>
        <p:spPr/>
        <p:txBody>
          <a:bodyPr>
            <a:normAutofit fontScale="92500" lnSpcReduction="20000"/>
          </a:bodyPr>
          <a:lstStyle/>
          <a:p>
            <a:r>
              <a:rPr lang="fr-BE" dirty="0"/>
              <a:t>Les conjoints ne disposent que d’allocation de chômage pour le mois complet de 10/2022?</a:t>
            </a:r>
          </a:p>
          <a:p>
            <a:pPr marL="1279525" lvl="3" indent="-457200">
              <a:buFont typeface="Wingdings"/>
              <a:buChar char="è"/>
            </a:pPr>
            <a:r>
              <a:rPr lang="fr-BE" sz="2600" dirty="0">
                <a:solidFill>
                  <a:srgbClr val="C00000"/>
                </a:solidFill>
              </a:rPr>
              <a:t>OK</a:t>
            </a:r>
          </a:p>
          <a:p>
            <a:r>
              <a:rPr lang="fr-BE" dirty="0"/>
              <a:t>le taux journalier de chacun ne dépasse pas le taux correspondant au code 01/78.B2A (42,03€)?</a:t>
            </a:r>
          </a:p>
          <a:p>
            <a:pPr marL="1279525" lvl="3" indent="-457200">
              <a:buFont typeface="Wingdings"/>
              <a:buChar char="è"/>
            </a:pPr>
            <a:r>
              <a:rPr lang="fr-BE" sz="2600" dirty="0">
                <a:solidFill>
                  <a:srgbClr val="C00000"/>
                </a:solidFill>
              </a:rPr>
              <a:t>OK</a:t>
            </a:r>
          </a:p>
          <a:p>
            <a:r>
              <a:rPr lang="fr-BE" sz="3000" dirty="0">
                <a:solidFill>
                  <a:prstClr val="black"/>
                </a:solidFill>
              </a:rPr>
              <a:t>Le bénéficiaire de l’allocation majorée doit percevoir une allocation journalière inférieure au taux majoré</a:t>
            </a:r>
          </a:p>
          <a:p>
            <a:pPr marL="1279525" lvl="3" indent="-457200">
              <a:buFont typeface="Wingdings"/>
              <a:buChar char="è"/>
            </a:pPr>
            <a:r>
              <a:rPr lang="fr-BE" sz="2600" dirty="0">
                <a:solidFill>
                  <a:prstClr val="black"/>
                </a:solidFill>
              </a:rPr>
              <a:t>Marie à droit à 42,03€ : </a:t>
            </a:r>
            <a:r>
              <a:rPr lang="fr-BE" sz="2600" b="1" dirty="0">
                <a:solidFill>
                  <a:srgbClr val="C00000"/>
                </a:solidFill>
              </a:rPr>
              <a:t>pas droit </a:t>
            </a:r>
            <a:r>
              <a:rPr lang="fr-BE" sz="2600" dirty="0">
                <a:solidFill>
                  <a:prstClr val="black"/>
                </a:solidFill>
              </a:rPr>
              <a:t>au B+ </a:t>
            </a:r>
          </a:p>
          <a:p>
            <a:pPr marL="1279525" lvl="3" indent="-457200">
              <a:buFont typeface="Wingdings"/>
              <a:buChar char="è"/>
            </a:pPr>
            <a:r>
              <a:rPr lang="fr-BE" sz="2600" dirty="0">
                <a:solidFill>
                  <a:prstClr val="black"/>
                </a:solidFill>
              </a:rPr>
              <a:t>Paul a droit à 25,88€ ≤ 35,85€ : </a:t>
            </a:r>
            <a:r>
              <a:rPr lang="fr-BE" sz="2600" b="1" dirty="0">
                <a:solidFill>
                  <a:srgbClr val="C00000"/>
                </a:solidFill>
              </a:rPr>
              <a:t>droit au B+ </a:t>
            </a:r>
            <a:r>
              <a:rPr lang="fr-BE" sz="2600" dirty="0">
                <a:solidFill>
                  <a:prstClr val="black"/>
                </a:solidFill>
              </a:rPr>
              <a:t>moyennant C105 signé uniquement par lui et joint à la carte</a:t>
            </a:r>
          </a:p>
          <a:p>
            <a:pPr marL="0" indent="0">
              <a:buNone/>
            </a:pPr>
            <a:endParaRPr lang="fr-BE" dirty="0"/>
          </a:p>
        </p:txBody>
      </p:sp>
      <p:sp>
        <p:nvSpPr>
          <p:cNvPr id="4" name="Espace réservé du numéro de diapositive 3">
            <a:extLst>
              <a:ext uri="{FF2B5EF4-FFF2-40B4-BE49-F238E27FC236}">
                <a16:creationId xmlns:a16="http://schemas.microsoft.com/office/drawing/2014/main" id="{8D129ED8-405F-478D-A70A-D315F31CA4A3}"/>
              </a:ext>
            </a:extLst>
          </p:cNvPr>
          <p:cNvSpPr>
            <a:spLocks noGrp="1"/>
          </p:cNvSpPr>
          <p:nvPr>
            <p:ph type="sldNum" sz="quarter" idx="12"/>
          </p:nvPr>
        </p:nvSpPr>
        <p:spPr/>
        <p:txBody>
          <a:bodyPr/>
          <a:lstStyle/>
          <a:p>
            <a:fld id="{55E9056B-6A30-4F99-BDE9-C450E66AE125}" type="slidenum">
              <a:rPr lang="fr-FR" smtClean="0"/>
              <a:pPr/>
              <a:t>38</a:t>
            </a:fld>
            <a:endParaRPr lang="fr-FR"/>
          </a:p>
        </p:txBody>
      </p:sp>
    </p:spTree>
    <p:extLst>
      <p:ext uri="{BB962C8B-B14F-4D97-AF65-F5344CB8AC3E}">
        <p14:creationId xmlns:p14="http://schemas.microsoft.com/office/powerpoint/2010/main" val="4153047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2C223D-DFDF-4DF8-A284-96204D047F88}"/>
              </a:ext>
            </a:extLst>
          </p:cNvPr>
          <p:cNvSpPr>
            <a:spLocks noGrp="1"/>
          </p:cNvSpPr>
          <p:nvPr>
            <p:ph type="title"/>
          </p:nvPr>
        </p:nvSpPr>
        <p:spPr>
          <a:xfrm>
            <a:off x="457200" y="274638"/>
            <a:ext cx="8229600" cy="922114"/>
          </a:xfrm>
        </p:spPr>
        <p:txBody>
          <a:bodyPr>
            <a:normAutofit/>
          </a:bodyPr>
          <a:lstStyle/>
          <a:p>
            <a:pPr algn="r"/>
            <a:r>
              <a:rPr lang="fr-BE" b="1" i="1" dirty="0"/>
              <a:t>4.1.Exercice 5</a:t>
            </a:r>
          </a:p>
        </p:txBody>
      </p:sp>
      <p:graphicFrame>
        <p:nvGraphicFramePr>
          <p:cNvPr id="5" name="Espace réservé du contenu 4">
            <a:extLst>
              <a:ext uri="{FF2B5EF4-FFF2-40B4-BE49-F238E27FC236}">
                <a16:creationId xmlns:a16="http://schemas.microsoft.com/office/drawing/2014/main" id="{4230EE83-45E8-441A-A94B-413E5820E1F6}"/>
              </a:ext>
            </a:extLst>
          </p:cNvPr>
          <p:cNvGraphicFramePr>
            <a:graphicFrameLocks noGrp="1"/>
          </p:cNvGraphicFramePr>
          <p:nvPr>
            <p:ph idx="1"/>
            <p:extLst>
              <p:ext uri="{D42A27DB-BD31-4B8C-83A1-F6EECF244321}">
                <p14:modId xmlns:p14="http://schemas.microsoft.com/office/powerpoint/2010/main" val="4208906696"/>
              </p:ext>
            </p:extLst>
          </p:nvPr>
        </p:nvGraphicFramePr>
        <p:xfrm>
          <a:off x="318356" y="2550118"/>
          <a:ext cx="8507288" cy="4145280"/>
        </p:xfrm>
        <a:graphic>
          <a:graphicData uri="http://schemas.openxmlformats.org/drawingml/2006/table">
            <a:tbl>
              <a:tblPr firstRow="1" bandRow="1">
                <a:tableStyleId>{F5AB1C69-6EDB-4FF4-983F-18BD219EF322}</a:tableStyleId>
              </a:tblPr>
              <a:tblGrid>
                <a:gridCol w="2126822">
                  <a:extLst>
                    <a:ext uri="{9D8B030D-6E8A-4147-A177-3AD203B41FA5}">
                      <a16:colId xmlns:a16="http://schemas.microsoft.com/office/drawing/2014/main" val="3312632992"/>
                    </a:ext>
                  </a:extLst>
                </a:gridCol>
                <a:gridCol w="2126822">
                  <a:extLst>
                    <a:ext uri="{9D8B030D-6E8A-4147-A177-3AD203B41FA5}">
                      <a16:colId xmlns:a16="http://schemas.microsoft.com/office/drawing/2014/main" val="1188377055"/>
                    </a:ext>
                  </a:extLst>
                </a:gridCol>
                <a:gridCol w="2126822">
                  <a:extLst>
                    <a:ext uri="{9D8B030D-6E8A-4147-A177-3AD203B41FA5}">
                      <a16:colId xmlns:a16="http://schemas.microsoft.com/office/drawing/2014/main" val="3096636479"/>
                    </a:ext>
                  </a:extLst>
                </a:gridCol>
                <a:gridCol w="2126822">
                  <a:extLst>
                    <a:ext uri="{9D8B030D-6E8A-4147-A177-3AD203B41FA5}">
                      <a16:colId xmlns:a16="http://schemas.microsoft.com/office/drawing/2014/main" val="1110429196"/>
                    </a:ext>
                  </a:extLst>
                </a:gridCol>
              </a:tblGrid>
              <a:tr h="440601">
                <a:tc gridSpan="2">
                  <a:txBody>
                    <a:bodyPr/>
                    <a:lstStyle/>
                    <a:p>
                      <a:pPr algn="ctr"/>
                      <a:r>
                        <a:rPr lang="fr-BE" sz="2600" dirty="0"/>
                        <a:t>cascade de Jane: </a:t>
                      </a:r>
                    </a:p>
                  </a:txBody>
                  <a:tcPr/>
                </a:tc>
                <a:tc hMerge="1">
                  <a:txBody>
                    <a:bodyPr/>
                    <a:lstStyle/>
                    <a:p>
                      <a:endParaRPr lang="fr-BE"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600" dirty="0"/>
                        <a:t>cascade d’Oli:</a:t>
                      </a:r>
                    </a:p>
                  </a:txBody>
                  <a:tcPr/>
                </a:tc>
                <a:tc hMerge="1">
                  <a:txBody>
                    <a:bodyPr/>
                    <a:lstStyle/>
                    <a:p>
                      <a:endParaRPr lang="fr-BE" dirty="0"/>
                    </a:p>
                  </a:txBody>
                  <a:tcPr/>
                </a:tc>
                <a:extLst>
                  <a:ext uri="{0D108BD9-81ED-4DB2-BD59-A6C34878D82A}">
                    <a16:rowId xmlns:a16="http://schemas.microsoft.com/office/drawing/2014/main" val="4105903020"/>
                  </a:ext>
                </a:extLst>
              </a:tr>
              <a:tr h="420030">
                <a:tc>
                  <a:txBody>
                    <a:bodyPr/>
                    <a:lstStyle/>
                    <a:p>
                      <a:r>
                        <a:rPr lang="fr-BE" sz="2400" dirty="0"/>
                        <a:t>01/55.B11..</a:t>
                      </a:r>
                    </a:p>
                  </a:txBody>
                  <a:tcPr/>
                </a:tc>
                <a:tc>
                  <a:txBody>
                    <a:bodyPr/>
                    <a:lstStyle/>
                    <a:p>
                      <a:r>
                        <a:rPr lang="fr-BE" sz="2400" dirty="0"/>
                        <a:t>02.01.2018</a:t>
                      </a:r>
                    </a:p>
                  </a:txBody>
                  <a:tcPr/>
                </a:tc>
                <a:tc>
                  <a:txBody>
                    <a:bodyPr/>
                    <a:lstStyle/>
                    <a:p>
                      <a:r>
                        <a:rPr lang="fr-BE" sz="2400" dirty="0"/>
                        <a:t>01/65.B11..</a:t>
                      </a:r>
                    </a:p>
                  </a:txBody>
                  <a:tcPr/>
                </a:tc>
                <a:tc>
                  <a:txBody>
                    <a:bodyPr/>
                    <a:lstStyle/>
                    <a:p>
                      <a:r>
                        <a:rPr lang="fr-BE" sz="2400" dirty="0"/>
                        <a:t>01.05.2018</a:t>
                      </a:r>
                    </a:p>
                  </a:txBody>
                  <a:tcPr/>
                </a:tc>
                <a:extLst>
                  <a:ext uri="{0D108BD9-81ED-4DB2-BD59-A6C34878D82A}">
                    <a16:rowId xmlns:a16="http://schemas.microsoft.com/office/drawing/2014/main" val="3236708744"/>
                  </a:ext>
                </a:extLst>
              </a:tr>
              <a:tr h="420030">
                <a:tc>
                  <a:txBody>
                    <a:bodyPr/>
                    <a:lstStyle/>
                    <a:p>
                      <a:r>
                        <a:rPr lang="fr-BE" sz="2400" dirty="0"/>
                        <a:t>01/55.B12..</a:t>
                      </a:r>
                    </a:p>
                  </a:txBody>
                  <a:tcPr/>
                </a:tc>
                <a:tc>
                  <a:txBody>
                    <a:bodyPr/>
                    <a:lstStyle/>
                    <a:p>
                      <a:r>
                        <a:rPr lang="fr-BE" sz="2400" dirty="0"/>
                        <a:t>02.04.2018</a:t>
                      </a:r>
                    </a:p>
                  </a:txBody>
                  <a:tcPr/>
                </a:tc>
                <a:tc>
                  <a:txBody>
                    <a:bodyPr/>
                    <a:lstStyle/>
                    <a:p>
                      <a:r>
                        <a:rPr lang="fr-BE" sz="2400" dirty="0"/>
                        <a:t>01/65.B12..</a:t>
                      </a:r>
                    </a:p>
                  </a:txBody>
                  <a:tcPr/>
                </a:tc>
                <a:tc>
                  <a:txBody>
                    <a:bodyPr/>
                    <a:lstStyle/>
                    <a:p>
                      <a:r>
                        <a:rPr lang="fr-BE" sz="2400" dirty="0"/>
                        <a:t>01.08.2018</a:t>
                      </a:r>
                    </a:p>
                  </a:txBody>
                  <a:tcPr/>
                </a:tc>
                <a:extLst>
                  <a:ext uri="{0D108BD9-81ED-4DB2-BD59-A6C34878D82A}">
                    <a16:rowId xmlns:a16="http://schemas.microsoft.com/office/drawing/2014/main" val="2438523756"/>
                  </a:ext>
                </a:extLst>
              </a:tr>
              <a:tr h="420030">
                <a:tc>
                  <a:txBody>
                    <a:bodyPr/>
                    <a:lstStyle/>
                    <a:p>
                      <a:r>
                        <a:rPr lang="fr-BE" sz="2400" dirty="0"/>
                        <a:t>01/55.B13..</a:t>
                      </a:r>
                    </a:p>
                  </a:txBody>
                  <a:tcPr/>
                </a:tc>
                <a:tc>
                  <a:txBody>
                    <a:bodyPr/>
                    <a:lstStyle/>
                    <a:p>
                      <a:r>
                        <a:rPr lang="fr-BE" sz="2400" dirty="0"/>
                        <a:t>02.07.2018</a:t>
                      </a:r>
                    </a:p>
                  </a:txBody>
                  <a:tcPr/>
                </a:tc>
                <a:tc>
                  <a:txBody>
                    <a:bodyPr/>
                    <a:lstStyle/>
                    <a:p>
                      <a:r>
                        <a:rPr lang="fr-BE" sz="2400" dirty="0"/>
                        <a:t>01/65.B13..</a:t>
                      </a:r>
                    </a:p>
                  </a:txBody>
                  <a:tcPr/>
                </a:tc>
                <a:tc>
                  <a:txBody>
                    <a:bodyPr/>
                    <a:lstStyle/>
                    <a:p>
                      <a:r>
                        <a:rPr lang="fr-BE" sz="2400" dirty="0"/>
                        <a:t>01.11.2018</a:t>
                      </a:r>
                    </a:p>
                  </a:txBody>
                  <a:tcPr/>
                </a:tc>
                <a:extLst>
                  <a:ext uri="{0D108BD9-81ED-4DB2-BD59-A6C34878D82A}">
                    <a16:rowId xmlns:a16="http://schemas.microsoft.com/office/drawing/2014/main" val="1524680760"/>
                  </a:ext>
                </a:extLst>
              </a:tr>
              <a:tr h="420030">
                <a:tc>
                  <a:txBody>
                    <a:bodyPr/>
                    <a:lstStyle/>
                    <a:p>
                      <a:r>
                        <a:rPr lang="fr-BE" sz="2400" dirty="0"/>
                        <a:t>01/55.B2A..</a:t>
                      </a:r>
                    </a:p>
                  </a:txBody>
                  <a:tcPr/>
                </a:tc>
                <a:tc>
                  <a:txBody>
                    <a:bodyPr/>
                    <a:lstStyle/>
                    <a:p>
                      <a:r>
                        <a:rPr lang="fr-BE" sz="2400" dirty="0"/>
                        <a:t>02.01.2019</a:t>
                      </a:r>
                    </a:p>
                  </a:txBody>
                  <a:tcPr/>
                </a:tc>
                <a:tc>
                  <a:txBody>
                    <a:bodyPr/>
                    <a:lstStyle/>
                    <a:p>
                      <a:r>
                        <a:rPr lang="fr-BE" sz="2400" dirty="0"/>
                        <a:t>01/65.B2A..</a:t>
                      </a:r>
                    </a:p>
                  </a:txBody>
                  <a:tcPr/>
                </a:tc>
                <a:tc>
                  <a:txBody>
                    <a:bodyPr/>
                    <a:lstStyle/>
                    <a:p>
                      <a:r>
                        <a:rPr lang="fr-BE" sz="2400" dirty="0"/>
                        <a:t>01.05.2019</a:t>
                      </a:r>
                    </a:p>
                  </a:txBody>
                  <a:tcPr/>
                </a:tc>
                <a:extLst>
                  <a:ext uri="{0D108BD9-81ED-4DB2-BD59-A6C34878D82A}">
                    <a16:rowId xmlns:a16="http://schemas.microsoft.com/office/drawing/2014/main" val="187540817"/>
                  </a:ext>
                </a:extLst>
              </a:tr>
              <a:tr h="420030">
                <a:tc>
                  <a:txBody>
                    <a:bodyPr/>
                    <a:lstStyle/>
                    <a:p>
                      <a:r>
                        <a:rPr lang="fr-BE" sz="2400" dirty="0"/>
                        <a:t>01/55.B2B..</a:t>
                      </a:r>
                    </a:p>
                  </a:txBody>
                  <a:tcPr/>
                </a:tc>
                <a:tc>
                  <a:txBody>
                    <a:bodyPr/>
                    <a:lstStyle/>
                    <a:p>
                      <a:r>
                        <a:rPr lang="fr-BE" sz="2400" dirty="0"/>
                        <a:t>02.03.2019</a:t>
                      </a:r>
                    </a:p>
                  </a:txBody>
                  <a:tcPr/>
                </a:tc>
                <a:tc>
                  <a:txBody>
                    <a:bodyPr/>
                    <a:lstStyle/>
                    <a:p>
                      <a:r>
                        <a:rPr lang="fr-BE" sz="2400" dirty="0"/>
                        <a:t>01/65.B2B..</a:t>
                      </a:r>
                    </a:p>
                  </a:txBody>
                  <a:tcPr/>
                </a:tc>
                <a:tc>
                  <a:txBody>
                    <a:bodyPr/>
                    <a:lstStyle/>
                    <a:p>
                      <a:r>
                        <a:rPr lang="fr-BE" sz="2400" dirty="0"/>
                        <a:t>01.07.2019</a:t>
                      </a:r>
                    </a:p>
                  </a:txBody>
                  <a:tcPr/>
                </a:tc>
                <a:extLst>
                  <a:ext uri="{0D108BD9-81ED-4DB2-BD59-A6C34878D82A}">
                    <a16:rowId xmlns:a16="http://schemas.microsoft.com/office/drawing/2014/main" val="2822173673"/>
                  </a:ext>
                </a:extLst>
              </a:tr>
              <a:tr h="420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2400" dirty="0"/>
                        <a:t>01/55.B21..</a:t>
                      </a:r>
                    </a:p>
                  </a:txBody>
                  <a:tcPr/>
                </a:tc>
                <a:tc>
                  <a:txBody>
                    <a:bodyPr/>
                    <a:lstStyle/>
                    <a:p>
                      <a:r>
                        <a:rPr lang="fr-BE" sz="2400" dirty="0"/>
                        <a:t>02.01.2020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2400" dirty="0"/>
                        <a:t>01/65.B21..</a:t>
                      </a:r>
                    </a:p>
                  </a:txBody>
                  <a:tcPr/>
                </a:tc>
                <a:tc>
                  <a:txBody>
                    <a:bodyPr/>
                    <a:lstStyle/>
                    <a:p>
                      <a:r>
                        <a:rPr lang="fr-BE" sz="2400" dirty="0"/>
                        <a:t>01.05.2020</a:t>
                      </a:r>
                    </a:p>
                  </a:txBody>
                  <a:tcPr/>
                </a:tc>
                <a:extLst>
                  <a:ext uri="{0D108BD9-81ED-4DB2-BD59-A6C34878D82A}">
                    <a16:rowId xmlns:a16="http://schemas.microsoft.com/office/drawing/2014/main" val="1588849524"/>
                  </a:ext>
                </a:extLst>
              </a:tr>
              <a:tr h="4200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2400" dirty="0"/>
                        <a:t>01/55.B22..</a:t>
                      </a:r>
                    </a:p>
                  </a:txBody>
                  <a:tcPr/>
                </a:tc>
                <a:tc>
                  <a:txBody>
                    <a:bodyPr/>
                    <a:lstStyle/>
                    <a:p>
                      <a:r>
                        <a:rPr lang="fr-BE" sz="2400" dirty="0"/>
                        <a:t>02.07.2020</a:t>
                      </a: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2400" dirty="0"/>
                        <a:t>01/65.BF..</a:t>
                      </a:r>
                    </a:p>
                  </a:txBody>
                  <a:tcPr/>
                </a:tc>
                <a:tc rowSpan="2">
                  <a:txBody>
                    <a:bodyPr/>
                    <a:lstStyle/>
                    <a:p>
                      <a:r>
                        <a:rPr lang="fr-BE" sz="2400" dirty="0"/>
                        <a:t>01.11.2020</a:t>
                      </a:r>
                    </a:p>
                  </a:txBody>
                  <a:tcPr/>
                </a:tc>
                <a:extLst>
                  <a:ext uri="{0D108BD9-81ED-4DB2-BD59-A6C34878D82A}">
                    <a16:rowId xmlns:a16="http://schemas.microsoft.com/office/drawing/2014/main" val="2237986181"/>
                  </a:ext>
                </a:extLst>
              </a:tr>
              <a:tr h="420030">
                <a:tc>
                  <a:txBody>
                    <a:bodyPr/>
                    <a:lstStyle/>
                    <a:p>
                      <a:r>
                        <a:rPr lang="fr-BE" sz="2400" dirty="0"/>
                        <a:t>01/55.BF..</a:t>
                      </a:r>
                    </a:p>
                  </a:txBody>
                  <a:tcPr/>
                </a:tc>
                <a:tc>
                  <a:txBody>
                    <a:bodyPr/>
                    <a:lstStyle/>
                    <a:p>
                      <a:r>
                        <a:rPr lang="fr-BE" sz="2400" dirty="0"/>
                        <a:t>02.01.2021</a:t>
                      </a:r>
                    </a:p>
                  </a:txBody>
                  <a:tcPr/>
                </a:tc>
                <a:tc vMerge="1">
                  <a:txBody>
                    <a:bodyPr/>
                    <a:lstStyle/>
                    <a:p>
                      <a:endParaRPr lang="fr-BE" dirty="0"/>
                    </a:p>
                  </a:txBody>
                  <a:tcPr/>
                </a:tc>
                <a:tc vMerge="1">
                  <a:txBody>
                    <a:bodyPr/>
                    <a:lstStyle/>
                    <a:p>
                      <a:endParaRPr lang="fr-BE" dirty="0"/>
                    </a:p>
                  </a:txBody>
                  <a:tcPr/>
                </a:tc>
                <a:extLst>
                  <a:ext uri="{0D108BD9-81ED-4DB2-BD59-A6C34878D82A}">
                    <a16:rowId xmlns:a16="http://schemas.microsoft.com/office/drawing/2014/main" val="1210284433"/>
                  </a:ext>
                </a:extLst>
              </a:tr>
            </a:tbl>
          </a:graphicData>
        </a:graphic>
      </p:graphicFrame>
      <p:sp>
        <p:nvSpPr>
          <p:cNvPr id="4" name="Espace réservé du numéro de diapositive 3">
            <a:extLst>
              <a:ext uri="{FF2B5EF4-FFF2-40B4-BE49-F238E27FC236}">
                <a16:creationId xmlns:a16="http://schemas.microsoft.com/office/drawing/2014/main" id="{F4CBEDFA-C00E-4BB8-B163-FD58A40942CC}"/>
              </a:ext>
            </a:extLst>
          </p:cNvPr>
          <p:cNvSpPr>
            <a:spLocks noGrp="1"/>
          </p:cNvSpPr>
          <p:nvPr>
            <p:ph type="sldNum" sz="quarter" idx="12"/>
          </p:nvPr>
        </p:nvSpPr>
        <p:spPr/>
        <p:txBody>
          <a:bodyPr/>
          <a:lstStyle/>
          <a:p>
            <a:fld id="{55E9056B-6A30-4F99-BDE9-C450E66AE125}" type="slidenum">
              <a:rPr lang="fr-FR" smtClean="0"/>
              <a:pPr/>
              <a:t>39</a:t>
            </a:fld>
            <a:endParaRPr lang="fr-FR"/>
          </a:p>
        </p:txBody>
      </p:sp>
      <p:sp>
        <p:nvSpPr>
          <p:cNvPr id="3" name="ZoneTexte 2">
            <a:extLst>
              <a:ext uri="{FF2B5EF4-FFF2-40B4-BE49-F238E27FC236}">
                <a16:creationId xmlns:a16="http://schemas.microsoft.com/office/drawing/2014/main" id="{1857E759-4AD2-4EDC-B9C9-BCDCC76F89FC}"/>
              </a:ext>
            </a:extLst>
          </p:cNvPr>
          <p:cNvSpPr txBox="1"/>
          <p:nvPr/>
        </p:nvSpPr>
        <p:spPr>
          <a:xfrm>
            <a:off x="457200" y="1196752"/>
            <a:ext cx="8507288" cy="1292662"/>
          </a:xfrm>
          <a:prstGeom prst="rect">
            <a:avLst/>
          </a:prstGeom>
          <a:noFill/>
        </p:spPr>
        <p:txBody>
          <a:bodyPr wrap="square" rtlCol="0">
            <a:spAutoFit/>
          </a:bodyPr>
          <a:lstStyle/>
          <a:p>
            <a:pPr lvl="0"/>
            <a:r>
              <a:rPr lang="fr-BE" sz="2600" dirty="0">
                <a:solidFill>
                  <a:prstClr val="black"/>
                </a:solidFill>
              </a:rPr>
              <a:t>Oli &amp; Jane (Partenaires) sont en chômage complet tout le mois de 10/2022, qui peux prétendre à une allocation majorée et joindre un C105 à sa carte de contrôle ?</a:t>
            </a:r>
          </a:p>
        </p:txBody>
      </p:sp>
    </p:spTree>
    <p:extLst>
      <p:ext uri="{BB962C8B-B14F-4D97-AF65-F5344CB8AC3E}">
        <p14:creationId xmlns:p14="http://schemas.microsoft.com/office/powerpoint/2010/main" val="608105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036B64-022C-4654-BB21-780CF7533052}"/>
              </a:ext>
            </a:extLst>
          </p:cNvPr>
          <p:cNvSpPr>
            <a:spLocks noGrp="1"/>
          </p:cNvSpPr>
          <p:nvPr>
            <p:ph type="title"/>
          </p:nvPr>
        </p:nvSpPr>
        <p:spPr/>
        <p:txBody>
          <a:bodyPr/>
          <a:lstStyle/>
          <a:p>
            <a:pPr algn="r"/>
            <a:r>
              <a:rPr lang="fr-BE" b="1" i="1" dirty="0"/>
              <a:t>4.1. Solution exercice 5</a:t>
            </a:r>
          </a:p>
        </p:txBody>
      </p:sp>
      <p:sp>
        <p:nvSpPr>
          <p:cNvPr id="3" name="Espace réservé du contenu 2">
            <a:extLst>
              <a:ext uri="{FF2B5EF4-FFF2-40B4-BE49-F238E27FC236}">
                <a16:creationId xmlns:a16="http://schemas.microsoft.com/office/drawing/2014/main" id="{7032DF95-A260-4532-8D44-D11DAE2EC795}"/>
              </a:ext>
            </a:extLst>
          </p:cNvPr>
          <p:cNvSpPr>
            <a:spLocks noGrp="1"/>
          </p:cNvSpPr>
          <p:nvPr>
            <p:ph idx="1"/>
          </p:nvPr>
        </p:nvSpPr>
        <p:spPr/>
        <p:txBody>
          <a:bodyPr>
            <a:normAutofit fontScale="85000" lnSpcReduction="20000"/>
          </a:bodyPr>
          <a:lstStyle/>
          <a:p>
            <a:r>
              <a:rPr lang="fr-BE" dirty="0"/>
              <a:t>Les partenaires ne disposent que d’allocation de chômage pour le mois complet de 10/2022?</a:t>
            </a:r>
          </a:p>
          <a:p>
            <a:pPr marL="1279525" lvl="3" indent="-457200">
              <a:buFont typeface="Wingdings"/>
              <a:buChar char="è"/>
            </a:pPr>
            <a:r>
              <a:rPr lang="fr-BE" sz="2600" dirty="0">
                <a:solidFill>
                  <a:srgbClr val="C00000"/>
                </a:solidFill>
              </a:rPr>
              <a:t>OK</a:t>
            </a:r>
          </a:p>
          <a:p>
            <a:r>
              <a:rPr lang="fr-BE" dirty="0"/>
              <a:t>le taux journalier de chacun ne dépasse pas le taux correspondant au code 01/78.B2A (42,03€)?</a:t>
            </a:r>
          </a:p>
          <a:p>
            <a:pPr marL="1279525" lvl="3" indent="-457200">
              <a:buFont typeface="Wingdings"/>
              <a:buChar char="è"/>
            </a:pPr>
            <a:r>
              <a:rPr lang="fr-BE" sz="2600" dirty="0">
                <a:solidFill>
                  <a:srgbClr val="C00000"/>
                </a:solidFill>
              </a:rPr>
              <a:t>OK</a:t>
            </a:r>
          </a:p>
          <a:p>
            <a:r>
              <a:rPr lang="fr-BE" sz="3000" dirty="0">
                <a:solidFill>
                  <a:prstClr val="black"/>
                </a:solidFill>
              </a:rPr>
              <a:t>Le bénéficiaire de l’allocation majorée doit percevoir une allocation journalière inférieure au taux majoré</a:t>
            </a:r>
          </a:p>
          <a:p>
            <a:pPr marL="1279525" lvl="3" indent="-457200">
              <a:buFont typeface="Wingdings"/>
              <a:buChar char="è"/>
            </a:pPr>
            <a:r>
              <a:rPr lang="fr-BE" sz="2800" dirty="0">
                <a:solidFill>
                  <a:prstClr val="black"/>
                </a:solidFill>
              </a:rPr>
              <a:t>Jade à droit à 25,88€ ≤ 35,85€ : </a:t>
            </a:r>
            <a:r>
              <a:rPr lang="fr-BE" sz="2800" b="1" dirty="0">
                <a:solidFill>
                  <a:srgbClr val="C00000"/>
                </a:solidFill>
              </a:rPr>
              <a:t>droit au B+</a:t>
            </a:r>
            <a:r>
              <a:rPr lang="fr-BE" sz="2800" dirty="0">
                <a:solidFill>
                  <a:prstClr val="black"/>
                </a:solidFill>
              </a:rPr>
              <a:t> </a:t>
            </a:r>
          </a:p>
          <a:p>
            <a:pPr marL="1279525" lvl="3" indent="-457200">
              <a:buFont typeface="Wingdings"/>
              <a:buChar char="è"/>
            </a:pPr>
            <a:r>
              <a:rPr lang="fr-BE" sz="2800" dirty="0">
                <a:solidFill>
                  <a:prstClr val="black"/>
                </a:solidFill>
              </a:rPr>
              <a:t>Oli a droit à 25,88€ ≤ 35,85€ : </a:t>
            </a:r>
            <a:r>
              <a:rPr lang="fr-BE" sz="2800" b="1" dirty="0">
                <a:solidFill>
                  <a:srgbClr val="C00000"/>
                </a:solidFill>
              </a:rPr>
              <a:t>droit au B+ </a:t>
            </a:r>
          </a:p>
          <a:p>
            <a:pPr marL="1279525" lvl="3" indent="-457200">
              <a:buFont typeface="Wingdings"/>
              <a:buChar char="è"/>
            </a:pPr>
            <a:r>
              <a:rPr lang="fr-BE" sz="2800" b="1" dirty="0"/>
              <a:t>Chacun doit joindre un C105 signé par les 2 partenaires</a:t>
            </a:r>
          </a:p>
          <a:p>
            <a:pPr marL="0" indent="0">
              <a:buNone/>
            </a:pPr>
            <a:endParaRPr lang="fr-BE" dirty="0"/>
          </a:p>
        </p:txBody>
      </p:sp>
      <p:sp>
        <p:nvSpPr>
          <p:cNvPr id="4" name="Espace réservé du numéro de diapositive 3">
            <a:extLst>
              <a:ext uri="{FF2B5EF4-FFF2-40B4-BE49-F238E27FC236}">
                <a16:creationId xmlns:a16="http://schemas.microsoft.com/office/drawing/2014/main" id="{8D129ED8-405F-478D-A70A-D315F31CA4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94766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2C223D-DFDF-4DF8-A284-96204D047F88}"/>
              </a:ext>
            </a:extLst>
          </p:cNvPr>
          <p:cNvSpPr>
            <a:spLocks noGrp="1"/>
          </p:cNvSpPr>
          <p:nvPr>
            <p:ph type="title"/>
          </p:nvPr>
        </p:nvSpPr>
        <p:spPr/>
        <p:txBody>
          <a:bodyPr>
            <a:normAutofit/>
          </a:bodyPr>
          <a:lstStyle/>
          <a:p>
            <a:pPr algn="r"/>
            <a:r>
              <a:rPr lang="fr-BE" b="1" i="1" dirty="0"/>
              <a:t>4.1.Exercice 6</a:t>
            </a:r>
            <a:endParaRPr lang="fr-BE" dirty="0"/>
          </a:p>
        </p:txBody>
      </p:sp>
      <p:graphicFrame>
        <p:nvGraphicFramePr>
          <p:cNvPr id="5" name="Espace réservé du contenu 4">
            <a:extLst>
              <a:ext uri="{FF2B5EF4-FFF2-40B4-BE49-F238E27FC236}">
                <a16:creationId xmlns:a16="http://schemas.microsoft.com/office/drawing/2014/main" id="{4230EE83-45E8-441A-A94B-413E5820E1F6}"/>
              </a:ext>
            </a:extLst>
          </p:cNvPr>
          <p:cNvGraphicFramePr>
            <a:graphicFrameLocks noGrp="1"/>
          </p:cNvGraphicFramePr>
          <p:nvPr>
            <p:ph idx="1"/>
            <p:extLst>
              <p:ext uri="{D42A27DB-BD31-4B8C-83A1-F6EECF244321}">
                <p14:modId xmlns:p14="http://schemas.microsoft.com/office/powerpoint/2010/main" val="835013551"/>
              </p:ext>
            </p:extLst>
          </p:nvPr>
        </p:nvGraphicFramePr>
        <p:xfrm>
          <a:off x="318356" y="2488330"/>
          <a:ext cx="8507288" cy="3485302"/>
        </p:xfrm>
        <a:graphic>
          <a:graphicData uri="http://schemas.openxmlformats.org/drawingml/2006/table">
            <a:tbl>
              <a:tblPr firstRow="1" bandRow="1">
                <a:tableStyleId>{F5AB1C69-6EDB-4FF4-983F-18BD219EF322}</a:tableStyleId>
              </a:tblPr>
              <a:tblGrid>
                <a:gridCol w="2126822">
                  <a:extLst>
                    <a:ext uri="{9D8B030D-6E8A-4147-A177-3AD203B41FA5}">
                      <a16:colId xmlns:a16="http://schemas.microsoft.com/office/drawing/2014/main" val="3312632992"/>
                    </a:ext>
                  </a:extLst>
                </a:gridCol>
                <a:gridCol w="2126822">
                  <a:extLst>
                    <a:ext uri="{9D8B030D-6E8A-4147-A177-3AD203B41FA5}">
                      <a16:colId xmlns:a16="http://schemas.microsoft.com/office/drawing/2014/main" val="1188377055"/>
                    </a:ext>
                  </a:extLst>
                </a:gridCol>
                <a:gridCol w="2126822">
                  <a:extLst>
                    <a:ext uri="{9D8B030D-6E8A-4147-A177-3AD203B41FA5}">
                      <a16:colId xmlns:a16="http://schemas.microsoft.com/office/drawing/2014/main" val="3096636479"/>
                    </a:ext>
                  </a:extLst>
                </a:gridCol>
                <a:gridCol w="2126822">
                  <a:extLst>
                    <a:ext uri="{9D8B030D-6E8A-4147-A177-3AD203B41FA5}">
                      <a16:colId xmlns:a16="http://schemas.microsoft.com/office/drawing/2014/main" val="1110429196"/>
                    </a:ext>
                  </a:extLst>
                </a:gridCol>
              </a:tblGrid>
              <a:tr h="559222">
                <a:tc gridSpan="2">
                  <a:txBody>
                    <a:bodyPr/>
                    <a:lstStyle/>
                    <a:p>
                      <a:pPr algn="ctr"/>
                      <a:r>
                        <a:rPr lang="fr-BE" sz="2600" dirty="0"/>
                        <a:t>cascade de Laure: </a:t>
                      </a:r>
                    </a:p>
                  </a:txBody>
                  <a:tcPr/>
                </a:tc>
                <a:tc hMerge="1">
                  <a:txBody>
                    <a:bodyPr/>
                    <a:lstStyle/>
                    <a:p>
                      <a:endParaRPr lang="fr-BE"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600" dirty="0"/>
                        <a:t>Cascade de Dave:</a:t>
                      </a:r>
                    </a:p>
                  </a:txBody>
                  <a:tcPr/>
                </a:tc>
                <a:tc hMerge="1">
                  <a:txBody>
                    <a:bodyPr/>
                    <a:lstStyle/>
                    <a:p>
                      <a:endParaRPr lang="fr-BE" dirty="0"/>
                    </a:p>
                  </a:txBody>
                  <a:tcPr/>
                </a:tc>
                <a:extLst>
                  <a:ext uri="{0D108BD9-81ED-4DB2-BD59-A6C34878D82A}">
                    <a16:rowId xmlns:a16="http://schemas.microsoft.com/office/drawing/2014/main" val="4105903020"/>
                  </a:ext>
                </a:extLst>
              </a:tr>
              <a:tr h="484206">
                <a:tc>
                  <a:txBody>
                    <a:bodyPr/>
                    <a:lstStyle/>
                    <a:p>
                      <a:r>
                        <a:rPr lang="fr-BE" sz="2600" dirty="0"/>
                        <a:t>01/60.B11..</a:t>
                      </a:r>
                    </a:p>
                  </a:txBody>
                  <a:tcPr/>
                </a:tc>
                <a:tc>
                  <a:txBody>
                    <a:bodyPr/>
                    <a:lstStyle/>
                    <a:p>
                      <a:r>
                        <a:rPr lang="fr-BE" sz="2600" dirty="0"/>
                        <a:t>15.12.2019</a:t>
                      </a:r>
                    </a:p>
                  </a:txBody>
                  <a:tcPr/>
                </a:tc>
                <a:tc>
                  <a:txBody>
                    <a:bodyPr/>
                    <a:lstStyle/>
                    <a:p>
                      <a:r>
                        <a:rPr lang="fr-BE" sz="2600" dirty="0"/>
                        <a:t>01/73.B11..</a:t>
                      </a:r>
                    </a:p>
                  </a:txBody>
                  <a:tcPr/>
                </a:tc>
                <a:tc>
                  <a:txBody>
                    <a:bodyPr/>
                    <a:lstStyle/>
                    <a:p>
                      <a:r>
                        <a:rPr lang="fr-BE" sz="2600" dirty="0"/>
                        <a:t>19.09.2018</a:t>
                      </a:r>
                    </a:p>
                  </a:txBody>
                  <a:tcPr/>
                </a:tc>
                <a:extLst>
                  <a:ext uri="{0D108BD9-81ED-4DB2-BD59-A6C34878D82A}">
                    <a16:rowId xmlns:a16="http://schemas.microsoft.com/office/drawing/2014/main" val="3236708744"/>
                  </a:ext>
                </a:extLst>
              </a:tr>
              <a:tr h="484206">
                <a:tc>
                  <a:txBody>
                    <a:bodyPr/>
                    <a:lstStyle/>
                    <a:p>
                      <a:r>
                        <a:rPr lang="fr-BE" sz="2600" dirty="0"/>
                        <a:t>01/60.B12..</a:t>
                      </a:r>
                    </a:p>
                  </a:txBody>
                  <a:tcPr/>
                </a:tc>
                <a:tc>
                  <a:txBody>
                    <a:bodyPr/>
                    <a:lstStyle/>
                    <a:p>
                      <a:r>
                        <a:rPr lang="fr-BE" sz="2600" dirty="0"/>
                        <a:t>15.03.2020</a:t>
                      </a:r>
                    </a:p>
                  </a:txBody>
                  <a:tcPr/>
                </a:tc>
                <a:tc>
                  <a:txBody>
                    <a:bodyPr/>
                    <a:lstStyle/>
                    <a:p>
                      <a:r>
                        <a:rPr lang="fr-BE" sz="2600" dirty="0"/>
                        <a:t>01/73.B12..</a:t>
                      </a:r>
                    </a:p>
                  </a:txBody>
                  <a:tcPr/>
                </a:tc>
                <a:tc>
                  <a:txBody>
                    <a:bodyPr/>
                    <a:lstStyle/>
                    <a:p>
                      <a:r>
                        <a:rPr lang="fr-BE" sz="2600" dirty="0"/>
                        <a:t>19.12.2018</a:t>
                      </a:r>
                    </a:p>
                  </a:txBody>
                  <a:tcPr/>
                </a:tc>
                <a:extLst>
                  <a:ext uri="{0D108BD9-81ED-4DB2-BD59-A6C34878D82A}">
                    <a16:rowId xmlns:a16="http://schemas.microsoft.com/office/drawing/2014/main" val="2438523756"/>
                  </a:ext>
                </a:extLst>
              </a:tr>
              <a:tr h="484206">
                <a:tc>
                  <a:txBody>
                    <a:bodyPr/>
                    <a:lstStyle/>
                    <a:p>
                      <a:r>
                        <a:rPr lang="fr-BE" sz="2600" dirty="0"/>
                        <a:t>01/60.B13..</a:t>
                      </a:r>
                    </a:p>
                  </a:txBody>
                  <a:tcPr/>
                </a:tc>
                <a:tc>
                  <a:txBody>
                    <a:bodyPr/>
                    <a:lstStyle/>
                    <a:p>
                      <a:r>
                        <a:rPr lang="fr-BE" sz="2600" dirty="0"/>
                        <a:t>15.06.2020</a:t>
                      </a:r>
                    </a:p>
                  </a:txBody>
                  <a:tcPr/>
                </a:tc>
                <a:tc>
                  <a:txBody>
                    <a:bodyPr/>
                    <a:lstStyle/>
                    <a:p>
                      <a:r>
                        <a:rPr lang="fr-BE" sz="2600" dirty="0"/>
                        <a:t>01/73.B13..</a:t>
                      </a:r>
                    </a:p>
                  </a:txBody>
                  <a:tcPr/>
                </a:tc>
                <a:tc>
                  <a:txBody>
                    <a:bodyPr/>
                    <a:lstStyle/>
                    <a:p>
                      <a:r>
                        <a:rPr lang="fr-BE" sz="2600" dirty="0"/>
                        <a:t>19.03.2019</a:t>
                      </a:r>
                    </a:p>
                  </a:txBody>
                  <a:tcPr/>
                </a:tc>
                <a:extLst>
                  <a:ext uri="{0D108BD9-81ED-4DB2-BD59-A6C34878D82A}">
                    <a16:rowId xmlns:a16="http://schemas.microsoft.com/office/drawing/2014/main" val="1524680760"/>
                  </a:ext>
                </a:extLst>
              </a:tr>
              <a:tr h="484206">
                <a:tc>
                  <a:txBody>
                    <a:bodyPr/>
                    <a:lstStyle/>
                    <a:p>
                      <a:r>
                        <a:rPr lang="fr-BE" sz="2600" dirty="0"/>
                        <a:t>01/60.B2A..</a:t>
                      </a:r>
                    </a:p>
                  </a:txBody>
                  <a:tcPr/>
                </a:tc>
                <a:tc>
                  <a:txBody>
                    <a:bodyPr/>
                    <a:lstStyle/>
                    <a:p>
                      <a:r>
                        <a:rPr lang="fr-BE" sz="2600" dirty="0"/>
                        <a:t>15.12.2020</a:t>
                      </a:r>
                    </a:p>
                  </a:txBody>
                  <a:tcPr/>
                </a:tc>
                <a:tc>
                  <a:txBody>
                    <a:bodyPr/>
                    <a:lstStyle/>
                    <a:p>
                      <a:r>
                        <a:rPr lang="fr-BE" sz="2600" dirty="0"/>
                        <a:t>01/73.B2A..</a:t>
                      </a:r>
                    </a:p>
                  </a:txBody>
                  <a:tcPr/>
                </a:tc>
                <a:tc>
                  <a:txBody>
                    <a:bodyPr/>
                    <a:lstStyle/>
                    <a:p>
                      <a:r>
                        <a:rPr lang="fr-BE" sz="2600" dirty="0"/>
                        <a:t>19.09.2019</a:t>
                      </a:r>
                    </a:p>
                  </a:txBody>
                  <a:tcPr/>
                </a:tc>
                <a:extLst>
                  <a:ext uri="{0D108BD9-81ED-4DB2-BD59-A6C34878D82A}">
                    <a16:rowId xmlns:a16="http://schemas.microsoft.com/office/drawing/2014/main" val="187540817"/>
                  </a:ext>
                </a:extLst>
              </a:tr>
              <a:tr h="484206">
                <a:tc>
                  <a:txBody>
                    <a:bodyPr/>
                    <a:lstStyle/>
                    <a:p>
                      <a:r>
                        <a:rPr lang="fr-BE" sz="2600" dirty="0"/>
                        <a:t>01/60.B2B..</a:t>
                      </a:r>
                    </a:p>
                  </a:txBody>
                  <a:tcPr/>
                </a:tc>
                <a:tc>
                  <a:txBody>
                    <a:bodyPr/>
                    <a:lstStyle/>
                    <a:p>
                      <a:r>
                        <a:rPr lang="fr-BE" sz="2600" dirty="0"/>
                        <a:t>15.02.2021</a:t>
                      </a:r>
                    </a:p>
                  </a:txBody>
                  <a:tcPr/>
                </a:tc>
                <a:tc>
                  <a:txBody>
                    <a:bodyPr/>
                    <a:lstStyle/>
                    <a:p>
                      <a:r>
                        <a:rPr lang="fr-BE" sz="2600" dirty="0"/>
                        <a:t>01/73.B2B..</a:t>
                      </a:r>
                    </a:p>
                  </a:txBody>
                  <a:tcPr/>
                </a:tc>
                <a:tc>
                  <a:txBody>
                    <a:bodyPr/>
                    <a:lstStyle/>
                    <a:p>
                      <a:r>
                        <a:rPr lang="fr-BE" sz="2600" dirty="0"/>
                        <a:t>19.11.2019</a:t>
                      </a:r>
                    </a:p>
                  </a:txBody>
                  <a:tcPr/>
                </a:tc>
                <a:extLst>
                  <a:ext uri="{0D108BD9-81ED-4DB2-BD59-A6C34878D82A}">
                    <a16:rowId xmlns:a16="http://schemas.microsoft.com/office/drawing/2014/main" val="2822173673"/>
                  </a:ext>
                </a:extLst>
              </a:tr>
              <a:tr h="484206">
                <a:tc>
                  <a:txBody>
                    <a:bodyPr/>
                    <a:lstStyle/>
                    <a:p>
                      <a:r>
                        <a:rPr lang="fr-BE" sz="2600" dirty="0"/>
                        <a:t>01/60.BF..</a:t>
                      </a:r>
                    </a:p>
                  </a:txBody>
                  <a:tcPr/>
                </a:tc>
                <a:tc>
                  <a:txBody>
                    <a:bodyPr/>
                    <a:lstStyle/>
                    <a:p>
                      <a:r>
                        <a:rPr lang="fr-BE" sz="2600" dirty="0"/>
                        <a:t>15.10.2021</a:t>
                      </a:r>
                    </a:p>
                  </a:txBody>
                  <a:tcPr/>
                </a:tc>
                <a:tc>
                  <a:txBody>
                    <a:bodyPr/>
                    <a:lstStyle/>
                    <a:p>
                      <a:r>
                        <a:rPr lang="fr-BE" sz="2600" dirty="0"/>
                        <a:t>01/73.BF..</a:t>
                      </a:r>
                    </a:p>
                  </a:txBody>
                  <a:tcPr/>
                </a:tc>
                <a:tc>
                  <a:txBody>
                    <a:bodyPr/>
                    <a:lstStyle/>
                    <a:p>
                      <a:r>
                        <a:rPr lang="fr-BE" sz="2600" dirty="0"/>
                        <a:t>19.01.2020</a:t>
                      </a:r>
                    </a:p>
                  </a:txBody>
                  <a:tcPr/>
                </a:tc>
                <a:extLst>
                  <a:ext uri="{0D108BD9-81ED-4DB2-BD59-A6C34878D82A}">
                    <a16:rowId xmlns:a16="http://schemas.microsoft.com/office/drawing/2014/main" val="1210284433"/>
                  </a:ext>
                </a:extLst>
              </a:tr>
            </a:tbl>
          </a:graphicData>
        </a:graphic>
      </p:graphicFrame>
      <p:sp>
        <p:nvSpPr>
          <p:cNvPr id="4" name="Espace réservé du numéro de diapositive 3">
            <a:extLst>
              <a:ext uri="{FF2B5EF4-FFF2-40B4-BE49-F238E27FC236}">
                <a16:creationId xmlns:a16="http://schemas.microsoft.com/office/drawing/2014/main" id="{F4CBEDFA-C00E-4BB8-B163-FD58A40942C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ZoneTexte 2">
            <a:extLst>
              <a:ext uri="{FF2B5EF4-FFF2-40B4-BE49-F238E27FC236}">
                <a16:creationId xmlns:a16="http://schemas.microsoft.com/office/drawing/2014/main" id="{861B656C-46BC-43AA-A78E-A9A63E23A752}"/>
              </a:ext>
            </a:extLst>
          </p:cNvPr>
          <p:cNvSpPr txBox="1"/>
          <p:nvPr/>
        </p:nvSpPr>
        <p:spPr>
          <a:xfrm>
            <a:off x="179512" y="1196752"/>
            <a:ext cx="8784976" cy="13388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2700" b="0" i="0" u="none" strike="noStrike" kern="1200" cap="none" spc="0" normalizeH="0" baseline="0" noProof="0" dirty="0">
                <a:ln>
                  <a:noFill/>
                </a:ln>
                <a:solidFill>
                  <a:prstClr val="black"/>
                </a:solidFill>
                <a:effectLst/>
                <a:uLnTx/>
                <a:uFillTx/>
                <a:latin typeface="Calibri"/>
                <a:ea typeface="+mn-ea"/>
                <a:cs typeface="+mn-cs"/>
              </a:rPr>
              <a:t>Dave &amp; Laure (conjoints) sont en chômage complet ,qui peux prétendre à une allocation majorée et joindre un C105 à sa carte de contrôle de </a:t>
            </a:r>
            <a:r>
              <a:rPr lang="fr-BE" sz="2700" dirty="0">
                <a:solidFill>
                  <a:prstClr val="black"/>
                </a:solidFill>
                <a:latin typeface="Calibri"/>
              </a:rPr>
              <a:t>10</a:t>
            </a:r>
            <a:r>
              <a:rPr kumimoji="0" lang="fr-BE" sz="2700" b="0" i="0" u="none" strike="noStrike" kern="1200" cap="none" spc="0" normalizeH="0" baseline="0" noProof="0" dirty="0">
                <a:ln>
                  <a:noFill/>
                </a:ln>
                <a:solidFill>
                  <a:prstClr val="black"/>
                </a:solidFill>
                <a:effectLst/>
                <a:uLnTx/>
                <a:uFillTx/>
                <a:latin typeface="Calibri"/>
                <a:ea typeface="+mn-ea"/>
                <a:cs typeface="+mn-cs"/>
              </a:rPr>
              <a:t>/2022 ?</a:t>
            </a:r>
          </a:p>
        </p:txBody>
      </p:sp>
      <p:sp>
        <p:nvSpPr>
          <p:cNvPr id="6" name="ZoneTexte 5">
            <a:extLst>
              <a:ext uri="{FF2B5EF4-FFF2-40B4-BE49-F238E27FC236}">
                <a16:creationId xmlns:a16="http://schemas.microsoft.com/office/drawing/2014/main" id="{0F1F42D8-09CC-4FB4-B2EE-50223D25C141}"/>
              </a:ext>
            </a:extLst>
          </p:cNvPr>
          <p:cNvSpPr txBox="1"/>
          <p:nvPr/>
        </p:nvSpPr>
        <p:spPr>
          <a:xfrm>
            <a:off x="4461846" y="6033184"/>
            <a:ext cx="4363797" cy="707886"/>
          </a:xfrm>
          <a:prstGeom prst="rect">
            <a:avLst/>
          </a:prstGeom>
          <a:noFill/>
        </p:spPr>
        <p:txBody>
          <a:bodyPr wrap="square" rtlCol="0">
            <a:spAutoFit/>
          </a:bodyPr>
          <a:lstStyle/>
          <a:p>
            <a:r>
              <a:rPr lang="fr-BE" sz="2000" b="1" dirty="0"/>
              <a:t>A partir du 17/10/2022 il est indemnisé</a:t>
            </a:r>
          </a:p>
          <a:p>
            <a:r>
              <a:rPr lang="fr-BE" sz="2000" b="1" dirty="0"/>
              <a:t>par la mutuelle = 297,50 €</a:t>
            </a:r>
          </a:p>
        </p:txBody>
      </p:sp>
    </p:spTree>
    <p:extLst>
      <p:ext uri="{BB962C8B-B14F-4D97-AF65-F5344CB8AC3E}">
        <p14:creationId xmlns:p14="http://schemas.microsoft.com/office/powerpoint/2010/main" val="3786441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036B64-022C-4654-BB21-780CF7533052}"/>
              </a:ext>
            </a:extLst>
          </p:cNvPr>
          <p:cNvSpPr>
            <a:spLocks noGrp="1"/>
          </p:cNvSpPr>
          <p:nvPr>
            <p:ph type="title"/>
          </p:nvPr>
        </p:nvSpPr>
        <p:spPr/>
        <p:txBody>
          <a:bodyPr/>
          <a:lstStyle/>
          <a:p>
            <a:pPr algn="r"/>
            <a:r>
              <a:rPr lang="fr-BE" b="1" i="1" dirty="0"/>
              <a:t>4.1. Solution exercice 6</a:t>
            </a:r>
          </a:p>
        </p:txBody>
      </p:sp>
      <p:sp>
        <p:nvSpPr>
          <p:cNvPr id="3" name="Espace réservé du contenu 2">
            <a:extLst>
              <a:ext uri="{FF2B5EF4-FFF2-40B4-BE49-F238E27FC236}">
                <a16:creationId xmlns:a16="http://schemas.microsoft.com/office/drawing/2014/main" id="{7032DF95-A260-4532-8D44-D11DAE2EC795}"/>
              </a:ext>
            </a:extLst>
          </p:cNvPr>
          <p:cNvSpPr>
            <a:spLocks noGrp="1"/>
          </p:cNvSpPr>
          <p:nvPr>
            <p:ph idx="1"/>
          </p:nvPr>
        </p:nvSpPr>
        <p:spPr/>
        <p:txBody>
          <a:bodyPr>
            <a:normAutofit/>
          </a:bodyPr>
          <a:lstStyle/>
          <a:p>
            <a:r>
              <a:rPr lang="fr-BE" dirty="0"/>
              <a:t>Les conjoints ne disposent que d’allocation de chômage pour le mois complet de 10/2022?</a:t>
            </a:r>
          </a:p>
          <a:p>
            <a:pPr marL="1279525" lvl="3" indent="-457200">
              <a:buFont typeface="Wingdings"/>
              <a:buChar char="è"/>
            </a:pPr>
            <a:r>
              <a:rPr lang="fr-BE" sz="3000" dirty="0">
                <a:solidFill>
                  <a:srgbClr val="C00000"/>
                </a:solidFill>
              </a:rPr>
              <a:t>PAS OK</a:t>
            </a:r>
          </a:p>
          <a:p>
            <a:pPr marL="0" indent="0">
              <a:buNone/>
            </a:pPr>
            <a:r>
              <a:rPr lang="fr-BE" dirty="0"/>
              <a:t>Dave perçoit au cours du mois de 10/2022 des allocations de mutuelle. Ni lui ni sa partenaire ne peuvent donc bénéficier de l’allocation majorée vu que ces allocations de mutuelles sont considérées comme revenus. </a:t>
            </a:r>
          </a:p>
        </p:txBody>
      </p:sp>
      <p:sp>
        <p:nvSpPr>
          <p:cNvPr id="4" name="Espace réservé du numéro de diapositive 3">
            <a:extLst>
              <a:ext uri="{FF2B5EF4-FFF2-40B4-BE49-F238E27FC236}">
                <a16:creationId xmlns:a16="http://schemas.microsoft.com/office/drawing/2014/main" id="{8D129ED8-405F-478D-A70A-D315F31CA4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793654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2C223D-DFDF-4DF8-A284-96204D047F88}"/>
              </a:ext>
            </a:extLst>
          </p:cNvPr>
          <p:cNvSpPr>
            <a:spLocks noGrp="1"/>
          </p:cNvSpPr>
          <p:nvPr>
            <p:ph type="title"/>
          </p:nvPr>
        </p:nvSpPr>
        <p:spPr/>
        <p:txBody>
          <a:bodyPr>
            <a:normAutofit/>
          </a:bodyPr>
          <a:lstStyle/>
          <a:p>
            <a:pPr algn="r"/>
            <a:r>
              <a:rPr lang="fr-BE" b="1" i="1" dirty="0"/>
              <a:t>4.1.Exercice 7</a:t>
            </a:r>
            <a:endParaRPr lang="fr-BE" dirty="0"/>
          </a:p>
        </p:txBody>
      </p:sp>
      <p:graphicFrame>
        <p:nvGraphicFramePr>
          <p:cNvPr id="5" name="Espace réservé du contenu 4">
            <a:extLst>
              <a:ext uri="{FF2B5EF4-FFF2-40B4-BE49-F238E27FC236}">
                <a16:creationId xmlns:a16="http://schemas.microsoft.com/office/drawing/2014/main" id="{4230EE83-45E8-441A-A94B-413E5820E1F6}"/>
              </a:ext>
            </a:extLst>
          </p:cNvPr>
          <p:cNvGraphicFramePr>
            <a:graphicFrameLocks noGrp="1"/>
          </p:cNvGraphicFramePr>
          <p:nvPr>
            <p:ph idx="1"/>
            <p:extLst>
              <p:ext uri="{D42A27DB-BD31-4B8C-83A1-F6EECF244321}">
                <p14:modId xmlns:p14="http://schemas.microsoft.com/office/powerpoint/2010/main" val="1730796015"/>
              </p:ext>
            </p:extLst>
          </p:nvPr>
        </p:nvGraphicFramePr>
        <p:xfrm>
          <a:off x="318356" y="2680231"/>
          <a:ext cx="8507288" cy="3485302"/>
        </p:xfrm>
        <a:graphic>
          <a:graphicData uri="http://schemas.openxmlformats.org/drawingml/2006/table">
            <a:tbl>
              <a:tblPr firstRow="1" bandRow="1">
                <a:tableStyleId>{F5AB1C69-6EDB-4FF4-983F-18BD219EF322}</a:tableStyleId>
              </a:tblPr>
              <a:tblGrid>
                <a:gridCol w="2126822">
                  <a:extLst>
                    <a:ext uri="{9D8B030D-6E8A-4147-A177-3AD203B41FA5}">
                      <a16:colId xmlns:a16="http://schemas.microsoft.com/office/drawing/2014/main" val="3312632992"/>
                    </a:ext>
                  </a:extLst>
                </a:gridCol>
                <a:gridCol w="2126822">
                  <a:extLst>
                    <a:ext uri="{9D8B030D-6E8A-4147-A177-3AD203B41FA5}">
                      <a16:colId xmlns:a16="http://schemas.microsoft.com/office/drawing/2014/main" val="1188377055"/>
                    </a:ext>
                  </a:extLst>
                </a:gridCol>
                <a:gridCol w="2126822">
                  <a:extLst>
                    <a:ext uri="{9D8B030D-6E8A-4147-A177-3AD203B41FA5}">
                      <a16:colId xmlns:a16="http://schemas.microsoft.com/office/drawing/2014/main" val="3096636479"/>
                    </a:ext>
                  </a:extLst>
                </a:gridCol>
                <a:gridCol w="2126822">
                  <a:extLst>
                    <a:ext uri="{9D8B030D-6E8A-4147-A177-3AD203B41FA5}">
                      <a16:colId xmlns:a16="http://schemas.microsoft.com/office/drawing/2014/main" val="1110429196"/>
                    </a:ext>
                  </a:extLst>
                </a:gridCol>
              </a:tblGrid>
              <a:tr h="559222">
                <a:tc gridSpan="2">
                  <a:txBody>
                    <a:bodyPr/>
                    <a:lstStyle/>
                    <a:p>
                      <a:pPr algn="ctr"/>
                      <a:r>
                        <a:rPr lang="fr-BE" sz="2600" dirty="0"/>
                        <a:t>cascade de Sarah: </a:t>
                      </a:r>
                    </a:p>
                  </a:txBody>
                  <a:tcPr/>
                </a:tc>
                <a:tc hMerge="1">
                  <a:txBody>
                    <a:bodyPr/>
                    <a:lstStyle/>
                    <a:p>
                      <a:endParaRPr lang="fr-BE"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600" dirty="0"/>
                        <a:t>Cascade de Marc:</a:t>
                      </a:r>
                    </a:p>
                  </a:txBody>
                  <a:tcPr/>
                </a:tc>
                <a:tc hMerge="1">
                  <a:txBody>
                    <a:bodyPr/>
                    <a:lstStyle/>
                    <a:p>
                      <a:endParaRPr lang="fr-BE" dirty="0"/>
                    </a:p>
                  </a:txBody>
                  <a:tcPr/>
                </a:tc>
                <a:extLst>
                  <a:ext uri="{0D108BD9-81ED-4DB2-BD59-A6C34878D82A}">
                    <a16:rowId xmlns:a16="http://schemas.microsoft.com/office/drawing/2014/main" val="4105903020"/>
                  </a:ext>
                </a:extLst>
              </a:tr>
              <a:tr h="484206">
                <a:tc>
                  <a:txBody>
                    <a:bodyPr/>
                    <a:lstStyle/>
                    <a:p>
                      <a:r>
                        <a:rPr lang="fr-BE" sz="2600" dirty="0"/>
                        <a:t>01/60.B11..</a:t>
                      </a:r>
                    </a:p>
                  </a:txBody>
                  <a:tcPr/>
                </a:tc>
                <a:tc>
                  <a:txBody>
                    <a:bodyPr/>
                    <a:lstStyle/>
                    <a:p>
                      <a:r>
                        <a:rPr lang="fr-BE" sz="2600" dirty="0"/>
                        <a:t>02.03.2022</a:t>
                      </a:r>
                    </a:p>
                  </a:txBody>
                  <a:tcPr/>
                </a:tc>
                <a:tc>
                  <a:txBody>
                    <a:bodyPr/>
                    <a:lstStyle/>
                    <a:p>
                      <a:r>
                        <a:rPr lang="fr-BE" sz="2600" dirty="0"/>
                        <a:t>01/68.B11..</a:t>
                      </a:r>
                    </a:p>
                  </a:txBody>
                  <a:tcPr/>
                </a:tc>
                <a:tc>
                  <a:txBody>
                    <a:bodyPr/>
                    <a:lstStyle/>
                    <a:p>
                      <a:r>
                        <a:rPr lang="fr-BE" sz="2600" dirty="0"/>
                        <a:t>19.09.2019</a:t>
                      </a:r>
                    </a:p>
                  </a:txBody>
                  <a:tcPr/>
                </a:tc>
                <a:extLst>
                  <a:ext uri="{0D108BD9-81ED-4DB2-BD59-A6C34878D82A}">
                    <a16:rowId xmlns:a16="http://schemas.microsoft.com/office/drawing/2014/main" val="3236708744"/>
                  </a:ext>
                </a:extLst>
              </a:tr>
              <a:tr h="484206">
                <a:tc>
                  <a:txBody>
                    <a:bodyPr/>
                    <a:lstStyle/>
                    <a:p>
                      <a:r>
                        <a:rPr lang="fr-BE" sz="2600" dirty="0"/>
                        <a:t>01/60.B12..</a:t>
                      </a:r>
                    </a:p>
                  </a:txBody>
                  <a:tcPr/>
                </a:tc>
                <a:tc>
                  <a:txBody>
                    <a:bodyPr/>
                    <a:lstStyle/>
                    <a:p>
                      <a:r>
                        <a:rPr lang="fr-BE" sz="2600" dirty="0"/>
                        <a:t>02.06.2022</a:t>
                      </a:r>
                    </a:p>
                  </a:txBody>
                  <a:tcPr/>
                </a:tc>
                <a:tc>
                  <a:txBody>
                    <a:bodyPr/>
                    <a:lstStyle/>
                    <a:p>
                      <a:r>
                        <a:rPr lang="fr-BE" sz="2600" dirty="0"/>
                        <a:t>01/68.B12..</a:t>
                      </a:r>
                    </a:p>
                  </a:txBody>
                  <a:tcPr/>
                </a:tc>
                <a:tc>
                  <a:txBody>
                    <a:bodyPr/>
                    <a:lstStyle/>
                    <a:p>
                      <a:r>
                        <a:rPr lang="fr-BE" sz="2600" dirty="0"/>
                        <a:t>19.12.2019</a:t>
                      </a:r>
                    </a:p>
                  </a:txBody>
                  <a:tcPr/>
                </a:tc>
                <a:extLst>
                  <a:ext uri="{0D108BD9-81ED-4DB2-BD59-A6C34878D82A}">
                    <a16:rowId xmlns:a16="http://schemas.microsoft.com/office/drawing/2014/main" val="2438523756"/>
                  </a:ext>
                </a:extLst>
              </a:tr>
              <a:tr h="484206">
                <a:tc>
                  <a:txBody>
                    <a:bodyPr/>
                    <a:lstStyle/>
                    <a:p>
                      <a:r>
                        <a:rPr lang="fr-BE" sz="2600" dirty="0"/>
                        <a:t>01/60.B13..</a:t>
                      </a:r>
                    </a:p>
                  </a:txBody>
                  <a:tcPr/>
                </a:tc>
                <a:tc>
                  <a:txBody>
                    <a:bodyPr/>
                    <a:lstStyle/>
                    <a:p>
                      <a:r>
                        <a:rPr lang="fr-BE" sz="2600" dirty="0"/>
                        <a:t>02.09.2022</a:t>
                      </a:r>
                    </a:p>
                  </a:txBody>
                  <a:tcPr/>
                </a:tc>
                <a:tc>
                  <a:txBody>
                    <a:bodyPr/>
                    <a:lstStyle/>
                    <a:p>
                      <a:r>
                        <a:rPr lang="fr-BE" sz="2600" dirty="0"/>
                        <a:t>01/68.B13..</a:t>
                      </a:r>
                    </a:p>
                  </a:txBody>
                  <a:tcPr/>
                </a:tc>
                <a:tc>
                  <a:txBody>
                    <a:bodyPr/>
                    <a:lstStyle/>
                    <a:p>
                      <a:r>
                        <a:rPr lang="fr-BE" sz="2600" dirty="0"/>
                        <a:t>19.03.2020</a:t>
                      </a:r>
                    </a:p>
                  </a:txBody>
                  <a:tcPr/>
                </a:tc>
                <a:extLst>
                  <a:ext uri="{0D108BD9-81ED-4DB2-BD59-A6C34878D82A}">
                    <a16:rowId xmlns:a16="http://schemas.microsoft.com/office/drawing/2014/main" val="1524680760"/>
                  </a:ext>
                </a:extLst>
              </a:tr>
              <a:tr h="484206">
                <a:tc>
                  <a:txBody>
                    <a:bodyPr/>
                    <a:lstStyle/>
                    <a:p>
                      <a:r>
                        <a:rPr lang="fr-BE" sz="2600" dirty="0"/>
                        <a:t>01/60.B2A..</a:t>
                      </a:r>
                    </a:p>
                  </a:txBody>
                  <a:tcPr/>
                </a:tc>
                <a:tc>
                  <a:txBody>
                    <a:bodyPr/>
                    <a:lstStyle/>
                    <a:p>
                      <a:r>
                        <a:rPr lang="fr-BE" sz="2600" dirty="0"/>
                        <a:t>02.03.2023</a:t>
                      </a:r>
                    </a:p>
                  </a:txBody>
                  <a:tcPr/>
                </a:tc>
                <a:tc>
                  <a:txBody>
                    <a:bodyPr/>
                    <a:lstStyle/>
                    <a:p>
                      <a:r>
                        <a:rPr lang="fr-BE" sz="2600" dirty="0"/>
                        <a:t>01/68.B2A..</a:t>
                      </a:r>
                    </a:p>
                  </a:txBody>
                  <a:tcPr/>
                </a:tc>
                <a:tc>
                  <a:txBody>
                    <a:bodyPr/>
                    <a:lstStyle/>
                    <a:p>
                      <a:r>
                        <a:rPr lang="fr-BE" sz="2600" dirty="0"/>
                        <a:t>19.09.2020</a:t>
                      </a:r>
                    </a:p>
                  </a:txBody>
                  <a:tcPr/>
                </a:tc>
                <a:extLst>
                  <a:ext uri="{0D108BD9-81ED-4DB2-BD59-A6C34878D82A}">
                    <a16:rowId xmlns:a16="http://schemas.microsoft.com/office/drawing/2014/main" val="187540817"/>
                  </a:ext>
                </a:extLst>
              </a:tr>
              <a:tr h="484206">
                <a:tc>
                  <a:txBody>
                    <a:bodyPr/>
                    <a:lstStyle/>
                    <a:p>
                      <a:r>
                        <a:rPr lang="fr-BE" sz="2600" dirty="0"/>
                        <a:t>01/60.B29..</a:t>
                      </a:r>
                    </a:p>
                  </a:txBody>
                  <a:tcPr/>
                </a:tc>
                <a:tc>
                  <a:txBody>
                    <a:bodyPr/>
                    <a:lstStyle/>
                    <a:p>
                      <a:r>
                        <a:rPr lang="fr-BE" sz="2600" dirty="0"/>
                        <a:t>02.05.2023</a:t>
                      </a:r>
                    </a:p>
                  </a:txBody>
                  <a:tcPr/>
                </a:tc>
                <a:tc>
                  <a:txBody>
                    <a:bodyPr/>
                    <a:lstStyle/>
                    <a:p>
                      <a:r>
                        <a:rPr lang="fr-BE" sz="2600" dirty="0"/>
                        <a:t>01/68.B2B..</a:t>
                      </a:r>
                    </a:p>
                  </a:txBody>
                  <a:tcPr/>
                </a:tc>
                <a:tc>
                  <a:txBody>
                    <a:bodyPr/>
                    <a:lstStyle/>
                    <a:p>
                      <a:r>
                        <a:rPr lang="fr-BE" sz="2600" dirty="0"/>
                        <a:t>19.11.2020</a:t>
                      </a:r>
                    </a:p>
                  </a:txBody>
                  <a:tcPr/>
                </a:tc>
                <a:extLst>
                  <a:ext uri="{0D108BD9-81ED-4DB2-BD59-A6C34878D82A}">
                    <a16:rowId xmlns:a16="http://schemas.microsoft.com/office/drawing/2014/main" val="2822173673"/>
                  </a:ext>
                </a:extLst>
              </a:tr>
              <a:tr h="484206">
                <a:tc>
                  <a:txBody>
                    <a:bodyPr/>
                    <a:lstStyle/>
                    <a:p>
                      <a:endParaRPr lang="fr-BE" sz="2600" dirty="0"/>
                    </a:p>
                  </a:txBody>
                  <a:tcPr/>
                </a:tc>
                <a:tc>
                  <a:txBody>
                    <a:bodyPr/>
                    <a:lstStyle/>
                    <a:p>
                      <a:endParaRPr lang="fr-BE" sz="2600" dirty="0"/>
                    </a:p>
                  </a:txBody>
                  <a:tcPr/>
                </a:tc>
                <a:tc>
                  <a:txBody>
                    <a:bodyPr/>
                    <a:lstStyle/>
                    <a:p>
                      <a:r>
                        <a:rPr lang="fr-BE" sz="2600" dirty="0"/>
                        <a:t>01/68.BF..</a:t>
                      </a:r>
                    </a:p>
                  </a:txBody>
                  <a:tcPr/>
                </a:tc>
                <a:tc>
                  <a:txBody>
                    <a:bodyPr/>
                    <a:lstStyle/>
                    <a:p>
                      <a:r>
                        <a:rPr lang="fr-BE" sz="2600" dirty="0"/>
                        <a:t>19.01.2021</a:t>
                      </a:r>
                    </a:p>
                  </a:txBody>
                  <a:tcPr/>
                </a:tc>
                <a:extLst>
                  <a:ext uri="{0D108BD9-81ED-4DB2-BD59-A6C34878D82A}">
                    <a16:rowId xmlns:a16="http://schemas.microsoft.com/office/drawing/2014/main" val="1210284433"/>
                  </a:ext>
                </a:extLst>
              </a:tr>
            </a:tbl>
          </a:graphicData>
        </a:graphic>
      </p:graphicFrame>
      <p:sp>
        <p:nvSpPr>
          <p:cNvPr id="4" name="Espace réservé du numéro de diapositive 3">
            <a:extLst>
              <a:ext uri="{FF2B5EF4-FFF2-40B4-BE49-F238E27FC236}">
                <a16:creationId xmlns:a16="http://schemas.microsoft.com/office/drawing/2014/main" id="{F4CBEDFA-C00E-4BB8-B163-FD58A40942C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ZoneTexte 2">
            <a:extLst>
              <a:ext uri="{FF2B5EF4-FFF2-40B4-BE49-F238E27FC236}">
                <a16:creationId xmlns:a16="http://schemas.microsoft.com/office/drawing/2014/main" id="{861B656C-46BC-43AA-A78E-A9A63E23A752}"/>
              </a:ext>
            </a:extLst>
          </p:cNvPr>
          <p:cNvSpPr txBox="1"/>
          <p:nvPr/>
        </p:nvSpPr>
        <p:spPr>
          <a:xfrm>
            <a:off x="179512" y="1196752"/>
            <a:ext cx="8784976" cy="12926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2600" b="0" i="0" u="none" strike="noStrike" kern="1200" cap="none" spc="0" normalizeH="0" baseline="0" noProof="0" dirty="0">
                <a:ln>
                  <a:noFill/>
                </a:ln>
                <a:solidFill>
                  <a:prstClr val="black"/>
                </a:solidFill>
                <a:effectLst/>
                <a:uLnTx/>
                <a:uFillTx/>
                <a:latin typeface="Calibri"/>
                <a:ea typeface="+mn-ea"/>
                <a:cs typeface="+mn-cs"/>
              </a:rPr>
              <a:t>Marc</a:t>
            </a:r>
            <a:r>
              <a:rPr kumimoji="0" lang="fr-BE" sz="2600" b="0" i="0" u="none" strike="noStrike" kern="1200" cap="none" spc="0" normalizeH="0" noProof="0" dirty="0">
                <a:ln>
                  <a:noFill/>
                </a:ln>
                <a:solidFill>
                  <a:prstClr val="black"/>
                </a:solidFill>
                <a:effectLst/>
                <a:uLnTx/>
                <a:uFillTx/>
                <a:latin typeface="Calibri"/>
                <a:ea typeface="+mn-ea"/>
                <a:cs typeface="+mn-cs"/>
              </a:rPr>
              <a:t> et Sarah </a:t>
            </a:r>
            <a:r>
              <a:rPr kumimoji="0" lang="fr-BE" sz="2600" b="0" i="0" u="none" strike="noStrike" kern="1200" cap="none" spc="0" normalizeH="0" baseline="0" noProof="0" dirty="0">
                <a:ln>
                  <a:noFill/>
                </a:ln>
                <a:solidFill>
                  <a:prstClr val="black"/>
                </a:solidFill>
                <a:effectLst/>
                <a:uLnTx/>
                <a:uFillTx/>
                <a:latin typeface="Calibri"/>
                <a:ea typeface="+mn-ea"/>
                <a:cs typeface="+mn-cs"/>
              </a:rPr>
              <a:t>(partenaires) sont en chômage complet tout le mois de </a:t>
            </a:r>
            <a:r>
              <a:rPr lang="fr-BE" sz="2600" dirty="0">
                <a:solidFill>
                  <a:prstClr val="black"/>
                </a:solidFill>
                <a:latin typeface="Calibri"/>
              </a:rPr>
              <a:t>10</a:t>
            </a:r>
            <a:r>
              <a:rPr kumimoji="0" lang="fr-BE" sz="2600" b="0" i="0" u="none" strike="noStrike" kern="1200" cap="none" spc="0" normalizeH="0" baseline="0" noProof="0" dirty="0">
                <a:ln>
                  <a:noFill/>
                </a:ln>
                <a:solidFill>
                  <a:prstClr val="black"/>
                </a:solidFill>
                <a:effectLst/>
                <a:uLnTx/>
                <a:uFillTx/>
                <a:latin typeface="Calibri"/>
                <a:ea typeface="+mn-ea"/>
                <a:cs typeface="+mn-cs"/>
              </a:rPr>
              <a:t>/2022 ,qui peux prétendre à une allocation majorée et joindre un C105 à sa carte de contrôle de </a:t>
            </a:r>
            <a:r>
              <a:rPr lang="fr-BE" sz="2600" dirty="0">
                <a:solidFill>
                  <a:prstClr val="black"/>
                </a:solidFill>
                <a:latin typeface="Calibri"/>
              </a:rPr>
              <a:t>10</a:t>
            </a:r>
            <a:r>
              <a:rPr kumimoji="0" lang="fr-BE" sz="2600" b="0" i="0" u="none" strike="noStrike" kern="1200" cap="none" spc="0" normalizeH="0" baseline="0" noProof="0" dirty="0">
                <a:ln>
                  <a:noFill/>
                </a:ln>
                <a:solidFill>
                  <a:prstClr val="black"/>
                </a:solidFill>
                <a:effectLst/>
                <a:uLnTx/>
                <a:uFillTx/>
                <a:latin typeface="Calibri"/>
                <a:ea typeface="+mn-ea"/>
                <a:cs typeface="+mn-cs"/>
              </a:rPr>
              <a:t>/2022 ?</a:t>
            </a:r>
          </a:p>
        </p:txBody>
      </p:sp>
    </p:spTree>
    <p:extLst>
      <p:ext uri="{BB962C8B-B14F-4D97-AF65-F5344CB8AC3E}">
        <p14:creationId xmlns:p14="http://schemas.microsoft.com/office/powerpoint/2010/main" val="3207032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036B64-022C-4654-BB21-780CF7533052}"/>
              </a:ext>
            </a:extLst>
          </p:cNvPr>
          <p:cNvSpPr>
            <a:spLocks noGrp="1"/>
          </p:cNvSpPr>
          <p:nvPr>
            <p:ph type="title"/>
          </p:nvPr>
        </p:nvSpPr>
        <p:spPr/>
        <p:txBody>
          <a:bodyPr/>
          <a:lstStyle/>
          <a:p>
            <a:pPr algn="r"/>
            <a:r>
              <a:rPr lang="fr-BE" b="1" i="1" dirty="0"/>
              <a:t>4.1. Solution exercice 7</a:t>
            </a:r>
          </a:p>
        </p:txBody>
      </p:sp>
      <p:sp>
        <p:nvSpPr>
          <p:cNvPr id="3" name="Espace réservé du contenu 2">
            <a:extLst>
              <a:ext uri="{FF2B5EF4-FFF2-40B4-BE49-F238E27FC236}">
                <a16:creationId xmlns:a16="http://schemas.microsoft.com/office/drawing/2014/main" id="{7032DF95-A260-4532-8D44-D11DAE2EC795}"/>
              </a:ext>
            </a:extLst>
          </p:cNvPr>
          <p:cNvSpPr>
            <a:spLocks noGrp="1"/>
          </p:cNvSpPr>
          <p:nvPr>
            <p:ph idx="1"/>
          </p:nvPr>
        </p:nvSpPr>
        <p:spPr/>
        <p:txBody>
          <a:bodyPr>
            <a:normAutofit/>
          </a:bodyPr>
          <a:lstStyle/>
          <a:p>
            <a:r>
              <a:rPr lang="fr-BE" sz="3000" dirty="0"/>
              <a:t>Les partenaires ne disposent que d’allocation de chômage pour le mois complet de 10/2022?</a:t>
            </a:r>
          </a:p>
          <a:p>
            <a:pPr marL="1279525" lvl="3" indent="-457200">
              <a:buFont typeface="Wingdings"/>
              <a:buChar char="è"/>
            </a:pPr>
            <a:r>
              <a:rPr lang="fr-BE" sz="2800" dirty="0">
                <a:solidFill>
                  <a:srgbClr val="C00000"/>
                </a:solidFill>
              </a:rPr>
              <a:t>OK</a:t>
            </a:r>
          </a:p>
          <a:p>
            <a:pPr lvl="0"/>
            <a:r>
              <a:rPr lang="fr-BE" sz="3000" dirty="0">
                <a:solidFill>
                  <a:prstClr val="black"/>
                </a:solidFill>
              </a:rPr>
              <a:t>le taux journalier de chacun ne dépasse pas le taux correspondant au code 01/78.B2A (42,03€) ?</a:t>
            </a:r>
          </a:p>
          <a:p>
            <a:pPr marL="1279525" lvl="3" indent="-457200">
              <a:buFont typeface="Wingdings"/>
              <a:buChar char="è"/>
            </a:pPr>
            <a:r>
              <a:rPr lang="fr-BE" sz="2800" dirty="0">
                <a:solidFill>
                  <a:srgbClr val="C00000"/>
                </a:solidFill>
              </a:rPr>
              <a:t>NOT OK </a:t>
            </a:r>
            <a:r>
              <a:rPr lang="fr-BE" sz="2600" dirty="0"/>
              <a:t>car Sarah dispose d’un taux journalier </a:t>
            </a:r>
            <a:r>
              <a:rPr lang="fr-BE" sz="2600"/>
              <a:t>de 67,46€</a:t>
            </a:r>
            <a:endParaRPr lang="fr-BE" sz="2600" dirty="0"/>
          </a:p>
          <a:p>
            <a:pPr marL="1279525" lvl="3" indent="-457200">
              <a:buFont typeface="Wingdings"/>
              <a:buChar char="è"/>
            </a:pPr>
            <a:r>
              <a:rPr lang="fr-BE" sz="2600" dirty="0"/>
              <a:t>Ni Marc ni Sarah ne peuvent donc bénéficier de l’allocation majorée.</a:t>
            </a:r>
          </a:p>
          <a:p>
            <a:pPr marL="822325" lvl="3" indent="0">
              <a:buNone/>
            </a:pPr>
            <a:endParaRPr lang="fr-BE" sz="3000" dirty="0">
              <a:solidFill>
                <a:srgbClr val="C00000"/>
              </a:solidFill>
            </a:endParaRPr>
          </a:p>
        </p:txBody>
      </p:sp>
      <p:sp>
        <p:nvSpPr>
          <p:cNvPr id="4" name="Espace réservé du numéro de diapositive 3">
            <a:extLst>
              <a:ext uri="{FF2B5EF4-FFF2-40B4-BE49-F238E27FC236}">
                <a16:creationId xmlns:a16="http://schemas.microsoft.com/office/drawing/2014/main" id="{8D129ED8-405F-478D-A70A-D315F31CA4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67398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ep 43"/>
          <p:cNvGrpSpPr/>
          <p:nvPr/>
        </p:nvGrpSpPr>
        <p:grpSpPr>
          <a:xfrm>
            <a:off x="642910" y="2060848"/>
            <a:ext cx="8286808" cy="1073510"/>
            <a:chOff x="642910" y="3429000"/>
            <a:chExt cx="8286808" cy="717578"/>
          </a:xfrm>
        </p:grpSpPr>
        <p:cxnSp>
          <p:nvCxnSpPr>
            <p:cNvPr id="30" name="Rechte verbindingslijn 29"/>
            <p:cNvCxnSpPr/>
            <p:nvPr/>
          </p:nvCxnSpPr>
          <p:spPr>
            <a:xfrm rot="5400000" flipH="1" flipV="1">
              <a:off x="500034" y="4000504"/>
              <a:ext cx="2857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Groep 36"/>
            <p:cNvGrpSpPr/>
            <p:nvPr/>
          </p:nvGrpSpPr>
          <p:grpSpPr>
            <a:xfrm>
              <a:off x="642910" y="3429000"/>
              <a:ext cx="8286808" cy="717578"/>
              <a:chOff x="642910" y="3429000"/>
              <a:chExt cx="8286808" cy="717578"/>
            </a:xfrm>
          </p:grpSpPr>
          <p:grpSp>
            <p:nvGrpSpPr>
              <p:cNvPr id="35" name="Groep 34"/>
              <p:cNvGrpSpPr/>
              <p:nvPr/>
            </p:nvGrpSpPr>
            <p:grpSpPr>
              <a:xfrm>
                <a:off x="642910" y="3857628"/>
                <a:ext cx="8143932" cy="288950"/>
                <a:chOff x="642910" y="3857628"/>
                <a:chExt cx="8143932" cy="288950"/>
              </a:xfrm>
            </p:grpSpPr>
            <p:cxnSp>
              <p:nvCxnSpPr>
                <p:cNvPr id="31" name="Rechte verbindingslijn 30"/>
                <p:cNvCxnSpPr/>
                <p:nvPr/>
              </p:nvCxnSpPr>
              <p:spPr>
                <a:xfrm rot="5400000" flipH="1" flipV="1">
                  <a:off x="2670470" y="400370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Rechte verbindingslijn 31"/>
                <p:cNvCxnSpPr/>
                <p:nvPr/>
              </p:nvCxnSpPr>
              <p:spPr>
                <a:xfrm rot="5400000" flipH="1" flipV="1">
                  <a:off x="7756216" y="4002776"/>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Rechte verbindingslijn 33"/>
                <p:cNvCxnSpPr/>
                <p:nvPr/>
              </p:nvCxnSpPr>
              <p:spPr>
                <a:xfrm>
                  <a:off x="642910" y="3857628"/>
                  <a:ext cx="814393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8" name="Tekstvak 37"/>
              <p:cNvSpPr txBox="1"/>
              <p:nvPr/>
            </p:nvSpPr>
            <p:spPr>
              <a:xfrm>
                <a:off x="714348" y="3429000"/>
                <a:ext cx="2000264" cy="369332"/>
              </a:xfrm>
              <a:prstGeom prst="rect">
                <a:avLst/>
              </a:prstGeom>
              <a:noFill/>
            </p:spPr>
            <p:txBody>
              <a:bodyPr wrap="square" rtlCol="0">
                <a:spAutoFit/>
              </a:bodyPr>
              <a:lstStyle/>
              <a:p>
                <a:pPr algn="ctr"/>
                <a:r>
                  <a:rPr lang="nl-BE" b="1" dirty="0"/>
                  <a:t>PERIODE 1</a:t>
                </a:r>
                <a:endParaRPr lang="en-US" b="1" dirty="0"/>
              </a:p>
            </p:txBody>
          </p:sp>
          <p:sp>
            <p:nvSpPr>
              <p:cNvPr id="39" name="Tekstvak 38"/>
              <p:cNvSpPr txBox="1"/>
              <p:nvPr/>
            </p:nvSpPr>
            <p:spPr>
              <a:xfrm>
                <a:off x="2857488" y="3429000"/>
                <a:ext cx="4929222" cy="369332"/>
              </a:xfrm>
              <a:prstGeom prst="rect">
                <a:avLst/>
              </a:prstGeom>
              <a:noFill/>
            </p:spPr>
            <p:txBody>
              <a:bodyPr wrap="square" rtlCol="0">
                <a:spAutoFit/>
              </a:bodyPr>
              <a:lstStyle/>
              <a:p>
                <a:pPr algn="ctr"/>
                <a:r>
                  <a:rPr lang="nl-BE" b="1" dirty="0"/>
                  <a:t>PERIODE 2</a:t>
                </a:r>
                <a:endParaRPr lang="en-US" b="1" dirty="0"/>
              </a:p>
            </p:txBody>
          </p:sp>
          <p:sp>
            <p:nvSpPr>
              <p:cNvPr id="40" name="Tekstvak 39"/>
              <p:cNvSpPr txBox="1"/>
              <p:nvPr/>
            </p:nvSpPr>
            <p:spPr>
              <a:xfrm>
                <a:off x="7929586" y="3429000"/>
                <a:ext cx="1000132" cy="307777"/>
              </a:xfrm>
              <a:prstGeom prst="rect">
                <a:avLst/>
              </a:prstGeom>
              <a:noFill/>
            </p:spPr>
            <p:txBody>
              <a:bodyPr wrap="square" rtlCol="0">
                <a:spAutoFit/>
              </a:bodyPr>
              <a:lstStyle/>
              <a:p>
                <a:r>
                  <a:rPr lang="nl-BE" sz="1400" b="1" dirty="0"/>
                  <a:t>PERIODE 3</a:t>
                </a:r>
                <a:endParaRPr lang="en-US" sz="1400" b="1" dirty="0"/>
              </a:p>
            </p:txBody>
          </p:sp>
        </p:grpSp>
      </p:grpSp>
      <p:sp>
        <p:nvSpPr>
          <p:cNvPr id="19" name="Tekstvak 18"/>
          <p:cNvSpPr txBox="1"/>
          <p:nvPr/>
        </p:nvSpPr>
        <p:spPr>
          <a:xfrm>
            <a:off x="3361859" y="375219"/>
            <a:ext cx="4357718" cy="769441"/>
          </a:xfrm>
          <a:prstGeom prst="rect">
            <a:avLst/>
          </a:prstGeom>
          <a:noFill/>
        </p:spPr>
        <p:txBody>
          <a:bodyPr wrap="square" rtlCol="0">
            <a:spAutoFit/>
          </a:bodyPr>
          <a:lstStyle/>
          <a:p>
            <a:r>
              <a:rPr lang="nl-BE" sz="4400" b="1" i="1" dirty="0"/>
              <a:t>Solution 1</a:t>
            </a:r>
            <a:endParaRPr lang="en-US" sz="4400" b="1" i="1" dirty="0"/>
          </a:p>
        </p:txBody>
      </p:sp>
      <p:sp>
        <p:nvSpPr>
          <p:cNvPr id="21" name="Tekstvak 20"/>
          <p:cNvSpPr txBox="1"/>
          <p:nvPr/>
        </p:nvSpPr>
        <p:spPr>
          <a:xfrm>
            <a:off x="824308" y="1357298"/>
            <a:ext cx="7072362" cy="523220"/>
          </a:xfrm>
          <a:prstGeom prst="rect">
            <a:avLst/>
          </a:prstGeom>
          <a:noFill/>
        </p:spPr>
        <p:txBody>
          <a:bodyPr wrap="square" rtlCol="0">
            <a:spAutoFit/>
          </a:bodyPr>
          <a:lstStyle/>
          <a:p>
            <a:r>
              <a:rPr lang="nl-BE" sz="2800" dirty="0"/>
              <a:t>Le chômeur justifie 2 ans de PP</a:t>
            </a:r>
            <a:r>
              <a:rPr lang="nl-BE" dirty="0"/>
              <a:t>.</a:t>
            </a:r>
            <a:endParaRPr lang="en-US" dirty="0"/>
          </a:p>
        </p:txBody>
      </p:sp>
      <p:sp>
        <p:nvSpPr>
          <p:cNvPr id="25" name="Tekstvak 24"/>
          <p:cNvSpPr txBox="1"/>
          <p:nvPr/>
        </p:nvSpPr>
        <p:spPr>
          <a:xfrm>
            <a:off x="2791043" y="4136045"/>
            <a:ext cx="500066" cy="338554"/>
          </a:xfrm>
          <a:prstGeom prst="rect">
            <a:avLst/>
          </a:prstGeom>
          <a:noFill/>
        </p:spPr>
        <p:txBody>
          <a:bodyPr wrap="square" rtlCol="0">
            <a:spAutoFit/>
          </a:bodyPr>
          <a:lstStyle/>
          <a:p>
            <a:r>
              <a:rPr lang="nl-BE" sz="1600" dirty="0"/>
              <a:t>2 m</a:t>
            </a:r>
            <a:endParaRPr lang="en-US" sz="1600" dirty="0"/>
          </a:p>
        </p:txBody>
      </p:sp>
      <p:sp>
        <p:nvSpPr>
          <p:cNvPr id="26" name="Tekstvak 25"/>
          <p:cNvSpPr txBox="1"/>
          <p:nvPr/>
        </p:nvSpPr>
        <p:spPr>
          <a:xfrm>
            <a:off x="3267182" y="4136045"/>
            <a:ext cx="4214842" cy="338554"/>
          </a:xfrm>
          <a:prstGeom prst="rect">
            <a:avLst/>
          </a:prstGeom>
          <a:noFill/>
        </p:spPr>
        <p:txBody>
          <a:bodyPr wrap="square" rtlCol="0">
            <a:spAutoFit/>
          </a:bodyPr>
          <a:lstStyle/>
          <a:p>
            <a:pPr algn="ctr"/>
            <a:r>
              <a:rPr lang="nl-BE" sz="1600" dirty="0"/>
              <a:t>4 mois (2 mois x 2 ans)</a:t>
            </a:r>
            <a:endParaRPr lang="en-US" sz="1600" dirty="0"/>
          </a:p>
        </p:txBody>
      </p:sp>
      <p:grpSp>
        <p:nvGrpSpPr>
          <p:cNvPr id="43" name="Groep 42"/>
          <p:cNvGrpSpPr/>
          <p:nvPr/>
        </p:nvGrpSpPr>
        <p:grpSpPr>
          <a:xfrm>
            <a:off x="621688" y="3284984"/>
            <a:ext cx="2164362" cy="1625578"/>
            <a:chOff x="621688" y="4214818"/>
            <a:chExt cx="2164362" cy="695744"/>
          </a:xfrm>
        </p:grpSpPr>
        <p:sp>
          <p:nvSpPr>
            <p:cNvPr id="23" name="Tekstvak 22"/>
            <p:cNvSpPr txBox="1"/>
            <p:nvPr/>
          </p:nvSpPr>
          <p:spPr>
            <a:xfrm>
              <a:off x="1214414" y="4572008"/>
              <a:ext cx="500066" cy="338554"/>
            </a:xfrm>
            <a:prstGeom prst="rect">
              <a:avLst/>
            </a:prstGeom>
            <a:noFill/>
          </p:spPr>
          <p:txBody>
            <a:bodyPr wrap="square" rtlCol="0">
              <a:spAutoFit/>
            </a:bodyPr>
            <a:lstStyle/>
            <a:p>
              <a:r>
                <a:rPr lang="nl-BE" sz="1600" dirty="0"/>
                <a:t>3 m</a:t>
              </a:r>
              <a:endParaRPr lang="en-US" sz="1600" dirty="0"/>
            </a:p>
          </p:txBody>
        </p:sp>
        <p:grpSp>
          <p:nvGrpSpPr>
            <p:cNvPr id="36" name="Groep 35"/>
            <p:cNvGrpSpPr/>
            <p:nvPr/>
          </p:nvGrpSpPr>
          <p:grpSpPr>
            <a:xfrm>
              <a:off x="621688" y="4214818"/>
              <a:ext cx="2164362" cy="695744"/>
              <a:chOff x="621688" y="4214818"/>
              <a:chExt cx="2164362" cy="695744"/>
            </a:xfrm>
          </p:grpSpPr>
          <p:sp>
            <p:nvSpPr>
              <p:cNvPr id="22" name="Tekstvak 21"/>
              <p:cNvSpPr txBox="1"/>
              <p:nvPr/>
            </p:nvSpPr>
            <p:spPr>
              <a:xfrm>
                <a:off x="642910" y="4572008"/>
                <a:ext cx="500066" cy="338554"/>
              </a:xfrm>
              <a:prstGeom prst="rect">
                <a:avLst/>
              </a:prstGeom>
              <a:noFill/>
            </p:spPr>
            <p:txBody>
              <a:bodyPr wrap="square" rtlCol="0">
                <a:spAutoFit/>
              </a:bodyPr>
              <a:lstStyle/>
              <a:p>
                <a:r>
                  <a:rPr lang="nl-BE" sz="1600" dirty="0"/>
                  <a:t>3 m</a:t>
                </a:r>
                <a:endParaRPr lang="en-US" sz="1600" dirty="0"/>
              </a:p>
            </p:txBody>
          </p:sp>
          <p:sp>
            <p:nvSpPr>
              <p:cNvPr id="24" name="Tekstvak 23"/>
              <p:cNvSpPr txBox="1"/>
              <p:nvPr/>
            </p:nvSpPr>
            <p:spPr>
              <a:xfrm>
                <a:off x="2000232" y="4572008"/>
                <a:ext cx="500066" cy="338554"/>
              </a:xfrm>
              <a:prstGeom prst="rect">
                <a:avLst/>
              </a:prstGeom>
              <a:noFill/>
            </p:spPr>
            <p:txBody>
              <a:bodyPr wrap="square" rtlCol="0">
                <a:spAutoFit/>
              </a:bodyPr>
              <a:lstStyle/>
              <a:p>
                <a:r>
                  <a:rPr lang="nl-BE" sz="1600" dirty="0"/>
                  <a:t>6 m</a:t>
                </a:r>
                <a:endParaRPr lang="en-US" sz="1600" dirty="0"/>
              </a:p>
            </p:txBody>
          </p:sp>
          <p:sp>
            <p:nvSpPr>
              <p:cNvPr id="27" name="Rechthoek 26"/>
              <p:cNvSpPr/>
              <p:nvPr/>
            </p:nvSpPr>
            <p:spPr>
              <a:xfrm>
                <a:off x="621688" y="4214818"/>
                <a:ext cx="540000" cy="360000"/>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11</a:t>
                </a:r>
                <a:endParaRPr lang="en-US" sz="1100" dirty="0"/>
              </a:p>
            </p:txBody>
          </p:sp>
          <p:sp>
            <p:nvSpPr>
              <p:cNvPr id="28" name="Rechthoek 27"/>
              <p:cNvSpPr/>
              <p:nvPr/>
            </p:nvSpPr>
            <p:spPr>
              <a:xfrm>
                <a:off x="1165896" y="4214818"/>
                <a:ext cx="540000" cy="360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Phase2</a:t>
                </a:r>
              </a:p>
              <a:p>
                <a:pPr algn="ctr"/>
                <a:endParaRPr lang="nl-BE" sz="1100" dirty="0"/>
              </a:p>
              <a:p>
                <a:pPr algn="ctr"/>
                <a:r>
                  <a:rPr lang="nl-BE" sz="1100" dirty="0"/>
                  <a:t>12</a:t>
                </a:r>
                <a:endParaRPr lang="en-US" sz="1100" dirty="0"/>
              </a:p>
            </p:txBody>
          </p:sp>
          <p:sp>
            <p:nvSpPr>
              <p:cNvPr id="29" name="Rechthoek 28"/>
              <p:cNvSpPr/>
              <p:nvPr/>
            </p:nvSpPr>
            <p:spPr>
              <a:xfrm>
                <a:off x="1706050" y="4214818"/>
                <a:ext cx="1080000" cy="3600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050" dirty="0"/>
                  <a:t>Phase</a:t>
                </a:r>
              </a:p>
              <a:p>
                <a:pPr algn="ctr"/>
                <a:r>
                  <a:rPr lang="nl-BE" sz="1050" dirty="0"/>
                  <a:t>3</a:t>
                </a:r>
              </a:p>
              <a:p>
                <a:pPr algn="ctr"/>
                <a:endParaRPr lang="nl-BE" sz="1050" dirty="0"/>
              </a:p>
              <a:p>
                <a:pPr algn="ctr"/>
                <a:r>
                  <a:rPr lang="nl-BE" sz="1050" dirty="0"/>
                  <a:t>13</a:t>
                </a:r>
                <a:endParaRPr lang="en-US" sz="1050" dirty="0"/>
              </a:p>
            </p:txBody>
          </p:sp>
        </p:grpSp>
      </p:grpSp>
      <p:sp>
        <p:nvSpPr>
          <p:cNvPr id="33" name="PIJL-RECHTS 32"/>
          <p:cNvSpPr/>
          <p:nvPr/>
        </p:nvSpPr>
        <p:spPr>
          <a:xfrm>
            <a:off x="7896670" y="3284984"/>
            <a:ext cx="1080000" cy="84112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400" dirty="0"/>
              <a:t>F</a:t>
            </a:r>
            <a:endParaRPr lang="en-US" sz="1600" dirty="0"/>
          </a:p>
        </p:txBody>
      </p:sp>
      <p:sp>
        <p:nvSpPr>
          <p:cNvPr id="41" name="Rechthoek 40"/>
          <p:cNvSpPr/>
          <p:nvPr/>
        </p:nvSpPr>
        <p:spPr>
          <a:xfrm>
            <a:off x="2786050" y="3284984"/>
            <a:ext cx="540000" cy="84112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2A</a:t>
            </a:r>
            <a:endParaRPr lang="en-US" sz="1100" dirty="0"/>
          </a:p>
        </p:txBody>
      </p:sp>
      <p:sp>
        <p:nvSpPr>
          <p:cNvPr id="42" name="Rechthoek 41"/>
          <p:cNvSpPr/>
          <p:nvPr/>
        </p:nvSpPr>
        <p:spPr>
          <a:xfrm>
            <a:off x="3326050" y="3284984"/>
            <a:ext cx="4570620" cy="841126"/>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dirty="0"/>
              <a:t>Phase 2.0</a:t>
            </a:r>
          </a:p>
          <a:p>
            <a:pPr algn="ctr"/>
            <a:endParaRPr lang="nl-BE" sz="1400" dirty="0"/>
          </a:p>
          <a:p>
            <a:pPr algn="ctr"/>
            <a:r>
              <a:rPr lang="nl-BE" sz="1400" dirty="0"/>
              <a:t>2B</a:t>
            </a:r>
            <a:endParaRPr lang="en-US" sz="1400" dirty="0"/>
          </a:p>
        </p:txBody>
      </p:sp>
      <p:sp>
        <p:nvSpPr>
          <p:cNvPr id="4" name="Espace réservé du numéro de diapositive 3"/>
          <p:cNvSpPr>
            <a:spLocks noGrp="1"/>
          </p:cNvSpPr>
          <p:nvPr>
            <p:ph type="sldNum" sz="quarter" idx="12"/>
          </p:nvPr>
        </p:nvSpPr>
        <p:spPr/>
        <p:txBody>
          <a:bodyPr/>
          <a:lstStyle/>
          <a:p>
            <a:fld id="{BDBE9B73-5FDC-46B2-A79B-5912A94C84D5}" type="slidenum">
              <a:rPr lang="nl-BE" smtClean="0"/>
              <a:pPr/>
              <a:t>45</a:t>
            </a:fld>
            <a:endParaRPr lang="nl-BE"/>
          </a:p>
        </p:txBody>
      </p:sp>
      <p:cxnSp>
        <p:nvCxnSpPr>
          <p:cNvPr id="45" name="Connecteur droit 44"/>
          <p:cNvCxnSpPr/>
          <p:nvPr/>
        </p:nvCxnSpPr>
        <p:spPr>
          <a:xfrm flipH="1">
            <a:off x="7877248" y="4110758"/>
            <a:ext cx="19422" cy="171153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flipH="1">
            <a:off x="3324700" y="4120289"/>
            <a:ext cx="1350" cy="17235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a:xfrm>
            <a:off x="2787591" y="4126110"/>
            <a:ext cx="12769" cy="139112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a:xfrm flipH="1">
            <a:off x="1705662" y="4126110"/>
            <a:ext cx="2118" cy="114808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a:xfrm>
            <a:off x="1156866" y="4126110"/>
            <a:ext cx="11452" cy="80357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flipH="1">
            <a:off x="628687" y="4126110"/>
            <a:ext cx="2408" cy="52281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2" name="Tekstvak 25"/>
          <p:cNvSpPr txBox="1"/>
          <p:nvPr/>
        </p:nvSpPr>
        <p:spPr>
          <a:xfrm>
            <a:off x="144039" y="4702850"/>
            <a:ext cx="949224" cy="338554"/>
          </a:xfrm>
          <a:prstGeom prst="rect">
            <a:avLst/>
          </a:prstGeom>
          <a:noFill/>
        </p:spPr>
        <p:txBody>
          <a:bodyPr wrap="square" rtlCol="0">
            <a:spAutoFit/>
          </a:bodyPr>
          <a:lstStyle/>
          <a:p>
            <a:pPr algn="ctr"/>
            <a:r>
              <a:rPr lang="nl-BE" sz="1600" dirty="0"/>
              <a:t>24.11.22</a:t>
            </a:r>
            <a:endParaRPr lang="en-US" sz="1600" dirty="0"/>
          </a:p>
        </p:txBody>
      </p:sp>
      <p:sp>
        <p:nvSpPr>
          <p:cNvPr id="53" name="Tekstvak 25"/>
          <p:cNvSpPr txBox="1"/>
          <p:nvPr/>
        </p:nvSpPr>
        <p:spPr>
          <a:xfrm>
            <a:off x="689624" y="4935636"/>
            <a:ext cx="949224" cy="338554"/>
          </a:xfrm>
          <a:prstGeom prst="rect">
            <a:avLst/>
          </a:prstGeom>
          <a:noFill/>
        </p:spPr>
        <p:txBody>
          <a:bodyPr wrap="square" rtlCol="0">
            <a:spAutoFit/>
          </a:bodyPr>
          <a:lstStyle/>
          <a:p>
            <a:pPr algn="ctr"/>
            <a:r>
              <a:rPr lang="nl-BE" sz="1600" dirty="0"/>
              <a:t>24.02.23</a:t>
            </a:r>
            <a:endParaRPr lang="en-US" sz="1600" dirty="0"/>
          </a:p>
        </p:txBody>
      </p:sp>
      <p:sp>
        <p:nvSpPr>
          <p:cNvPr id="55" name="Tekstvak 25"/>
          <p:cNvSpPr txBox="1"/>
          <p:nvPr/>
        </p:nvSpPr>
        <p:spPr>
          <a:xfrm>
            <a:off x="1231050" y="5299264"/>
            <a:ext cx="949224" cy="338554"/>
          </a:xfrm>
          <a:prstGeom prst="rect">
            <a:avLst/>
          </a:prstGeom>
          <a:noFill/>
        </p:spPr>
        <p:txBody>
          <a:bodyPr wrap="square" rtlCol="0">
            <a:spAutoFit/>
          </a:bodyPr>
          <a:lstStyle/>
          <a:p>
            <a:pPr algn="ctr"/>
            <a:r>
              <a:rPr lang="nl-BE" sz="1600" dirty="0"/>
              <a:t>24.05.23</a:t>
            </a:r>
            <a:endParaRPr lang="en-US" sz="1600" dirty="0"/>
          </a:p>
        </p:txBody>
      </p:sp>
      <p:sp>
        <p:nvSpPr>
          <p:cNvPr id="56" name="Tekstvak 25"/>
          <p:cNvSpPr txBox="1"/>
          <p:nvPr/>
        </p:nvSpPr>
        <p:spPr>
          <a:xfrm>
            <a:off x="2244700" y="5517232"/>
            <a:ext cx="949224" cy="338554"/>
          </a:xfrm>
          <a:prstGeom prst="rect">
            <a:avLst/>
          </a:prstGeom>
          <a:noFill/>
        </p:spPr>
        <p:txBody>
          <a:bodyPr wrap="square" rtlCol="0">
            <a:spAutoFit/>
          </a:bodyPr>
          <a:lstStyle/>
          <a:p>
            <a:pPr algn="ctr"/>
            <a:r>
              <a:rPr lang="nl-BE" sz="1600" dirty="0"/>
              <a:t>24.11.23</a:t>
            </a:r>
            <a:endParaRPr lang="en-US" sz="1600" dirty="0"/>
          </a:p>
        </p:txBody>
      </p:sp>
      <p:sp>
        <p:nvSpPr>
          <p:cNvPr id="57" name="Tekstvak 25"/>
          <p:cNvSpPr txBox="1"/>
          <p:nvPr/>
        </p:nvSpPr>
        <p:spPr>
          <a:xfrm>
            <a:off x="2838801" y="5855786"/>
            <a:ext cx="949224" cy="338554"/>
          </a:xfrm>
          <a:prstGeom prst="rect">
            <a:avLst/>
          </a:prstGeom>
          <a:noFill/>
        </p:spPr>
        <p:txBody>
          <a:bodyPr wrap="square" rtlCol="0">
            <a:spAutoFit/>
          </a:bodyPr>
          <a:lstStyle/>
          <a:p>
            <a:pPr algn="ctr"/>
            <a:r>
              <a:rPr lang="nl-BE" sz="1600" dirty="0"/>
              <a:t>24.01.24</a:t>
            </a:r>
            <a:endParaRPr lang="en-US" sz="1600" dirty="0"/>
          </a:p>
        </p:txBody>
      </p:sp>
      <p:sp>
        <p:nvSpPr>
          <p:cNvPr id="58" name="Tekstvak 25"/>
          <p:cNvSpPr txBox="1"/>
          <p:nvPr/>
        </p:nvSpPr>
        <p:spPr>
          <a:xfrm>
            <a:off x="7422058" y="5843805"/>
            <a:ext cx="949224" cy="338554"/>
          </a:xfrm>
          <a:prstGeom prst="rect">
            <a:avLst/>
          </a:prstGeom>
          <a:noFill/>
        </p:spPr>
        <p:txBody>
          <a:bodyPr wrap="square" rtlCol="0">
            <a:spAutoFit/>
          </a:bodyPr>
          <a:lstStyle/>
          <a:p>
            <a:pPr algn="ctr"/>
            <a:r>
              <a:rPr lang="nl-BE" sz="1600" dirty="0"/>
              <a:t>24.05.24</a:t>
            </a:r>
            <a:endParaRPr lang="en-US" sz="1600" dirty="0"/>
          </a:p>
        </p:txBody>
      </p:sp>
      <p:pic>
        <p:nvPicPr>
          <p:cNvPr id="3" name="Image 2">
            <a:hlinkClick r:id="rId3" action="ppaction://hlinksldjump"/>
          </p:cNvPr>
          <p:cNvPicPr>
            <a:picLocks noChangeAspect="1"/>
          </p:cNvPicPr>
          <p:nvPr/>
        </p:nvPicPr>
        <p:blipFill>
          <a:blip r:embed="rId4"/>
          <a:stretch>
            <a:fillRect/>
          </a:stretch>
        </p:blipFill>
        <p:spPr>
          <a:xfrm>
            <a:off x="7635145" y="6502000"/>
            <a:ext cx="256054" cy="219475"/>
          </a:xfrm>
          <a:prstGeom prst="rect">
            <a:avLst/>
          </a:prstGeom>
        </p:spPr>
      </p:pic>
    </p:spTree>
    <p:extLst>
      <p:ext uri="{BB962C8B-B14F-4D97-AF65-F5344CB8AC3E}">
        <p14:creationId xmlns:p14="http://schemas.microsoft.com/office/powerpoint/2010/main" val="12530686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500"/>
                                        <p:tgtEl>
                                          <p:spTgt spid="5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fade">
                                      <p:cBhvr>
                                        <p:cTn id="54" dur="500"/>
                                        <p:tgtEl>
                                          <p:spTgt spid="5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5"/>
                                        </p:tgtEl>
                                        <p:attrNameLst>
                                          <p:attrName>style.visibility</p:attrName>
                                        </p:attrNameLst>
                                      </p:cBhvr>
                                      <p:to>
                                        <p:strVal val="visible"/>
                                      </p:to>
                                    </p:set>
                                    <p:animEffect transition="in" filter="fade">
                                      <p:cBhvr>
                                        <p:cTn id="62" dur="500"/>
                                        <p:tgtEl>
                                          <p:spTgt spid="5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500"/>
                                        <p:tgtEl>
                                          <p:spTgt spid="4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6"/>
                                        </p:tgtEl>
                                        <p:attrNameLst>
                                          <p:attrName>style.visibility</p:attrName>
                                        </p:attrNameLst>
                                      </p:cBhvr>
                                      <p:to>
                                        <p:strVal val="visible"/>
                                      </p:to>
                                    </p:set>
                                    <p:animEffect transition="in" filter="fade">
                                      <p:cBhvr>
                                        <p:cTn id="70" dur="500"/>
                                        <p:tgtEl>
                                          <p:spTgt spid="5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500"/>
                                        <p:tgtEl>
                                          <p:spTgt spid="4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7"/>
                                        </p:tgtEl>
                                        <p:attrNameLst>
                                          <p:attrName>style.visibility</p:attrName>
                                        </p:attrNameLst>
                                      </p:cBhvr>
                                      <p:to>
                                        <p:strVal val="visible"/>
                                      </p:to>
                                    </p:set>
                                    <p:animEffect transition="in" filter="fade">
                                      <p:cBhvr>
                                        <p:cTn id="78" dur="500"/>
                                        <p:tgtEl>
                                          <p:spTgt spid="5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500"/>
                                        <p:tgtEl>
                                          <p:spTgt spid="4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8"/>
                                        </p:tgtEl>
                                        <p:attrNameLst>
                                          <p:attrName>style.visibility</p:attrName>
                                        </p:attrNameLst>
                                      </p:cBhvr>
                                      <p:to>
                                        <p:strVal val="visible"/>
                                      </p:to>
                                    </p:set>
                                    <p:animEffect transition="in" filter="fade">
                                      <p:cBhvr>
                                        <p:cTn id="8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6" grpId="0"/>
      <p:bldP spid="33" grpId="0" animBg="1"/>
      <p:bldP spid="41" grpId="0" animBg="1"/>
      <p:bldP spid="42" grpId="0" animBg="1"/>
      <p:bldP spid="52" grpId="0"/>
      <p:bldP spid="53" grpId="0"/>
      <p:bldP spid="55" grpId="0"/>
      <p:bldP spid="56" grpId="0"/>
      <p:bldP spid="57" grpId="0"/>
      <p:bldP spid="5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ep 43"/>
          <p:cNvGrpSpPr/>
          <p:nvPr/>
        </p:nvGrpSpPr>
        <p:grpSpPr>
          <a:xfrm>
            <a:off x="642910" y="2060848"/>
            <a:ext cx="8286808" cy="1073510"/>
            <a:chOff x="642910" y="3429000"/>
            <a:chExt cx="8286808" cy="717578"/>
          </a:xfrm>
        </p:grpSpPr>
        <p:cxnSp>
          <p:nvCxnSpPr>
            <p:cNvPr id="30" name="Rechte verbindingslijn 29"/>
            <p:cNvCxnSpPr/>
            <p:nvPr/>
          </p:nvCxnSpPr>
          <p:spPr>
            <a:xfrm rot="5400000" flipH="1" flipV="1">
              <a:off x="500034" y="4000504"/>
              <a:ext cx="2857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Groep 36"/>
            <p:cNvGrpSpPr/>
            <p:nvPr/>
          </p:nvGrpSpPr>
          <p:grpSpPr>
            <a:xfrm>
              <a:off x="642910" y="3429000"/>
              <a:ext cx="8286808" cy="717578"/>
              <a:chOff x="642910" y="3429000"/>
              <a:chExt cx="8286808" cy="717578"/>
            </a:xfrm>
          </p:grpSpPr>
          <p:grpSp>
            <p:nvGrpSpPr>
              <p:cNvPr id="35" name="Groep 34"/>
              <p:cNvGrpSpPr/>
              <p:nvPr/>
            </p:nvGrpSpPr>
            <p:grpSpPr>
              <a:xfrm>
                <a:off x="642910" y="3857628"/>
                <a:ext cx="8143932" cy="288950"/>
                <a:chOff x="642910" y="3857628"/>
                <a:chExt cx="8143932" cy="288950"/>
              </a:xfrm>
            </p:grpSpPr>
            <p:cxnSp>
              <p:nvCxnSpPr>
                <p:cNvPr id="31" name="Rechte verbindingslijn 30"/>
                <p:cNvCxnSpPr/>
                <p:nvPr/>
              </p:nvCxnSpPr>
              <p:spPr>
                <a:xfrm rot="5400000" flipH="1" flipV="1">
                  <a:off x="2670470" y="400370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Rechte verbindingslijn 31"/>
                <p:cNvCxnSpPr/>
                <p:nvPr/>
              </p:nvCxnSpPr>
              <p:spPr>
                <a:xfrm rot="5400000" flipH="1" flipV="1">
                  <a:off x="7756216" y="4002776"/>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Rechte verbindingslijn 33"/>
                <p:cNvCxnSpPr/>
                <p:nvPr/>
              </p:nvCxnSpPr>
              <p:spPr>
                <a:xfrm>
                  <a:off x="642910" y="3857628"/>
                  <a:ext cx="814393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8" name="Tekstvak 37"/>
              <p:cNvSpPr txBox="1"/>
              <p:nvPr/>
            </p:nvSpPr>
            <p:spPr>
              <a:xfrm>
                <a:off x="714348" y="3429000"/>
                <a:ext cx="2000264" cy="369332"/>
              </a:xfrm>
              <a:prstGeom prst="rect">
                <a:avLst/>
              </a:prstGeom>
              <a:noFill/>
            </p:spPr>
            <p:txBody>
              <a:bodyPr wrap="square" rtlCol="0">
                <a:spAutoFit/>
              </a:bodyPr>
              <a:lstStyle/>
              <a:p>
                <a:pPr algn="ctr"/>
                <a:r>
                  <a:rPr lang="nl-BE" b="1" dirty="0"/>
                  <a:t>PERIODE 1</a:t>
                </a:r>
                <a:endParaRPr lang="en-US" b="1" dirty="0"/>
              </a:p>
            </p:txBody>
          </p:sp>
          <p:sp>
            <p:nvSpPr>
              <p:cNvPr id="39" name="Tekstvak 38"/>
              <p:cNvSpPr txBox="1"/>
              <p:nvPr/>
            </p:nvSpPr>
            <p:spPr>
              <a:xfrm>
                <a:off x="2857488" y="3429000"/>
                <a:ext cx="4929222" cy="369332"/>
              </a:xfrm>
              <a:prstGeom prst="rect">
                <a:avLst/>
              </a:prstGeom>
              <a:noFill/>
            </p:spPr>
            <p:txBody>
              <a:bodyPr wrap="square" rtlCol="0">
                <a:spAutoFit/>
              </a:bodyPr>
              <a:lstStyle/>
              <a:p>
                <a:pPr algn="ctr"/>
                <a:r>
                  <a:rPr lang="nl-BE" b="1" dirty="0"/>
                  <a:t>PERIODE 2</a:t>
                </a:r>
                <a:endParaRPr lang="en-US" b="1" dirty="0"/>
              </a:p>
            </p:txBody>
          </p:sp>
          <p:sp>
            <p:nvSpPr>
              <p:cNvPr id="40" name="Tekstvak 39"/>
              <p:cNvSpPr txBox="1"/>
              <p:nvPr/>
            </p:nvSpPr>
            <p:spPr>
              <a:xfrm>
                <a:off x="7929586" y="3429000"/>
                <a:ext cx="1000132" cy="307777"/>
              </a:xfrm>
              <a:prstGeom prst="rect">
                <a:avLst/>
              </a:prstGeom>
              <a:noFill/>
            </p:spPr>
            <p:txBody>
              <a:bodyPr wrap="square" rtlCol="0">
                <a:spAutoFit/>
              </a:bodyPr>
              <a:lstStyle/>
              <a:p>
                <a:r>
                  <a:rPr lang="nl-BE" sz="1400" b="1" dirty="0"/>
                  <a:t>PERIODE 3</a:t>
                </a:r>
                <a:endParaRPr lang="en-US" sz="1400" b="1" dirty="0"/>
              </a:p>
            </p:txBody>
          </p:sp>
        </p:grpSp>
      </p:grpSp>
      <p:sp>
        <p:nvSpPr>
          <p:cNvPr id="19" name="Tekstvak 18"/>
          <p:cNvSpPr txBox="1"/>
          <p:nvPr/>
        </p:nvSpPr>
        <p:spPr>
          <a:xfrm>
            <a:off x="3361859" y="375219"/>
            <a:ext cx="4357718" cy="769441"/>
          </a:xfrm>
          <a:prstGeom prst="rect">
            <a:avLst/>
          </a:prstGeom>
          <a:noFill/>
        </p:spPr>
        <p:txBody>
          <a:bodyPr wrap="square" rtlCol="0">
            <a:spAutoFit/>
          </a:bodyPr>
          <a:lstStyle/>
          <a:p>
            <a:r>
              <a:rPr lang="nl-BE" sz="4400" b="1" i="1" dirty="0"/>
              <a:t>Solution 2</a:t>
            </a:r>
            <a:endParaRPr lang="en-US" sz="4400" b="1" i="1" dirty="0"/>
          </a:p>
        </p:txBody>
      </p:sp>
      <p:sp>
        <p:nvSpPr>
          <p:cNvPr id="21" name="Tekstvak 20"/>
          <p:cNvSpPr txBox="1"/>
          <p:nvPr/>
        </p:nvSpPr>
        <p:spPr>
          <a:xfrm>
            <a:off x="824308" y="1357298"/>
            <a:ext cx="7072362" cy="523220"/>
          </a:xfrm>
          <a:prstGeom prst="rect">
            <a:avLst/>
          </a:prstGeom>
          <a:noFill/>
        </p:spPr>
        <p:txBody>
          <a:bodyPr wrap="square" rtlCol="0">
            <a:spAutoFit/>
          </a:bodyPr>
          <a:lstStyle/>
          <a:p>
            <a:r>
              <a:rPr lang="nl-BE" sz="2800" dirty="0"/>
              <a:t>Le chômeur justifie 5 ans de PP</a:t>
            </a:r>
            <a:r>
              <a:rPr lang="nl-BE" dirty="0"/>
              <a:t>.</a:t>
            </a:r>
            <a:endParaRPr lang="en-US" dirty="0"/>
          </a:p>
        </p:txBody>
      </p:sp>
      <p:sp>
        <p:nvSpPr>
          <p:cNvPr id="25" name="Tekstvak 24"/>
          <p:cNvSpPr txBox="1"/>
          <p:nvPr/>
        </p:nvSpPr>
        <p:spPr>
          <a:xfrm>
            <a:off x="2791043" y="4136045"/>
            <a:ext cx="500066" cy="338554"/>
          </a:xfrm>
          <a:prstGeom prst="rect">
            <a:avLst/>
          </a:prstGeom>
          <a:noFill/>
        </p:spPr>
        <p:txBody>
          <a:bodyPr wrap="square" rtlCol="0">
            <a:spAutoFit/>
          </a:bodyPr>
          <a:lstStyle/>
          <a:p>
            <a:r>
              <a:rPr lang="nl-BE" sz="1600" dirty="0"/>
              <a:t>2 m</a:t>
            </a:r>
            <a:endParaRPr lang="en-US" sz="1600" dirty="0"/>
          </a:p>
        </p:txBody>
      </p:sp>
      <p:sp>
        <p:nvSpPr>
          <p:cNvPr id="26" name="Tekstvak 25"/>
          <p:cNvSpPr txBox="1"/>
          <p:nvPr/>
        </p:nvSpPr>
        <p:spPr>
          <a:xfrm>
            <a:off x="3267182" y="4136045"/>
            <a:ext cx="4214842" cy="338554"/>
          </a:xfrm>
          <a:prstGeom prst="rect">
            <a:avLst/>
          </a:prstGeom>
          <a:noFill/>
        </p:spPr>
        <p:txBody>
          <a:bodyPr wrap="square" rtlCol="0">
            <a:spAutoFit/>
          </a:bodyPr>
          <a:lstStyle/>
          <a:p>
            <a:pPr algn="ctr"/>
            <a:r>
              <a:rPr lang="nl-BE" sz="1600" dirty="0"/>
              <a:t>10 mois (2 mois x 5 ans)</a:t>
            </a:r>
            <a:endParaRPr lang="en-US" sz="1600" dirty="0"/>
          </a:p>
        </p:txBody>
      </p:sp>
      <p:grpSp>
        <p:nvGrpSpPr>
          <p:cNvPr id="43" name="Groep 42"/>
          <p:cNvGrpSpPr/>
          <p:nvPr/>
        </p:nvGrpSpPr>
        <p:grpSpPr>
          <a:xfrm>
            <a:off x="621688" y="3284984"/>
            <a:ext cx="2164362" cy="1625578"/>
            <a:chOff x="621688" y="4214818"/>
            <a:chExt cx="2164362" cy="695744"/>
          </a:xfrm>
        </p:grpSpPr>
        <p:sp>
          <p:nvSpPr>
            <p:cNvPr id="23" name="Tekstvak 22"/>
            <p:cNvSpPr txBox="1"/>
            <p:nvPr/>
          </p:nvSpPr>
          <p:spPr>
            <a:xfrm>
              <a:off x="1214414" y="4572008"/>
              <a:ext cx="500066" cy="338554"/>
            </a:xfrm>
            <a:prstGeom prst="rect">
              <a:avLst/>
            </a:prstGeom>
            <a:noFill/>
          </p:spPr>
          <p:txBody>
            <a:bodyPr wrap="square" rtlCol="0">
              <a:spAutoFit/>
            </a:bodyPr>
            <a:lstStyle/>
            <a:p>
              <a:r>
                <a:rPr lang="nl-BE" sz="1600" dirty="0"/>
                <a:t>3 m</a:t>
              </a:r>
              <a:endParaRPr lang="en-US" sz="1600" dirty="0"/>
            </a:p>
          </p:txBody>
        </p:sp>
        <p:grpSp>
          <p:nvGrpSpPr>
            <p:cNvPr id="36" name="Groep 35"/>
            <p:cNvGrpSpPr/>
            <p:nvPr/>
          </p:nvGrpSpPr>
          <p:grpSpPr>
            <a:xfrm>
              <a:off x="621688" y="4214818"/>
              <a:ext cx="2164362" cy="695744"/>
              <a:chOff x="621688" y="4214818"/>
              <a:chExt cx="2164362" cy="695744"/>
            </a:xfrm>
          </p:grpSpPr>
          <p:sp>
            <p:nvSpPr>
              <p:cNvPr id="22" name="Tekstvak 21"/>
              <p:cNvSpPr txBox="1"/>
              <p:nvPr/>
            </p:nvSpPr>
            <p:spPr>
              <a:xfrm>
                <a:off x="642910" y="4572008"/>
                <a:ext cx="500066" cy="338554"/>
              </a:xfrm>
              <a:prstGeom prst="rect">
                <a:avLst/>
              </a:prstGeom>
              <a:noFill/>
            </p:spPr>
            <p:txBody>
              <a:bodyPr wrap="square" rtlCol="0">
                <a:spAutoFit/>
              </a:bodyPr>
              <a:lstStyle/>
              <a:p>
                <a:r>
                  <a:rPr lang="nl-BE" sz="1600" dirty="0"/>
                  <a:t>3 m</a:t>
                </a:r>
                <a:endParaRPr lang="en-US" sz="1600" dirty="0"/>
              </a:p>
            </p:txBody>
          </p:sp>
          <p:sp>
            <p:nvSpPr>
              <p:cNvPr id="24" name="Tekstvak 23"/>
              <p:cNvSpPr txBox="1"/>
              <p:nvPr/>
            </p:nvSpPr>
            <p:spPr>
              <a:xfrm>
                <a:off x="2000232" y="4572008"/>
                <a:ext cx="500066" cy="338554"/>
              </a:xfrm>
              <a:prstGeom prst="rect">
                <a:avLst/>
              </a:prstGeom>
              <a:noFill/>
            </p:spPr>
            <p:txBody>
              <a:bodyPr wrap="square" rtlCol="0">
                <a:spAutoFit/>
              </a:bodyPr>
              <a:lstStyle/>
              <a:p>
                <a:r>
                  <a:rPr lang="nl-BE" sz="1600" dirty="0"/>
                  <a:t>6 m</a:t>
                </a:r>
                <a:endParaRPr lang="en-US" sz="1600" dirty="0"/>
              </a:p>
            </p:txBody>
          </p:sp>
          <p:sp>
            <p:nvSpPr>
              <p:cNvPr id="27" name="Rechthoek 26"/>
              <p:cNvSpPr/>
              <p:nvPr/>
            </p:nvSpPr>
            <p:spPr>
              <a:xfrm>
                <a:off x="621688" y="4214818"/>
                <a:ext cx="540000" cy="360000"/>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11</a:t>
                </a:r>
                <a:endParaRPr lang="en-US" sz="1100" dirty="0"/>
              </a:p>
            </p:txBody>
          </p:sp>
          <p:sp>
            <p:nvSpPr>
              <p:cNvPr id="28" name="Rechthoek 27"/>
              <p:cNvSpPr/>
              <p:nvPr/>
            </p:nvSpPr>
            <p:spPr>
              <a:xfrm>
                <a:off x="1165896" y="4214818"/>
                <a:ext cx="540000" cy="360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Phase2</a:t>
                </a:r>
              </a:p>
              <a:p>
                <a:pPr algn="ctr"/>
                <a:endParaRPr lang="nl-BE" sz="1100" dirty="0"/>
              </a:p>
              <a:p>
                <a:pPr algn="ctr"/>
                <a:r>
                  <a:rPr lang="nl-BE" sz="1100" dirty="0"/>
                  <a:t>12</a:t>
                </a:r>
                <a:endParaRPr lang="en-US" sz="1100" dirty="0"/>
              </a:p>
            </p:txBody>
          </p:sp>
          <p:sp>
            <p:nvSpPr>
              <p:cNvPr id="29" name="Rechthoek 28"/>
              <p:cNvSpPr/>
              <p:nvPr/>
            </p:nvSpPr>
            <p:spPr>
              <a:xfrm>
                <a:off x="1706050" y="4214818"/>
                <a:ext cx="1080000" cy="3600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050" dirty="0"/>
                  <a:t>Phase</a:t>
                </a:r>
              </a:p>
              <a:p>
                <a:pPr algn="ctr"/>
                <a:r>
                  <a:rPr lang="nl-BE" sz="1050" dirty="0"/>
                  <a:t>3</a:t>
                </a:r>
              </a:p>
              <a:p>
                <a:pPr algn="ctr"/>
                <a:endParaRPr lang="nl-BE" sz="1050" dirty="0"/>
              </a:p>
              <a:p>
                <a:pPr algn="ctr"/>
                <a:r>
                  <a:rPr lang="nl-BE" sz="1050" dirty="0"/>
                  <a:t>13</a:t>
                </a:r>
                <a:endParaRPr lang="en-US" sz="1050" dirty="0"/>
              </a:p>
            </p:txBody>
          </p:sp>
        </p:grpSp>
      </p:grpSp>
      <p:sp>
        <p:nvSpPr>
          <p:cNvPr id="33" name="PIJL-RECHTS 32"/>
          <p:cNvSpPr/>
          <p:nvPr/>
        </p:nvSpPr>
        <p:spPr>
          <a:xfrm>
            <a:off x="7896670" y="3284984"/>
            <a:ext cx="1080000" cy="84112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400" dirty="0"/>
              <a:t>F</a:t>
            </a:r>
            <a:endParaRPr lang="en-US" sz="1600" dirty="0"/>
          </a:p>
        </p:txBody>
      </p:sp>
      <p:sp>
        <p:nvSpPr>
          <p:cNvPr id="41" name="Rechthoek 40"/>
          <p:cNvSpPr/>
          <p:nvPr/>
        </p:nvSpPr>
        <p:spPr>
          <a:xfrm>
            <a:off x="2786050" y="3284984"/>
            <a:ext cx="540000" cy="84112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2A</a:t>
            </a:r>
            <a:endParaRPr lang="en-US" sz="1100" dirty="0"/>
          </a:p>
        </p:txBody>
      </p:sp>
      <p:sp>
        <p:nvSpPr>
          <p:cNvPr id="42" name="Rechthoek 41"/>
          <p:cNvSpPr/>
          <p:nvPr/>
        </p:nvSpPr>
        <p:spPr>
          <a:xfrm>
            <a:off x="3326050" y="3284984"/>
            <a:ext cx="4570620" cy="841126"/>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dirty="0"/>
              <a:t>Phase 2.0</a:t>
            </a:r>
          </a:p>
          <a:p>
            <a:pPr algn="ctr"/>
            <a:endParaRPr lang="nl-BE" sz="1400" dirty="0"/>
          </a:p>
          <a:p>
            <a:pPr algn="ctr"/>
            <a:r>
              <a:rPr lang="nl-BE" sz="1400" dirty="0"/>
              <a:t>2B</a:t>
            </a:r>
            <a:endParaRPr lang="en-US" sz="1400" dirty="0"/>
          </a:p>
        </p:txBody>
      </p:sp>
      <p:sp>
        <p:nvSpPr>
          <p:cNvPr id="4" name="Espace réservé du numéro de diapositive 3"/>
          <p:cNvSpPr>
            <a:spLocks noGrp="1"/>
          </p:cNvSpPr>
          <p:nvPr>
            <p:ph type="sldNum" sz="quarter" idx="12"/>
          </p:nvPr>
        </p:nvSpPr>
        <p:spPr/>
        <p:txBody>
          <a:bodyPr/>
          <a:lstStyle/>
          <a:p>
            <a:fld id="{BDBE9B73-5FDC-46B2-A79B-5912A94C84D5}" type="slidenum">
              <a:rPr lang="nl-BE" smtClean="0"/>
              <a:pPr/>
              <a:t>46</a:t>
            </a:fld>
            <a:endParaRPr lang="nl-BE"/>
          </a:p>
        </p:txBody>
      </p:sp>
      <p:cxnSp>
        <p:nvCxnSpPr>
          <p:cNvPr id="45" name="Connecteur droit 44"/>
          <p:cNvCxnSpPr/>
          <p:nvPr/>
        </p:nvCxnSpPr>
        <p:spPr>
          <a:xfrm flipH="1">
            <a:off x="7877248" y="4110758"/>
            <a:ext cx="19422" cy="171153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flipH="1">
            <a:off x="3324700" y="4120289"/>
            <a:ext cx="1350" cy="17235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a:xfrm>
            <a:off x="2787591" y="4126110"/>
            <a:ext cx="12769" cy="139112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a:xfrm flipH="1">
            <a:off x="1705662" y="4126110"/>
            <a:ext cx="2118" cy="114808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a:xfrm>
            <a:off x="1156866" y="4126110"/>
            <a:ext cx="11452" cy="80357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flipH="1">
            <a:off x="628687" y="4126110"/>
            <a:ext cx="2408" cy="52281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2" name="Tekstvak 25"/>
          <p:cNvSpPr txBox="1"/>
          <p:nvPr/>
        </p:nvSpPr>
        <p:spPr>
          <a:xfrm>
            <a:off x="144039" y="4702850"/>
            <a:ext cx="949224" cy="338554"/>
          </a:xfrm>
          <a:prstGeom prst="rect">
            <a:avLst/>
          </a:prstGeom>
          <a:noFill/>
        </p:spPr>
        <p:txBody>
          <a:bodyPr wrap="square" rtlCol="0">
            <a:spAutoFit/>
          </a:bodyPr>
          <a:lstStyle/>
          <a:p>
            <a:pPr algn="ctr"/>
            <a:r>
              <a:rPr lang="nl-BE" sz="1600" dirty="0"/>
              <a:t>24.11.22</a:t>
            </a:r>
          </a:p>
        </p:txBody>
      </p:sp>
      <p:sp>
        <p:nvSpPr>
          <p:cNvPr id="53" name="Tekstvak 25"/>
          <p:cNvSpPr txBox="1"/>
          <p:nvPr/>
        </p:nvSpPr>
        <p:spPr>
          <a:xfrm>
            <a:off x="689624" y="4935636"/>
            <a:ext cx="949224" cy="338554"/>
          </a:xfrm>
          <a:prstGeom prst="rect">
            <a:avLst/>
          </a:prstGeom>
          <a:noFill/>
        </p:spPr>
        <p:txBody>
          <a:bodyPr wrap="square" rtlCol="0">
            <a:spAutoFit/>
          </a:bodyPr>
          <a:lstStyle/>
          <a:p>
            <a:pPr algn="ctr"/>
            <a:r>
              <a:rPr lang="nl-BE" sz="1600" dirty="0"/>
              <a:t>24.02.23</a:t>
            </a:r>
            <a:endParaRPr lang="en-US" sz="1600" dirty="0"/>
          </a:p>
        </p:txBody>
      </p:sp>
      <p:sp>
        <p:nvSpPr>
          <p:cNvPr id="55" name="Tekstvak 25"/>
          <p:cNvSpPr txBox="1"/>
          <p:nvPr/>
        </p:nvSpPr>
        <p:spPr>
          <a:xfrm>
            <a:off x="1231050" y="5299264"/>
            <a:ext cx="949224" cy="338554"/>
          </a:xfrm>
          <a:prstGeom prst="rect">
            <a:avLst/>
          </a:prstGeom>
          <a:noFill/>
        </p:spPr>
        <p:txBody>
          <a:bodyPr wrap="square" rtlCol="0">
            <a:spAutoFit/>
          </a:bodyPr>
          <a:lstStyle/>
          <a:p>
            <a:pPr algn="ctr"/>
            <a:r>
              <a:rPr lang="nl-BE" sz="1600" dirty="0"/>
              <a:t>24.05.23</a:t>
            </a:r>
            <a:endParaRPr lang="en-US" sz="1600" dirty="0"/>
          </a:p>
        </p:txBody>
      </p:sp>
      <p:sp>
        <p:nvSpPr>
          <p:cNvPr id="56" name="Tekstvak 25"/>
          <p:cNvSpPr txBox="1"/>
          <p:nvPr/>
        </p:nvSpPr>
        <p:spPr>
          <a:xfrm>
            <a:off x="2338734" y="5517232"/>
            <a:ext cx="949224" cy="338554"/>
          </a:xfrm>
          <a:prstGeom prst="rect">
            <a:avLst/>
          </a:prstGeom>
          <a:noFill/>
        </p:spPr>
        <p:txBody>
          <a:bodyPr wrap="square" rtlCol="0">
            <a:spAutoFit/>
          </a:bodyPr>
          <a:lstStyle/>
          <a:p>
            <a:pPr algn="ctr"/>
            <a:r>
              <a:rPr lang="fr-BE" sz="1600" dirty="0"/>
              <a:t>24.11.23</a:t>
            </a:r>
            <a:endParaRPr lang="en-US" sz="1600" dirty="0"/>
          </a:p>
        </p:txBody>
      </p:sp>
      <p:sp>
        <p:nvSpPr>
          <p:cNvPr id="57" name="Tekstvak 25"/>
          <p:cNvSpPr txBox="1"/>
          <p:nvPr/>
        </p:nvSpPr>
        <p:spPr>
          <a:xfrm>
            <a:off x="2838801" y="5855786"/>
            <a:ext cx="949224" cy="338554"/>
          </a:xfrm>
          <a:prstGeom prst="rect">
            <a:avLst/>
          </a:prstGeom>
          <a:noFill/>
        </p:spPr>
        <p:txBody>
          <a:bodyPr wrap="square" rtlCol="0">
            <a:spAutoFit/>
          </a:bodyPr>
          <a:lstStyle/>
          <a:p>
            <a:pPr algn="ctr"/>
            <a:r>
              <a:rPr lang="fr-BE" sz="1600" dirty="0"/>
              <a:t>24.01.24</a:t>
            </a:r>
            <a:endParaRPr lang="en-US" sz="1600" dirty="0"/>
          </a:p>
        </p:txBody>
      </p:sp>
      <p:sp>
        <p:nvSpPr>
          <p:cNvPr id="58" name="Tekstvak 25"/>
          <p:cNvSpPr txBox="1"/>
          <p:nvPr/>
        </p:nvSpPr>
        <p:spPr>
          <a:xfrm>
            <a:off x="7422058" y="5843805"/>
            <a:ext cx="949224" cy="338554"/>
          </a:xfrm>
          <a:prstGeom prst="rect">
            <a:avLst/>
          </a:prstGeom>
          <a:noFill/>
        </p:spPr>
        <p:txBody>
          <a:bodyPr wrap="square" rtlCol="0">
            <a:spAutoFit/>
          </a:bodyPr>
          <a:lstStyle/>
          <a:p>
            <a:pPr algn="ctr"/>
            <a:r>
              <a:rPr lang="nl-BE" sz="1600" dirty="0"/>
              <a:t>24.11.24</a:t>
            </a:r>
            <a:endParaRPr lang="en-US" sz="1600" dirty="0"/>
          </a:p>
        </p:txBody>
      </p:sp>
      <p:pic>
        <p:nvPicPr>
          <p:cNvPr id="2" name="Image 1">
            <a:hlinkClick r:id="rId3" action="ppaction://hlinksldjump"/>
          </p:cNvPr>
          <p:cNvPicPr>
            <a:picLocks noChangeAspect="1"/>
          </p:cNvPicPr>
          <p:nvPr/>
        </p:nvPicPr>
        <p:blipFill>
          <a:blip r:embed="rId4"/>
          <a:stretch>
            <a:fillRect/>
          </a:stretch>
        </p:blipFill>
        <p:spPr>
          <a:xfrm>
            <a:off x="7640616" y="6428592"/>
            <a:ext cx="256054" cy="219475"/>
          </a:xfrm>
          <a:prstGeom prst="rect">
            <a:avLst/>
          </a:prstGeom>
        </p:spPr>
      </p:pic>
    </p:spTree>
    <p:extLst>
      <p:ext uri="{BB962C8B-B14F-4D97-AF65-F5344CB8AC3E}">
        <p14:creationId xmlns:p14="http://schemas.microsoft.com/office/powerpoint/2010/main" val="12632703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500"/>
                                        <p:tgtEl>
                                          <p:spTgt spid="5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fade">
                                      <p:cBhvr>
                                        <p:cTn id="54" dur="500"/>
                                        <p:tgtEl>
                                          <p:spTgt spid="5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5"/>
                                        </p:tgtEl>
                                        <p:attrNameLst>
                                          <p:attrName>style.visibility</p:attrName>
                                        </p:attrNameLst>
                                      </p:cBhvr>
                                      <p:to>
                                        <p:strVal val="visible"/>
                                      </p:to>
                                    </p:set>
                                    <p:animEffect transition="in" filter="fade">
                                      <p:cBhvr>
                                        <p:cTn id="62" dur="500"/>
                                        <p:tgtEl>
                                          <p:spTgt spid="5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500"/>
                                        <p:tgtEl>
                                          <p:spTgt spid="4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6"/>
                                        </p:tgtEl>
                                        <p:attrNameLst>
                                          <p:attrName>style.visibility</p:attrName>
                                        </p:attrNameLst>
                                      </p:cBhvr>
                                      <p:to>
                                        <p:strVal val="visible"/>
                                      </p:to>
                                    </p:set>
                                    <p:animEffect transition="in" filter="fade">
                                      <p:cBhvr>
                                        <p:cTn id="70" dur="500"/>
                                        <p:tgtEl>
                                          <p:spTgt spid="5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500"/>
                                        <p:tgtEl>
                                          <p:spTgt spid="4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7"/>
                                        </p:tgtEl>
                                        <p:attrNameLst>
                                          <p:attrName>style.visibility</p:attrName>
                                        </p:attrNameLst>
                                      </p:cBhvr>
                                      <p:to>
                                        <p:strVal val="visible"/>
                                      </p:to>
                                    </p:set>
                                    <p:animEffect transition="in" filter="fade">
                                      <p:cBhvr>
                                        <p:cTn id="78" dur="500"/>
                                        <p:tgtEl>
                                          <p:spTgt spid="5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500"/>
                                        <p:tgtEl>
                                          <p:spTgt spid="4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8"/>
                                        </p:tgtEl>
                                        <p:attrNameLst>
                                          <p:attrName>style.visibility</p:attrName>
                                        </p:attrNameLst>
                                      </p:cBhvr>
                                      <p:to>
                                        <p:strVal val="visible"/>
                                      </p:to>
                                    </p:set>
                                    <p:animEffect transition="in" filter="fade">
                                      <p:cBhvr>
                                        <p:cTn id="8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6" grpId="0"/>
      <p:bldP spid="33" grpId="0" animBg="1"/>
      <p:bldP spid="41" grpId="0" animBg="1"/>
      <p:bldP spid="42" grpId="0" animBg="1"/>
      <p:bldP spid="52" grpId="0"/>
      <p:bldP spid="53" grpId="0"/>
      <p:bldP spid="55" grpId="0"/>
      <p:bldP spid="56" grpId="0"/>
      <p:bldP spid="57" grpId="0"/>
      <p:bldP spid="5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ep 43"/>
          <p:cNvGrpSpPr/>
          <p:nvPr/>
        </p:nvGrpSpPr>
        <p:grpSpPr>
          <a:xfrm>
            <a:off x="613251" y="2061804"/>
            <a:ext cx="8286808" cy="1101132"/>
            <a:chOff x="642910" y="3429000"/>
            <a:chExt cx="8286808" cy="736042"/>
          </a:xfrm>
        </p:grpSpPr>
        <p:cxnSp>
          <p:nvCxnSpPr>
            <p:cNvPr id="30" name="Rechte verbindingslijn 29"/>
            <p:cNvCxnSpPr/>
            <p:nvPr/>
          </p:nvCxnSpPr>
          <p:spPr>
            <a:xfrm rot="5400000" flipH="1" flipV="1">
              <a:off x="500034" y="4000504"/>
              <a:ext cx="2857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Groep 36"/>
            <p:cNvGrpSpPr/>
            <p:nvPr/>
          </p:nvGrpSpPr>
          <p:grpSpPr>
            <a:xfrm>
              <a:off x="642910" y="3429000"/>
              <a:ext cx="8286808" cy="736042"/>
              <a:chOff x="642910" y="3429000"/>
              <a:chExt cx="8286808" cy="736042"/>
            </a:xfrm>
          </p:grpSpPr>
          <p:grpSp>
            <p:nvGrpSpPr>
              <p:cNvPr id="35" name="Groep 34"/>
              <p:cNvGrpSpPr/>
              <p:nvPr/>
            </p:nvGrpSpPr>
            <p:grpSpPr>
              <a:xfrm>
                <a:off x="642910" y="3857628"/>
                <a:ext cx="8143932" cy="307414"/>
                <a:chOff x="642910" y="3857628"/>
                <a:chExt cx="8143932" cy="307414"/>
              </a:xfrm>
            </p:grpSpPr>
            <p:cxnSp>
              <p:nvCxnSpPr>
                <p:cNvPr id="31" name="Rechte verbindingslijn 30"/>
                <p:cNvCxnSpPr/>
                <p:nvPr/>
              </p:nvCxnSpPr>
              <p:spPr>
                <a:xfrm rot="5400000" flipH="1" flipV="1">
                  <a:off x="2670470" y="400370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Rechte verbindingslijn 31"/>
                <p:cNvCxnSpPr/>
                <p:nvPr/>
              </p:nvCxnSpPr>
              <p:spPr>
                <a:xfrm rot="5400000" flipH="1" flipV="1">
                  <a:off x="8100379" y="4022166"/>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Rechte verbindingslijn 33"/>
                <p:cNvCxnSpPr/>
                <p:nvPr/>
              </p:nvCxnSpPr>
              <p:spPr>
                <a:xfrm>
                  <a:off x="642910" y="3857628"/>
                  <a:ext cx="814393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8" name="Tekstvak 37"/>
              <p:cNvSpPr txBox="1"/>
              <p:nvPr/>
            </p:nvSpPr>
            <p:spPr>
              <a:xfrm>
                <a:off x="714348" y="3429000"/>
                <a:ext cx="2000264" cy="369332"/>
              </a:xfrm>
              <a:prstGeom prst="rect">
                <a:avLst/>
              </a:prstGeom>
              <a:noFill/>
            </p:spPr>
            <p:txBody>
              <a:bodyPr wrap="square" rtlCol="0">
                <a:spAutoFit/>
              </a:bodyPr>
              <a:lstStyle/>
              <a:p>
                <a:pPr algn="ctr"/>
                <a:r>
                  <a:rPr lang="nl-BE" b="1" dirty="0"/>
                  <a:t>PERIODE 1</a:t>
                </a:r>
                <a:endParaRPr lang="en-US" b="1" dirty="0"/>
              </a:p>
            </p:txBody>
          </p:sp>
          <p:sp>
            <p:nvSpPr>
              <p:cNvPr id="39" name="Tekstvak 38"/>
              <p:cNvSpPr txBox="1"/>
              <p:nvPr/>
            </p:nvSpPr>
            <p:spPr>
              <a:xfrm>
                <a:off x="2857488" y="3429000"/>
                <a:ext cx="4929222" cy="369332"/>
              </a:xfrm>
              <a:prstGeom prst="rect">
                <a:avLst/>
              </a:prstGeom>
              <a:noFill/>
            </p:spPr>
            <p:txBody>
              <a:bodyPr wrap="square" rtlCol="0">
                <a:spAutoFit/>
              </a:bodyPr>
              <a:lstStyle/>
              <a:p>
                <a:pPr algn="ctr"/>
                <a:r>
                  <a:rPr lang="nl-BE" b="1" dirty="0"/>
                  <a:t>PERIODE 2</a:t>
                </a:r>
                <a:endParaRPr lang="en-US" b="1" dirty="0"/>
              </a:p>
            </p:txBody>
          </p:sp>
          <p:sp>
            <p:nvSpPr>
              <p:cNvPr id="40" name="Tekstvak 39"/>
              <p:cNvSpPr txBox="1"/>
              <p:nvPr/>
            </p:nvSpPr>
            <p:spPr>
              <a:xfrm>
                <a:off x="7929586" y="3429000"/>
                <a:ext cx="1000132" cy="307777"/>
              </a:xfrm>
              <a:prstGeom prst="rect">
                <a:avLst/>
              </a:prstGeom>
              <a:noFill/>
            </p:spPr>
            <p:txBody>
              <a:bodyPr wrap="square" rtlCol="0">
                <a:spAutoFit/>
              </a:bodyPr>
              <a:lstStyle/>
              <a:p>
                <a:r>
                  <a:rPr lang="nl-BE" sz="1400" b="1" dirty="0"/>
                  <a:t>PERIODE 3</a:t>
                </a:r>
                <a:endParaRPr lang="en-US" sz="1400" b="1" dirty="0"/>
              </a:p>
            </p:txBody>
          </p:sp>
        </p:grpSp>
      </p:grpSp>
      <p:sp>
        <p:nvSpPr>
          <p:cNvPr id="19" name="Tekstvak 18"/>
          <p:cNvSpPr txBox="1"/>
          <p:nvPr/>
        </p:nvSpPr>
        <p:spPr>
          <a:xfrm>
            <a:off x="3361859" y="375219"/>
            <a:ext cx="4357718" cy="769441"/>
          </a:xfrm>
          <a:prstGeom prst="rect">
            <a:avLst/>
          </a:prstGeom>
          <a:noFill/>
        </p:spPr>
        <p:txBody>
          <a:bodyPr wrap="square" rtlCol="0">
            <a:spAutoFit/>
          </a:bodyPr>
          <a:lstStyle/>
          <a:p>
            <a:r>
              <a:rPr lang="nl-BE" sz="4400" b="1" i="1" dirty="0"/>
              <a:t>Solution 3</a:t>
            </a:r>
            <a:endParaRPr lang="en-US" sz="4400" b="1" i="1" dirty="0"/>
          </a:p>
        </p:txBody>
      </p:sp>
      <p:sp>
        <p:nvSpPr>
          <p:cNvPr id="21" name="Tekstvak 20"/>
          <p:cNvSpPr txBox="1"/>
          <p:nvPr/>
        </p:nvSpPr>
        <p:spPr>
          <a:xfrm>
            <a:off x="824308" y="1357298"/>
            <a:ext cx="7072362" cy="523220"/>
          </a:xfrm>
          <a:prstGeom prst="rect">
            <a:avLst/>
          </a:prstGeom>
          <a:noFill/>
        </p:spPr>
        <p:txBody>
          <a:bodyPr wrap="square" rtlCol="0">
            <a:spAutoFit/>
          </a:bodyPr>
          <a:lstStyle/>
          <a:p>
            <a:r>
              <a:rPr lang="nl-BE" sz="2800" dirty="0"/>
              <a:t>Le chômeur justifie 6 ans de PP</a:t>
            </a:r>
            <a:r>
              <a:rPr lang="nl-BE" dirty="0"/>
              <a:t>.</a:t>
            </a:r>
            <a:endParaRPr lang="en-US" dirty="0"/>
          </a:p>
        </p:txBody>
      </p:sp>
      <p:sp>
        <p:nvSpPr>
          <p:cNvPr id="25" name="Tekstvak 24"/>
          <p:cNvSpPr txBox="1"/>
          <p:nvPr/>
        </p:nvSpPr>
        <p:spPr>
          <a:xfrm>
            <a:off x="2791043" y="4136045"/>
            <a:ext cx="500066" cy="338554"/>
          </a:xfrm>
          <a:prstGeom prst="rect">
            <a:avLst/>
          </a:prstGeom>
          <a:noFill/>
        </p:spPr>
        <p:txBody>
          <a:bodyPr wrap="square" rtlCol="0">
            <a:spAutoFit/>
          </a:bodyPr>
          <a:lstStyle/>
          <a:p>
            <a:r>
              <a:rPr lang="nl-BE" sz="1600" dirty="0"/>
              <a:t>2 m</a:t>
            </a:r>
            <a:endParaRPr lang="en-US" sz="1600" dirty="0"/>
          </a:p>
        </p:txBody>
      </p:sp>
      <p:sp>
        <p:nvSpPr>
          <p:cNvPr id="26" name="Tekstvak 25"/>
          <p:cNvSpPr txBox="1"/>
          <p:nvPr/>
        </p:nvSpPr>
        <p:spPr>
          <a:xfrm>
            <a:off x="3361644" y="4160911"/>
            <a:ext cx="2885137" cy="338554"/>
          </a:xfrm>
          <a:prstGeom prst="rect">
            <a:avLst/>
          </a:prstGeom>
          <a:noFill/>
        </p:spPr>
        <p:txBody>
          <a:bodyPr wrap="square" rtlCol="0">
            <a:spAutoFit/>
          </a:bodyPr>
          <a:lstStyle/>
          <a:p>
            <a:pPr algn="ctr"/>
            <a:r>
              <a:rPr lang="nl-BE" sz="1600" dirty="0"/>
              <a:t>10 mois (2 mois x 5 ans)</a:t>
            </a:r>
            <a:endParaRPr lang="en-US" sz="1600" dirty="0"/>
          </a:p>
        </p:txBody>
      </p:sp>
      <p:grpSp>
        <p:nvGrpSpPr>
          <p:cNvPr id="43" name="Groep 42"/>
          <p:cNvGrpSpPr/>
          <p:nvPr/>
        </p:nvGrpSpPr>
        <p:grpSpPr>
          <a:xfrm>
            <a:off x="621688" y="3284984"/>
            <a:ext cx="2164362" cy="1625578"/>
            <a:chOff x="621688" y="4214818"/>
            <a:chExt cx="2164362" cy="695744"/>
          </a:xfrm>
        </p:grpSpPr>
        <p:sp>
          <p:nvSpPr>
            <p:cNvPr id="23" name="Tekstvak 22"/>
            <p:cNvSpPr txBox="1"/>
            <p:nvPr/>
          </p:nvSpPr>
          <p:spPr>
            <a:xfrm>
              <a:off x="1214414" y="4572008"/>
              <a:ext cx="500066" cy="338554"/>
            </a:xfrm>
            <a:prstGeom prst="rect">
              <a:avLst/>
            </a:prstGeom>
            <a:noFill/>
          </p:spPr>
          <p:txBody>
            <a:bodyPr wrap="square" rtlCol="0">
              <a:spAutoFit/>
            </a:bodyPr>
            <a:lstStyle/>
            <a:p>
              <a:r>
                <a:rPr lang="nl-BE" sz="1600" dirty="0"/>
                <a:t>3 m</a:t>
              </a:r>
              <a:endParaRPr lang="en-US" sz="1600" dirty="0"/>
            </a:p>
          </p:txBody>
        </p:sp>
        <p:grpSp>
          <p:nvGrpSpPr>
            <p:cNvPr id="36" name="Groep 35"/>
            <p:cNvGrpSpPr/>
            <p:nvPr/>
          </p:nvGrpSpPr>
          <p:grpSpPr>
            <a:xfrm>
              <a:off x="621688" y="4214818"/>
              <a:ext cx="2164362" cy="695744"/>
              <a:chOff x="621688" y="4214818"/>
              <a:chExt cx="2164362" cy="695744"/>
            </a:xfrm>
          </p:grpSpPr>
          <p:sp>
            <p:nvSpPr>
              <p:cNvPr id="22" name="Tekstvak 21"/>
              <p:cNvSpPr txBox="1"/>
              <p:nvPr/>
            </p:nvSpPr>
            <p:spPr>
              <a:xfrm>
                <a:off x="642910" y="4572008"/>
                <a:ext cx="500066" cy="338554"/>
              </a:xfrm>
              <a:prstGeom prst="rect">
                <a:avLst/>
              </a:prstGeom>
              <a:noFill/>
            </p:spPr>
            <p:txBody>
              <a:bodyPr wrap="square" rtlCol="0">
                <a:spAutoFit/>
              </a:bodyPr>
              <a:lstStyle/>
              <a:p>
                <a:r>
                  <a:rPr lang="nl-BE" sz="1600" dirty="0"/>
                  <a:t>3 m</a:t>
                </a:r>
                <a:endParaRPr lang="en-US" sz="1600" dirty="0"/>
              </a:p>
            </p:txBody>
          </p:sp>
          <p:sp>
            <p:nvSpPr>
              <p:cNvPr id="24" name="Tekstvak 23"/>
              <p:cNvSpPr txBox="1"/>
              <p:nvPr/>
            </p:nvSpPr>
            <p:spPr>
              <a:xfrm>
                <a:off x="2000232" y="4572008"/>
                <a:ext cx="500066" cy="338554"/>
              </a:xfrm>
              <a:prstGeom prst="rect">
                <a:avLst/>
              </a:prstGeom>
              <a:noFill/>
            </p:spPr>
            <p:txBody>
              <a:bodyPr wrap="square" rtlCol="0">
                <a:spAutoFit/>
              </a:bodyPr>
              <a:lstStyle/>
              <a:p>
                <a:r>
                  <a:rPr lang="nl-BE" sz="1600" dirty="0"/>
                  <a:t>6 m</a:t>
                </a:r>
                <a:endParaRPr lang="en-US" sz="1600" dirty="0"/>
              </a:p>
            </p:txBody>
          </p:sp>
          <p:sp>
            <p:nvSpPr>
              <p:cNvPr id="27" name="Rechthoek 26"/>
              <p:cNvSpPr/>
              <p:nvPr/>
            </p:nvSpPr>
            <p:spPr>
              <a:xfrm>
                <a:off x="621688" y="4214818"/>
                <a:ext cx="540000" cy="360000"/>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11</a:t>
                </a:r>
                <a:endParaRPr lang="en-US" sz="1100" dirty="0"/>
              </a:p>
            </p:txBody>
          </p:sp>
          <p:sp>
            <p:nvSpPr>
              <p:cNvPr id="28" name="Rechthoek 27"/>
              <p:cNvSpPr/>
              <p:nvPr/>
            </p:nvSpPr>
            <p:spPr>
              <a:xfrm>
                <a:off x="1165896" y="4214818"/>
                <a:ext cx="540000" cy="360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Phase2</a:t>
                </a:r>
              </a:p>
              <a:p>
                <a:pPr algn="ctr"/>
                <a:endParaRPr lang="nl-BE" sz="1100" dirty="0"/>
              </a:p>
              <a:p>
                <a:pPr algn="ctr"/>
                <a:r>
                  <a:rPr lang="nl-BE" sz="1100" dirty="0"/>
                  <a:t>12</a:t>
                </a:r>
                <a:endParaRPr lang="en-US" sz="1100" dirty="0"/>
              </a:p>
            </p:txBody>
          </p:sp>
          <p:sp>
            <p:nvSpPr>
              <p:cNvPr id="29" name="Rechthoek 28"/>
              <p:cNvSpPr/>
              <p:nvPr/>
            </p:nvSpPr>
            <p:spPr>
              <a:xfrm>
                <a:off x="1706050" y="4214818"/>
                <a:ext cx="1080000" cy="3600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050" dirty="0"/>
                  <a:t>Phase</a:t>
                </a:r>
              </a:p>
              <a:p>
                <a:pPr algn="ctr"/>
                <a:r>
                  <a:rPr lang="nl-BE" sz="1050" dirty="0"/>
                  <a:t>3</a:t>
                </a:r>
              </a:p>
              <a:p>
                <a:pPr algn="ctr"/>
                <a:endParaRPr lang="nl-BE" sz="1050" dirty="0"/>
              </a:p>
              <a:p>
                <a:pPr algn="ctr"/>
                <a:r>
                  <a:rPr lang="nl-BE" sz="1050" dirty="0"/>
                  <a:t>13</a:t>
                </a:r>
                <a:endParaRPr lang="en-US" sz="1050" dirty="0"/>
              </a:p>
            </p:txBody>
          </p:sp>
        </p:grpSp>
      </p:grpSp>
      <p:sp>
        <p:nvSpPr>
          <p:cNvPr id="33" name="PIJL-RECHTS 32"/>
          <p:cNvSpPr/>
          <p:nvPr/>
        </p:nvSpPr>
        <p:spPr>
          <a:xfrm>
            <a:off x="8226010" y="3327886"/>
            <a:ext cx="834178" cy="84112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400" dirty="0"/>
              <a:t>F</a:t>
            </a:r>
            <a:endParaRPr lang="en-US" sz="1600" dirty="0"/>
          </a:p>
        </p:txBody>
      </p:sp>
      <p:sp>
        <p:nvSpPr>
          <p:cNvPr id="41" name="Rechthoek 40"/>
          <p:cNvSpPr/>
          <p:nvPr/>
        </p:nvSpPr>
        <p:spPr>
          <a:xfrm>
            <a:off x="2786050" y="3284984"/>
            <a:ext cx="540000" cy="84112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2A</a:t>
            </a:r>
            <a:endParaRPr lang="en-US" sz="1100" dirty="0"/>
          </a:p>
        </p:txBody>
      </p:sp>
      <p:sp>
        <p:nvSpPr>
          <p:cNvPr id="42" name="Rechthoek 41"/>
          <p:cNvSpPr/>
          <p:nvPr/>
        </p:nvSpPr>
        <p:spPr>
          <a:xfrm>
            <a:off x="3357134" y="3284984"/>
            <a:ext cx="2799042" cy="841126"/>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dirty="0"/>
              <a:t>Phase 2.0</a:t>
            </a:r>
          </a:p>
          <a:p>
            <a:pPr algn="ctr"/>
            <a:endParaRPr lang="nl-BE" sz="1400" dirty="0"/>
          </a:p>
          <a:p>
            <a:pPr algn="ctr"/>
            <a:r>
              <a:rPr lang="nl-BE" sz="1400" dirty="0"/>
              <a:t>2B</a:t>
            </a:r>
            <a:endParaRPr lang="en-US" sz="1400" dirty="0"/>
          </a:p>
        </p:txBody>
      </p:sp>
      <p:sp>
        <p:nvSpPr>
          <p:cNvPr id="4" name="Espace réservé du numéro de diapositive 3"/>
          <p:cNvSpPr>
            <a:spLocks noGrp="1"/>
          </p:cNvSpPr>
          <p:nvPr>
            <p:ph type="sldNum" sz="quarter" idx="12"/>
          </p:nvPr>
        </p:nvSpPr>
        <p:spPr/>
        <p:txBody>
          <a:bodyPr/>
          <a:lstStyle/>
          <a:p>
            <a:fld id="{BDBE9B73-5FDC-46B2-A79B-5912A94C84D5}" type="slidenum">
              <a:rPr lang="nl-BE" smtClean="0"/>
              <a:pPr/>
              <a:t>47</a:t>
            </a:fld>
            <a:endParaRPr lang="nl-BE" dirty="0"/>
          </a:p>
        </p:txBody>
      </p:sp>
      <p:cxnSp>
        <p:nvCxnSpPr>
          <p:cNvPr id="45" name="Connecteur droit 44"/>
          <p:cNvCxnSpPr/>
          <p:nvPr/>
        </p:nvCxnSpPr>
        <p:spPr>
          <a:xfrm flipH="1">
            <a:off x="8194174" y="4080702"/>
            <a:ext cx="19422" cy="171153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flipH="1">
            <a:off x="3324700" y="4120289"/>
            <a:ext cx="1350" cy="17235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a:xfrm>
            <a:off x="2787591" y="4126110"/>
            <a:ext cx="12769" cy="139112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a:xfrm flipH="1">
            <a:off x="1705662" y="4126110"/>
            <a:ext cx="2118" cy="114808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a:xfrm>
            <a:off x="1156866" y="4126110"/>
            <a:ext cx="11452" cy="80357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flipH="1">
            <a:off x="628687" y="4126110"/>
            <a:ext cx="2408" cy="52281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2" name="Tekstvak 25"/>
          <p:cNvSpPr txBox="1"/>
          <p:nvPr/>
        </p:nvSpPr>
        <p:spPr>
          <a:xfrm>
            <a:off x="144039" y="4702850"/>
            <a:ext cx="949224" cy="338554"/>
          </a:xfrm>
          <a:prstGeom prst="rect">
            <a:avLst/>
          </a:prstGeom>
          <a:noFill/>
        </p:spPr>
        <p:txBody>
          <a:bodyPr wrap="square" rtlCol="0">
            <a:spAutoFit/>
          </a:bodyPr>
          <a:lstStyle/>
          <a:p>
            <a:pPr algn="ctr"/>
            <a:r>
              <a:rPr lang="nl-BE" sz="1600" dirty="0"/>
              <a:t>24.11.22</a:t>
            </a:r>
            <a:endParaRPr lang="en-US" sz="1600" dirty="0"/>
          </a:p>
        </p:txBody>
      </p:sp>
      <p:sp>
        <p:nvSpPr>
          <p:cNvPr id="53" name="Tekstvak 25"/>
          <p:cNvSpPr txBox="1"/>
          <p:nvPr/>
        </p:nvSpPr>
        <p:spPr>
          <a:xfrm>
            <a:off x="689624" y="4935636"/>
            <a:ext cx="949224" cy="338554"/>
          </a:xfrm>
          <a:prstGeom prst="rect">
            <a:avLst/>
          </a:prstGeom>
          <a:noFill/>
        </p:spPr>
        <p:txBody>
          <a:bodyPr wrap="square" rtlCol="0">
            <a:spAutoFit/>
          </a:bodyPr>
          <a:lstStyle/>
          <a:p>
            <a:pPr algn="ctr"/>
            <a:r>
              <a:rPr lang="nl-BE" sz="1600" dirty="0"/>
              <a:t>24.02.23</a:t>
            </a:r>
            <a:endParaRPr lang="en-US" sz="1600" dirty="0"/>
          </a:p>
        </p:txBody>
      </p:sp>
      <p:sp>
        <p:nvSpPr>
          <p:cNvPr id="55" name="Tekstvak 25"/>
          <p:cNvSpPr txBox="1"/>
          <p:nvPr/>
        </p:nvSpPr>
        <p:spPr>
          <a:xfrm>
            <a:off x="1231050" y="5299264"/>
            <a:ext cx="949224" cy="338554"/>
          </a:xfrm>
          <a:prstGeom prst="rect">
            <a:avLst/>
          </a:prstGeom>
          <a:noFill/>
        </p:spPr>
        <p:txBody>
          <a:bodyPr wrap="square" rtlCol="0">
            <a:spAutoFit/>
          </a:bodyPr>
          <a:lstStyle/>
          <a:p>
            <a:pPr algn="ctr"/>
            <a:r>
              <a:rPr lang="nl-BE" sz="1600" dirty="0"/>
              <a:t>24.05.23</a:t>
            </a:r>
            <a:endParaRPr lang="en-US" sz="1600" dirty="0"/>
          </a:p>
        </p:txBody>
      </p:sp>
      <p:sp>
        <p:nvSpPr>
          <p:cNvPr id="56" name="Tekstvak 25"/>
          <p:cNvSpPr txBox="1"/>
          <p:nvPr/>
        </p:nvSpPr>
        <p:spPr>
          <a:xfrm>
            <a:off x="2338734" y="5517232"/>
            <a:ext cx="949224" cy="338554"/>
          </a:xfrm>
          <a:prstGeom prst="rect">
            <a:avLst/>
          </a:prstGeom>
          <a:noFill/>
        </p:spPr>
        <p:txBody>
          <a:bodyPr wrap="square" rtlCol="0">
            <a:spAutoFit/>
          </a:bodyPr>
          <a:lstStyle/>
          <a:p>
            <a:pPr algn="ctr"/>
            <a:r>
              <a:rPr lang="fr-BE" sz="1600" dirty="0"/>
              <a:t>24.11.23</a:t>
            </a:r>
            <a:endParaRPr lang="nl-BE" sz="1600" dirty="0"/>
          </a:p>
        </p:txBody>
      </p:sp>
      <p:sp>
        <p:nvSpPr>
          <p:cNvPr id="57" name="Tekstvak 25"/>
          <p:cNvSpPr txBox="1"/>
          <p:nvPr/>
        </p:nvSpPr>
        <p:spPr>
          <a:xfrm>
            <a:off x="2838801" y="5855786"/>
            <a:ext cx="949224" cy="338554"/>
          </a:xfrm>
          <a:prstGeom prst="rect">
            <a:avLst/>
          </a:prstGeom>
          <a:noFill/>
        </p:spPr>
        <p:txBody>
          <a:bodyPr wrap="square" rtlCol="0">
            <a:spAutoFit/>
          </a:bodyPr>
          <a:lstStyle/>
          <a:p>
            <a:pPr algn="ctr"/>
            <a:r>
              <a:rPr lang="nl-BE" sz="1600" dirty="0"/>
              <a:t>24.01.24</a:t>
            </a:r>
            <a:endParaRPr lang="en-US" sz="1600" dirty="0"/>
          </a:p>
        </p:txBody>
      </p:sp>
      <p:sp>
        <p:nvSpPr>
          <p:cNvPr id="58" name="Tekstvak 25"/>
          <p:cNvSpPr txBox="1"/>
          <p:nvPr/>
        </p:nvSpPr>
        <p:spPr>
          <a:xfrm>
            <a:off x="7422058" y="5843805"/>
            <a:ext cx="949224" cy="338554"/>
          </a:xfrm>
          <a:prstGeom prst="rect">
            <a:avLst/>
          </a:prstGeom>
          <a:noFill/>
        </p:spPr>
        <p:txBody>
          <a:bodyPr wrap="square" rtlCol="0">
            <a:spAutoFit/>
          </a:bodyPr>
          <a:lstStyle/>
          <a:p>
            <a:pPr algn="ctr"/>
            <a:r>
              <a:rPr lang="nl-BE" sz="1600" dirty="0"/>
              <a:t>24.01.25</a:t>
            </a:r>
            <a:endParaRPr lang="en-US" sz="1600" dirty="0"/>
          </a:p>
        </p:txBody>
      </p:sp>
      <p:sp>
        <p:nvSpPr>
          <p:cNvPr id="51" name="Rechthoek 42"/>
          <p:cNvSpPr/>
          <p:nvPr/>
        </p:nvSpPr>
        <p:spPr>
          <a:xfrm>
            <a:off x="6187259" y="3284984"/>
            <a:ext cx="2036047" cy="851061"/>
          </a:xfrm>
          <a:prstGeom prst="rect">
            <a:avLst/>
          </a:prstGeom>
          <a:solidFill>
            <a:srgbClr val="F479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600" b="1" dirty="0"/>
              <a:t>Phase 2.1</a:t>
            </a:r>
            <a:endParaRPr lang="en-US" sz="1600" b="1" dirty="0"/>
          </a:p>
        </p:txBody>
      </p:sp>
      <p:sp>
        <p:nvSpPr>
          <p:cNvPr id="54" name="Rechthoek 27"/>
          <p:cNvSpPr/>
          <p:nvPr/>
        </p:nvSpPr>
        <p:spPr>
          <a:xfrm>
            <a:off x="6187260" y="4136045"/>
            <a:ext cx="1633816" cy="584775"/>
          </a:xfrm>
          <a:prstGeom prst="rect">
            <a:avLst/>
          </a:prstGeom>
        </p:spPr>
        <p:txBody>
          <a:bodyPr wrap="square">
            <a:spAutoFit/>
          </a:bodyPr>
          <a:lstStyle/>
          <a:p>
            <a:pPr lvl="0" algn="ctr"/>
            <a:r>
              <a:rPr lang="nl-BE" sz="1600" dirty="0">
                <a:solidFill>
                  <a:prstClr val="black"/>
                </a:solidFill>
              </a:rPr>
              <a:t>2 mois (2 mois x 1an) </a:t>
            </a:r>
            <a:endParaRPr lang="en-US" sz="1600" dirty="0">
              <a:solidFill>
                <a:prstClr val="black"/>
              </a:solidFill>
            </a:endParaRPr>
          </a:p>
        </p:txBody>
      </p:sp>
      <p:cxnSp>
        <p:nvCxnSpPr>
          <p:cNvPr id="59" name="Connecteur droit 58"/>
          <p:cNvCxnSpPr/>
          <p:nvPr/>
        </p:nvCxnSpPr>
        <p:spPr>
          <a:xfrm flipH="1">
            <a:off x="6139457" y="4125975"/>
            <a:ext cx="19422" cy="171153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0" name="Tekstvak 25"/>
          <p:cNvSpPr txBox="1"/>
          <p:nvPr/>
        </p:nvSpPr>
        <p:spPr>
          <a:xfrm>
            <a:off x="5664845" y="5872311"/>
            <a:ext cx="949224" cy="338554"/>
          </a:xfrm>
          <a:prstGeom prst="rect">
            <a:avLst/>
          </a:prstGeom>
          <a:noFill/>
        </p:spPr>
        <p:txBody>
          <a:bodyPr wrap="square" rtlCol="0">
            <a:spAutoFit/>
          </a:bodyPr>
          <a:lstStyle/>
          <a:p>
            <a:pPr algn="ctr"/>
            <a:r>
              <a:rPr lang="nl-BE" sz="1600" dirty="0"/>
              <a:t>24.11.24</a:t>
            </a:r>
            <a:endParaRPr lang="en-US" sz="1600" dirty="0"/>
          </a:p>
        </p:txBody>
      </p:sp>
      <p:pic>
        <p:nvPicPr>
          <p:cNvPr id="2" name="Image 1">
            <a:hlinkClick r:id="rId3" action="ppaction://hlinksldjump"/>
          </p:cNvPr>
          <p:cNvPicPr>
            <a:picLocks noChangeAspect="1"/>
          </p:cNvPicPr>
          <p:nvPr/>
        </p:nvPicPr>
        <p:blipFill>
          <a:blip r:embed="rId4"/>
          <a:stretch>
            <a:fillRect/>
          </a:stretch>
        </p:blipFill>
        <p:spPr>
          <a:xfrm>
            <a:off x="7640616" y="6429174"/>
            <a:ext cx="256054" cy="219475"/>
          </a:xfrm>
          <a:prstGeom prst="rect">
            <a:avLst/>
          </a:prstGeom>
        </p:spPr>
      </p:pic>
    </p:spTree>
    <p:extLst>
      <p:ext uri="{BB962C8B-B14F-4D97-AF65-F5344CB8AC3E}">
        <p14:creationId xmlns:p14="http://schemas.microsoft.com/office/powerpoint/2010/main" val="7052396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4"/>
                                        </p:tgtEl>
                                        <p:attrNameLst>
                                          <p:attrName>style.visibility</p:attrName>
                                        </p:attrNameLst>
                                      </p:cBhvr>
                                      <p:to>
                                        <p:strVal val="visible"/>
                                      </p:to>
                                    </p:set>
                                  </p:childTnLst>
                                </p:cTn>
                              </p:par>
                              <p:par>
                                <p:cTn id="38" presetID="10" presetClass="entr" presetSubtype="0" fill="hold" grpId="0" nodeType="withEffect">
                                  <p:stCondLst>
                                    <p:cond delay="0"/>
                                  </p:stCondLst>
                                  <p:childTnLst>
                                    <p:set>
                                      <p:cBhvr>
                                        <p:cTn id="39" dur="1" fill="hold">
                                          <p:stCondLst>
                                            <p:cond delay="0"/>
                                          </p:stCondLst>
                                        </p:cTn>
                                        <p:tgtEl>
                                          <p:spTgt spid="51"/>
                                        </p:tgtEl>
                                        <p:attrNameLst>
                                          <p:attrName>style.visibility</p:attrName>
                                        </p:attrNameLst>
                                      </p:cBhvr>
                                      <p:to>
                                        <p:strVal val="visible"/>
                                      </p:to>
                                    </p:set>
                                    <p:animEffect transition="in" filter="fade">
                                      <p:cBhvr>
                                        <p:cTn id="40" dur="500"/>
                                        <p:tgtEl>
                                          <p:spTgt spid="5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fade">
                                      <p:cBhvr>
                                        <p:cTn id="50" dur="500"/>
                                        <p:tgtEl>
                                          <p:spTgt spid="5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500"/>
                                        <p:tgtEl>
                                          <p:spTgt spid="5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500"/>
                                        <p:tgtEl>
                                          <p:spTgt spid="5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5"/>
                                        </p:tgtEl>
                                        <p:attrNameLst>
                                          <p:attrName>style.visibility</p:attrName>
                                        </p:attrNameLst>
                                      </p:cBhvr>
                                      <p:to>
                                        <p:strVal val="visible"/>
                                      </p:to>
                                    </p:set>
                                    <p:animEffect transition="in" filter="fade">
                                      <p:cBhvr>
                                        <p:cTn id="69" dur="500"/>
                                        <p:tgtEl>
                                          <p:spTgt spid="5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500"/>
                                        <p:tgtEl>
                                          <p:spTgt spid="4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fade">
                                      <p:cBhvr>
                                        <p:cTn id="77" dur="500"/>
                                        <p:tgtEl>
                                          <p:spTgt spid="5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500"/>
                                        <p:tgtEl>
                                          <p:spTgt spid="4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500"/>
                                        <p:tgtEl>
                                          <p:spTgt spid="57"/>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59"/>
                                        </p:tgtEl>
                                        <p:attrNameLst>
                                          <p:attrName>style.visibility</p:attrName>
                                        </p:attrNameLst>
                                      </p:cBhvr>
                                      <p:to>
                                        <p:strVal val="visible"/>
                                      </p:to>
                                    </p:set>
                                    <p:animEffect transition="in" filter="fade">
                                      <p:cBhvr>
                                        <p:cTn id="90" dur="500"/>
                                        <p:tgtEl>
                                          <p:spTgt spid="5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60"/>
                                        </p:tgtEl>
                                        <p:attrNameLst>
                                          <p:attrName>style.visibility</p:attrName>
                                        </p:attrNameLst>
                                      </p:cBhvr>
                                      <p:to>
                                        <p:strVal val="visible"/>
                                      </p:to>
                                    </p:set>
                                    <p:animEffect transition="in" filter="fade">
                                      <p:cBhvr>
                                        <p:cTn id="93" dur="500"/>
                                        <p:tgtEl>
                                          <p:spTgt spid="60"/>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5"/>
                                        </p:tgtEl>
                                        <p:attrNameLst>
                                          <p:attrName>style.visibility</p:attrName>
                                        </p:attrNameLst>
                                      </p:cBhvr>
                                      <p:to>
                                        <p:strVal val="visible"/>
                                      </p:to>
                                    </p:set>
                                    <p:animEffect transition="in" filter="fade">
                                      <p:cBhvr>
                                        <p:cTn id="98" dur="500"/>
                                        <p:tgtEl>
                                          <p:spTgt spid="4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8"/>
                                        </p:tgtEl>
                                        <p:attrNameLst>
                                          <p:attrName>style.visibility</p:attrName>
                                        </p:attrNameLst>
                                      </p:cBhvr>
                                      <p:to>
                                        <p:strVal val="visible"/>
                                      </p:to>
                                    </p:set>
                                    <p:animEffect transition="in" filter="fade">
                                      <p:cBhvr>
                                        <p:cTn id="10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6" grpId="0"/>
      <p:bldP spid="33" grpId="0" animBg="1"/>
      <p:bldP spid="41" grpId="0" animBg="1"/>
      <p:bldP spid="42" grpId="0" animBg="1"/>
      <p:bldP spid="52" grpId="0"/>
      <p:bldP spid="53" grpId="0"/>
      <p:bldP spid="55" grpId="0"/>
      <p:bldP spid="56" grpId="0"/>
      <p:bldP spid="57" grpId="0"/>
      <p:bldP spid="58" grpId="0"/>
      <p:bldP spid="51" grpId="0" animBg="1"/>
      <p:bldP spid="54" grpId="0"/>
      <p:bldP spid="6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ep 43"/>
          <p:cNvGrpSpPr/>
          <p:nvPr/>
        </p:nvGrpSpPr>
        <p:grpSpPr>
          <a:xfrm>
            <a:off x="626684" y="2106716"/>
            <a:ext cx="8286808" cy="1073510"/>
            <a:chOff x="642910" y="3429000"/>
            <a:chExt cx="8286808" cy="717578"/>
          </a:xfrm>
        </p:grpSpPr>
        <p:cxnSp>
          <p:nvCxnSpPr>
            <p:cNvPr id="30" name="Rechte verbindingslijn 29"/>
            <p:cNvCxnSpPr/>
            <p:nvPr/>
          </p:nvCxnSpPr>
          <p:spPr>
            <a:xfrm rot="5400000" flipH="1" flipV="1">
              <a:off x="500034" y="4000504"/>
              <a:ext cx="2857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Groep 36"/>
            <p:cNvGrpSpPr/>
            <p:nvPr/>
          </p:nvGrpSpPr>
          <p:grpSpPr>
            <a:xfrm>
              <a:off x="642910" y="3429000"/>
              <a:ext cx="8286808" cy="717578"/>
              <a:chOff x="642910" y="3429000"/>
              <a:chExt cx="8286808" cy="717578"/>
            </a:xfrm>
          </p:grpSpPr>
          <p:grpSp>
            <p:nvGrpSpPr>
              <p:cNvPr id="35" name="Groep 34"/>
              <p:cNvGrpSpPr/>
              <p:nvPr/>
            </p:nvGrpSpPr>
            <p:grpSpPr>
              <a:xfrm>
                <a:off x="642910" y="3857628"/>
                <a:ext cx="8143932" cy="288950"/>
                <a:chOff x="642910" y="3857628"/>
                <a:chExt cx="8143932" cy="288950"/>
              </a:xfrm>
            </p:grpSpPr>
            <p:cxnSp>
              <p:nvCxnSpPr>
                <p:cNvPr id="31" name="Rechte verbindingslijn 30"/>
                <p:cNvCxnSpPr/>
                <p:nvPr/>
              </p:nvCxnSpPr>
              <p:spPr>
                <a:xfrm rot="5400000" flipH="1" flipV="1">
                  <a:off x="2670470" y="400370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Rechte verbindingslijn 31"/>
                <p:cNvCxnSpPr/>
                <p:nvPr/>
              </p:nvCxnSpPr>
              <p:spPr>
                <a:xfrm rot="5400000" flipH="1" flipV="1">
                  <a:off x="7992787" y="4000504"/>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Rechte verbindingslijn 33"/>
                <p:cNvCxnSpPr/>
                <p:nvPr/>
              </p:nvCxnSpPr>
              <p:spPr>
                <a:xfrm>
                  <a:off x="642910" y="3857628"/>
                  <a:ext cx="814393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8" name="Tekstvak 37"/>
              <p:cNvSpPr txBox="1"/>
              <p:nvPr/>
            </p:nvSpPr>
            <p:spPr>
              <a:xfrm>
                <a:off x="714348" y="3429000"/>
                <a:ext cx="2000264" cy="369332"/>
              </a:xfrm>
              <a:prstGeom prst="rect">
                <a:avLst/>
              </a:prstGeom>
              <a:noFill/>
            </p:spPr>
            <p:txBody>
              <a:bodyPr wrap="square" rtlCol="0">
                <a:spAutoFit/>
              </a:bodyPr>
              <a:lstStyle/>
              <a:p>
                <a:pPr algn="ctr"/>
                <a:r>
                  <a:rPr lang="nl-BE" b="1" dirty="0"/>
                  <a:t>PERIODE 1</a:t>
                </a:r>
                <a:endParaRPr lang="en-US" b="1" dirty="0"/>
              </a:p>
            </p:txBody>
          </p:sp>
          <p:sp>
            <p:nvSpPr>
              <p:cNvPr id="39" name="Tekstvak 38"/>
              <p:cNvSpPr txBox="1"/>
              <p:nvPr/>
            </p:nvSpPr>
            <p:spPr>
              <a:xfrm>
                <a:off x="2857488" y="3429000"/>
                <a:ext cx="4929222" cy="369332"/>
              </a:xfrm>
              <a:prstGeom prst="rect">
                <a:avLst/>
              </a:prstGeom>
              <a:noFill/>
            </p:spPr>
            <p:txBody>
              <a:bodyPr wrap="square" rtlCol="0">
                <a:spAutoFit/>
              </a:bodyPr>
              <a:lstStyle/>
              <a:p>
                <a:pPr algn="ctr"/>
                <a:r>
                  <a:rPr lang="nl-BE" b="1" dirty="0"/>
                  <a:t>PERIODE 2</a:t>
                </a:r>
                <a:endParaRPr lang="en-US" b="1" dirty="0"/>
              </a:p>
            </p:txBody>
          </p:sp>
          <p:sp>
            <p:nvSpPr>
              <p:cNvPr id="40" name="Tekstvak 39"/>
              <p:cNvSpPr txBox="1"/>
              <p:nvPr/>
            </p:nvSpPr>
            <p:spPr>
              <a:xfrm>
                <a:off x="7929586" y="3429000"/>
                <a:ext cx="1000132" cy="307777"/>
              </a:xfrm>
              <a:prstGeom prst="rect">
                <a:avLst/>
              </a:prstGeom>
              <a:noFill/>
            </p:spPr>
            <p:txBody>
              <a:bodyPr wrap="square" rtlCol="0">
                <a:spAutoFit/>
              </a:bodyPr>
              <a:lstStyle/>
              <a:p>
                <a:r>
                  <a:rPr lang="nl-BE" sz="1400" b="1" dirty="0"/>
                  <a:t>PERIODE 3</a:t>
                </a:r>
                <a:endParaRPr lang="en-US" sz="1400" b="1" dirty="0"/>
              </a:p>
            </p:txBody>
          </p:sp>
        </p:grpSp>
      </p:grpSp>
      <p:sp>
        <p:nvSpPr>
          <p:cNvPr id="19" name="Tekstvak 18"/>
          <p:cNvSpPr txBox="1"/>
          <p:nvPr/>
        </p:nvSpPr>
        <p:spPr>
          <a:xfrm>
            <a:off x="3361859" y="375219"/>
            <a:ext cx="4357718" cy="769441"/>
          </a:xfrm>
          <a:prstGeom prst="rect">
            <a:avLst/>
          </a:prstGeom>
          <a:noFill/>
        </p:spPr>
        <p:txBody>
          <a:bodyPr wrap="square" rtlCol="0">
            <a:spAutoFit/>
          </a:bodyPr>
          <a:lstStyle/>
          <a:p>
            <a:r>
              <a:rPr lang="nl-BE" sz="4400" b="1" i="1" dirty="0"/>
              <a:t>Solution 4</a:t>
            </a:r>
            <a:endParaRPr lang="en-US" sz="4400" b="1" i="1" dirty="0"/>
          </a:p>
        </p:txBody>
      </p:sp>
      <p:sp>
        <p:nvSpPr>
          <p:cNvPr id="21" name="Tekstvak 20"/>
          <p:cNvSpPr txBox="1"/>
          <p:nvPr/>
        </p:nvSpPr>
        <p:spPr>
          <a:xfrm>
            <a:off x="824308" y="1357298"/>
            <a:ext cx="7072362" cy="523220"/>
          </a:xfrm>
          <a:prstGeom prst="rect">
            <a:avLst/>
          </a:prstGeom>
          <a:noFill/>
        </p:spPr>
        <p:txBody>
          <a:bodyPr wrap="square" rtlCol="0">
            <a:spAutoFit/>
          </a:bodyPr>
          <a:lstStyle/>
          <a:p>
            <a:r>
              <a:rPr lang="nl-BE" sz="2800" dirty="0"/>
              <a:t>Le chômeur justifie 15 ans de PP</a:t>
            </a:r>
            <a:r>
              <a:rPr lang="nl-BE" dirty="0"/>
              <a:t>.</a:t>
            </a:r>
            <a:endParaRPr lang="en-US" dirty="0"/>
          </a:p>
        </p:txBody>
      </p:sp>
      <p:sp>
        <p:nvSpPr>
          <p:cNvPr id="25" name="Tekstvak 24"/>
          <p:cNvSpPr txBox="1"/>
          <p:nvPr/>
        </p:nvSpPr>
        <p:spPr>
          <a:xfrm>
            <a:off x="2791043" y="4136045"/>
            <a:ext cx="500066" cy="338554"/>
          </a:xfrm>
          <a:prstGeom prst="rect">
            <a:avLst/>
          </a:prstGeom>
          <a:noFill/>
        </p:spPr>
        <p:txBody>
          <a:bodyPr wrap="square" rtlCol="0">
            <a:spAutoFit/>
          </a:bodyPr>
          <a:lstStyle/>
          <a:p>
            <a:r>
              <a:rPr lang="nl-BE" sz="1600" dirty="0"/>
              <a:t>2 m</a:t>
            </a:r>
            <a:endParaRPr lang="en-US" sz="1600" dirty="0"/>
          </a:p>
        </p:txBody>
      </p:sp>
      <p:grpSp>
        <p:nvGrpSpPr>
          <p:cNvPr id="43" name="Groep 42"/>
          <p:cNvGrpSpPr/>
          <p:nvPr/>
        </p:nvGrpSpPr>
        <p:grpSpPr>
          <a:xfrm>
            <a:off x="621688" y="3284984"/>
            <a:ext cx="2164362" cy="1625578"/>
            <a:chOff x="621688" y="4214818"/>
            <a:chExt cx="2164362" cy="695744"/>
          </a:xfrm>
        </p:grpSpPr>
        <p:sp>
          <p:nvSpPr>
            <p:cNvPr id="23" name="Tekstvak 22"/>
            <p:cNvSpPr txBox="1"/>
            <p:nvPr/>
          </p:nvSpPr>
          <p:spPr>
            <a:xfrm>
              <a:off x="1214414" y="4572008"/>
              <a:ext cx="500066" cy="338554"/>
            </a:xfrm>
            <a:prstGeom prst="rect">
              <a:avLst/>
            </a:prstGeom>
            <a:noFill/>
          </p:spPr>
          <p:txBody>
            <a:bodyPr wrap="square" rtlCol="0">
              <a:spAutoFit/>
            </a:bodyPr>
            <a:lstStyle/>
            <a:p>
              <a:r>
                <a:rPr lang="nl-BE" sz="1600" dirty="0"/>
                <a:t>3 m</a:t>
              </a:r>
              <a:endParaRPr lang="en-US" sz="1600" dirty="0"/>
            </a:p>
          </p:txBody>
        </p:sp>
        <p:grpSp>
          <p:nvGrpSpPr>
            <p:cNvPr id="36" name="Groep 35"/>
            <p:cNvGrpSpPr/>
            <p:nvPr/>
          </p:nvGrpSpPr>
          <p:grpSpPr>
            <a:xfrm>
              <a:off x="621688" y="4214818"/>
              <a:ext cx="2164362" cy="695744"/>
              <a:chOff x="621688" y="4214818"/>
              <a:chExt cx="2164362" cy="695744"/>
            </a:xfrm>
          </p:grpSpPr>
          <p:sp>
            <p:nvSpPr>
              <p:cNvPr id="22" name="Tekstvak 21"/>
              <p:cNvSpPr txBox="1"/>
              <p:nvPr/>
            </p:nvSpPr>
            <p:spPr>
              <a:xfrm>
                <a:off x="642910" y="4572008"/>
                <a:ext cx="500066" cy="338554"/>
              </a:xfrm>
              <a:prstGeom prst="rect">
                <a:avLst/>
              </a:prstGeom>
              <a:noFill/>
            </p:spPr>
            <p:txBody>
              <a:bodyPr wrap="square" rtlCol="0">
                <a:spAutoFit/>
              </a:bodyPr>
              <a:lstStyle/>
              <a:p>
                <a:r>
                  <a:rPr lang="nl-BE" sz="1600" dirty="0"/>
                  <a:t>3 m</a:t>
                </a:r>
                <a:endParaRPr lang="en-US" sz="1600" dirty="0"/>
              </a:p>
            </p:txBody>
          </p:sp>
          <p:sp>
            <p:nvSpPr>
              <p:cNvPr id="24" name="Tekstvak 23"/>
              <p:cNvSpPr txBox="1"/>
              <p:nvPr/>
            </p:nvSpPr>
            <p:spPr>
              <a:xfrm>
                <a:off x="2000232" y="4572008"/>
                <a:ext cx="500066" cy="338554"/>
              </a:xfrm>
              <a:prstGeom prst="rect">
                <a:avLst/>
              </a:prstGeom>
              <a:noFill/>
            </p:spPr>
            <p:txBody>
              <a:bodyPr wrap="square" rtlCol="0">
                <a:spAutoFit/>
              </a:bodyPr>
              <a:lstStyle/>
              <a:p>
                <a:r>
                  <a:rPr lang="nl-BE" sz="1600" dirty="0"/>
                  <a:t>6 m</a:t>
                </a:r>
                <a:endParaRPr lang="en-US" sz="1600" dirty="0"/>
              </a:p>
            </p:txBody>
          </p:sp>
          <p:sp>
            <p:nvSpPr>
              <p:cNvPr id="27" name="Rechthoek 26"/>
              <p:cNvSpPr/>
              <p:nvPr/>
            </p:nvSpPr>
            <p:spPr>
              <a:xfrm>
                <a:off x="621688" y="4214818"/>
                <a:ext cx="540000" cy="360000"/>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11</a:t>
                </a:r>
                <a:endParaRPr lang="en-US" sz="1100" dirty="0"/>
              </a:p>
            </p:txBody>
          </p:sp>
          <p:sp>
            <p:nvSpPr>
              <p:cNvPr id="28" name="Rechthoek 27"/>
              <p:cNvSpPr/>
              <p:nvPr/>
            </p:nvSpPr>
            <p:spPr>
              <a:xfrm>
                <a:off x="1165896" y="4214818"/>
                <a:ext cx="540000" cy="360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Phase2</a:t>
                </a:r>
              </a:p>
              <a:p>
                <a:pPr algn="ctr"/>
                <a:endParaRPr lang="nl-BE" sz="1100" dirty="0"/>
              </a:p>
              <a:p>
                <a:pPr algn="ctr"/>
                <a:r>
                  <a:rPr lang="nl-BE" sz="1100" dirty="0"/>
                  <a:t>12</a:t>
                </a:r>
                <a:endParaRPr lang="en-US" sz="1100" dirty="0"/>
              </a:p>
            </p:txBody>
          </p:sp>
          <p:sp>
            <p:nvSpPr>
              <p:cNvPr id="29" name="Rechthoek 28"/>
              <p:cNvSpPr/>
              <p:nvPr/>
            </p:nvSpPr>
            <p:spPr>
              <a:xfrm>
                <a:off x="1706050" y="4214818"/>
                <a:ext cx="1080000" cy="3600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050" dirty="0"/>
                  <a:t>Phase</a:t>
                </a:r>
              </a:p>
              <a:p>
                <a:pPr algn="ctr"/>
                <a:r>
                  <a:rPr lang="nl-BE" sz="1050" dirty="0"/>
                  <a:t>3</a:t>
                </a:r>
              </a:p>
              <a:p>
                <a:pPr algn="ctr"/>
                <a:endParaRPr lang="nl-BE" sz="1050" dirty="0"/>
              </a:p>
              <a:p>
                <a:pPr algn="ctr"/>
                <a:r>
                  <a:rPr lang="nl-BE" sz="1050" dirty="0"/>
                  <a:t>13</a:t>
                </a:r>
                <a:endParaRPr lang="en-US" sz="1050" dirty="0"/>
              </a:p>
            </p:txBody>
          </p:sp>
        </p:grpSp>
      </p:grpSp>
      <p:sp>
        <p:nvSpPr>
          <p:cNvPr id="33" name="PIJL-RECHTS 32"/>
          <p:cNvSpPr/>
          <p:nvPr/>
        </p:nvSpPr>
        <p:spPr>
          <a:xfrm>
            <a:off x="8127984" y="3284984"/>
            <a:ext cx="848686" cy="84112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400" dirty="0"/>
              <a:t>F</a:t>
            </a:r>
            <a:endParaRPr lang="en-US" sz="1600" dirty="0"/>
          </a:p>
        </p:txBody>
      </p:sp>
      <p:sp>
        <p:nvSpPr>
          <p:cNvPr id="41" name="Rechthoek 40"/>
          <p:cNvSpPr/>
          <p:nvPr/>
        </p:nvSpPr>
        <p:spPr>
          <a:xfrm>
            <a:off x="2786050" y="3284984"/>
            <a:ext cx="540000" cy="84112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2A</a:t>
            </a:r>
            <a:endParaRPr lang="en-US" sz="1100" dirty="0"/>
          </a:p>
        </p:txBody>
      </p:sp>
      <p:sp>
        <p:nvSpPr>
          <p:cNvPr id="4" name="Espace réservé du numéro de diapositive 3"/>
          <p:cNvSpPr>
            <a:spLocks noGrp="1"/>
          </p:cNvSpPr>
          <p:nvPr>
            <p:ph type="sldNum" sz="quarter" idx="12"/>
          </p:nvPr>
        </p:nvSpPr>
        <p:spPr/>
        <p:txBody>
          <a:bodyPr/>
          <a:lstStyle/>
          <a:p>
            <a:fld id="{BDBE9B73-5FDC-46B2-A79B-5912A94C84D5}" type="slidenum">
              <a:rPr lang="nl-BE" smtClean="0"/>
              <a:pPr/>
              <a:t>48</a:t>
            </a:fld>
            <a:endParaRPr lang="nl-BE" dirty="0"/>
          </a:p>
        </p:txBody>
      </p:sp>
      <p:cxnSp>
        <p:nvCxnSpPr>
          <p:cNvPr id="45" name="Connecteur droit 44"/>
          <p:cNvCxnSpPr/>
          <p:nvPr/>
        </p:nvCxnSpPr>
        <p:spPr>
          <a:xfrm>
            <a:off x="8069182" y="4104287"/>
            <a:ext cx="27873" cy="171783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flipH="1">
            <a:off x="3324700" y="4120289"/>
            <a:ext cx="1350" cy="17235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a:xfrm>
            <a:off x="2787591" y="4126110"/>
            <a:ext cx="12769" cy="139112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a:xfrm flipH="1">
            <a:off x="1705662" y="4126110"/>
            <a:ext cx="2118" cy="114808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a:xfrm>
            <a:off x="1156866" y="4126110"/>
            <a:ext cx="11452" cy="80357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flipH="1">
            <a:off x="628687" y="4126110"/>
            <a:ext cx="2408" cy="52281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2" name="Tekstvak 25"/>
          <p:cNvSpPr txBox="1"/>
          <p:nvPr/>
        </p:nvSpPr>
        <p:spPr>
          <a:xfrm>
            <a:off x="144039" y="4702850"/>
            <a:ext cx="949224" cy="338554"/>
          </a:xfrm>
          <a:prstGeom prst="rect">
            <a:avLst/>
          </a:prstGeom>
          <a:noFill/>
        </p:spPr>
        <p:txBody>
          <a:bodyPr wrap="square" rtlCol="0">
            <a:spAutoFit/>
          </a:bodyPr>
          <a:lstStyle/>
          <a:p>
            <a:pPr algn="ctr"/>
            <a:r>
              <a:rPr lang="nl-BE" sz="1600" dirty="0"/>
              <a:t>24.11.22</a:t>
            </a:r>
            <a:endParaRPr lang="en-US" sz="1600" dirty="0"/>
          </a:p>
        </p:txBody>
      </p:sp>
      <p:sp>
        <p:nvSpPr>
          <p:cNvPr id="53" name="Tekstvak 25"/>
          <p:cNvSpPr txBox="1"/>
          <p:nvPr/>
        </p:nvSpPr>
        <p:spPr>
          <a:xfrm>
            <a:off x="689624" y="4935636"/>
            <a:ext cx="949224" cy="338554"/>
          </a:xfrm>
          <a:prstGeom prst="rect">
            <a:avLst/>
          </a:prstGeom>
          <a:noFill/>
        </p:spPr>
        <p:txBody>
          <a:bodyPr wrap="square" rtlCol="0">
            <a:spAutoFit/>
          </a:bodyPr>
          <a:lstStyle/>
          <a:p>
            <a:pPr algn="ctr"/>
            <a:r>
              <a:rPr lang="nl-BE" sz="1600" dirty="0"/>
              <a:t>24.02.23</a:t>
            </a:r>
            <a:endParaRPr lang="en-US" sz="1600" dirty="0"/>
          </a:p>
        </p:txBody>
      </p:sp>
      <p:sp>
        <p:nvSpPr>
          <p:cNvPr id="55" name="Tekstvak 25"/>
          <p:cNvSpPr txBox="1"/>
          <p:nvPr/>
        </p:nvSpPr>
        <p:spPr>
          <a:xfrm>
            <a:off x="1231050" y="5299264"/>
            <a:ext cx="949224" cy="338554"/>
          </a:xfrm>
          <a:prstGeom prst="rect">
            <a:avLst/>
          </a:prstGeom>
          <a:noFill/>
        </p:spPr>
        <p:txBody>
          <a:bodyPr wrap="square" rtlCol="0">
            <a:spAutoFit/>
          </a:bodyPr>
          <a:lstStyle/>
          <a:p>
            <a:pPr algn="ctr"/>
            <a:r>
              <a:rPr lang="nl-BE" sz="1600" dirty="0"/>
              <a:t>24.05.23</a:t>
            </a:r>
            <a:endParaRPr lang="en-US" sz="1600" dirty="0"/>
          </a:p>
        </p:txBody>
      </p:sp>
      <p:sp>
        <p:nvSpPr>
          <p:cNvPr id="56" name="Tekstvak 25"/>
          <p:cNvSpPr txBox="1"/>
          <p:nvPr/>
        </p:nvSpPr>
        <p:spPr>
          <a:xfrm>
            <a:off x="2338734" y="5517232"/>
            <a:ext cx="949224" cy="338554"/>
          </a:xfrm>
          <a:prstGeom prst="rect">
            <a:avLst/>
          </a:prstGeom>
          <a:noFill/>
        </p:spPr>
        <p:txBody>
          <a:bodyPr wrap="square" rtlCol="0">
            <a:spAutoFit/>
          </a:bodyPr>
          <a:lstStyle/>
          <a:p>
            <a:pPr algn="ctr"/>
            <a:r>
              <a:rPr lang="nl-BE" sz="1600" dirty="0"/>
              <a:t>24.11.23</a:t>
            </a:r>
            <a:endParaRPr lang="en-US" sz="1600" dirty="0"/>
          </a:p>
        </p:txBody>
      </p:sp>
      <p:sp>
        <p:nvSpPr>
          <p:cNvPr id="57" name="Tekstvak 25"/>
          <p:cNvSpPr txBox="1"/>
          <p:nvPr/>
        </p:nvSpPr>
        <p:spPr>
          <a:xfrm>
            <a:off x="2838801" y="5855786"/>
            <a:ext cx="949224" cy="338554"/>
          </a:xfrm>
          <a:prstGeom prst="rect">
            <a:avLst/>
          </a:prstGeom>
          <a:noFill/>
        </p:spPr>
        <p:txBody>
          <a:bodyPr wrap="square" rtlCol="0">
            <a:spAutoFit/>
          </a:bodyPr>
          <a:lstStyle/>
          <a:p>
            <a:pPr algn="ctr"/>
            <a:r>
              <a:rPr lang="nl-BE" sz="1600" dirty="0"/>
              <a:t>24.01.24</a:t>
            </a:r>
            <a:endParaRPr lang="en-US" sz="1600" dirty="0"/>
          </a:p>
        </p:txBody>
      </p:sp>
      <p:sp>
        <p:nvSpPr>
          <p:cNvPr id="58" name="Tekstvak 25"/>
          <p:cNvSpPr txBox="1"/>
          <p:nvPr/>
        </p:nvSpPr>
        <p:spPr>
          <a:xfrm>
            <a:off x="7653372" y="5809873"/>
            <a:ext cx="949224" cy="338554"/>
          </a:xfrm>
          <a:prstGeom prst="rect">
            <a:avLst/>
          </a:prstGeom>
          <a:noFill/>
        </p:spPr>
        <p:txBody>
          <a:bodyPr wrap="square" rtlCol="0">
            <a:spAutoFit/>
          </a:bodyPr>
          <a:lstStyle/>
          <a:p>
            <a:pPr algn="ctr"/>
            <a:r>
              <a:rPr lang="nl-BE" sz="1600" dirty="0"/>
              <a:t>24.07.26</a:t>
            </a:r>
            <a:endParaRPr lang="en-US" sz="1600" dirty="0"/>
          </a:p>
        </p:txBody>
      </p:sp>
      <p:cxnSp>
        <p:nvCxnSpPr>
          <p:cNvPr id="59" name="Connecteur droit 58"/>
          <p:cNvCxnSpPr/>
          <p:nvPr/>
        </p:nvCxnSpPr>
        <p:spPr>
          <a:xfrm>
            <a:off x="4367990" y="4118746"/>
            <a:ext cx="12119" cy="171587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0" name="Tekstvak 25"/>
          <p:cNvSpPr txBox="1"/>
          <p:nvPr/>
        </p:nvSpPr>
        <p:spPr>
          <a:xfrm>
            <a:off x="5732308" y="5870715"/>
            <a:ext cx="949224" cy="338554"/>
          </a:xfrm>
          <a:prstGeom prst="rect">
            <a:avLst/>
          </a:prstGeom>
          <a:noFill/>
        </p:spPr>
        <p:txBody>
          <a:bodyPr wrap="square" rtlCol="0">
            <a:spAutoFit/>
          </a:bodyPr>
          <a:lstStyle/>
          <a:p>
            <a:pPr algn="ctr"/>
            <a:r>
              <a:rPr lang="nl-BE" sz="1600" dirty="0"/>
              <a:t>24.11.25</a:t>
            </a:r>
            <a:endParaRPr lang="en-US" sz="1600" dirty="0"/>
          </a:p>
        </p:txBody>
      </p:sp>
      <p:sp>
        <p:nvSpPr>
          <p:cNvPr id="61" name="Rechthoek 45"/>
          <p:cNvSpPr/>
          <p:nvPr/>
        </p:nvSpPr>
        <p:spPr>
          <a:xfrm>
            <a:off x="3353923" y="3284984"/>
            <a:ext cx="1010978" cy="840991"/>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2.0</a:t>
            </a:r>
            <a:endParaRPr lang="en-US" sz="1400" b="1" dirty="0"/>
          </a:p>
        </p:txBody>
      </p:sp>
      <p:sp>
        <p:nvSpPr>
          <p:cNvPr id="62" name="Rechthoek 46"/>
          <p:cNvSpPr/>
          <p:nvPr/>
        </p:nvSpPr>
        <p:spPr>
          <a:xfrm>
            <a:off x="4370565" y="3286746"/>
            <a:ext cx="900000" cy="832797"/>
          </a:xfrm>
          <a:prstGeom prst="rect">
            <a:avLst/>
          </a:prstGeom>
          <a:solidFill>
            <a:srgbClr val="F479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2.1</a:t>
            </a:r>
            <a:endParaRPr lang="en-US" sz="1400" b="1" dirty="0"/>
          </a:p>
        </p:txBody>
      </p:sp>
      <p:sp>
        <p:nvSpPr>
          <p:cNvPr id="63" name="Rechthoek 47"/>
          <p:cNvSpPr/>
          <p:nvPr/>
        </p:nvSpPr>
        <p:spPr>
          <a:xfrm>
            <a:off x="5277017" y="3284187"/>
            <a:ext cx="900000" cy="834559"/>
          </a:xfrm>
          <a:prstGeom prst="rect">
            <a:avLst/>
          </a:prstGeom>
          <a:solidFill>
            <a:srgbClr val="F37E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2.2</a:t>
            </a:r>
            <a:endParaRPr lang="en-US" sz="1400" b="1" dirty="0"/>
          </a:p>
        </p:txBody>
      </p:sp>
      <p:sp>
        <p:nvSpPr>
          <p:cNvPr id="64" name="Rechthoek 48"/>
          <p:cNvSpPr/>
          <p:nvPr/>
        </p:nvSpPr>
        <p:spPr>
          <a:xfrm>
            <a:off x="6194051" y="3284983"/>
            <a:ext cx="900000" cy="840991"/>
          </a:xfrm>
          <a:prstGeom prst="rect">
            <a:avLst/>
          </a:prstGeom>
          <a:solidFill>
            <a:srgbClr val="F89B4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2.3</a:t>
            </a:r>
            <a:endParaRPr lang="en-US" sz="1400" b="1" dirty="0"/>
          </a:p>
        </p:txBody>
      </p:sp>
      <p:sp>
        <p:nvSpPr>
          <p:cNvPr id="65" name="Rechthoek 49"/>
          <p:cNvSpPr/>
          <p:nvPr/>
        </p:nvSpPr>
        <p:spPr>
          <a:xfrm>
            <a:off x="7113472" y="3286748"/>
            <a:ext cx="1005965" cy="839226"/>
          </a:xfrm>
          <a:prstGeom prst="rect">
            <a:avLst/>
          </a:prstGeom>
          <a:solidFill>
            <a:srgbClr val="F7A96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2.4</a:t>
            </a:r>
            <a:endParaRPr lang="en-US" sz="1400" b="1" dirty="0"/>
          </a:p>
        </p:txBody>
      </p:sp>
      <p:cxnSp>
        <p:nvCxnSpPr>
          <p:cNvPr id="66" name="Connecteur droit 65"/>
          <p:cNvCxnSpPr/>
          <p:nvPr/>
        </p:nvCxnSpPr>
        <p:spPr>
          <a:xfrm>
            <a:off x="5266892" y="4134062"/>
            <a:ext cx="4599" cy="171642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Connecteur droit 67"/>
          <p:cNvCxnSpPr/>
          <p:nvPr/>
        </p:nvCxnSpPr>
        <p:spPr>
          <a:xfrm>
            <a:off x="6177017" y="4136045"/>
            <a:ext cx="9338" cy="169857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Connecteur droit 68"/>
          <p:cNvCxnSpPr/>
          <p:nvPr/>
        </p:nvCxnSpPr>
        <p:spPr>
          <a:xfrm>
            <a:off x="7082543" y="4102749"/>
            <a:ext cx="2962" cy="171834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70" name="Tekstvak 25"/>
          <p:cNvSpPr txBox="1"/>
          <p:nvPr/>
        </p:nvSpPr>
        <p:spPr>
          <a:xfrm>
            <a:off x="3885877" y="5870715"/>
            <a:ext cx="949224" cy="338554"/>
          </a:xfrm>
          <a:prstGeom prst="rect">
            <a:avLst/>
          </a:prstGeom>
          <a:noFill/>
        </p:spPr>
        <p:txBody>
          <a:bodyPr wrap="square" rtlCol="0">
            <a:spAutoFit/>
          </a:bodyPr>
          <a:lstStyle/>
          <a:p>
            <a:pPr algn="ctr"/>
            <a:r>
              <a:rPr lang="nl-BE" sz="1600" dirty="0"/>
              <a:t>24.11.24</a:t>
            </a:r>
            <a:endParaRPr lang="en-US" sz="1600" dirty="0"/>
          </a:p>
        </p:txBody>
      </p:sp>
      <p:sp>
        <p:nvSpPr>
          <p:cNvPr id="71" name="Tekstvak 25"/>
          <p:cNvSpPr txBox="1"/>
          <p:nvPr/>
        </p:nvSpPr>
        <p:spPr>
          <a:xfrm>
            <a:off x="4806570" y="5860763"/>
            <a:ext cx="949224" cy="338554"/>
          </a:xfrm>
          <a:prstGeom prst="rect">
            <a:avLst/>
          </a:prstGeom>
          <a:noFill/>
        </p:spPr>
        <p:txBody>
          <a:bodyPr wrap="square" rtlCol="0">
            <a:spAutoFit/>
          </a:bodyPr>
          <a:lstStyle/>
          <a:p>
            <a:pPr algn="ctr"/>
            <a:r>
              <a:rPr lang="nl-BE" sz="1600" dirty="0"/>
              <a:t>24.05.25</a:t>
            </a:r>
            <a:endParaRPr lang="en-US" sz="1600" dirty="0"/>
          </a:p>
        </p:txBody>
      </p:sp>
      <p:sp>
        <p:nvSpPr>
          <p:cNvPr id="72" name="Tekstvak 25"/>
          <p:cNvSpPr txBox="1"/>
          <p:nvPr/>
        </p:nvSpPr>
        <p:spPr>
          <a:xfrm>
            <a:off x="6637601" y="5860763"/>
            <a:ext cx="949224" cy="338554"/>
          </a:xfrm>
          <a:prstGeom prst="rect">
            <a:avLst/>
          </a:prstGeom>
          <a:noFill/>
        </p:spPr>
        <p:txBody>
          <a:bodyPr wrap="square" rtlCol="0">
            <a:spAutoFit/>
          </a:bodyPr>
          <a:lstStyle/>
          <a:p>
            <a:pPr algn="ctr"/>
            <a:r>
              <a:rPr lang="nl-BE" sz="1600" dirty="0"/>
              <a:t>24.05.26</a:t>
            </a:r>
            <a:endParaRPr lang="en-US" sz="1600" dirty="0"/>
          </a:p>
        </p:txBody>
      </p:sp>
      <p:sp>
        <p:nvSpPr>
          <p:cNvPr id="73" name="Rechthoek 27"/>
          <p:cNvSpPr/>
          <p:nvPr/>
        </p:nvSpPr>
        <p:spPr>
          <a:xfrm>
            <a:off x="3233180" y="4092908"/>
            <a:ext cx="1213235" cy="584775"/>
          </a:xfrm>
          <a:prstGeom prst="rect">
            <a:avLst/>
          </a:prstGeom>
        </p:spPr>
        <p:txBody>
          <a:bodyPr wrap="square">
            <a:spAutoFit/>
          </a:bodyPr>
          <a:lstStyle/>
          <a:p>
            <a:pPr lvl="0" algn="ctr"/>
            <a:r>
              <a:rPr lang="nl-BE" sz="1600" dirty="0">
                <a:solidFill>
                  <a:prstClr val="black"/>
                </a:solidFill>
              </a:rPr>
              <a:t>10 mois</a:t>
            </a:r>
          </a:p>
          <a:p>
            <a:pPr lvl="0" algn="ctr"/>
            <a:r>
              <a:rPr lang="nl-BE" sz="1600" dirty="0">
                <a:solidFill>
                  <a:prstClr val="black"/>
                </a:solidFill>
              </a:rPr>
              <a:t> (2  x 5 ans)</a:t>
            </a:r>
            <a:endParaRPr lang="en-US" sz="1600" dirty="0">
              <a:solidFill>
                <a:prstClr val="black"/>
              </a:solidFill>
            </a:endParaRPr>
          </a:p>
        </p:txBody>
      </p:sp>
      <p:sp>
        <p:nvSpPr>
          <p:cNvPr id="74" name="Tekstvak 28"/>
          <p:cNvSpPr txBox="1"/>
          <p:nvPr/>
        </p:nvSpPr>
        <p:spPr>
          <a:xfrm>
            <a:off x="4405766" y="4134062"/>
            <a:ext cx="785818" cy="338554"/>
          </a:xfrm>
          <a:prstGeom prst="rect">
            <a:avLst/>
          </a:prstGeom>
          <a:noFill/>
        </p:spPr>
        <p:txBody>
          <a:bodyPr wrap="square" rtlCol="0">
            <a:spAutoFit/>
          </a:bodyPr>
          <a:lstStyle/>
          <a:p>
            <a:pPr algn="ctr"/>
            <a:r>
              <a:rPr lang="nl-BE" sz="1600" dirty="0"/>
              <a:t>6 m</a:t>
            </a:r>
            <a:endParaRPr lang="en-US" sz="1600" dirty="0"/>
          </a:p>
        </p:txBody>
      </p:sp>
      <p:sp>
        <p:nvSpPr>
          <p:cNvPr id="75" name="Tekstvak 28"/>
          <p:cNvSpPr txBox="1"/>
          <p:nvPr/>
        </p:nvSpPr>
        <p:spPr>
          <a:xfrm>
            <a:off x="5344786" y="4122265"/>
            <a:ext cx="785818" cy="338554"/>
          </a:xfrm>
          <a:prstGeom prst="rect">
            <a:avLst/>
          </a:prstGeom>
          <a:noFill/>
        </p:spPr>
        <p:txBody>
          <a:bodyPr wrap="square" rtlCol="0">
            <a:spAutoFit/>
          </a:bodyPr>
          <a:lstStyle/>
          <a:p>
            <a:pPr algn="ctr"/>
            <a:r>
              <a:rPr lang="nl-BE" sz="1600" dirty="0"/>
              <a:t>6 m</a:t>
            </a:r>
            <a:endParaRPr lang="en-US" sz="1600" dirty="0"/>
          </a:p>
        </p:txBody>
      </p:sp>
      <p:sp>
        <p:nvSpPr>
          <p:cNvPr id="76" name="Tekstvak 28"/>
          <p:cNvSpPr txBox="1"/>
          <p:nvPr/>
        </p:nvSpPr>
        <p:spPr>
          <a:xfrm>
            <a:off x="6240885" y="4151910"/>
            <a:ext cx="785818" cy="338554"/>
          </a:xfrm>
          <a:prstGeom prst="rect">
            <a:avLst/>
          </a:prstGeom>
          <a:noFill/>
        </p:spPr>
        <p:txBody>
          <a:bodyPr wrap="square" rtlCol="0">
            <a:spAutoFit/>
          </a:bodyPr>
          <a:lstStyle/>
          <a:p>
            <a:pPr algn="ctr"/>
            <a:r>
              <a:rPr lang="nl-BE" sz="1600" dirty="0"/>
              <a:t>6 m</a:t>
            </a:r>
            <a:endParaRPr lang="en-US" sz="1600" dirty="0"/>
          </a:p>
        </p:txBody>
      </p:sp>
      <p:sp>
        <p:nvSpPr>
          <p:cNvPr id="77" name="Tekstvak 28"/>
          <p:cNvSpPr txBox="1"/>
          <p:nvPr/>
        </p:nvSpPr>
        <p:spPr>
          <a:xfrm>
            <a:off x="7143768" y="4151910"/>
            <a:ext cx="785818" cy="338554"/>
          </a:xfrm>
          <a:prstGeom prst="rect">
            <a:avLst/>
          </a:prstGeom>
          <a:noFill/>
        </p:spPr>
        <p:txBody>
          <a:bodyPr wrap="square" rtlCol="0">
            <a:spAutoFit/>
          </a:bodyPr>
          <a:lstStyle/>
          <a:p>
            <a:pPr algn="ctr"/>
            <a:r>
              <a:rPr lang="nl-BE" sz="1600" dirty="0"/>
              <a:t>2 m</a:t>
            </a:r>
            <a:endParaRPr lang="en-US" sz="1600" dirty="0"/>
          </a:p>
        </p:txBody>
      </p:sp>
      <p:pic>
        <p:nvPicPr>
          <p:cNvPr id="2" name="Image 1">
            <a:hlinkClick r:id="rId3" action="ppaction://hlinksldjump"/>
          </p:cNvPr>
          <p:cNvPicPr>
            <a:picLocks noChangeAspect="1"/>
          </p:cNvPicPr>
          <p:nvPr/>
        </p:nvPicPr>
        <p:blipFill>
          <a:blip r:embed="rId4"/>
          <a:stretch>
            <a:fillRect/>
          </a:stretch>
        </p:blipFill>
        <p:spPr>
          <a:xfrm>
            <a:off x="7620000" y="6429174"/>
            <a:ext cx="256054" cy="219475"/>
          </a:xfrm>
          <a:prstGeom prst="rect">
            <a:avLst/>
          </a:prstGeom>
        </p:spPr>
      </p:pic>
    </p:spTree>
    <p:extLst>
      <p:ext uri="{BB962C8B-B14F-4D97-AF65-F5344CB8AC3E}">
        <p14:creationId xmlns:p14="http://schemas.microsoft.com/office/powerpoint/2010/main" val="18505123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fade">
                                      <p:cBhvr>
                                        <p:cTn id="30" dur="500"/>
                                        <p:tgtEl>
                                          <p:spTgt spid="6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fade">
                                      <p:cBhvr>
                                        <p:cTn id="33" dur="500"/>
                                        <p:tgtEl>
                                          <p:spTgt spid="7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fade">
                                      <p:cBhvr>
                                        <p:cTn id="38" dur="500"/>
                                        <p:tgtEl>
                                          <p:spTgt spid="6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animEffect transition="in" filter="fade">
                                      <p:cBhvr>
                                        <p:cTn id="41" dur="500"/>
                                        <p:tgtEl>
                                          <p:spTgt spid="7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500"/>
                                        <p:tgtEl>
                                          <p:spTgt spid="6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fade">
                                      <p:cBhvr>
                                        <p:cTn id="49" dur="500"/>
                                        <p:tgtEl>
                                          <p:spTgt spid="7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4"/>
                                        </p:tgtEl>
                                        <p:attrNameLst>
                                          <p:attrName>style.visibility</p:attrName>
                                        </p:attrNameLst>
                                      </p:cBhvr>
                                      <p:to>
                                        <p:strVal val="visible"/>
                                      </p:to>
                                    </p:set>
                                    <p:animEffect transition="in" filter="fade">
                                      <p:cBhvr>
                                        <p:cTn id="54" dur="500"/>
                                        <p:tgtEl>
                                          <p:spTgt spid="6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76"/>
                                        </p:tgtEl>
                                        <p:attrNameLst>
                                          <p:attrName>style.visibility</p:attrName>
                                        </p:attrNameLst>
                                      </p:cBhvr>
                                      <p:to>
                                        <p:strVal val="visible"/>
                                      </p:to>
                                    </p:set>
                                    <p:animEffect transition="in" filter="fade">
                                      <p:cBhvr>
                                        <p:cTn id="57" dur="500"/>
                                        <p:tgtEl>
                                          <p:spTgt spid="7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fade">
                                      <p:cBhvr>
                                        <p:cTn id="62" dur="500"/>
                                        <p:tgtEl>
                                          <p:spTgt spid="6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7"/>
                                        </p:tgtEl>
                                        <p:attrNameLst>
                                          <p:attrName>style.visibility</p:attrName>
                                        </p:attrNameLst>
                                      </p:cBhvr>
                                      <p:to>
                                        <p:strVal val="visible"/>
                                      </p:to>
                                    </p:set>
                                    <p:animEffect transition="in" filter="fade">
                                      <p:cBhvr>
                                        <p:cTn id="65" dur="500"/>
                                        <p:tgtEl>
                                          <p:spTgt spid="7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fade">
                                      <p:cBhvr>
                                        <p:cTn id="75" dur="500"/>
                                        <p:tgtEl>
                                          <p:spTgt spid="5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500"/>
                                        <p:tgtEl>
                                          <p:spTgt spid="5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fade">
                                      <p:cBhvr>
                                        <p:cTn id="83" dur="500"/>
                                        <p:tgtEl>
                                          <p:spTgt spid="4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fade">
                                      <p:cBhvr>
                                        <p:cTn id="86" dur="500"/>
                                        <p:tgtEl>
                                          <p:spTgt spid="5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500"/>
                                        <p:tgtEl>
                                          <p:spTgt spid="4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5"/>
                                        </p:tgtEl>
                                        <p:attrNameLst>
                                          <p:attrName>style.visibility</p:attrName>
                                        </p:attrNameLst>
                                      </p:cBhvr>
                                      <p:to>
                                        <p:strVal val="visible"/>
                                      </p:to>
                                    </p:set>
                                    <p:animEffect transition="in" filter="fade">
                                      <p:cBhvr>
                                        <p:cTn id="94" dur="500"/>
                                        <p:tgtEl>
                                          <p:spTgt spid="55"/>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500"/>
                                        <p:tgtEl>
                                          <p:spTgt spid="4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500"/>
                                        <p:tgtEl>
                                          <p:spTgt spid="4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7"/>
                                        </p:tgtEl>
                                        <p:attrNameLst>
                                          <p:attrName>style.visibility</p:attrName>
                                        </p:attrNameLst>
                                      </p:cBhvr>
                                      <p:to>
                                        <p:strVal val="visible"/>
                                      </p:to>
                                    </p:set>
                                    <p:animEffect transition="in" filter="fade">
                                      <p:cBhvr>
                                        <p:cTn id="110" dur="500"/>
                                        <p:tgtEl>
                                          <p:spTgt spid="57"/>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59"/>
                                        </p:tgtEl>
                                        <p:attrNameLst>
                                          <p:attrName>style.visibility</p:attrName>
                                        </p:attrNameLst>
                                      </p:cBhvr>
                                      <p:to>
                                        <p:strVal val="visible"/>
                                      </p:to>
                                    </p:set>
                                    <p:animEffect transition="in" filter="fade">
                                      <p:cBhvr>
                                        <p:cTn id="115" dur="500"/>
                                        <p:tgtEl>
                                          <p:spTgt spid="5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70"/>
                                        </p:tgtEl>
                                        <p:attrNameLst>
                                          <p:attrName>style.visibility</p:attrName>
                                        </p:attrNameLst>
                                      </p:cBhvr>
                                      <p:to>
                                        <p:strVal val="visible"/>
                                      </p:to>
                                    </p:set>
                                    <p:animEffect transition="in" filter="fade">
                                      <p:cBhvr>
                                        <p:cTn id="118" dur="500"/>
                                        <p:tgtEl>
                                          <p:spTgt spid="70"/>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66"/>
                                        </p:tgtEl>
                                        <p:attrNameLst>
                                          <p:attrName>style.visibility</p:attrName>
                                        </p:attrNameLst>
                                      </p:cBhvr>
                                      <p:to>
                                        <p:strVal val="visible"/>
                                      </p:to>
                                    </p:set>
                                    <p:animEffect transition="in" filter="fade">
                                      <p:cBhvr>
                                        <p:cTn id="123" dur="500"/>
                                        <p:tgtEl>
                                          <p:spTgt spid="66"/>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71"/>
                                        </p:tgtEl>
                                        <p:attrNameLst>
                                          <p:attrName>style.visibility</p:attrName>
                                        </p:attrNameLst>
                                      </p:cBhvr>
                                      <p:to>
                                        <p:strVal val="visible"/>
                                      </p:to>
                                    </p:set>
                                    <p:animEffect transition="in" filter="fade">
                                      <p:cBhvr>
                                        <p:cTn id="126" dur="500"/>
                                        <p:tgtEl>
                                          <p:spTgt spid="71"/>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68"/>
                                        </p:tgtEl>
                                        <p:attrNameLst>
                                          <p:attrName>style.visibility</p:attrName>
                                        </p:attrNameLst>
                                      </p:cBhvr>
                                      <p:to>
                                        <p:strVal val="visible"/>
                                      </p:to>
                                    </p:set>
                                    <p:animEffect transition="in" filter="fade">
                                      <p:cBhvr>
                                        <p:cTn id="131" dur="500"/>
                                        <p:tgtEl>
                                          <p:spTgt spid="68"/>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fade">
                                      <p:cBhvr>
                                        <p:cTn id="134" dur="500"/>
                                        <p:tgtEl>
                                          <p:spTgt spid="60"/>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69"/>
                                        </p:tgtEl>
                                        <p:attrNameLst>
                                          <p:attrName>style.visibility</p:attrName>
                                        </p:attrNameLst>
                                      </p:cBhvr>
                                      <p:to>
                                        <p:strVal val="visible"/>
                                      </p:to>
                                    </p:set>
                                    <p:animEffect transition="in" filter="fade">
                                      <p:cBhvr>
                                        <p:cTn id="139" dur="500"/>
                                        <p:tgtEl>
                                          <p:spTgt spid="69"/>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72"/>
                                        </p:tgtEl>
                                        <p:attrNameLst>
                                          <p:attrName>style.visibility</p:attrName>
                                        </p:attrNameLst>
                                      </p:cBhvr>
                                      <p:to>
                                        <p:strVal val="visible"/>
                                      </p:to>
                                    </p:set>
                                    <p:animEffect transition="in" filter="fade">
                                      <p:cBhvr>
                                        <p:cTn id="142" dur="500"/>
                                        <p:tgtEl>
                                          <p:spTgt spid="72"/>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500"/>
                                        <p:tgtEl>
                                          <p:spTgt spid="45"/>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8"/>
                                        </p:tgtEl>
                                        <p:attrNameLst>
                                          <p:attrName>style.visibility</p:attrName>
                                        </p:attrNameLst>
                                      </p:cBhvr>
                                      <p:to>
                                        <p:strVal val="visible"/>
                                      </p:to>
                                    </p:set>
                                    <p:animEffect transition="in" filter="fade">
                                      <p:cBhvr>
                                        <p:cTn id="15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33" grpId="0" animBg="1"/>
      <p:bldP spid="41" grpId="0" animBg="1"/>
      <p:bldP spid="52" grpId="0"/>
      <p:bldP spid="53" grpId="0"/>
      <p:bldP spid="55" grpId="0"/>
      <p:bldP spid="56" grpId="0"/>
      <p:bldP spid="57" grpId="0"/>
      <p:bldP spid="58" grpId="0"/>
      <p:bldP spid="60" grpId="0"/>
      <p:bldP spid="61" grpId="0" animBg="1"/>
      <p:bldP spid="62" grpId="0" animBg="1"/>
      <p:bldP spid="63" grpId="0" animBg="1"/>
      <p:bldP spid="64" grpId="0" animBg="1"/>
      <p:bldP spid="65" grpId="0" animBg="1"/>
      <p:bldP spid="70" grpId="0"/>
      <p:bldP spid="71" grpId="0"/>
      <p:bldP spid="72" grpId="0"/>
      <p:bldP spid="73" grpId="0"/>
      <p:bldP spid="74" grpId="0"/>
      <p:bldP spid="75" grpId="0"/>
      <p:bldP spid="76" grpId="0"/>
      <p:bldP spid="7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ep 43"/>
          <p:cNvGrpSpPr/>
          <p:nvPr/>
        </p:nvGrpSpPr>
        <p:grpSpPr>
          <a:xfrm>
            <a:off x="642910" y="2060848"/>
            <a:ext cx="8286808" cy="1073510"/>
            <a:chOff x="642910" y="3429000"/>
            <a:chExt cx="8286808" cy="717578"/>
          </a:xfrm>
        </p:grpSpPr>
        <p:cxnSp>
          <p:nvCxnSpPr>
            <p:cNvPr id="30" name="Rechte verbindingslijn 29"/>
            <p:cNvCxnSpPr/>
            <p:nvPr/>
          </p:nvCxnSpPr>
          <p:spPr>
            <a:xfrm rot="5400000" flipH="1" flipV="1">
              <a:off x="500034" y="4000504"/>
              <a:ext cx="2857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Groep 36"/>
            <p:cNvGrpSpPr/>
            <p:nvPr/>
          </p:nvGrpSpPr>
          <p:grpSpPr>
            <a:xfrm>
              <a:off x="642910" y="3429000"/>
              <a:ext cx="8286808" cy="717578"/>
              <a:chOff x="642910" y="3429000"/>
              <a:chExt cx="8286808" cy="717578"/>
            </a:xfrm>
          </p:grpSpPr>
          <p:grpSp>
            <p:nvGrpSpPr>
              <p:cNvPr id="35" name="Groep 34"/>
              <p:cNvGrpSpPr/>
              <p:nvPr/>
            </p:nvGrpSpPr>
            <p:grpSpPr>
              <a:xfrm>
                <a:off x="642910" y="3857628"/>
                <a:ext cx="8143932" cy="288950"/>
                <a:chOff x="642910" y="3857628"/>
                <a:chExt cx="8143932" cy="288950"/>
              </a:xfrm>
            </p:grpSpPr>
            <p:cxnSp>
              <p:nvCxnSpPr>
                <p:cNvPr id="31" name="Rechte verbindingslijn 30"/>
                <p:cNvCxnSpPr/>
                <p:nvPr/>
              </p:nvCxnSpPr>
              <p:spPr>
                <a:xfrm rot="5400000" flipH="1" flipV="1">
                  <a:off x="2670470" y="400370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Rechte verbindingslijn 31"/>
                <p:cNvCxnSpPr/>
                <p:nvPr/>
              </p:nvCxnSpPr>
              <p:spPr>
                <a:xfrm rot="5400000" flipH="1" flipV="1">
                  <a:off x="7885508" y="4000504"/>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Rechte verbindingslijn 33"/>
                <p:cNvCxnSpPr/>
                <p:nvPr/>
              </p:nvCxnSpPr>
              <p:spPr>
                <a:xfrm>
                  <a:off x="642910" y="3857628"/>
                  <a:ext cx="8143932"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8" name="Tekstvak 37"/>
              <p:cNvSpPr txBox="1"/>
              <p:nvPr/>
            </p:nvSpPr>
            <p:spPr>
              <a:xfrm>
                <a:off x="714348" y="3429000"/>
                <a:ext cx="2000264" cy="369332"/>
              </a:xfrm>
              <a:prstGeom prst="rect">
                <a:avLst/>
              </a:prstGeom>
              <a:noFill/>
            </p:spPr>
            <p:txBody>
              <a:bodyPr wrap="square" rtlCol="0">
                <a:spAutoFit/>
              </a:bodyPr>
              <a:lstStyle/>
              <a:p>
                <a:pPr algn="ctr"/>
                <a:r>
                  <a:rPr lang="nl-BE" b="1" dirty="0"/>
                  <a:t>PERIODE 1</a:t>
                </a:r>
                <a:endParaRPr lang="en-US" b="1" dirty="0"/>
              </a:p>
            </p:txBody>
          </p:sp>
          <p:sp>
            <p:nvSpPr>
              <p:cNvPr id="39" name="Tekstvak 38"/>
              <p:cNvSpPr txBox="1"/>
              <p:nvPr/>
            </p:nvSpPr>
            <p:spPr>
              <a:xfrm>
                <a:off x="2857488" y="3429000"/>
                <a:ext cx="4929222" cy="369332"/>
              </a:xfrm>
              <a:prstGeom prst="rect">
                <a:avLst/>
              </a:prstGeom>
              <a:noFill/>
            </p:spPr>
            <p:txBody>
              <a:bodyPr wrap="square" rtlCol="0">
                <a:spAutoFit/>
              </a:bodyPr>
              <a:lstStyle/>
              <a:p>
                <a:pPr algn="ctr"/>
                <a:r>
                  <a:rPr lang="nl-BE" b="1" dirty="0"/>
                  <a:t>PERIODE 2</a:t>
                </a:r>
                <a:endParaRPr lang="en-US" b="1" dirty="0"/>
              </a:p>
            </p:txBody>
          </p:sp>
          <p:sp>
            <p:nvSpPr>
              <p:cNvPr id="40" name="Tekstvak 39"/>
              <p:cNvSpPr txBox="1"/>
              <p:nvPr/>
            </p:nvSpPr>
            <p:spPr>
              <a:xfrm>
                <a:off x="7929586" y="3429000"/>
                <a:ext cx="1000132" cy="307777"/>
              </a:xfrm>
              <a:prstGeom prst="rect">
                <a:avLst/>
              </a:prstGeom>
              <a:noFill/>
            </p:spPr>
            <p:txBody>
              <a:bodyPr wrap="square" rtlCol="0">
                <a:spAutoFit/>
              </a:bodyPr>
              <a:lstStyle/>
              <a:p>
                <a:r>
                  <a:rPr lang="nl-BE" sz="1400" b="1" dirty="0"/>
                  <a:t>PERIODE 3</a:t>
                </a:r>
                <a:endParaRPr lang="en-US" sz="1400" b="1" dirty="0"/>
              </a:p>
            </p:txBody>
          </p:sp>
        </p:grpSp>
      </p:grpSp>
      <p:sp>
        <p:nvSpPr>
          <p:cNvPr id="19" name="Tekstvak 18"/>
          <p:cNvSpPr txBox="1"/>
          <p:nvPr/>
        </p:nvSpPr>
        <p:spPr>
          <a:xfrm>
            <a:off x="3361859" y="375219"/>
            <a:ext cx="4357718" cy="769441"/>
          </a:xfrm>
          <a:prstGeom prst="rect">
            <a:avLst/>
          </a:prstGeom>
          <a:noFill/>
        </p:spPr>
        <p:txBody>
          <a:bodyPr wrap="square" rtlCol="0">
            <a:spAutoFit/>
          </a:bodyPr>
          <a:lstStyle/>
          <a:p>
            <a:r>
              <a:rPr lang="nl-BE" sz="4400" b="1" i="1" dirty="0"/>
              <a:t>Solution 5</a:t>
            </a:r>
            <a:endParaRPr lang="en-US" sz="4400" b="1" i="1" dirty="0"/>
          </a:p>
        </p:txBody>
      </p:sp>
      <p:sp>
        <p:nvSpPr>
          <p:cNvPr id="21" name="Tekstvak 20"/>
          <p:cNvSpPr txBox="1"/>
          <p:nvPr/>
        </p:nvSpPr>
        <p:spPr>
          <a:xfrm>
            <a:off x="824308" y="1357298"/>
            <a:ext cx="7072362" cy="523220"/>
          </a:xfrm>
          <a:prstGeom prst="rect">
            <a:avLst/>
          </a:prstGeom>
          <a:noFill/>
        </p:spPr>
        <p:txBody>
          <a:bodyPr wrap="square" rtlCol="0">
            <a:spAutoFit/>
          </a:bodyPr>
          <a:lstStyle/>
          <a:p>
            <a:r>
              <a:rPr lang="nl-BE" sz="2800" dirty="0"/>
              <a:t>Le chômeur justifie 20 ans de PP</a:t>
            </a:r>
            <a:r>
              <a:rPr lang="nl-BE" dirty="0"/>
              <a:t>.</a:t>
            </a:r>
            <a:endParaRPr lang="en-US" dirty="0"/>
          </a:p>
        </p:txBody>
      </p:sp>
      <p:sp>
        <p:nvSpPr>
          <p:cNvPr id="25" name="Tekstvak 24"/>
          <p:cNvSpPr txBox="1"/>
          <p:nvPr/>
        </p:nvSpPr>
        <p:spPr>
          <a:xfrm>
            <a:off x="2791043" y="4136045"/>
            <a:ext cx="500066" cy="338554"/>
          </a:xfrm>
          <a:prstGeom prst="rect">
            <a:avLst/>
          </a:prstGeom>
          <a:noFill/>
        </p:spPr>
        <p:txBody>
          <a:bodyPr wrap="square" rtlCol="0">
            <a:spAutoFit/>
          </a:bodyPr>
          <a:lstStyle/>
          <a:p>
            <a:r>
              <a:rPr lang="nl-BE" sz="1600" dirty="0"/>
              <a:t>2 m</a:t>
            </a:r>
            <a:endParaRPr lang="en-US" sz="1600" dirty="0"/>
          </a:p>
        </p:txBody>
      </p:sp>
      <p:grpSp>
        <p:nvGrpSpPr>
          <p:cNvPr id="43" name="Groep 42"/>
          <p:cNvGrpSpPr/>
          <p:nvPr/>
        </p:nvGrpSpPr>
        <p:grpSpPr>
          <a:xfrm>
            <a:off x="621688" y="3284984"/>
            <a:ext cx="2164362" cy="1625578"/>
            <a:chOff x="621688" y="4214818"/>
            <a:chExt cx="2164362" cy="695744"/>
          </a:xfrm>
        </p:grpSpPr>
        <p:sp>
          <p:nvSpPr>
            <p:cNvPr id="23" name="Tekstvak 22"/>
            <p:cNvSpPr txBox="1"/>
            <p:nvPr/>
          </p:nvSpPr>
          <p:spPr>
            <a:xfrm>
              <a:off x="1214414" y="4572008"/>
              <a:ext cx="500066" cy="338554"/>
            </a:xfrm>
            <a:prstGeom prst="rect">
              <a:avLst/>
            </a:prstGeom>
            <a:noFill/>
          </p:spPr>
          <p:txBody>
            <a:bodyPr wrap="square" rtlCol="0">
              <a:spAutoFit/>
            </a:bodyPr>
            <a:lstStyle/>
            <a:p>
              <a:r>
                <a:rPr lang="nl-BE" sz="1600" dirty="0"/>
                <a:t>3 m</a:t>
              </a:r>
              <a:endParaRPr lang="en-US" sz="1600" dirty="0"/>
            </a:p>
          </p:txBody>
        </p:sp>
        <p:grpSp>
          <p:nvGrpSpPr>
            <p:cNvPr id="36" name="Groep 35"/>
            <p:cNvGrpSpPr/>
            <p:nvPr/>
          </p:nvGrpSpPr>
          <p:grpSpPr>
            <a:xfrm>
              <a:off x="621688" y="4214818"/>
              <a:ext cx="2164362" cy="695744"/>
              <a:chOff x="621688" y="4214818"/>
              <a:chExt cx="2164362" cy="695744"/>
            </a:xfrm>
          </p:grpSpPr>
          <p:sp>
            <p:nvSpPr>
              <p:cNvPr id="22" name="Tekstvak 21"/>
              <p:cNvSpPr txBox="1"/>
              <p:nvPr/>
            </p:nvSpPr>
            <p:spPr>
              <a:xfrm>
                <a:off x="642910" y="4572008"/>
                <a:ext cx="500066" cy="338554"/>
              </a:xfrm>
              <a:prstGeom prst="rect">
                <a:avLst/>
              </a:prstGeom>
              <a:noFill/>
            </p:spPr>
            <p:txBody>
              <a:bodyPr wrap="square" rtlCol="0">
                <a:spAutoFit/>
              </a:bodyPr>
              <a:lstStyle/>
              <a:p>
                <a:r>
                  <a:rPr lang="nl-BE" sz="1600" dirty="0"/>
                  <a:t>3 m</a:t>
                </a:r>
                <a:endParaRPr lang="en-US" sz="1600" dirty="0"/>
              </a:p>
            </p:txBody>
          </p:sp>
          <p:sp>
            <p:nvSpPr>
              <p:cNvPr id="24" name="Tekstvak 23"/>
              <p:cNvSpPr txBox="1"/>
              <p:nvPr/>
            </p:nvSpPr>
            <p:spPr>
              <a:xfrm>
                <a:off x="2000232" y="4572008"/>
                <a:ext cx="500066" cy="338554"/>
              </a:xfrm>
              <a:prstGeom prst="rect">
                <a:avLst/>
              </a:prstGeom>
              <a:noFill/>
            </p:spPr>
            <p:txBody>
              <a:bodyPr wrap="square" rtlCol="0">
                <a:spAutoFit/>
              </a:bodyPr>
              <a:lstStyle/>
              <a:p>
                <a:r>
                  <a:rPr lang="nl-BE" sz="1600" dirty="0"/>
                  <a:t>6 m</a:t>
                </a:r>
                <a:endParaRPr lang="en-US" sz="1600" dirty="0"/>
              </a:p>
            </p:txBody>
          </p:sp>
          <p:sp>
            <p:nvSpPr>
              <p:cNvPr id="27" name="Rechthoek 26"/>
              <p:cNvSpPr/>
              <p:nvPr/>
            </p:nvSpPr>
            <p:spPr>
              <a:xfrm>
                <a:off x="621688" y="4214818"/>
                <a:ext cx="540000" cy="360000"/>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11</a:t>
                </a:r>
                <a:endParaRPr lang="en-US" sz="1100" dirty="0"/>
              </a:p>
            </p:txBody>
          </p:sp>
          <p:sp>
            <p:nvSpPr>
              <p:cNvPr id="28" name="Rechthoek 27"/>
              <p:cNvSpPr/>
              <p:nvPr/>
            </p:nvSpPr>
            <p:spPr>
              <a:xfrm>
                <a:off x="1165896" y="4214818"/>
                <a:ext cx="540000" cy="360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Phase2</a:t>
                </a:r>
              </a:p>
              <a:p>
                <a:pPr algn="ctr"/>
                <a:endParaRPr lang="nl-BE" sz="1100" dirty="0"/>
              </a:p>
              <a:p>
                <a:pPr algn="ctr"/>
                <a:r>
                  <a:rPr lang="nl-BE" sz="1100" dirty="0"/>
                  <a:t>12</a:t>
                </a:r>
                <a:endParaRPr lang="en-US" sz="1100" dirty="0"/>
              </a:p>
            </p:txBody>
          </p:sp>
          <p:sp>
            <p:nvSpPr>
              <p:cNvPr id="29" name="Rechthoek 28"/>
              <p:cNvSpPr/>
              <p:nvPr/>
            </p:nvSpPr>
            <p:spPr>
              <a:xfrm>
                <a:off x="1706050" y="4214818"/>
                <a:ext cx="1080000" cy="3600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050" dirty="0"/>
                  <a:t>Phase</a:t>
                </a:r>
              </a:p>
              <a:p>
                <a:pPr algn="ctr"/>
                <a:r>
                  <a:rPr lang="nl-BE" sz="1050" dirty="0"/>
                  <a:t>3</a:t>
                </a:r>
              </a:p>
              <a:p>
                <a:pPr algn="ctr"/>
                <a:endParaRPr lang="nl-BE" sz="1050" dirty="0"/>
              </a:p>
              <a:p>
                <a:pPr algn="ctr"/>
                <a:r>
                  <a:rPr lang="nl-BE" sz="1050" dirty="0"/>
                  <a:t>13</a:t>
                </a:r>
                <a:endParaRPr lang="en-US" sz="1050" dirty="0"/>
              </a:p>
            </p:txBody>
          </p:sp>
        </p:grpSp>
      </p:grpSp>
      <p:sp>
        <p:nvSpPr>
          <p:cNvPr id="33" name="PIJL-RECHTS 32"/>
          <p:cNvSpPr/>
          <p:nvPr/>
        </p:nvSpPr>
        <p:spPr>
          <a:xfrm>
            <a:off x="8053082" y="3284984"/>
            <a:ext cx="923587" cy="84112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1400" dirty="0"/>
              <a:t>F</a:t>
            </a:r>
            <a:endParaRPr lang="en-US" sz="1600" dirty="0"/>
          </a:p>
        </p:txBody>
      </p:sp>
      <p:sp>
        <p:nvSpPr>
          <p:cNvPr id="41" name="Rechthoek 40"/>
          <p:cNvSpPr/>
          <p:nvPr/>
        </p:nvSpPr>
        <p:spPr>
          <a:xfrm>
            <a:off x="2786050" y="3284984"/>
            <a:ext cx="540000" cy="84112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100" dirty="0"/>
              <a:t>Phase 1</a:t>
            </a:r>
          </a:p>
          <a:p>
            <a:pPr algn="ctr"/>
            <a:endParaRPr lang="nl-BE" sz="1100" dirty="0"/>
          </a:p>
          <a:p>
            <a:pPr algn="ctr"/>
            <a:r>
              <a:rPr lang="nl-BE" sz="1100" dirty="0"/>
              <a:t>2A</a:t>
            </a:r>
            <a:endParaRPr lang="en-US" sz="1100" dirty="0"/>
          </a:p>
        </p:txBody>
      </p:sp>
      <p:sp>
        <p:nvSpPr>
          <p:cNvPr id="4" name="Espace réservé du numéro de diapositive 3"/>
          <p:cNvSpPr>
            <a:spLocks noGrp="1"/>
          </p:cNvSpPr>
          <p:nvPr>
            <p:ph type="sldNum" sz="quarter" idx="12"/>
          </p:nvPr>
        </p:nvSpPr>
        <p:spPr/>
        <p:txBody>
          <a:bodyPr/>
          <a:lstStyle/>
          <a:p>
            <a:fld id="{BDBE9B73-5FDC-46B2-A79B-5912A94C84D5}" type="slidenum">
              <a:rPr lang="nl-BE" smtClean="0"/>
              <a:pPr/>
              <a:t>49</a:t>
            </a:fld>
            <a:endParaRPr lang="nl-BE" dirty="0"/>
          </a:p>
        </p:txBody>
      </p:sp>
      <p:cxnSp>
        <p:nvCxnSpPr>
          <p:cNvPr id="45" name="Connecteur droit 44"/>
          <p:cNvCxnSpPr/>
          <p:nvPr/>
        </p:nvCxnSpPr>
        <p:spPr>
          <a:xfrm>
            <a:off x="8028384" y="4134062"/>
            <a:ext cx="0" cy="169092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flipH="1">
            <a:off x="3324700" y="4120289"/>
            <a:ext cx="1350" cy="17235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a:xfrm>
            <a:off x="2787591" y="4126110"/>
            <a:ext cx="12769" cy="139112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a:xfrm flipH="1">
            <a:off x="1705662" y="4126110"/>
            <a:ext cx="2118" cy="114808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a:xfrm>
            <a:off x="1156866" y="4126110"/>
            <a:ext cx="11452" cy="80357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flipH="1">
            <a:off x="628687" y="4126110"/>
            <a:ext cx="2408" cy="52281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2" name="Tekstvak 25"/>
          <p:cNvSpPr txBox="1"/>
          <p:nvPr/>
        </p:nvSpPr>
        <p:spPr>
          <a:xfrm>
            <a:off x="144039" y="4702850"/>
            <a:ext cx="949224" cy="338554"/>
          </a:xfrm>
          <a:prstGeom prst="rect">
            <a:avLst/>
          </a:prstGeom>
          <a:noFill/>
        </p:spPr>
        <p:txBody>
          <a:bodyPr wrap="square" rtlCol="0">
            <a:spAutoFit/>
          </a:bodyPr>
          <a:lstStyle/>
          <a:p>
            <a:pPr algn="ctr"/>
            <a:r>
              <a:rPr lang="nl-BE" sz="1600" dirty="0"/>
              <a:t>24.11.22</a:t>
            </a:r>
            <a:endParaRPr lang="en-US" sz="1600" dirty="0"/>
          </a:p>
        </p:txBody>
      </p:sp>
      <p:sp>
        <p:nvSpPr>
          <p:cNvPr id="53" name="Tekstvak 25"/>
          <p:cNvSpPr txBox="1"/>
          <p:nvPr/>
        </p:nvSpPr>
        <p:spPr>
          <a:xfrm>
            <a:off x="689624" y="4935636"/>
            <a:ext cx="949224" cy="338554"/>
          </a:xfrm>
          <a:prstGeom prst="rect">
            <a:avLst/>
          </a:prstGeom>
          <a:noFill/>
        </p:spPr>
        <p:txBody>
          <a:bodyPr wrap="square" rtlCol="0">
            <a:spAutoFit/>
          </a:bodyPr>
          <a:lstStyle/>
          <a:p>
            <a:pPr algn="ctr"/>
            <a:r>
              <a:rPr lang="nl-BE" sz="1600" dirty="0"/>
              <a:t>24.02.23</a:t>
            </a:r>
            <a:endParaRPr lang="en-US" sz="1600" dirty="0"/>
          </a:p>
        </p:txBody>
      </p:sp>
      <p:sp>
        <p:nvSpPr>
          <p:cNvPr id="55" name="Tekstvak 25"/>
          <p:cNvSpPr txBox="1"/>
          <p:nvPr/>
        </p:nvSpPr>
        <p:spPr>
          <a:xfrm>
            <a:off x="1231050" y="5299264"/>
            <a:ext cx="949224" cy="338554"/>
          </a:xfrm>
          <a:prstGeom prst="rect">
            <a:avLst/>
          </a:prstGeom>
          <a:noFill/>
        </p:spPr>
        <p:txBody>
          <a:bodyPr wrap="square" rtlCol="0">
            <a:spAutoFit/>
          </a:bodyPr>
          <a:lstStyle/>
          <a:p>
            <a:pPr algn="ctr"/>
            <a:r>
              <a:rPr lang="nl-BE" sz="1600" dirty="0"/>
              <a:t>24.05.23</a:t>
            </a:r>
            <a:endParaRPr lang="en-US" sz="1600" dirty="0"/>
          </a:p>
        </p:txBody>
      </p:sp>
      <p:sp>
        <p:nvSpPr>
          <p:cNvPr id="56" name="Tekstvak 25"/>
          <p:cNvSpPr txBox="1"/>
          <p:nvPr/>
        </p:nvSpPr>
        <p:spPr>
          <a:xfrm>
            <a:off x="2338734" y="5517232"/>
            <a:ext cx="949224" cy="338554"/>
          </a:xfrm>
          <a:prstGeom prst="rect">
            <a:avLst/>
          </a:prstGeom>
          <a:noFill/>
        </p:spPr>
        <p:txBody>
          <a:bodyPr wrap="square" rtlCol="0">
            <a:spAutoFit/>
          </a:bodyPr>
          <a:lstStyle/>
          <a:p>
            <a:pPr algn="ctr"/>
            <a:r>
              <a:rPr lang="nl-BE" sz="1600" dirty="0"/>
              <a:t>24.11.23</a:t>
            </a:r>
            <a:endParaRPr lang="en-US" sz="1600" dirty="0"/>
          </a:p>
        </p:txBody>
      </p:sp>
      <p:sp>
        <p:nvSpPr>
          <p:cNvPr id="57" name="Tekstvak 25"/>
          <p:cNvSpPr txBox="1"/>
          <p:nvPr/>
        </p:nvSpPr>
        <p:spPr>
          <a:xfrm>
            <a:off x="2887134" y="5840118"/>
            <a:ext cx="949224" cy="338554"/>
          </a:xfrm>
          <a:prstGeom prst="rect">
            <a:avLst/>
          </a:prstGeom>
          <a:noFill/>
        </p:spPr>
        <p:txBody>
          <a:bodyPr wrap="square" rtlCol="0">
            <a:spAutoFit/>
          </a:bodyPr>
          <a:lstStyle/>
          <a:p>
            <a:pPr algn="ctr"/>
            <a:r>
              <a:rPr lang="nl-BE" sz="1600" dirty="0"/>
              <a:t>24.01.24</a:t>
            </a:r>
            <a:endParaRPr lang="en-US" sz="1600" dirty="0"/>
          </a:p>
        </p:txBody>
      </p:sp>
      <p:sp>
        <p:nvSpPr>
          <p:cNvPr id="58" name="Tekstvak 25"/>
          <p:cNvSpPr txBox="1"/>
          <p:nvPr/>
        </p:nvSpPr>
        <p:spPr>
          <a:xfrm>
            <a:off x="7553772" y="5860763"/>
            <a:ext cx="949224" cy="338554"/>
          </a:xfrm>
          <a:prstGeom prst="rect">
            <a:avLst/>
          </a:prstGeom>
          <a:noFill/>
        </p:spPr>
        <p:txBody>
          <a:bodyPr wrap="square" rtlCol="0">
            <a:spAutoFit/>
          </a:bodyPr>
          <a:lstStyle/>
          <a:p>
            <a:pPr algn="ctr"/>
            <a:r>
              <a:rPr lang="nl-BE" sz="1600" dirty="0"/>
              <a:t>24.11.26</a:t>
            </a:r>
            <a:endParaRPr lang="en-US" sz="1600" dirty="0"/>
          </a:p>
        </p:txBody>
      </p:sp>
      <p:cxnSp>
        <p:nvCxnSpPr>
          <p:cNvPr id="59" name="Connecteur droit 58"/>
          <p:cNvCxnSpPr/>
          <p:nvPr/>
        </p:nvCxnSpPr>
        <p:spPr>
          <a:xfrm>
            <a:off x="4367990" y="4118746"/>
            <a:ext cx="12119" cy="171587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0" name="Tekstvak 25"/>
          <p:cNvSpPr txBox="1"/>
          <p:nvPr/>
        </p:nvSpPr>
        <p:spPr>
          <a:xfrm>
            <a:off x="5732308" y="5870715"/>
            <a:ext cx="949224" cy="338554"/>
          </a:xfrm>
          <a:prstGeom prst="rect">
            <a:avLst/>
          </a:prstGeom>
          <a:noFill/>
        </p:spPr>
        <p:txBody>
          <a:bodyPr wrap="square" rtlCol="0">
            <a:spAutoFit/>
          </a:bodyPr>
          <a:lstStyle/>
          <a:p>
            <a:pPr algn="ctr"/>
            <a:r>
              <a:rPr lang="en-US" sz="1600" dirty="0"/>
              <a:t>24.11.25</a:t>
            </a:r>
          </a:p>
        </p:txBody>
      </p:sp>
      <p:sp>
        <p:nvSpPr>
          <p:cNvPr id="61" name="Rechthoek 45"/>
          <p:cNvSpPr/>
          <p:nvPr/>
        </p:nvSpPr>
        <p:spPr>
          <a:xfrm>
            <a:off x="3353923" y="3284984"/>
            <a:ext cx="1010978" cy="840991"/>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2.0</a:t>
            </a:r>
            <a:endParaRPr lang="en-US" sz="1400" b="1" dirty="0"/>
          </a:p>
        </p:txBody>
      </p:sp>
      <p:sp>
        <p:nvSpPr>
          <p:cNvPr id="62" name="Rechthoek 46"/>
          <p:cNvSpPr/>
          <p:nvPr/>
        </p:nvSpPr>
        <p:spPr>
          <a:xfrm>
            <a:off x="4370565" y="3286746"/>
            <a:ext cx="900000" cy="832797"/>
          </a:xfrm>
          <a:prstGeom prst="rect">
            <a:avLst/>
          </a:prstGeom>
          <a:solidFill>
            <a:srgbClr val="F479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2.1</a:t>
            </a:r>
            <a:endParaRPr lang="en-US" sz="1400" b="1" dirty="0"/>
          </a:p>
        </p:txBody>
      </p:sp>
      <p:sp>
        <p:nvSpPr>
          <p:cNvPr id="63" name="Rechthoek 47"/>
          <p:cNvSpPr/>
          <p:nvPr/>
        </p:nvSpPr>
        <p:spPr>
          <a:xfrm>
            <a:off x="5277017" y="3284187"/>
            <a:ext cx="900000" cy="834559"/>
          </a:xfrm>
          <a:prstGeom prst="rect">
            <a:avLst/>
          </a:prstGeom>
          <a:solidFill>
            <a:srgbClr val="F37E1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2.2</a:t>
            </a:r>
            <a:endParaRPr lang="en-US" sz="1400" b="1" dirty="0"/>
          </a:p>
        </p:txBody>
      </p:sp>
      <p:sp>
        <p:nvSpPr>
          <p:cNvPr id="64" name="Rechthoek 48"/>
          <p:cNvSpPr/>
          <p:nvPr/>
        </p:nvSpPr>
        <p:spPr>
          <a:xfrm>
            <a:off x="6194051" y="3284983"/>
            <a:ext cx="900000" cy="840991"/>
          </a:xfrm>
          <a:prstGeom prst="rect">
            <a:avLst/>
          </a:prstGeom>
          <a:solidFill>
            <a:srgbClr val="F89B4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2.3</a:t>
            </a:r>
            <a:endParaRPr lang="en-US" sz="1400" b="1" dirty="0"/>
          </a:p>
        </p:txBody>
      </p:sp>
      <p:sp>
        <p:nvSpPr>
          <p:cNvPr id="65" name="Rechthoek 49"/>
          <p:cNvSpPr/>
          <p:nvPr/>
        </p:nvSpPr>
        <p:spPr>
          <a:xfrm>
            <a:off x="7113472" y="3286748"/>
            <a:ext cx="939610" cy="839226"/>
          </a:xfrm>
          <a:prstGeom prst="rect">
            <a:avLst/>
          </a:prstGeom>
          <a:solidFill>
            <a:srgbClr val="F7A96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1400" b="1" dirty="0"/>
              <a:t>Phase 2.4</a:t>
            </a:r>
            <a:endParaRPr lang="en-US" sz="1400" b="1" dirty="0"/>
          </a:p>
        </p:txBody>
      </p:sp>
      <p:cxnSp>
        <p:nvCxnSpPr>
          <p:cNvPr id="66" name="Connecteur droit 65"/>
          <p:cNvCxnSpPr/>
          <p:nvPr/>
        </p:nvCxnSpPr>
        <p:spPr>
          <a:xfrm>
            <a:off x="5281182" y="4118191"/>
            <a:ext cx="4599" cy="171642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Connecteur droit 67"/>
          <p:cNvCxnSpPr/>
          <p:nvPr/>
        </p:nvCxnSpPr>
        <p:spPr>
          <a:xfrm>
            <a:off x="6177017" y="4136045"/>
            <a:ext cx="9338" cy="169857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Connecteur droit 68"/>
          <p:cNvCxnSpPr/>
          <p:nvPr/>
        </p:nvCxnSpPr>
        <p:spPr>
          <a:xfrm>
            <a:off x="7097009" y="4134062"/>
            <a:ext cx="2962" cy="171834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70" name="Tekstvak 25"/>
          <p:cNvSpPr txBox="1"/>
          <p:nvPr/>
        </p:nvSpPr>
        <p:spPr>
          <a:xfrm>
            <a:off x="3885877" y="5870715"/>
            <a:ext cx="949224" cy="338554"/>
          </a:xfrm>
          <a:prstGeom prst="rect">
            <a:avLst/>
          </a:prstGeom>
          <a:noFill/>
        </p:spPr>
        <p:txBody>
          <a:bodyPr wrap="square" rtlCol="0">
            <a:spAutoFit/>
          </a:bodyPr>
          <a:lstStyle/>
          <a:p>
            <a:pPr algn="ctr"/>
            <a:r>
              <a:rPr lang="nl-BE" sz="1600" dirty="0"/>
              <a:t>24.11.24</a:t>
            </a:r>
            <a:endParaRPr lang="en-US" sz="1600" dirty="0"/>
          </a:p>
        </p:txBody>
      </p:sp>
      <p:sp>
        <p:nvSpPr>
          <p:cNvPr id="71" name="Tekstvak 25"/>
          <p:cNvSpPr txBox="1"/>
          <p:nvPr/>
        </p:nvSpPr>
        <p:spPr>
          <a:xfrm>
            <a:off x="4806570" y="5860763"/>
            <a:ext cx="949224" cy="338554"/>
          </a:xfrm>
          <a:prstGeom prst="rect">
            <a:avLst/>
          </a:prstGeom>
          <a:noFill/>
        </p:spPr>
        <p:txBody>
          <a:bodyPr wrap="square" rtlCol="0">
            <a:spAutoFit/>
          </a:bodyPr>
          <a:lstStyle/>
          <a:p>
            <a:pPr algn="ctr"/>
            <a:r>
              <a:rPr lang="nl-BE" sz="1600" dirty="0"/>
              <a:t>24.05.25</a:t>
            </a:r>
            <a:endParaRPr lang="en-US" sz="1600" dirty="0"/>
          </a:p>
        </p:txBody>
      </p:sp>
      <p:sp>
        <p:nvSpPr>
          <p:cNvPr id="72" name="Tekstvak 25"/>
          <p:cNvSpPr txBox="1"/>
          <p:nvPr/>
        </p:nvSpPr>
        <p:spPr>
          <a:xfrm>
            <a:off x="6637601" y="5860763"/>
            <a:ext cx="949224" cy="338554"/>
          </a:xfrm>
          <a:prstGeom prst="rect">
            <a:avLst/>
          </a:prstGeom>
          <a:noFill/>
        </p:spPr>
        <p:txBody>
          <a:bodyPr wrap="square" rtlCol="0">
            <a:spAutoFit/>
          </a:bodyPr>
          <a:lstStyle/>
          <a:p>
            <a:pPr algn="ctr"/>
            <a:r>
              <a:rPr lang="nl-BE" sz="1600" dirty="0"/>
              <a:t>24.05.26</a:t>
            </a:r>
            <a:endParaRPr lang="en-US" sz="1600" dirty="0"/>
          </a:p>
        </p:txBody>
      </p:sp>
      <p:sp>
        <p:nvSpPr>
          <p:cNvPr id="73" name="Rechthoek 27"/>
          <p:cNvSpPr/>
          <p:nvPr/>
        </p:nvSpPr>
        <p:spPr>
          <a:xfrm>
            <a:off x="3233180" y="4092908"/>
            <a:ext cx="1213235" cy="584775"/>
          </a:xfrm>
          <a:prstGeom prst="rect">
            <a:avLst/>
          </a:prstGeom>
        </p:spPr>
        <p:txBody>
          <a:bodyPr wrap="square">
            <a:spAutoFit/>
          </a:bodyPr>
          <a:lstStyle/>
          <a:p>
            <a:pPr lvl="0" algn="ctr"/>
            <a:r>
              <a:rPr lang="nl-BE" sz="1600" dirty="0">
                <a:solidFill>
                  <a:prstClr val="black"/>
                </a:solidFill>
              </a:rPr>
              <a:t>10 mois</a:t>
            </a:r>
          </a:p>
          <a:p>
            <a:pPr lvl="0" algn="ctr"/>
            <a:r>
              <a:rPr lang="nl-BE" sz="1600" dirty="0">
                <a:solidFill>
                  <a:prstClr val="black"/>
                </a:solidFill>
              </a:rPr>
              <a:t> (2 x 5 ans)</a:t>
            </a:r>
            <a:endParaRPr lang="en-US" sz="1600" dirty="0">
              <a:solidFill>
                <a:prstClr val="black"/>
              </a:solidFill>
            </a:endParaRPr>
          </a:p>
        </p:txBody>
      </p:sp>
      <p:sp>
        <p:nvSpPr>
          <p:cNvPr id="74" name="Tekstvak 28"/>
          <p:cNvSpPr txBox="1"/>
          <p:nvPr/>
        </p:nvSpPr>
        <p:spPr>
          <a:xfrm>
            <a:off x="4405766" y="4134062"/>
            <a:ext cx="785818" cy="338554"/>
          </a:xfrm>
          <a:prstGeom prst="rect">
            <a:avLst/>
          </a:prstGeom>
          <a:noFill/>
        </p:spPr>
        <p:txBody>
          <a:bodyPr wrap="square" rtlCol="0">
            <a:spAutoFit/>
          </a:bodyPr>
          <a:lstStyle/>
          <a:p>
            <a:pPr algn="ctr"/>
            <a:r>
              <a:rPr lang="nl-BE" sz="1600" dirty="0"/>
              <a:t>6 m</a:t>
            </a:r>
            <a:endParaRPr lang="en-US" sz="1600" dirty="0"/>
          </a:p>
        </p:txBody>
      </p:sp>
      <p:sp>
        <p:nvSpPr>
          <p:cNvPr id="75" name="Tekstvak 28"/>
          <p:cNvSpPr txBox="1"/>
          <p:nvPr/>
        </p:nvSpPr>
        <p:spPr>
          <a:xfrm>
            <a:off x="5344786" y="4122265"/>
            <a:ext cx="785818" cy="338554"/>
          </a:xfrm>
          <a:prstGeom prst="rect">
            <a:avLst/>
          </a:prstGeom>
          <a:noFill/>
        </p:spPr>
        <p:txBody>
          <a:bodyPr wrap="square" rtlCol="0">
            <a:spAutoFit/>
          </a:bodyPr>
          <a:lstStyle/>
          <a:p>
            <a:pPr algn="ctr"/>
            <a:r>
              <a:rPr lang="nl-BE" sz="1600" dirty="0"/>
              <a:t>6 m</a:t>
            </a:r>
            <a:endParaRPr lang="en-US" sz="1600" dirty="0"/>
          </a:p>
        </p:txBody>
      </p:sp>
      <p:sp>
        <p:nvSpPr>
          <p:cNvPr id="76" name="Tekstvak 28"/>
          <p:cNvSpPr txBox="1"/>
          <p:nvPr/>
        </p:nvSpPr>
        <p:spPr>
          <a:xfrm>
            <a:off x="6240885" y="4151910"/>
            <a:ext cx="785818" cy="338554"/>
          </a:xfrm>
          <a:prstGeom prst="rect">
            <a:avLst/>
          </a:prstGeom>
          <a:noFill/>
        </p:spPr>
        <p:txBody>
          <a:bodyPr wrap="square" rtlCol="0">
            <a:spAutoFit/>
          </a:bodyPr>
          <a:lstStyle/>
          <a:p>
            <a:pPr algn="ctr"/>
            <a:r>
              <a:rPr lang="nl-BE" sz="1600" dirty="0"/>
              <a:t>6 m</a:t>
            </a:r>
            <a:endParaRPr lang="en-US" sz="1600" dirty="0"/>
          </a:p>
        </p:txBody>
      </p:sp>
      <p:sp>
        <p:nvSpPr>
          <p:cNvPr id="77" name="Tekstvak 28"/>
          <p:cNvSpPr txBox="1"/>
          <p:nvPr/>
        </p:nvSpPr>
        <p:spPr>
          <a:xfrm>
            <a:off x="7020272" y="4151910"/>
            <a:ext cx="785818" cy="338554"/>
          </a:xfrm>
          <a:prstGeom prst="rect">
            <a:avLst/>
          </a:prstGeom>
          <a:noFill/>
        </p:spPr>
        <p:txBody>
          <a:bodyPr wrap="square" rtlCol="0">
            <a:spAutoFit/>
          </a:bodyPr>
          <a:lstStyle/>
          <a:p>
            <a:pPr algn="ctr"/>
            <a:r>
              <a:rPr lang="nl-BE" sz="1600" dirty="0"/>
              <a:t>6 m</a:t>
            </a:r>
            <a:endParaRPr lang="en-US" sz="1600" dirty="0"/>
          </a:p>
        </p:txBody>
      </p:sp>
      <p:pic>
        <p:nvPicPr>
          <p:cNvPr id="2" name="Image 1">
            <a:hlinkClick r:id="rId3" action="ppaction://hlinksldjump"/>
          </p:cNvPr>
          <p:cNvPicPr>
            <a:picLocks noChangeAspect="1"/>
          </p:cNvPicPr>
          <p:nvPr/>
        </p:nvPicPr>
        <p:blipFill>
          <a:blip r:embed="rId4"/>
          <a:stretch>
            <a:fillRect/>
          </a:stretch>
        </p:blipFill>
        <p:spPr>
          <a:xfrm>
            <a:off x="7678063" y="6429174"/>
            <a:ext cx="256054" cy="219475"/>
          </a:xfrm>
          <a:prstGeom prst="rect">
            <a:avLst/>
          </a:prstGeom>
        </p:spPr>
      </p:pic>
    </p:spTree>
    <p:extLst>
      <p:ext uri="{BB962C8B-B14F-4D97-AF65-F5344CB8AC3E}">
        <p14:creationId xmlns:p14="http://schemas.microsoft.com/office/powerpoint/2010/main" val="14489603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fade">
                                      <p:cBhvr>
                                        <p:cTn id="30" dur="500"/>
                                        <p:tgtEl>
                                          <p:spTgt spid="6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fade">
                                      <p:cBhvr>
                                        <p:cTn id="33" dur="500"/>
                                        <p:tgtEl>
                                          <p:spTgt spid="7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fade">
                                      <p:cBhvr>
                                        <p:cTn id="38" dur="500"/>
                                        <p:tgtEl>
                                          <p:spTgt spid="6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animEffect transition="in" filter="fade">
                                      <p:cBhvr>
                                        <p:cTn id="41" dur="500"/>
                                        <p:tgtEl>
                                          <p:spTgt spid="7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500"/>
                                        <p:tgtEl>
                                          <p:spTgt spid="6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fade">
                                      <p:cBhvr>
                                        <p:cTn id="49" dur="500"/>
                                        <p:tgtEl>
                                          <p:spTgt spid="7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4"/>
                                        </p:tgtEl>
                                        <p:attrNameLst>
                                          <p:attrName>style.visibility</p:attrName>
                                        </p:attrNameLst>
                                      </p:cBhvr>
                                      <p:to>
                                        <p:strVal val="visible"/>
                                      </p:to>
                                    </p:set>
                                    <p:animEffect transition="in" filter="fade">
                                      <p:cBhvr>
                                        <p:cTn id="54" dur="500"/>
                                        <p:tgtEl>
                                          <p:spTgt spid="6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76"/>
                                        </p:tgtEl>
                                        <p:attrNameLst>
                                          <p:attrName>style.visibility</p:attrName>
                                        </p:attrNameLst>
                                      </p:cBhvr>
                                      <p:to>
                                        <p:strVal val="visible"/>
                                      </p:to>
                                    </p:set>
                                    <p:animEffect transition="in" filter="fade">
                                      <p:cBhvr>
                                        <p:cTn id="57" dur="500"/>
                                        <p:tgtEl>
                                          <p:spTgt spid="7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fade">
                                      <p:cBhvr>
                                        <p:cTn id="62" dur="500"/>
                                        <p:tgtEl>
                                          <p:spTgt spid="6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7"/>
                                        </p:tgtEl>
                                        <p:attrNameLst>
                                          <p:attrName>style.visibility</p:attrName>
                                        </p:attrNameLst>
                                      </p:cBhvr>
                                      <p:to>
                                        <p:strVal val="visible"/>
                                      </p:to>
                                    </p:set>
                                    <p:animEffect transition="in" filter="fade">
                                      <p:cBhvr>
                                        <p:cTn id="65" dur="500"/>
                                        <p:tgtEl>
                                          <p:spTgt spid="7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fade">
                                      <p:cBhvr>
                                        <p:cTn id="75" dur="500"/>
                                        <p:tgtEl>
                                          <p:spTgt spid="5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500"/>
                                        <p:tgtEl>
                                          <p:spTgt spid="5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fade">
                                      <p:cBhvr>
                                        <p:cTn id="83" dur="500"/>
                                        <p:tgtEl>
                                          <p:spTgt spid="4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fade">
                                      <p:cBhvr>
                                        <p:cTn id="86" dur="500"/>
                                        <p:tgtEl>
                                          <p:spTgt spid="5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500"/>
                                        <p:tgtEl>
                                          <p:spTgt spid="4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5"/>
                                        </p:tgtEl>
                                        <p:attrNameLst>
                                          <p:attrName>style.visibility</p:attrName>
                                        </p:attrNameLst>
                                      </p:cBhvr>
                                      <p:to>
                                        <p:strVal val="visible"/>
                                      </p:to>
                                    </p:set>
                                    <p:animEffect transition="in" filter="fade">
                                      <p:cBhvr>
                                        <p:cTn id="94" dur="500"/>
                                        <p:tgtEl>
                                          <p:spTgt spid="55"/>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500"/>
                                        <p:tgtEl>
                                          <p:spTgt spid="4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500"/>
                                        <p:tgtEl>
                                          <p:spTgt spid="4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7"/>
                                        </p:tgtEl>
                                        <p:attrNameLst>
                                          <p:attrName>style.visibility</p:attrName>
                                        </p:attrNameLst>
                                      </p:cBhvr>
                                      <p:to>
                                        <p:strVal val="visible"/>
                                      </p:to>
                                    </p:set>
                                    <p:animEffect transition="in" filter="fade">
                                      <p:cBhvr>
                                        <p:cTn id="110" dur="500"/>
                                        <p:tgtEl>
                                          <p:spTgt spid="57"/>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59"/>
                                        </p:tgtEl>
                                        <p:attrNameLst>
                                          <p:attrName>style.visibility</p:attrName>
                                        </p:attrNameLst>
                                      </p:cBhvr>
                                      <p:to>
                                        <p:strVal val="visible"/>
                                      </p:to>
                                    </p:set>
                                    <p:animEffect transition="in" filter="fade">
                                      <p:cBhvr>
                                        <p:cTn id="115" dur="500"/>
                                        <p:tgtEl>
                                          <p:spTgt spid="5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70"/>
                                        </p:tgtEl>
                                        <p:attrNameLst>
                                          <p:attrName>style.visibility</p:attrName>
                                        </p:attrNameLst>
                                      </p:cBhvr>
                                      <p:to>
                                        <p:strVal val="visible"/>
                                      </p:to>
                                    </p:set>
                                    <p:animEffect transition="in" filter="fade">
                                      <p:cBhvr>
                                        <p:cTn id="118" dur="500"/>
                                        <p:tgtEl>
                                          <p:spTgt spid="70"/>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66"/>
                                        </p:tgtEl>
                                        <p:attrNameLst>
                                          <p:attrName>style.visibility</p:attrName>
                                        </p:attrNameLst>
                                      </p:cBhvr>
                                      <p:to>
                                        <p:strVal val="visible"/>
                                      </p:to>
                                    </p:set>
                                    <p:animEffect transition="in" filter="fade">
                                      <p:cBhvr>
                                        <p:cTn id="123" dur="500"/>
                                        <p:tgtEl>
                                          <p:spTgt spid="66"/>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71"/>
                                        </p:tgtEl>
                                        <p:attrNameLst>
                                          <p:attrName>style.visibility</p:attrName>
                                        </p:attrNameLst>
                                      </p:cBhvr>
                                      <p:to>
                                        <p:strVal val="visible"/>
                                      </p:to>
                                    </p:set>
                                    <p:animEffect transition="in" filter="fade">
                                      <p:cBhvr>
                                        <p:cTn id="126" dur="500"/>
                                        <p:tgtEl>
                                          <p:spTgt spid="71"/>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68"/>
                                        </p:tgtEl>
                                        <p:attrNameLst>
                                          <p:attrName>style.visibility</p:attrName>
                                        </p:attrNameLst>
                                      </p:cBhvr>
                                      <p:to>
                                        <p:strVal val="visible"/>
                                      </p:to>
                                    </p:set>
                                    <p:animEffect transition="in" filter="fade">
                                      <p:cBhvr>
                                        <p:cTn id="131" dur="500"/>
                                        <p:tgtEl>
                                          <p:spTgt spid="68"/>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fade">
                                      <p:cBhvr>
                                        <p:cTn id="134" dur="500"/>
                                        <p:tgtEl>
                                          <p:spTgt spid="60"/>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69"/>
                                        </p:tgtEl>
                                        <p:attrNameLst>
                                          <p:attrName>style.visibility</p:attrName>
                                        </p:attrNameLst>
                                      </p:cBhvr>
                                      <p:to>
                                        <p:strVal val="visible"/>
                                      </p:to>
                                    </p:set>
                                    <p:animEffect transition="in" filter="fade">
                                      <p:cBhvr>
                                        <p:cTn id="139" dur="500"/>
                                        <p:tgtEl>
                                          <p:spTgt spid="69"/>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72"/>
                                        </p:tgtEl>
                                        <p:attrNameLst>
                                          <p:attrName>style.visibility</p:attrName>
                                        </p:attrNameLst>
                                      </p:cBhvr>
                                      <p:to>
                                        <p:strVal val="visible"/>
                                      </p:to>
                                    </p:set>
                                    <p:animEffect transition="in" filter="fade">
                                      <p:cBhvr>
                                        <p:cTn id="142" dur="500"/>
                                        <p:tgtEl>
                                          <p:spTgt spid="72"/>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500"/>
                                        <p:tgtEl>
                                          <p:spTgt spid="45"/>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8"/>
                                        </p:tgtEl>
                                        <p:attrNameLst>
                                          <p:attrName>style.visibility</p:attrName>
                                        </p:attrNameLst>
                                      </p:cBhvr>
                                      <p:to>
                                        <p:strVal val="visible"/>
                                      </p:to>
                                    </p:set>
                                    <p:animEffect transition="in" filter="fade">
                                      <p:cBhvr>
                                        <p:cTn id="15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33" grpId="0" animBg="1"/>
      <p:bldP spid="41" grpId="0" animBg="1"/>
      <p:bldP spid="52" grpId="0"/>
      <p:bldP spid="53" grpId="0"/>
      <p:bldP spid="55" grpId="0"/>
      <p:bldP spid="56" grpId="0"/>
      <p:bldP spid="57" grpId="0"/>
      <p:bldP spid="58" grpId="0"/>
      <p:bldP spid="60" grpId="0"/>
      <p:bldP spid="61" grpId="0" animBg="1"/>
      <p:bldP spid="62" grpId="0" animBg="1"/>
      <p:bldP spid="63" grpId="0" animBg="1"/>
      <p:bldP spid="64" grpId="0" animBg="1"/>
      <p:bldP spid="65" grpId="0" animBg="1"/>
      <p:bldP spid="70" grpId="0"/>
      <p:bldP spid="71" grpId="0"/>
      <p:bldP spid="72" grpId="0"/>
      <p:bldP spid="73" grpId="0"/>
      <p:bldP spid="74" grpId="0"/>
      <p:bldP spid="75" grpId="0"/>
      <p:bldP spid="76" grpId="0"/>
      <p:bldP spid="77"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35D32BFEA545C4385104AB5091D3485" ma:contentTypeVersion="4" ma:contentTypeDescription="Crée un document." ma:contentTypeScope="" ma:versionID="0bb1294de808c5098690370d06029b9e">
  <xsd:schema xmlns:xsd="http://www.w3.org/2001/XMLSchema" xmlns:xs="http://www.w3.org/2001/XMLSchema" xmlns:p="http://schemas.microsoft.com/office/2006/metadata/properties" xmlns:ns2="447dc5be-6c5f-4788-b00f-a02e84403ceb" xmlns:ns3="41daa35d-0841-4078-8e3c-042c746e8d98" targetNamespace="http://schemas.microsoft.com/office/2006/metadata/properties" ma:root="true" ma:fieldsID="76ec0f4aec764fe0c01f4239d0947e3c" ns2:_="" ns3:_="">
    <xsd:import namespace="447dc5be-6c5f-4788-b00f-a02e84403ceb"/>
    <xsd:import namespace="41daa35d-0841-4078-8e3c-042c746e8d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7dc5be-6c5f-4788-b00f-a02e84403c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daa35d-0841-4078-8e3c-042c746e8d98"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BA38589E-C429-4429-AF23-BDAFD304F559}">
  <ds:schemaRefs>
    <ds:schemaRef ds:uri="http://www.w3.org/XML/1998/namespace"/>
    <ds:schemaRef ds:uri="http://purl.org/dc/elements/1.1/"/>
    <ds:schemaRef ds:uri="bdec1399-7c99-4025-bfb6-e1e799e6630a"/>
    <ds:schemaRef ds:uri="http://purl.org/dc/terms/"/>
    <ds:schemaRef ds:uri="http://schemas.microsoft.com/office/infopath/2007/PartnerControls"/>
    <ds:schemaRef ds:uri="7d2a3af0-b854-4018-b3fb-98bf2b75e19a"/>
    <ds:schemaRef ds:uri="http://schemas.microsoft.com/office/2006/documentManagement/types"/>
    <ds:schemaRef ds:uri="1e832426-6819-49af-b751-404cdfce1567"/>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625A81A-8A17-4659-BF1A-2417F79D529B}">
  <ds:schemaRefs>
    <ds:schemaRef ds:uri="http://schemas.microsoft.com/sharepoint/v3/contenttype/forms"/>
  </ds:schemaRefs>
</ds:datastoreItem>
</file>

<file path=customXml/itemProps3.xml><?xml version="1.0" encoding="utf-8"?>
<ds:datastoreItem xmlns:ds="http://schemas.openxmlformats.org/officeDocument/2006/customXml" ds:itemID="{D265DEAE-7EA0-4555-9B7F-2B72DF7C4C96}"/>
</file>

<file path=customXml/itemProps4.xml><?xml version="1.0" encoding="utf-8"?>
<ds:datastoreItem xmlns:ds="http://schemas.openxmlformats.org/officeDocument/2006/customXml" ds:itemID="{FC1E7029-C98A-41F3-95A4-6638E30D9315}">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13223</TotalTime>
  <Words>3846</Words>
  <Application>Microsoft Office PowerPoint</Application>
  <PresentationFormat>Affichage à l'écran (4:3)</PresentationFormat>
  <Paragraphs>881</Paragraphs>
  <Slides>49</Slides>
  <Notes>40</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49</vt:i4>
      </vt:variant>
    </vt:vector>
  </HeadingPairs>
  <TitlesOfParts>
    <vt:vector size="55" baseType="lpstr">
      <vt:lpstr>Arial</vt:lpstr>
      <vt:lpstr>Calibri</vt:lpstr>
      <vt:lpstr>Times New Roman</vt:lpstr>
      <vt:lpstr>Wingdings</vt:lpstr>
      <vt:lpstr>Thème Office</vt:lpstr>
      <vt:lpstr>1_Thème Office</vt:lpstr>
      <vt:lpstr>Les périodes d’indemnisation</vt:lpstr>
      <vt:lpstr>Table des matières</vt:lpstr>
      <vt:lpstr>1. Introduction</vt:lpstr>
      <vt:lpstr>1. Introduction</vt:lpstr>
      <vt:lpstr>2. Les périodes  d’indemnisation</vt:lpstr>
      <vt:lpstr>2.1. Les périodes d’indemnisation cascade lors d’une 1er DA</vt:lpstr>
      <vt:lpstr>2.1. Les périodes d’indemnisation cascade complète </vt:lpstr>
      <vt:lpstr>2.1. Les périodes d’indemnisation</vt:lpstr>
      <vt:lpstr>2.1. Les périodes d’indemnisation</vt:lpstr>
      <vt:lpstr>2.1. Les périodes d’indemnisation</vt:lpstr>
      <vt:lpstr>2.2. Evolution des périodes : exemple</vt:lpstr>
      <vt:lpstr>Présentation PowerPoint</vt:lpstr>
      <vt:lpstr>2.2. Evolution des périodes : les phases 2.1 à 2.4</vt:lpstr>
      <vt:lpstr>2.2. Evolution des périodes :  1ère DA &amp; Périodes d’indemnisation</vt:lpstr>
      <vt:lpstr>2.3. PP &amp; Périodes d’indemnisation</vt:lpstr>
      <vt:lpstr>2.3. PP &amp; Périodes d’indemnisation</vt:lpstr>
      <vt:lpstr>2.4. Exercice 1</vt:lpstr>
      <vt:lpstr>3. La fixation</vt:lpstr>
      <vt:lpstr>3. La fixation</vt:lpstr>
      <vt:lpstr>3.1. Fixation – PP+</vt:lpstr>
      <vt:lpstr>3.1. Fixation – PP+</vt:lpstr>
      <vt:lpstr>3.2. Fixation – Aptitude réduite</vt:lpstr>
      <vt:lpstr>3.2. Fixation – Aptitude réduite</vt:lpstr>
      <vt:lpstr>3.2. Fixation – Aptitude réduite Exemple</vt:lpstr>
      <vt:lpstr>3.3. Fixation – Age </vt:lpstr>
      <vt:lpstr>3.3. Fixation – Age </vt:lpstr>
      <vt:lpstr>3.3. Fixation – Age :  exemple</vt:lpstr>
      <vt:lpstr>3.4. Fixation &amp; suffixes</vt:lpstr>
      <vt:lpstr>3.5. Fixation et article d’indemnisation</vt:lpstr>
      <vt:lpstr>Schéma récapitulatif</vt:lpstr>
      <vt:lpstr>3.6. Exercice 2</vt:lpstr>
      <vt:lpstr>3.6. Solution – Exercice 2</vt:lpstr>
      <vt:lpstr>3.6. Exercice 3</vt:lpstr>
      <vt:lpstr>3.6. Solution – Exercice 3</vt:lpstr>
      <vt:lpstr>4. L’allocation majorée: B+</vt:lpstr>
      <vt:lpstr>4. L’allocation majorée </vt:lpstr>
      <vt:lpstr>4.1.Exercice 4</vt:lpstr>
      <vt:lpstr>4.1. Solution exercice 4</vt:lpstr>
      <vt:lpstr>4.1.Exercice 5</vt:lpstr>
      <vt:lpstr>4.1. Solution exercice 5</vt:lpstr>
      <vt:lpstr>4.1.Exercice 6</vt:lpstr>
      <vt:lpstr>4.1. Solution exercice 6</vt:lpstr>
      <vt:lpstr>4.1.Exercice 7</vt:lpstr>
      <vt:lpstr>4.1. Solution exercice 7</vt:lpstr>
      <vt:lpstr>Présentation PowerPoint</vt:lpstr>
      <vt:lpstr>Présentation PowerPoint</vt:lpstr>
      <vt:lpstr>Présentation PowerPoint</vt:lpstr>
      <vt:lpstr>Présentation PowerPoint</vt:lpstr>
      <vt:lpstr>Présentation PowerPoint</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FCJ-M06-Evolution des périodes d'indemnisation (niv.1)-FLT</dc:title>
  <dc:creator>u99lge</dc:creator>
  <cp:lastModifiedBy>Jerome Martini</cp:lastModifiedBy>
  <cp:revision>702</cp:revision>
  <cp:lastPrinted>2017-03-08T15:27:41Z</cp:lastPrinted>
  <dcterms:created xsi:type="dcterms:W3CDTF">2010-09-22T12:12:06Z</dcterms:created>
  <dcterms:modified xsi:type="dcterms:W3CDTF">2022-11-24T15:09:47Z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0x010100735D32BFEA545C4385104AB5091D3485</vt:lpwstr>
  </property>
  <property fmtid="{D5CDD505-2E9C-101B-9397-08002B2CF9AE}" pid="3" name="Type formation">
    <vt:lpwstr>42;#FCJ formation junior|010f76d4-1162-4810-b874-62b7f270a9bc</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17;#Admissibilité|d1ac0b1f-1e4c-4aa8-9a97-5b01e61985ba;#18;#Vérités|91331765-02c2-47c0-8605-37a5a3e877f2</vt:lpwstr>
  </property>
  <property fmtid="{D5CDD505-2E9C-101B-9397-08002B2CF9AE}" pid="7" name="Thème">
    <vt:lpwstr>65;#Evolution des périodes (AR114) - Base|6953e7da-9d3d-499a-a01d-ed942ffbf20a</vt:lpwstr>
  </property>
  <property fmtid="{D5CDD505-2E9C-101B-9397-08002B2CF9AE}" pid="8" name="Order">
    <vt:r8>245500</vt:r8>
  </property>
  <property fmtid="{D5CDD505-2E9C-101B-9397-08002B2CF9AE}" pid="9" name="_dlc_DocIdItemGuid">
    <vt:lpwstr>77695d76-c8b1-4444-b9d2-88b7736e4899</vt:lpwstr>
  </property>
  <property fmtid="{D5CDD505-2E9C-101B-9397-08002B2CF9AE}" pid="10" name="AuthorIds_UIVersion_1024">
    <vt:lpwstr>23</vt:lpwstr>
  </property>
</Properties>
</file>