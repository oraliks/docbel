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4"/>
    <p:sldMasterId id="2147483672" r:id="rId5"/>
  </p:sldMasterIdLst>
  <p:notesMasterIdLst>
    <p:notesMasterId r:id="rId47"/>
  </p:notesMasterIdLst>
  <p:handoutMasterIdLst>
    <p:handoutMasterId r:id="rId48"/>
  </p:handoutMasterIdLst>
  <p:sldIdLst>
    <p:sldId id="284" r:id="rId6"/>
    <p:sldId id="460" r:id="rId7"/>
    <p:sldId id="523" r:id="rId8"/>
    <p:sldId id="502" r:id="rId9"/>
    <p:sldId id="483" r:id="rId10"/>
    <p:sldId id="469" r:id="rId11"/>
    <p:sldId id="610" r:id="rId12"/>
    <p:sldId id="472" r:id="rId13"/>
    <p:sldId id="450" r:id="rId14"/>
    <p:sldId id="505" r:id="rId15"/>
    <p:sldId id="336" r:id="rId16"/>
    <p:sldId id="503" r:id="rId17"/>
    <p:sldId id="340" r:id="rId18"/>
    <p:sldId id="337" r:id="rId19"/>
    <p:sldId id="484" r:id="rId20"/>
    <p:sldId id="486" r:id="rId21"/>
    <p:sldId id="344" r:id="rId22"/>
    <p:sldId id="536" r:id="rId23"/>
    <p:sldId id="538" r:id="rId24"/>
    <p:sldId id="583" r:id="rId25"/>
    <p:sldId id="498" r:id="rId26"/>
    <p:sldId id="493" r:id="rId27"/>
    <p:sldId id="584" r:id="rId28"/>
    <p:sldId id="611" r:id="rId29"/>
    <p:sldId id="504" r:id="rId30"/>
    <p:sldId id="379" r:id="rId31"/>
    <p:sldId id="378" r:id="rId32"/>
    <p:sldId id="376" r:id="rId33"/>
    <p:sldId id="512" r:id="rId34"/>
    <p:sldId id="382" r:id="rId35"/>
    <p:sldId id="612" r:id="rId36"/>
    <p:sldId id="540" r:id="rId37"/>
    <p:sldId id="585" r:id="rId38"/>
    <p:sldId id="586" r:id="rId39"/>
    <p:sldId id="386" r:id="rId40"/>
    <p:sldId id="613" r:id="rId41"/>
    <p:sldId id="528" r:id="rId42"/>
    <p:sldId id="609" r:id="rId43"/>
    <p:sldId id="518" r:id="rId44"/>
    <p:sldId id="398" r:id="rId45"/>
    <p:sldId id="507" r:id="rId46"/>
  </p:sldIdLst>
  <p:sldSz cx="9144000" cy="6858000" type="screen4x3"/>
  <p:notesSz cx="6669088"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CA36B8"/>
    <a:srgbClr val="003399"/>
    <a:srgbClr val="0033CC"/>
    <a:srgbClr val="008000"/>
    <a:srgbClr val="00FF00"/>
    <a:srgbClr val="66FF66"/>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71BA15-3B96-4410-92B1-21042C8FC863}" v="1" dt="2023-10-08T20:21:06.425"/>
    <p1510:client id="{D236556F-10B0-470B-9473-01930CEFE08C}" v="1" dt="2023-10-06T07:15:37.14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777607" y="0"/>
            <a:ext cx="2889938" cy="496332"/>
          </a:xfrm>
          <a:prstGeom prst="rect">
            <a:avLst/>
          </a:prstGeom>
        </p:spPr>
        <p:txBody>
          <a:bodyPr vert="horz" lIns="91440" tIns="45720" rIns="91440" bIns="45720" rtlCol="0"/>
          <a:lstStyle>
            <a:lvl1pPr algn="r">
              <a:defRPr sz="1200"/>
            </a:lvl1pPr>
          </a:lstStyle>
          <a:p>
            <a:fld id="{E47068CA-F0DC-447A-B9ED-AE95D731C7D8}" type="datetimeFigureOut">
              <a:rPr lang="fr-FR" smtClean="0"/>
              <a:pPr/>
              <a:t>13/10/2023</a:t>
            </a:fld>
            <a:endParaRPr lang="fr-FR"/>
          </a:p>
        </p:txBody>
      </p:sp>
      <p:sp>
        <p:nvSpPr>
          <p:cNvPr id="4" name="Espace réservé du pied de page 3"/>
          <p:cNvSpPr>
            <a:spLocks noGrp="1"/>
          </p:cNvSpPr>
          <p:nvPr>
            <p:ph type="ftr" sz="quarter" idx="2"/>
          </p:nvPr>
        </p:nvSpPr>
        <p:spPr>
          <a:xfrm>
            <a:off x="0" y="9428584"/>
            <a:ext cx="2889938" cy="496332"/>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777607" y="9428584"/>
            <a:ext cx="2889938" cy="496332"/>
          </a:xfrm>
          <a:prstGeom prst="rect">
            <a:avLst/>
          </a:prstGeom>
        </p:spPr>
        <p:txBody>
          <a:bodyPr vert="horz" lIns="91440" tIns="45720" rIns="91440" bIns="45720" rtlCol="0" anchor="b"/>
          <a:lstStyle>
            <a:lvl1pPr algn="r">
              <a:defRPr sz="1200"/>
            </a:lvl1pPr>
          </a:lstStyle>
          <a:p>
            <a:fld id="{49110657-391D-4BAF-82B8-BBA3EA77C61C}" type="slidenum">
              <a:rPr lang="fr-FR" smtClean="0"/>
              <a:pPr/>
              <a:t>‹N°›</a:t>
            </a:fld>
            <a:endParaRPr lang="fr-FR"/>
          </a:p>
        </p:txBody>
      </p:sp>
    </p:spTree>
    <p:extLst>
      <p:ext uri="{BB962C8B-B14F-4D97-AF65-F5344CB8AC3E}">
        <p14:creationId xmlns:p14="http://schemas.microsoft.com/office/powerpoint/2010/main" val="3259475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777607" y="0"/>
            <a:ext cx="2889938" cy="496332"/>
          </a:xfrm>
          <a:prstGeom prst="rect">
            <a:avLst/>
          </a:prstGeom>
        </p:spPr>
        <p:txBody>
          <a:bodyPr vert="horz" lIns="91440" tIns="45720" rIns="91440" bIns="45720" rtlCol="0"/>
          <a:lstStyle>
            <a:lvl1pPr algn="r">
              <a:defRPr sz="1200"/>
            </a:lvl1pPr>
          </a:lstStyle>
          <a:p>
            <a:fld id="{B000F49C-6693-442B-81D1-9FE7387508D2}" type="datetimeFigureOut">
              <a:rPr lang="fr-FR" smtClean="0"/>
              <a:pPr/>
              <a:t>13/10/2023</a:t>
            </a:fld>
            <a:endParaRPr lang="fr-FR"/>
          </a:p>
        </p:txBody>
      </p:sp>
      <p:sp>
        <p:nvSpPr>
          <p:cNvPr id="4" name="Espace réservé de l'image des diapositives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66909" y="4715155"/>
            <a:ext cx="5335270" cy="446698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4"/>
            <a:ext cx="2889938" cy="496332"/>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777607" y="9428584"/>
            <a:ext cx="2889938" cy="496332"/>
          </a:xfrm>
          <a:prstGeom prst="rect">
            <a:avLst/>
          </a:prstGeom>
        </p:spPr>
        <p:txBody>
          <a:bodyPr vert="horz" lIns="91440" tIns="45720" rIns="91440" bIns="45720" rtlCol="0" anchor="b"/>
          <a:lstStyle>
            <a:lvl1pPr algn="r">
              <a:defRPr sz="1200"/>
            </a:lvl1pPr>
          </a:lstStyle>
          <a:p>
            <a:fld id="{784742A2-A700-4112-A494-09AD92282681}" type="slidenum">
              <a:rPr lang="fr-FR" smtClean="0"/>
              <a:pPr/>
              <a:t>‹N°›</a:t>
            </a:fld>
            <a:endParaRPr lang="fr-FR"/>
          </a:p>
        </p:txBody>
      </p:sp>
    </p:spTree>
    <p:extLst>
      <p:ext uri="{BB962C8B-B14F-4D97-AF65-F5344CB8AC3E}">
        <p14:creationId xmlns:p14="http://schemas.microsoft.com/office/powerpoint/2010/main" val="2050764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a:t>
            </a:fld>
            <a:endParaRPr lang="fr-FR"/>
          </a:p>
        </p:txBody>
      </p:sp>
    </p:spTree>
    <p:extLst>
      <p:ext uri="{BB962C8B-B14F-4D97-AF65-F5344CB8AC3E}">
        <p14:creationId xmlns:p14="http://schemas.microsoft.com/office/powerpoint/2010/main" val="1629878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a:t>
            </a:fld>
            <a:endParaRPr lang="fr-FR"/>
          </a:p>
        </p:txBody>
      </p:sp>
    </p:spTree>
    <p:extLst>
      <p:ext uri="{BB962C8B-B14F-4D97-AF65-F5344CB8AC3E}">
        <p14:creationId xmlns:p14="http://schemas.microsoft.com/office/powerpoint/2010/main" val="3691666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a:t>
            </a:fld>
            <a:endParaRPr lang="fr-FR"/>
          </a:p>
        </p:txBody>
      </p:sp>
    </p:spTree>
    <p:extLst>
      <p:ext uri="{BB962C8B-B14F-4D97-AF65-F5344CB8AC3E}">
        <p14:creationId xmlns:p14="http://schemas.microsoft.com/office/powerpoint/2010/main" val="1938364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4</a:t>
            </a:fld>
            <a:endParaRPr lang="fr-FR">
              <a:solidFill>
                <a:prstClr val="black"/>
              </a:solidFill>
            </a:endParaRPr>
          </a:p>
        </p:txBody>
      </p:sp>
    </p:spTree>
    <p:extLst>
      <p:ext uri="{BB962C8B-B14F-4D97-AF65-F5344CB8AC3E}">
        <p14:creationId xmlns:p14="http://schemas.microsoft.com/office/powerpoint/2010/main" val="1219860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BE"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5</a:t>
            </a:fld>
            <a:endParaRPr lang="fr-FR"/>
          </a:p>
        </p:txBody>
      </p:sp>
    </p:spTree>
    <p:extLst>
      <p:ext uri="{BB962C8B-B14F-4D97-AF65-F5344CB8AC3E}">
        <p14:creationId xmlns:p14="http://schemas.microsoft.com/office/powerpoint/2010/main" val="729246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BE"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6</a:t>
            </a:fld>
            <a:endParaRPr lang="fr-FR"/>
          </a:p>
        </p:txBody>
      </p:sp>
    </p:spTree>
    <p:extLst>
      <p:ext uri="{BB962C8B-B14F-4D97-AF65-F5344CB8AC3E}">
        <p14:creationId xmlns:p14="http://schemas.microsoft.com/office/powerpoint/2010/main" val="1995875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87452E34-C519-400A-AB8D-76AF527C5018}" type="slidenum">
              <a:rPr lang="nl-BE" smtClean="0"/>
              <a:pPr/>
              <a:t>7</a:t>
            </a:fld>
            <a:endParaRPr lang="nl-BE"/>
          </a:p>
        </p:txBody>
      </p:sp>
    </p:spTree>
    <p:extLst>
      <p:ext uri="{BB962C8B-B14F-4D97-AF65-F5344CB8AC3E}">
        <p14:creationId xmlns:p14="http://schemas.microsoft.com/office/powerpoint/2010/main" val="1373235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i="1" baseline="0">
              <a:sym typeface="Wingdings" panose="05000000000000000000" pitchFamily="2" charset="2"/>
            </a:endParaRP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8</a:t>
            </a:fld>
            <a:endParaRPr lang="fr-FR"/>
          </a:p>
        </p:txBody>
      </p:sp>
    </p:spTree>
    <p:extLst>
      <p:ext uri="{BB962C8B-B14F-4D97-AF65-F5344CB8AC3E}">
        <p14:creationId xmlns:p14="http://schemas.microsoft.com/office/powerpoint/2010/main" val="1435876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BE" sz="1100" baseline="0"/>
              <a:t>.</a:t>
            </a: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9</a:t>
            </a:fld>
            <a:endParaRPr lang="fr-FR"/>
          </a:p>
        </p:txBody>
      </p:sp>
    </p:spTree>
    <p:extLst>
      <p:ext uri="{BB962C8B-B14F-4D97-AF65-F5344CB8AC3E}">
        <p14:creationId xmlns:p14="http://schemas.microsoft.com/office/powerpoint/2010/main" val="539544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10</a:t>
            </a:fld>
            <a:endParaRPr lang="fr-FR">
              <a:solidFill>
                <a:prstClr val="black"/>
              </a:solidFill>
            </a:endParaRPr>
          </a:p>
        </p:txBody>
      </p:sp>
    </p:spTree>
    <p:extLst>
      <p:ext uri="{BB962C8B-B14F-4D97-AF65-F5344CB8AC3E}">
        <p14:creationId xmlns:p14="http://schemas.microsoft.com/office/powerpoint/2010/main" val="1219860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baseline="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11</a:t>
            </a:fld>
            <a:endParaRPr lang="fr-FR"/>
          </a:p>
        </p:txBody>
      </p:sp>
    </p:spTree>
    <p:extLst>
      <p:ext uri="{BB962C8B-B14F-4D97-AF65-F5344CB8AC3E}">
        <p14:creationId xmlns:p14="http://schemas.microsoft.com/office/powerpoint/2010/main" val="3058847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12</a:t>
            </a:fld>
            <a:endParaRPr lang="fr-FR">
              <a:solidFill>
                <a:prstClr val="black"/>
              </a:solidFill>
            </a:endParaRPr>
          </a:p>
        </p:txBody>
      </p:sp>
    </p:spTree>
    <p:extLst>
      <p:ext uri="{BB962C8B-B14F-4D97-AF65-F5344CB8AC3E}">
        <p14:creationId xmlns:p14="http://schemas.microsoft.com/office/powerpoint/2010/main" val="1219860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13</a:t>
            </a:fld>
            <a:endParaRPr lang="fr-FR"/>
          </a:p>
        </p:txBody>
      </p:sp>
    </p:spTree>
    <p:extLst>
      <p:ext uri="{BB962C8B-B14F-4D97-AF65-F5344CB8AC3E}">
        <p14:creationId xmlns:p14="http://schemas.microsoft.com/office/powerpoint/2010/main" val="2219620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noProof="0">
              <a:latin typeface="+mn-lt"/>
            </a:endParaRP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14</a:t>
            </a:fld>
            <a:endParaRPr lang="fr-FR"/>
          </a:p>
        </p:txBody>
      </p:sp>
    </p:spTree>
    <p:extLst>
      <p:ext uri="{BB962C8B-B14F-4D97-AF65-F5344CB8AC3E}">
        <p14:creationId xmlns:p14="http://schemas.microsoft.com/office/powerpoint/2010/main" val="3623989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100" b="0" i="0" u="none" strike="noStrike" kern="1200" cap="none" spc="0" normalizeH="0" baseline="0" noProof="0">
              <a:ln>
                <a:noFill/>
              </a:ln>
              <a:solidFill>
                <a:prstClr val="black"/>
              </a:solidFill>
              <a:effectLst/>
              <a:uLnTx/>
              <a:uFillTx/>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15</a:t>
            </a:fld>
            <a:endParaRPr lang="fr-FR"/>
          </a:p>
        </p:txBody>
      </p:sp>
    </p:spTree>
    <p:extLst>
      <p:ext uri="{BB962C8B-B14F-4D97-AF65-F5344CB8AC3E}">
        <p14:creationId xmlns:p14="http://schemas.microsoft.com/office/powerpoint/2010/main" val="3623989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BE" sz="1100" i="0" baseline="0" noProof="0">
              <a:latin typeface="+mn-lt"/>
              <a:sym typeface="Wingdings" panose="05000000000000000000" pitchFamily="2" charset="2"/>
            </a:endParaRP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16</a:t>
            </a:fld>
            <a:endParaRPr lang="fr-FR"/>
          </a:p>
        </p:txBody>
      </p:sp>
    </p:spTree>
    <p:extLst>
      <p:ext uri="{BB962C8B-B14F-4D97-AF65-F5344CB8AC3E}">
        <p14:creationId xmlns:p14="http://schemas.microsoft.com/office/powerpoint/2010/main" val="3623989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17</a:t>
            </a:fld>
            <a:endParaRPr lang="fr-FR"/>
          </a:p>
        </p:txBody>
      </p:sp>
    </p:spTree>
    <p:extLst>
      <p:ext uri="{BB962C8B-B14F-4D97-AF65-F5344CB8AC3E}">
        <p14:creationId xmlns:p14="http://schemas.microsoft.com/office/powerpoint/2010/main" val="1981116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sz="12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18</a:t>
            </a:fld>
            <a:endParaRPr lang="fr-FR"/>
          </a:p>
        </p:txBody>
      </p:sp>
    </p:spTree>
    <p:extLst>
      <p:ext uri="{BB962C8B-B14F-4D97-AF65-F5344CB8AC3E}">
        <p14:creationId xmlns:p14="http://schemas.microsoft.com/office/powerpoint/2010/main" val="320408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sz="12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19</a:t>
            </a:fld>
            <a:endParaRPr lang="fr-FR"/>
          </a:p>
        </p:txBody>
      </p:sp>
    </p:spTree>
    <p:extLst>
      <p:ext uri="{BB962C8B-B14F-4D97-AF65-F5344CB8AC3E}">
        <p14:creationId xmlns:p14="http://schemas.microsoft.com/office/powerpoint/2010/main" val="35423052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i="0" u="sng"/>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20</a:t>
            </a:fld>
            <a:endParaRPr lang="fr-FR"/>
          </a:p>
        </p:txBody>
      </p:sp>
    </p:spTree>
    <p:extLst>
      <p:ext uri="{BB962C8B-B14F-4D97-AF65-F5344CB8AC3E}">
        <p14:creationId xmlns:p14="http://schemas.microsoft.com/office/powerpoint/2010/main" val="2163820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Font typeface="Wingdings"/>
              <a:buNone/>
            </a:pPr>
            <a:endParaRPr lang="fr-BE" sz="1100" i="1" baseline="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21</a:t>
            </a:fld>
            <a:endParaRPr lang="fr-FR"/>
          </a:p>
        </p:txBody>
      </p:sp>
    </p:spTree>
    <p:extLst>
      <p:ext uri="{BB962C8B-B14F-4D97-AF65-F5344CB8AC3E}">
        <p14:creationId xmlns:p14="http://schemas.microsoft.com/office/powerpoint/2010/main" val="25784066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22</a:t>
            </a:fld>
            <a:endParaRPr lang="fr-FR"/>
          </a:p>
        </p:txBody>
      </p:sp>
    </p:spTree>
    <p:extLst>
      <p:ext uri="{BB962C8B-B14F-4D97-AF65-F5344CB8AC3E}">
        <p14:creationId xmlns:p14="http://schemas.microsoft.com/office/powerpoint/2010/main" val="1692743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23</a:t>
            </a:fld>
            <a:endParaRPr lang="fr-FR"/>
          </a:p>
        </p:txBody>
      </p:sp>
    </p:spTree>
    <p:extLst>
      <p:ext uri="{BB962C8B-B14F-4D97-AF65-F5344CB8AC3E}">
        <p14:creationId xmlns:p14="http://schemas.microsoft.com/office/powerpoint/2010/main" val="1032361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24</a:t>
            </a:fld>
            <a:endParaRPr lang="fr-FR"/>
          </a:p>
        </p:txBody>
      </p:sp>
    </p:spTree>
    <p:extLst>
      <p:ext uri="{BB962C8B-B14F-4D97-AF65-F5344CB8AC3E}">
        <p14:creationId xmlns:p14="http://schemas.microsoft.com/office/powerpoint/2010/main" val="15172155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25</a:t>
            </a:fld>
            <a:endParaRPr lang="fr-FR">
              <a:solidFill>
                <a:prstClr val="black"/>
              </a:solidFill>
            </a:endParaRPr>
          </a:p>
        </p:txBody>
      </p:sp>
    </p:spTree>
    <p:extLst>
      <p:ext uri="{BB962C8B-B14F-4D97-AF65-F5344CB8AC3E}">
        <p14:creationId xmlns:p14="http://schemas.microsoft.com/office/powerpoint/2010/main" val="12198608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26</a:t>
            </a:fld>
            <a:endParaRPr lang="fr-FR"/>
          </a:p>
        </p:txBody>
      </p:sp>
    </p:spTree>
    <p:extLst>
      <p:ext uri="{BB962C8B-B14F-4D97-AF65-F5344CB8AC3E}">
        <p14:creationId xmlns:p14="http://schemas.microsoft.com/office/powerpoint/2010/main" val="1091247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100" b="1" i="0" u="none" strike="noStrike" kern="1200" cap="none" spc="0" normalizeH="0" baseline="0" noProof="0">
                <a:ln>
                  <a:noFill/>
                </a:ln>
                <a:solidFill>
                  <a:prstClr val="black"/>
                </a:solidFill>
                <a:effectLst/>
                <a:uLnTx/>
                <a:uFillTx/>
                <a:latin typeface="+mn-lt"/>
                <a:ea typeface="+mn-ea"/>
                <a:cs typeface="+mn-cs"/>
              </a:rPr>
              <a:t>Riolex : AR 116 – Commentaire 26 </a:t>
            </a:r>
            <a:r>
              <a:rPr kumimoji="0" lang="fr-BE" sz="1100" b="0" i="0" u="none" strike="noStrike" kern="1200" cap="none" spc="0" normalizeH="0" baseline="0" noProof="0">
                <a:ln>
                  <a:noFill/>
                </a:ln>
                <a:solidFill>
                  <a:prstClr val="black"/>
                </a:solidFill>
                <a:effectLst/>
                <a:uLnTx/>
                <a:uFillTx/>
                <a:latin typeface="+mn-lt"/>
                <a:ea typeface="+mn-ea"/>
                <a:cs typeface="+mn-cs"/>
              </a:rPr>
              <a:t>: Schéma « Prolongation des périodes d’indemnisation et les phases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1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100" b="0" i="0" u="none" strike="noStrike" kern="1200" cap="none" spc="0" normalizeH="0" baseline="0" noProof="0">
                <a:ln>
                  <a:noFill/>
                </a:ln>
                <a:solidFill>
                  <a:prstClr val="black"/>
                </a:solidFill>
                <a:effectLst/>
                <a:uLnTx/>
                <a:uFillTx/>
                <a:latin typeface="+mn-lt"/>
                <a:ea typeface="+mn-ea"/>
                <a:cs typeface="+mn-cs"/>
              </a:rPr>
              <a:t>En ce qui concerne la </a:t>
            </a:r>
            <a:r>
              <a:rPr kumimoji="0" lang="fr-BE" sz="1100" b="1" i="0" u="none" strike="noStrike" kern="1200" cap="none" spc="0" normalizeH="0" baseline="0" noProof="0">
                <a:ln>
                  <a:noFill/>
                </a:ln>
                <a:solidFill>
                  <a:prstClr val="black"/>
                </a:solidFill>
                <a:effectLst/>
                <a:uLnTx/>
                <a:uFillTx/>
                <a:latin typeface="+mn-lt"/>
                <a:ea typeface="+mn-ea"/>
                <a:cs typeface="+mn-cs"/>
              </a:rPr>
              <a:t>formation professionnelle à temps plein</a:t>
            </a:r>
            <a:r>
              <a:rPr kumimoji="0" lang="fr-BE" sz="1100" b="0" i="0" u="none" strike="noStrike" kern="1200" cap="none" spc="0" normalizeH="0" baseline="0" noProof="0">
                <a:ln>
                  <a:noFill/>
                </a:ln>
                <a:solidFill>
                  <a:prstClr val="black"/>
                </a:solidFill>
                <a:effectLst/>
                <a:uLnTx/>
                <a:uFillTx/>
                <a:latin typeface="+mn-lt"/>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BE" sz="1100" b="0" i="0" u="none" strike="noStrike" kern="1200" cap="none" spc="0" normalizeH="0" baseline="0" noProof="0">
                <a:ln>
                  <a:noFill/>
                </a:ln>
                <a:solidFill>
                  <a:prstClr val="black"/>
                </a:solidFill>
                <a:effectLst/>
                <a:uLnTx/>
                <a:uFillTx/>
                <a:latin typeface="+mn-lt"/>
                <a:ea typeface="+mn-ea"/>
                <a:cs typeface="+mn-cs"/>
              </a:rPr>
              <a:t>L’horaire doit être ≥ à 35 heures par semaine.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BE" sz="1100" b="0" i="0" u="none" strike="noStrike" kern="1200" cap="none" spc="0" normalizeH="0" baseline="0" noProof="0">
                <a:ln>
                  <a:noFill/>
                </a:ln>
                <a:solidFill>
                  <a:prstClr val="black"/>
                </a:solidFill>
                <a:effectLst/>
                <a:uLnTx/>
                <a:uFillTx/>
                <a:latin typeface="+mn-lt"/>
                <a:ea typeface="+mn-ea"/>
                <a:cs typeface="+mn-cs"/>
              </a:rPr>
              <a:t>Il y a une « fixation temporaire » de la phase valable au début de la formation professionnelle à temps plein. Et ce durant toute la période de FP.</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BE" sz="1100" b="0" i="0" u="none" strike="noStrike" kern="1200" cap="none" spc="0" normalizeH="0" baseline="0" noProof="0">
                <a:ln>
                  <a:noFill/>
                </a:ln>
                <a:solidFill>
                  <a:prstClr val="black"/>
                </a:solidFill>
                <a:effectLst/>
                <a:uLnTx/>
                <a:uFillTx/>
                <a:latin typeface="+mn-lt"/>
                <a:ea typeface="+mn-ea"/>
                <a:cs typeface="+mn-cs"/>
              </a:rPr>
              <a:t>La formation est interrompue si durant plus d’un mois, l’intéressé est </a:t>
            </a:r>
            <a:r>
              <a:rPr lang="fr-FR" sz="1100">
                <a:latin typeface="Times New Roman" pitchFamily="18" charset="0"/>
                <a:cs typeface="Times New Roman" pitchFamily="18" charset="0"/>
              </a:rPr>
              <a:t>absent (avec ou sans justificatif), en maladie, en vacances, en accident, ou encore, si le formateur est malade.</a:t>
            </a: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27</a:t>
            </a:fld>
            <a:endParaRPr lang="fr-FR"/>
          </a:p>
        </p:txBody>
      </p:sp>
    </p:spTree>
    <p:extLst>
      <p:ext uri="{BB962C8B-B14F-4D97-AF65-F5344CB8AC3E}">
        <p14:creationId xmlns:p14="http://schemas.microsoft.com/office/powerpoint/2010/main" val="5364609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kern="1200">
                <a:solidFill>
                  <a:schemeClr val="tx1"/>
                </a:solidFill>
                <a:effectLst/>
                <a:latin typeface="+mn-lt"/>
                <a:ea typeface="+mn-ea"/>
                <a:cs typeface="+mn-cs"/>
              </a:rPr>
              <a:t>Illustration</a:t>
            </a:r>
            <a:r>
              <a:rPr lang="fr-FR" sz="1200" kern="1200" baseline="0">
                <a:solidFill>
                  <a:schemeClr val="tx1"/>
                </a:solidFill>
                <a:effectLst/>
                <a:latin typeface="+mn-lt"/>
                <a:ea typeface="+mn-ea"/>
                <a:cs typeface="+mn-cs"/>
              </a:rPr>
              <a:t> premier point :</a:t>
            </a:r>
          </a:p>
          <a:p>
            <a:endParaRPr lang="fr-FR" sz="1200" kern="1200" baseline="0">
              <a:solidFill>
                <a:schemeClr val="tx1"/>
              </a:solidFill>
              <a:effectLst/>
              <a:latin typeface="+mn-lt"/>
              <a:ea typeface="+mn-ea"/>
              <a:cs typeface="+mn-cs"/>
            </a:endParaRPr>
          </a:p>
          <a:p>
            <a:r>
              <a:rPr lang="fr-FR" sz="1200" kern="1200">
                <a:solidFill>
                  <a:schemeClr val="tx1"/>
                </a:solidFill>
                <a:effectLst/>
                <a:latin typeface="+mn-lt"/>
                <a:ea typeface="+mn-ea"/>
                <a:cs typeface="+mn-cs"/>
              </a:rPr>
              <a:t>Il ressort de la DMFA une occupation à temps plein comme ouvrier avec R = 5 du 01/02/2005 au 30/06/2005 inclus (5 mois de date à</a:t>
            </a:r>
            <a:r>
              <a:rPr lang="fr-FR" sz="1200" kern="1200" baseline="0">
                <a:solidFill>
                  <a:schemeClr val="tx1"/>
                </a:solidFill>
                <a:effectLst/>
                <a:latin typeface="+mn-lt"/>
                <a:ea typeface="+mn-ea"/>
                <a:cs typeface="+mn-cs"/>
              </a:rPr>
              <a:t> date)</a:t>
            </a:r>
            <a:r>
              <a:rPr lang="fr-FR" sz="1200" kern="1200">
                <a:solidFill>
                  <a:schemeClr val="tx1"/>
                </a:solidFill>
                <a:effectLst/>
                <a:latin typeface="+mn-lt"/>
                <a:ea typeface="+mn-ea"/>
                <a:cs typeface="+mn-cs"/>
              </a:rPr>
              <a:t>. </a:t>
            </a:r>
            <a:r>
              <a:rPr lang="fr-FR" sz="1200" b="1" kern="1200">
                <a:solidFill>
                  <a:schemeClr val="tx1"/>
                </a:solidFill>
                <a:effectLst/>
                <a:latin typeface="+mn-lt"/>
                <a:ea typeface="+mn-ea"/>
                <a:cs typeface="+mn-cs"/>
              </a:rPr>
              <a:t>L’occupation entre en ligne de compte pour une prolongation</a:t>
            </a:r>
            <a:r>
              <a:rPr lang="fr-FR" sz="1200" kern="1200">
                <a:solidFill>
                  <a:schemeClr val="tx1"/>
                </a:solidFill>
                <a:effectLst/>
                <a:latin typeface="+mn-lt"/>
                <a:ea typeface="+mn-ea"/>
                <a:cs typeface="+mn-cs"/>
              </a:rPr>
              <a:t> (satisfait à la condition des « 3 mois couverts par un contrat de travail à temps plein »).</a:t>
            </a:r>
            <a:endParaRPr lang="en-US" sz="1200" kern="1200">
              <a:solidFill>
                <a:schemeClr val="tx1"/>
              </a:solidFill>
              <a:effectLst/>
              <a:latin typeface="+mn-lt"/>
              <a:ea typeface="+mn-ea"/>
              <a:cs typeface="+mn-cs"/>
            </a:endParaRPr>
          </a:p>
          <a:p>
            <a:r>
              <a:rPr lang="fr-FR" sz="1200" kern="1200">
                <a:solidFill>
                  <a:schemeClr val="tx1"/>
                </a:solidFill>
                <a:effectLst/>
                <a:latin typeface="+mn-lt"/>
                <a:ea typeface="+mn-ea"/>
                <a:cs typeface="+mn-cs"/>
              </a:rPr>
              <a:t> </a:t>
            </a:r>
            <a:endParaRPr lang="en-US" sz="1200" kern="1200">
              <a:solidFill>
                <a:schemeClr val="tx1"/>
              </a:solidFill>
              <a:effectLst/>
              <a:latin typeface="+mn-lt"/>
              <a:ea typeface="+mn-ea"/>
              <a:cs typeface="+mn-cs"/>
            </a:endParaRPr>
          </a:p>
          <a:p>
            <a:r>
              <a:rPr lang="fr-FR" sz="1200" kern="1200">
                <a:solidFill>
                  <a:schemeClr val="tx1"/>
                </a:solidFill>
                <a:effectLst/>
                <a:latin typeface="+mn-lt"/>
                <a:ea typeface="+mn-ea"/>
                <a:cs typeface="+mn-cs"/>
              </a:rPr>
              <a:t>DMFA - 01/2005 contient 39 jours code 1 et 4 jours code 11 (donc pas d’interruptions)</a:t>
            </a:r>
            <a:endParaRPr lang="en-US" sz="1200" kern="1200">
              <a:solidFill>
                <a:schemeClr val="tx1"/>
              </a:solidFill>
              <a:effectLst/>
              <a:latin typeface="+mn-lt"/>
              <a:ea typeface="+mn-ea"/>
              <a:cs typeface="+mn-cs"/>
            </a:endParaRPr>
          </a:p>
          <a:p>
            <a:r>
              <a:rPr lang="fr-FR" sz="1200" kern="1200">
                <a:solidFill>
                  <a:schemeClr val="tx1"/>
                </a:solidFill>
                <a:effectLst/>
                <a:latin typeface="+mn-lt"/>
                <a:ea typeface="+mn-ea"/>
                <a:cs typeface="+mn-cs"/>
              </a:rPr>
              <a:t>DMFA - 02/2005 contient 39 jours code 1, 6 jours code 11 et 20 jours code 50 (= interruption) </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 </a:t>
            </a:r>
          </a:p>
          <a:p>
            <a:r>
              <a:rPr lang="en-US" sz="1200" b="1" u="sng" kern="1200" err="1">
                <a:solidFill>
                  <a:schemeClr val="tx1"/>
                </a:solidFill>
                <a:effectLst/>
                <a:latin typeface="+mn-lt"/>
                <a:ea typeface="+mn-ea"/>
                <a:cs typeface="+mn-cs"/>
              </a:rPr>
              <a:t>Calcul</a:t>
            </a:r>
            <a:r>
              <a:rPr lang="en-US" sz="1200" b="1" u="sng" kern="1200">
                <a:solidFill>
                  <a:schemeClr val="tx1"/>
                </a:solidFill>
                <a:effectLst/>
                <a:latin typeface="+mn-lt"/>
                <a:ea typeface="+mn-ea"/>
                <a:cs typeface="+mn-cs"/>
              </a:rPr>
              <a:t> de la prolongation</a:t>
            </a:r>
            <a:endParaRPr lang="en-US" sz="1200"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 </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A820 01/2005: 43 x 6/5 = 51,6</a:t>
            </a:r>
          </a:p>
          <a:p>
            <a:r>
              <a:rPr lang="en-US" sz="1200" kern="1200">
                <a:solidFill>
                  <a:schemeClr val="tx1"/>
                </a:solidFill>
                <a:effectLst/>
                <a:latin typeface="+mn-lt"/>
                <a:ea typeface="+mn-ea"/>
                <a:cs typeface="+mn-cs"/>
              </a:rPr>
              <a:t>A820 02/2005: 45 x 6/5 = 54</a:t>
            </a:r>
          </a:p>
          <a:p>
            <a:r>
              <a:rPr lang="fr-FR" sz="1200" kern="1200">
                <a:solidFill>
                  <a:schemeClr val="tx1"/>
                </a:solidFill>
                <a:effectLst/>
                <a:latin typeface="+mn-lt"/>
                <a:ea typeface="+mn-ea"/>
                <a:cs typeface="+mn-cs"/>
              </a:rPr>
              <a:t>A052 : 24 jours de maladie non-indemnisés dont 12 en R6 peuvent être assimilés</a:t>
            </a:r>
            <a:endParaRPr lang="en-US" sz="1200" kern="1200">
              <a:solidFill>
                <a:schemeClr val="tx1"/>
              </a:solidFill>
              <a:effectLst/>
              <a:latin typeface="+mn-lt"/>
              <a:ea typeface="+mn-ea"/>
              <a:cs typeface="+mn-cs"/>
            </a:endParaRPr>
          </a:p>
          <a:p>
            <a:r>
              <a:rPr lang="fr-FR" sz="1200" kern="1200">
                <a:solidFill>
                  <a:schemeClr val="tx1"/>
                </a:solidFill>
                <a:effectLst/>
                <a:latin typeface="+mn-lt"/>
                <a:ea typeface="+mn-ea"/>
                <a:cs typeface="+mn-cs"/>
              </a:rPr>
              <a:t> </a:t>
            </a:r>
            <a:endParaRPr lang="en-US" sz="1200" kern="1200">
              <a:solidFill>
                <a:schemeClr val="tx1"/>
              </a:solidFill>
              <a:effectLst/>
              <a:latin typeface="+mn-lt"/>
              <a:ea typeface="+mn-ea"/>
              <a:cs typeface="+mn-cs"/>
            </a:endParaRPr>
          </a:p>
          <a:p>
            <a:r>
              <a:rPr lang="fr-FR" sz="1200" b="1" kern="1200">
                <a:solidFill>
                  <a:schemeClr val="tx1"/>
                </a:solidFill>
                <a:effectLst/>
                <a:latin typeface="+mn-lt"/>
                <a:ea typeface="+mn-ea"/>
                <a:cs typeface="+mn-cs"/>
              </a:rPr>
              <a:t>Nombre total de jours qui entrent en ligne de compte pour prolongation : 51,6 + 54 + 12 = 117,6 = 118/26 = 4,5385 =&gt; prolongation de 4 mois </a:t>
            </a:r>
            <a:endParaRPr lang="en-US" sz="1200" kern="1200">
              <a:solidFill>
                <a:schemeClr val="tx1"/>
              </a:solidFill>
              <a:effectLst/>
              <a:latin typeface="+mn-lt"/>
              <a:ea typeface="+mn-ea"/>
              <a:cs typeface="+mn-cs"/>
            </a:endParaRPr>
          </a:p>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28</a:t>
            </a:fld>
            <a:endParaRPr lang="fr-FR"/>
          </a:p>
        </p:txBody>
      </p:sp>
    </p:spTree>
    <p:extLst>
      <p:ext uri="{BB962C8B-B14F-4D97-AF65-F5344CB8AC3E}">
        <p14:creationId xmlns:p14="http://schemas.microsoft.com/office/powerpoint/2010/main" val="35782665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BE" sz="1100" b="1"/>
              <a:t>Riodoc</a:t>
            </a:r>
            <a:r>
              <a:rPr lang="fr-BE" sz="1100"/>
              <a:t> : mot clé = « DMFA »</a:t>
            </a:r>
          </a:p>
          <a:p>
            <a:pPr marL="171450" indent="-171450">
              <a:buFont typeface="Wingdings"/>
              <a:buChar char="è"/>
            </a:pPr>
            <a:r>
              <a:rPr lang="fr-BE" sz="1100">
                <a:sym typeface="Wingdings" panose="05000000000000000000" pitchFamily="2" charset="2"/>
              </a:rPr>
              <a:t> Tableau synoptique cf. Riodoc</a:t>
            </a:r>
            <a:r>
              <a:rPr lang="fr-BE" sz="1100" baseline="0">
                <a:sym typeface="Wingdings" panose="05000000000000000000" pitchFamily="2" charset="2"/>
              </a:rPr>
              <a:t> n° 061 473.</a:t>
            </a:r>
          </a:p>
          <a:p>
            <a:pPr marL="171450" indent="-171450">
              <a:buFont typeface="Wingdings"/>
              <a:buChar char="è"/>
            </a:pPr>
            <a:r>
              <a:rPr lang="fr-BE" sz="1100"/>
              <a:t> Tableau avec les codes assimilés pour le retour ou la prolongation cf. Riodoc n°</a:t>
            </a:r>
            <a:r>
              <a:rPr lang="fr-BE" sz="1100" baseline="0"/>
              <a:t> 061 476.</a:t>
            </a:r>
          </a:p>
          <a:p>
            <a:pPr marL="171450" indent="-171450">
              <a:buFont typeface="Wingdings"/>
              <a:buChar char="è"/>
            </a:pPr>
            <a:r>
              <a:rPr lang="fr-BE" sz="1100" baseline="0"/>
              <a:t> Fiche DMFA Partie 2 – Fiche 1 : Prolongation – Occupation à temps plein cf. Riodoc n° 061 452.</a:t>
            </a:r>
          </a:p>
          <a:p>
            <a:pPr marL="171450" indent="-171450">
              <a:buFont typeface="Wingdings"/>
              <a:buChar char="è"/>
            </a:pPr>
            <a:r>
              <a:rPr lang="fr-BE" sz="1100" baseline="0"/>
              <a:t> Fiche DMFA Partie 2 – Fiche 2 : Prolongation – Occupation à temps partiel cf. Riodoc n° 061 455.</a:t>
            </a:r>
          </a:p>
          <a:p>
            <a:pPr marL="0" indent="0">
              <a:buFont typeface="Wingdings"/>
              <a:buNone/>
            </a:pPr>
            <a:endParaRPr lang="fr-BE" sz="1100" baseline="0"/>
          </a:p>
          <a:p>
            <a:pPr marL="0" indent="0">
              <a:buFont typeface="Wingdings"/>
              <a:buNone/>
            </a:pPr>
            <a:r>
              <a:rPr lang="fr-BE" sz="1100" i="1" u="sng" baseline="0"/>
              <a:t>Remarque</a:t>
            </a:r>
            <a:r>
              <a:rPr lang="fr-BE" sz="1100" i="1" baseline="0"/>
              <a:t> : les mêmes formules sont utilisées pour les occupations à temps partiel volontaire.</a:t>
            </a: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29</a:t>
            </a:fld>
            <a:endParaRPr lang="fr-FR"/>
          </a:p>
        </p:txBody>
      </p:sp>
    </p:spTree>
    <p:extLst>
      <p:ext uri="{BB962C8B-B14F-4D97-AF65-F5344CB8AC3E}">
        <p14:creationId xmlns:p14="http://schemas.microsoft.com/office/powerpoint/2010/main" val="25784066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30</a:t>
            </a:fld>
            <a:endParaRPr lang="fr-FR"/>
          </a:p>
        </p:txBody>
      </p:sp>
    </p:spTree>
    <p:extLst>
      <p:ext uri="{BB962C8B-B14F-4D97-AF65-F5344CB8AC3E}">
        <p14:creationId xmlns:p14="http://schemas.microsoft.com/office/powerpoint/2010/main" val="20824234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BE" sz="1100"/>
              <a:t>Exemple : </a:t>
            </a:r>
            <a:r>
              <a:rPr lang="fr-BE" sz="1100" b="1"/>
              <a:t>Un</a:t>
            </a:r>
            <a:r>
              <a:rPr lang="fr-BE" sz="1100"/>
              <a:t> Contrat de 6 mois à temps plein (Q/S = 1) du 01/08/2018 au 31/01/2019</a:t>
            </a:r>
            <a:endParaRPr lang="fr-BE" sz="1100" baseline="0"/>
          </a:p>
          <a:p>
            <a:r>
              <a:rPr lang="fr-BE" sz="1100" baseline="0"/>
              <a:t>Sur base des calcul DMFA </a:t>
            </a:r>
            <a:r>
              <a:rPr lang="fr-BE" sz="1100" baseline="0">
                <a:sym typeface="Wingdings" panose="05000000000000000000" pitchFamily="2" charset="2"/>
              </a:rPr>
              <a:t> 105 ours R6/26 = 4,0385 ≥ 3 mois min  prolongation de 4 mois </a:t>
            </a:r>
          </a:p>
          <a:p>
            <a:r>
              <a:rPr lang="fr-BE" sz="1100" baseline="0">
                <a:sym typeface="Wingdings" panose="05000000000000000000" pitchFamily="2" charset="2"/>
              </a:rPr>
              <a:t> 4 mois de prolongation et non 6 comme la durée du contrat de travail.</a:t>
            </a:r>
            <a:endParaRPr lang="fr-BE" sz="110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4742A2-A700-4112-A494-09AD92282681}" type="slidenum">
              <a:rPr kumimoji="0" lang="fr-F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fr-F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924470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4742A2-A700-4112-A494-09AD92282681}" type="slidenum">
              <a:rPr kumimoji="0" lang="fr-F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fr-F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924470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33</a:t>
            </a:fld>
            <a:endParaRPr lang="fr-FR"/>
          </a:p>
        </p:txBody>
      </p:sp>
    </p:spTree>
    <p:extLst>
      <p:ext uri="{BB962C8B-B14F-4D97-AF65-F5344CB8AC3E}">
        <p14:creationId xmlns:p14="http://schemas.microsoft.com/office/powerpoint/2010/main" val="30481964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34</a:t>
            </a:fld>
            <a:endParaRPr lang="fr-FR"/>
          </a:p>
        </p:txBody>
      </p:sp>
    </p:spTree>
    <p:extLst>
      <p:ext uri="{BB962C8B-B14F-4D97-AF65-F5344CB8AC3E}">
        <p14:creationId xmlns:p14="http://schemas.microsoft.com/office/powerpoint/2010/main" val="15435057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BE" sz="1100"/>
              <a:t>Pour aboutir</a:t>
            </a:r>
            <a:r>
              <a:rPr lang="fr-BE" sz="1100" baseline="0"/>
              <a:t> à une prolongation correcte, il est nécessaire de situer l’évènement permettant d’obtenir une prolongation dans la « cascade » précédente. </a:t>
            </a:r>
          </a:p>
          <a:p>
            <a:r>
              <a:rPr lang="fr-BE" sz="1100" baseline="0"/>
              <a:t>Et en fonction de la date de début de cet évènement, nous postposons le début des phases suivantes du nombre de mois complet relatif à la prolongation.</a:t>
            </a:r>
            <a:endParaRPr lang="fr-BE" sz="110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35</a:t>
            </a:fld>
            <a:endParaRPr lang="fr-FR"/>
          </a:p>
        </p:txBody>
      </p:sp>
    </p:spTree>
    <p:extLst>
      <p:ext uri="{BB962C8B-B14F-4D97-AF65-F5344CB8AC3E}">
        <p14:creationId xmlns:p14="http://schemas.microsoft.com/office/powerpoint/2010/main" val="28815267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36</a:t>
            </a:fld>
            <a:endParaRPr lang="fr-FR"/>
          </a:p>
        </p:txBody>
      </p:sp>
    </p:spTree>
    <p:extLst>
      <p:ext uri="{BB962C8B-B14F-4D97-AF65-F5344CB8AC3E}">
        <p14:creationId xmlns:p14="http://schemas.microsoft.com/office/powerpoint/2010/main" val="33683422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37</a:t>
            </a:fld>
            <a:endParaRPr lang="fr-FR"/>
          </a:p>
        </p:txBody>
      </p:sp>
    </p:spTree>
    <p:extLst>
      <p:ext uri="{BB962C8B-B14F-4D97-AF65-F5344CB8AC3E}">
        <p14:creationId xmlns:p14="http://schemas.microsoft.com/office/powerpoint/2010/main" val="19628286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5"/>
          </p:nvPr>
        </p:nvSpPr>
        <p:spPr/>
        <p:txBody>
          <a:bodyPr/>
          <a:lstStyle/>
          <a:p>
            <a:fld id="{784742A2-A700-4112-A494-09AD92282681}" type="slidenum">
              <a:rPr lang="fr-FR" smtClean="0"/>
              <a:pPr/>
              <a:t>38</a:t>
            </a:fld>
            <a:endParaRPr lang="fr-FR"/>
          </a:p>
        </p:txBody>
      </p:sp>
    </p:spTree>
    <p:extLst>
      <p:ext uri="{BB962C8B-B14F-4D97-AF65-F5344CB8AC3E}">
        <p14:creationId xmlns:p14="http://schemas.microsoft.com/office/powerpoint/2010/main" val="33432142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39</a:t>
            </a:fld>
            <a:endParaRPr lang="fr-FR">
              <a:solidFill>
                <a:prstClr val="black"/>
              </a:solidFill>
            </a:endParaRPr>
          </a:p>
        </p:txBody>
      </p:sp>
    </p:spTree>
    <p:extLst>
      <p:ext uri="{BB962C8B-B14F-4D97-AF65-F5344CB8AC3E}">
        <p14:creationId xmlns:p14="http://schemas.microsoft.com/office/powerpoint/2010/main" val="12198608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sz="1100" baseline="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40</a:t>
            </a:fld>
            <a:endParaRPr lang="fr-FR"/>
          </a:p>
        </p:txBody>
      </p:sp>
    </p:spTree>
    <p:extLst>
      <p:ext uri="{BB962C8B-B14F-4D97-AF65-F5344CB8AC3E}">
        <p14:creationId xmlns:p14="http://schemas.microsoft.com/office/powerpoint/2010/main" val="16233413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BE" sz="1100"/>
              <a:t>Prolongation</a:t>
            </a:r>
            <a:r>
              <a:rPr lang="fr-BE" sz="1100" baseline="0"/>
              <a:t> par mois complet arrondi à l’unité inférieure.</a:t>
            </a:r>
          </a:p>
          <a:p>
            <a:endParaRPr lang="fr-BE" sz="1100" baseline="0"/>
          </a:p>
          <a:p>
            <a:pPr>
              <a:buClr>
                <a:srgbClr val="FFFF00"/>
              </a:buClr>
              <a:buSzPct val="80000"/>
              <a:buNone/>
            </a:pPr>
            <a:r>
              <a:rPr lang="fr-BE" sz="1100" b="1" u="sng" baseline="0"/>
              <a:t>Remarque</a:t>
            </a:r>
            <a:r>
              <a:rPr lang="fr-BE" sz="1100" baseline="0"/>
              <a:t> : </a:t>
            </a:r>
            <a:r>
              <a:rPr lang="fr-BE" sz="1100">
                <a:latin typeface="Times New Roman" pitchFamily="18" charset="0"/>
                <a:cs typeface="Times New Roman" pitchFamily="18" charset="0"/>
              </a:rPr>
              <a:t>Dans nos vérités,</a:t>
            </a:r>
            <a:r>
              <a:rPr lang="fr-BE" sz="1100" baseline="0">
                <a:latin typeface="Times New Roman" pitchFamily="18" charset="0"/>
                <a:cs typeface="Times New Roman" pitchFamily="18" charset="0"/>
              </a:rPr>
              <a:t> nous laissons </a:t>
            </a:r>
            <a:r>
              <a:rPr lang="fr-BE" sz="1100">
                <a:latin typeface="Times New Roman" pitchFamily="18" charset="0"/>
                <a:cs typeface="Times New Roman" pitchFamily="18" charset="0"/>
              </a:rPr>
              <a:t>toutes les cascades pendant toute la durée de la formation (FP temps plein) et Horizon effectue le paiement sur base du taux journalier valable au premier jour (date de début de validité) du préfixe 11/.</a:t>
            </a:r>
          </a:p>
          <a:p>
            <a:pPr>
              <a:buClr>
                <a:srgbClr val="FFFF00"/>
              </a:buClr>
              <a:buSzPct val="80000"/>
              <a:buNone/>
            </a:pPr>
            <a:r>
              <a:rPr lang="fr-BE" sz="1100">
                <a:latin typeface="Times New Roman" pitchFamily="18" charset="0"/>
                <a:cs typeface="Times New Roman" pitchFamily="18" charset="0"/>
                <a:sym typeface="Wingdings" pitchFamily="2" charset="2"/>
              </a:rPr>
              <a:t></a:t>
            </a:r>
            <a:r>
              <a:rPr lang="fr-BE" sz="1100">
                <a:latin typeface="Times New Roman" pitchFamily="18" charset="0"/>
                <a:cs typeface="Times New Roman" pitchFamily="18" charset="0"/>
              </a:rPr>
              <a:t> la cascade est dite « gelée »</a:t>
            </a:r>
            <a:r>
              <a:rPr lang="fr-BE" sz="1100" baseline="0">
                <a:latin typeface="Times New Roman" pitchFamily="18" charset="0"/>
                <a:cs typeface="Times New Roman" pitchFamily="18" charset="0"/>
              </a:rPr>
              <a:t> dur</a:t>
            </a:r>
            <a:r>
              <a:rPr lang="fr-BE" sz="1100">
                <a:latin typeface="Times New Roman" pitchFamily="18" charset="0"/>
                <a:cs typeface="Times New Roman" pitchFamily="18" charset="0"/>
              </a:rPr>
              <a:t>ant toute la durée de la formation.</a:t>
            </a:r>
            <a:endParaRPr lang="en-GB" sz="1100">
              <a:latin typeface="Times New Roman" pitchFamily="18" charset="0"/>
              <a:cs typeface="Times New Roman" pitchFamily="18" charset="0"/>
            </a:endParaRPr>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solidFill>
                  <a:prstClr val="black"/>
                </a:solidFill>
              </a:rPr>
              <a:pPr/>
              <a:t>41</a:t>
            </a:fld>
            <a:endParaRPr lang="fr-FR">
              <a:solidFill>
                <a:prstClr val="black"/>
              </a:solidFill>
            </a:endParaRPr>
          </a:p>
        </p:txBody>
      </p:sp>
    </p:spTree>
    <p:extLst>
      <p:ext uri="{BB962C8B-B14F-4D97-AF65-F5344CB8AC3E}">
        <p14:creationId xmlns:p14="http://schemas.microsoft.com/office/powerpoint/2010/main" val="1571643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9CF7BFF-B6B3-48E2-9391-5F67139290ED}" type="datetime1">
              <a:rPr lang="fr-FR" smtClean="0"/>
              <a:t>13/10/2023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062120398"/>
      </p:ext>
    </p:extLst>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A020E33-632C-477B-AE10-5BB5E093E4EB}" type="datetime1">
              <a:rPr lang="fr-FR" smtClean="0"/>
              <a:t>13/10/2023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577009312"/>
      </p:ext>
    </p:extLst>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F8A692DC-28CD-444E-90ED-50F802A1D27B}" type="datetime1">
              <a:rPr lang="fr-FR" smtClean="0"/>
              <a:t>13/10/2023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1169805365"/>
      </p:ext>
    </p:extLst>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27904FCA-1BE9-4E96-B7A0-3D905B435E20}" type="datetime1">
              <a:rPr lang="fr-FR" smtClean="0"/>
              <a:t>13/10/2023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1976853188"/>
      </p:ext>
    </p:extLst>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49FB8569-3027-4056-94C5-1E1286D3B9FB}" type="datetime1">
              <a:rPr lang="fr-FR" smtClean="0"/>
              <a:t>13/10/2023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2228397762"/>
      </p:ext>
    </p:extLst>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B811CD4F-431F-47DD-8170-32D81C707487}" type="datetime1">
              <a:rPr lang="fr-FR" smtClean="0"/>
              <a:t>13/10/2023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1776085835"/>
      </p:ext>
    </p:extLst>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2B3E4729-3440-47DB-9F68-D2FAA97FEAD0}" type="datetime1">
              <a:rPr lang="fr-FR" smtClean="0"/>
              <a:t>13/10/2023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1855485780"/>
      </p:ext>
    </p:extLst>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7FEA702F-5D2C-4253-9F95-1446BF2FE2D9}" type="datetime1">
              <a:rPr lang="fr-FR" smtClean="0"/>
              <a:t>13/10/2023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68896228"/>
      </p:ext>
    </p:extLst>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6F6CC10F-3344-4E2D-9946-E757DDBE8BCF}" type="datetime1">
              <a:rPr lang="fr-FR" smtClean="0"/>
              <a:t>13/10/2023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2815178232"/>
      </p:ext>
    </p:extLst>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B5EB30DA-4453-4120-B0A6-3279F6F0A488}" type="datetime1">
              <a:rPr lang="fr-FR" smtClean="0"/>
              <a:t>13/10/2023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1684427680"/>
      </p:ext>
    </p:extLst>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2A2AFD8A-E33D-4DD5-9F62-82138F6306A8}" type="datetime1">
              <a:rPr lang="fr-FR" smtClean="0"/>
              <a:t>13/10/2023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extLst>
      <p:ext uri="{BB962C8B-B14F-4D97-AF65-F5344CB8AC3E}">
        <p14:creationId xmlns:p14="http://schemas.microsoft.com/office/powerpoint/2010/main" val="3025377612"/>
      </p:ext>
    </p:extLst>
  </p:cSld>
  <p:clrMapOvr>
    <a:masterClrMapping/>
  </p:clrMapOvr>
  <p:transition>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fr-FR"/>
              <a:t>Modifiez le style du titre</a:t>
            </a:r>
            <a:endParaRPr lang="en-US"/>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A8224893-DBDA-4BFA-9CE1-4BFE7CD0F8CF}" type="datetime1">
              <a:rPr lang="en-US" smtClean="0"/>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2689835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7B2D3E9E-A95C-48F2-B4BF-A71542E0BE9A}" type="datetime1">
              <a:rPr lang="en-US" smtClean="0"/>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12088992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fr-FR"/>
              <a:t>Modifiez le style du titre</a:t>
            </a:r>
            <a:endParaRPr lang="en-US"/>
          </a:p>
        </p:txBody>
      </p:sp>
      <p:sp>
        <p:nvSpPr>
          <p:cNvPr id="3" name="Text Placeholder 2"/>
          <p:cNvSpPr>
            <a:spLocks noGrp="1"/>
          </p:cNvSpPr>
          <p:nvPr>
            <p:ph type="body" idx="1"/>
          </p:nvPr>
        </p:nvSpPr>
        <p:spPr>
          <a:xfrm>
            <a:off x="623888" y="4552634"/>
            <a:ext cx="78867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50F84E2-2D7A-43CF-AC90-352A289A783A}" type="datetime1">
              <a:rPr lang="en-US" smtClean="0"/>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3764137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633845" y="1828801"/>
            <a:ext cx="38862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4629150" y="1828801"/>
            <a:ext cx="38862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10/13/2023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37883190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mpara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633845" y="2507551"/>
            <a:ext cx="3867150" cy="36805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7551"/>
            <a:ext cx="3886201" cy="36805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10/13/2023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‹N°›</a:t>
            </a:fld>
            <a:endParaRPr lang="en-US"/>
          </a:p>
        </p:txBody>
      </p:sp>
      <p:sp>
        <p:nvSpPr>
          <p:cNvPr id="10" name="Title 9"/>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11521606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re seul">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10/13/2023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‹N°›</a:t>
            </a:fld>
            <a:endParaRPr lang="en-US"/>
          </a:p>
        </p:txBody>
      </p:sp>
      <p:sp>
        <p:nvSpPr>
          <p:cNvPr id="6" name="Title 5"/>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1290990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10/13/2023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590289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fr-FR"/>
              <a:t>Modifiez le style du titre</a:t>
            </a:r>
            <a:endParaRPr lang="en-US"/>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630936" y="2057399"/>
            <a:ext cx="294894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AF6E2C9B-5FA2-460D-9BE7-B0812FC2A6FF}" type="datetime1">
              <a:rPr lang="en-US" smtClean="0"/>
              <a:t>10/13/2023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2999758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fr-FR"/>
              <a:t>Modifiez le style du titre</a:t>
            </a:r>
            <a:endParaRPr lang="en-US"/>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a:p>
        </p:txBody>
      </p:sp>
      <p:sp>
        <p:nvSpPr>
          <p:cNvPr id="4" name="Text Placeholder 3"/>
          <p:cNvSpPr>
            <a:spLocks noGrp="1"/>
          </p:cNvSpPr>
          <p:nvPr>
            <p:ph type="body" sz="half" idx="2"/>
          </p:nvPr>
        </p:nvSpPr>
        <p:spPr>
          <a:xfrm>
            <a:off x="630936" y="2057400"/>
            <a:ext cx="294894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D374940-A916-4C8B-9648-02A2D3898F9E}" type="datetime1">
              <a:rPr lang="en-US" smtClean="0"/>
              <a:t>10/13/2023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3996799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38940994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10/13/2023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‹N°›</a:t>
            </a:fld>
            <a:endParaRPr lang="en-US"/>
          </a:p>
        </p:txBody>
      </p:sp>
    </p:spTree>
    <p:extLst>
      <p:ext uri="{BB962C8B-B14F-4D97-AF65-F5344CB8AC3E}">
        <p14:creationId xmlns:p14="http://schemas.microsoft.com/office/powerpoint/2010/main" val="1453064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6000"/>
            <a:lum/>
          </a:blip>
          <a:srcRect/>
          <a:stretch>
            <a:fillRect l="-7000" r="-7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28E2F7-9424-40E1-B417-0C4E4FAE2E5D}" type="datetime1">
              <a:rPr lang="fr-FR" smtClean="0"/>
              <a:t>13/10/2023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9056B-6A30-4F99-BDE9-C450E66AE125}" type="slidenum">
              <a:rPr lang="fr-FR" smtClean="0"/>
              <a:pPr/>
              <a:t>‹N°›</a:t>
            </a:fld>
            <a:endParaRPr lang="fr-FR"/>
          </a:p>
        </p:txBody>
      </p:sp>
    </p:spTree>
    <p:extLst>
      <p:ext uri="{BB962C8B-B14F-4D97-AF65-F5344CB8AC3E}">
        <p14:creationId xmlns:p14="http://schemas.microsoft.com/office/powerpoint/2010/main" val="18728837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dissolv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365760"/>
            <a:ext cx="7886700" cy="1325562"/>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633845" y="1828801"/>
            <a:ext cx="7886700" cy="435133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5586B75A-687E-405C-8A0B-8D00578BA2C3}" type="datetime1">
              <a:rPr lang="en-US" smtClean="0"/>
              <a:t>10/13/2023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6463145" y="6356351"/>
            <a:ext cx="20574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4FAB73BC-B049-4115-A692-8D63A059BFB8}" type="slidenum">
              <a:rPr lang="en-US" smtClean="0"/>
              <a:t>‹N°›</a:t>
            </a:fld>
            <a:endParaRPr lang="en-US"/>
          </a:p>
        </p:txBody>
      </p:sp>
    </p:spTree>
    <p:extLst>
      <p:ext uri="{BB962C8B-B14F-4D97-AF65-F5344CB8AC3E}">
        <p14:creationId xmlns:p14="http://schemas.microsoft.com/office/powerpoint/2010/main" val="8205465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slide" Target="slide40.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p:txBody>
          <a:bodyPr>
            <a:noAutofit/>
          </a:bodyPr>
          <a:lstStyle/>
          <a:p>
            <a:r>
              <a:rPr lang="fr-FR" sz="5400" b="1" i="1">
                <a:cs typeface="Times New Roman" pitchFamily="18" charset="0"/>
              </a:rPr>
              <a:t>Evolution des périodes d’indemnisation</a:t>
            </a: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1</a:t>
            </a:fld>
            <a:endParaRPr lang="fr-FR"/>
          </a:p>
        </p:txBody>
      </p:sp>
      <p:sp>
        <p:nvSpPr>
          <p:cNvPr id="7" name="Sous-titre 3">
            <a:extLst>
              <a:ext uri="{FF2B5EF4-FFF2-40B4-BE49-F238E27FC236}">
                <a16:creationId xmlns:a16="http://schemas.microsoft.com/office/drawing/2014/main" id="{ED75D627-CCE1-426C-82F5-5BCBD7D9B3CF}"/>
              </a:ext>
            </a:extLst>
          </p:cNvPr>
          <p:cNvSpPr>
            <a:spLocks noGrp="1"/>
          </p:cNvSpPr>
          <p:nvPr>
            <p:ph type="subTitle" idx="1"/>
          </p:nvPr>
        </p:nvSpPr>
        <p:spPr>
          <a:xfrm>
            <a:off x="647564" y="3869926"/>
            <a:ext cx="7848872" cy="1752600"/>
          </a:xfrm>
        </p:spPr>
        <p:txBody>
          <a:bodyPr anchor="ctr">
            <a:normAutofit/>
          </a:bodyPr>
          <a:lstStyle/>
          <a:p>
            <a:r>
              <a:rPr lang="fr-BE" sz="4800" b="1" i="1">
                <a:solidFill>
                  <a:srgbClr val="C00000"/>
                </a:solidFill>
              </a:rPr>
              <a:t>Art. 116 </a:t>
            </a:r>
            <a:r>
              <a:rPr lang="fr-BE" sz="4800" b="1" i="1">
                <a:solidFill>
                  <a:schemeClr val="tx1"/>
                </a:solidFill>
              </a:rPr>
              <a:t>de l’</a:t>
            </a:r>
            <a:r>
              <a:rPr lang="fr-BE" sz="4800" b="1" i="1">
                <a:solidFill>
                  <a:srgbClr val="C00000"/>
                </a:solidFill>
              </a:rPr>
              <a:t>AR</a:t>
            </a:r>
            <a:r>
              <a:rPr lang="fr-BE" sz="4800" b="1" i="1">
                <a:solidFill>
                  <a:schemeClr val="tx1"/>
                </a:solidFill>
              </a:rPr>
              <a:t> du 25.11.1991</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 calcmode="lin" valueType="num">
                                      <p:cBhvr>
                                        <p:cTn id="15" dur="10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7">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7">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i="1"/>
              <a:t>Table des matières </a:t>
            </a:r>
          </a:p>
        </p:txBody>
      </p:sp>
      <p:sp>
        <p:nvSpPr>
          <p:cNvPr id="3" name="Espace réservé du contenu 2"/>
          <p:cNvSpPr>
            <a:spLocks noGrp="1"/>
          </p:cNvSpPr>
          <p:nvPr>
            <p:ph idx="1"/>
          </p:nvPr>
        </p:nvSpPr>
        <p:spPr/>
        <p:txBody>
          <a:bodyPr>
            <a:noAutofit/>
          </a:bodyPr>
          <a:lstStyle/>
          <a:p>
            <a:pPr marL="0" indent="0">
              <a:buNone/>
            </a:pPr>
            <a:r>
              <a:rPr lang="fr-BE" sz="2400" b="1" i="1"/>
              <a:t>1. AR 114 : Rappel						</a:t>
            </a:r>
            <a:r>
              <a:rPr lang="fr-BE" sz="2400" b="1" i="1" err="1"/>
              <a:t>pg</a:t>
            </a:r>
            <a:r>
              <a:rPr lang="fr-BE" sz="2400" b="1" i="1"/>
              <a:t>. 4</a:t>
            </a:r>
          </a:p>
          <a:p>
            <a:pPr marL="0" indent="0">
              <a:buNone/>
            </a:pPr>
            <a:endParaRPr lang="fr-BE" sz="2400" b="1" i="1"/>
          </a:p>
          <a:p>
            <a:pPr marL="266700" indent="-266700">
              <a:buNone/>
            </a:pPr>
            <a:r>
              <a:rPr lang="fr-BE" sz="2400" b="1" i="1"/>
              <a:t>2. AR 116 : Evolution des périodes				pg.10</a:t>
            </a:r>
          </a:p>
          <a:p>
            <a:pPr marL="266700" indent="-266700">
              <a:buNone/>
            </a:pPr>
            <a:r>
              <a:rPr lang="fr-BE" sz="2400" b="1" i="1"/>
              <a:t>	 2.1. Le retour en 1</a:t>
            </a:r>
            <a:r>
              <a:rPr lang="fr-BE" sz="2400" b="1" i="1" baseline="30000"/>
              <a:t>ère</a:t>
            </a:r>
            <a:r>
              <a:rPr lang="fr-BE" sz="2400" b="1" i="1"/>
              <a:t> période d’indemnisation		pg.12</a:t>
            </a:r>
          </a:p>
          <a:p>
            <a:pPr marL="895350" indent="0">
              <a:buNone/>
            </a:pPr>
            <a:r>
              <a:rPr lang="fr-BE" sz="2400" b="1" i="1">
                <a:cs typeface="Times New Roman" pitchFamily="18" charset="0"/>
              </a:rPr>
              <a:t>2.1.1. Conditions</a:t>
            </a:r>
            <a:r>
              <a:rPr lang="fr-BE" sz="2400" b="1" i="1"/>
              <a:t>.					pg.13</a:t>
            </a:r>
          </a:p>
          <a:p>
            <a:pPr marL="895350" indent="0">
              <a:buNone/>
            </a:pPr>
            <a:r>
              <a:rPr lang="fr-BE" sz="2400" b="1" i="1">
                <a:cs typeface="Times New Roman" pitchFamily="18" charset="0"/>
              </a:rPr>
              <a:t>2.1.2. Période de référence				pg.17</a:t>
            </a:r>
          </a:p>
          <a:p>
            <a:pPr marL="895350" indent="0">
              <a:buNone/>
            </a:pPr>
            <a:r>
              <a:rPr lang="fr-FR" sz="2400" b="1" i="1">
                <a:cs typeface="Times New Roman" pitchFamily="18" charset="0"/>
              </a:rPr>
              <a:t>2.1.3. Interruptions de la reprise du travail 		pg.20</a:t>
            </a:r>
            <a:endParaRPr lang="fr-BE" sz="2400" b="1" i="1"/>
          </a:p>
          <a:p>
            <a:pPr marL="895350" indent="0">
              <a:buNone/>
            </a:pPr>
            <a:r>
              <a:rPr lang="fr-BE" sz="2400" b="1" i="1">
                <a:solidFill>
                  <a:prstClr val="black"/>
                </a:solidFill>
                <a:cs typeface="Times New Roman" pitchFamily="18" charset="0"/>
              </a:rPr>
              <a:t>2.1.4. Formules DMFA				pg.21</a:t>
            </a:r>
          </a:p>
          <a:p>
            <a:pPr marL="895350" indent="0">
              <a:buNone/>
            </a:pPr>
            <a:r>
              <a:rPr lang="fr-BE" sz="2400" b="1" i="1">
                <a:solidFill>
                  <a:prstClr val="black"/>
                </a:solidFill>
                <a:cs typeface="Times New Roman" pitchFamily="18" charset="0"/>
              </a:rPr>
              <a:t>2.1.5. Trimestres incomplets ou non acceptés	pg.22</a:t>
            </a:r>
            <a:endParaRPr lang="fr-BE" sz="2400" b="1" i="1"/>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2</a:t>
            </a:fld>
            <a:endParaRPr lang="fr-FR"/>
          </a:p>
        </p:txBody>
      </p:sp>
    </p:spTree>
    <p:extLst>
      <p:ext uri="{BB962C8B-B14F-4D97-AF65-F5344CB8AC3E}">
        <p14:creationId xmlns:p14="http://schemas.microsoft.com/office/powerpoint/2010/main" val="2641045699"/>
      </p:ext>
    </p:extLst>
  </p:cSld>
  <p:clrMapOvr>
    <a:masterClrMapping/>
  </p:clrMapOvr>
  <p:transition>
    <p:dissolv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i="1"/>
              <a:t>Table des matières </a:t>
            </a:r>
          </a:p>
        </p:txBody>
      </p:sp>
      <p:sp>
        <p:nvSpPr>
          <p:cNvPr id="3" name="Espace réservé du contenu 2"/>
          <p:cNvSpPr>
            <a:spLocks noGrp="1"/>
          </p:cNvSpPr>
          <p:nvPr>
            <p:ph idx="1"/>
          </p:nvPr>
        </p:nvSpPr>
        <p:spPr>
          <a:xfrm>
            <a:off x="457200" y="1600200"/>
            <a:ext cx="8229600" cy="5257800"/>
          </a:xfrm>
        </p:spPr>
        <p:txBody>
          <a:bodyPr>
            <a:noAutofit/>
          </a:bodyPr>
          <a:lstStyle/>
          <a:p>
            <a:pPr marL="266700" indent="0">
              <a:buNone/>
            </a:pPr>
            <a:r>
              <a:rPr lang="fr-BE" sz="2400" b="1" i="1">
                <a:cs typeface="Times New Roman" pitchFamily="18" charset="0"/>
              </a:rPr>
              <a:t>2.2. Prolongation des périodes d’indemnisation		pg.27</a:t>
            </a:r>
          </a:p>
          <a:p>
            <a:pPr marL="533400" indent="361950">
              <a:buNone/>
            </a:pPr>
            <a:r>
              <a:rPr lang="fr-BE" sz="2400" b="1" i="1">
                <a:cs typeface="Times New Roman" pitchFamily="18" charset="0"/>
              </a:rPr>
              <a:t>2.2.1. La prolongation 				pg.28</a:t>
            </a:r>
          </a:p>
          <a:p>
            <a:pPr marL="895350" indent="0">
              <a:buNone/>
            </a:pPr>
            <a:r>
              <a:rPr lang="fr-FR" sz="2400" b="1" i="1">
                <a:cs typeface="Times New Roman" pitchFamily="18" charset="0"/>
              </a:rPr>
              <a:t>2.2.2. Evènements prolongeant			pg.29</a:t>
            </a:r>
            <a:endParaRPr lang="fr-BE" sz="2400" b="1" i="1">
              <a:cs typeface="Times New Roman" pitchFamily="18" charset="0"/>
            </a:endParaRPr>
          </a:p>
          <a:p>
            <a:pPr marL="533400" indent="361950">
              <a:buNone/>
            </a:pPr>
            <a:r>
              <a:rPr lang="fr-BE" sz="2400" b="1" i="1">
                <a:cs typeface="Times New Roman" pitchFamily="18" charset="0"/>
              </a:rPr>
              <a:t>2.2.3. Formules DMFA				pg.31</a:t>
            </a:r>
          </a:p>
          <a:p>
            <a:pPr marL="533400" indent="361950">
              <a:buNone/>
            </a:pPr>
            <a:r>
              <a:rPr lang="fr-BE" sz="2400" b="1" i="1">
                <a:cs typeface="Times New Roman" pitchFamily="18" charset="0"/>
              </a:rPr>
              <a:t>2.2.4. Trimestres incomplets ou non acceptés	pg.35</a:t>
            </a:r>
          </a:p>
          <a:p>
            <a:pPr marL="533400" indent="361950">
              <a:buNone/>
            </a:pPr>
            <a:r>
              <a:rPr lang="fr-FR" sz="2400" b="1" i="1">
                <a:cs typeface="Times New Roman" pitchFamily="18" charset="0"/>
              </a:rPr>
              <a:t>2.2.5. En pratique					pg.37</a:t>
            </a:r>
          </a:p>
          <a:p>
            <a:pPr marL="0" indent="266700">
              <a:buNone/>
            </a:pPr>
            <a:r>
              <a:rPr lang="fr-BE" sz="2400" b="1" i="1">
                <a:cs typeface="Times New Roman" pitchFamily="18" charset="0"/>
              </a:rPr>
              <a:t>2.3. Fixation temporaire des périodes d’indemnisation	pg.41</a:t>
            </a:r>
          </a:p>
          <a:p>
            <a:pPr marL="533400" lvl="0" indent="361950">
              <a:buNone/>
            </a:pPr>
            <a:r>
              <a:rPr lang="fr-FR" sz="2400" b="1" i="1">
                <a:solidFill>
                  <a:prstClr val="black"/>
                </a:solidFill>
                <a:cs typeface="Times New Roman" pitchFamily="18" charset="0"/>
              </a:rPr>
              <a:t>2.3.1. Particularité de la FP temps plein		pg.43</a:t>
            </a:r>
            <a:endParaRPr lang="fr-BE" sz="2400" b="1" i="1">
              <a:solidFill>
                <a:prstClr val="black"/>
              </a:solidFill>
              <a:cs typeface="Times New Roman" pitchFamily="18" charset="0"/>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a:t>
            </a:fld>
            <a:endParaRPr lang="fr-FR"/>
          </a:p>
        </p:txBody>
      </p:sp>
    </p:spTree>
    <p:extLst>
      <p:ext uri="{BB962C8B-B14F-4D97-AF65-F5344CB8AC3E}">
        <p14:creationId xmlns:p14="http://schemas.microsoft.com/office/powerpoint/2010/main" val="4124723898"/>
      </p:ext>
    </p:extLst>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ctrTitle"/>
          </p:nvPr>
        </p:nvSpPr>
        <p:spPr/>
        <p:txBody>
          <a:bodyPr>
            <a:normAutofit/>
          </a:bodyPr>
          <a:lstStyle/>
          <a:p>
            <a:r>
              <a:rPr lang="fr-BE" sz="5400" b="1" i="1"/>
              <a:t>1. AR </a:t>
            </a:r>
            <a:r>
              <a:rPr lang="fr-BE" sz="5400" b="1" i="1">
                <a:solidFill>
                  <a:srgbClr val="C00000"/>
                </a:solidFill>
              </a:rPr>
              <a:t>114</a:t>
            </a:r>
            <a:r>
              <a:rPr lang="fr-BE" sz="5400" b="1" i="1"/>
              <a:t> : Rappel</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solidFill>
                  <a:prstClr val="black">
                    <a:tint val="75000"/>
                  </a:prstClr>
                </a:solidFill>
              </a:rPr>
              <a:pPr/>
              <a:t>4</a:t>
            </a:fld>
            <a:endParaRPr lang="fr-FR">
              <a:solidFill>
                <a:prstClr val="black">
                  <a:tint val="75000"/>
                </a:prstClr>
              </a:solidFill>
            </a:endParaRPr>
          </a:p>
        </p:txBody>
      </p:sp>
    </p:spTree>
    <p:extLst>
      <p:ext uri="{BB962C8B-B14F-4D97-AF65-F5344CB8AC3E}">
        <p14:creationId xmlns:p14="http://schemas.microsoft.com/office/powerpoint/2010/main" val="243261708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normAutofit fontScale="90000"/>
          </a:bodyPr>
          <a:lstStyle/>
          <a:p>
            <a:pPr algn="r"/>
            <a:r>
              <a:rPr lang="fr-BE" b="1" i="1">
                <a:cs typeface="Times New Roman" pitchFamily="18" charset="0"/>
              </a:rPr>
              <a:t>1. AR 114 : rappel</a:t>
            </a:r>
            <a:br>
              <a:rPr lang="fr-BE" b="1" i="1">
                <a:cs typeface="Times New Roman" pitchFamily="18" charset="0"/>
              </a:rPr>
            </a:br>
            <a:r>
              <a:rPr lang="fr-BE" b="1" i="1">
                <a:solidFill>
                  <a:srgbClr val="008000"/>
                </a:solidFill>
                <a:cs typeface="Times New Roman" pitchFamily="18" charset="0"/>
              </a:rPr>
              <a:t>Cascade complète après calcul PP</a:t>
            </a:r>
            <a:endParaRPr lang="en-US" b="1" i="1">
              <a:solidFill>
                <a:srgbClr val="008000"/>
              </a:solidFill>
              <a:cs typeface="Times New Roman" pitchFamily="18" charset="0"/>
            </a:endParaRPr>
          </a:p>
        </p:txBody>
      </p:sp>
      <p:sp>
        <p:nvSpPr>
          <p:cNvPr id="3" name="Espace réservé du contenu 2"/>
          <p:cNvSpPr>
            <a:spLocks noGrp="1"/>
          </p:cNvSpPr>
          <p:nvPr>
            <p:ph idx="1"/>
          </p:nvPr>
        </p:nvSpPr>
        <p:spPr/>
        <p:txBody>
          <a:bodyPr>
            <a:noAutofit/>
          </a:bodyPr>
          <a:lstStyle/>
          <a:p>
            <a:pPr marL="0" indent="0">
              <a:buNone/>
            </a:pPr>
            <a:endParaRPr lang="fr-FR" sz="2800">
              <a:latin typeface="Times New Roman" pitchFamily="18" charset="0"/>
              <a:cs typeface="Times New Roman" pitchFamily="18" charset="0"/>
            </a:endParaRPr>
          </a:p>
          <a:p>
            <a:pPr marL="0" indent="0">
              <a:buNone/>
            </a:pPr>
            <a:endParaRPr lang="fr-FR" sz="2800">
              <a:latin typeface="Times New Roman" pitchFamily="18" charset="0"/>
              <a:cs typeface="Times New Roman" pitchFamily="18" charset="0"/>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5</a:t>
            </a:fld>
            <a:endParaRPr lang="fr-FR"/>
          </a:p>
        </p:txBody>
      </p:sp>
      <p:sp>
        <p:nvSpPr>
          <p:cNvPr id="9" name="Rectangle 8"/>
          <p:cNvSpPr/>
          <p:nvPr/>
        </p:nvSpPr>
        <p:spPr>
          <a:xfrm>
            <a:off x="769577" y="2780928"/>
            <a:ext cx="720078" cy="1385458"/>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11</a:t>
            </a:r>
          </a:p>
          <a:p>
            <a:pPr algn="ctr"/>
            <a:r>
              <a:rPr lang="fr-BE" sz="2000" b="1" i="1">
                <a:solidFill>
                  <a:schemeClr val="tx1"/>
                </a:solidFill>
              </a:rPr>
              <a:t>3 mois</a:t>
            </a:r>
          </a:p>
        </p:txBody>
      </p:sp>
      <p:sp>
        <p:nvSpPr>
          <p:cNvPr id="12" name="Rectangle 11"/>
          <p:cNvSpPr/>
          <p:nvPr/>
        </p:nvSpPr>
        <p:spPr>
          <a:xfrm>
            <a:off x="2938330" y="2780928"/>
            <a:ext cx="820077" cy="1385460"/>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2A</a:t>
            </a:r>
          </a:p>
          <a:p>
            <a:pPr algn="ctr"/>
            <a:r>
              <a:rPr lang="fr-BE" sz="2000" b="1" i="1">
                <a:solidFill>
                  <a:schemeClr val="tx1"/>
                </a:solidFill>
              </a:rPr>
              <a:t>2 mois</a:t>
            </a:r>
          </a:p>
        </p:txBody>
      </p:sp>
      <p:sp>
        <p:nvSpPr>
          <p:cNvPr id="13" name="Rectangle 12"/>
          <p:cNvSpPr/>
          <p:nvPr/>
        </p:nvSpPr>
        <p:spPr>
          <a:xfrm>
            <a:off x="7855642" y="2780930"/>
            <a:ext cx="1036838" cy="1385455"/>
          </a:xfrm>
          <a:prstGeom prst="rect">
            <a:avLst/>
          </a:prstGeom>
          <a:solidFill>
            <a:schemeClr val="bg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F</a:t>
            </a:r>
          </a:p>
          <a:p>
            <a:pPr algn="ctr"/>
            <a:r>
              <a:rPr lang="fr-BE" sz="2000" b="1" i="1">
                <a:solidFill>
                  <a:schemeClr val="tx1"/>
                </a:solidFill>
              </a:rPr>
              <a:t>Illimité</a:t>
            </a:r>
          </a:p>
        </p:txBody>
      </p:sp>
      <p:sp>
        <p:nvSpPr>
          <p:cNvPr id="14" name="Accolade ouvrante 13"/>
          <p:cNvSpPr/>
          <p:nvPr/>
        </p:nvSpPr>
        <p:spPr>
          <a:xfrm rot="16200000">
            <a:off x="1620704" y="3295021"/>
            <a:ext cx="466501" cy="2168755"/>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BE"/>
          </a:p>
        </p:txBody>
      </p:sp>
      <p:sp>
        <p:nvSpPr>
          <p:cNvPr id="15" name="Accolade ouvrante 14"/>
          <p:cNvSpPr/>
          <p:nvPr/>
        </p:nvSpPr>
        <p:spPr>
          <a:xfrm rot="16200000">
            <a:off x="5163734" y="1919343"/>
            <a:ext cx="466506" cy="4917310"/>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BE"/>
          </a:p>
        </p:txBody>
      </p:sp>
      <p:sp>
        <p:nvSpPr>
          <p:cNvPr id="16" name="Accolade ouvrante 15"/>
          <p:cNvSpPr/>
          <p:nvPr/>
        </p:nvSpPr>
        <p:spPr>
          <a:xfrm rot="16200000">
            <a:off x="8159336" y="3878105"/>
            <a:ext cx="440305" cy="1025988"/>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BE"/>
          </a:p>
        </p:txBody>
      </p:sp>
      <p:sp>
        <p:nvSpPr>
          <p:cNvPr id="18" name="Rectangle 17"/>
          <p:cNvSpPr/>
          <p:nvPr/>
        </p:nvSpPr>
        <p:spPr>
          <a:xfrm>
            <a:off x="341786" y="4898162"/>
            <a:ext cx="3024336" cy="448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i="1">
                <a:solidFill>
                  <a:schemeClr val="tx1"/>
                </a:solidFill>
              </a:rPr>
              <a:t>1</a:t>
            </a:r>
            <a:r>
              <a:rPr lang="fr-BE" sz="2400" b="1" i="1" baseline="30000">
                <a:solidFill>
                  <a:schemeClr val="tx1"/>
                </a:solidFill>
              </a:rPr>
              <a:t>ère</a:t>
            </a:r>
            <a:r>
              <a:rPr lang="fr-BE" sz="2400" b="1" i="1">
                <a:solidFill>
                  <a:schemeClr val="tx1"/>
                </a:solidFill>
              </a:rPr>
              <a:t> période :</a:t>
            </a:r>
          </a:p>
          <a:p>
            <a:pPr algn="ctr"/>
            <a:r>
              <a:rPr lang="fr-BE" sz="2400" b="1" i="1">
                <a:solidFill>
                  <a:srgbClr val="008000"/>
                </a:solidFill>
              </a:rPr>
              <a:t>3 phases fixes</a:t>
            </a:r>
          </a:p>
        </p:txBody>
      </p:sp>
      <p:sp>
        <p:nvSpPr>
          <p:cNvPr id="19" name="Rectangle 18"/>
          <p:cNvSpPr/>
          <p:nvPr/>
        </p:nvSpPr>
        <p:spPr>
          <a:xfrm>
            <a:off x="3886393" y="4844124"/>
            <a:ext cx="3024336"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i="1">
                <a:solidFill>
                  <a:schemeClr val="tx1"/>
                </a:solidFill>
              </a:rPr>
              <a:t>2</a:t>
            </a:r>
            <a:r>
              <a:rPr lang="fr-BE" sz="2400" b="1" i="1" baseline="30000">
                <a:solidFill>
                  <a:schemeClr val="tx1"/>
                </a:solidFill>
              </a:rPr>
              <a:t>ème</a:t>
            </a:r>
            <a:r>
              <a:rPr lang="fr-BE" sz="2400" b="1" i="1">
                <a:solidFill>
                  <a:schemeClr val="tx1"/>
                </a:solidFill>
              </a:rPr>
              <a:t> période :               </a:t>
            </a:r>
            <a:r>
              <a:rPr lang="fr-BE" sz="2400" b="1" i="1">
                <a:solidFill>
                  <a:srgbClr val="008000"/>
                </a:solidFill>
              </a:rPr>
              <a:t>1 phase fixe &amp;               5 phases variables</a:t>
            </a:r>
            <a:endParaRPr lang="fr-BE" b="1" i="1">
              <a:solidFill>
                <a:srgbClr val="008000"/>
              </a:solidFill>
            </a:endParaRPr>
          </a:p>
        </p:txBody>
      </p:sp>
      <p:sp>
        <p:nvSpPr>
          <p:cNvPr id="20" name="Rectangle 19"/>
          <p:cNvSpPr/>
          <p:nvPr/>
        </p:nvSpPr>
        <p:spPr>
          <a:xfrm>
            <a:off x="7445603" y="4399370"/>
            <a:ext cx="2022941" cy="9060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i="1">
                <a:solidFill>
                  <a:schemeClr val="tx1"/>
                </a:solidFill>
              </a:rPr>
              <a:t>Forfait</a:t>
            </a:r>
            <a:endParaRPr lang="fr-BE" sz="2400" b="1" i="1">
              <a:solidFill>
                <a:srgbClr val="C00000"/>
              </a:solidFill>
            </a:endParaRPr>
          </a:p>
        </p:txBody>
      </p:sp>
      <p:sp>
        <p:nvSpPr>
          <p:cNvPr id="22" name="Rectangle 21"/>
          <p:cNvSpPr/>
          <p:nvPr/>
        </p:nvSpPr>
        <p:spPr>
          <a:xfrm>
            <a:off x="3758407" y="2780930"/>
            <a:ext cx="820077" cy="1385460"/>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2B</a:t>
            </a:r>
          </a:p>
          <a:p>
            <a:pPr algn="ctr"/>
            <a:r>
              <a:rPr lang="fr-BE" sz="2000" b="1" i="1">
                <a:solidFill>
                  <a:schemeClr val="tx1"/>
                </a:solidFill>
              </a:rPr>
              <a:t>10 mois</a:t>
            </a:r>
          </a:p>
        </p:txBody>
      </p:sp>
      <p:sp>
        <p:nvSpPr>
          <p:cNvPr id="23" name="Rectangle 22"/>
          <p:cNvSpPr/>
          <p:nvPr/>
        </p:nvSpPr>
        <p:spPr>
          <a:xfrm>
            <a:off x="4578484" y="2780930"/>
            <a:ext cx="820077" cy="1385460"/>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21</a:t>
            </a:r>
          </a:p>
          <a:p>
            <a:pPr algn="ctr"/>
            <a:r>
              <a:rPr lang="fr-BE" sz="2000" b="1" i="1">
                <a:solidFill>
                  <a:schemeClr val="tx1"/>
                </a:solidFill>
              </a:rPr>
              <a:t>6 mois</a:t>
            </a:r>
          </a:p>
        </p:txBody>
      </p:sp>
      <p:sp>
        <p:nvSpPr>
          <p:cNvPr id="24" name="Rectangle 23"/>
          <p:cNvSpPr/>
          <p:nvPr/>
        </p:nvSpPr>
        <p:spPr>
          <a:xfrm>
            <a:off x="5395411" y="2780928"/>
            <a:ext cx="820077" cy="1375768"/>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22</a:t>
            </a:r>
          </a:p>
          <a:p>
            <a:pPr algn="ctr"/>
            <a:r>
              <a:rPr lang="fr-BE" sz="2000" b="1" i="1">
                <a:solidFill>
                  <a:schemeClr val="tx1"/>
                </a:solidFill>
              </a:rPr>
              <a:t>6 mois</a:t>
            </a:r>
          </a:p>
        </p:txBody>
      </p:sp>
      <p:sp>
        <p:nvSpPr>
          <p:cNvPr id="25" name="Rectangle 24"/>
          <p:cNvSpPr/>
          <p:nvPr/>
        </p:nvSpPr>
        <p:spPr>
          <a:xfrm>
            <a:off x="6215488" y="2782857"/>
            <a:ext cx="820077" cy="1373840"/>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23</a:t>
            </a:r>
          </a:p>
          <a:p>
            <a:pPr algn="ctr"/>
            <a:r>
              <a:rPr lang="fr-BE" sz="2000" b="1" i="1">
                <a:solidFill>
                  <a:schemeClr val="tx1"/>
                </a:solidFill>
              </a:rPr>
              <a:t>6 mois</a:t>
            </a:r>
          </a:p>
        </p:txBody>
      </p:sp>
      <p:sp>
        <p:nvSpPr>
          <p:cNvPr id="26" name="Rectangle 25"/>
          <p:cNvSpPr/>
          <p:nvPr/>
        </p:nvSpPr>
        <p:spPr>
          <a:xfrm>
            <a:off x="7035565" y="2780930"/>
            <a:ext cx="820077" cy="1385456"/>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24</a:t>
            </a:r>
          </a:p>
          <a:p>
            <a:pPr algn="ctr"/>
            <a:r>
              <a:rPr lang="fr-BE" sz="2000" b="1" i="1">
                <a:solidFill>
                  <a:schemeClr val="tx1"/>
                </a:solidFill>
              </a:rPr>
              <a:t>6 mois</a:t>
            </a:r>
          </a:p>
        </p:txBody>
      </p:sp>
      <p:sp>
        <p:nvSpPr>
          <p:cNvPr id="27" name="Rectangle 26"/>
          <p:cNvSpPr/>
          <p:nvPr/>
        </p:nvSpPr>
        <p:spPr>
          <a:xfrm>
            <a:off x="1489655" y="2782857"/>
            <a:ext cx="720078" cy="1373839"/>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12</a:t>
            </a:r>
          </a:p>
          <a:p>
            <a:pPr algn="ctr"/>
            <a:r>
              <a:rPr lang="fr-BE" sz="2000" b="1" i="1">
                <a:solidFill>
                  <a:schemeClr val="tx1"/>
                </a:solidFill>
              </a:rPr>
              <a:t>3 mois</a:t>
            </a:r>
          </a:p>
        </p:txBody>
      </p:sp>
      <p:sp>
        <p:nvSpPr>
          <p:cNvPr id="28" name="Rectangle 27"/>
          <p:cNvSpPr/>
          <p:nvPr/>
        </p:nvSpPr>
        <p:spPr>
          <a:xfrm>
            <a:off x="2195732" y="2786014"/>
            <a:ext cx="742595" cy="1370683"/>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13</a:t>
            </a:r>
          </a:p>
          <a:p>
            <a:pPr algn="ctr"/>
            <a:r>
              <a:rPr lang="fr-BE" sz="2000" b="1" i="1">
                <a:solidFill>
                  <a:schemeClr val="tx1"/>
                </a:solidFill>
              </a:rPr>
              <a:t>6 mois</a:t>
            </a:r>
          </a:p>
        </p:txBody>
      </p:sp>
      <p:cxnSp>
        <p:nvCxnSpPr>
          <p:cNvPr id="5" name="Connecteur droit 4"/>
          <p:cNvCxnSpPr/>
          <p:nvPr/>
        </p:nvCxnSpPr>
        <p:spPr>
          <a:xfrm>
            <a:off x="3758407" y="1340768"/>
            <a:ext cx="0" cy="4680520"/>
          </a:xfrm>
          <a:prstGeom prst="line">
            <a:avLst/>
          </a:prstGeom>
          <a:ln w="38100">
            <a:solidFill>
              <a:srgbClr val="008000"/>
            </a:solidFill>
          </a:ln>
        </p:spPr>
        <p:style>
          <a:lnRef idx="1">
            <a:schemeClr val="accent1"/>
          </a:lnRef>
          <a:fillRef idx="0">
            <a:schemeClr val="accent1"/>
          </a:fillRef>
          <a:effectRef idx="0">
            <a:schemeClr val="accent1"/>
          </a:effectRef>
          <a:fontRef idx="minor">
            <a:schemeClr val="tx1"/>
          </a:fontRef>
        </p:style>
      </p:cxnSp>
      <p:sp>
        <p:nvSpPr>
          <p:cNvPr id="21" name="Double flèche horizontale 20"/>
          <p:cNvSpPr/>
          <p:nvPr/>
        </p:nvSpPr>
        <p:spPr>
          <a:xfrm>
            <a:off x="769578" y="1556792"/>
            <a:ext cx="2988830" cy="792088"/>
          </a:xfrm>
          <a:prstGeom prst="leftRightArrow">
            <a:avLst/>
          </a:prstGeom>
          <a:no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a:solidFill>
                  <a:schemeClr val="tx1"/>
                </a:solidFill>
              </a:rPr>
              <a:t>Phases Fixes</a:t>
            </a:r>
          </a:p>
        </p:txBody>
      </p:sp>
      <p:sp>
        <p:nvSpPr>
          <p:cNvPr id="33" name="Double flèche horizontale 32"/>
          <p:cNvSpPr/>
          <p:nvPr/>
        </p:nvSpPr>
        <p:spPr>
          <a:xfrm>
            <a:off x="3758407" y="1556792"/>
            <a:ext cx="4108087" cy="792088"/>
          </a:xfrm>
          <a:prstGeom prst="leftRightArrow">
            <a:avLst/>
          </a:prstGeom>
          <a:no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a:solidFill>
                  <a:schemeClr val="tx1"/>
                </a:solidFill>
              </a:rPr>
              <a:t>Phases variables</a:t>
            </a:r>
          </a:p>
        </p:txBody>
      </p:sp>
    </p:spTree>
    <p:extLst>
      <p:ext uri="{BB962C8B-B14F-4D97-AF65-F5344CB8AC3E}">
        <p14:creationId xmlns:p14="http://schemas.microsoft.com/office/powerpoint/2010/main" val="173245818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10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10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10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10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10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9" grpId="0"/>
      <p:bldP spid="20" grpId="0"/>
      <p:bldP spid="22" grpId="0" animBg="1"/>
      <p:bldP spid="23" grpId="0" animBg="1"/>
      <p:bldP spid="24" grpId="0" animBg="1"/>
      <p:bldP spid="25" grpId="0" animBg="1"/>
      <p:bldP spid="26"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normAutofit fontScale="90000"/>
          </a:bodyPr>
          <a:lstStyle/>
          <a:p>
            <a:pPr algn="r"/>
            <a:r>
              <a:rPr lang="fr-BE" b="1" i="1">
                <a:cs typeface="Times New Roman" pitchFamily="18" charset="0"/>
              </a:rPr>
              <a:t>1.AR 114 : Rappel</a:t>
            </a:r>
            <a:br>
              <a:rPr lang="fr-BE" b="1" i="1">
                <a:cs typeface="Times New Roman" pitchFamily="18" charset="0"/>
              </a:rPr>
            </a:br>
            <a:r>
              <a:rPr lang="fr-BE" b="1" i="1">
                <a:solidFill>
                  <a:srgbClr val="008000"/>
                </a:solidFill>
                <a:cs typeface="Times New Roman" pitchFamily="18" charset="0"/>
              </a:rPr>
              <a:t>Avant calcul PP</a:t>
            </a:r>
            <a:endParaRPr lang="en-US" b="1" i="1">
              <a:solidFill>
                <a:srgbClr val="008000"/>
              </a:solidFill>
              <a:cs typeface="Times New Roman" pitchFamily="18" charset="0"/>
            </a:endParaRPr>
          </a:p>
        </p:txBody>
      </p:sp>
      <p:sp>
        <p:nvSpPr>
          <p:cNvPr id="3" name="Espace réservé du contenu 2"/>
          <p:cNvSpPr>
            <a:spLocks noGrp="1"/>
          </p:cNvSpPr>
          <p:nvPr>
            <p:ph idx="1"/>
          </p:nvPr>
        </p:nvSpPr>
        <p:spPr>
          <a:xfrm>
            <a:off x="467545" y="1531474"/>
            <a:ext cx="8229600" cy="4525963"/>
          </a:xfrm>
        </p:spPr>
        <p:txBody>
          <a:bodyPr>
            <a:noAutofit/>
          </a:bodyPr>
          <a:lstStyle/>
          <a:p>
            <a:pPr marL="0" indent="0">
              <a:buNone/>
            </a:pPr>
            <a:endParaRPr lang="fr-FR" sz="2800">
              <a:latin typeface="Times New Roman" pitchFamily="18" charset="0"/>
              <a:cs typeface="Times New Roman" pitchFamily="18" charset="0"/>
            </a:endParaRPr>
          </a:p>
          <a:p>
            <a:pPr marL="0" indent="0">
              <a:buNone/>
            </a:pPr>
            <a:endParaRPr lang="fr-FR" sz="2800">
              <a:latin typeface="Times New Roman" pitchFamily="18" charset="0"/>
              <a:cs typeface="Times New Roman" pitchFamily="18" charset="0"/>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6</a:t>
            </a:fld>
            <a:endParaRPr lang="fr-FR"/>
          </a:p>
        </p:txBody>
      </p:sp>
      <p:sp>
        <p:nvSpPr>
          <p:cNvPr id="9" name="Rectangle 8"/>
          <p:cNvSpPr/>
          <p:nvPr/>
        </p:nvSpPr>
        <p:spPr>
          <a:xfrm>
            <a:off x="792092" y="2780928"/>
            <a:ext cx="720078" cy="1385460"/>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11</a:t>
            </a:r>
          </a:p>
          <a:p>
            <a:pPr algn="ctr"/>
            <a:r>
              <a:rPr lang="fr-BE" sz="2000" b="1" i="1">
                <a:solidFill>
                  <a:schemeClr val="tx1"/>
                </a:solidFill>
              </a:rPr>
              <a:t>3 mois</a:t>
            </a:r>
          </a:p>
        </p:txBody>
      </p:sp>
      <p:sp>
        <p:nvSpPr>
          <p:cNvPr id="12" name="Rectangle 11"/>
          <p:cNvSpPr/>
          <p:nvPr/>
        </p:nvSpPr>
        <p:spPr>
          <a:xfrm>
            <a:off x="2938330" y="2780928"/>
            <a:ext cx="820077" cy="1385460"/>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2A</a:t>
            </a:r>
          </a:p>
          <a:p>
            <a:pPr algn="ctr"/>
            <a:r>
              <a:rPr lang="fr-BE" sz="2000" b="1" i="1">
                <a:solidFill>
                  <a:schemeClr val="tx1"/>
                </a:solidFill>
              </a:rPr>
              <a:t>2 mois</a:t>
            </a:r>
          </a:p>
        </p:txBody>
      </p:sp>
      <p:sp>
        <p:nvSpPr>
          <p:cNvPr id="14" name="Accolade ouvrante 13"/>
          <p:cNvSpPr/>
          <p:nvPr/>
        </p:nvSpPr>
        <p:spPr>
          <a:xfrm rot="16200000">
            <a:off x="1620704" y="3295021"/>
            <a:ext cx="466501" cy="2168755"/>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BE"/>
          </a:p>
        </p:txBody>
      </p:sp>
      <p:sp>
        <p:nvSpPr>
          <p:cNvPr id="15" name="Accolade ouvrante 14"/>
          <p:cNvSpPr/>
          <p:nvPr/>
        </p:nvSpPr>
        <p:spPr>
          <a:xfrm rot="16200000">
            <a:off x="5682152" y="1400924"/>
            <a:ext cx="466507" cy="5954148"/>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BE"/>
          </a:p>
        </p:txBody>
      </p:sp>
      <p:sp>
        <p:nvSpPr>
          <p:cNvPr id="18" name="Rectangle 17"/>
          <p:cNvSpPr/>
          <p:nvPr/>
        </p:nvSpPr>
        <p:spPr>
          <a:xfrm>
            <a:off x="296953" y="4852372"/>
            <a:ext cx="3024336" cy="448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i="1">
                <a:solidFill>
                  <a:schemeClr val="tx1"/>
                </a:solidFill>
              </a:rPr>
              <a:t>1</a:t>
            </a:r>
            <a:r>
              <a:rPr lang="fr-BE" sz="2400" b="1" i="1" baseline="30000">
                <a:solidFill>
                  <a:schemeClr val="tx1"/>
                </a:solidFill>
              </a:rPr>
              <a:t>ère</a:t>
            </a:r>
            <a:r>
              <a:rPr lang="fr-BE" sz="2400" b="1" i="1">
                <a:solidFill>
                  <a:schemeClr val="tx1"/>
                </a:solidFill>
              </a:rPr>
              <a:t> période :</a:t>
            </a:r>
          </a:p>
          <a:p>
            <a:pPr algn="ctr"/>
            <a:r>
              <a:rPr lang="fr-BE" sz="2400" b="1" i="1">
                <a:solidFill>
                  <a:srgbClr val="008000"/>
                </a:solidFill>
              </a:rPr>
              <a:t>3 phases fixes</a:t>
            </a:r>
          </a:p>
        </p:txBody>
      </p:sp>
      <p:sp>
        <p:nvSpPr>
          <p:cNvPr id="19" name="Rectangle 18"/>
          <p:cNvSpPr/>
          <p:nvPr/>
        </p:nvSpPr>
        <p:spPr>
          <a:xfrm>
            <a:off x="3995936" y="4844124"/>
            <a:ext cx="4680519"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i="1">
                <a:solidFill>
                  <a:schemeClr val="tx1"/>
                </a:solidFill>
              </a:rPr>
              <a:t>2</a:t>
            </a:r>
            <a:r>
              <a:rPr lang="fr-BE" sz="2400" b="1" i="1" baseline="30000">
                <a:solidFill>
                  <a:schemeClr val="tx1"/>
                </a:solidFill>
              </a:rPr>
              <a:t>ème</a:t>
            </a:r>
            <a:r>
              <a:rPr lang="fr-BE" sz="2400" b="1" i="1">
                <a:solidFill>
                  <a:schemeClr val="tx1"/>
                </a:solidFill>
              </a:rPr>
              <a:t> période :            </a:t>
            </a:r>
          </a:p>
          <a:p>
            <a:pPr algn="ctr"/>
            <a:r>
              <a:rPr lang="fr-BE" sz="2400" b="1" i="1">
                <a:solidFill>
                  <a:schemeClr val="tx1"/>
                </a:solidFill>
              </a:rPr>
              <a:t>   </a:t>
            </a:r>
            <a:r>
              <a:rPr lang="fr-BE" sz="2400" b="1" i="1">
                <a:solidFill>
                  <a:srgbClr val="008000"/>
                </a:solidFill>
              </a:rPr>
              <a:t>1 phase fixe &amp; un suffixe 29</a:t>
            </a:r>
            <a:endParaRPr lang="fr-BE" i="1">
              <a:solidFill>
                <a:srgbClr val="008000"/>
              </a:solidFill>
            </a:endParaRPr>
          </a:p>
        </p:txBody>
      </p:sp>
      <p:sp>
        <p:nvSpPr>
          <p:cNvPr id="22" name="Rectangle 21"/>
          <p:cNvSpPr/>
          <p:nvPr/>
        </p:nvSpPr>
        <p:spPr>
          <a:xfrm>
            <a:off x="3758407" y="2775414"/>
            <a:ext cx="5134073" cy="1395532"/>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29</a:t>
            </a:r>
          </a:p>
          <a:p>
            <a:pPr algn="ctr"/>
            <a:endParaRPr lang="fr-BE" sz="2000" b="1" i="1">
              <a:solidFill>
                <a:schemeClr val="tx1"/>
              </a:solidFill>
            </a:endParaRPr>
          </a:p>
          <a:p>
            <a:pPr algn="ctr"/>
            <a:r>
              <a:rPr lang="fr-BE" sz="2000" b="1" i="1">
                <a:solidFill>
                  <a:schemeClr val="tx1"/>
                </a:solidFill>
              </a:rPr>
              <a:t>…</a:t>
            </a:r>
          </a:p>
        </p:txBody>
      </p:sp>
      <p:sp>
        <p:nvSpPr>
          <p:cNvPr id="27" name="Rectangle 26"/>
          <p:cNvSpPr/>
          <p:nvPr/>
        </p:nvSpPr>
        <p:spPr>
          <a:xfrm>
            <a:off x="1505172" y="2788371"/>
            <a:ext cx="720078" cy="1367417"/>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12</a:t>
            </a:r>
          </a:p>
          <a:p>
            <a:pPr algn="ctr"/>
            <a:r>
              <a:rPr lang="fr-BE" sz="2000" b="1" i="1">
                <a:solidFill>
                  <a:schemeClr val="tx1"/>
                </a:solidFill>
              </a:rPr>
              <a:t>3 mois</a:t>
            </a:r>
          </a:p>
        </p:txBody>
      </p:sp>
      <p:sp>
        <p:nvSpPr>
          <p:cNvPr id="28" name="Rectangle 27"/>
          <p:cNvSpPr/>
          <p:nvPr/>
        </p:nvSpPr>
        <p:spPr>
          <a:xfrm>
            <a:off x="2225250" y="2786968"/>
            <a:ext cx="742595" cy="1368820"/>
          </a:xfrm>
          <a:prstGeom prst="rect">
            <a:avLst/>
          </a:prstGeom>
          <a:solidFill>
            <a:schemeClr val="accent3">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3200" b="1" i="1">
                <a:solidFill>
                  <a:schemeClr val="tx1"/>
                </a:solidFill>
              </a:rPr>
              <a:t>13</a:t>
            </a:r>
          </a:p>
          <a:p>
            <a:pPr algn="ctr"/>
            <a:r>
              <a:rPr lang="fr-BE" sz="2000" b="1" i="1">
                <a:solidFill>
                  <a:schemeClr val="tx1"/>
                </a:solidFill>
              </a:rPr>
              <a:t>6 mois</a:t>
            </a:r>
          </a:p>
        </p:txBody>
      </p:sp>
      <p:cxnSp>
        <p:nvCxnSpPr>
          <p:cNvPr id="5" name="Connecteur droit 4"/>
          <p:cNvCxnSpPr/>
          <p:nvPr/>
        </p:nvCxnSpPr>
        <p:spPr>
          <a:xfrm>
            <a:off x="3758407" y="1340768"/>
            <a:ext cx="0" cy="4680520"/>
          </a:xfrm>
          <a:prstGeom prst="line">
            <a:avLst/>
          </a:prstGeom>
          <a:ln w="38100">
            <a:solidFill>
              <a:srgbClr val="008000"/>
            </a:solidFill>
          </a:ln>
        </p:spPr>
        <p:style>
          <a:lnRef idx="1">
            <a:schemeClr val="accent1"/>
          </a:lnRef>
          <a:fillRef idx="0">
            <a:schemeClr val="accent1"/>
          </a:fillRef>
          <a:effectRef idx="0">
            <a:schemeClr val="accent1"/>
          </a:effectRef>
          <a:fontRef idx="minor">
            <a:schemeClr val="tx1"/>
          </a:fontRef>
        </p:style>
      </p:cxnSp>
      <p:sp>
        <p:nvSpPr>
          <p:cNvPr id="21" name="Double flèche horizontale 20"/>
          <p:cNvSpPr/>
          <p:nvPr/>
        </p:nvSpPr>
        <p:spPr>
          <a:xfrm>
            <a:off x="769578" y="1556792"/>
            <a:ext cx="2988830" cy="792088"/>
          </a:xfrm>
          <a:prstGeom prst="leftRightArrow">
            <a:avLst/>
          </a:prstGeom>
          <a:no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a:solidFill>
                  <a:schemeClr val="tx1"/>
                </a:solidFill>
              </a:rPr>
              <a:t>Phases Fixes</a:t>
            </a:r>
          </a:p>
        </p:txBody>
      </p:sp>
      <p:sp>
        <p:nvSpPr>
          <p:cNvPr id="33" name="Double flèche horizontale 32"/>
          <p:cNvSpPr/>
          <p:nvPr/>
        </p:nvSpPr>
        <p:spPr>
          <a:xfrm>
            <a:off x="3758407" y="1556792"/>
            <a:ext cx="5134073" cy="792088"/>
          </a:xfrm>
          <a:prstGeom prst="leftRightArrow">
            <a:avLst/>
          </a:prstGeom>
          <a:noFill/>
          <a:ln w="1270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BE" sz="2400" b="1">
                <a:solidFill>
                  <a:schemeClr val="tx1"/>
                </a:solidFill>
              </a:rPr>
              <a:t>En attente calcul du PP</a:t>
            </a:r>
          </a:p>
        </p:txBody>
      </p:sp>
    </p:spTree>
    <p:extLst>
      <p:ext uri="{BB962C8B-B14F-4D97-AF65-F5344CB8AC3E}">
        <p14:creationId xmlns:p14="http://schemas.microsoft.com/office/powerpoint/2010/main" val="279094874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0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10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10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10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10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10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4" grpId="0" animBg="1"/>
      <p:bldP spid="15" grpId="0" animBg="1"/>
      <p:bldP spid="18" grpId="0"/>
      <p:bldP spid="19" grpId="0"/>
      <p:bldP spid="22" grpId="0" animBg="1"/>
      <p:bldP spid="27" grpId="0" animBg="1"/>
      <p:bldP spid="28" grpId="0" animBg="1"/>
      <p:bldP spid="21" grpId="0" animBg="1"/>
      <p:bldP spid="3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p:cNvSpPr>
            <a:spLocks noGrp="1"/>
          </p:cNvSpPr>
          <p:nvPr>
            <p:ph type="sldNum" sz="quarter" idx="12"/>
          </p:nvPr>
        </p:nvSpPr>
        <p:spPr/>
        <p:txBody>
          <a:bodyPr/>
          <a:lstStyle/>
          <a:p>
            <a:fld id="{55E9056B-6A30-4F99-BDE9-C450E66AE125}" type="slidenum">
              <a:rPr lang="fr-FR" smtClean="0"/>
              <a:pPr/>
              <a:t>7</a:t>
            </a:fld>
            <a:endParaRPr lang="fr-FR"/>
          </a:p>
        </p:txBody>
      </p:sp>
      <p:grpSp>
        <p:nvGrpSpPr>
          <p:cNvPr id="2" name="Group 4">
            <a:extLst>
              <a:ext uri="{FF2B5EF4-FFF2-40B4-BE49-F238E27FC236}">
                <a16:creationId xmlns:a16="http://schemas.microsoft.com/office/drawing/2014/main" id="{D010CC2A-0B35-4EC9-AB19-15A4AC09B269}"/>
              </a:ext>
            </a:extLst>
          </p:cNvPr>
          <p:cNvGrpSpPr>
            <a:grpSpLocks noChangeAspect="1"/>
          </p:cNvGrpSpPr>
          <p:nvPr/>
        </p:nvGrpSpPr>
        <p:grpSpPr bwMode="auto">
          <a:xfrm>
            <a:off x="457201" y="67786"/>
            <a:ext cx="7527912" cy="6790214"/>
            <a:chOff x="812" y="23"/>
            <a:chExt cx="4204" cy="4274"/>
          </a:xfrm>
        </p:grpSpPr>
        <p:sp>
          <p:nvSpPr>
            <p:cNvPr id="3" name="AutoShape 3">
              <a:extLst>
                <a:ext uri="{FF2B5EF4-FFF2-40B4-BE49-F238E27FC236}">
                  <a16:creationId xmlns:a16="http://schemas.microsoft.com/office/drawing/2014/main" id="{76A004AC-6923-42FA-A5B1-94720EB0A0C0}"/>
                </a:ext>
              </a:extLst>
            </p:cNvPr>
            <p:cNvSpPr>
              <a:spLocks noChangeAspect="1" noChangeArrowheads="1" noTextEdit="1"/>
            </p:cNvSpPr>
            <p:nvPr/>
          </p:nvSpPr>
          <p:spPr bwMode="auto">
            <a:xfrm>
              <a:off x="818" y="29"/>
              <a:ext cx="4124" cy="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grpSp>
          <p:nvGrpSpPr>
            <p:cNvPr id="5" name="Group 205">
              <a:extLst>
                <a:ext uri="{FF2B5EF4-FFF2-40B4-BE49-F238E27FC236}">
                  <a16:creationId xmlns:a16="http://schemas.microsoft.com/office/drawing/2014/main" id="{2C9758A9-8026-4C2B-B2CB-E7B3ED4AFE89}"/>
                </a:ext>
              </a:extLst>
            </p:cNvPr>
            <p:cNvGrpSpPr>
              <a:grpSpLocks/>
            </p:cNvGrpSpPr>
            <p:nvPr/>
          </p:nvGrpSpPr>
          <p:grpSpPr bwMode="auto">
            <a:xfrm>
              <a:off x="812" y="23"/>
              <a:ext cx="4204" cy="4274"/>
              <a:chOff x="812" y="23"/>
              <a:chExt cx="4204" cy="4274"/>
            </a:xfrm>
          </p:grpSpPr>
          <p:sp>
            <p:nvSpPr>
              <p:cNvPr id="27" name="Rectangle 5">
                <a:extLst>
                  <a:ext uri="{FF2B5EF4-FFF2-40B4-BE49-F238E27FC236}">
                    <a16:creationId xmlns:a16="http://schemas.microsoft.com/office/drawing/2014/main" id="{45D7913F-6B11-4052-83CB-3F99EF2BA829}"/>
                  </a:ext>
                </a:extLst>
              </p:cNvPr>
              <p:cNvSpPr>
                <a:spLocks noChangeArrowheads="1"/>
              </p:cNvSpPr>
              <p:nvPr/>
            </p:nvSpPr>
            <p:spPr bwMode="auto">
              <a:xfrm>
                <a:off x="818" y="29"/>
                <a:ext cx="4124" cy="46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8" name="Rectangle 6">
                <a:extLst>
                  <a:ext uri="{FF2B5EF4-FFF2-40B4-BE49-F238E27FC236}">
                    <a16:creationId xmlns:a16="http://schemas.microsoft.com/office/drawing/2014/main" id="{19599856-6C18-448D-B612-E4AE470198E3}"/>
                  </a:ext>
                </a:extLst>
              </p:cNvPr>
              <p:cNvSpPr>
                <a:spLocks noChangeArrowheads="1"/>
              </p:cNvSpPr>
              <p:nvPr/>
            </p:nvSpPr>
            <p:spPr bwMode="auto">
              <a:xfrm>
                <a:off x="818" y="485"/>
                <a:ext cx="4124" cy="1033"/>
              </a:xfrm>
              <a:prstGeom prst="rect">
                <a:avLst/>
              </a:prstGeom>
              <a:solidFill>
                <a:srgbClr val="D8E4B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9" name="Rectangle 7">
                <a:extLst>
                  <a:ext uri="{FF2B5EF4-FFF2-40B4-BE49-F238E27FC236}">
                    <a16:creationId xmlns:a16="http://schemas.microsoft.com/office/drawing/2014/main" id="{4668C7EC-DC3E-4DC6-8232-B63BD650A8C0}"/>
                  </a:ext>
                </a:extLst>
              </p:cNvPr>
              <p:cNvSpPr>
                <a:spLocks noChangeArrowheads="1"/>
              </p:cNvSpPr>
              <p:nvPr/>
            </p:nvSpPr>
            <p:spPr bwMode="auto">
              <a:xfrm>
                <a:off x="818" y="1512"/>
                <a:ext cx="4124" cy="2094"/>
              </a:xfrm>
              <a:prstGeom prst="rect">
                <a:avLst/>
              </a:prstGeom>
              <a:solidFill>
                <a:srgbClr val="EBF1D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30" name="Rectangle 8">
                <a:extLst>
                  <a:ext uri="{FF2B5EF4-FFF2-40B4-BE49-F238E27FC236}">
                    <a16:creationId xmlns:a16="http://schemas.microsoft.com/office/drawing/2014/main" id="{49DF7AF0-8B2C-4F4C-86CD-AEE22A5044F4}"/>
                  </a:ext>
                </a:extLst>
              </p:cNvPr>
              <p:cNvSpPr>
                <a:spLocks noChangeArrowheads="1"/>
              </p:cNvSpPr>
              <p:nvPr/>
            </p:nvSpPr>
            <p:spPr bwMode="auto">
              <a:xfrm>
                <a:off x="818" y="3601"/>
                <a:ext cx="4124" cy="690"/>
              </a:xfrm>
              <a:prstGeom prst="rect">
                <a:avLst/>
              </a:prstGeom>
              <a:solidFill>
                <a:srgbClr val="DAEE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31" name="Rectangle 9">
                <a:extLst>
                  <a:ext uri="{FF2B5EF4-FFF2-40B4-BE49-F238E27FC236}">
                    <a16:creationId xmlns:a16="http://schemas.microsoft.com/office/drawing/2014/main" id="{2D428E88-C502-4E51-A3C7-5FECD0C1877C}"/>
                  </a:ext>
                </a:extLst>
              </p:cNvPr>
              <p:cNvSpPr>
                <a:spLocks noChangeArrowheads="1"/>
              </p:cNvSpPr>
              <p:nvPr/>
            </p:nvSpPr>
            <p:spPr bwMode="auto">
              <a:xfrm>
                <a:off x="1499" y="594"/>
                <a:ext cx="41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2" name="Rectangle 10">
                <a:extLst>
                  <a:ext uri="{FF2B5EF4-FFF2-40B4-BE49-F238E27FC236}">
                    <a16:creationId xmlns:a16="http://schemas.microsoft.com/office/drawing/2014/main" id="{E97CE836-207B-4092-A594-5A55587A6779}"/>
                  </a:ext>
                </a:extLst>
              </p:cNvPr>
              <p:cNvSpPr>
                <a:spLocks noChangeArrowheads="1"/>
              </p:cNvSpPr>
              <p:nvPr/>
            </p:nvSpPr>
            <p:spPr bwMode="auto">
              <a:xfrm>
                <a:off x="2162" y="594"/>
                <a:ext cx="36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3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3" name="Rectangle 11">
                <a:extLst>
                  <a:ext uri="{FF2B5EF4-FFF2-40B4-BE49-F238E27FC236}">
                    <a16:creationId xmlns:a16="http://schemas.microsoft.com/office/drawing/2014/main" id="{C1084537-694E-40FD-A3D2-FDC6000DB213}"/>
                  </a:ext>
                </a:extLst>
              </p:cNvPr>
              <p:cNvSpPr>
                <a:spLocks noChangeArrowheads="1"/>
              </p:cNvSpPr>
              <p:nvPr/>
            </p:nvSpPr>
            <p:spPr bwMode="auto">
              <a:xfrm>
                <a:off x="2666" y="520"/>
                <a:ext cx="71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4" name="Rectangle 12">
                <a:extLst>
                  <a:ext uri="{FF2B5EF4-FFF2-40B4-BE49-F238E27FC236}">
                    <a16:creationId xmlns:a16="http://schemas.microsoft.com/office/drawing/2014/main" id="{ADC1CD98-755B-4204-9130-242136182169}"/>
                  </a:ext>
                </a:extLst>
              </p:cNvPr>
              <p:cNvSpPr>
                <a:spLocks noChangeArrowheads="1"/>
              </p:cNvSpPr>
              <p:nvPr/>
            </p:nvSpPr>
            <p:spPr bwMode="auto">
              <a:xfrm>
                <a:off x="2666" y="617"/>
                <a:ext cx="372"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5" name="Rectangle 13">
                <a:extLst>
                  <a:ext uri="{FF2B5EF4-FFF2-40B4-BE49-F238E27FC236}">
                    <a16:creationId xmlns:a16="http://schemas.microsoft.com/office/drawing/2014/main" id="{05BAA90C-E388-4CF2-ACF5-7BF81E9111AA}"/>
                  </a:ext>
                </a:extLst>
              </p:cNvPr>
              <p:cNvSpPr>
                <a:spLocks noChangeArrowheads="1"/>
              </p:cNvSpPr>
              <p:nvPr/>
            </p:nvSpPr>
            <p:spPr bwMode="auto">
              <a:xfrm>
                <a:off x="2666" y="714"/>
                <a:ext cx="40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6" name="Rectangle 14">
                <a:extLst>
                  <a:ext uri="{FF2B5EF4-FFF2-40B4-BE49-F238E27FC236}">
                    <a16:creationId xmlns:a16="http://schemas.microsoft.com/office/drawing/2014/main" id="{6EC9823B-3A58-4BF2-A302-BD6F45923274}"/>
                  </a:ext>
                </a:extLst>
              </p:cNvPr>
              <p:cNvSpPr>
                <a:spLocks noChangeArrowheads="1"/>
              </p:cNvSpPr>
              <p:nvPr/>
            </p:nvSpPr>
            <p:spPr bwMode="auto">
              <a:xfrm>
                <a:off x="4410" y="548"/>
                <a:ext cx="49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fr-FR" altLang="fr-FR" sz="1400" i="1">
                    <a:solidFill>
                      <a:srgbClr val="000000"/>
                    </a:solidFill>
                    <a:latin typeface="Calibri" panose="020F0502020204030204" pitchFamily="34" charset="0"/>
                  </a:rPr>
                  <a:t>2102</a:t>
                </a:r>
                <a:r>
                  <a:rPr kumimoji="0" lang="fr-FR" altLang="fr-FR" sz="1400" b="0" i="1" u="none" strike="noStrike" cap="none" normalizeH="0" baseline="0">
                    <a:ln>
                      <a:noFill/>
                    </a:ln>
                    <a:solidFill>
                      <a:srgbClr val="000000"/>
                    </a:solidFill>
                    <a:effectLst/>
                    <a:latin typeface="Calibri" panose="020F0502020204030204" pitchFamily="34" charset="0"/>
                  </a:rPr>
                  <a:t>,36 €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7" name="Rectangle 15">
                <a:extLst>
                  <a:ext uri="{FF2B5EF4-FFF2-40B4-BE49-F238E27FC236}">
                    <a16:creationId xmlns:a16="http://schemas.microsoft.com/office/drawing/2014/main" id="{7EF4D853-3687-42A4-898D-07720638A024}"/>
                  </a:ext>
                </a:extLst>
              </p:cNvPr>
              <p:cNvSpPr>
                <a:spLocks noChangeArrowheads="1"/>
              </p:cNvSpPr>
              <p:nvPr/>
            </p:nvSpPr>
            <p:spPr bwMode="auto">
              <a:xfrm>
                <a:off x="4519" y="691"/>
                <a:ext cx="2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a:ln>
                      <a:noFill/>
                    </a:ln>
                    <a:solidFill>
                      <a:srgbClr val="000000"/>
                    </a:solidFill>
                    <a:effectLst/>
                    <a:latin typeface="Calibri" panose="020F0502020204030204" pitchFamily="34" charset="0"/>
                  </a:rPr>
                  <a:t>(</a:t>
                </a:r>
                <a:r>
                  <a:rPr lang="fr-FR" altLang="fr-FR" sz="900" b="1" i="1">
                    <a:solidFill>
                      <a:srgbClr val="000000"/>
                    </a:solidFill>
                    <a:latin typeface="Calibri" panose="020F0502020204030204" pitchFamily="34" charset="0"/>
                  </a:rPr>
                  <a:t>8</a:t>
                </a:r>
                <a:r>
                  <a:rPr kumimoji="0" lang="fr-FR" altLang="fr-FR" sz="900" b="1" i="1" u="none" strike="noStrike" cap="none" normalizeH="0" baseline="0">
                    <a:ln>
                      <a:noFill/>
                    </a:ln>
                    <a:solidFill>
                      <a:srgbClr val="000000"/>
                    </a:solidFill>
                    <a:effectLst/>
                    <a:latin typeface="Calibri" panose="020F0502020204030204" pitchFamily="34" charset="0"/>
                  </a:rPr>
                  <a:t>0,86 €)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8" name="Rectangle 16">
                <a:extLst>
                  <a:ext uri="{FF2B5EF4-FFF2-40B4-BE49-F238E27FC236}">
                    <a16:creationId xmlns:a16="http://schemas.microsoft.com/office/drawing/2014/main" id="{6D3128D2-6CB7-49D3-9228-89DED5CAA587}"/>
                  </a:ext>
                </a:extLst>
              </p:cNvPr>
              <p:cNvSpPr>
                <a:spLocks noChangeArrowheads="1"/>
              </p:cNvSpPr>
              <p:nvPr/>
            </p:nvSpPr>
            <p:spPr bwMode="auto">
              <a:xfrm>
                <a:off x="1499" y="936"/>
                <a:ext cx="41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39" name="Rectangle 17">
                <a:extLst>
                  <a:ext uri="{FF2B5EF4-FFF2-40B4-BE49-F238E27FC236}">
                    <a16:creationId xmlns:a16="http://schemas.microsoft.com/office/drawing/2014/main" id="{FED53CE0-F629-4D13-A325-0A86BA80AC7E}"/>
                  </a:ext>
                </a:extLst>
              </p:cNvPr>
              <p:cNvSpPr>
                <a:spLocks noChangeArrowheads="1"/>
              </p:cNvSpPr>
              <p:nvPr/>
            </p:nvSpPr>
            <p:spPr bwMode="auto">
              <a:xfrm>
                <a:off x="2162" y="936"/>
                <a:ext cx="36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3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0" name="Rectangle 18">
                <a:extLst>
                  <a:ext uri="{FF2B5EF4-FFF2-40B4-BE49-F238E27FC236}">
                    <a16:creationId xmlns:a16="http://schemas.microsoft.com/office/drawing/2014/main" id="{C4D93E85-26FC-45C2-AA96-995B1FC44E7E}"/>
                  </a:ext>
                </a:extLst>
              </p:cNvPr>
              <p:cNvSpPr>
                <a:spLocks noChangeArrowheads="1"/>
              </p:cNvSpPr>
              <p:nvPr/>
            </p:nvSpPr>
            <p:spPr bwMode="auto">
              <a:xfrm>
                <a:off x="2666" y="862"/>
                <a:ext cx="71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1" name="Rectangle 19">
                <a:extLst>
                  <a:ext uri="{FF2B5EF4-FFF2-40B4-BE49-F238E27FC236}">
                    <a16:creationId xmlns:a16="http://schemas.microsoft.com/office/drawing/2014/main" id="{20814BA7-8B85-4A90-91E0-DD61F7DF9D3F}"/>
                  </a:ext>
                </a:extLst>
              </p:cNvPr>
              <p:cNvSpPr>
                <a:spLocks noChangeArrowheads="1"/>
              </p:cNvSpPr>
              <p:nvPr/>
            </p:nvSpPr>
            <p:spPr bwMode="auto">
              <a:xfrm>
                <a:off x="2666" y="959"/>
                <a:ext cx="372"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2" name="Rectangle 20">
                <a:extLst>
                  <a:ext uri="{FF2B5EF4-FFF2-40B4-BE49-F238E27FC236}">
                    <a16:creationId xmlns:a16="http://schemas.microsoft.com/office/drawing/2014/main" id="{4D28A50E-103A-4CC1-B6E1-D6368BE023A2}"/>
                  </a:ext>
                </a:extLst>
              </p:cNvPr>
              <p:cNvSpPr>
                <a:spLocks noChangeArrowheads="1"/>
              </p:cNvSpPr>
              <p:nvPr/>
            </p:nvSpPr>
            <p:spPr bwMode="auto">
              <a:xfrm>
                <a:off x="2666" y="1056"/>
                <a:ext cx="40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3" name="Rectangle 21">
                <a:extLst>
                  <a:ext uri="{FF2B5EF4-FFF2-40B4-BE49-F238E27FC236}">
                    <a16:creationId xmlns:a16="http://schemas.microsoft.com/office/drawing/2014/main" id="{F6F85D8B-B7B2-4C28-BFC0-658110F9B0C8}"/>
                  </a:ext>
                </a:extLst>
              </p:cNvPr>
              <p:cNvSpPr>
                <a:spLocks noChangeArrowheads="1"/>
              </p:cNvSpPr>
              <p:nvPr/>
            </p:nvSpPr>
            <p:spPr bwMode="auto">
              <a:xfrm>
                <a:off x="4416" y="891"/>
                <a:ext cx="47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1940,64 €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4" name="Rectangle 22">
                <a:extLst>
                  <a:ext uri="{FF2B5EF4-FFF2-40B4-BE49-F238E27FC236}">
                    <a16:creationId xmlns:a16="http://schemas.microsoft.com/office/drawing/2014/main" id="{B2D46F77-4E94-4406-A7A2-44DE697A8193}"/>
                  </a:ext>
                </a:extLst>
              </p:cNvPr>
              <p:cNvSpPr>
                <a:spLocks noChangeArrowheads="1"/>
              </p:cNvSpPr>
              <p:nvPr/>
            </p:nvSpPr>
            <p:spPr bwMode="auto">
              <a:xfrm>
                <a:off x="4519" y="1033"/>
                <a:ext cx="2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a:ln>
                      <a:noFill/>
                    </a:ln>
                    <a:solidFill>
                      <a:srgbClr val="000000"/>
                    </a:solidFill>
                    <a:effectLst/>
                    <a:latin typeface="Calibri" panose="020F0502020204030204" pitchFamily="34" charset="0"/>
                  </a:rPr>
                  <a:t>(74,64 €)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5" name="Rectangle 23">
                <a:extLst>
                  <a:ext uri="{FF2B5EF4-FFF2-40B4-BE49-F238E27FC236}">
                    <a16:creationId xmlns:a16="http://schemas.microsoft.com/office/drawing/2014/main" id="{41AAA28F-FE53-48D2-99F4-C0482D68C9AF}"/>
                  </a:ext>
                </a:extLst>
              </p:cNvPr>
              <p:cNvSpPr>
                <a:spLocks noChangeArrowheads="1"/>
              </p:cNvSpPr>
              <p:nvPr/>
            </p:nvSpPr>
            <p:spPr bwMode="auto">
              <a:xfrm>
                <a:off x="1499" y="1279"/>
                <a:ext cx="41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3</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6" name="Rectangle 24">
                <a:extLst>
                  <a:ext uri="{FF2B5EF4-FFF2-40B4-BE49-F238E27FC236}">
                    <a16:creationId xmlns:a16="http://schemas.microsoft.com/office/drawing/2014/main" id="{A3CA8067-2C23-42BF-93D0-E689CAE50EBE}"/>
                  </a:ext>
                </a:extLst>
              </p:cNvPr>
              <p:cNvSpPr>
                <a:spLocks noChangeArrowheads="1"/>
              </p:cNvSpPr>
              <p:nvPr/>
            </p:nvSpPr>
            <p:spPr bwMode="auto">
              <a:xfrm>
                <a:off x="2162" y="1279"/>
                <a:ext cx="36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6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7" name="Rectangle 25">
                <a:extLst>
                  <a:ext uri="{FF2B5EF4-FFF2-40B4-BE49-F238E27FC236}">
                    <a16:creationId xmlns:a16="http://schemas.microsoft.com/office/drawing/2014/main" id="{2CF21307-BF59-4F11-B401-4054A40ABF00}"/>
                  </a:ext>
                </a:extLst>
              </p:cNvPr>
              <p:cNvSpPr>
                <a:spLocks noChangeArrowheads="1"/>
              </p:cNvSpPr>
              <p:nvPr/>
            </p:nvSpPr>
            <p:spPr bwMode="auto">
              <a:xfrm>
                <a:off x="2666" y="1204"/>
                <a:ext cx="71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8" name="Rectangle 26">
                <a:extLst>
                  <a:ext uri="{FF2B5EF4-FFF2-40B4-BE49-F238E27FC236}">
                    <a16:creationId xmlns:a16="http://schemas.microsoft.com/office/drawing/2014/main" id="{3F914654-8170-43AD-AC1C-074B3665232E}"/>
                  </a:ext>
                </a:extLst>
              </p:cNvPr>
              <p:cNvSpPr>
                <a:spLocks noChangeArrowheads="1"/>
              </p:cNvSpPr>
              <p:nvPr/>
            </p:nvSpPr>
            <p:spPr bwMode="auto">
              <a:xfrm>
                <a:off x="2666" y="1301"/>
                <a:ext cx="372"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49" name="Rectangle 27">
                <a:extLst>
                  <a:ext uri="{FF2B5EF4-FFF2-40B4-BE49-F238E27FC236}">
                    <a16:creationId xmlns:a16="http://schemas.microsoft.com/office/drawing/2014/main" id="{E86B4891-8F6B-4E5A-9591-4EFF1040884A}"/>
                  </a:ext>
                </a:extLst>
              </p:cNvPr>
              <p:cNvSpPr>
                <a:spLocks noChangeArrowheads="1"/>
              </p:cNvSpPr>
              <p:nvPr/>
            </p:nvSpPr>
            <p:spPr bwMode="auto">
              <a:xfrm>
                <a:off x="2666" y="1398"/>
                <a:ext cx="40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0" name="Rectangle 28">
                <a:extLst>
                  <a:ext uri="{FF2B5EF4-FFF2-40B4-BE49-F238E27FC236}">
                    <a16:creationId xmlns:a16="http://schemas.microsoft.com/office/drawing/2014/main" id="{246836D3-7449-4AAA-A84A-61F42485D592}"/>
                  </a:ext>
                </a:extLst>
              </p:cNvPr>
              <p:cNvSpPr>
                <a:spLocks noChangeArrowheads="1"/>
              </p:cNvSpPr>
              <p:nvPr/>
            </p:nvSpPr>
            <p:spPr bwMode="auto">
              <a:xfrm>
                <a:off x="4416" y="1233"/>
                <a:ext cx="56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1808,82 €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1" name="Rectangle 29">
                <a:extLst>
                  <a:ext uri="{FF2B5EF4-FFF2-40B4-BE49-F238E27FC236}">
                    <a16:creationId xmlns:a16="http://schemas.microsoft.com/office/drawing/2014/main" id="{5DA904F6-A416-4256-8F83-7ACE68C3524F}"/>
                  </a:ext>
                </a:extLst>
              </p:cNvPr>
              <p:cNvSpPr>
                <a:spLocks noChangeArrowheads="1"/>
              </p:cNvSpPr>
              <p:nvPr/>
            </p:nvSpPr>
            <p:spPr bwMode="auto">
              <a:xfrm>
                <a:off x="4519" y="1376"/>
                <a:ext cx="2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a:ln>
                      <a:noFill/>
                    </a:ln>
                    <a:solidFill>
                      <a:srgbClr val="000000"/>
                    </a:solidFill>
                    <a:effectLst/>
                    <a:latin typeface="Calibri" panose="020F0502020204030204" pitchFamily="34" charset="0"/>
                  </a:rPr>
                  <a:t>(69,57 €)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2" name="Rectangle 30">
                <a:extLst>
                  <a:ext uri="{FF2B5EF4-FFF2-40B4-BE49-F238E27FC236}">
                    <a16:creationId xmlns:a16="http://schemas.microsoft.com/office/drawing/2014/main" id="{9F683437-B0D8-4FAD-AF65-E7C78E1DF9EF}"/>
                  </a:ext>
                </a:extLst>
              </p:cNvPr>
              <p:cNvSpPr>
                <a:spLocks noChangeArrowheads="1"/>
              </p:cNvSpPr>
              <p:nvPr/>
            </p:nvSpPr>
            <p:spPr bwMode="auto">
              <a:xfrm>
                <a:off x="1453" y="2340"/>
                <a:ext cx="50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3" name="Rectangle 31">
                <a:extLst>
                  <a:ext uri="{FF2B5EF4-FFF2-40B4-BE49-F238E27FC236}">
                    <a16:creationId xmlns:a16="http://schemas.microsoft.com/office/drawing/2014/main" id="{A79D420C-2827-44AC-9F7D-8BBEE1EA5DC6}"/>
                  </a:ext>
                </a:extLst>
              </p:cNvPr>
              <p:cNvSpPr>
                <a:spLocks noChangeArrowheads="1"/>
              </p:cNvSpPr>
              <p:nvPr/>
            </p:nvSpPr>
            <p:spPr bwMode="auto">
              <a:xfrm>
                <a:off x="2042" y="2340"/>
                <a:ext cx="62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Max. 6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4" name="Rectangle 32">
                <a:extLst>
                  <a:ext uri="{FF2B5EF4-FFF2-40B4-BE49-F238E27FC236}">
                    <a16:creationId xmlns:a16="http://schemas.microsoft.com/office/drawing/2014/main" id="{2A5EED26-0F81-4A36-9542-DEDE984779E6}"/>
                  </a:ext>
                </a:extLst>
              </p:cNvPr>
              <p:cNvSpPr>
                <a:spLocks noChangeArrowheads="1"/>
              </p:cNvSpPr>
              <p:nvPr/>
            </p:nvSpPr>
            <p:spPr bwMode="auto">
              <a:xfrm>
                <a:off x="1453" y="2682"/>
                <a:ext cx="50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2.2</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5" name="Rectangle 33">
                <a:extLst>
                  <a:ext uri="{FF2B5EF4-FFF2-40B4-BE49-F238E27FC236}">
                    <a16:creationId xmlns:a16="http://schemas.microsoft.com/office/drawing/2014/main" id="{E2A78E9A-67FF-465A-B610-3537B40ABCAB}"/>
                  </a:ext>
                </a:extLst>
              </p:cNvPr>
              <p:cNvSpPr>
                <a:spLocks noChangeArrowheads="1"/>
              </p:cNvSpPr>
              <p:nvPr/>
            </p:nvSpPr>
            <p:spPr bwMode="auto">
              <a:xfrm>
                <a:off x="2042" y="2682"/>
                <a:ext cx="62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Max. 6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6" name="Rectangle 34">
                <a:extLst>
                  <a:ext uri="{FF2B5EF4-FFF2-40B4-BE49-F238E27FC236}">
                    <a16:creationId xmlns:a16="http://schemas.microsoft.com/office/drawing/2014/main" id="{030F2386-4EF4-4CA8-ADE5-CA06BBA3631A}"/>
                  </a:ext>
                </a:extLst>
              </p:cNvPr>
              <p:cNvSpPr>
                <a:spLocks noChangeArrowheads="1"/>
              </p:cNvSpPr>
              <p:nvPr/>
            </p:nvSpPr>
            <p:spPr bwMode="auto">
              <a:xfrm>
                <a:off x="1453" y="3024"/>
                <a:ext cx="50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2.3</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7" name="Rectangle 35">
                <a:extLst>
                  <a:ext uri="{FF2B5EF4-FFF2-40B4-BE49-F238E27FC236}">
                    <a16:creationId xmlns:a16="http://schemas.microsoft.com/office/drawing/2014/main" id="{17671D58-A2AF-4625-B076-063CE1B95EF6}"/>
                  </a:ext>
                </a:extLst>
              </p:cNvPr>
              <p:cNvSpPr>
                <a:spLocks noChangeArrowheads="1"/>
              </p:cNvSpPr>
              <p:nvPr/>
            </p:nvSpPr>
            <p:spPr bwMode="auto">
              <a:xfrm>
                <a:off x="2042" y="3024"/>
                <a:ext cx="62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Max. 6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8" name="Rectangle 36">
                <a:extLst>
                  <a:ext uri="{FF2B5EF4-FFF2-40B4-BE49-F238E27FC236}">
                    <a16:creationId xmlns:a16="http://schemas.microsoft.com/office/drawing/2014/main" id="{DB07D09A-4C31-4D1B-8186-43B1AF42C439}"/>
                  </a:ext>
                </a:extLst>
              </p:cNvPr>
              <p:cNvSpPr>
                <a:spLocks noChangeArrowheads="1"/>
              </p:cNvSpPr>
              <p:nvPr/>
            </p:nvSpPr>
            <p:spPr bwMode="auto">
              <a:xfrm>
                <a:off x="1453" y="3367"/>
                <a:ext cx="50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2.4</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9" name="Rectangle 37">
                <a:extLst>
                  <a:ext uri="{FF2B5EF4-FFF2-40B4-BE49-F238E27FC236}">
                    <a16:creationId xmlns:a16="http://schemas.microsoft.com/office/drawing/2014/main" id="{84A68523-B3D9-4208-B3B2-54BC33683ABA}"/>
                  </a:ext>
                </a:extLst>
              </p:cNvPr>
              <p:cNvSpPr>
                <a:spLocks noChangeArrowheads="1"/>
              </p:cNvSpPr>
              <p:nvPr/>
            </p:nvSpPr>
            <p:spPr bwMode="auto">
              <a:xfrm>
                <a:off x="2042" y="3367"/>
                <a:ext cx="62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Max. 6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0" name="Rectangle 38">
                <a:extLst>
                  <a:ext uri="{FF2B5EF4-FFF2-40B4-BE49-F238E27FC236}">
                    <a16:creationId xmlns:a16="http://schemas.microsoft.com/office/drawing/2014/main" id="{17D44D97-CD04-4AE9-BD19-43FBF37C8DED}"/>
                  </a:ext>
                </a:extLst>
              </p:cNvPr>
              <p:cNvSpPr>
                <a:spLocks noChangeArrowheads="1"/>
              </p:cNvSpPr>
              <p:nvPr/>
            </p:nvSpPr>
            <p:spPr bwMode="auto">
              <a:xfrm>
                <a:off x="2666" y="3675"/>
                <a:ext cx="566"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1" name="Rectangle 39">
                <a:extLst>
                  <a:ext uri="{FF2B5EF4-FFF2-40B4-BE49-F238E27FC236}">
                    <a16:creationId xmlns:a16="http://schemas.microsoft.com/office/drawing/2014/main" id="{5C697532-5E57-425F-AF9A-6CEA9EF9E026}"/>
                  </a:ext>
                </a:extLst>
              </p:cNvPr>
              <p:cNvSpPr>
                <a:spLocks noChangeArrowheads="1"/>
              </p:cNvSpPr>
              <p:nvPr/>
            </p:nvSpPr>
            <p:spPr bwMode="auto">
              <a:xfrm>
                <a:off x="4462" y="3618"/>
                <a:ext cx="46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1" u="none" strike="noStrike" cap="none" normalizeH="0" baseline="0">
                    <a:ln>
                      <a:noFill/>
                    </a:ln>
                    <a:solidFill>
                      <a:srgbClr val="000000"/>
                    </a:solidFill>
                    <a:effectLst/>
                    <a:latin typeface="Calibri" panose="020F0502020204030204" pitchFamily="34" charset="0"/>
                  </a:rPr>
                  <a:t>1671,80 €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2" name="Rectangle 40">
                <a:extLst>
                  <a:ext uri="{FF2B5EF4-FFF2-40B4-BE49-F238E27FC236}">
                    <a16:creationId xmlns:a16="http://schemas.microsoft.com/office/drawing/2014/main" id="{698E8774-CD3A-429E-8C2A-F757117E6F7F}"/>
                  </a:ext>
                </a:extLst>
              </p:cNvPr>
              <p:cNvSpPr>
                <a:spLocks noChangeArrowheads="1"/>
              </p:cNvSpPr>
              <p:nvPr/>
            </p:nvSpPr>
            <p:spPr bwMode="auto">
              <a:xfrm>
                <a:off x="4507" y="3738"/>
                <a:ext cx="2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a:ln>
                      <a:noFill/>
                    </a:ln>
                    <a:solidFill>
                      <a:srgbClr val="000000"/>
                    </a:solidFill>
                    <a:effectLst/>
                    <a:latin typeface="Calibri" panose="020F0502020204030204" pitchFamily="34" charset="0"/>
                  </a:rPr>
                  <a:t>(</a:t>
                </a:r>
                <a:r>
                  <a:rPr lang="fr-FR" altLang="fr-FR" sz="900" b="1" i="1">
                    <a:solidFill>
                      <a:srgbClr val="000000"/>
                    </a:solidFill>
                    <a:latin typeface="Calibri" panose="020F0502020204030204" pitchFamily="34" charset="0"/>
                  </a:rPr>
                  <a:t>64</a:t>
                </a:r>
                <a:r>
                  <a:rPr kumimoji="0" lang="fr-FR" altLang="fr-FR" sz="900" b="1" i="1" u="none" strike="noStrike" cap="none" normalizeH="0" baseline="0">
                    <a:ln>
                      <a:noFill/>
                    </a:ln>
                    <a:solidFill>
                      <a:srgbClr val="000000"/>
                    </a:solidFill>
                    <a:effectLst/>
                    <a:latin typeface="Calibri" panose="020F0502020204030204" pitchFamily="34" charset="0"/>
                  </a:rPr>
                  <a:t>,30 €)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3" name="Rectangle 41">
                <a:extLst>
                  <a:ext uri="{FF2B5EF4-FFF2-40B4-BE49-F238E27FC236}">
                    <a16:creationId xmlns:a16="http://schemas.microsoft.com/office/drawing/2014/main" id="{3A90B792-5CEE-45F3-B153-C5684731BED4}"/>
                  </a:ext>
                </a:extLst>
              </p:cNvPr>
              <p:cNvSpPr>
                <a:spLocks noChangeArrowheads="1"/>
              </p:cNvSpPr>
              <p:nvPr/>
            </p:nvSpPr>
            <p:spPr bwMode="auto">
              <a:xfrm>
                <a:off x="2666" y="3903"/>
                <a:ext cx="189"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4" name="Rectangle 42">
                <a:extLst>
                  <a:ext uri="{FF2B5EF4-FFF2-40B4-BE49-F238E27FC236}">
                    <a16:creationId xmlns:a16="http://schemas.microsoft.com/office/drawing/2014/main" id="{9D42193B-9FA9-44BF-B7E7-9CF305764C28}"/>
                  </a:ext>
                </a:extLst>
              </p:cNvPr>
              <p:cNvSpPr>
                <a:spLocks noChangeArrowheads="1"/>
              </p:cNvSpPr>
              <p:nvPr/>
            </p:nvSpPr>
            <p:spPr bwMode="auto">
              <a:xfrm>
                <a:off x="4462" y="3846"/>
                <a:ext cx="46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1" u="none" strike="noStrike" cap="none" normalizeH="0" baseline="0">
                    <a:ln>
                      <a:noFill/>
                    </a:ln>
                    <a:solidFill>
                      <a:srgbClr val="000000"/>
                    </a:solidFill>
                    <a:effectLst/>
                    <a:latin typeface="Calibri" panose="020F0502020204030204" pitchFamily="34" charset="0"/>
                  </a:rPr>
                  <a:t>1354,86 €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5" name="Rectangle 43">
                <a:extLst>
                  <a:ext uri="{FF2B5EF4-FFF2-40B4-BE49-F238E27FC236}">
                    <a16:creationId xmlns:a16="http://schemas.microsoft.com/office/drawing/2014/main" id="{A56F7EB5-C804-476C-B691-FE3E6DE97AB4}"/>
                  </a:ext>
                </a:extLst>
              </p:cNvPr>
              <p:cNvSpPr>
                <a:spLocks noChangeArrowheads="1"/>
              </p:cNvSpPr>
              <p:nvPr/>
            </p:nvSpPr>
            <p:spPr bwMode="auto">
              <a:xfrm>
                <a:off x="4507" y="3966"/>
                <a:ext cx="2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a:ln>
                      <a:noFill/>
                    </a:ln>
                    <a:solidFill>
                      <a:srgbClr val="000000"/>
                    </a:solidFill>
                    <a:effectLst/>
                    <a:latin typeface="Calibri" panose="020F0502020204030204" pitchFamily="34" charset="0"/>
                  </a:rPr>
                  <a:t>(</a:t>
                </a:r>
                <a:r>
                  <a:rPr lang="fr-FR" altLang="fr-FR" sz="900" b="1" i="1">
                    <a:solidFill>
                      <a:srgbClr val="000000"/>
                    </a:solidFill>
                    <a:latin typeface="Calibri" panose="020F0502020204030204" pitchFamily="34" charset="0"/>
                  </a:rPr>
                  <a:t>52</a:t>
                </a:r>
                <a:r>
                  <a:rPr kumimoji="0" lang="fr-FR" altLang="fr-FR" sz="900" b="1" i="1" u="none" strike="noStrike" cap="none" normalizeH="0" baseline="0">
                    <a:ln>
                      <a:noFill/>
                    </a:ln>
                    <a:solidFill>
                      <a:srgbClr val="000000"/>
                    </a:solidFill>
                    <a:effectLst/>
                    <a:latin typeface="Calibri" panose="020F0502020204030204" pitchFamily="34" charset="0"/>
                  </a:rPr>
                  <a:t>,11 €)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6" name="Rectangle 44">
                <a:extLst>
                  <a:ext uri="{FF2B5EF4-FFF2-40B4-BE49-F238E27FC236}">
                    <a16:creationId xmlns:a16="http://schemas.microsoft.com/office/drawing/2014/main" id="{EC901F8E-1372-40DC-B25F-7B6E7FEEE90C}"/>
                  </a:ext>
                </a:extLst>
              </p:cNvPr>
              <p:cNvSpPr>
                <a:spLocks noChangeArrowheads="1"/>
              </p:cNvSpPr>
              <p:nvPr/>
            </p:nvSpPr>
            <p:spPr bwMode="auto">
              <a:xfrm>
                <a:off x="2666" y="4131"/>
                <a:ext cx="40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7" name="Rectangle 45">
                <a:extLst>
                  <a:ext uri="{FF2B5EF4-FFF2-40B4-BE49-F238E27FC236}">
                    <a16:creationId xmlns:a16="http://schemas.microsoft.com/office/drawing/2014/main" id="{6E9B81A2-0D07-4F3C-A43F-C5911D7EDB72}"/>
                  </a:ext>
                </a:extLst>
              </p:cNvPr>
              <p:cNvSpPr>
                <a:spLocks noChangeArrowheads="1"/>
              </p:cNvSpPr>
              <p:nvPr/>
            </p:nvSpPr>
            <p:spPr bwMode="auto">
              <a:xfrm>
                <a:off x="4484" y="4074"/>
                <a:ext cx="42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fr-FR" altLang="fr-FR" sz="1100" i="1">
                    <a:solidFill>
                      <a:srgbClr val="000000"/>
                    </a:solidFill>
                    <a:latin typeface="Calibri" panose="020F0502020204030204" pitchFamily="34" charset="0"/>
                  </a:rPr>
                  <a:t>703,04</a:t>
                </a:r>
                <a:r>
                  <a:rPr kumimoji="0" lang="fr-FR" altLang="fr-FR" sz="1100" b="0" i="1" u="none" strike="noStrike" cap="none" normalizeH="0" baseline="0">
                    <a:ln>
                      <a:noFill/>
                    </a:ln>
                    <a:solidFill>
                      <a:srgbClr val="000000"/>
                    </a:solidFill>
                    <a:effectLst/>
                    <a:latin typeface="Calibri" panose="020F0502020204030204" pitchFamily="34" charset="0"/>
                  </a:rPr>
                  <a:t> €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8" name="Rectangle 46">
                <a:extLst>
                  <a:ext uri="{FF2B5EF4-FFF2-40B4-BE49-F238E27FC236}">
                    <a16:creationId xmlns:a16="http://schemas.microsoft.com/office/drawing/2014/main" id="{F8C15FB7-65A2-407F-97A9-6C9A4224F03E}"/>
                  </a:ext>
                </a:extLst>
              </p:cNvPr>
              <p:cNvSpPr>
                <a:spLocks noChangeArrowheads="1"/>
              </p:cNvSpPr>
              <p:nvPr/>
            </p:nvSpPr>
            <p:spPr bwMode="auto">
              <a:xfrm>
                <a:off x="4519" y="4194"/>
                <a:ext cx="2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a:ln>
                      <a:noFill/>
                    </a:ln>
                    <a:solidFill>
                      <a:srgbClr val="000000"/>
                    </a:solidFill>
                    <a:effectLst/>
                    <a:latin typeface="Calibri" panose="020F0502020204030204" pitchFamily="34" charset="0"/>
                  </a:rPr>
                  <a:t>(27,04 €)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69" name="Rectangle 47">
                <a:extLst>
                  <a:ext uri="{FF2B5EF4-FFF2-40B4-BE49-F238E27FC236}">
                    <a16:creationId xmlns:a16="http://schemas.microsoft.com/office/drawing/2014/main" id="{8ABC8DC5-5EB9-416C-92A1-9252D6AB08CF}"/>
                  </a:ext>
                </a:extLst>
              </p:cNvPr>
              <p:cNvSpPr>
                <a:spLocks noChangeArrowheads="1"/>
              </p:cNvSpPr>
              <p:nvPr/>
            </p:nvSpPr>
            <p:spPr bwMode="auto">
              <a:xfrm>
                <a:off x="910" y="183"/>
                <a:ext cx="440"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Période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0" name="Rectangle 48">
                <a:extLst>
                  <a:ext uri="{FF2B5EF4-FFF2-40B4-BE49-F238E27FC236}">
                    <a16:creationId xmlns:a16="http://schemas.microsoft.com/office/drawing/2014/main" id="{3D6F780E-2816-4745-B0BD-369A72221E11}"/>
                  </a:ext>
                </a:extLst>
              </p:cNvPr>
              <p:cNvSpPr>
                <a:spLocks noChangeArrowheads="1"/>
              </p:cNvSpPr>
              <p:nvPr/>
            </p:nvSpPr>
            <p:spPr bwMode="auto">
              <a:xfrm>
                <a:off x="1499" y="1621"/>
                <a:ext cx="41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1" name="Rectangle 49">
                <a:extLst>
                  <a:ext uri="{FF2B5EF4-FFF2-40B4-BE49-F238E27FC236}">
                    <a16:creationId xmlns:a16="http://schemas.microsoft.com/office/drawing/2014/main" id="{F1C5F5C2-AA12-48F7-A2AB-282FA99A0C13}"/>
                  </a:ext>
                </a:extLst>
              </p:cNvPr>
              <p:cNvSpPr>
                <a:spLocks noChangeArrowheads="1"/>
              </p:cNvSpPr>
              <p:nvPr/>
            </p:nvSpPr>
            <p:spPr bwMode="auto">
              <a:xfrm>
                <a:off x="3398" y="936"/>
                <a:ext cx="89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60 % du plafond C</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2" name="Rectangle 50">
                <a:extLst>
                  <a:ext uri="{FF2B5EF4-FFF2-40B4-BE49-F238E27FC236}">
                    <a16:creationId xmlns:a16="http://schemas.microsoft.com/office/drawing/2014/main" id="{A1E14479-8C69-4561-B67B-A67004417B27}"/>
                  </a:ext>
                </a:extLst>
              </p:cNvPr>
              <p:cNvSpPr>
                <a:spLocks noChangeArrowheads="1"/>
              </p:cNvSpPr>
              <p:nvPr/>
            </p:nvSpPr>
            <p:spPr bwMode="auto">
              <a:xfrm>
                <a:off x="1053" y="908"/>
                <a:ext cx="166"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900" b="0" i="1" u="none" strike="noStrike" cap="none" normalizeH="0" baseline="0">
                    <a:ln>
                      <a:noFill/>
                    </a:ln>
                    <a:solidFill>
                      <a:srgbClr val="000000"/>
                    </a:solidFill>
                    <a:effectLst/>
                    <a:latin typeface="Calibri" panose="020F0502020204030204" pitchFamily="34" charset="0"/>
                  </a:rPr>
                  <a:t>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3" name="Rectangle 51">
                <a:extLst>
                  <a:ext uri="{FF2B5EF4-FFF2-40B4-BE49-F238E27FC236}">
                    <a16:creationId xmlns:a16="http://schemas.microsoft.com/office/drawing/2014/main" id="{94556590-F2B3-4D6F-87D1-3B220F8AC702}"/>
                  </a:ext>
                </a:extLst>
              </p:cNvPr>
              <p:cNvSpPr>
                <a:spLocks noChangeArrowheads="1"/>
              </p:cNvSpPr>
              <p:nvPr/>
            </p:nvSpPr>
            <p:spPr bwMode="auto">
              <a:xfrm>
                <a:off x="2151" y="1621"/>
                <a:ext cx="389"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2 mois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4" name="Rectangle 52">
                <a:extLst>
                  <a:ext uri="{FF2B5EF4-FFF2-40B4-BE49-F238E27FC236}">
                    <a16:creationId xmlns:a16="http://schemas.microsoft.com/office/drawing/2014/main" id="{70686060-C8FD-4561-88A9-CBF5FBE616B9}"/>
                  </a:ext>
                </a:extLst>
              </p:cNvPr>
              <p:cNvSpPr>
                <a:spLocks noChangeArrowheads="1"/>
              </p:cNvSpPr>
              <p:nvPr/>
            </p:nvSpPr>
            <p:spPr bwMode="auto">
              <a:xfrm>
                <a:off x="3398" y="594"/>
                <a:ext cx="100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65 % du plafond C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5" name="Rectangle 53">
                <a:extLst>
                  <a:ext uri="{FF2B5EF4-FFF2-40B4-BE49-F238E27FC236}">
                    <a16:creationId xmlns:a16="http://schemas.microsoft.com/office/drawing/2014/main" id="{79AAACB2-ED1F-4814-84AB-DB9D1549FC8E}"/>
                  </a:ext>
                </a:extLst>
              </p:cNvPr>
              <p:cNvSpPr>
                <a:spLocks noChangeArrowheads="1"/>
              </p:cNvSpPr>
              <p:nvPr/>
            </p:nvSpPr>
            <p:spPr bwMode="auto">
              <a:xfrm>
                <a:off x="3398" y="1279"/>
                <a:ext cx="89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60 % du plafond B</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6" name="Rectangle 54">
                <a:extLst>
                  <a:ext uri="{FF2B5EF4-FFF2-40B4-BE49-F238E27FC236}">
                    <a16:creationId xmlns:a16="http://schemas.microsoft.com/office/drawing/2014/main" id="{E548891E-1CCF-419E-BD8F-EC3CA9988D92}"/>
                  </a:ext>
                </a:extLst>
              </p:cNvPr>
              <p:cNvSpPr>
                <a:spLocks noChangeArrowheads="1"/>
              </p:cNvSpPr>
              <p:nvPr/>
            </p:nvSpPr>
            <p:spPr bwMode="auto">
              <a:xfrm>
                <a:off x="4387" y="143"/>
                <a:ext cx="629"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Maximum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7" name="Rectangle 55">
                <a:extLst>
                  <a:ext uri="{FF2B5EF4-FFF2-40B4-BE49-F238E27FC236}">
                    <a16:creationId xmlns:a16="http://schemas.microsoft.com/office/drawing/2014/main" id="{BD0C6354-5044-4E7A-9C8B-BA0A64F0781A}"/>
                  </a:ext>
                </a:extLst>
              </p:cNvPr>
              <p:cNvSpPr>
                <a:spLocks noChangeArrowheads="1"/>
              </p:cNvSpPr>
              <p:nvPr/>
            </p:nvSpPr>
            <p:spPr bwMode="auto">
              <a:xfrm>
                <a:off x="4387" y="303"/>
                <a:ext cx="45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800" b="1" i="1" u="none" strike="noStrike" cap="none" normalizeH="0" baseline="0">
                    <a:ln>
                      <a:noFill/>
                    </a:ln>
                    <a:solidFill>
                      <a:srgbClr val="000000"/>
                    </a:solidFill>
                    <a:effectLst/>
                    <a:latin typeface="Calibri" panose="020F0502020204030204" pitchFamily="34" charset="0"/>
                  </a:rPr>
                  <a:t>barème 01.07.2023</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8" name="Rectangle 56">
                <a:extLst>
                  <a:ext uri="{FF2B5EF4-FFF2-40B4-BE49-F238E27FC236}">
                    <a16:creationId xmlns:a16="http://schemas.microsoft.com/office/drawing/2014/main" id="{CA0E4682-DA74-434E-8EFB-B9F6C5C3F51E}"/>
                  </a:ext>
                </a:extLst>
              </p:cNvPr>
              <p:cNvSpPr>
                <a:spLocks noChangeArrowheads="1"/>
              </p:cNvSpPr>
              <p:nvPr/>
            </p:nvSpPr>
            <p:spPr bwMode="auto">
              <a:xfrm>
                <a:off x="2151" y="183"/>
                <a:ext cx="360"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Durée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79" name="Rectangle 57">
                <a:extLst>
                  <a:ext uri="{FF2B5EF4-FFF2-40B4-BE49-F238E27FC236}">
                    <a16:creationId xmlns:a16="http://schemas.microsoft.com/office/drawing/2014/main" id="{109855EF-1ED2-4FB0-8308-C7C3E0FF321B}"/>
                  </a:ext>
                </a:extLst>
              </p:cNvPr>
              <p:cNvSpPr>
                <a:spLocks noChangeArrowheads="1"/>
              </p:cNvSpPr>
              <p:nvPr/>
            </p:nvSpPr>
            <p:spPr bwMode="auto">
              <a:xfrm>
                <a:off x="2700" y="103"/>
                <a:ext cx="54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Situation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0" name="Rectangle 58">
                <a:extLst>
                  <a:ext uri="{FF2B5EF4-FFF2-40B4-BE49-F238E27FC236}">
                    <a16:creationId xmlns:a16="http://schemas.microsoft.com/office/drawing/2014/main" id="{415F46BF-B97F-42FC-A722-0D02E9BABAEE}"/>
                  </a:ext>
                </a:extLst>
              </p:cNvPr>
              <p:cNvSpPr>
                <a:spLocks noChangeArrowheads="1"/>
              </p:cNvSpPr>
              <p:nvPr/>
            </p:nvSpPr>
            <p:spPr bwMode="auto">
              <a:xfrm>
                <a:off x="2706" y="263"/>
                <a:ext cx="50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familiale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1" name="Rectangle 59">
                <a:extLst>
                  <a:ext uri="{FF2B5EF4-FFF2-40B4-BE49-F238E27FC236}">
                    <a16:creationId xmlns:a16="http://schemas.microsoft.com/office/drawing/2014/main" id="{FA52B971-0EC5-4746-9D6B-3C4C3BB254C8}"/>
                  </a:ext>
                </a:extLst>
              </p:cNvPr>
              <p:cNvSpPr>
                <a:spLocks noChangeArrowheads="1"/>
              </p:cNvSpPr>
              <p:nvPr/>
            </p:nvSpPr>
            <p:spPr bwMode="auto">
              <a:xfrm>
                <a:off x="3249" y="183"/>
                <a:ext cx="113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 du salaire plafonné</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2" name="Rectangle 60">
                <a:extLst>
                  <a:ext uri="{FF2B5EF4-FFF2-40B4-BE49-F238E27FC236}">
                    <a16:creationId xmlns:a16="http://schemas.microsoft.com/office/drawing/2014/main" id="{ACE47A0E-7CC8-4772-AFEA-C19C12F4FE6F}"/>
                  </a:ext>
                </a:extLst>
              </p:cNvPr>
              <p:cNvSpPr>
                <a:spLocks noChangeArrowheads="1"/>
              </p:cNvSpPr>
              <p:nvPr/>
            </p:nvSpPr>
            <p:spPr bwMode="auto">
              <a:xfrm>
                <a:off x="1522" y="183"/>
                <a:ext cx="360"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1" i="1" u="none" strike="noStrike" cap="none" normalizeH="0" baseline="0">
                    <a:ln>
                      <a:noFill/>
                    </a:ln>
                    <a:solidFill>
                      <a:srgbClr val="000000"/>
                    </a:solidFill>
                    <a:effectLst/>
                    <a:latin typeface="Calibri" panose="020F0502020204030204" pitchFamily="34" charset="0"/>
                  </a:rPr>
                  <a:t>Phase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3" name="Rectangle 61">
                <a:extLst>
                  <a:ext uri="{FF2B5EF4-FFF2-40B4-BE49-F238E27FC236}">
                    <a16:creationId xmlns:a16="http://schemas.microsoft.com/office/drawing/2014/main" id="{07FEAEED-6F51-40A2-B607-972DE452557B}"/>
                  </a:ext>
                </a:extLst>
              </p:cNvPr>
              <p:cNvSpPr>
                <a:spLocks noChangeArrowheads="1"/>
              </p:cNvSpPr>
              <p:nvPr/>
            </p:nvSpPr>
            <p:spPr bwMode="auto">
              <a:xfrm rot="16200000">
                <a:off x="3910" y="2757"/>
                <a:ext cx="1235"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Montant de base - (n/5 x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4" name="Rectangle 62">
                <a:extLst>
                  <a:ext uri="{FF2B5EF4-FFF2-40B4-BE49-F238E27FC236}">
                    <a16:creationId xmlns:a16="http://schemas.microsoft.com/office/drawing/2014/main" id="{909BB02A-89D0-4ACB-91BC-69D43FD1CBEC}"/>
                  </a:ext>
                </a:extLst>
              </p:cNvPr>
              <p:cNvSpPr>
                <a:spLocks noChangeArrowheads="1"/>
              </p:cNvSpPr>
              <p:nvPr/>
            </p:nvSpPr>
            <p:spPr bwMode="auto">
              <a:xfrm rot="16200000">
                <a:off x="4030" y="2762"/>
                <a:ext cx="128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(montant de base - forfait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5" name="Rectangle 63">
                <a:extLst>
                  <a:ext uri="{FF2B5EF4-FFF2-40B4-BE49-F238E27FC236}">
                    <a16:creationId xmlns:a16="http://schemas.microsoft.com/office/drawing/2014/main" id="{03953324-4C21-41A6-9CDD-3BC0521484EA}"/>
                  </a:ext>
                </a:extLst>
              </p:cNvPr>
              <p:cNvSpPr>
                <a:spLocks noChangeArrowheads="1"/>
              </p:cNvSpPr>
              <p:nvPr/>
            </p:nvSpPr>
            <p:spPr bwMode="auto">
              <a:xfrm rot="16200000">
                <a:off x="4614" y="2798"/>
                <a:ext cx="40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réduit))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6" name="Rectangle 64">
                <a:extLst>
                  <a:ext uri="{FF2B5EF4-FFF2-40B4-BE49-F238E27FC236}">
                    <a16:creationId xmlns:a16="http://schemas.microsoft.com/office/drawing/2014/main" id="{B47FCA34-4FEC-4116-A66F-FE896B8485CF}"/>
                  </a:ext>
                </a:extLst>
              </p:cNvPr>
              <p:cNvSpPr>
                <a:spLocks noChangeArrowheads="1"/>
              </p:cNvSpPr>
              <p:nvPr/>
            </p:nvSpPr>
            <p:spPr bwMode="auto">
              <a:xfrm>
                <a:off x="3369" y="1809"/>
                <a:ext cx="955"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55 % du plafond AY</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7" name="Rectangle 65">
                <a:extLst>
                  <a:ext uri="{FF2B5EF4-FFF2-40B4-BE49-F238E27FC236}">
                    <a16:creationId xmlns:a16="http://schemas.microsoft.com/office/drawing/2014/main" id="{FC051878-E21B-4A54-A922-6860ED416EF1}"/>
                  </a:ext>
                </a:extLst>
              </p:cNvPr>
              <p:cNvSpPr>
                <a:spLocks noChangeArrowheads="1"/>
              </p:cNvSpPr>
              <p:nvPr/>
            </p:nvSpPr>
            <p:spPr bwMode="auto">
              <a:xfrm>
                <a:off x="3392" y="2054"/>
                <a:ext cx="904"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40 % du plafond A</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8" name="Rectangle 66">
                <a:extLst>
                  <a:ext uri="{FF2B5EF4-FFF2-40B4-BE49-F238E27FC236}">
                    <a16:creationId xmlns:a16="http://schemas.microsoft.com/office/drawing/2014/main" id="{83E9916E-7E95-4821-B2E1-EF422920CE71}"/>
                  </a:ext>
                </a:extLst>
              </p:cNvPr>
              <p:cNvSpPr>
                <a:spLocks noChangeArrowheads="1"/>
              </p:cNvSpPr>
              <p:nvPr/>
            </p:nvSpPr>
            <p:spPr bwMode="auto">
              <a:xfrm>
                <a:off x="4416" y="1518"/>
                <a:ext cx="51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1690,26 €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9" name="Rectangle 67">
                <a:extLst>
                  <a:ext uri="{FF2B5EF4-FFF2-40B4-BE49-F238E27FC236}">
                    <a16:creationId xmlns:a16="http://schemas.microsoft.com/office/drawing/2014/main" id="{4521B9C6-954A-4B6F-B18F-A978F40A88FD}"/>
                  </a:ext>
                </a:extLst>
              </p:cNvPr>
              <p:cNvSpPr>
                <a:spLocks noChangeArrowheads="1"/>
              </p:cNvSpPr>
              <p:nvPr/>
            </p:nvSpPr>
            <p:spPr bwMode="auto">
              <a:xfrm>
                <a:off x="4519" y="1661"/>
                <a:ext cx="2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a:ln>
                      <a:noFill/>
                    </a:ln>
                    <a:solidFill>
                      <a:srgbClr val="000000"/>
                    </a:solidFill>
                    <a:effectLst/>
                    <a:latin typeface="Calibri" panose="020F0502020204030204" pitchFamily="34" charset="0"/>
                  </a:rPr>
                  <a:t>(</a:t>
                </a:r>
                <a:r>
                  <a:rPr lang="fr-FR" altLang="fr-FR" sz="900" b="1" i="1">
                    <a:solidFill>
                      <a:srgbClr val="000000"/>
                    </a:solidFill>
                    <a:latin typeface="Calibri" panose="020F0502020204030204" pitchFamily="34" charset="0"/>
                  </a:rPr>
                  <a:t>65</a:t>
                </a:r>
                <a:r>
                  <a:rPr kumimoji="0" lang="fr-FR" altLang="fr-FR" sz="900" b="1" i="1" u="none" strike="noStrike" cap="none" normalizeH="0" baseline="0">
                    <a:ln>
                      <a:noFill/>
                    </a:ln>
                    <a:solidFill>
                      <a:srgbClr val="000000"/>
                    </a:solidFill>
                    <a:effectLst/>
                    <a:latin typeface="Calibri" panose="020F0502020204030204" pitchFamily="34" charset="0"/>
                  </a:rPr>
                  <a:t>,01 €)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0" name="Rectangle 68">
                <a:extLst>
                  <a:ext uri="{FF2B5EF4-FFF2-40B4-BE49-F238E27FC236}">
                    <a16:creationId xmlns:a16="http://schemas.microsoft.com/office/drawing/2014/main" id="{D7F00429-33D1-4A65-9B7C-87409B94E707}"/>
                  </a:ext>
                </a:extLst>
              </p:cNvPr>
              <p:cNvSpPr>
                <a:spLocks noChangeArrowheads="1"/>
              </p:cNvSpPr>
              <p:nvPr/>
            </p:nvSpPr>
            <p:spPr bwMode="auto">
              <a:xfrm>
                <a:off x="4416" y="1763"/>
                <a:ext cx="49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1515,54€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1" name="Rectangle 69">
                <a:extLst>
                  <a:ext uri="{FF2B5EF4-FFF2-40B4-BE49-F238E27FC236}">
                    <a16:creationId xmlns:a16="http://schemas.microsoft.com/office/drawing/2014/main" id="{732AEF1D-225D-47CA-ADF4-150498F5766C}"/>
                  </a:ext>
                </a:extLst>
              </p:cNvPr>
              <p:cNvSpPr>
                <a:spLocks noChangeArrowheads="1"/>
              </p:cNvSpPr>
              <p:nvPr/>
            </p:nvSpPr>
            <p:spPr bwMode="auto">
              <a:xfrm>
                <a:off x="4519" y="1906"/>
                <a:ext cx="2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a:ln>
                      <a:noFill/>
                    </a:ln>
                    <a:solidFill>
                      <a:srgbClr val="000000"/>
                    </a:solidFill>
                    <a:effectLst/>
                    <a:latin typeface="Calibri" panose="020F0502020204030204" pitchFamily="34" charset="0"/>
                  </a:rPr>
                  <a:t>(58,29 €)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2" name="Rectangle 70">
                <a:extLst>
                  <a:ext uri="{FF2B5EF4-FFF2-40B4-BE49-F238E27FC236}">
                    <a16:creationId xmlns:a16="http://schemas.microsoft.com/office/drawing/2014/main" id="{B8D3C298-87B6-4608-AF7B-E239D7896483}"/>
                  </a:ext>
                </a:extLst>
              </p:cNvPr>
              <p:cNvSpPr>
                <a:spLocks noChangeArrowheads="1"/>
              </p:cNvSpPr>
              <p:nvPr/>
            </p:nvSpPr>
            <p:spPr bwMode="auto">
              <a:xfrm>
                <a:off x="4450" y="2009"/>
                <a:ext cx="44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fr-FR" altLang="fr-FR" sz="1400" i="1">
                    <a:solidFill>
                      <a:srgbClr val="000000"/>
                    </a:solidFill>
                    <a:latin typeface="Calibri" panose="020F0502020204030204" pitchFamily="34" charset="0"/>
                  </a:rPr>
                  <a:t>1126,</a:t>
                </a:r>
                <a:r>
                  <a:rPr kumimoji="0" lang="fr-FR" altLang="fr-FR" sz="1400" b="0" i="1" u="none" strike="noStrike" cap="none" normalizeH="0" baseline="0">
                    <a:ln>
                      <a:noFill/>
                    </a:ln>
                    <a:solidFill>
                      <a:srgbClr val="000000"/>
                    </a:solidFill>
                    <a:effectLst/>
                    <a:latin typeface="Calibri" panose="020F0502020204030204" pitchFamily="34" charset="0"/>
                  </a:rPr>
                  <a:t>84€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3" name="Rectangle 71">
                <a:extLst>
                  <a:ext uri="{FF2B5EF4-FFF2-40B4-BE49-F238E27FC236}">
                    <a16:creationId xmlns:a16="http://schemas.microsoft.com/office/drawing/2014/main" id="{762C4A3B-E568-4CE8-84DD-FAEDAF322144}"/>
                  </a:ext>
                </a:extLst>
              </p:cNvPr>
              <p:cNvSpPr>
                <a:spLocks noChangeArrowheads="1"/>
              </p:cNvSpPr>
              <p:nvPr/>
            </p:nvSpPr>
            <p:spPr bwMode="auto">
              <a:xfrm>
                <a:off x="4524" y="2151"/>
                <a:ext cx="2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1" i="1" u="none" strike="noStrike" cap="none" normalizeH="0" baseline="0">
                    <a:ln>
                      <a:noFill/>
                    </a:ln>
                    <a:solidFill>
                      <a:srgbClr val="000000"/>
                    </a:solidFill>
                    <a:effectLst/>
                    <a:latin typeface="Calibri" panose="020F0502020204030204" pitchFamily="34" charset="0"/>
                  </a:rPr>
                  <a:t>(43,34 €)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4" name="Rectangle 72">
                <a:extLst>
                  <a:ext uri="{FF2B5EF4-FFF2-40B4-BE49-F238E27FC236}">
                    <a16:creationId xmlns:a16="http://schemas.microsoft.com/office/drawing/2014/main" id="{5CED8560-4066-4F12-8173-B564CB6CBBE0}"/>
                  </a:ext>
                </a:extLst>
              </p:cNvPr>
              <p:cNvSpPr>
                <a:spLocks noChangeArrowheads="1"/>
              </p:cNvSpPr>
              <p:nvPr/>
            </p:nvSpPr>
            <p:spPr bwMode="auto">
              <a:xfrm>
                <a:off x="1053" y="3852"/>
                <a:ext cx="166"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900" b="0" i="1" u="none" strike="noStrike" cap="none" normalizeH="0" baseline="0">
                    <a:ln>
                      <a:noFill/>
                    </a:ln>
                    <a:solidFill>
                      <a:srgbClr val="000000"/>
                    </a:solidFill>
                    <a:effectLst/>
                    <a:latin typeface="Calibri" panose="020F0502020204030204" pitchFamily="34" charset="0"/>
                  </a:rPr>
                  <a:t>3</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5" name="Rectangle 73">
                <a:extLst>
                  <a:ext uri="{FF2B5EF4-FFF2-40B4-BE49-F238E27FC236}">
                    <a16:creationId xmlns:a16="http://schemas.microsoft.com/office/drawing/2014/main" id="{5F054AB5-6AF7-4A3D-9E0D-E473212E3AB3}"/>
                  </a:ext>
                </a:extLst>
              </p:cNvPr>
              <p:cNvSpPr>
                <a:spLocks noChangeArrowheads="1"/>
              </p:cNvSpPr>
              <p:nvPr/>
            </p:nvSpPr>
            <p:spPr bwMode="auto">
              <a:xfrm>
                <a:off x="1499" y="3880"/>
                <a:ext cx="41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1</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6" name="Rectangle 74">
                <a:extLst>
                  <a:ext uri="{FF2B5EF4-FFF2-40B4-BE49-F238E27FC236}">
                    <a16:creationId xmlns:a16="http://schemas.microsoft.com/office/drawing/2014/main" id="{8E338E01-276F-4F34-8C22-06EFABC670A0}"/>
                  </a:ext>
                </a:extLst>
              </p:cNvPr>
              <p:cNvSpPr>
                <a:spLocks noChangeArrowheads="1"/>
              </p:cNvSpPr>
              <p:nvPr/>
            </p:nvSpPr>
            <p:spPr bwMode="auto">
              <a:xfrm>
                <a:off x="2179" y="3892"/>
                <a:ext cx="28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0" u="none" strike="noStrike" cap="none" normalizeH="0" baseline="0">
                    <a:ln>
                      <a:noFill/>
                    </a:ln>
                    <a:solidFill>
                      <a:srgbClr val="000000"/>
                    </a:solidFill>
                    <a:effectLst/>
                    <a:latin typeface="Calibri" panose="020F0502020204030204" pitchFamily="34" charset="0"/>
                  </a:rPr>
                  <a:t>Illimité</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7" name="Rectangle 75">
                <a:extLst>
                  <a:ext uri="{FF2B5EF4-FFF2-40B4-BE49-F238E27FC236}">
                    <a16:creationId xmlns:a16="http://schemas.microsoft.com/office/drawing/2014/main" id="{26484AB3-75C3-4D3A-8BE8-33022E824D2C}"/>
                  </a:ext>
                </a:extLst>
              </p:cNvPr>
              <p:cNvSpPr>
                <a:spLocks noChangeArrowheads="1"/>
              </p:cNvSpPr>
              <p:nvPr/>
            </p:nvSpPr>
            <p:spPr bwMode="auto">
              <a:xfrm>
                <a:off x="3649" y="3880"/>
                <a:ext cx="366"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Forfait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8" name="Rectangle 76">
                <a:extLst>
                  <a:ext uri="{FF2B5EF4-FFF2-40B4-BE49-F238E27FC236}">
                    <a16:creationId xmlns:a16="http://schemas.microsoft.com/office/drawing/2014/main" id="{ACDB8B8E-9316-46E7-A65C-E1925A4E4F16}"/>
                  </a:ext>
                </a:extLst>
              </p:cNvPr>
              <p:cNvSpPr>
                <a:spLocks noChangeArrowheads="1"/>
              </p:cNvSpPr>
              <p:nvPr/>
            </p:nvSpPr>
            <p:spPr bwMode="auto">
              <a:xfrm>
                <a:off x="3249" y="2853"/>
                <a:ext cx="121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Dégressivité semestrielle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9" name="Rectangle 77">
                <a:extLst>
                  <a:ext uri="{FF2B5EF4-FFF2-40B4-BE49-F238E27FC236}">
                    <a16:creationId xmlns:a16="http://schemas.microsoft.com/office/drawing/2014/main" id="{12E845B8-3A84-4513-B82E-187A6336258B}"/>
                  </a:ext>
                </a:extLst>
              </p:cNvPr>
              <p:cNvSpPr>
                <a:spLocks noChangeArrowheads="1"/>
              </p:cNvSpPr>
              <p:nvPr/>
            </p:nvSpPr>
            <p:spPr bwMode="auto">
              <a:xfrm>
                <a:off x="1053" y="2465"/>
                <a:ext cx="166"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900" b="0" i="1" u="none" strike="noStrike" cap="none" normalizeH="0" baseline="0">
                    <a:ln>
                      <a:noFill/>
                    </a:ln>
                    <a:solidFill>
                      <a:srgbClr val="000000"/>
                    </a:solidFill>
                    <a:effectLst/>
                    <a:latin typeface="Calibri" panose="020F0502020204030204" pitchFamily="34" charset="0"/>
                  </a:rPr>
                  <a:t>2</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0" name="Rectangle 78">
                <a:extLst>
                  <a:ext uri="{FF2B5EF4-FFF2-40B4-BE49-F238E27FC236}">
                    <a16:creationId xmlns:a16="http://schemas.microsoft.com/office/drawing/2014/main" id="{92F31707-0783-4C4D-A7EC-DE553C71C5FB}"/>
                  </a:ext>
                </a:extLst>
              </p:cNvPr>
              <p:cNvSpPr>
                <a:spLocks noChangeArrowheads="1"/>
              </p:cNvSpPr>
              <p:nvPr/>
            </p:nvSpPr>
            <p:spPr bwMode="auto">
              <a:xfrm>
                <a:off x="1453" y="1980"/>
                <a:ext cx="50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1" u="none" strike="noStrike" cap="none" normalizeH="0" baseline="0">
                    <a:ln>
                      <a:noFill/>
                    </a:ln>
                    <a:solidFill>
                      <a:srgbClr val="000000"/>
                    </a:solidFill>
                    <a:effectLst/>
                    <a:latin typeface="Calibri" panose="020F0502020204030204" pitchFamily="34" charset="0"/>
                  </a:rPr>
                  <a:t>Phase 2.0</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1" name="Rectangle 79">
                <a:extLst>
                  <a:ext uri="{FF2B5EF4-FFF2-40B4-BE49-F238E27FC236}">
                    <a16:creationId xmlns:a16="http://schemas.microsoft.com/office/drawing/2014/main" id="{B1008380-215D-4A95-BD88-F191A880321A}"/>
                  </a:ext>
                </a:extLst>
              </p:cNvPr>
              <p:cNvSpPr>
                <a:spLocks noChangeArrowheads="1"/>
              </p:cNvSpPr>
              <p:nvPr/>
            </p:nvSpPr>
            <p:spPr bwMode="auto">
              <a:xfrm>
                <a:off x="2013" y="1980"/>
                <a:ext cx="68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Max. 10 mois</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2" name="Rectangle 80">
                <a:extLst>
                  <a:ext uri="{FF2B5EF4-FFF2-40B4-BE49-F238E27FC236}">
                    <a16:creationId xmlns:a16="http://schemas.microsoft.com/office/drawing/2014/main" id="{1CDE563A-5560-4776-B5D5-898CBEEB25B6}"/>
                  </a:ext>
                </a:extLst>
              </p:cNvPr>
              <p:cNvSpPr>
                <a:spLocks noChangeArrowheads="1"/>
              </p:cNvSpPr>
              <p:nvPr/>
            </p:nvSpPr>
            <p:spPr bwMode="auto">
              <a:xfrm>
                <a:off x="2666" y="2779"/>
                <a:ext cx="1161"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3" name="Rectangle 81">
                <a:extLst>
                  <a:ext uri="{FF2B5EF4-FFF2-40B4-BE49-F238E27FC236}">
                    <a16:creationId xmlns:a16="http://schemas.microsoft.com/office/drawing/2014/main" id="{B076CAA6-0EEB-4547-A880-20A4CFA72267}"/>
                  </a:ext>
                </a:extLst>
              </p:cNvPr>
              <p:cNvSpPr>
                <a:spLocks noChangeArrowheads="1"/>
              </p:cNvSpPr>
              <p:nvPr/>
            </p:nvSpPr>
            <p:spPr bwMode="auto">
              <a:xfrm>
                <a:off x="2666" y="2876"/>
                <a:ext cx="372"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4" name="Rectangle 82">
                <a:extLst>
                  <a:ext uri="{FF2B5EF4-FFF2-40B4-BE49-F238E27FC236}">
                    <a16:creationId xmlns:a16="http://schemas.microsoft.com/office/drawing/2014/main" id="{D5264CBF-DED5-4C73-8E58-E7D25B7156E4}"/>
                  </a:ext>
                </a:extLst>
              </p:cNvPr>
              <p:cNvSpPr>
                <a:spLocks noChangeArrowheads="1"/>
              </p:cNvSpPr>
              <p:nvPr/>
            </p:nvSpPr>
            <p:spPr bwMode="auto">
              <a:xfrm>
                <a:off x="2666" y="2973"/>
                <a:ext cx="40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5" name="Rectangle 83">
                <a:extLst>
                  <a:ext uri="{FF2B5EF4-FFF2-40B4-BE49-F238E27FC236}">
                    <a16:creationId xmlns:a16="http://schemas.microsoft.com/office/drawing/2014/main" id="{080B74FE-01DF-494F-9963-CFFBC59FECC3}"/>
                  </a:ext>
                </a:extLst>
              </p:cNvPr>
              <p:cNvSpPr>
                <a:spLocks noChangeArrowheads="1"/>
              </p:cNvSpPr>
              <p:nvPr/>
            </p:nvSpPr>
            <p:spPr bwMode="auto">
              <a:xfrm>
                <a:off x="2666" y="2077"/>
                <a:ext cx="40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Cohabitant</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6" name="Rectangle 84">
                <a:extLst>
                  <a:ext uri="{FF2B5EF4-FFF2-40B4-BE49-F238E27FC236}">
                    <a16:creationId xmlns:a16="http://schemas.microsoft.com/office/drawing/2014/main" id="{6F61B741-9966-4078-B996-1C4EC5810014}"/>
                  </a:ext>
                </a:extLst>
              </p:cNvPr>
              <p:cNvSpPr>
                <a:spLocks noChangeArrowheads="1"/>
              </p:cNvSpPr>
              <p:nvPr/>
            </p:nvSpPr>
            <p:spPr bwMode="auto">
              <a:xfrm>
                <a:off x="2666" y="1832"/>
                <a:ext cx="189"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Isolé</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7" name="Rectangle 85">
                <a:extLst>
                  <a:ext uri="{FF2B5EF4-FFF2-40B4-BE49-F238E27FC236}">
                    <a16:creationId xmlns:a16="http://schemas.microsoft.com/office/drawing/2014/main" id="{173E6C43-5B69-448D-B3B4-236DC5B4F379}"/>
                  </a:ext>
                </a:extLst>
              </p:cNvPr>
              <p:cNvSpPr>
                <a:spLocks noChangeArrowheads="1"/>
              </p:cNvSpPr>
              <p:nvPr/>
            </p:nvSpPr>
            <p:spPr bwMode="auto">
              <a:xfrm>
                <a:off x="2666" y="1587"/>
                <a:ext cx="566"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900" b="0" i="0" u="none" strike="noStrike" cap="none" normalizeH="0" baseline="0">
                    <a:ln>
                      <a:noFill/>
                    </a:ln>
                    <a:solidFill>
                      <a:srgbClr val="000000"/>
                    </a:solidFill>
                    <a:effectLst/>
                    <a:latin typeface="Calibri" panose="020F0502020204030204" pitchFamily="34" charset="0"/>
                  </a:rPr>
                  <a:t>Chef de ménage</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8" name="Rectangle 86">
                <a:extLst>
                  <a:ext uri="{FF2B5EF4-FFF2-40B4-BE49-F238E27FC236}">
                    <a16:creationId xmlns:a16="http://schemas.microsoft.com/office/drawing/2014/main" id="{29752423-68D9-406C-8078-F571A1E229B0}"/>
                  </a:ext>
                </a:extLst>
              </p:cNvPr>
              <p:cNvSpPr>
                <a:spLocks noChangeArrowheads="1"/>
              </p:cNvSpPr>
              <p:nvPr/>
            </p:nvSpPr>
            <p:spPr bwMode="auto">
              <a:xfrm>
                <a:off x="3392" y="1564"/>
                <a:ext cx="904"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a:ln>
                      <a:noFill/>
                    </a:ln>
                    <a:solidFill>
                      <a:srgbClr val="000000"/>
                    </a:solidFill>
                    <a:effectLst/>
                    <a:latin typeface="Calibri" panose="020F0502020204030204" pitchFamily="34" charset="0"/>
                  </a:rPr>
                  <a:t>60 % du plafond A</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9" name="Line 87">
                <a:extLst>
                  <a:ext uri="{FF2B5EF4-FFF2-40B4-BE49-F238E27FC236}">
                    <a16:creationId xmlns:a16="http://schemas.microsoft.com/office/drawing/2014/main" id="{2B12823F-48A7-4DFB-8ADA-07CE5612A6A8}"/>
                  </a:ext>
                </a:extLst>
              </p:cNvPr>
              <p:cNvSpPr>
                <a:spLocks noChangeShapeType="1"/>
              </p:cNvSpPr>
              <p:nvPr/>
            </p:nvSpPr>
            <p:spPr bwMode="auto">
              <a:xfrm flipV="1">
                <a:off x="818" y="2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10" name="Rectangle 88">
                <a:extLst>
                  <a:ext uri="{FF2B5EF4-FFF2-40B4-BE49-F238E27FC236}">
                    <a16:creationId xmlns:a16="http://schemas.microsoft.com/office/drawing/2014/main" id="{6D53B63B-4B2C-4D3C-916B-1F57809916F7}"/>
                  </a:ext>
                </a:extLst>
              </p:cNvPr>
              <p:cNvSpPr>
                <a:spLocks noChangeArrowheads="1"/>
              </p:cNvSpPr>
              <p:nvPr/>
            </p:nvSpPr>
            <p:spPr bwMode="auto">
              <a:xfrm>
                <a:off x="818" y="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1" name="Line 89">
                <a:extLst>
                  <a:ext uri="{FF2B5EF4-FFF2-40B4-BE49-F238E27FC236}">
                    <a16:creationId xmlns:a16="http://schemas.microsoft.com/office/drawing/2014/main" id="{9A790357-E480-4E01-890A-D6AA44FAEBBF}"/>
                  </a:ext>
                </a:extLst>
              </p:cNvPr>
              <p:cNvSpPr>
                <a:spLocks noChangeShapeType="1"/>
              </p:cNvSpPr>
              <p:nvPr/>
            </p:nvSpPr>
            <p:spPr bwMode="auto">
              <a:xfrm flipV="1">
                <a:off x="1390" y="2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12" name="Rectangle 90">
                <a:extLst>
                  <a:ext uri="{FF2B5EF4-FFF2-40B4-BE49-F238E27FC236}">
                    <a16:creationId xmlns:a16="http://schemas.microsoft.com/office/drawing/2014/main" id="{01ACE764-36BC-41B9-8E5B-94C874795D34}"/>
                  </a:ext>
                </a:extLst>
              </p:cNvPr>
              <p:cNvSpPr>
                <a:spLocks noChangeArrowheads="1"/>
              </p:cNvSpPr>
              <p:nvPr/>
            </p:nvSpPr>
            <p:spPr bwMode="auto">
              <a:xfrm>
                <a:off x="1390" y="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3" name="Line 91">
                <a:extLst>
                  <a:ext uri="{FF2B5EF4-FFF2-40B4-BE49-F238E27FC236}">
                    <a16:creationId xmlns:a16="http://schemas.microsoft.com/office/drawing/2014/main" id="{59CA80BF-43BE-4AC1-9BD2-7F93596B6CFE}"/>
                  </a:ext>
                </a:extLst>
              </p:cNvPr>
              <p:cNvSpPr>
                <a:spLocks noChangeShapeType="1"/>
              </p:cNvSpPr>
              <p:nvPr/>
            </p:nvSpPr>
            <p:spPr bwMode="auto">
              <a:xfrm flipV="1">
                <a:off x="1962" y="2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14" name="Rectangle 92">
                <a:extLst>
                  <a:ext uri="{FF2B5EF4-FFF2-40B4-BE49-F238E27FC236}">
                    <a16:creationId xmlns:a16="http://schemas.microsoft.com/office/drawing/2014/main" id="{1BD2E9DC-1136-441C-99A8-FCEB289A5551}"/>
                  </a:ext>
                </a:extLst>
              </p:cNvPr>
              <p:cNvSpPr>
                <a:spLocks noChangeArrowheads="1"/>
              </p:cNvSpPr>
              <p:nvPr/>
            </p:nvSpPr>
            <p:spPr bwMode="auto">
              <a:xfrm>
                <a:off x="1962" y="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5" name="Line 93">
                <a:extLst>
                  <a:ext uri="{FF2B5EF4-FFF2-40B4-BE49-F238E27FC236}">
                    <a16:creationId xmlns:a16="http://schemas.microsoft.com/office/drawing/2014/main" id="{E138DBC5-FDD0-4906-894C-19A3B441C42B}"/>
                  </a:ext>
                </a:extLst>
              </p:cNvPr>
              <p:cNvSpPr>
                <a:spLocks noChangeShapeType="1"/>
              </p:cNvSpPr>
              <p:nvPr/>
            </p:nvSpPr>
            <p:spPr bwMode="auto">
              <a:xfrm flipV="1">
                <a:off x="2648" y="2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16" name="Rectangle 94">
                <a:extLst>
                  <a:ext uri="{FF2B5EF4-FFF2-40B4-BE49-F238E27FC236}">
                    <a16:creationId xmlns:a16="http://schemas.microsoft.com/office/drawing/2014/main" id="{DD411AF3-BE0B-40E7-BCB8-5C7183DC0123}"/>
                  </a:ext>
                </a:extLst>
              </p:cNvPr>
              <p:cNvSpPr>
                <a:spLocks noChangeArrowheads="1"/>
              </p:cNvSpPr>
              <p:nvPr/>
            </p:nvSpPr>
            <p:spPr bwMode="auto">
              <a:xfrm>
                <a:off x="2648" y="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7" name="Line 95">
                <a:extLst>
                  <a:ext uri="{FF2B5EF4-FFF2-40B4-BE49-F238E27FC236}">
                    <a16:creationId xmlns:a16="http://schemas.microsoft.com/office/drawing/2014/main" id="{5BB259CA-99BC-4EB0-A93A-54410FA61CDA}"/>
                  </a:ext>
                </a:extLst>
              </p:cNvPr>
              <p:cNvSpPr>
                <a:spLocks noChangeShapeType="1"/>
              </p:cNvSpPr>
              <p:nvPr/>
            </p:nvSpPr>
            <p:spPr bwMode="auto">
              <a:xfrm flipV="1">
                <a:off x="3220" y="2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18" name="Rectangle 96">
                <a:extLst>
                  <a:ext uri="{FF2B5EF4-FFF2-40B4-BE49-F238E27FC236}">
                    <a16:creationId xmlns:a16="http://schemas.microsoft.com/office/drawing/2014/main" id="{26798C4C-1F65-45BB-8F7C-5BBDAABC26C2}"/>
                  </a:ext>
                </a:extLst>
              </p:cNvPr>
              <p:cNvSpPr>
                <a:spLocks noChangeArrowheads="1"/>
              </p:cNvSpPr>
              <p:nvPr/>
            </p:nvSpPr>
            <p:spPr bwMode="auto">
              <a:xfrm>
                <a:off x="3220" y="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9" name="Line 97">
                <a:extLst>
                  <a:ext uri="{FF2B5EF4-FFF2-40B4-BE49-F238E27FC236}">
                    <a16:creationId xmlns:a16="http://schemas.microsoft.com/office/drawing/2014/main" id="{8A2570C2-4BC8-4C15-9DF4-E9F314CDF100}"/>
                  </a:ext>
                </a:extLst>
              </p:cNvPr>
              <p:cNvSpPr>
                <a:spLocks noChangeShapeType="1"/>
              </p:cNvSpPr>
              <p:nvPr/>
            </p:nvSpPr>
            <p:spPr bwMode="auto">
              <a:xfrm flipV="1">
                <a:off x="4364" y="2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20" name="Rectangle 98">
                <a:extLst>
                  <a:ext uri="{FF2B5EF4-FFF2-40B4-BE49-F238E27FC236}">
                    <a16:creationId xmlns:a16="http://schemas.microsoft.com/office/drawing/2014/main" id="{8D4C063C-7C62-4B66-8D59-96118B36C7D4}"/>
                  </a:ext>
                </a:extLst>
              </p:cNvPr>
              <p:cNvSpPr>
                <a:spLocks noChangeArrowheads="1"/>
              </p:cNvSpPr>
              <p:nvPr/>
            </p:nvSpPr>
            <p:spPr bwMode="auto">
              <a:xfrm>
                <a:off x="4364" y="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1" name="Rectangle 99">
                <a:extLst>
                  <a:ext uri="{FF2B5EF4-FFF2-40B4-BE49-F238E27FC236}">
                    <a16:creationId xmlns:a16="http://schemas.microsoft.com/office/drawing/2014/main" id="{7B966EA9-DE00-4316-9FB5-F45ECA205F33}"/>
                  </a:ext>
                </a:extLst>
              </p:cNvPr>
              <p:cNvSpPr>
                <a:spLocks noChangeArrowheads="1"/>
              </p:cNvSpPr>
              <p:nvPr/>
            </p:nvSpPr>
            <p:spPr bwMode="auto">
              <a:xfrm>
                <a:off x="824" y="23"/>
                <a:ext cx="4118"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2" name="Line 100">
                <a:extLst>
                  <a:ext uri="{FF2B5EF4-FFF2-40B4-BE49-F238E27FC236}">
                    <a16:creationId xmlns:a16="http://schemas.microsoft.com/office/drawing/2014/main" id="{8B064B51-3A09-41AA-9ABD-8333E63F0DF8}"/>
                  </a:ext>
                </a:extLst>
              </p:cNvPr>
              <p:cNvSpPr>
                <a:spLocks noChangeShapeType="1"/>
              </p:cNvSpPr>
              <p:nvPr/>
            </p:nvSpPr>
            <p:spPr bwMode="auto">
              <a:xfrm flipV="1">
                <a:off x="4936" y="2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23" name="Rectangle 101">
                <a:extLst>
                  <a:ext uri="{FF2B5EF4-FFF2-40B4-BE49-F238E27FC236}">
                    <a16:creationId xmlns:a16="http://schemas.microsoft.com/office/drawing/2014/main" id="{13F8D839-A4DF-4430-937F-016B333A7B09}"/>
                  </a:ext>
                </a:extLst>
              </p:cNvPr>
              <p:cNvSpPr>
                <a:spLocks noChangeArrowheads="1"/>
              </p:cNvSpPr>
              <p:nvPr/>
            </p:nvSpPr>
            <p:spPr bwMode="auto">
              <a:xfrm>
                <a:off x="4936" y="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4" name="Line 102">
                <a:extLst>
                  <a:ext uri="{FF2B5EF4-FFF2-40B4-BE49-F238E27FC236}">
                    <a16:creationId xmlns:a16="http://schemas.microsoft.com/office/drawing/2014/main" id="{567F576A-4264-488A-B225-5D0B9E9A308B}"/>
                  </a:ext>
                </a:extLst>
              </p:cNvPr>
              <p:cNvSpPr>
                <a:spLocks noChangeShapeType="1"/>
              </p:cNvSpPr>
              <p:nvPr/>
            </p:nvSpPr>
            <p:spPr bwMode="auto">
              <a:xfrm>
                <a:off x="824" y="485"/>
                <a:ext cx="4107"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25" name="Rectangle 103">
                <a:extLst>
                  <a:ext uri="{FF2B5EF4-FFF2-40B4-BE49-F238E27FC236}">
                    <a16:creationId xmlns:a16="http://schemas.microsoft.com/office/drawing/2014/main" id="{00E79260-155A-4A2D-9507-4F1DF6F3F4A9}"/>
                  </a:ext>
                </a:extLst>
              </p:cNvPr>
              <p:cNvSpPr>
                <a:spLocks noChangeArrowheads="1"/>
              </p:cNvSpPr>
              <p:nvPr/>
            </p:nvSpPr>
            <p:spPr bwMode="auto">
              <a:xfrm>
                <a:off x="824" y="485"/>
                <a:ext cx="410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6" name="Rectangle 104">
                <a:extLst>
                  <a:ext uri="{FF2B5EF4-FFF2-40B4-BE49-F238E27FC236}">
                    <a16:creationId xmlns:a16="http://schemas.microsoft.com/office/drawing/2014/main" id="{C75E61B2-FCBD-43C1-8A87-3F330C6121CB}"/>
                  </a:ext>
                </a:extLst>
              </p:cNvPr>
              <p:cNvSpPr>
                <a:spLocks noChangeArrowheads="1"/>
              </p:cNvSpPr>
              <p:nvPr/>
            </p:nvSpPr>
            <p:spPr bwMode="auto">
              <a:xfrm>
                <a:off x="1396" y="828"/>
                <a:ext cx="56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7" name="Rectangle 105">
                <a:extLst>
                  <a:ext uri="{FF2B5EF4-FFF2-40B4-BE49-F238E27FC236}">
                    <a16:creationId xmlns:a16="http://schemas.microsoft.com/office/drawing/2014/main" id="{A04FF625-5826-4124-ABBB-10A3A912343F}"/>
                  </a:ext>
                </a:extLst>
              </p:cNvPr>
              <p:cNvSpPr>
                <a:spLocks noChangeArrowheads="1"/>
              </p:cNvSpPr>
              <p:nvPr/>
            </p:nvSpPr>
            <p:spPr bwMode="auto">
              <a:xfrm>
                <a:off x="1968" y="828"/>
                <a:ext cx="68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8" name="Rectangle 106">
                <a:extLst>
                  <a:ext uri="{FF2B5EF4-FFF2-40B4-BE49-F238E27FC236}">
                    <a16:creationId xmlns:a16="http://schemas.microsoft.com/office/drawing/2014/main" id="{BAB90F8F-8E3D-4B1B-A882-DBC0BB42671A}"/>
                  </a:ext>
                </a:extLst>
              </p:cNvPr>
              <p:cNvSpPr>
                <a:spLocks noChangeArrowheads="1"/>
              </p:cNvSpPr>
              <p:nvPr/>
            </p:nvSpPr>
            <p:spPr bwMode="auto">
              <a:xfrm>
                <a:off x="2654" y="828"/>
                <a:ext cx="56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29" name="Rectangle 107">
                <a:extLst>
                  <a:ext uri="{FF2B5EF4-FFF2-40B4-BE49-F238E27FC236}">
                    <a16:creationId xmlns:a16="http://schemas.microsoft.com/office/drawing/2014/main" id="{DF359CEF-0F0B-454A-8CA7-2059629C91BC}"/>
                  </a:ext>
                </a:extLst>
              </p:cNvPr>
              <p:cNvSpPr>
                <a:spLocks noChangeArrowheads="1"/>
              </p:cNvSpPr>
              <p:nvPr/>
            </p:nvSpPr>
            <p:spPr bwMode="auto">
              <a:xfrm>
                <a:off x="3226" y="828"/>
                <a:ext cx="113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0" name="Rectangle 108">
                <a:extLst>
                  <a:ext uri="{FF2B5EF4-FFF2-40B4-BE49-F238E27FC236}">
                    <a16:creationId xmlns:a16="http://schemas.microsoft.com/office/drawing/2014/main" id="{3685C40E-06A0-40EB-8B97-177303F5898B}"/>
                  </a:ext>
                </a:extLst>
              </p:cNvPr>
              <p:cNvSpPr>
                <a:spLocks noChangeArrowheads="1"/>
              </p:cNvSpPr>
              <p:nvPr/>
            </p:nvSpPr>
            <p:spPr bwMode="auto">
              <a:xfrm>
                <a:off x="4370" y="828"/>
                <a:ext cx="56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1" name="Rectangle 109">
                <a:extLst>
                  <a:ext uri="{FF2B5EF4-FFF2-40B4-BE49-F238E27FC236}">
                    <a16:creationId xmlns:a16="http://schemas.microsoft.com/office/drawing/2014/main" id="{F814C325-C763-4B06-AA00-A81FE241C28C}"/>
                  </a:ext>
                </a:extLst>
              </p:cNvPr>
              <p:cNvSpPr>
                <a:spLocks noChangeArrowheads="1"/>
              </p:cNvSpPr>
              <p:nvPr/>
            </p:nvSpPr>
            <p:spPr bwMode="auto">
              <a:xfrm>
                <a:off x="1396" y="1170"/>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2" name="Rectangle 110">
                <a:extLst>
                  <a:ext uri="{FF2B5EF4-FFF2-40B4-BE49-F238E27FC236}">
                    <a16:creationId xmlns:a16="http://schemas.microsoft.com/office/drawing/2014/main" id="{62461F47-ECF9-4952-97C7-0F86A359BA46}"/>
                  </a:ext>
                </a:extLst>
              </p:cNvPr>
              <p:cNvSpPr>
                <a:spLocks noChangeArrowheads="1"/>
              </p:cNvSpPr>
              <p:nvPr/>
            </p:nvSpPr>
            <p:spPr bwMode="auto">
              <a:xfrm>
                <a:off x="1968" y="1170"/>
                <a:ext cx="68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3" name="Rectangle 111">
                <a:extLst>
                  <a:ext uri="{FF2B5EF4-FFF2-40B4-BE49-F238E27FC236}">
                    <a16:creationId xmlns:a16="http://schemas.microsoft.com/office/drawing/2014/main" id="{42377DB9-8B22-410D-A111-FB21D9435517}"/>
                  </a:ext>
                </a:extLst>
              </p:cNvPr>
              <p:cNvSpPr>
                <a:spLocks noChangeArrowheads="1"/>
              </p:cNvSpPr>
              <p:nvPr/>
            </p:nvSpPr>
            <p:spPr bwMode="auto">
              <a:xfrm>
                <a:off x="2654" y="1170"/>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4" name="Rectangle 112">
                <a:extLst>
                  <a:ext uri="{FF2B5EF4-FFF2-40B4-BE49-F238E27FC236}">
                    <a16:creationId xmlns:a16="http://schemas.microsoft.com/office/drawing/2014/main" id="{4834F2CD-1485-4986-B277-8C4443C6CC77}"/>
                  </a:ext>
                </a:extLst>
              </p:cNvPr>
              <p:cNvSpPr>
                <a:spLocks noChangeArrowheads="1"/>
              </p:cNvSpPr>
              <p:nvPr/>
            </p:nvSpPr>
            <p:spPr bwMode="auto">
              <a:xfrm>
                <a:off x="3226" y="1170"/>
                <a:ext cx="113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5" name="Rectangle 113">
                <a:extLst>
                  <a:ext uri="{FF2B5EF4-FFF2-40B4-BE49-F238E27FC236}">
                    <a16:creationId xmlns:a16="http://schemas.microsoft.com/office/drawing/2014/main" id="{EB7E60E2-DABA-412B-9068-26BC9C1F41A8}"/>
                  </a:ext>
                </a:extLst>
              </p:cNvPr>
              <p:cNvSpPr>
                <a:spLocks noChangeArrowheads="1"/>
              </p:cNvSpPr>
              <p:nvPr/>
            </p:nvSpPr>
            <p:spPr bwMode="auto">
              <a:xfrm>
                <a:off x="4370" y="1170"/>
                <a:ext cx="56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6" name="Line 114">
                <a:extLst>
                  <a:ext uri="{FF2B5EF4-FFF2-40B4-BE49-F238E27FC236}">
                    <a16:creationId xmlns:a16="http://schemas.microsoft.com/office/drawing/2014/main" id="{B4D22CA8-EC97-4DF9-86DF-EF13F8360347}"/>
                  </a:ext>
                </a:extLst>
              </p:cNvPr>
              <p:cNvSpPr>
                <a:spLocks noChangeShapeType="1"/>
              </p:cNvSpPr>
              <p:nvPr/>
            </p:nvSpPr>
            <p:spPr bwMode="auto">
              <a:xfrm>
                <a:off x="1390" y="35"/>
                <a:ext cx="0" cy="147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37" name="Rectangle 115">
                <a:extLst>
                  <a:ext uri="{FF2B5EF4-FFF2-40B4-BE49-F238E27FC236}">
                    <a16:creationId xmlns:a16="http://schemas.microsoft.com/office/drawing/2014/main" id="{2173F0E5-EF82-48CA-9646-4C13BB525499}"/>
                  </a:ext>
                </a:extLst>
              </p:cNvPr>
              <p:cNvSpPr>
                <a:spLocks noChangeArrowheads="1"/>
              </p:cNvSpPr>
              <p:nvPr/>
            </p:nvSpPr>
            <p:spPr bwMode="auto">
              <a:xfrm>
                <a:off x="1390" y="35"/>
                <a:ext cx="6" cy="14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8" name="Line 116">
                <a:extLst>
                  <a:ext uri="{FF2B5EF4-FFF2-40B4-BE49-F238E27FC236}">
                    <a16:creationId xmlns:a16="http://schemas.microsoft.com/office/drawing/2014/main" id="{9944E1EF-AB38-48DC-913A-FEE3F69EF721}"/>
                  </a:ext>
                </a:extLst>
              </p:cNvPr>
              <p:cNvSpPr>
                <a:spLocks noChangeShapeType="1"/>
              </p:cNvSpPr>
              <p:nvPr/>
            </p:nvSpPr>
            <p:spPr bwMode="auto">
              <a:xfrm>
                <a:off x="1962" y="35"/>
                <a:ext cx="0" cy="147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39" name="Rectangle 117">
                <a:extLst>
                  <a:ext uri="{FF2B5EF4-FFF2-40B4-BE49-F238E27FC236}">
                    <a16:creationId xmlns:a16="http://schemas.microsoft.com/office/drawing/2014/main" id="{E90E4478-7D91-4074-BF43-15FF3B3F7C29}"/>
                  </a:ext>
                </a:extLst>
              </p:cNvPr>
              <p:cNvSpPr>
                <a:spLocks noChangeArrowheads="1"/>
              </p:cNvSpPr>
              <p:nvPr/>
            </p:nvSpPr>
            <p:spPr bwMode="auto">
              <a:xfrm>
                <a:off x="1962" y="35"/>
                <a:ext cx="6" cy="14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0" name="Line 118">
                <a:extLst>
                  <a:ext uri="{FF2B5EF4-FFF2-40B4-BE49-F238E27FC236}">
                    <a16:creationId xmlns:a16="http://schemas.microsoft.com/office/drawing/2014/main" id="{188E2D12-33F5-437D-B670-7CAD9D57B49B}"/>
                  </a:ext>
                </a:extLst>
              </p:cNvPr>
              <p:cNvSpPr>
                <a:spLocks noChangeShapeType="1"/>
              </p:cNvSpPr>
              <p:nvPr/>
            </p:nvSpPr>
            <p:spPr bwMode="auto">
              <a:xfrm>
                <a:off x="2648" y="35"/>
                <a:ext cx="0" cy="147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41" name="Rectangle 119">
                <a:extLst>
                  <a:ext uri="{FF2B5EF4-FFF2-40B4-BE49-F238E27FC236}">
                    <a16:creationId xmlns:a16="http://schemas.microsoft.com/office/drawing/2014/main" id="{A3240D47-FCF6-4362-9B67-4703DF3434C3}"/>
                  </a:ext>
                </a:extLst>
              </p:cNvPr>
              <p:cNvSpPr>
                <a:spLocks noChangeArrowheads="1"/>
              </p:cNvSpPr>
              <p:nvPr/>
            </p:nvSpPr>
            <p:spPr bwMode="auto">
              <a:xfrm>
                <a:off x="2648" y="35"/>
                <a:ext cx="6" cy="14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2" name="Line 120">
                <a:extLst>
                  <a:ext uri="{FF2B5EF4-FFF2-40B4-BE49-F238E27FC236}">
                    <a16:creationId xmlns:a16="http://schemas.microsoft.com/office/drawing/2014/main" id="{9EA43636-FB2D-4D9E-ACF8-C84255843F62}"/>
                  </a:ext>
                </a:extLst>
              </p:cNvPr>
              <p:cNvSpPr>
                <a:spLocks noChangeShapeType="1"/>
              </p:cNvSpPr>
              <p:nvPr/>
            </p:nvSpPr>
            <p:spPr bwMode="auto">
              <a:xfrm>
                <a:off x="3220" y="35"/>
                <a:ext cx="0" cy="147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43" name="Rectangle 121">
                <a:extLst>
                  <a:ext uri="{FF2B5EF4-FFF2-40B4-BE49-F238E27FC236}">
                    <a16:creationId xmlns:a16="http://schemas.microsoft.com/office/drawing/2014/main" id="{A31F2033-6F28-48A2-8C4D-7AE36E5501BE}"/>
                  </a:ext>
                </a:extLst>
              </p:cNvPr>
              <p:cNvSpPr>
                <a:spLocks noChangeArrowheads="1"/>
              </p:cNvSpPr>
              <p:nvPr/>
            </p:nvSpPr>
            <p:spPr bwMode="auto">
              <a:xfrm>
                <a:off x="3220" y="35"/>
                <a:ext cx="6" cy="14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4" name="Line 122">
                <a:extLst>
                  <a:ext uri="{FF2B5EF4-FFF2-40B4-BE49-F238E27FC236}">
                    <a16:creationId xmlns:a16="http://schemas.microsoft.com/office/drawing/2014/main" id="{3C76B646-ABFD-410E-BD2D-47A13645F419}"/>
                  </a:ext>
                </a:extLst>
              </p:cNvPr>
              <p:cNvSpPr>
                <a:spLocks noChangeShapeType="1"/>
              </p:cNvSpPr>
              <p:nvPr/>
            </p:nvSpPr>
            <p:spPr bwMode="auto">
              <a:xfrm>
                <a:off x="4364" y="35"/>
                <a:ext cx="0" cy="147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45" name="Rectangle 123">
                <a:extLst>
                  <a:ext uri="{FF2B5EF4-FFF2-40B4-BE49-F238E27FC236}">
                    <a16:creationId xmlns:a16="http://schemas.microsoft.com/office/drawing/2014/main" id="{FB8EA72F-5901-4D44-8C76-B2E0FE614A35}"/>
                  </a:ext>
                </a:extLst>
              </p:cNvPr>
              <p:cNvSpPr>
                <a:spLocks noChangeArrowheads="1"/>
              </p:cNvSpPr>
              <p:nvPr/>
            </p:nvSpPr>
            <p:spPr bwMode="auto">
              <a:xfrm>
                <a:off x="4364" y="35"/>
                <a:ext cx="6" cy="147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6" name="Rectangle 124">
                <a:extLst>
                  <a:ext uri="{FF2B5EF4-FFF2-40B4-BE49-F238E27FC236}">
                    <a16:creationId xmlns:a16="http://schemas.microsoft.com/office/drawing/2014/main" id="{FC9F5FEC-5065-4253-8DAC-E4AC2E3E64D5}"/>
                  </a:ext>
                </a:extLst>
              </p:cNvPr>
              <p:cNvSpPr>
                <a:spLocks noChangeArrowheads="1"/>
              </p:cNvSpPr>
              <p:nvPr/>
            </p:nvSpPr>
            <p:spPr bwMode="auto">
              <a:xfrm>
                <a:off x="824" y="1507"/>
                <a:ext cx="4118"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7" name="Line 125">
                <a:extLst>
                  <a:ext uri="{FF2B5EF4-FFF2-40B4-BE49-F238E27FC236}">
                    <a16:creationId xmlns:a16="http://schemas.microsoft.com/office/drawing/2014/main" id="{0071126E-A716-4F8E-BAF4-2FBD0D9901EC}"/>
                  </a:ext>
                </a:extLst>
              </p:cNvPr>
              <p:cNvSpPr>
                <a:spLocks noChangeShapeType="1"/>
              </p:cNvSpPr>
              <p:nvPr/>
            </p:nvSpPr>
            <p:spPr bwMode="auto">
              <a:xfrm>
                <a:off x="2654" y="1741"/>
                <a:ext cx="566"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48" name="Rectangle 126">
                <a:extLst>
                  <a:ext uri="{FF2B5EF4-FFF2-40B4-BE49-F238E27FC236}">
                    <a16:creationId xmlns:a16="http://schemas.microsoft.com/office/drawing/2014/main" id="{ECD394FE-8557-49CB-856A-3DDDEBF6B5F0}"/>
                  </a:ext>
                </a:extLst>
              </p:cNvPr>
              <p:cNvSpPr>
                <a:spLocks noChangeArrowheads="1"/>
              </p:cNvSpPr>
              <p:nvPr/>
            </p:nvSpPr>
            <p:spPr bwMode="auto">
              <a:xfrm>
                <a:off x="2654" y="1741"/>
                <a:ext cx="56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49" name="Line 127">
                <a:extLst>
                  <a:ext uri="{FF2B5EF4-FFF2-40B4-BE49-F238E27FC236}">
                    <a16:creationId xmlns:a16="http://schemas.microsoft.com/office/drawing/2014/main" id="{2FA05063-9FC4-4D5E-9C48-EA61A1E3D6F7}"/>
                  </a:ext>
                </a:extLst>
              </p:cNvPr>
              <p:cNvSpPr>
                <a:spLocks noChangeShapeType="1"/>
              </p:cNvSpPr>
              <p:nvPr/>
            </p:nvSpPr>
            <p:spPr bwMode="auto">
              <a:xfrm>
                <a:off x="3226" y="1741"/>
                <a:ext cx="113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50" name="Rectangle 128">
                <a:extLst>
                  <a:ext uri="{FF2B5EF4-FFF2-40B4-BE49-F238E27FC236}">
                    <a16:creationId xmlns:a16="http://schemas.microsoft.com/office/drawing/2014/main" id="{AD697B67-F7A9-44E5-9FD9-84917148282A}"/>
                  </a:ext>
                </a:extLst>
              </p:cNvPr>
              <p:cNvSpPr>
                <a:spLocks noChangeArrowheads="1"/>
              </p:cNvSpPr>
              <p:nvPr/>
            </p:nvSpPr>
            <p:spPr bwMode="auto">
              <a:xfrm>
                <a:off x="3226" y="1741"/>
                <a:ext cx="113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1" name="Line 129">
                <a:extLst>
                  <a:ext uri="{FF2B5EF4-FFF2-40B4-BE49-F238E27FC236}">
                    <a16:creationId xmlns:a16="http://schemas.microsoft.com/office/drawing/2014/main" id="{5114581F-8A39-4D44-BB3C-BBBCFDDA55EC}"/>
                  </a:ext>
                </a:extLst>
              </p:cNvPr>
              <p:cNvSpPr>
                <a:spLocks noChangeShapeType="1"/>
              </p:cNvSpPr>
              <p:nvPr/>
            </p:nvSpPr>
            <p:spPr bwMode="auto">
              <a:xfrm>
                <a:off x="4370" y="1741"/>
                <a:ext cx="56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52" name="Rectangle 130">
                <a:extLst>
                  <a:ext uri="{FF2B5EF4-FFF2-40B4-BE49-F238E27FC236}">
                    <a16:creationId xmlns:a16="http://schemas.microsoft.com/office/drawing/2014/main" id="{8C287A30-E8AF-4468-9747-DB0A22738D99}"/>
                  </a:ext>
                </a:extLst>
              </p:cNvPr>
              <p:cNvSpPr>
                <a:spLocks noChangeArrowheads="1"/>
              </p:cNvSpPr>
              <p:nvPr/>
            </p:nvSpPr>
            <p:spPr bwMode="auto">
              <a:xfrm>
                <a:off x="4370" y="1741"/>
                <a:ext cx="56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3" name="Rectangle 131">
                <a:extLst>
                  <a:ext uri="{FF2B5EF4-FFF2-40B4-BE49-F238E27FC236}">
                    <a16:creationId xmlns:a16="http://schemas.microsoft.com/office/drawing/2014/main" id="{1AAAAC40-D5DA-417A-946F-EC8829A5AD02}"/>
                  </a:ext>
                </a:extLst>
              </p:cNvPr>
              <p:cNvSpPr>
                <a:spLocks noChangeArrowheads="1"/>
              </p:cNvSpPr>
              <p:nvPr/>
            </p:nvSpPr>
            <p:spPr bwMode="auto">
              <a:xfrm>
                <a:off x="1396" y="1855"/>
                <a:ext cx="56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4" name="Rectangle 132">
                <a:extLst>
                  <a:ext uri="{FF2B5EF4-FFF2-40B4-BE49-F238E27FC236}">
                    <a16:creationId xmlns:a16="http://schemas.microsoft.com/office/drawing/2014/main" id="{BAACE126-43B9-4C00-8C37-254FE10F09F8}"/>
                  </a:ext>
                </a:extLst>
              </p:cNvPr>
              <p:cNvSpPr>
                <a:spLocks noChangeArrowheads="1"/>
              </p:cNvSpPr>
              <p:nvPr/>
            </p:nvSpPr>
            <p:spPr bwMode="auto">
              <a:xfrm>
                <a:off x="1968" y="1855"/>
                <a:ext cx="68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5" name="Line 133">
                <a:extLst>
                  <a:ext uri="{FF2B5EF4-FFF2-40B4-BE49-F238E27FC236}">
                    <a16:creationId xmlns:a16="http://schemas.microsoft.com/office/drawing/2014/main" id="{5118316A-A9F6-4554-9CC8-76F2F448889B}"/>
                  </a:ext>
                </a:extLst>
              </p:cNvPr>
              <p:cNvSpPr>
                <a:spLocks noChangeShapeType="1"/>
              </p:cNvSpPr>
              <p:nvPr/>
            </p:nvSpPr>
            <p:spPr bwMode="auto">
              <a:xfrm>
                <a:off x="2654" y="2003"/>
                <a:ext cx="566"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56" name="Rectangle 134">
                <a:extLst>
                  <a:ext uri="{FF2B5EF4-FFF2-40B4-BE49-F238E27FC236}">
                    <a16:creationId xmlns:a16="http://schemas.microsoft.com/office/drawing/2014/main" id="{288471E8-1F83-4257-AEC1-1166746D97B5}"/>
                  </a:ext>
                </a:extLst>
              </p:cNvPr>
              <p:cNvSpPr>
                <a:spLocks noChangeArrowheads="1"/>
              </p:cNvSpPr>
              <p:nvPr/>
            </p:nvSpPr>
            <p:spPr bwMode="auto">
              <a:xfrm>
                <a:off x="2654" y="2003"/>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7" name="Line 135">
                <a:extLst>
                  <a:ext uri="{FF2B5EF4-FFF2-40B4-BE49-F238E27FC236}">
                    <a16:creationId xmlns:a16="http://schemas.microsoft.com/office/drawing/2014/main" id="{B90743F9-66F7-4646-B36C-6BBCA1671BCC}"/>
                  </a:ext>
                </a:extLst>
              </p:cNvPr>
              <p:cNvSpPr>
                <a:spLocks noChangeShapeType="1"/>
              </p:cNvSpPr>
              <p:nvPr/>
            </p:nvSpPr>
            <p:spPr bwMode="auto">
              <a:xfrm>
                <a:off x="3226" y="2003"/>
                <a:ext cx="1138"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58" name="Rectangle 136">
                <a:extLst>
                  <a:ext uri="{FF2B5EF4-FFF2-40B4-BE49-F238E27FC236}">
                    <a16:creationId xmlns:a16="http://schemas.microsoft.com/office/drawing/2014/main" id="{6B899B2D-A072-4AE7-BE6E-E87D9CE229DE}"/>
                  </a:ext>
                </a:extLst>
              </p:cNvPr>
              <p:cNvSpPr>
                <a:spLocks noChangeArrowheads="1"/>
              </p:cNvSpPr>
              <p:nvPr/>
            </p:nvSpPr>
            <p:spPr bwMode="auto">
              <a:xfrm>
                <a:off x="3226" y="2003"/>
                <a:ext cx="113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9" name="Line 137">
                <a:extLst>
                  <a:ext uri="{FF2B5EF4-FFF2-40B4-BE49-F238E27FC236}">
                    <a16:creationId xmlns:a16="http://schemas.microsoft.com/office/drawing/2014/main" id="{C277E2B5-8214-4548-B684-C667A1EAD4C4}"/>
                  </a:ext>
                </a:extLst>
              </p:cNvPr>
              <p:cNvSpPr>
                <a:spLocks noChangeShapeType="1"/>
              </p:cNvSpPr>
              <p:nvPr/>
            </p:nvSpPr>
            <p:spPr bwMode="auto">
              <a:xfrm>
                <a:off x="4370" y="2003"/>
                <a:ext cx="561"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60" name="Rectangle 138">
                <a:extLst>
                  <a:ext uri="{FF2B5EF4-FFF2-40B4-BE49-F238E27FC236}">
                    <a16:creationId xmlns:a16="http://schemas.microsoft.com/office/drawing/2014/main" id="{8B6F499C-EFC6-4C33-847F-830C7AD2177A}"/>
                  </a:ext>
                </a:extLst>
              </p:cNvPr>
              <p:cNvSpPr>
                <a:spLocks noChangeArrowheads="1"/>
              </p:cNvSpPr>
              <p:nvPr/>
            </p:nvSpPr>
            <p:spPr bwMode="auto">
              <a:xfrm>
                <a:off x="4370" y="2003"/>
                <a:ext cx="56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1" name="Rectangle 139">
                <a:extLst>
                  <a:ext uri="{FF2B5EF4-FFF2-40B4-BE49-F238E27FC236}">
                    <a16:creationId xmlns:a16="http://schemas.microsoft.com/office/drawing/2014/main" id="{23AB510C-6CBB-4DA5-9481-2DFD831DB8AD}"/>
                  </a:ext>
                </a:extLst>
              </p:cNvPr>
              <p:cNvSpPr>
                <a:spLocks noChangeArrowheads="1"/>
              </p:cNvSpPr>
              <p:nvPr/>
            </p:nvSpPr>
            <p:spPr bwMode="auto">
              <a:xfrm>
                <a:off x="1396" y="2231"/>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2" name="Rectangle 140">
                <a:extLst>
                  <a:ext uri="{FF2B5EF4-FFF2-40B4-BE49-F238E27FC236}">
                    <a16:creationId xmlns:a16="http://schemas.microsoft.com/office/drawing/2014/main" id="{25D5DE96-7B47-487E-B136-849C9DCB2DE2}"/>
                  </a:ext>
                </a:extLst>
              </p:cNvPr>
              <p:cNvSpPr>
                <a:spLocks noChangeArrowheads="1"/>
              </p:cNvSpPr>
              <p:nvPr/>
            </p:nvSpPr>
            <p:spPr bwMode="auto">
              <a:xfrm>
                <a:off x="1968" y="2231"/>
                <a:ext cx="68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3" name="Rectangle 141">
                <a:extLst>
                  <a:ext uri="{FF2B5EF4-FFF2-40B4-BE49-F238E27FC236}">
                    <a16:creationId xmlns:a16="http://schemas.microsoft.com/office/drawing/2014/main" id="{9E7EA6B1-8A03-46E8-B597-B6A035EC003C}"/>
                  </a:ext>
                </a:extLst>
              </p:cNvPr>
              <p:cNvSpPr>
                <a:spLocks noChangeArrowheads="1"/>
              </p:cNvSpPr>
              <p:nvPr/>
            </p:nvSpPr>
            <p:spPr bwMode="auto">
              <a:xfrm>
                <a:off x="2654" y="2231"/>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4" name="Rectangle 142">
                <a:extLst>
                  <a:ext uri="{FF2B5EF4-FFF2-40B4-BE49-F238E27FC236}">
                    <a16:creationId xmlns:a16="http://schemas.microsoft.com/office/drawing/2014/main" id="{98896C4A-8E06-4A49-832D-9633D4D8AD29}"/>
                  </a:ext>
                </a:extLst>
              </p:cNvPr>
              <p:cNvSpPr>
                <a:spLocks noChangeArrowheads="1"/>
              </p:cNvSpPr>
              <p:nvPr/>
            </p:nvSpPr>
            <p:spPr bwMode="auto">
              <a:xfrm>
                <a:off x="3226" y="2231"/>
                <a:ext cx="113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5" name="Rectangle 143">
                <a:extLst>
                  <a:ext uri="{FF2B5EF4-FFF2-40B4-BE49-F238E27FC236}">
                    <a16:creationId xmlns:a16="http://schemas.microsoft.com/office/drawing/2014/main" id="{2DBB6AAA-69FA-4F18-B41D-11AF034843F9}"/>
                  </a:ext>
                </a:extLst>
              </p:cNvPr>
              <p:cNvSpPr>
                <a:spLocks noChangeArrowheads="1"/>
              </p:cNvSpPr>
              <p:nvPr/>
            </p:nvSpPr>
            <p:spPr bwMode="auto">
              <a:xfrm>
                <a:off x="4370" y="2231"/>
                <a:ext cx="56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6" name="Rectangle 144">
                <a:extLst>
                  <a:ext uri="{FF2B5EF4-FFF2-40B4-BE49-F238E27FC236}">
                    <a16:creationId xmlns:a16="http://schemas.microsoft.com/office/drawing/2014/main" id="{56F2CE0E-A0B6-4836-8C3A-5F478499B27D}"/>
                  </a:ext>
                </a:extLst>
              </p:cNvPr>
              <p:cNvSpPr>
                <a:spLocks noChangeArrowheads="1"/>
              </p:cNvSpPr>
              <p:nvPr/>
            </p:nvSpPr>
            <p:spPr bwMode="auto">
              <a:xfrm>
                <a:off x="1396" y="2574"/>
                <a:ext cx="56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7" name="Rectangle 145">
                <a:extLst>
                  <a:ext uri="{FF2B5EF4-FFF2-40B4-BE49-F238E27FC236}">
                    <a16:creationId xmlns:a16="http://schemas.microsoft.com/office/drawing/2014/main" id="{0A715D14-520B-480F-93A0-6F85F09F51EE}"/>
                  </a:ext>
                </a:extLst>
              </p:cNvPr>
              <p:cNvSpPr>
                <a:spLocks noChangeArrowheads="1"/>
              </p:cNvSpPr>
              <p:nvPr/>
            </p:nvSpPr>
            <p:spPr bwMode="auto">
              <a:xfrm>
                <a:off x="1968" y="2574"/>
                <a:ext cx="680"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8" name="Rectangle 146">
                <a:extLst>
                  <a:ext uri="{FF2B5EF4-FFF2-40B4-BE49-F238E27FC236}">
                    <a16:creationId xmlns:a16="http://schemas.microsoft.com/office/drawing/2014/main" id="{A2232007-43FC-4B73-B5BA-47360CC7F849}"/>
                  </a:ext>
                </a:extLst>
              </p:cNvPr>
              <p:cNvSpPr>
                <a:spLocks noChangeArrowheads="1"/>
              </p:cNvSpPr>
              <p:nvPr/>
            </p:nvSpPr>
            <p:spPr bwMode="auto">
              <a:xfrm>
                <a:off x="1396" y="2916"/>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69" name="Rectangle 147">
                <a:extLst>
                  <a:ext uri="{FF2B5EF4-FFF2-40B4-BE49-F238E27FC236}">
                    <a16:creationId xmlns:a16="http://schemas.microsoft.com/office/drawing/2014/main" id="{CC5C4BCC-6D34-486E-86DA-DE61F7DAFA39}"/>
                  </a:ext>
                </a:extLst>
              </p:cNvPr>
              <p:cNvSpPr>
                <a:spLocks noChangeArrowheads="1"/>
              </p:cNvSpPr>
              <p:nvPr/>
            </p:nvSpPr>
            <p:spPr bwMode="auto">
              <a:xfrm>
                <a:off x="1968" y="2916"/>
                <a:ext cx="68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0" name="Rectangle 148">
                <a:extLst>
                  <a:ext uri="{FF2B5EF4-FFF2-40B4-BE49-F238E27FC236}">
                    <a16:creationId xmlns:a16="http://schemas.microsoft.com/office/drawing/2014/main" id="{1E75A175-6119-4ED7-9969-E2D1D8BA9E04}"/>
                  </a:ext>
                </a:extLst>
              </p:cNvPr>
              <p:cNvSpPr>
                <a:spLocks noChangeArrowheads="1"/>
              </p:cNvSpPr>
              <p:nvPr/>
            </p:nvSpPr>
            <p:spPr bwMode="auto">
              <a:xfrm>
                <a:off x="1396" y="3258"/>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1" name="Rectangle 149">
                <a:extLst>
                  <a:ext uri="{FF2B5EF4-FFF2-40B4-BE49-F238E27FC236}">
                    <a16:creationId xmlns:a16="http://schemas.microsoft.com/office/drawing/2014/main" id="{F42FD8C5-079C-4948-9CE6-136B6B65BDD2}"/>
                  </a:ext>
                </a:extLst>
              </p:cNvPr>
              <p:cNvSpPr>
                <a:spLocks noChangeArrowheads="1"/>
              </p:cNvSpPr>
              <p:nvPr/>
            </p:nvSpPr>
            <p:spPr bwMode="auto">
              <a:xfrm>
                <a:off x="1968" y="3258"/>
                <a:ext cx="68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2" name="Line 150">
                <a:extLst>
                  <a:ext uri="{FF2B5EF4-FFF2-40B4-BE49-F238E27FC236}">
                    <a16:creationId xmlns:a16="http://schemas.microsoft.com/office/drawing/2014/main" id="{62A440BA-1016-4AEB-A579-D88F60599354}"/>
                  </a:ext>
                </a:extLst>
              </p:cNvPr>
              <p:cNvSpPr>
                <a:spLocks noChangeShapeType="1"/>
              </p:cNvSpPr>
              <p:nvPr/>
            </p:nvSpPr>
            <p:spPr bwMode="auto">
              <a:xfrm>
                <a:off x="824" y="3601"/>
                <a:ext cx="4107"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73" name="Rectangle 151">
                <a:extLst>
                  <a:ext uri="{FF2B5EF4-FFF2-40B4-BE49-F238E27FC236}">
                    <a16:creationId xmlns:a16="http://schemas.microsoft.com/office/drawing/2014/main" id="{B4679824-DB6B-41A2-B86C-D8A18FC076BF}"/>
                  </a:ext>
                </a:extLst>
              </p:cNvPr>
              <p:cNvSpPr>
                <a:spLocks noChangeArrowheads="1"/>
              </p:cNvSpPr>
              <p:nvPr/>
            </p:nvSpPr>
            <p:spPr bwMode="auto">
              <a:xfrm>
                <a:off x="824" y="3601"/>
                <a:ext cx="410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4" name="Rectangle 152">
                <a:extLst>
                  <a:ext uri="{FF2B5EF4-FFF2-40B4-BE49-F238E27FC236}">
                    <a16:creationId xmlns:a16="http://schemas.microsoft.com/office/drawing/2014/main" id="{67A39C4A-0295-4243-88C7-590F875FC4F2}"/>
                  </a:ext>
                </a:extLst>
              </p:cNvPr>
              <p:cNvSpPr>
                <a:spLocks noChangeArrowheads="1"/>
              </p:cNvSpPr>
              <p:nvPr/>
            </p:nvSpPr>
            <p:spPr bwMode="auto">
              <a:xfrm>
                <a:off x="2654" y="3829"/>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5" name="Rectangle 153">
                <a:extLst>
                  <a:ext uri="{FF2B5EF4-FFF2-40B4-BE49-F238E27FC236}">
                    <a16:creationId xmlns:a16="http://schemas.microsoft.com/office/drawing/2014/main" id="{6D378BC7-CACC-4322-AD40-A39E2B566F98}"/>
                  </a:ext>
                </a:extLst>
              </p:cNvPr>
              <p:cNvSpPr>
                <a:spLocks noChangeArrowheads="1"/>
              </p:cNvSpPr>
              <p:nvPr/>
            </p:nvSpPr>
            <p:spPr bwMode="auto">
              <a:xfrm>
                <a:off x="4370" y="3829"/>
                <a:ext cx="56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6" name="Rectangle 154">
                <a:extLst>
                  <a:ext uri="{FF2B5EF4-FFF2-40B4-BE49-F238E27FC236}">
                    <a16:creationId xmlns:a16="http://schemas.microsoft.com/office/drawing/2014/main" id="{6B78A8D8-7F84-4BC8-9796-02AF47D689D6}"/>
                  </a:ext>
                </a:extLst>
              </p:cNvPr>
              <p:cNvSpPr>
                <a:spLocks noChangeArrowheads="1"/>
              </p:cNvSpPr>
              <p:nvPr/>
            </p:nvSpPr>
            <p:spPr bwMode="auto">
              <a:xfrm>
                <a:off x="2654" y="4057"/>
                <a:ext cx="566"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7" name="Rectangle 155">
                <a:extLst>
                  <a:ext uri="{FF2B5EF4-FFF2-40B4-BE49-F238E27FC236}">
                    <a16:creationId xmlns:a16="http://schemas.microsoft.com/office/drawing/2014/main" id="{407F9D21-3D84-49F4-888E-7296D979454C}"/>
                  </a:ext>
                </a:extLst>
              </p:cNvPr>
              <p:cNvSpPr>
                <a:spLocks noChangeArrowheads="1"/>
              </p:cNvSpPr>
              <p:nvPr/>
            </p:nvSpPr>
            <p:spPr bwMode="auto">
              <a:xfrm>
                <a:off x="4370" y="4057"/>
                <a:ext cx="56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8" name="Rectangle 156">
                <a:extLst>
                  <a:ext uri="{FF2B5EF4-FFF2-40B4-BE49-F238E27FC236}">
                    <a16:creationId xmlns:a16="http://schemas.microsoft.com/office/drawing/2014/main" id="{869A3315-7872-4D31-8575-C88A1B02B63D}"/>
                  </a:ext>
                </a:extLst>
              </p:cNvPr>
              <p:cNvSpPr>
                <a:spLocks noChangeArrowheads="1"/>
              </p:cNvSpPr>
              <p:nvPr/>
            </p:nvSpPr>
            <p:spPr bwMode="auto">
              <a:xfrm>
                <a:off x="812" y="23"/>
                <a:ext cx="12" cy="4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9" name="Line 157">
                <a:extLst>
                  <a:ext uri="{FF2B5EF4-FFF2-40B4-BE49-F238E27FC236}">
                    <a16:creationId xmlns:a16="http://schemas.microsoft.com/office/drawing/2014/main" id="{EFD668B4-FCB0-4486-94C0-59C5820B9A4D}"/>
                  </a:ext>
                </a:extLst>
              </p:cNvPr>
              <p:cNvSpPr>
                <a:spLocks noChangeShapeType="1"/>
              </p:cNvSpPr>
              <p:nvPr/>
            </p:nvSpPr>
            <p:spPr bwMode="auto">
              <a:xfrm>
                <a:off x="1390" y="1518"/>
                <a:ext cx="0" cy="276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0" name="Rectangle 158">
                <a:extLst>
                  <a:ext uri="{FF2B5EF4-FFF2-40B4-BE49-F238E27FC236}">
                    <a16:creationId xmlns:a16="http://schemas.microsoft.com/office/drawing/2014/main" id="{0411976C-2FC8-427C-B814-F9D18A32627A}"/>
                  </a:ext>
                </a:extLst>
              </p:cNvPr>
              <p:cNvSpPr>
                <a:spLocks noChangeArrowheads="1"/>
              </p:cNvSpPr>
              <p:nvPr/>
            </p:nvSpPr>
            <p:spPr bwMode="auto">
              <a:xfrm>
                <a:off x="1390" y="1518"/>
                <a:ext cx="6" cy="27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81" name="Line 159">
                <a:extLst>
                  <a:ext uri="{FF2B5EF4-FFF2-40B4-BE49-F238E27FC236}">
                    <a16:creationId xmlns:a16="http://schemas.microsoft.com/office/drawing/2014/main" id="{30F64B30-27F9-4715-A514-D3B3C616FD74}"/>
                  </a:ext>
                </a:extLst>
              </p:cNvPr>
              <p:cNvSpPr>
                <a:spLocks noChangeShapeType="1"/>
              </p:cNvSpPr>
              <p:nvPr/>
            </p:nvSpPr>
            <p:spPr bwMode="auto">
              <a:xfrm>
                <a:off x="1962" y="1518"/>
                <a:ext cx="0" cy="276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2" name="Rectangle 160">
                <a:extLst>
                  <a:ext uri="{FF2B5EF4-FFF2-40B4-BE49-F238E27FC236}">
                    <a16:creationId xmlns:a16="http://schemas.microsoft.com/office/drawing/2014/main" id="{A39D5D3D-918B-49B0-8323-664EA0E08B2A}"/>
                  </a:ext>
                </a:extLst>
              </p:cNvPr>
              <p:cNvSpPr>
                <a:spLocks noChangeArrowheads="1"/>
              </p:cNvSpPr>
              <p:nvPr/>
            </p:nvSpPr>
            <p:spPr bwMode="auto">
              <a:xfrm>
                <a:off x="1962" y="1518"/>
                <a:ext cx="6" cy="27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83" name="Line 161">
                <a:extLst>
                  <a:ext uri="{FF2B5EF4-FFF2-40B4-BE49-F238E27FC236}">
                    <a16:creationId xmlns:a16="http://schemas.microsoft.com/office/drawing/2014/main" id="{CB01419B-A419-4760-B928-C70ECA3444D5}"/>
                  </a:ext>
                </a:extLst>
              </p:cNvPr>
              <p:cNvSpPr>
                <a:spLocks noChangeShapeType="1"/>
              </p:cNvSpPr>
              <p:nvPr/>
            </p:nvSpPr>
            <p:spPr bwMode="auto">
              <a:xfrm>
                <a:off x="2648" y="1518"/>
                <a:ext cx="0" cy="276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4" name="Rectangle 162">
                <a:extLst>
                  <a:ext uri="{FF2B5EF4-FFF2-40B4-BE49-F238E27FC236}">
                    <a16:creationId xmlns:a16="http://schemas.microsoft.com/office/drawing/2014/main" id="{7C7F3D94-1929-4BD2-A465-54DCB70CFEDF}"/>
                  </a:ext>
                </a:extLst>
              </p:cNvPr>
              <p:cNvSpPr>
                <a:spLocks noChangeArrowheads="1"/>
              </p:cNvSpPr>
              <p:nvPr/>
            </p:nvSpPr>
            <p:spPr bwMode="auto">
              <a:xfrm>
                <a:off x="2648" y="1518"/>
                <a:ext cx="6" cy="27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85" name="Line 163">
                <a:extLst>
                  <a:ext uri="{FF2B5EF4-FFF2-40B4-BE49-F238E27FC236}">
                    <a16:creationId xmlns:a16="http://schemas.microsoft.com/office/drawing/2014/main" id="{70F6773D-9C10-4F21-9A69-B873C733236B}"/>
                  </a:ext>
                </a:extLst>
              </p:cNvPr>
              <p:cNvSpPr>
                <a:spLocks noChangeShapeType="1"/>
              </p:cNvSpPr>
              <p:nvPr/>
            </p:nvSpPr>
            <p:spPr bwMode="auto">
              <a:xfrm>
                <a:off x="3220" y="1518"/>
                <a:ext cx="0" cy="276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6" name="Rectangle 164">
                <a:extLst>
                  <a:ext uri="{FF2B5EF4-FFF2-40B4-BE49-F238E27FC236}">
                    <a16:creationId xmlns:a16="http://schemas.microsoft.com/office/drawing/2014/main" id="{4881CCED-BF7A-43F9-9E9F-A4A0AB8DCF37}"/>
                  </a:ext>
                </a:extLst>
              </p:cNvPr>
              <p:cNvSpPr>
                <a:spLocks noChangeArrowheads="1"/>
              </p:cNvSpPr>
              <p:nvPr/>
            </p:nvSpPr>
            <p:spPr bwMode="auto">
              <a:xfrm>
                <a:off x="3220" y="1518"/>
                <a:ext cx="6" cy="27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87" name="Line 165">
                <a:extLst>
                  <a:ext uri="{FF2B5EF4-FFF2-40B4-BE49-F238E27FC236}">
                    <a16:creationId xmlns:a16="http://schemas.microsoft.com/office/drawing/2014/main" id="{2F4953C5-DEE8-4E58-A1D5-8CED32188AFF}"/>
                  </a:ext>
                </a:extLst>
              </p:cNvPr>
              <p:cNvSpPr>
                <a:spLocks noChangeShapeType="1"/>
              </p:cNvSpPr>
              <p:nvPr/>
            </p:nvSpPr>
            <p:spPr bwMode="auto">
              <a:xfrm flipV="1">
                <a:off x="3792" y="2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8" name="Rectangle 166">
                <a:extLst>
                  <a:ext uri="{FF2B5EF4-FFF2-40B4-BE49-F238E27FC236}">
                    <a16:creationId xmlns:a16="http://schemas.microsoft.com/office/drawing/2014/main" id="{EFA54E20-1428-4528-ADC9-D63B6295F086}"/>
                  </a:ext>
                </a:extLst>
              </p:cNvPr>
              <p:cNvSpPr>
                <a:spLocks noChangeArrowheads="1"/>
              </p:cNvSpPr>
              <p:nvPr/>
            </p:nvSpPr>
            <p:spPr bwMode="auto">
              <a:xfrm>
                <a:off x="3792" y="2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89" name="Line 167">
                <a:extLst>
                  <a:ext uri="{FF2B5EF4-FFF2-40B4-BE49-F238E27FC236}">
                    <a16:creationId xmlns:a16="http://schemas.microsoft.com/office/drawing/2014/main" id="{EF4D79A2-76E6-4CA1-A5BB-D865B17AB766}"/>
                  </a:ext>
                </a:extLst>
              </p:cNvPr>
              <p:cNvSpPr>
                <a:spLocks noChangeShapeType="1"/>
              </p:cNvSpPr>
              <p:nvPr/>
            </p:nvSpPr>
            <p:spPr bwMode="auto">
              <a:xfrm>
                <a:off x="4364" y="1518"/>
                <a:ext cx="0" cy="2762"/>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90" name="Rectangle 168">
                <a:extLst>
                  <a:ext uri="{FF2B5EF4-FFF2-40B4-BE49-F238E27FC236}">
                    <a16:creationId xmlns:a16="http://schemas.microsoft.com/office/drawing/2014/main" id="{EBA987B7-BA5E-4529-AE07-1E9869199D93}"/>
                  </a:ext>
                </a:extLst>
              </p:cNvPr>
              <p:cNvSpPr>
                <a:spLocks noChangeArrowheads="1"/>
              </p:cNvSpPr>
              <p:nvPr/>
            </p:nvSpPr>
            <p:spPr bwMode="auto">
              <a:xfrm>
                <a:off x="4364" y="1518"/>
                <a:ext cx="6" cy="27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1" name="Rectangle 169">
                <a:extLst>
                  <a:ext uri="{FF2B5EF4-FFF2-40B4-BE49-F238E27FC236}">
                    <a16:creationId xmlns:a16="http://schemas.microsoft.com/office/drawing/2014/main" id="{D8BD21D7-2B32-4F95-BCF3-8DB004BD18A8}"/>
                  </a:ext>
                </a:extLst>
              </p:cNvPr>
              <p:cNvSpPr>
                <a:spLocks noChangeArrowheads="1"/>
              </p:cNvSpPr>
              <p:nvPr/>
            </p:nvSpPr>
            <p:spPr bwMode="auto">
              <a:xfrm>
                <a:off x="824" y="4280"/>
                <a:ext cx="4118"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2" name="Rectangle 170">
                <a:extLst>
                  <a:ext uri="{FF2B5EF4-FFF2-40B4-BE49-F238E27FC236}">
                    <a16:creationId xmlns:a16="http://schemas.microsoft.com/office/drawing/2014/main" id="{3FD6ECAF-6FF6-4EDB-8ECD-971F7E3BD8D5}"/>
                  </a:ext>
                </a:extLst>
              </p:cNvPr>
              <p:cNvSpPr>
                <a:spLocks noChangeArrowheads="1"/>
              </p:cNvSpPr>
              <p:nvPr/>
            </p:nvSpPr>
            <p:spPr bwMode="auto">
              <a:xfrm>
                <a:off x="4931" y="35"/>
                <a:ext cx="11" cy="425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3" name="Line 171">
                <a:extLst>
                  <a:ext uri="{FF2B5EF4-FFF2-40B4-BE49-F238E27FC236}">
                    <a16:creationId xmlns:a16="http://schemas.microsoft.com/office/drawing/2014/main" id="{C1104FEB-FBB5-4169-B257-AC6D544808E2}"/>
                  </a:ext>
                </a:extLst>
              </p:cNvPr>
              <p:cNvSpPr>
                <a:spLocks noChangeShapeType="1"/>
              </p:cNvSpPr>
              <p:nvPr/>
            </p:nvSpPr>
            <p:spPr bwMode="auto">
              <a:xfrm>
                <a:off x="818" y="429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94" name="Rectangle 172">
                <a:extLst>
                  <a:ext uri="{FF2B5EF4-FFF2-40B4-BE49-F238E27FC236}">
                    <a16:creationId xmlns:a16="http://schemas.microsoft.com/office/drawing/2014/main" id="{DF087AE0-C34E-424B-8894-027661945710}"/>
                  </a:ext>
                </a:extLst>
              </p:cNvPr>
              <p:cNvSpPr>
                <a:spLocks noChangeArrowheads="1"/>
              </p:cNvSpPr>
              <p:nvPr/>
            </p:nvSpPr>
            <p:spPr bwMode="auto">
              <a:xfrm>
                <a:off x="818" y="4291"/>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5" name="Line 173">
                <a:extLst>
                  <a:ext uri="{FF2B5EF4-FFF2-40B4-BE49-F238E27FC236}">
                    <a16:creationId xmlns:a16="http://schemas.microsoft.com/office/drawing/2014/main" id="{296CBE1F-4610-4038-B2E4-553260D79582}"/>
                  </a:ext>
                </a:extLst>
              </p:cNvPr>
              <p:cNvSpPr>
                <a:spLocks noChangeShapeType="1"/>
              </p:cNvSpPr>
              <p:nvPr/>
            </p:nvSpPr>
            <p:spPr bwMode="auto">
              <a:xfrm>
                <a:off x="1390" y="429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96" name="Rectangle 174">
                <a:extLst>
                  <a:ext uri="{FF2B5EF4-FFF2-40B4-BE49-F238E27FC236}">
                    <a16:creationId xmlns:a16="http://schemas.microsoft.com/office/drawing/2014/main" id="{E44CB5DF-92B6-437F-A061-1EA88FC240DE}"/>
                  </a:ext>
                </a:extLst>
              </p:cNvPr>
              <p:cNvSpPr>
                <a:spLocks noChangeArrowheads="1"/>
              </p:cNvSpPr>
              <p:nvPr/>
            </p:nvSpPr>
            <p:spPr bwMode="auto">
              <a:xfrm>
                <a:off x="1390" y="4291"/>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7" name="Line 175">
                <a:extLst>
                  <a:ext uri="{FF2B5EF4-FFF2-40B4-BE49-F238E27FC236}">
                    <a16:creationId xmlns:a16="http://schemas.microsoft.com/office/drawing/2014/main" id="{BED4D649-548A-4034-9D32-49E4D4E58623}"/>
                  </a:ext>
                </a:extLst>
              </p:cNvPr>
              <p:cNvSpPr>
                <a:spLocks noChangeShapeType="1"/>
              </p:cNvSpPr>
              <p:nvPr/>
            </p:nvSpPr>
            <p:spPr bwMode="auto">
              <a:xfrm>
                <a:off x="1962" y="429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98" name="Rectangle 176">
                <a:extLst>
                  <a:ext uri="{FF2B5EF4-FFF2-40B4-BE49-F238E27FC236}">
                    <a16:creationId xmlns:a16="http://schemas.microsoft.com/office/drawing/2014/main" id="{0BE1D61F-EBCA-436C-A99F-07F64AFCA888}"/>
                  </a:ext>
                </a:extLst>
              </p:cNvPr>
              <p:cNvSpPr>
                <a:spLocks noChangeArrowheads="1"/>
              </p:cNvSpPr>
              <p:nvPr/>
            </p:nvSpPr>
            <p:spPr bwMode="auto">
              <a:xfrm>
                <a:off x="1962" y="4291"/>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9" name="Line 177">
                <a:extLst>
                  <a:ext uri="{FF2B5EF4-FFF2-40B4-BE49-F238E27FC236}">
                    <a16:creationId xmlns:a16="http://schemas.microsoft.com/office/drawing/2014/main" id="{834AE40D-9745-4154-A5DE-574DEB4C9C29}"/>
                  </a:ext>
                </a:extLst>
              </p:cNvPr>
              <p:cNvSpPr>
                <a:spLocks noChangeShapeType="1"/>
              </p:cNvSpPr>
              <p:nvPr/>
            </p:nvSpPr>
            <p:spPr bwMode="auto">
              <a:xfrm>
                <a:off x="2648" y="429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0" name="Rectangle 178">
                <a:extLst>
                  <a:ext uri="{FF2B5EF4-FFF2-40B4-BE49-F238E27FC236}">
                    <a16:creationId xmlns:a16="http://schemas.microsoft.com/office/drawing/2014/main" id="{ACCBB732-C1EE-4FA8-88A6-344A12ADEB8B}"/>
                  </a:ext>
                </a:extLst>
              </p:cNvPr>
              <p:cNvSpPr>
                <a:spLocks noChangeArrowheads="1"/>
              </p:cNvSpPr>
              <p:nvPr/>
            </p:nvSpPr>
            <p:spPr bwMode="auto">
              <a:xfrm>
                <a:off x="2648" y="4291"/>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01" name="Line 179">
                <a:extLst>
                  <a:ext uri="{FF2B5EF4-FFF2-40B4-BE49-F238E27FC236}">
                    <a16:creationId xmlns:a16="http://schemas.microsoft.com/office/drawing/2014/main" id="{A2382CFD-B5AC-49BA-AE37-1FDEB4E142A9}"/>
                  </a:ext>
                </a:extLst>
              </p:cNvPr>
              <p:cNvSpPr>
                <a:spLocks noChangeShapeType="1"/>
              </p:cNvSpPr>
              <p:nvPr/>
            </p:nvSpPr>
            <p:spPr bwMode="auto">
              <a:xfrm>
                <a:off x="3220" y="429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2" name="Rectangle 180">
                <a:extLst>
                  <a:ext uri="{FF2B5EF4-FFF2-40B4-BE49-F238E27FC236}">
                    <a16:creationId xmlns:a16="http://schemas.microsoft.com/office/drawing/2014/main" id="{068CCD71-39B1-4CF4-A252-C53A0B297918}"/>
                  </a:ext>
                </a:extLst>
              </p:cNvPr>
              <p:cNvSpPr>
                <a:spLocks noChangeArrowheads="1"/>
              </p:cNvSpPr>
              <p:nvPr/>
            </p:nvSpPr>
            <p:spPr bwMode="auto">
              <a:xfrm>
                <a:off x="3220" y="4291"/>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03" name="Line 181">
                <a:extLst>
                  <a:ext uri="{FF2B5EF4-FFF2-40B4-BE49-F238E27FC236}">
                    <a16:creationId xmlns:a16="http://schemas.microsoft.com/office/drawing/2014/main" id="{BAFF775D-F13D-4AC1-9554-5B3E76D56567}"/>
                  </a:ext>
                </a:extLst>
              </p:cNvPr>
              <p:cNvSpPr>
                <a:spLocks noChangeShapeType="1"/>
              </p:cNvSpPr>
              <p:nvPr/>
            </p:nvSpPr>
            <p:spPr bwMode="auto">
              <a:xfrm>
                <a:off x="3792" y="429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4" name="Rectangle 182">
                <a:extLst>
                  <a:ext uri="{FF2B5EF4-FFF2-40B4-BE49-F238E27FC236}">
                    <a16:creationId xmlns:a16="http://schemas.microsoft.com/office/drawing/2014/main" id="{F0688C06-0FE0-4904-9695-407899FD5D28}"/>
                  </a:ext>
                </a:extLst>
              </p:cNvPr>
              <p:cNvSpPr>
                <a:spLocks noChangeArrowheads="1"/>
              </p:cNvSpPr>
              <p:nvPr/>
            </p:nvSpPr>
            <p:spPr bwMode="auto">
              <a:xfrm>
                <a:off x="3792" y="4291"/>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05" name="Line 183">
                <a:extLst>
                  <a:ext uri="{FF2B5EF4-FFF2-40B4-BE49-F238E27FC236}">
                    <a16:creationId xmlns:a16="http://schemas.microsoft.com/office/drawing/2014/main" id="{E5777FEF-186F-4EBA-9D46-CABE40D58C3E}"/>
                  </a:ext>
                </a:extLst>
              </p:cNvPr>
              <p:cNvSpPr>
                <a:spLocks noChangeShapeType="1"/>
              </p:cNvSpPr>
              <p:nvPr/>
            </p:nvSpPr>
            <p:spPr bwMode="auto">
              <a:xfrm>
                <a:off x="4364" y="429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6" name="Rectangle 184">
                <a:extLst>
                  <a:ext uri="{FF2B5EF4-FFF2-40B4-BE49-F238E27FC236}">
                    <a16:creationId xmlns:a16="http://schemas.microsoft.com/office/drawing/2014/main" id="{9D4580A9-FC28-42F8-A533-DBCA557D4529}"/>
                  </a:ext>
                </a:extLst>
              </p:cNvPr>
              <p:cNvSpPr>
                <a:spLocks noChangeArrowheads="1"/>
              </p:cNvSpPr>
              <p:nvPr/>
            </p:nvSpPr>
            <p:spPr bwMode="auto">
              <a:xfrm>
                <a:off x="4364" y="4291"/>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07" name="Line 185">
                <a:extLst>
                  <a:ext uri="{FF2B5EF4-FFF2-40B4-BE49-F238E27FC236}">
                    <a16:creationId xmlns:a16="http://schemas.microsoft.com/office/drawing/2014/main" id="{D7F979D3-19CE-4F0B-8C9E-385297349AE5}"/>
                  </a:ext>
                </a:extLst>
              </p:cNvPr>
              <p:cNvSpPr>
                <a:spLocks noChangeShapeType="1"/>
              </p:cNvSpPr>
              <p:nvPr/>
            </p:nvSpPr>
            <p:spPr bwMode="auto">
              <a:xfrm>
                <a:off x="4936" y="429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8" name="Rectangle 186">
                <a:extLst>
                  <a:ext uri="{FF2B5EF4-FFF2-40B4-BE49-F238E27FC236}">
                    <a16:creationId xmlns:a16="http://schemas.microsoft.com/office/drawing/2014/main" id="{12793781-A902-4C53-9249-A3293CBC5C66}"/>
                  </a:ext>
                </a:extLst>
              </p:cNvPr>
              <p:cNvSpPr>
                <a:spLocks noChangeArrowheads="1"/>
              </p:cNvSpPr>
              <p:nvPr/>
            </p:nvSpPr>
            <p:spPr bwMode="auto">
              <a:xfrm>
                <a:off x="4936" y="4291"/>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09" name="Line 187">
                <a:extLst>
                  <a:ext uri="{FF2B5EF4-FFF2-40B4-BE49-F238E27FC236}">
                    <a16:creationId xmlns:a16="http://schemas.microsoft.com/office/drawing/2014/main" id="{A1E2ECEF-BE87-4C84-A8D3-40DA6A5CA23A}"/>
                  </a:ext>
                </a:extLst>
              </p:cNvPr>
              <p:cNvSpPr>
                <a:spLocks noChangeShapeType="1"/>
              </p:cNvSpPr>
              <p:nvPr/>
            </p:nvSpPr>
            <p:spPr bwMode="auto">
              <a:xfrm>
                <a:off x="4942" y="2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10" name="Rectangle 188">
                <a:extLst>
                  <a:ext uri="{FF2B5EF4-FFF2-40B4-BE49-F238E27FC236}">
                    <a16:creationId xmlns:a16="http://schemas.microsoft.com/office/drawing/2014/main" id="{C1CD02DF-D1A0-4EB8-A69E-F29A183559C4}"/>
                  </a:ext>
                </a:extLst>
              </p:cNvPr>
              <p:cNvSpPr>
                <a:spLocks noChangeArrowheads="1"/>
              </p:cNvSpPr>
              <p:nvPr/>
            </p:nvSpPr>
            <p:spPr bwMode="auto">
              <a:xfrm>
                <a:off x="4942" y="29"/>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1" name="Line 189">
                <a:extLst>
                  <a:ext uri="{FF2B5EF4-FFF2-40B4-BE49-F238E27FC236}">
                    <a16:creationId xmlns:a16="http://schemas.microsoft.com/office/drawing/2014/main" id="{3B2F57E1-E596-4123-ACA9-68F9F11DFD9D}"/>
                  </a:ext>
                </a:extLst>
              </p:cNvPr>
              <p:cNvSpPr>
                <a:spLocks noChangeShapeType="1"/>
              </p:cNvSpPr>
              <p:nvPr/>
            </p:nvSpPr>
            <p:spPr bwMode="auto">
              <a:xfrm>
                <a:off x="4942" y="257"/>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12" name="Rectangle 190">
                <a:extLst>
                  <a:ext uri="{FF2B5EF4-FFF2-40B4-BE49-F238E27FC236}">
                    <a16:creationId xmlns:a16="http://schemas.microsoft.com/office/drawing/2014/main" id="{FF96AC77-2241-4536-A175-4D027D338B8A}"/>
                  </a:ext>
                </a:extLst>
              </p:cNvPr>
              <p:cNvSpPr>
                <a:spLocks noChangeArrowheads="1"/>
              </p:cNvSpPr>
              <p:nvPr/>
            </p:nvSpPr>
            <p:spPr bwMode="auto">
              <a:xfrm>
                <a:off x="4942" y="257"/>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3" name="Line 191">
                <a:extLst>
                  <a:ext uri="{FF2B5EF4-FFF2-40B4-BE49-F238E27FC236}">
                    <a16:creationId xmlns:a16="http://schemas.microsoft.com/office/drawing/2014/main" id="{1F66718F-750C-4BEA-9739-98FAEF952B9D}"/>
                  </a:ext>
                </a:extLst>
              </p:cNvPr>
              <p:cNvSpPr>
                <a:spLocks noChangeShapeType="1"/>
              </p:cNvSpPr>
              <p:nvPr/>
            </p:nvSpPr>
            <p:spPr bwMode="auto">
              <a:xfrm>
                <a:off x="4942" y="485"/>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14" name="Rectangle 192">
                <a:extLst>
                  <a:ext uri="{FF2B5EF4-FFF2-40B4-BE49-F238E27FC236}">
                    <a16:creationId xmlns:a16="http://schemas.microsoft.com/office/drawing/2014/main" id="{4BA9C595-B5C4-435F-9A18-BB2821AB36B4}"/>
                  </a:ext>
                </a:extLst>
              </p:cNvPr>
              <p:cNvSpPr>
                <a:spLocks noChangeArrowheads="1"/>
              </p:cNvSpPr>
              <p:nvPr/>
            </p:nvSpPr>
            <p:spPr bwMode="auto">
              <a:xfrm>
                <a:off x="4942" y="485"/>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5" name="Line 193">
                <a:extLst>
                  <a:ext uri="{FF2B5EF4-FFF2-40B4-BE49-F238E27FC236}">
                    <a16:creationId xmlns:a16="http://schemas.microsoft.com/office/drawing/2014/main" id="{8C76C48C-34C5-47F4-97BC-DDF32EB28648}"/>
                  </a:ext>
                </a:extLst>
              </p:cNvPr>
              <p:cNvSpPr>
                <a:spLocks noChangeShapeType="1"/>
              </p:cNvSpPr>
              <p:nvPr/>
            </p:nvSpPr>
            <p:spPr bwMode="auto">
              <a:xfrm>
                <a:off x="4942" y="828"/>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16" name="Rectangle 194">
                <a:extLst>
                  <a:ext uri="{FF2B5EF4-FFF2-40B4-BE49-F238E27FC236}">
                    <a16:creationId xmlns:a16="http://schemas.microsoft.com/office/drawing/2014/main" id="{9CB892E3-2319-4DA7-9B56-09542A74E6E0}"/>
                  </a:ext>
                </a:extLst>
              </p:cNvPr>
              <p:cNvSpPr>
                <a:spLocks noChangeArrowheads="1"/>
              </p:cNvSpPr>
              <p:nvPr/>
            </p:nvSpPr>
            <p:spPr bwMode="auto">
              <a:xfrm>
                <a:off x="4942" y="828"/>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7" name="Line 195">
                <a:extLst>
                  <a:ext uri="{FF2B5EF4-FFF2-40B4-BE49-F238E27FC236}">
                    <a16:creationId xmlns:a16="http://schemas.microsoft.com/office/drawing/2014/main" id="{6DFE71A9-D179-4CF0-B53B-7C56EE03345C}"/>
                  </a:ext>
                </a:extLst>
              </p:cNvPr>
              <p:cNvSpPr>
                <a:spLocks noChangeShapeType="1"/>
              </p:cNvSpPr>
              <p:nvPr/>
            </p:nvSpPr>
            <p:spPr bwMode="auto">
              <a:xfrm>
                <a:off x="4942" y="1170"/>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18" name="Rectangle 196">
                <a:extLst>
                  <a:ext uri="{FF2B5EF4-FFF2-40B4-BE49-F238E27FC236}">
                    <a16:creationId xmlns:a16="http://schemas.microsoft.com/office/drawing/2014/main" id="{8344D3E8-A8C0-4454-BC92-E1AB88905185}"/>
                  </a:ext>
                </a:extLst>
              </p:cNvPr>
              <p:cNvSpPr>
                <a:spLocks noChangeArrowheads="1"/>
              </p:cNvSpPr>
              <p:nvPr/>
            </p:nvSpPr>
            <p:spPr bwMode="auto">
              <a:xfrm>
                <a:off x="4942" y="1170"/>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9" name="Line 197">
                <a:extLst>
                  <a:ext uri="{FF2B5EF4-FFF2-40B4-BE49-F238E27FC236}">
                    <a16:creationId xmlns:a16="http://schemas.microsoft.com/office/drawing/2014/main" id="{28AF5480-3AB7-46EC-94A0-16BC4A68206A}"/>
                  </a:ext>
                </a:extLst>
              </p:cNvPr>
              <p:cNvSpPr>
                <a:spLocks noChangeShapeType="1"/>
              </p:cNvSpPr>
              <p:nvPr/>
            </p:nvSpPr>
            <p:spPr bwMode="auto">
              <a:xfrm>
                <a:off x="4942" y="1512"/>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20" name="Rectangle 198">
                <a:extLst>
                  <a:ext uri="{FF2B5EF4-FFF2-40B4-BE49-F238E27FC236}">
                    <a16:creationId xmlns:a16="http://schemas.microsoft.com/office/drawing/2014/main" id="{AFA8EFBD-FE2E-4338-BF89-D149FE7953D0}"/>
                  </a:ext>
                </a:extLst>
              </p:cNvPr>
              <p:cNvSpPr>
                <a:spLocks noChangeArrowheads="1"/>
              </p:cNvSpPr>
              <p:nvPr/>
            </p:nvSpPr>
            <p:spPr bwMode="auto">
              <a:xfrm>
                <a:off x="4942" y="1512"/>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21" name="Line 199">
                <a:extLst>
                  <a:ext uri="{FF2B5EF4-FFF2-40B4-BE49-F238E27FC236}">
                    <a16:creationId xmlns:a16="http://schemas.microsoft.com/office/drawing/2014/main" id="{80473AE0-84EE-4BC6-AFEC-3B5F771ABC75}"/>
                  </a:ext>
                </a:extLst>
              </p:cNvPr>
              <p:cNvSpPr>
                <a:spLocks noChangeShapeType="1"/>
              </p:cNvSpPr>
              <p:nvPr/>
            </p:nvSpPr>
            <p:spPr bwMode="auto">
              <a:xfrm>
                <a:off x="4942" y="1627"/>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22" name="Rectangle 200">
                <a:extLst>
                  <a:ext uri="{FF2B5EF4-FFF2-40B4-BE49-F238E27FC236}">
                    <a16:creationId xmlns:a16="http://schemas.microsoft.com/office/drawing/2014/main" id="{A0D99DBE-3F04-43B1-8F0C-FB44FE53DFF4}"/>
                  </a:ext>
                </a:extLst>
              </p:cNvPr>
              <p:cNvSpPr>
                <a:spLocks noChangeArrowheads="1"/>
              </p:cNvSpPr>
              <p:nvPr/>
            </p:nvSpPr>
            <p:spPr bwMode="auto">
              <a:xfrm>
                <a:off x="4942" y="1627"/>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23" name="Line 201">
                <a:extLst>
                  <a:ext uri="{FF2B5EF4-FFF2-40B4-BE49-F238E27FC236}">
                    <a16:creationId xmlns:a16="http://schemas.microsoft.com/office/drawing/2014/main" id="{B12CE285-42FB-45D4-AA0A-D5EE81DAE210}"/>
                  </a:ext>
                </a:extLst>
              </p:cNvPr>
              <p:cNvSpPr>
                <a:spLocks noChangeShapeType="1"/>
              </p:cNvSpPr>
              <p:nvPr/>
            </p:nvSpPr>
            <p:spPr bwMode="auto">
              <a:xfrm>
                <a:off x="4942" y="174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24" name="Rectangle 202">
                <a:extLst>
                  <a:ext uri="{FF2B5EF4-FFF2-40B4-BE49-F238E27FC236}">
                    <a16:creationId xmlns:a16="http://schemas.microsoft.com/office/drawing/2014/main" id="{497EE7BA-E8AB-441B-BBCD-C9B9653C6901}"/>
                  </a:ext>
                </a:extLst>
              </p:cNvPr>
              <p:cNvSpPr>
                <a:spLocks noChangeArrowheads="1"/>
              </p:cNvSpPr>
              <p:nvPr/>
            </p:nvSpPr>
            <p:spPr bwMode="auto">
              <a:xfrm>
                <a:off x="4942" y="1741"/>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25" name="Line 203">
                <a:extLst>
                  <a:ext uri="{FF2B5EF4-FFF2-40B4-BE49-F238E27FC236}">
                    <a16:creationId xmlns:a16="http://schemas.microsoft.com/office/drawing/2014/main" id="{4F7D9007-A6D0-452A-8244-2F8D8ACEBFC3}"/>
                  </a:ext>
                </a:extLst>
              </p:cNvPr>
              <p:cNvSpPr>
                <a:spLocks noChangeShapeType="1"/>
              </p:cNvSpPr>
              <p:nvPr/>
            </p:nvSpPr>
            <p:spPr bwMode="auto">
              <a:xfrm>
                <a:off x="4942" y="1855"/>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26" name="Rectangle 204">
                <a:extLst>
                  <a:ext uri="{FF2B5EF4-FFF2-40B4-BE49-F238E27FC236}">
                    <a16:creationId xmlns:a16="http://schemas.microsoft.com/office/drawing/2014/main" id="{00AC6D89-DA44-4493-B30E-C8FDA0DFDF08}"/>
                  </a:ext>
                </a:extLst>
              </p:cNvPr>
              <p:cNvSpPr>
                <a:spLocks noChangeArrowheads="1"/>
              </p:cNvSpPr>
              <p:nvPr/>
            </p:nvSpPr>
            <p:spPr bwMode="auto">
              <a:xfrm>
                <a:off x="4942" y="1855"/>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grpSp>
        <p:sp>
          <p:nvSpPr>
            <p:cNvPr id="6" name="Line 206">
              <a:extLst>
                <a:ext uri="{FF2B5EF4-FFF2-40B4-BE49-F238E27FC236}">
                  <a16:creationId xmlns:a16="http://schemas.microsoft.com/office/drawing/2014/main" id="{42A377FA-F3E6-4814-A388-42F44D4C04BD}"/>
                </a:ext>
              </a:extLst>
            </p:cNvPr>
            <p:cNvSpPr>
              <a:spLocks noChangeShapeType="1"/>
            </p:cNvSpPr>
            <p:nvPr/>
          </p:nvSpPr>
          <p:spPr bwMode="auto">
            <a:xfrm>
              <a:off x="4942" y="2003"/>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8" name="Rectangle 207">
              <a:extLst>
                <a:ext uri="{FF2B5EF4-FFF2-40B4-BE49-F238E27FC236}">
                  <a16:creationId xmlns:a16="http://schemas.microsoft.com/office/drawing/2014/main" id="{43E4E290-7A2C-4AD3-B9D8-668356D29090}"/>
                </a:ext>
              </a:extLst>
            </p:cNvPr>
            <p:cNvSpPr>
              <a:spLocks noChangeArrowheads="1"/>
            </p:cNvSpPr>
            <p:nvPr/>
          </p:nvSpPr>
          <p:spPr bwMode="auto">
            <a:xfrm>
              <a:off x="4942" y="2003"/>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9" name="Line 208">
              <a:extLst>
                <a:ext uri="{FF2B5EF4-FFF2-40B4-BE49-F238E27FC236}">
                  <a16:creationId xmlns:a16="http://schemas.microsoft.com/office/drawing/2014/main" id="{A566782E-0448-4DD1-A00E-7F1D32E6B65B}"/>
                </a:ext>
              </a:extLst>
            </p:cNvPr>
            <p:cNvSpPr>
              <a:spLocks noChangeShapeType="1"/>
            </p:cNvSpPr>
            <p:nvPr/>
          </p:nvSpPr>
          <p:spPr bwMode="auto">
            <a:xfrm>
              <a:off x="4942" y="2117"/>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0" name="Rectangle 209">
              <a:extLst>
                <a:ext uri="{FF2B5EF4-FFF2-40B4-BE49-F238E27FC236}">
                  <a16:creationId xmlns:a16="http://schemas.microsoft.com/office/drawing/2014/main" id="{B4470FC1-6796-4F92-A2ED-F330CB366D61}"/>
                </a:ext>
              </a:extLst>
            </p:cNvPr>
            <p:cNvSpPr>
              <a:spLocks noChangeArrowheads="1"/>
            </p:cNvSpPr>
            <p:nvPr/>
          </p:nvSpPr>
          <p:spPr bwMode="auto">
            <a:xfrm>
              <a:off x="4942" y="2117"/>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1" name="Line 210">
              <a:extLst>
                <a:ext uri="{FF2B5EF4-FFF2-40B4-BE49-F238E27FC236}">
                  <a16:creationId xmlns:a16="http://schemas.microsoft.com/office/drawing/2014/main" id="{14E4B221-DF3D-4685-81D2-F37CB4257EA8}"/>
                </a:ext>
              </a:extLst>
            </p:cNvPr>
            <p:cNvSpPr>
              <a:spLocks noChangeShapeType="1"/>
            </p:cNvSpPr>
            <p:nvPr/>
          </p:nvSpPr>
          <p:spPr bwMode="auto">
            <a:xfrm>
              <a:off x="4942" y="223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2" name="Rectangle 211">
              <a:extLst>
                <a:ext uri="{FF2B5EF4-FFF2-40B4-BE49-F238E27FC236}">
                  <a16:creationId xmlns:a16="http://schemas.microsoft.com/office/drawing/2014/main" id="{952F3FC6-48B0-4F09-A41D-9532C1C5387D}"/>
                </a:ext>
              </a:extLst>
            </p:cNvPr>
            <p:cNvSpPr>
              <a:spLocks noChangeArrowheads="1"/>
            </p:cNvSpPr>
            <p:nvPr/>
          </p:nvSpPr>
          <p:spPr bwMode="auto">
            <a:xfrm>
              <a:off x="4942" y="2231"/>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3" name="Line 212">
              <a:extLst>
                <a:ext uri="{FF2B5EF4-FFF2-40B4-BE49-F238E27FC236}">
                  <a16:creationId xmlns:a16="http://schemas.microsoft.com/office/drawing/2014/main" id="{47CA5E1D-7E21-4459-A2F0-B524345E77D6}"/>
                </a:ext>
              </a:extLst>
            </p:cNvPr>
            <p:cNvSpPr>
              <a:spLocks noChangeShapeType="1"/>
            </p:cNvSpPr>
            <p:nvPr/>
          </p:nvSpPr>
          <p:spPr bwMode="auto">
            <a:xfrm>
              <a:off x="4942" y="2574"/>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4" name="Rectangle 213">
              <a:extLst>
                <a:ext uri="{FF2B5EF4-FFF2-40B4-BE49-F238E27FC236}">
                  <a16:creationId xmlns:a16="http://schemas.microsoft.com/office/drawing/2014/main" id="{681C70D1-CBB6-400D-BE43-BDF1B2A11233}"/>
                </a:ext>
              </a:extLst>
            </p:cNvPr>
            <p:cNvSpPr>
              <a:spLocks noChangeArrowheads="1"/>
            </p:cNvSpPr>
            <p:nvPr/>
          </p:nvSpPr>
          <p:spPr bwMode="auto">
            <a:xfrm>
              <a:off x="4942" y="2574"/>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5" name="Line 214">
              <a:extLst>
                <a:ext uri="{FF2B5EF4-FFF2-40B4-BE49-F238E27FC236}">
                  <a16:creationId xmlns:a16="http://schemas.microsoft.com/office/drawing/2014/main" id="{204034E4-A09D-48D8-8D78-939B983F9CFB}"/>
                </a:ext>
              </a:extLst>
            </p:cNvPr>
            <p:cNvSpPr>
              <a:spLocks noChangeShapeType="1"/>
            </p:cNvSpPr>
            <p:nvPr/>
          </p:nvSpPr>
          <p:spPr bwMode="auto">
            <a:xfrm>
              <a:off x="4942" y="2916"/>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6" name="Rectangle 215">
              <a:extLst>
                <a:ext uri="{FF2B5EF4-FFF2-40B4-BE49-F238E27FC236}">
                  <a16:creationId xmlns:a16="http://schemas.microsoft.com/office/drawing/2014/main" id="{FD61B7C1-FD31-4328-BEEB-5011B1D75CA0}"/>
                </a:ext>
              </a:extLst>
            </p:cNvPr>
            <p:cNvSpPr>
              <a:spLocks noChangeArrowheads="1"/>
            </p:cNvSpPr>
            <p:nvPr/>
          </p:nvSpPr>
          <p:spPr bwMode="auto">
            <a:xfrm>
              <a:off x="4942" y="2916"/>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7" name="Line 216">
              <a:extLst>
                <a:ext uri="{FF2B5EF4-FFF2-40B4-BE49-F238E27FC236}">
                  <a16:creationId xmlns:a16="http://schemas.microsoft.com/office/drawing/2014/main" id="{A012B7C9-1456-4EBD-BEB6-28710FED840C}"/>
                </a:ext>
              </a:extLst>
            </p:cNvPr>
            <p:cNvSpPr>
              <a:spLocks noChangeShapeType="1"/>
            </p:cNvSpPr>
            <p:nvPr/>
          </p:nvSpPr>
          <p:spPr bwMode="auto">
            <a:xfrm>
              <a:off x="4942" y="3258"/>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18" name="Rectangle 217">
              <a:extLst>
                <a:ext uri="{FF2B5EF4-FFF2-40B4-BE49-F238E27FC236}">
                  <a16:creationId xmlns:a16="http://schemas.microsoft.com/office/drawing/2014/main" id="{B9C4EF1C-1321-448B-BC9B-E6AB0590E670}"/>
                </a:ext>
              </a:extLst>
            </p:cNvPr>
            <p:cNvSpPr>
              <a:spLocks noChangeArrowheads="1"/>
            </p:cNvSpPr>
            <p:nvPr/>
          </p:nvSpPr>
          <p:spPr bwMode="auto">
            <a:xfrm>
              <a:off x="4942" y="3258"/>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19" name="Line 218">
              <a:extLst>
                <a:ext uri="{FF2B5EF4-FFF2-40B4-BE49-F238E27FC236}">
                  <a16:creationId xmlns:a16="http://schemas.microsoft.com/office/drawing/2014/main" id="{90446A98-3E2C-409E-A778-FD7DB6098AD6}"/>
                </a:ext>
              </a:extLst>
            </p:cNvPr>
            <p:cNvSpPr>
              <a:spLocks noChangeShapeType="1"/>
            </p:cNvSpPr>
            <p:nvPr/>
          </p:nvSpPr>
          <p:spPr bwMode="auto">
            <a:xfrm>
              <a:off x="4942" y="3601"/>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0" name="Rectangle 219">
              <a:extLst>
                <a:ext uri="{FF2B5EF4-FFF2-40B4-BE49-F238E27FC236}">
                  <a16:creationId xmlns:a16="http://schemas.microsoft.com/office/drawing/2014/main" id="{DA66B964-4569-48AC-A59F-529C15B2D8B7}"/>
                </a:ext>
              </a:extLst>
            </p:cNvPr>
            <p:cNvSpPr>
              <a:spLocks noChangeArrowheads="1"/>
            </p:cNvSpPr>
            <p:nvPr/>
          </p:nvSpPr>
          <p:spPr bwMode="auto">
            <a:xfrm>
              <a:off x="4942" y="3601"/>
              <a:ext cx="6" cy="5"/>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1" name="Line 220">
              <a:extLst>
                <a:ext uri="{FF2B5EF4-FFF2-40B4-BE49-F238E27FC236}">
                  <a16:creationId xmlns:a16="http://schemas.microsoft.com/office/drawing/2014/main" id="{829686E0-B6FB-48D1-B08A-4AD1564A0CF0}"/>
                </a:ext>
              </a:extLst>
            </p:cNvPr>
            <p:cNvSpPr>
              <a:spLocks noChangeShapeType="1"/>
            </p:cNvSpPr>
            <p:nvPr/>
          </p:nvSpPr>
          <p:spPr bwMode="auto">
            <a:xfrm>
              <a:off x="4942" y="3829"/>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2" name="Rectangle 221">
              <a:extLst>
                <a:ext uri="{FF2B5EF4-FFF2-40B4-BE49-F238E27FC236}">
                  <a16:creationId xmlns:a16="http://schemas.microsoft.com/office/drawing/2014/main" id="{F6D4CEED-F726-481B-A7B3-97D254DEC874}"/>
                </a:ext>
              </a:extLst>
            </p:cNvPr>
            <p:cNvSpPr>
              <a:spLocks noChangeArrowheads="1"/>
            </p:cNvSpPr>
            <p:nvPr/>
          </p:nvSpPr>
          <p:spPr bwMode="auto">
            <a:xfrm>
              <a:off x="4942" y="3829"/>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3" name="Line 222">
              <a:extLst>
                <a:ext uri="{FF2B5EF4-FFF2-40B4-BE49-F238E27FC236}">
                  <a16:creationId xmlns:a16="http://schemas.microsoft.com/office/drawing/2014/main" id="{3C7FE6A4-867F-4769-AFC9-DCB805EFDE91}"/>
                </a:ext>
              </a:extLst>
            </p:cNvPr>
            <p:cNvSpPr>
              <a:spLocks noChangeShapeType="1"/>
            </p:cNvSpPr>
            <p:nvPr/>
          </p:nvSpPr>
          <p:spPr bwMode="auto">
            <a:xfrm>
              <a:off x="4942" y="4057"/>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4" name="Rectangle 223">
              <a:extLst>
                <a:ext uri="{FF2B5EF4-FFF2-40B4-BE49-F238E27FC236}">
                  <a16:creationId xmlns:a16="http://schemas.microsoft.com/office/drawing/2014/main" id="{51A3468E-DDBE-4697-B64B-C86EC044F000}"/>
                </a:ext>
              </a:extLst>
            </p:cNvPr>
            <p:cNvSpPr>
              <a:spLocks noChangeArrowheads="1"/>
            </p:cNvSpPr>
            <p:nvPr/>
          </p:nvSpPr>
          <p:spPr bwMode="auto">
            <a:xfrm>
              <a:off x="4942" y="4057"/>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sp>
          <p:nvSpPr>
            <p:cNvPr id="25" name="Line 224">
              <a:extLst>
                <a:ext uri="{FF2B5EF4-FFF2-40B4-BE49-F238E27FC236}">
                  <a16:creationId xmlns:a16="http://schemas.microsoft.com/office/drawing/2014/main" id="{4643D491-F7C6-4A3E-B29A-958A0DC1067D}"/>
                </a:ext>
              </a:extLst>
            </p:cNvPr>
            <p:cNvSpPr>
              <a:spLocks noChangeShapeType="1"/>
            </p:cNvSpPr>
            <p:nvPr/>
          </p:nvSpPr>
          <p:spPr bwMode="auto">
            <a:xfrm>
              <a:off x="4942" y="4285"/>
              <a:ext cx="1" cy="1"/>
            </a:xfrm>
            <a:prstGeom prst="line">
              <a:avLst/>
            </a:prstGeom>
            <a:noFill/>
            <a:ln w="0">
              <a:solidFill>
                <a:srgbClr val="D4D4D4"/>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BE"/>
            </a:p>
          </p:txBody>
        </p:sp>
        <p:sp>
          <p:nvSpPr>
            <p:cNvPr id="26" name="Rectangle 225">
              <a:extLst>
                <a:ext uri="{FF2B5EF4-FFF2-40B4-BE49-F238E27FC236}">
                  <a16:creationId xmlns:a16="http://schemas.microsoft.com/office/drawing/2014/main" id="{7E259201-D1C0-4FA9-B93C-848BF02514B0}"/>
                </a:ext>
              </a:extLst>
            </p:cNvPr>
            <p:cNvSpPr>
              <a:spLocks noChangeArrowheads="1"/>
            </p:cNvSpPr>
            <p:nvPr/>
          </p:nvSpPr>
          <p:spPr bwMode="auto">
            <a:xfrm>
              <a:off x="4942" y="4285"/>
              <a:ext cx="6" cy="6"/>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BE"/>
            </a:p>
          </p:txBody>
        </p:sp>
      </p:grpSp>
    </p:spTree>
    <p:extLst>
      <p:ext uri="{BB962C8B-B14F-4D97-AF65-F5344CB8AC3E}">
        <p14:creationId xmlns:p14="http://schemas.microsoft.com/office/powerpoint/2010/main" val="1325118849"/>
      </p:ext>
    </p:extLst>
  </p:cSld>
  <p:clrMapOvr>
    <a:masterClrMapping/>
  </p:clrMapOvr>
  <p:transition>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a:cs typeface="Times New Roman" pitchFamily="18" charset="0"/>
              </a:rPr>
              <a:t>1. AR 114 : Rappel</a:t>
            </a:r>
            <a:br>
              <a:rPr lang="fr-BE" b="1" i="1">
                <a:cs typeface="Times New Roman" pitchFamily="18" charset="0"/>
              </a:rPr>
            </a:br>
            <a:r>
              <a:rPr lang="fr-BE" b="1" i="1">
                <a:cs typeface="Times New Roman" pitchFamily="18" charset="0"/>
              </a:rPr>
              <a:t>La fixation</a:t>
            </a:r>
            <a:endParaRPr lang="fr-BE"/>
          </a:p>
        </p:txBody>
      </p:sp>
      <p:sp>
        <p:nvSpPr>
          <p:cNvPr id="3" name="Espace réservé du contenu 2"/>
          <p:cNvSpPr>
            <a:spLocks noGrp="1"/>
          </p:cNvSpPr>
          <p:nvPr>
            <p:ph idx="1"/>
          </p:nvPr>
        </p:nvSpPr>
        <p:spPr/>
        <p:txBody>
          <a:bodyPr>
            <a:normAutofit/>
          </a:bodyPr>
          <a:lstStyle/>
          <a:p>
            <a:pPr marL="0" indent="0">
              <a:spcBef>
                <a:spcPts val="672"/>
              </a:spcBef>
              <a:buNone/>
            </a:pPr>
            <a:r>
              <a:rPr lang="fr-BE" sz="3600" b="1">
                <a:solidFill>
                  <a:srgbClr val="C00000"/>
                </a:solidFill>
              </a:rPr>
              <a:t>La fixation </a:t>
            </a:r>
            <a:r>
              <a:rPr lang="fr-BE" sz="3600"/>
              <a:t>des périodes d’indemnisation peut être envisagée </a:t>
            </a:r>
            <a:r>
              <a:rPr lang="fr-BE" sz="3600">
                <a:sym typeface="Wingdings" pitchFamily="2" charset="2"/>
              </a:rPr>
              <a:t>sur base de</a:t>
            </a:r>
            <a:r>
              <a:rPr lang="fr-BE" sz="3600"/>
              <a:t> 3 motifs :</a:t>
            </a:r>
          </a:p>
          <a:p>
            <a:pPr>
              <a:spcBef>
                <a:spcPts val="672"/>
              </a:spcBef>
              <a:buFont typeface="Wingdings" panose="05000000000000000000" pitchFamily="2" charset="2"/>
              <a:buChar char="§"/>
            </a:pPr>
            <a:r>
              <a:rPr lang="fr-BE" sz="3600"/>
              <a:t>Une aptitude au travail réduite : </a:t>
            </a:r>
            <a:r>
              <a:rPr lang="fr-BE" sz="3600" b="1">
                <a:solidFill>
                  <a:srgbClr val="C00000"/>
                </a:solidFill>
              </a:rPr>
              <a:t>≥</a:t>
            </a:r>
            <a:r>
              <a:rPr lang="fr-BE" sz="3600" b="1"/>
              <a:t> </a:t>
            </a:r>
            <a:r>
              <a:rPr lang="fr-BE" sz="3600" b="1">
                <a:solidFill>
                  <a:srgbClr val="C00000"/>
                </a:solidFill>
              </a:rPr>
              <a:t>33 %</a:t>
            </a:r>
            <a:r>
              <a:rPr lang="fr-BE" sz="3600" b="1"/>
              <a:t> d’incapacité permanente</a:t>
            </a:r>
            <a:r>
              <a:rPr lang="fr-BE" sz="3600"/>
              <a:t>.</a:t>
            </a:r>
          </a:p>
          <a:p>
            <a:pPr lvl="0">
              <a:spcBef>
                <a:spcPts val="672"/>
              </a:spcBef>
              <a:buFont typeface="Wingdings" panose="05000000000000000000" pitchFamily="2" charset="2"/>
              <a:buChar char="§"/>
            </a:pPr>
            <a:r>
              <a:rPr lang="fr-BE" sz="3600"/>
              <a:t>L’âge :</a:t>
            </a:r>
            <a:r>
              <a:rPr lang="fr-BE" sz="3600">
                <a:solidFill>
                  <a:prstClr val="black"/>
                </a:solidFill>
              </a:rPr>
              <a:t> </a:t>
            </a:r>
            <a:r>
              <a:rPr lang="fr-BE" sz="3600" b="1">
                <a:solidFill>
                  <a:srgbClr val="C00000"/>
                </a:solidFill>
              </a:rPr>
              <a:t>55 ans</a:t>
            </a:r>
            <a:r>
              <a:rPr lang="fr-BE" sz="3600">
                <a:solidFill>
                  <a:prstClr val="black"/>
                </a:solidFill>
              </a:rPr>
              <a:t>.</a:t>
            </a:r>
          </a:p>
          <a:p>
            <a:pPr>
              <a:spcBef>
                <a:spcPts val="672"/>
              </a:spcBef>
              <a:buFont typeface="Wingdings" panose="05000000000000000000" pitchFamily="2" charset="2"/>
              <a:buChar char="§"/>
            </a:pPr>
            <a:r>
              <a:rPr lang="fr-BE" sz="3600"/>
              <a:t>Le passé professionnel </a:t>
            </a:r>
            <a:r>
              <a:rPr lang="fr-BE" sz="3600" b="1">
                <a:solidFill>
                  <a:srgbClr val="C00000"/>
                </a:solidFill>
              </a:rPr>
              <a:t>PP+</a:t>
            </a:r>
            <a:r>
              <a:rPr lang="fr-BE" sz="3600"/>
              <a:t> : </a:t>
            </a:r>
            <a:r>
              <a:rPr lang="fr-BE" sz="3600" b="1"/>
              <a:t>20 à 25 ans</a:t>
            </a:r>
            <a:endParaRPr lang="fr-BE" sz="3600">
              <a:solidFill>
                <a:prstClr val="black"/>
              </a:solidFill>
            </a:endParaRPr>
          </a:p>
          <a:p>
            <a:pPr>
              <a:spcBef>
                <a:spcPts val="672"/>
              </a:spcBef>
              <a:buFont typeface="Wingdings" panose="05000000000000000000" pitchFamily="2" charset="2"/>
              <a:buChar char="§"/>
            </a:pPr>
            <a:endParaRPr lang="fr-BE" sz="2800" i="1"/>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8</a:t>
            </a:fld>
            <a:endParaRPr lang="fr-FR"/>
          </a:p>
        </p:txBody>
      </p:sp>
    </p:spTree>
    <p:extLst>
      <p:ext uri="{BB962C8B-B14F-4D97-AF65-F5344CB8AC3E}">
        <p14:creationId xmlns:p14="http://schemas.microsoft.com/office/powerpoint/2010/main" val="2075567388"/>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a:solidFill>
                  <a:prstClr val="black"/>
                </a:solidFill>
                <a:cs typeface="Times New Roman" pitchFamily="18" charset="0"/>
              </a:rPr>
              <a:t>1. AR 114 : Rappel</a:t>
            </a:r>
            <a:br>
              <a:rPr lang="fr-BE" b="1" i="1">
                <a:solidFill>
                  <a:prstClr val="black"/>
                </a:solidFill>
                <a:cs typeface="Times New Roman" pitchFamily="18" charset="0"/>
              </a:rPr>
            </a:br>
            <a:r>
              <a:rPr lang="fr-BE" b="1" i="1">
                <a:solidFill>
                  <a:prstClr val="black"/>
                </a:solidFill>
                <a:cs typeface="Times New Roman" pitchFamily="18" charset="0"/>
              </a:rPr>
              <a:t>Schéma récapitulatif</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9</a:t>
            </a:fld>
            <a:endParaRPr lang="fr-FR"/>
          </a:p>
        </p:txBody>
      </p:sp>
      <p:graphicFrame>
        <p:nvGraphicFramePr>
          <p:cNvPr id="5" name="Tableau 4">
            <a:extLst>
              <a:ext uri="{FF2B5EF4-FFF2-40B4-BE49-F238E27FC236}">
                <a16:creationId xmlns:a16="http://schemas.microsoft.com/office/drawing/2014/main" id="{076C4ADC-0133-4ED7-98A2-415910A72ACE}"/>
              </a:ext>
            </a:extLst>
          </p:cNvPr>
          <p:cNvGraphicFramePr>
            <a:graphicFrameLocks noGrp="1"/>
          </p:cNvGraphicFramePr>
          <p:nvPr/>
        </p:nvGraphicFramePr>
        <p:xfrm>
          <a:off x="251520" y="1556792"/>
          <a:ext cx="8229599" cy="5026566"/>
        </p:xfrm>
        <a:graphic>
          <a:graphicData uri="http://schemas.openxmlformats.org/drawingml/2006/table">
            <a:tbl>
              <a:tblPr/>
              <a:tblGrid>
                <a:gridCol w="1676659">
                  <a:extLst>
                    <a:ext uri="{9D8B030D-6E8A-4147-A177-3AD203B41FA5}">
                      <a16:colId xmlns:a16="http://schemas.microsoft.com/office/drawing/2014/main" val="1208154131"/>
                    </a:ext>
                  </a:extLst>
                </a:gridCol>
                <a:gridCol w="1313382">
                  <a:extLst>
                    <a:ext uri="{9D8B030D-6E8A-4147-A177-3AD203B41FA5}">
                      <a16:colId xmlns:a16="http://schemas.microsoft.com/office/drawing/2014/main" val="4142996405"/>
                    </a:ext>
                  </a:extLst>
                </a:gridCol>
                <a:gridCol w="859288">
                  <a:extLst>
                    <a:ext uri="{9D8B030D-6E8A-4147-A177-3AD203B41FA5}">
                      <a16:colId xmlns:a16="http://schemas.microsoft.com/office/drawing/2014/main" val="440003820"/>
                    </a:ext>
                  </a:extLst>
                </a:gridCol>
                <a:gridCol w="1026954">
                  <a:extLst>
                    <a:ext uri="{9D8B030D-6E8A-4147-A177-3AD203B41FA5}">
                      <a16:colId xmlns:a16="http://schemas.microsoft.com/office/drawing/2014/main" val="4069793082"/>
                    </a:ext>
                  </a:extLst>
                </a:gridCol>
                <a:gridCol w="838329">
                  <a:extLst>
                    <a:ext uri="{9D8B030D-6E8A-4147-A177-3AD203B41FA5}">
                      <a16:colId xmlns:a16="http://schemas.microsoft.com/office/drawing/2014/main" val="2606681869"/>
                    </a:ext>
                  </a:extLst>
                </a:gridCol>
                <a:gridCol w="838329">
                  <a:extLst>
                    <a:ext uri="{9D8B030D-6E8A-4147-A177-3AD203B41FA5}">
                      <a16:colId xmlns:a16="http://schemas.microsoft.com/office/drawing/2014/main" val="248619947"/>
                    </a:ext>
                  </a:extLst>
                </a:gridCol>
                <a:gridCol w="838329">
                  <a:extLst>
                    <a:ext uri="{9D8B030D-6E8A-4147-A177-3AD203B41FA5}">
                      <a16:colId xmlns:a16="http://schemas.microsoft.com/office/drawing/2014/main" val="3024414249"/>
                    </a:ext>
                  </a:extLst>
                </a:gridCol>
                <a:gridCol w="838329">
                  <a:extLst>
                    <a:ext uri="{9D8B030D-6E8A-4147-A177-3AD203B41FA5}">
                      <a16:colId xmlns:a16="http://schemas.microsoft.com/office/drawing/2014/main" val="430178823"/>
                    </a:ext>
                  </a:extLst>
                </a:gridCol>
              </a:tblGrid>
              <a:tr h="443653">
                <a:tc gridSpan="2">
                  <a:txBody>
                    <a:bodyPr/>
                    <a:lstStyle/>
                    <a:p>
                      <a:pPr algn="ctr" fontAlgn="b"/>
                      <a:r>
                        <a:rPr lang="fr-BE" sz="2400" b="1" i="0" u="none" strike="noStrike">
                          <a:solidFill>
                            <a:srgbClr val="000000"/>
                          </a:solidFill>
                          <a:effectLst/>
                          <a:latin typeface="Calibri" panose="020F0502020204030204" pitchFamily="34" charset="0"/>
                        </a:rPr>
                        <a:t>Période</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lang="fr-BE"/>
                    </a:p>
                  </a:txBody>
                  <a:tcPr/>
                </a:tc>
                <a:tc gridSpan="6">
                  <a:txBody>
                    <a:bodyPr/>
                    <a:lstStyle/>
                    <a:p>
                      <a:pPr algn="ctr" fontAlgn="b"/>
                      <a:r>
                        <a:rPr lang="fr-BE" sz="2400" b="1" i="0" u="none" strike="noStrike">
                          <a:solidFill>
                            <a:srgbClr val="000000"/>
                          </a:solidFill>
                          <a:effectLst/>
                          <a:latin typeface="Calibri" panose="020F0502020204030204" pitchFamily="34" charset="0"/>
                        </a:rPr>
                        <a:t>Suffixe</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41005818"/>
                  </a:ext>
                </a:extLst>
              </a:tr>
              <a:tr h="236465">
                <a:tc rowSpan="3">
                  <a:txBody>
                    <a:bodyPr/>
                    <a:lstStyle/>
                    <a:p>
                      <a:pPr algn="ctr" fontAlgn="ctr"/>
                      <a:r>
                        <a:rPr lang="fr-BE" sz="2200" b="0" i="0" u="none" strike="noStrike">
                          <a:solidFill>
                            <a:srgbClr val="000000"/>
                          </a:solidFill>
                          <a:effectLst/>
                          <a:latin typeface="Calibri" panose="020F0502020204030204" pitchFamily="34" charset="0"/>
                        </a:rPr>
                        <a:t>1ère période </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rowSpan="3">
                  <a:txBody>
                    <a:bodyPr/>
                    <a:lstStyle/>
                    <a:p>
                      <a:pPr algn="ctr" fontAlgn="b"/>
                      <a:r>
                        <a:rPr lang="fr-BE"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fr-BE" sz="1200" b="1" i="0" u="none" strike="noStrike">
                          <a:solidFill>
                            <a:srgbClr val="FF0000"/>
                          </a:solidFill>
                          <a:effectLst/>
                          <a:latin typeface="Calibri" panose="020F0502020204030204" pitchFamily="34" charset="0"/>
                        </a:rPr>
                        <a:t>11</a:t>
                      </a:r>
                    </a:p>
                  </a:txBody>
                  <a:tcPr marL="9525" marR="9525" marT="9525" marB="0" anchor="ctr">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1 à 3</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1618728195"/>
                  </a:ext>
                </a:extLst>
              </a:tr>
              <a:tr h="236465">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12</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4 à 6</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05176191"/>
                  </a:ext>
                </a:extLst>
              </a:tr>
              <a:tr h="247726">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13</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7 à 12</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3447761124"/>
                  </a:ext>
                </a:extLst>
              </a:tr>
              <a:tr h="236465">
                <a:tc rowSpan="15">
                  <a:txBody>
                    <a:bodyPr/>
                    <a:lstStyle/>
                    <a:p>
                      <a:pPr algn="ctr" fontAlgn="ctr"/>
                      <a:r>
                        <a:rPr lang="fr-BE" sz="2200" b="0" i="0" u="none" strike="noStrike">
                          <a:solidFill>
                            <a:srgbClr val="000000"/>
                          </a:solidFill>
                          <a:effectLst/>
                          <a:latin typeface="Calibri" panose="020F0502020204030204" pitchFamily="34" charset="0"/>
                        </a:rPr>
                        <a:t>2ème période </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rowSpan="7">
                  <a:txBody>
                    <a:bodyPr/>
                    <a:lstStyle/>
                    <a:p>
                      <a:pPr algn="ctr" fontAlgn="ctr"/>
                      <a:r>
                        <a:rPr lang="fr-BE" sz="1100" b="0" i="0" u="none" strike="noStrike">
                          <a:solidFill>
                            <a:srgbClr val="000000"/>
                          </a:solidFill>
                          <a:effectLst/>
                          <a:latin typeface="Calibri" panose="020F0502020204030204" pitchFamily="34" charset="0"/>
                        </a:rPr>
                        <a:t>Allocation dégressive             (en fonction du PP)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BE" sz="1200" b="1" i="0" u="none" strike="noStrike">
                          <a:solidFill>
                            <a:srgbClr val="FF0000"/>
                          </a:solidFill>
                          <a:effectLst/>
                          <a:latin typeface="Calibri" panose="020F0502020204030204" pitchFamily="34" charset="0"/>
                        </a:rPr>
                        <a:t>2A</a:t>
                      </a:r>
                    </a:p>
                  </a:txBody>
                  <a:tcPr marL="9525" marR="9525" marT="9525" marB="0" anchor="ctr">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13 à 14</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1059223390"/>
                  </a:ext>
                </a:extLst>
              </a:tr>
              <a:tr h="236465">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29</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1" i="0" u="none" strike="noStrike">
                          <a:solidFill>
                            <a:srgbClr val="000000"/>
                          </a:solidFill>
                          <a:effectLst/>
                          <a:latin typeface="Calibri" panose="020F0502020204030204" pitchFamily="34" charset="0"/>
                        </a:rPr>
                        <a:t>en attente calcul PP</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3986263712"/>
                  </a:ext>
                </a:extLst>
              </a:tr>
              <a:tr h="236465">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2B</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15 à 24 max</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551923148"/>
                  </a:ext>
                </a:extLst>
              </a:tr>
              <a:tr h="236465">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21</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25 à 30 max</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499571504"/>
                  </a:ext>
                </a:extLst>
              </a:tr>
              <a:tr h="236465">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22</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31 à 36 max</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371957779"/>
                  </a:ext>
                </a:extLst>
              </a:tr>
              <a:tr h="236465">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23</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37 à 42 max</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100633182"/>
                  </a:ext>
                </a:extLst>
              </a:tr>
              <a:tr h="236465">
                <a:tc vMerge="1">
                  <a:txBody>
                    <a:bodyPr/>
                    <a:lstStyle/>
                    <a:p>
                      <a:endParaRPr lang="fr-BE"/>
                    </a:p>
                  </a:txBody>
                  <a:tcPr/>
                </a:tc>
                <a:tc vMerge="1">
                  <a:txBody>
                    <a:bodyPr/>
                    <a:lstStyle/>
                    <a:p>
                      <a:endParaRPr lang="fr-BE"/>
                    </a:p>
                  </a:txBody>
                  <a:tcPr/>
                </a:tc>
                <a:tc>
                  <a:txBody>
                    <a:bodyPr/>
                    <a:lstStyle/>
                    <a:p>
                      <a:pPr algn="ctr" fontAlgn="ctr"/>
                      <a:r>
                        <a:rPr lang="fr-BE" sz="1200" b="1" i="0" u="none" strike="noStrike">
                          <a:solidFill>
                            <a:srgbClr val="FF0000"/>
                          </a:solidFill>
                          <a:effectLst/>
                          <a:latin typeface="Calibri" panose="020F0502020204030204" pitchFamily="34" charset="0"/>
                        </a:rPr>
                        <a:t>24</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gridSpan="5">
                  <a:txBody>
                    <a:bodyPr/>
                    <a:lstStyle/>
                    <a:p>
                      <a:pPr algn="l" fontAlgn="b"/>
                      <a:r>
                        <a:rPr lang="fr-BE" sz="1100" b="0" i="0" u="none" strike="noStrike">
                          <a:solidFill>
                            <a:srgbClr val="000000"/>
                          </a:solidFill>
                          <a:effectLst/>
                          <a:latin typeface="Calibri" panose="020F0502020204030204" pitchFamily="34" charset="0"/>
                        </a:rPr>
                        <a:t>mois 43 à 48 max</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657757394"/>
                  </a:ext>
                </a:extLst>
              </a:tr>
              <a:tr h="236465">
                <a:tc vMerge="1">
                  <a:txBody>
                    <a:bodyPr/>
                    <a:lstStyle/>
                    <a:p>
                      <a:endParaRPr lang="fr-BE"/>
                    </a:p>
                  </a:txBody>
                  <a:tcPr/>
                </a:tc>
                <a:tc rowSpan="4" gridSpan="2">
                  <a:txBody>
                    <a:bodyPr/>
                    <a:lstStyle/>
                    <a:p>
                      <a:pPr algn="ctr" fontAlgn="ctr"/>
                      <a:r>
                        <a:rPr lang="fr-BE" sz="1400" b="1" i="0" u="none" strike="noStrike">
                          <a:solidFill>
                            <a:srgbClr val="000000"/>
                          </a:solidFill>
                          <a:effectLst/>
                          <a:latin typeface="Calibri" panose="020F0502020204030204" pitchFamily="34" charset="0"/>
                        </a:rPr>
                        <a:t>Allocation fixée ab initio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4" hMerge="1">
                  <a:txBody>
                    <a:bodyPr/>
                    <a:lstStyle/>
                    <a:p>
                      <a:endParaRPr lang="fr-BE"/>
                    </a:p>
                  </a:txBody>
                  <a:tcPr/>
                </a:tc>
                <a:tc>
                  <a:txBody>
                    <a:bodyPr/>
                    <a:lstStyle/>
                    <a:p>
                      <a:pPr algn="l" fontAlgn="b"/>
                      <a:r>
                        <a:rPr lang="fr-BE"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fr-BE" sz="1100" b="0" i="0" u="none" strike="noStrike">
                          <a:solidFill>
                            <a:srgbClr val="000000"/>
                          </a:solidFill>
                          <a:effectLst/>
                          <a:latin typeface="Calibri" panose="020F0502020204030204" pitchFamily="34" charset="0"/>
                        </a:rPr>
                        <a:t>PP+</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fr-BE" sz="1100" b="0" i="0" u="none" strike="noStrike">
                          <a:solidFill>
                            <a:srgbClr val="000000"/>
                          </a:solidFill>
                          <a:effectLst/>
                          <a:latin typeface="Calibri" panose="020F0502020204030204" pitchFamily="34" charset="0"/>
                        </a:rPr>
                        <a:t>33%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fr-BE" sz="1100" b="0" i="0" u="none" strike="noStrike">
                          <a:solidFill>
                            <a:srgbClr val="000000"/>
                          </a:solidFill>
                          <a:effectLst/>
                          <a:latin typeface="Calibri" panose="020F0502020204030204" pitchFamily="34" charset="0"/>
                        </a:rPr>
                        <a:t>55+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fr-BE" sz="1100" b="0" i="0" u="none" strike="noStrike">
                          <a:solidFill>
                            <a:srgbClr val="000000"/>
                          </a:solidFill>
                          <a:effectLst/>
                          <a:latin typeface="Calibri" panose="020F0502020204030204" pitchFamily="34" charset="0"/>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618348630"/>
                  </a:ext>
                </a:extLst>
              </a:tr>
              <a:tr h="236465">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ctr" fontAlgn="ctr"/>
                      <a:r>
                        <a:rPr lang="fr-BE" sz="1100" b="0" i="0" u="none" strike="noStrike">
                          <a:solidFill>
                            <a:srgbClr val="000000"/>
                          </a:solidFill>
                          <a:effectLst/>
                          <a:latin typeface="Calibri" panose="020F0502020204030204" pitchFamily="34" charset="0"/>
                        </a:rPr>
                        <a:t>PP+</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fr-BE" sz="1100" b="1" i="0" u="none" strike="noStrike">
                          <a:solidFill>
                            <a:srgbClr val="FF0000"/>
                          </a:solidFill>
                          <a:effectLst/>
                          <a:latin typeface="Calibri" panose="020F0502020204030204" pitchFamily="34" charset="0"/>
                        </a:rPr>
                        <a:t>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l" fontAlgn="b"/>
                      <a:r>
                        <a:rPr lang="fr-BE" sz="1100" b="0" i="0" u="none" strike="noStrike">
                          <a:solidFill>
                            <a:srgbClr val="000000"/>
                          </a:solidFill>
                          <a:effectLst/>
                          <a:latin typeface="Calibri" panose="020F0502020204030204" pitchFamily="34" charset="0"/>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776484890"/>
                  </a:ext>
                </a:extLst>
              </a:tr>
              <a:tr h="236465">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ctr" fontAlgn="ctr"/>
                      <a:r>
                        <a:rPr lang="fr-BE" sz="1100" b="0" i="0" u="none" strike="noStrike">
                          <a:solidFill>
                            <a:srgbClr val="000000"/>
                          </a:solidFill>
                          <a:effectLst/>
                          <a:latin typeface="Calibri" panose="020F0502020204030204" pitchFamily="34" charset="0"/>
                        </a:rPr>
                        <a:t>33%</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fr-BE" sz="1100" b="1" i="0" u="none" strike="noStrike">
                          <a:solidFill>
                            <a:srgbClr val="FF0000"/>
                          </a:solidFill>
                          <a:effectLst/>
                          <a:latin typeface="Calibri" panose="020F0502020204030204" pitchFamily="34" charset="0"/>
                        </a:rPr>
                        <a:t>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5</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5</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l" fontAlgn="b"/>
                      <a:r>
                        <a:rPr lang="fr-BE" sz="1100" b="0" i="0" u="none" strike="noStrike">
                          <a:solidFill>
                            <a:srgbClr val="000000"/>
                          </a:solidFill>
                          <a:effectLst/>
                          <a:latin typeface="Calibri" panose="020F0502020204030204" pitchFamily="34" charset="0"/>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31328252"/>
                  </a:ext>
                </a:extLst>
              </a:tr>
              <a:tr h="225204">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ctr" fontAlgn="ctr"/>
                      <a:r>
                        <a:rPr lang="fr-BE" sz="1100" b="0" i="0" u="none" strike="noStrike">
                          <a:solidFill>
                            <a:srgbClr val="000000"/>
                          </a:solidFill>
                          <a:effectLst/>
                          <a:latin typeface="Calibri" panose="020F0502020204030204" pitchFamily="34" charset="0"/>
                        </a:rPr>
                        <a:t>55+</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fr-BE" sz="1100" b="1" i="0" u="none" strike="noStrike">
                          <a:solidFill>
                            <a:srgbClr val="FF0000"/>
                          </a:solidFill>
                          <a:effectLst/>
                          <a:latin typeface="Calibri" panose="020F0502020204030204" pitchFamily="34" charset="0"/>
                        </a:rPr>
                        <a:t>3</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5</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b"/>
                      <a:r>
                        <a:rPr lang="fr-BE" sz="1100" b="1" i="0" u="none" strike="noStrike">
                          <a:solidFill>
                            <a:srgbClr val="FF0000"/>
                          </a:solidFill>
                          <a:effectLst/>
                          <a:latin typeface="Calibri" panose="020F0502020204030204" pitchFamily="34" charset="0"/>
                        </a:rPr>
                        <a:t>2C</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fr-BE" sz="1100" b="0" i="0" u="none" strike="noStrike">
                          <a:solidFill>
                            <a:srgbClr val="000000"/>
                          </a:solidFill>
                          <a:effectLst/>
                          <a:latin typeface="Calibri" panose="020F0502020204030204" pitchFamily="34" charset="0"/>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1589765"/>
                  </a:ext>
                </a:extLst>
              </a:tr>
              <a:tr h="225204">
                <a:tc vMerge="1">
                  <a:txBody>
                    <a:bodyPr/>
                    <a:lstStyle/>
                    <a:p>
                      <a:endParaRPr lang="fr-BE"/>
                    </a:p>
                  </a:txBody>
                  <a:tcPr/>
                </a:tc>
                <a:tc rowSpan="4" gridSpan="2">
                  <a:txBody>
                    <a:bodyPr/>
                    <a:lstStyle/>
                    <a:p>
                      <a:pPr algn="ctr" fontAlgn="ctr"/>
                      <a:r>
                        <a:rPr lang="fr-BE" sz="1400" b="1" i="0" u="none" strike="noStrike">
                          <a:solidFill>
                            <a:srgbClr val="000000"/>
                          </a:solidFill>
                          <a:effectLst/>
                          <a:latin typeface="Calibri" panose="020F0502020204030204" pitchFamily="34" charset="0"/>
                        </a:rPr>
                        <a:t>Allocation fixée à un moment ultérieur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hMerge="1">
                  <a:txBody>
                    <a:bodyPr/>
                    <a:lstStyle/>
                    <a:p>
                      <a:endParaRPr lang="fr-BE"/>
                    </a:p>
                  </a:txBody>
                  <a:tcPr/>
                </a:tc>
                <a:tc>
                  <a:txBody>
                    <a:bodyPr/>
                    <a:lstStyle/>
                    <a:p>
                      <a:pPr algn="l" fontAlgn="b"/>
                      <a:r>
                        <a:rPr lang="fr-BE" sz="1100" b="0" i="0" u="none" strike="noStrike">
                          <a:solidFill>
                            <a:srgbClr val="000000"/>
                          </a:solidFill>
                          <a:effectLst/>
                          <a:latin typeface="Calibri" panose="020F0502020204030204" pitchFamily="34" charset="0"/>
                        </a:rPr>
                        <a:t>PP+</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gridSpan="4">
                  <a:txBody>
                    <a:bodyPr/>
                    <a:lstStyle/>
                    <a:p>
                      <a:pPr algn="l" fontAlgn="b"/>
                      <a:r>
                        <a:rPr lang="fr-BE" sz="1100" b="1" i="0" u="none" strike="noStrike">
                          <a:solidFill>
                            <a:srgbClr val="FF0000"/>
                          </a:solidFill>
                          <a:effectLst/>
                          <a:latin typeface="Calibri" panose="020F0502020204030204" pitchFamily="34" charset="0"/>
                        </a:rPr>
                        <a:t>Suffixe phase fixée + Art.Ind. FIX1</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3806546648"/>
                  </a:ext>
                </a:extLst>
              </a:tr>
              <a:tr h="225204">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l" fontAlgn="b"/>
                      <a:r>
                        <a:rPr lang="fr-BE" sz="1100" b="0" i="0" u="none" strike="noStrike">
                          <a:solidFill>
                            <a:srgbClr val="000000"/>
                          </a:solidFill>
                          <a:effectLst/>
                          <a:latin typeface="Calibri" panose="020F0502020204030204" pitchFamily="34" charset="0"/>
                        </a:rPr>
                        <a:t>33%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gridSpan="4">
                  <a:txBody>
                    <a:bodyPr/>
                    <a:lstStyle/>
                    <a:p>
                      <a:pPr algn="l" fontAlgn="b"/>
                      <a:r>
                        <a:rPr lang="fr-BE" sz="1100" b="1" i="0" u="none" strike="noStrike">
                          <a:solidFill>
                            <a:srgbClr val="FF0000"/>
                          </a:solidFill>
                          <a:effectLst/>
                          <a:latin typeface="Calibri" panose="020F0502020204030204" pitchFamily="34" charset="0"/>
                        </a:rPr>
                        <a:t>Suffixe phase fixée + Art.Ind. FIX2</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694824187"/>
                  </a:ext>
                </a:extLst>
              </a:tr>
              <a:tr h="225204">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l" fontAlgn="b"/>
                      <a:r>
                        <a:rPr lang="fr-BE" sz="1100" b="0" i="0" u="none" strike="noStrike">
                          <a:solidFill>
                            <a:srgbClr val="000000"/>
                          </a:solidFill>
                          <a:effectLst/>
                          <a:latin typeface="Calibri" panose="020F0502020204030204" pitchFamily="34" charset="0"/>
                        </a:rPr>
                        <a:t>55+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gridSpan="4">
                  <a:txBody>
                    <a:bodyPr/>
                    <a:lstStyle/>
                    <a:p>
                      <a:pPr algn="l" fontAlgn="b"/>
                      <a:r>
                        <a:rPr lang="fr-BE" sz="1100" b="1" i="0" u="none" strike="noStrike">
                          <a:solidFill>
                            <a:srgbClr val="FF0000"/>
                          </a:solidFill>
                          <a:effectLst/>
                          <a:latin typeface="Calibri" panose="020F0502020204030204" pitchFamily="34" charset="0"/>
                        </a:rPr>
                        <a:t>Suffixe phase fixée + Art.Ind. FIX3</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6E0B4"/>
                    </a:solidFill>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055668553"/>
                  </a:ext>
                </a:extLst>
              </a:tr>
              <a:tr h="225204">
                <a:tc vMerge="1">
                  <a:txBody>
                    <a:bodyPr/>
                    <a:lstStyle/>
                    <a:p>
                      <a:endParaRPr lang="fr-BE"/>
                    </a:p>
                  </a:txBody>
                  <a:tcPr/>
                </a:tc>
                <a:tc gridSpan="2" vMerge="1">
                  <a:txBody>
                    <a:bodyPr/>
                    <a:lstStyle/>
                    <a:p>
                      <a:endParaRPr lang="fr-BE"/>
                    </a:p>
                  </a:txBody>
                  <a:tcPr/>
                </a:tc>
                <a:tc hMerge="1" vMerge="1">
                  <a:txBody>
                    <a:bodyPr/>
                    <a:lstStyle/>
                    <a:p>
                      <a:endParaRPr lang="fr-BE"/>
                    </a:p>
                  </a:txBody>
                  <a:tcPr/>
                </a:tc>
                <a:tc>
                  <a:txBody>
                    <a:bodyPr/>
                    <a:lstStyle/>
                    <a:p>
                      <a:pPr algn="l" fontAlgn="b"/>
                      <a:r>
                        <a:rPr lang="fr-BE" sz="1100" b="0" i="0" u="none" strike="noStrike">
                          <a:solidFill>
                            <a:srgbClr val="000000"/>
                          </a:solidFill>
                          <a:effectLst/>
                          <a:latin typeface="Calibri" panose="020F0502020204030204" pitchFamily="34" charset="0"/>
                        </a:rPr>
                        <a:t>Combinaison</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l" fontAlgn="b"/>
                      <a:r>
                        <a:rPr lang="fr-BE" sz="1100" b="1" i="0" u="none" strike="noStrike">
                          <a:solidFill>
                            <a:srgbClr val="FF0000"/>
                          </a:solidFill>
                          <a:effectLst/>
                          <a:latin typeface="Calibri" panose="020F0502020204030204" pitchFamily="34" charset="0"/>
                        </a:rPr>
                        <a:t>Suffixe phase fixée + Art.Ind FIX 12, 13, 23 ou 123</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2195210868"/>
                  </a:ext>
                </a:extLst>
              </a:tr>
              <a:tr h="371587">
                <a:tc>
                  <a:txBody>
                    <a:bodyPr/>
                    <a:lstStyle/>
                    <a:p>
                      <a:pPr algn="ctr" fontAlgn="ctr"/>
                      <a:r>
                        <a:rPr lang="fr-BE" sz="2000" b="0" i="0" u="none" strike="noStrike">
                          <a:solidFill>
                            <a:srgbClr val="000000"/>
                          </a:solidFill>
                          <a:effectLst/>
                          <a:latin typeface="Calibri" panose="020F0502020204030204" pitchFamily="34" charset="0"/>
                        </a:rPr>
                        <a:t>3ème période </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fr-BE" sz="1400" b="1" i="0" u="none" strike="noStrike">
                          <a:solidFill>
                            <a:srgbClr val="000000"/>
                          </a:solidFill>
                          <a:effectLst/>
                          <a:latin typeface="Calibri" panose="020F0502020204030204" pitchFamily="34" charset="0"/>
                        </a:rPr>
                        <a:t>Allocation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algn="l" fontAlgn="ctr"/>
                      <a:r>
                        <a:rPr lang="da-DK" sz="1100" b="1" i="0" u="none" strike="noStrike">
                          <a:solidFill>
                            <a:srgbClr val="FF0000"/>
                          </a:solidFill>
                          <a:effectLst/>
                          <a:latin typeface="Calibri" panose="020F0502020204030204" pitchFamily="34" charset="0"/>
                        </a:rPr>
                        <a:t>F (AF, NF ou BF)</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tc hMerge="1">
                  <a:txBody>
                    <a:bodyPr/>
                    <a:lstStyle/>
                    <a:p>
                      <a:endParaRPr lang="fr-BE"/>
                    </a:p>
                  </a:txBody>
                  <a:tcPr/>
                </a:tc>
                <a:extLst>
                  <a:ext uri="{0D108BD9-81ED-4DB2-BD59-A6C34878D82A}">
                    <a16:rowId xmlns:a16="http://schemas.microsoft.com/office/drawing/2014/main" val="3266517584"/>
                  </a:ext>
                </a:extLst>
              </a:tr>
            </a:tbl>
          </a:graphicData>
        </a:graphic>
      </p:graphicFrame>
    </p:spTree>
    <p:extLst>
      <p:ext uri="{BB962C8B-B14F-4D97-AF65-F5344CB8AC3E}">
        <p14:creationId xmlns:p14="http://schemas.microsoft.com/office/powerpoint/2010/main" val="1856077184"/>
      </p:ext>
    </p:extLst>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ctrTitle"/>
          </p:nvPr>
        </p:nvSpPr>
        <p:spPr/>
        <p:txBody>
          <a:bodyPr>
            <a:noAutofit/>
          </a:bodyPr>
          <a:lstStyle/>
          <a:p>
            <a:r>
              <a:rPr lang="fr-BE" sz="5400" b="1" i="1"/>
              <a:t>2. AR </a:t>
            </a:r>
            <a:r>
              <a:rPr lang="fr-BE" sz="5400" b="1" i="1">
                <a:solidFill>
                  <a:srgbClr val="C00000"/>
                </a:solidFill>
              </a:rPr>
              <a:t>116</a:t>
            </a:r>
            <a:r>
              <a:rPr lang="fr-BE" sz="5400" b="1" i="1"/>
              <a:t> : Evolution des périodes</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solidFill>
                  <a:prstClr val="black">
                    <a:tint val="75000"/>
                  </a:prstClr>
                </a:solidFill>
              </a:rPr>
              <a:pPr/>
              <a:t>10</a:t>
            </a:fld>
            <a:endParaRPr lang="fr-FR">
              <a:solidFill>
                <a:prstClr val="black">
                  <a:tint val="75000"/>
                </a:prstClr>
              </a:solidFill>
            </a:endParaRPr>
          </a:p>
        </p:txBody>
      </p:sp>
    </p:spTree>
    <p:extLst>
      <p:ext uri="{BB962C8B-B14F-4D97-AF65-F5344CB8AC3E}">
        <p14:creationId xmlns:p14="http://schemas.microsoft.com/office/powerpoint/2010/main" val="79724851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noAutofit/>
          </a:bodyPr>
          <a:lstStyle/>
          <a:p>
            <a:pPr algn="r"/>
            <a:r>
              <a:rPr lang="fr-FR" b="1" i="1">
                <a:solidFill>
                  <a:prstClr val="black"/>
                </a:solidFill>
                <a:cs typeface="Times New Roman" pitchFamily="18" charset="0"/>
              </a:rPr>
              <a:t>2. AR 116 – Evolution des périodes</a:t>
            </a:r>
            <a:endParaRPr lang="en-US" b="1" i="1">
              <a:solidFill>
                <a:prstClr val="black"/>
              </a:solidFill>
              <a:cs typeface="Times New Roman" pitchFamily="18" charset="0"/>
            </a:endParaRPr>
          </a:p>
        </p:txBody>
      </p:sp>
      <p:sp>
        <p:nvSpPr>
          <p:cNvPr id="3" name="Espace réservé du contenu 2"/>
          <p:cNvSpPr>
            <a:spLocks noGrp="1"/>
          </p:cNvSpPr>
          <p:nvPr>
            <p:ph idx="1"/>
          </p:nvPr>
        </p:nvSpPr>
        <p:spPr/>
        <p:txBody>
          <a:bodyPr>
            <a:normAutofit fontScale="92500" lnSpcReduction="20000"/>
          </a:bodyPr>
          <a:lstStyle/>
          <a:p>
            <a:pPr marL="0" indent="0">
              <a:buNone/>
            </a:pPr>
            <a:r>
              <a:rPr lang="fr-FR">
                <a:latin typeface="+mj-lt"/>
                <a:cs typeface="Times New Roman" pitchFamily="18" charset="0"/>
              </a:rPr>
              <a:t>L’évolution des périodes d’indemnisation peut-être influencée par :</a:t>
            </a:r>
          </a:p>
          <a:p>
            <a:pPr>
              <a:buFont typeface="Wingdings" panose="05000000000000000000" pitchFamily="2" charset="2"/>
              <a:buChar char="Ø"/>
            </a:pPr>
            <a:r>
              <a:rPr lang="fr-FR">
                <a:latin typeface="+mj-lt"/>
                <a:cs typeface="Times New Roman" pitchFamily="18" charset="0"/>
              </a:rPr>
              <a:t> Un </a:t>
            </a:r>
            <a:r>
              <a:rPr lang="fr-FR" b="1">
                <a:solidFill>
                  <a:srgbClr val="C00000"/>
                </a:solidFill>
                <a:latin typeface="+mj-lt"/>
                <a:cs typeface="Times New Roman" pitchFamily="18" charset="0"/>
              </a:rPr>
              <a:t>retour en 1</a:t>
            </a:r>
            <a:r>
              <a:rPr lang="fr-FR" b="1" baseline="30000">
                <a:solidFill>
                  <a:srgbClr val="C00000"/>
                </a:solidFill>
                <a:latin typeface="+mj-lt"/>
                <a:cs typeface="Times New Roman" pitchFamily="18" charset="0"/>
              </a:rPr>
              <a:t>ère</a:t>
            </a:r>
            <a:r>
              <a:rPr lang="fr-FR" b="1">
                <a:solidFill>
                  <a:srgbClr val="C00000"/>
                </a:solidFill>
                <a:latin typeface="+mj-lt"/>
                <a:cs typeface="Times New Roman" pitchFamily="18" charset="0"/>
              </a:rPr>
              <a:t> période </a:t>
            </a:r>
            <a:r>
              <a:rPr lang="fr-FR">
                <a:latin typeface="+mj-lt"/>
                <a:cs typeface="Times New Roman" pitchFamily="18" charset="0"/>
              </a:rPr>
              <a:t>d’indemnisation :</a:t>
            </a:r>
          </a:p>
          <a:p>
            <a:pPr marL="441325" indent="0">
              <a:buNone/>
            </a:pPr>
            <a:r>
              <a:rPr lang="fr-FR" sz="2600">
                <a:latin typeface="+mj-lt"/>
                <a:cs typeface="Times New Roman" pitchFamily="18" charset="0"/>
                <a:sym typeface="Wingdings" panose="05000000000000000000" pitchFamily="2" charset="2"/>
              </a:rPr>
              <a:t></a:t>
            </a:r>
            <a:r>
              <a:rPr lang="fr-FR" sz="3200">
                <a:latin typeface="+mj-lt"/>
                <a:cs typeface="Times New Roman" pitchFamily="18" charset="0"/>
                <a:sym typeface="Wingdings" panose="05000000000000000000" pitchFamily="2" charset="2"/>
              </a:rPr>
              <a:t> </a:t>
            </a:r>
            <a:r>
              <a:rPr lang="fr-FR" sz="3200">
                <a:latin typeface="+mj-lt"/>
                <a:cs typeface="Times New Roman" pitchFamily="18" charset="0"/>
              </a:rPr>
              <a:t>Droit à un nouveau cycle à 65 %.</a:t>
            </a:r>
          </a:p>
          <a:p>
            <a:pPr>
              <a:buFont typeface="Wingdings" panose="05000000000000000000" pitchFamily="2" charset="2"/>
              <a:buChar char="Ø"/>
            </a:pPr>
            <a:r>
              <a:rPr lang="fr-FR" sz="3200">
                <a:latin typeface="+mj-lt"/>
                <a:cs typeface="Times New Roman" pitchFamily="18" charset="0"/>
              </a:rPr>
              <a:t> Une </a:t>
            </a:r>
            <a:r>
              <a:rPr lang="fr-FR" sz="3200" b="1">
                <a:solidFill>
                  <a:srgbClr val="C00000"/>
                </a:solidFill>
                <a:latin typeface="+mj-lt"/>
                <a:cs typeface="Times New Roman" pitchFamily="18" charset="0"/>
              </a:rPr>
              <a:t>prolongation</a:t>
            </a:r>
            <a:r>
              <a:rPr lang="fr-FR" sz="3200">
                <a:latin typeface="+mj-lt"/>
                <a:cs typeface="Times New Roman" pitchFamily="18" charset="0"/>
              </a:rPr>
              <a:t> des périodes d’indemnisation :</a:t>
            </a:r>
          </a:p>
          <a:p>
            <a:pPr marL="457200" lvl="1" indent="0">
              <a:buNone/>
            </a:pPr>
            <a:r>
              <a:rPr lang="fr-FR" sz="2600">
                <a:latin typeface="+mj-lt"/>
                <a:cs typeface="Times New Roman" pitchFamily="18" charset="0"/>
                <a:sym typeface="Wingdings" panose="05000000000000000000" pitchFamily="2" charset="2"/>
              </a:rPr>
              <a:t> </a:t>
            </a:r>
            <a:r>
              <a:rPr lang="fr-FR" sz="3200">
                <a:latin typeface="+mj-lt"/>
                <a:cs typeface="Times New Roman" pitchFamily="18" charset="0"/>
              </a:rPr>
              <a:t>Postposer la prise de cours des phases suivantes.</a:t>
            </a:r>
          </a:p>
          <a:p>
            <a:pPr>
              <a:buFont typeface="Wingdings" panose="05000000000000000000" pitchFamily="2" charset="2"/>
              <a:buChar char="Ø"/>
            </a:pPr>
            <a:r>
              <a:rPr lang="fr-FR">
                <a:latin typeface="+mj-lt"/>
                <a:cs typeface="Times New Roman" pitchFamily="18" charset="0"/>
              </a:rPr>
              <a:t> Une </a:t>
            </a:r>
            <a:r>
              <a:rPr lang="fr-FR" b="1">
                <a:solidFill>
                  <a:srgbClr val="C00000"/>
                </a:solidFill>
                <a:latin typeface="+mj-lt"/>
                <a:cs typeface="Times New Roman" pitchFamily="18" charset="0"/>
              </a:rPr>
              <a:t>fixation temporaire </a:t>
            </a:r>
            <a:r>
              <a:rPr lang="fr-FR">
                <a:latin typeface="+mj-lt"/>
                <a:cs typeface="Times New Roman" pitchFamily="18" charset="0"/>
              </a:rPr>
              <a:t>:</a:t>
            </a:r>
          </a:p>
          <a:p>
            <a:pPr marL="457200" lvl="1" indent="0">
              <a:buNone/>
            </a:pPr>
            <a:r>
              <a:rPr lang="fr-FR" sz="2600">
                <a:latin typeface="+mj-lt"/>
                <a:cs typeface="Times New Roman" pitchFamily="18" charset="0"/>
                <a:sym typeface="Wingdings" panose="05000000000000000000" pitchFamily="2" charset="2"/>
              </a:rPr>
              <a:t></a:t>
            </a:r>
            <a:r>
              <a:rPr lang="fr-FR" sz="3200">
                <a:latin typeface="+mj-lt"/>
                <a:cs typeface="Times New Roman" pitchFamily="18" charset="0"/>
                <a:sym typeface="Wingdings" panose="05000000000000000000" pitchFamily="2" charset="2"/>
              </a:rPr>
              <a:t> </a:t>
            </a:r>
            <a:r>
              <a:rPr lang="fr-FR" sz="3200">
                <a:latin typeface="+mj-lt"/>
                <a:cs typeface="Times New Roman" pitchFamily="18" charset="0"/>
              </a:rPr>
              <a:t>Maintien de la phase en cours au début de l'événement.</a:t>
            </a: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11</a:t>
            </a:fld>
            <a:endParaRPr lang="fr-F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ctrTitle"/>
          </p:nvPr>
        </p:nvSpPr>
        <p:spPr/>
        <p:txBody>
          <a:bodyPr>
            <a:noAutofit/>
          </a:bodyPr>
          <a:lstStyle/>
          <a:p>
            <a:r>
              <a:rPr lang="fr-BE" sz="5400" b="1" i="1"/>
              <a:t>2.1. Le retour en 1</a:t>
            </a:r>
            <a:r>
              <a:rPr lang="fr-BE" sz="5400" b="1" i="1" baseline="30000"/>
              <a:t>ère</a:t>
            </a:r>
            <a:r>
              <a:rPr lang="fr-BE" sz="5400" b="1" i="1"/>
              <a:t> période d’indemnisation</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solidFill>
                  <a:prstClr val="black">
                    <a:tint val="75000"/>
                  </a:prstClr>
                </a:solidFill>
              </a:rPr>
              <a:pPr/>
              <a:t>12</a:t>
            </a:fld>
            <a:endParaRPr lang="fr-FR">
              <a:solidFill>
                <a:prstClr val="black">
                  <a:tint val="75000"/>
                </a:prstClr>
              </a:solidFill>
            </a:endParaRPr>
          </a:p>
        </p:txBody>
      </p:sp>
    </p:spTree>
    <p:extLst>
      <p:ext uri="{BB962C8B-B14F-4D97-AF65-F5344CB8AC3E}">
        <p14:creationId xmlns:p14="http://schemas.microsoft.com/office/powerpoint/2010/main" val="12090347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normAutofit/>
          </a:bodyPr>
          <a:lstStyle/>
          <a:p>
            <a:pPr algn="r"/>
            <a:r>
              <a:rPr lang="fr-BE" b="1" i="1">
                <a:cs typeface="Times New Roman" pitchFamily="18" charset="0"/>
              </a:rPr>
              <a:t> 2.1.1. Conditions</a:t>
            </a:r>
            <a:endParaRPr lang="en-US" b="1" i="1">
              <a:cs typeface="Times New Roman" pitchFamily="18" charset="0"/>
            </a:endParaRPr>
          </a:p>
        </p:txBody>
      </p:sp>
      <p:sp>
        <p:nvSpPr>
          <p:cNvPr id="3" name="Espace réservé du contenu 2"/>
          <p:cNvSpPr>
            <a:spLocks noGrp="1"/>
          </p:cNvSpPr>
          <p:nvPr>
            <p:ph idx="1"/>
          </p:nvPr>
        </p:nvSpPr>
        <p:spPr/>
        <p:txBody>
          <a:bodyPr>
            <a:normAutofit/>
          </a:bodyPr>
          <a:lstStyle/>
          <a:p>
            <a:pPr marL="0" indent="0">
              <a:buNone/>
            </a:pPr>
            <a:r>
              <a:rPr lang="fr-BE" sz="3600">
                <a:cs typeface="Times New Roman" pitchFamily="18" charset="0"/>
              </a:rPr>
              <a:t>Le </a:t>
            </a:r>
            <a:r>
              <a:rPr lang="fr-BE" sz="3600" b="1">
                <a:cs typeface="Times New Roman" pitchFamily="18" charset="0"/>
              </a:rPr>
              <a:t>retour</a:t>
            </a:r>
            <a:r>
              <a:rPr lang="fr-BE" sz="3600">
                <a:cs typeface="Times New Roman" pitchFamily="18" charset="0"/>
              </a:rPr>
              <a:t> = Droit à un nouveau cycle d’indemnisation à 65 %. </a:t>
            </a:r>
          </a:p>
          <a:p>
            <a:pPr lvl="2">
              <a:buFont typeface="Wingdings" panose="05000000000000000000" pitchFamily="2" charset="2"/>
              <a:buChar char="Ø"/>
            </a:pPr>
            <a:r>
              <a:rPr lang="fr-BE" sz="2800">
                <a:cs typeface="Times New Roman" pitchFamily="18" charset="0"/>
              </a:rPr>
              <a:t> </a:t>
            </a:r>
            <a:r>
              <a:rPr lang="fr-BE" sz="3200">
                <a:cs typeface="Times New Roman" pitchFamily="18" charset="0"/>
              </a:rPr>
              <a:t>retour en phase </a:t>
            </a:r>
            <a:r>
              <a:rPr lang="fr-BE" sz="3200" b="1">
                <a:solidFill>
                  <a:srgbClr val="C00000"/>
                </a:solidFill>
                <a:cs typeface="Times New Roman" pitchFamily="18" charset="0"/>
              </a:rPr>
              <a:t>1.1</a:t>
            </a:r>
            <a:r>
              <a:rPr lang="fr-BE" sz="3200">
                <a:cs typeface="Times New Roman" pitchFamily="18" charset="0"/>
              </a:rPr>
              <a:t> de la 1</a:t>
            </a:r>
            <a:r>
              <a:rPr lang="fr-BE" sz="3200" baseline="30000">
                <a:cs typeface="Times New Roman" pitchFamily="18" charset="0"/>
              </a:rPr>
              <a:t>ère</a:t>
            </a:r>
            <a:r>
              <a:rPr lang="fr-BE" sz="3200">
                <a:cs typeface="Times New Roman" pitchFamily="18" charset="0"/>
              </a:rPr>
              <a:t> période</a:t>
            </a:r>
          </a:p>
          <a:p>
            <a:pPr marL="0" indent="0">
              <a:buNone/>
            </a:pPr>
            <a:r>
              <a:rPr lang="fr-BE" sz="3600">
                <a:cs typeface="Times New Roman" pitchFamily="18" charset="0"/>
              </a:rPr>
              <a:t>Le retour est accordé :</a:t>
            </a:r>
          </a:p>
          <a:p>
            <a:pPr>
              <a:buFont typeface="Wingdings" panose="05000000000000000000" pitchFamily="2" charset="2"/>
              <a:buChar char="§"/>
            </a:pPr>
            <a:r>
              <a:rPr lang="fr-BE" sz="3600">
                <a:cs typeface="Times New Roman" pitchFamily="18" charset="0"/>
              </a:rPr>
              <a:t>A l’occasion d’une </a:t>
            </a:r>
            <a:r>
              <a:rPr lang="fr-BE" sz="3600" b="1">
                <a:solidFill>
                  <a:srgbClr val="C00000"/>
                </a:solidFill>
                <a:cs typeface="Times New Roman" pitchFamily="18" charset="0"/>
              </a:rPr>
              <a:t>DA en CC </a:t>
            </a:r>
          </a:p>
          <a:p>
            <a:pPr lvl="1">
              <a:buFont typeface="Wingdings" panose="05000000000000000000" pitchFamily="2" charset="2"/>
              <a:buChar char="Ø"/>
            </a:pPr>
            <a:r>
              <a:rPr lang="fr-BE" sz="3200">
                <a:cs typeface="Times New Roman" pitchFamily="18" charset="0"/>
              </a:rPr>
              <a:t> </a:t>
            </a:r>
            <a:r>
              <a:rPr lang="fr-BE" sz="3200" b="1">
                <a:cs typeface="Times New Roman" pitchFamily="18" charset="0"/>
              </a:rPr>
              <a:t>interruption</a:t>
            </a:r>
            <a:r>
              <a:rPr lang="fr-BE" sz="3200">
                <a:cs typeface="Times New Roman" pitchFamily="18" charset="0"/>
              </a:rPr>
              <a:t> </a:t>
            </a:r>
            <a:r>
              <a:rPr lang="fr-BE" sz="3200" b="1">
                <a:cs typeface="Times New Roman" pitchFamily="18" charset="0"/>
              </a:rPr>
              <a:t>≥ à 28 jours calendrier</a:t>
            </a:r>
            <a:r>
              <a:rPr lang="fr-BE" sz="3200">
                <a:cs typeface="Times New Roman" pitchFamily="18" charset="0"/>
              </a:rPr>
              <a:t>.</a:t>
            </a:r>
            <a:endParaRPr lang="fr-BE" sz="3200" b="1">
              <a:solidFill>
                <a:srgbClr val="C00000"/>
              </a:solidFill>
              <a:cs typeface="Times New Roman" pitchFamily="18" charset="0"/>
            </a:endParaRPr>
          </a:p>
          <a:p>
            <a:pPr>
              <a:buFont typeface="Wingdings" panose="05000000000000000000" pitchFamily="2" charset="2"/>
              <a:buChar char="§"/>
            </a:pPr>
            <a:r>
              <a:rPr lang="fr-BE" sz="3600">
                <a:cs typeface="Times New Roman" pitchFamily="18" charset="0"/>
              </a:rPr>
              <a:t>Et sous certaines conditions …</a:t>
            </a: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13</a:t>
            </a:fld>
            <a:endParaRPr lang="fr-F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normAutofit/>
          </a:bodyPr>
          <a:lstStyle/>
          <a:p>
            <a:pPr algn="r"/>
            <a:r>
              <a:rPr lang="fr-BE" b="1" i="1">
                <a:cs typeface="Times New Roman" pitchFamily="18" charset="0"/>
              </a:rPr>
              <a:t>2.1.1. Conditions</a:t>
            </a:r>
            <a:endParaRPr lang="en-US" b="1" i="1">
              <a:cs typeface="Times New Roman" pitchFamily="18" charset="0"/>
            </a:endParaRP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
            </a:pPr>
            <a:r>
              <a:rPr lang="fr-FR" sz="3600">
                <a:cs typeface="Times New Roman" pitchFamily="18" charset="0"/>
              </a:rPr>
              <a:t>En cas de </a:t>
            </a:r>
            <a:r>
              <a:rPr lang="fr-FR" sz="3600" b="1">
                <a:cs typeface="Times New Roman" pitchFamily="18" charset="0"/>
              </a:rPr>
              <a:t>reprise de travail </a:t>
            </a:r>
            <a:r>
              <a:rPr lang="fr-FR" sz="3600" b="1">
                <a:solidFill>
                  <a:srgbClr val="C00000"/>
                </a:solidFill>
                <a:cs typeface="Times New Roman" pitchFamily="18" charset="0"/>
              </a:rPr>
              <a:t>à temps plein </a:t>
            </a:r>
            <a:r>
              <a:rPr lang="fr-FR" sz="3600" b="1" i="1">
                <a:cs typeface="Times New Roman" pitchFamily="18" charset="0"/>
              </a:rPr>
              <a:t>OU</a:t>
            </a:r>
            <a:r>
              <a:rPr lang="fr-FR" sz="3600" b="1">
                <a:cs typeface="Times New Roman" pitchFamily="18" charset="0"/>
              </a:rPr>
              <a:t> </a:t>
            </a:r>
            <a:r>
              <a:rPr lang="fr-FR" sz="3600" b="1">
                <a:solidFill>
                  <a:srgbClr val="C00000"/>
                </a:solidFill>
                <a:cs typeface="Times New Roman" pitchFamily="18" charset="0"/>
              </a:rPr>
              <a:t>&gt; 4/5 </a:t>
            </a:r>
            <a:r>
              <a:rPr lang="fr-FR" sz="3600" b="1" i="1">
                <a:cs typeface="Times New Roman" pitchFamily="18" charset="0"/>
              </a:rPr>
              <a:t>OU</a:t>
            </a:r>
            <a:r>
              <a:rPr lang="fr-FR" sz="3600" b="1">
                <a:cs typeface="Times New Roman" pitchFamily="18" charset="0"/>
              </a:rPr>
              <a:t> </a:t>
            </a:r>
            <a:r>
              <a:rPr lang="fr-FR" sz="3600" b="1">
                <a:solidFill>
                  <a:srgbClr val="C00000"/>
                </a:solidFill>
                <a:cs typeface="Times New Roman" pitchFamily="18" charset="0"/>
              </a:rPr>
              <a:t>≥ au salaire de référence</a:t>
            </a:r>
            <a:r>
              <a:rPr lang="fr-FR" sz="3600">
                <a:solidFill>
                  <a:srgbClr val="C00000"/>
                </a:solidFill>
                <a:cs typeface="Times New Roman" pitchFamily="18" charset="0"/>
              </a:rPr>
              <a:t> </a:t>
            </a:r>
            <a:endParaRPr lang="fr-FR" sz="3600" b="1">
              <a:solidFill>
                <a:srgbClr val="C00000"/>
              </a:solidFill>
              <a:cs typeface="Times New Roman" pitchFamily="18" charset="0"/>
            </a:endParaRPr>
          </a:p>
          <a:p>
            <a:pPr marL="0" indent="0">
              <a:buNone/>
            </a:pPr>
            <a:endParaRPr lang="fr-FR" sz="3600" b="1">
              <a:solidFill>
                <a:srgbClr val="C00000"/>
              </a:solidFill>
              <a:cs typeface="Times New Roman" pitchFamily="18" charset="0"/>
              <a:sym typeface="Wingdings" panose="05000000000000000000" pitchFamily="2" charset="2"/>
            </a:endParaRPr>
          </a:p>
          <a:p>
            <a:pPr marL="0" indent="0">
              <a:buNone/>
            </a:pPr>
            <a:r>
              <a:rPr lang="fr-FR" sz="2800">
                <a:cs typeface="Times New Roman" pitchFamily="18" charset="0"/>
                <a:sym typeface="Wingdings" panose="05000000000000000000" pitchFamily="2" charset="2"/>
              </a:rPr>
              <a:t> </a:t>
            </a:r>
            <a:r>
              <a:rPr lang="fr-FR" sz="3600">
                <a:cs typeface="Times New Roman" pitchFamily="18" charset="0"/>
                <a:sym typeface="Wingdings" panose="05000000000000000000" pitchFamily="2" charset="2"/>
              </a:rPr>
              <a:t>J</a:t>
            </a:r>
            <a:r>
              <a:rPr lang="fr-FR" sz="3600">
                <a:cs typeface="Times New Roman" pitchFamily="18" charset="0"/>
              </a:rPr>
              <a:t>ustifier </a:t>
            </a:r>
            <a:r>
              <a:rPr lang="fr-FR" sz="3600" b="1">
                <a:cs typeface="Times New Roman" pitchFamily="18" charset="0"/>
              </a:rPr>
              <a:t>12 mois de travail </a:t>
            </a:r>
            <a:r>
              <a:rPr lang="fr-FR" sz="3600">
                <a:cs typeface="Times New Roman" pitchFamily="18" charset="0"/>
              </a:rPr>
              <a:t>dans une période de référence</a:t>
            </a:r>
            <a:r>
              <a:rPr lang="fr-FR" sz="3600" b="1">
                <a:cs typeface="Times New Roman" pitchFamily="18" charset="0"/>
              </a:rPr>
              <a:t> de 18 mois</a:t>
            </a:r>
            <a:r>
              <a:rPr lang="fr-FR" sz="3600">
                <a:cs typeface="Times New Roman" pitchFamily="18" charset="0"/>
              </a:rPr>
              <a:t> et </a:t>
            </a:r>
            <a:r>
              <a:rPr lang="fr-FR" sz="3600" b="1">
                <a:solidFill>
                  <a:prstClr val="black"/>
                </a:solidFill>
                <a:cs typeface="Times New Roman" pitchFamily="18" charset="0"/>
              </a:rPr>
              <a:t>≤</a:t>
            </a:r>
            <a:r>
              <a:rPr lang="fr-FR" sz="3600" b="1">
                <a:cs typeface="Times New Roman" pitchFamily="18" charset="0"/>
              </a:rPr>
              <a:t> 156 jours d’interruption</a:t>
            </a:r>
            <a:r>
              <a:rPr lang="fr-FR" sz="3600">
                <a:cs typeface="Times New Roman" pitchFamily="18" charset="0"/>
              </a:rPr>
              <a:t>.</a:t>
            </a:r>
          </a:p>
          <a:p>
            <a:pPr>
              <a:buNone/>
            </a:pPr>
            <a:endParaRPr lang="fr-FR" sz="2400">
              <a:latin typeface="Times New Roman" pitchFamily="18" charset="0"/>
              <a:cs typeface="Times New Roman" pitchFamily="18" charset="0"/>
            </a:endParaRP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14</a:t>
            </a:fld>
            <a:endParaRPr lang="fr-F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normAutofit/>
          </a:bodyPr>
          <a:lstStyle/>
          <a:p>
            <a:pPr algn="r"/>
            <a:r>
              <a:rPr lang="fr-BE" b="1" i="1">
                <a:cs typeface="Times New Roman" pitchFamily="18" charset="0"/>
              </a:rPr>
              <a:t>2.1.1. Conditions</a:t>
            </a:r>
            <a:endParaRPr lang="en-US" b="1" i="1">
              <a:cs typeface="Times New Roman" pitchFamily="18" charset="0"/>
            </a:endParaRPr>
          </a:p>
        </p:txBody>
      </p:sp>
      <p:sp>
        <p:nvSpPr>
          <p:cNvPr id="3" name="Espace réservé du contenu 2"/>
          <p:cNvSpPr>
            <a:spLocks noGrp="1"/>
          </p:cNvSpPr>
          <p:nvPr>
            <p:ph idx="1"/>
          </p:nvPr>
        </p:nvSpPr>
        <p:spPr/>
        <p:txBody>
          <a:bodyPr>
            <a:normAutofit fontScale="92500" lnSpcReduction="10000"/>
          </a:bodyPr>
          <a:lstStyle/>
          <a:p>
            <a:pPr>
              <a:buFont typeface="Wingdings" panose="05000000000000000000" pitchFamily="2" charset="2"/>
              <a:buChar char="§"/>
            </a:pPr>
            <a:r>
              <a:rPr lang="fr-FR" sz="3600">
                <a:cs typeface="Times New Roman" pitchFamily="18" charset="0"/>
              </a:rPr>
              <a:t>En cas de reprise de </a:t>
            </a:r>
            <a:r>
              <a:rPr lang="fr-FR" sz="3600" b="1">
                <a:cs typeface="Times New Roman" pitchFamily="18" charset="0"/>
              </a:rPr>
              <a:t>travail</a:t>
            </a:r>
            <a:r>
              <a:rPr lang="fr-FR" sz="3600">
                <a:cs typeface="Times New Roman" pitchFamily="18" charset="0"/>
              </a:rPr>
              <a:t> </a:t>
            </a:r>
            <a:r>
              <a:rPr lang="fr-FR" sz="3600" b="1">
                <a:solidFill>
                  <a:srgbClr val="C00000"/>
                </a:solidFill>
                <a:cs typeface="Times New Roman" pitchFamily="18" charset="0"/>
              </a:rPr>
              <a:t>à temps partiel avec maintien des droits </a:t>
            </a:r>
            <a:r>
              <a:rPr lang="fr-FR" sz="3600" b="1" u="sng">
                <a:solidFill>
                  <a:srgbClr val="C00000"/>
                </a:solidFill>
                <a:cs typeface="Times New Roman" pitchFamily="18" charset="0"/>
              </a:rPr>
              <a:t>avec</a:t>
            </a:r>
            <a:r>
              <a:rPr lang="fr-FR" sz="3600" b="1">
                <a:solidFill>
                  <a:srgbClr val="C00000"/>
                </a:solidFill>
                <a:cs typeface="Times New Roman" pitchFamily="18" charset="0"/>
              </a:rPr>
              <a:t> ou </a:t>
            </a:r>
            <a:r>
              <a:rPr lang="fr-FR" sz="3600" b="1" u="sng">
                <a:solidFill>
                  <a:srgbClr val="C00000"/>
                </a:solidFill>
                <a:cs typeface="Times New Roman" pitchFamily="18" charset="0"/>
              </a:rPr>
              <a:t>sans</a:t>
            </a:r>
            <a:r>
              <a:rPr lang="fr-FR" sz="3600" b="1">
                <a:solidFill>
                  <a:srgbClr val="C00000"/>
                </a:solidFill>
                <a:cs typeface="Times New Roman" pitchFamily="18" charset="0"/>
              </a:rPr>
              <a:t> AGR </a:t>
            </a:r>
            <a:r>
              <a:rPr lang="fr-FR" sz="2800">
                <a:cs typeface="Times New Roman" pitchFamily="18" charset="0"/>
              </a:rPr>
              <a:t>(préfixes 57/ et 99/)</a:t>
            </a:r>
            <a:endParaRPr lang="fr-FR" sz="2800" b="1">
              <a:solidFill>
                <a:srgbClr val="C00000"/>
              </a:solidFill>
              <a:cs typeface="Times New Roman" pitchFamily="18" charset="0"/>
            </a:endParaRPr>
          </a:p>
          <a:p>
            <a:pPr marL="365125" indent="0">
              <a:buNone/>
            </a:pPr>
            <a:r>
              <a:rPr lang="fr-FR" sz="3600" b="1" u="sng">
                <a:cs typeface="Times New Roman" pitchFamily="18" charset="0"/>
              </a:rPr>
              <a:t>ET</a:t>
            </a:r>
            <a:r>
              <a:rPr lang="fr-FR" sz="3600" b="1">
                <a:solidFill>
                  <a:srgbClr val="C00000"/>
                </a:solidFill>
                <a:cs typeface="Times New Roman" pitchFamily="18" charset="0"/>
              </a:rPr>
              <a:t> </a:t>
            </a:r>
          </a:p>
          <a:p>
            <a:pPr marL="365125" indent="0">
              <a:buNone/>
            </a:pPr>
            <a:r>
              <a:rPr lang="fr-FR" sz="3600" b="1">
                <a:solidFill>
                  <a:srgbClr val="C00000"/>
                </a:solidFill>
                <a:cs typeface="Times New Roman" pitchFamily="18" charset="0"/>
              </a:rPr>
              <a:t>Q ≥ 18 </a:t>
            </a:r>
            <a:r>
              <a:rPr lang="fr-FR" sz="3600" b="1">
                <a:cs typeface="Times New Roman" pitchFamily="18" charset="0"/>
              </a:rPr>
              <a:t>ou</a:t>
            </a:r>
            <a:r>
              <a:rPr lang="fr-FR" sz="3600" b="1">
                <a:solidFill>
                  <a:srgbClr val="C00000"/>
                </a:solidFill>
                <a:cs typeface="Times New Roman" pitchFamily="18" charset="0"/>
              </a:rPr>
              <a:t> Q ≥ 1/2 S</a:t>
            </a:r>
          </a:p>
          <a:p>
            <a:pPr marL="365125" indent="0">
              <a:buNone/>
            </a:pPr>
            <a:endParaRPr lang="fr-FR" sz="3600" b="1">
              <a:solidFill>
                <a:srgbClr val="C00000"/>
              </a:solidFill>
              <a:cs typeface="Times New Roman" pitchFamily="18" charset="0"/>
            </a:endParaRPr>
          </a:p>
          <a:p>
            <a:pPr marL="0" indent="0">
              <a:buNone/>
            </a:pPr>
            <a:r>
              <a:rPr lang="fr-FR" sz="2800">
                <a:cs typeface="Times New Roman" pitchFamily="18" charset="0"/>
                <a:sym typeface="Wingdings" panose="05000000000000000000" pitchFamily="2" charset="2"/>
              </a:rPr>
              <a:t> </a:t>
            </a:r>
            <a:r>
              <a:rPr lang="fr-FR" sz="3600">
                <a:cs typeface="Times New Roman" pitchFamily="18" charset="0"/>
                <a:sym typeface="Wingdings" panose="05000000000000000000" pitchFamily="2" charset="2"/>
              </a:rPr>
              <a:t>J</a:t>
            </a:r>
            <a:r>
              <a:rPr lang="fr-FR" sz="3600">
                <a:cs typeface="Times New Roman" pitchFamily="18" charset="0"/>
              </a:rPr>
              <a:t>ustifier </a:t>
            </a:r>
            <a:r>
              <a:rPr lang="fr-FR" sz="3600" b="1">
                <a:cs typeface="Times New Roman" pitchFamily="18" charset="0"/>
              </a:rPr>
              <a:t>24 mois de travail </a:t>
            </a:r>
            <a:r>
              <a:rPr lang="fr-FR" sz="3600">
                <a:cs typeface="Times New Roman" pitchFamily="18" charset="0"/>
              </a:rPr>
              <a:t>dans une période de référence de </a:t>
            </a:r>
            <a:r>
              <a:rPr lang="fr-FR" sz="3600" b="1">
                <a:cs typeface="Times New Roman" pitchFamily="18" charset="0"/>
              </a:rPr>
              <a:t>33 mois</a:t>
            </a:r>
            <a:r>
              <a:rPr lang="fr-FR" sz="3600">
                <a:cs typeface="Times New Roman" pitchFamily="18" charset="0"/>
              </a:rPr>
              <a:t> et </a:t>
            </a:r>
            <a:r>
              <a:rPr lang="fr-FR" sz="3600" b="1">
                <a:cs typeface="Times New Roman" pitchFamily="18" charset="0"/>
              </a:rPr>
              <a:t>≤ 234 jours d’interruption</a:t>
            </a:r>
            <a:r>
              <a:rPr lang="fr-FR" sz="3600">
                <a:cs typeface="Times New Roman" pitchFamily="18" charset="0"/>
              </a:rPr>
              <a:t>.</a:t>
            </a: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15</a:t>
            </a:fld>
            <a:endParaRPr lang="fr-FR"/>
          </a:p>
        </p:txBody>
      </p:sp>
    </p:spTree>
    <p:extLst>
      <p:ext uri="{BB962C8B-B14F-4D97-AF65-F5344CB8AC3E}">
        <p14:creationId xmlns:p14="http://schemas.microsoft.com/office/powerpoint/2010/main" val="28717776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normAutofit/>
          </a:bodyPr>
          <a:lstStyle/>
          <a:p>
            <a:pPr algn="r"/>
            <a:r>
              <a:rPr lang="fr-BE" b="1" i="1">
                <a:cs typeface="Times New Roman" pitchFamily="18" charset="0"/>
              </a:rPr>
              <a:t>2.1.1. Conditions</a:t>
            </a:r>
            <a:endParaRPr lang="en-US" b="1" i="1">
              <a:cs typeface="Times New Roman" pitchFamily="18" charset="0"/>
            </a:endParaRPr>
          </a:p>
        </p:txBody>
      </p:sp>
      <p:sp>
        <p:nvSpPr>
          <p:cNvPr id="3" name="Espace réservé du contenu 2"/>
          <p:cNvSpPr>
            <a:spLocks noGrp="1"/>
          </p:cNvSpPr>
          <p:nvPr>
            <p:ph idx="1"/>
          </p:nvPr>
        </p:nvSpPr>
        <p:spPr/>
        <p:txBody>
          <a:bodyPr>
            <a:normAutofit fontScale="92500" lnSpcReduction="10000"/>
          </a:bodyPr>
          <a:lstStyle/>
          <a:p>
            <a:pPr>
              <a:buFont typeface="Wingdings" panose="05000000000000000000" pitchFamily="2" charset="2"/>
              <a:buChar char="§"/>
            </a:pPr>
            <a:r>
              <a:rPr lang="fr-FR" sz="3600">
                <a:cs typeface="Times New Roman" pitchFamily="18" charset="0"/>
              </a:rPr>
              <a:t>En cas de reprise de </a:t>
            </a:r>
            <a:r>
              <a:rPr lang="fr-FR" sz="3600" b="1">
                <a:cs typeface="Times New Roman" pitchFamily="18" charset="0"/>
              </a:rPr>
              <a:t>travail</a:t>
            </a:r>
            <a:r>
              <a:rPr lang="fr-FR" sz="3600">
                <a:cs typeface="Times New Roman" pitchFamily="18" charset="0"/>
              </a:rPr>
              <a:t> </a:t>
            </a:r>
            <a:r>
              <a:rPr lang="fr-FR" sz="3600" b="1">
                <a:solidFill>
                  <a:srgbClr val="C00000"/>
                </a:solidFill>
                <a:cs typeface="Times New Roman" pitchFamily="18" charset="0"/>
              </a:rPr>
              <a:t>à temps partiel avec maintien des droits </a:t>
            </a:r>
            <a:r>
              <a:rPr lang="fr-FR" sz="3600" b="1" u="sng">
                <a:solidFill>
                  <a:srgbClr val="C00000"/>
                </a:solidFill>
                <a:cs typeface="Times New Roman" pitchFamily="18" charset="0"/>
              </a:rPr>
              <a:t>sans</a:t>
            </a:r>
            <a:r>
              <a:rPr lang="fr-FR" sz="3600" b="1">
                <a:solidFill>
                  <a:srgbClr val="C00000"/>
                </a:solidFill>
                <a:cs typeface="Times New Roman" pitchFamily="18" charset="0"/>
              </a:rPr>
              <a:t> AGR. </a:t>
            </a:r>
            <a:r>
              <a:rPr lang="fr-FR" sz="2800">
                <a:cs typeface="Times New Roman" pitchFamily="18" charset="0"/>
              </a:rPr>
              <a:t>(préfixe 99/)</a:t>
            </a:r>
            <a:endParaRPr lang="fr-FR" sz="2800" b="1">
              <a:solidFill>
                <a:srgbClr val="C00000"/>
              </a:solidFill>
              <a:cs typeface="Times New Roman" pitchFamily="18" charset="0"/>
            </a:endParaRPr>
          </a:p>
          <a:p>
            <a:pPr marL="365125" indent="0">
              <a:buNone/>
            </a:pPr>
            <a:r>
              <a:rPr lang="fr-FR" sz="3600" b="1" u="sng">
                <a:cs typeface="Times New Roman" pitchFamily="18" charset="0"/>
              </a:rPr>
              <a:t>ET</a:t>
            </a:r>
            <a:r>
              <a:rPr lang="fr-FR" sz="3600" b="1">
                <a:solidFill>
                  <a:srgbClr val="C00000"/>
                </a:solidFill>
                <a:cs typeface="Times New Roman" pitchFamily="18" charset="0"/>
              </a:rPr>
              <a:t> </a:t>
            </a:r>
          </a:p>
          <a:p>
            <a:pPr marL="365125" indent="0">
              <a:buNone/>
            </a:pPr>
            <a:r>
              <a:rPr lang="fr-FR" sz="3600" b="1">
                <a:solidFill>
                  <a:srgbClr val="C00000"/>
                </a:solidFill>
                <a:cs typeface="Times New Roman" pitchFamily="18" charset="0"/>
              </a:rPr>
              <a:t>Q ≥ 12 </a:t>
            </a:r>
            <a:r>
              <a:rPr lang="fr-FR" sz="3600" b="1">
                <a:cs typeface="Times New Roman" pitchFamily="18" charset="0"/>
              </a:rPr>
              <a:t>ou</a:t>
            </a:r>
            <a:r>
              <a:rPr lang="fr-FR" sz="3600" b="1">
                <a:solidFill>
                  <a:srgbClr val="C00000"/>
                </a:solidFill>
                <a:cs typeface="Times New Roman" pitchFamily="18" charset="0"/>
              </a:rPr>
              <a:t> Q ≥ 1/3 S. </a:t>
            </a:r>
          </a:p>
          <a:p>
            <a:pPr marL="0" indent="0">
              <a:buNone/>
            </a:pPr>
            <a:endParaRPr lang="fr-FR" sz="3600" b="1">
              <a:solidFill>
                <a:srgbClr val="C00000"/>
              </a:solidFill>
              <a:cs typeface="Times New Roman" pitchFamily="18" charset="0"/>
            </a:endParaRPr>
          </a:p>
          <a:p>
            <a:pPr marL="0" indent="0">
              <a:buNone/>
            </a:pPr>
            <a:r>
              <a:rPr lang="fr-FR" sz="2800">
                <a:cs typeface="Times New Roman" pitchFamily="18" charset="0"/>
                <a:sym typeface="Wingdings" panose="05000000000000000000" pitchFamily="2" charset="2"/>
              </a:rPr>
              <a:t> </a:t>
            </a:r>
            <a:r>
              <a:rPr lang="fr-FR" sz="3600">
                <a:cs typeface="Times New Roman" pitchFamily="18" charset="0"/>
                <a:sym typeface="Wingdings" panose="05000000000000000000" pitchFamily="2" charset="2"/>
              </a:rPr>
              <a:t>J</a:t>
            </a:r>
            <a:r>
              <a:rPr lang="fr-FR" sz="3600">
                <a:cs typeface="Times New Roman" pitchFamily="18" charset="0"/>
              </a:rPr>
              <a:t>ustifier </a:t>
            </a:r>
            <a:r>
              <a:rPr lang="fr-FR" sz="3600" b="1">
                <a:cs typeface="Times New Roman" pitchFamily="18" charset="0"/>
              </a:rPr>
              <a:t>36 mois de travail </a:t>
            </a:r>
            <a:r>
              <a:rPr lang="fr-FR" sz="3600">
                <a:cs typeface="Times New Roman" pitchFamily="18" charset="0"/>
              </a:rPr>
              <a:t>dans une période de référence de </a:t>
            </a:r>
            <a:r>
              <a:rPr lang="fr-FR" sz="3600" b="1">
                <a:cs typeface="Times New Roman" pitchFamily="18" charset="0"/>
              </a:rPr>
              <a:t>45 mois</a:t>
            </a:r>
            <a:r>
              <a:rPr lang="fr-FR" sz="3600">
                <a:cs typeface="Times New Roman" pitchFamily="18" charset="0"/>
              </a:rPr>
              <a:t> et </a:t>
            </a:r>
            <a:r>
              <a:rPr lang="fr-FR" sz="3600" b="1">
                <a:cs typeface="Times New Roman" pitchFamily="18" charset="0"/>
              </a:rPr>
              <a:t>≤ 234 jours d’interruption</a:t>
            </a:r>
            <a:r>
              <a:rPr lang="fr-FR" sz="3600">
                <a:cs typeface="Times New Roman" pitchFamily="18" charset="0"/>
              </a:rPr>
              <a:t>.</a:t>
            </a: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16</a:t>
            </a:fld>
            <a:endParaRPr lang="fr-FR"/>
          </a:p>
        </p:txBody>
      </p:sp>
    </p:spTree>
    <p:extLst>
      <p:ext uri="{BB962C8B-B14F-4D97-AF65-F5344CB8AC3E}">
        <p14:creationId xmlns:p14="http://schemas.microsoft.com/office/powerpoint/2010/main" val="3286670988"/>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normAutofit/>
          </a:bodyPr>
          <a:lstStyle/>
          <a:p>
            <a:pPr algn="r"/>
            <a:r>
              <a:rPr lang="fr-BE" b="1" i="1">
                <a:cs typeface="Times New Roman" pitchFamily="18" charset="0"/>
              </a:rPr>
              <a:t>2.1.2. Période de référence</a:t>
            </a:r>
            <a:endParaRPr lang="en-US" i="1">
              <a:latin typeface="Times New Roman" pitchFamily="18" charset="0"/>
              <a:cs typeface="Times New Roman" pitchFamily="18" charset="0"/>
            </a:endParaRPr>
          </a:p>
        </p:txBody>
      </p:sp>
      <p:sp>
        <p:nvSpPr>
          <p:cNvPr id="3" name="Espace réservé du contenu 2"/>
          <p:cNvSpPr>
            <a:spLocks noGrp="1"/>
          </p:cNvSpPr>
          <p:nvPr>
            <p:ph idx="1"/>
          </p:nvPr>
        </p:nvSpPr>
        <p:spPr/>
        <p:txBody>
          <a:bodyPr>
            <a:noAutofit/>
          </a:bodyPr>
          <a:lstStyle/>
          <a:p>
            <a:pPr>
              <a:buFont typeface="Wingdings" panose="05000000000000000000" pitchFamily="2" charset="2"/>
              <a:buChar char="§"/>
            </a:pPr>
            <a:r>
              <a:rPr lang="fr-FR">
                <a:cs typeface="Times New Roman" pitchFamily="18" charset="0"/>
              </a:rPr>
              <a:t>La période de référence peut être </a:t>
            </a:r>
            <a:r>
              <a:rPr lang="fr-FR" b="1">
                <a:cs typeface="Times New Roman" pitchFamily="18" charset="0"/>
              </a:rPr>
              <a:t>située </a:t>
            </a:r>
            <a:r>
              <a:rPr lang="fr-FR" b="1">
                <a:solidFill>
                  <a:srgbClr val="C00000"/>
                </a:solidFill>
                <a:cs typeface="Times New Roman" pitchFamily="18" charset="0"/>
              </a:rPr>
              <a:t>librement</a:t>
            </a:r>
            <a:r>
              <a:rPr lang="fr-FR">
                <a:cs typeface="Times New Roman" pitchFamily="18" charset="0"/>
              </a:rPr>
              <a:t> à condition que </a:t>
            </a:r>
            <a:r>
              <a:rPr lang="fr-FR" b="1">
                <a:cs typeface="Times New Roman" pitchFamily="18" charset="0"/>
              </a:rPr>
              <a:t>la fin </a:t>
            </a:r>
            <a:r>
              <a:rPr lang="fr-FR">
                <a:cs typeface="Times New Roman" pitchFamily="18" charset="0"/>
              </a:rPr>
              <a:t>de cette période se situe </a:t>
            </a:r>
            <a:r>
              <a:rPr lang="fr-FR" b="1" u="sng">
                <a:cs typeface="Times New Roman" pitchFamily="18" charset="0"/>
              </a:rPr>
              <a:t>entre</a:t>
            </a:r>
            <a:r>
              <a:rPr lang="fr-FR">
                <a:cs typeface="Times New Roman" pitchFamily="18" charset="0"/>
              </a:rPr>
              <a:t> le </a:t>
            </a:r>
            <a:r>
              <a:rPr lang="fr-FR" b="1">
                <a:solidFill>
                  <a:srgbClr val="C00000"/>
                </a:solidFill>
                <a:cs typeface="Times New Roman" pitchFamily="18" charset="0"/>
              </a:rPr>
              <a:t>dernier jour indemnisé</a:t>
            </a:r>
            <a:r>
              <a:rPr lang="fr-FR">
                <a:cs typeface="Times New Roman" pitchFamily="18" charset="0"/>
              </a:rPr>
              <a:t> (DJI) et la </a:t>
            </a:r>
            <a:r>
              <a:rPr lang="fr-FR" b="1">
                <a:solidFill>
                  <a:srgbClr val="C00000"/>
                </a:solidFill>
                <a:cs typeface="Times New Roman" pitchFamily="18" charset="0"/>
              </a:rPr>
              <a:t>date de demande d’allocation</a:t>
            </a:r>
            <a:r>
              <a:rPr lang="fr-FR">
                <a:cs typeface="Times New Roman" pitchFamily="18" charset="0"/>
              </a:rPr>
              <a:t> (DA)</a:t>
            </a:r>
          </a:p>
          <a:p>
            <a:pPr>
              <a:lnSpc>
                <a:spcPct val="90000"/>
              </a:lnSpc>
              <a:buFont typeface="Wingdings" panose="05000000000000000000" pitchFamily="2" charset="2"/>
              <a:buChar char="§"/>
            </a:pPr>
            <a:r>
              <a:rPr lang="fr-BE">
                <a:cs typeface="Times New Roman" pitchFamily="18" charset="0"/>
              </a:rPr>
              <a:t>Période de référence </a:t>
            </a:r>
            <a:r>
              <a:rPr lang="fr-BE" b="1">
                <a:solidFill>
                  <a:srgbClr val="C00000"/>
                </a:solidFill>
                <a:cs typeface="Times New Roman" pitchFamily="18" charset="0"/>
              </a:rPr>
              <a:t>non prolongeable </a:t>
            </a:r>
            <a:r>
              <a:rPr lang="fr-BE" u="sng">
                <a:cs typeface="Times New Roman" pitchFamily="18" charset="0"/>
              </a:rPr>
              <a:t>sauf</a:t>
            </a:r>
            <a:r>
              <a:rPr lang="fr-BE">
                <a:cs typeface="Times New Roman" pitchFamily="18" charset="0"/>
              </a:rPr>
              <a:t> allocations de crédit temps.</a:t>
            </a:r>
          </a:p>
          <a:p>
            <a:pPr>
              <a:lnSpc>
                <a:spcPct val="90000"/>
              </a:lnSpc>
              <a:buFont typeface="Wingdings" panose="05000000000000000000" pitchFamily="2" charset="2"/>
              <a:buChar char="§"/>
            </a:pPr>
            <a:r>
              <a:rPr lang="fr-FR" b="1">
                <a:cs typeface="Times New Roman" pitchFamily="18" charset="0"/>
              </a:rPr>
              <a:t>Une période de travail </a:t>
            </a:r>
            <a:r>
              <a:rPr lang="fr-FR">
                <a:cs typeface="Times New Roman" pitchFamily="18" charset="0"/>
              </a:rPr>
              <a:t>qui a </a:t>
            </a:r>
            <a:r>
              <a:rPr lang="fr-FR" b="1">
                <a:cs typeface="Times New Roman" pitchFamily="18" charset="0"/>
              </a:rPr>
              <a:t>déjà </a:t>
            </a:r>
            <a:r>
              <a:rPr lang="fr-FR">
                <a:cs typeface="Times New Roman" pitchFamily="18" charset="0"/>
              </a:rPr>
              <a:t>été</a:t>
            </a:r>
            <a:r>
              <a:rPr lang="fr-FR" b="1">
                <a:cs typeface="Times New Roman" pitchFamily="18" charset="0"/>
              </a:rPr>
              <a:t> utilisée </a:t>
            </a:r>
            <a:r>
              <a:rPr lang="fr-FR">
                <a:cs typeface="Times New Roman" pitchFamily="18" charset="0"/>
              </a:rPr>
              <a:t>pour une admission ou un retour </a:t>
            </a:r>
            <a:r>
              <a:rPr lang="fr-FR" b="1">
                <a:solidFill>
                  <a:srgbClr val="C00000"/>
                </a:solidFill>
                <a:cs typeface="Times New Roman" pitchFamily="18" charset="0"/>
              </a:rPr>
              <a:t>ne peut plus être à nouveau utilisée</a:t>
            </a:r>
            <a:r>
              <a:rPr lang="fr-FR" b="1">
                <a:cs typeface="Times New Roman" pitchFamily="18" charset="0"/>
              </a:rPr>
              <a:t>.</a:t>
            </a:r>
            <a:endParaRPr lang="fr-FR" sz="3600" b="1">
              <a:cs typeface="Times New Roman" pitchFamily="18" charset="0"/>
            </a:endParaRPr>
          </a:p>
        </p:txBody>
      </p:sp>
      <p:sp>
        <p:nvSpPr>
          <p:cNvPr id="8" name="Espace réservé du numéro de diapositive 7"/>
          <p:cNvSpPr>
            <a:spLocks noGrp="1"/>
          </p:cNvSpPr>
          <p:nvPr>
            <p:ph type="sldNum" sz="quarter" idx="12"/>
          </p:nvPr>
        </p:nvSpPr>
        <p:spPr/>
        <p:txBody>
          <a:bodyPr/>
          <a:lstStyle/>
          <a:p>
            <a:fld id="{55E9056B-6A30-4F99-BDE9-C450E66AE125}" type="slidenum">
              <a:rPr lang="fr-FR" smtClean="0"/>
              <a:pPr/>
              <a:t>17</a:t>
            </a:fld>
            <a:endParaRPr lang="fr-F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a:xfrm>
            <a:off x="117850" y="2869607"/>
            <a:ext cx="1809185" cy="914400"/>
          </a:xfrm>
          <a:prstGeom prst="rect">
            <a:avLst/>
          </a:prstGeom>
          <a:solidFill>
            <a:srgbClr val="00FF0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b="1">
              <a:solidFill>
                <a:schemeClr val="tx1"/>
              </a:solidFill>
            </a:endParaRPr>
          </a:p>
        </p:txBody>
      </p:sp>
      <p:sp>
        <p:nvSpPr>
          <p:cNvPr id="3" name="Titre 2"/>
          <p:cNvSpPr>
            <a:spLocks noGrp="1"/>
          </p:cNvSpPr>
          <p:nvPr>
            <p:ph type="title"/>
          </p:nvPr>
        </p:nvSpPr>
        <p:spPr/>
        <p:txBody>
          <a:bodyPr>
            <a:noAutofit/>
          </a:bodyPr>
          <a:lstStyle/>
          <a:p>
            <a:pPr algn="r"/>
            <a:r>
              <a:rPr lang="fr-BE" sz="4000" b="1" i="1">
                <a:cs typeface="Times New Roman" pitchFamily="18" charset="0"/>
              </a:rPr>
              <a:t>2.1.2. Période de référence</a:t>
            </a:r>
            <a:br>
              <a:rPr lang="fr-BE" sz="4000" b="1" i="1">
                <a:cs typeface="Times New Roman" pitchFamily="18" charset="0"/>
              </a:rPr>
            </a:br>
            <a:r>
              <a:rPr lang="fr-BE" sz="4000" b="1" i="1">
                <a:cs typeface="Times New Roman" pitchFamily="18" charset="0"/>
              </a:rPr>
              <a:t>Exemple…</a:t>
            </a:r>
            <a:endParaRPr lang="en-US" sz="4000" b="1" i="1">
              <a:cs typeface="Times New Roman" pitchFamily="18" charset="0"/>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18</a:t>
            </a:fld>
            <a:endParaRPr lang="fr-FR"/>
          </a:p>
        </p:txBody>
      </p:sp>
      <p:sp>
        <p:nvSpPr>
          <p:cNvPr id="10" name="Rectangle 9"/>
          <p:cNvSpPr/>
          <p:nvPr/>
        </p:nvSpPr>
        <p:spPr>
          <a:xfrm>
            <a:off x="1932363" y="2864981"/>
            <a:ext cx="2846258" cy="914400"/>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b="1">
              <a:solidFill>
                <a:schemeClr val="tx1"/>
              </a:solidFill>
            </a:endParaRPr>
          </a:p>
        </p:txBody>
      </p:sp>
      <p:cxnSp>
        <p:nvCxnSpPr>
          <p:cNvPr id="19" name="Connecteur droit 18"/>
          <p:cNvCxnSpPr/>
          <p:nvPr/>
        </p:nvCxnSpPr>
        <p:spPr>
          <a:xfrm>
            <a:off x="8419037" y="2838251"/>
            <a:ext cx="19206" cy="186198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ZoneTexte 24"/>
          <p:cNvSpPr txBox="1"/>
          <p:nvPr/>
        </p:nvSpPr>
        <p:spPr>
          <a:xfrm>
            <a:off x="7770417" y="4718396"/>
            <a:ext cx="1337760" cy="523220"/>
          </a:xfrm>
          <a:prstGeom prst="rect">
            <a:avLst/>
          </a:prstGeom>
          <a:noFill/>
        </p:spPr>
        <p:txBody>
          <a:bodyPr wrap="square" rtlCol="0">
            <a:spAutoFit/>
          </a:bodyPr>
          <a:lstStyle/>
          <a:p>
            <a:pPr algn="ctr"/>
            <a:r>
              <a:rPr lang="fr-BE" sz="1400" b="1">
                <a:solidFill>
                  <a:srgbClr val="00B050"/>
                </a:solidFill>
              </a:rPr>
              <a:t>DA en CC</a:t>
            </a:r>
          </a:p>
          <a:p>
            <a:pPr algn="ctr"/>
            <a:r>
              <a:rPr lang="fr-BE" sz="1400" b="1">
                <a:solidFill>
                  <a:srgbClr val="00B050"/>
                </a:solidFill>
              </a:rPr>
              <a:t>02.10.2023</a:t>
            </a:r>
          </a:p>
        </p:txBody>
      </p:sp>
      <p:cxnSp>
        <p:nvCxnSpPr>
          <p:cNvPr id="28" name="Connecteur droit avec flèche 27"/>
          <p:cNvCxnSpPr/>
          <p:nvPr/>
        </p:nvCxnSpPr>
        <p:spPr>
          <a:xfrm flipV="1">
            <a:off x="0" y="3779856"/>
            <a:ext cx="8892480" cy="22836"/>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20" name="Rectangle 19"/>
          <p:cNvSpPr/>
          <p:nvPr/>
        </p:nvSpPr>
        <p:spPr>
          <a:xfrm>
            <a:off x="4783949" y="2865238"/>
            <a:ext cx="3648967" cy="914400"/>
          </a:xfrm>
          <a:prstGeom prst="rect">
            <a:avLst/>
          </a:prstGeom>
          <a:solidFill>
            <a:srgbClr val="FFFF0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b="1">
              <a:solidFill>
                <a:schemeClr val="tx1"/>
              </a:solidFill>
            </a:endParaRPr>
          </a:p>
        </p:txBody>
      </p:sp>
      <p:sp>
        <p:nvSpPr>
          <p:cNvPr id="24" name="Parenthèse ouvrante 23"/>
          <p:cNvSpPr/>
          <p:nvPr/>
        </p:nvSpPr>
        <p:spPr>
          <a:xfrm rot="5400000">
            <a:off x="6236721" y="1584428"/>
            <a:ext cx="1406220" cy="3007473"/>
          </a:xfrm>
          <a:prstGeom prst="leftBracket">
            <a:avLst>
              <a:gd name="adj" fmla="val 4897"/>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a:p>
        </p:txBody>
      </p:sp>
      <p:sp>
        <p:nvSpPr>
          <p:cNvPr id="31" name="ZoneTexte 30"/>
          <p:cNvSpPr txBox="1"/>
          <p:nvPr/>
        </p:nvSpPr>
        <p:spPr>
          <a:xfrm>
            <a:off x="5765989" y="1753578"/>
            <a:ext cx="2347686" cy="523220"/>
          </a:xfrm>
          <a:prstGeom prst="rect">
            <a:avLst/>
          </a:prstGeom>
          <a:noFill/>
        </p:spPr>
        <p:txBody>
          <a:bodyPr wrap="square" rtlCol="0">
            <a:spAutoFit/>
          </a:bodyPr>
          <a:lstStyle/>
          <a:p>
            <a:pPr algn="ctr"/>
            <a:r>
              <a:rPr lang="fr-BE" sz="1400" b="1">
                <a:solidFill>
                  <a:srgbClr val="FF0000"/>
                </a:solidFill>
              </a:rPr>
              <a:t>Période de Référence </a:t>
            </a:r>
          </a:p>
          <a:p>
            <a:pPr algn="ctr"/>
            <a:r>
              <a:rPr lang="fr-BE" sz="1400" b="1">
                <a:solidFill>
                  <a:srgbClr val="FF0000"/>
                </a:solidFill>
              </a:rPr>
              <a:t>Du 02.04.2022 au 01.10.2023</a:t>
            </a:r>
          </a:p>
        </p:txBody>
      </p:sp>
      <p:sp>
        <p:nvSpPr>
          <p:cNvPr id="32" name="ZoneTexte 31"/>
          <p:cNvSpPr txBox="1"/>
          <p:nvPr/>
        </p:nvSpPr>
        <p:spPr>
          <a:xfrm>
            <a:off x="1582261" y="1692077"/>
            <a:ext cx="2347686" cy="523220"/>
          </a:xfrm>
          <a:prstGeom prst="rect">
            <a:avLst/>
          </a:prstGeom>
          <a:noFill/>
        </p:spPr>
        <p:txBody>
          <a:bodyPr wrap="square" rtlCol="0">
            <a:spAutoFit/>
          </a:bodyPr>
          <a:lstStyle/>
          <a:p>
            <a:pPr algn="ctr"/>
            <a:r>
              <a:rPr lang="fr-BE" sz="1400" b="1">
                <a:solidFill>
                  <a:srgbClr val="FF0000"/>
                </a:solidFill>
              </a:rPr>
              <a:t>PR placée librement</a:t>
            </a:r>
          </a:p>
          <a:p>
            <a:pPr algn="ctr"/>
            <a:r>
              <a:rPr lang="fr-BE" sz="1400" b="1">
                <a:solidFill>
                  <a:srgbClr val="FF0000"/>
                </a:solidFill>
              </a:rPr>
              <a:t>Du 01.08.20 au 31.01.2022</a:t>
            </a:r>
          </a:p>
        </p:txBody>
      </p:sp>
      <p:sp>
        <p:nvSpPr>
          <p:cNvPr id="33" name="ZoneTexte 32"/>
          <p:cNvSpPr txBox="1"/>
          <p:nvPr/>
        </p:nvSpPr>
        <p:spPr>
          <a:xfrm>
            <a:off x="2123836" y="3063122"/>
            <a:ext cx="2448164" cy="523220"/>
          </a:xfrm>
          <a:prstGeom prst="rect">
            <a:avLst/>
          </a:prstGeom>
          <a:noFill/>
        </p:spPr>
        <p:txBody>
          <a:bodyPr wrap="square" rtlCol="0">
            <a:spAutoFit/>
          </a:bodyPr>
          <a:lstStyle/>
          <a:p>
            <a:pPr algn="ctr"/>
            <a:r>
              <a:rPr lang="fr-BE" sz="1400" b="1"/>
              <a:t>38/38 employeur A</a:t>
            </a:r>
          </a:p>
          <a:p>
            <a:pPr algn="ctr"/>
            <a:r>
              <a:rPr lang="fr-BE" sz="1400" b="1"/>
              <a:t>Du 01.11.20 au 31.01.22</a:t>
            </a:r>
          </a:p>
        </p:txBody>
      </p:sp>
      <p:sp>
        <p:nvSpPr>
          <p:cNvPr id="35" name="ZoneTexte 34"/>
          <p:cNvSpPr txBox="1"/>
          <p:nvPr/>
        </p:nvSpPr>
        <p:spPr>
          <a:xfrm>
            <a:off x="5062545" y="3174903"/>
            <a:ext cx="3091773" cy="307777"/>
          </a:xfrm>
          <a:prstGeom prst="rect">
            <a:avLst/>
          </a:prstGeom>
          <a:noFill/>
        </p:spPr>
        <p:txBody>
          <a:bodyPr wrap="square" rtlCol="0">
            <a:spAutoFit/>
          </a:bodyPr>
          <a:lstStyle/>
          <a:p>
            <a:pPr algn="ctr"/>
            <a:r>
              <a:rPr lang="fr-BE" sz="1400" b="1"/>
              <a:t>Inactivité du 01.02.2022 au 30.09.2023</a:t>
            </a:r>
          </a:p>
        </p:txBody>
      </p:sp>
      <p:sp>
        <p:nvSpPr>
          <p:cNvPr id="36" name="ZoneTexte 35"/>
          <p:cNvSpPr txBox="1"/>
          <p:nvPr/>
        </p:nvSpPr>
        <p:spPr>
          <a:xfrm>
            <a:off x="117851" y="2947979"/>
            <a:ext cx="1799364" cy="738664"/>
          </a:xfrm>
          <a:prstGeom prst="rect">
            <a:avLst/>
          </a:prstGeom>
          <a:noFill/>
        </p:spPr>
        <p:txBody>
          <a:bodyPr wrap="square" rtlCol="0">
            <a:spAutoFit/>
          </a:bodyPr>
          <a:lstStyle/>
          <a:p>
            <a:pPr algn="ctr"/>
            <a:r>
              <a:rPr lang="fr-BE" sz="1400" b="1"/>
              <a:t>CC</a:t>
            </a:r>
          </a:p>
          <a:p>
            <a:pPr algn="ctr"/>
            <a:r>
              <a:rPr lang="fr-BE" sz="1400" b="1"/>
              <a:t>DJI</a:t>
            </a:r>
          </a:p>
          <a:p>
            <a:pPr algn="ctr"/>
            <a:r>
              <a:rPr lang="fr-BE" sz="1400" b="1"/>
              <a:t>31.10.20</a:t>
            </a:r>
          </a:p>
        </p:txBody>
      </p:sp>
      <p:sp>
        <p:nvSpPr>
          <p:cNvPr id="38" name="ZoneTexte 37"/>
          <p:cNvSpPr txBox="1"/>
          <p:nvPr/>
        </p:nvSpPr>
        <p:spPr>
          <a:xfrm>
            <a:off x="7770417" y="5340820"/>
            <a:ext cx="1398217" cy="738664"/>
          </a:xfrm>
          <a:prstGeom prst="rect">
            <a:avLst/>
          </a:prstGeom>
          <a:noFill/>
        </p:spPr>
        <p:txBody>
          <a:bodyPr wrap="square" rtlCol="0">
            <a:spAutoFit/>
          </a:bodyPr>
          <a:lstStyle/>
          <a:p>
            <a:pPr algn="ctr"/>
            <a:r>
              <a:rPr lang="fr-BE" sz="1400" b="1">
                <a:solidFill>
                  <a:srgbClr val="00B050"/>
                </a:solidFill>
              </a:rPr>
              <a:t>Admissible en CC </a:t>
            </a:r>
            <a:r>
              <a:rPr lang="fr-BE" sz="1400" b="1">
                <a:solidFill>
                  <a:srgbClr val="00B050"/>
                </a:solidFill>
                <a:sym typeface="Wingdings" panose="05000000000000000000" pitchFamily="2" charset="2"/>
              </a:rPr>
              <a:t> art.42</a:t>
            </a:r>
            <a:r>
              <a:rPr lang="fr-BE" sz="1400" b="1">
                <a:solidFill>
                  <a:srgbClr val="00B050"/>
                </a:solidFill>
              </a:rPr>
              <a:t> DJI = 31.10.20</a:t>
            </a:r>
          </a:p>
        </p:txBody>
      </p:sp>
      <p:sp>
        <p:nvSpPr>
          <p:cNvPr id="39" name="ZoneTexte 38"/>
          <p:cNvSpPr txBox="1"/>
          <p:nvPr/>
        </p:nvSpPr>
        <p:spPr>
          <a:xfrm>
            <a:off x="7921079" y="5326904"/>
            <a:ext cx="1337760" cy="307777"/>
          </a:xfrm>
          <a:prstGeom prst="rect">
            <a:avLst/>
          </a:prstGeom>
          <a:noFill/>
        </p:spPr>
        <p:txBody>
          <a:bodyPr wrap="square" rtlCol="0">
            <a:spAutoFit/>
          </a:bodyPr>
          <a:lstStyle/>
          <a:p>
            <a:pPr algn="ctr"/>
            <a:endParaRPr lang="fr-BE" sz="1400" b="1">
              <a:solidFill>
                <a:srgbClr val="00B050"/>
              </a:solidFill>
            </a:endParaRPr>
          </a:p>
        </p:txBody>
      </p:sp>
      <p:sp>
        <p:nvSpPr>
          <p:cNvPr id="40" name="ZoneTexte 39"/>
          <p:cNvSpPr txBox="1"/>
          <p:nvPr/>
        </p:nvSpPr>
        <p:spPr>
          <a:xfrm>
            <a:off x="7806240" y="5987867"/>
            <a:ext cx="1337760" cy="307777"/>
          </a:xfrm>
          <a:prstGeom prst="rect">
            <a:avLst/>
          </a:prstGeom>
          <a:noFill/>
        </p:spPr>
        <p:txBody>
          <a:bodyPr wrap="square" rtlCol="0">
            <a:spAutoFit/>
          </a:bodyPr>
          <a:lstStyle/>
          <a:p>
            <a:pPr algn="ctr"/>
            <a:r>
              <a:rPr lang="fr-BE" sz="1400" b="1">
                <a:solidFill>
                  <a:srgbClr val="00B050"/>
                </a:solidFill>
              </a:rPr>
              <a:t>QUID 116§1</a:t>
            </a:r>
          </a:p>
        </p:txBody>
      </p:sp>
    </p:spTree>
    <p:extLst>
      <p:ext uri="{BB962C8B-B14F-4D97-AF65-F5344CB8AC3E}">
        <p14:creationId xmlns:p14="http://schemas.microsoft.com/office/powerpoint/2010/main" val="966220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50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xEl>
                                              <p:pRg st="0" end="0"/>
                                            </p:txEl>
                                          </p:spTgt>
                                        </p:tgtEl>
                                        <p:attrNameLst>
                                          <p:attrName>style.visibility</p:attrName>
                                        </p:attrNameLst>
                                      </p:cBhvr>
                                      <p:to>
                                        <p:strVal val="visible"/>
                                      </p:to>
                                    </p:set>
                                    <p:animEffect transition="in" filter="fade">
                                      <p:cBhvr>
                                        <p:cTn id="34" dur="500"/>
                                        <p:tgtEl>
                                          <p:spTgt spid="25">
                                            <p:txEl>
                                              <p:pRg st="0" end="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5">
                                            <p:txEl>
                                              <p:pRg st="1" end="1"/>
                                            </p:txEl>
                                          </p:spTgt>
                                        </p:tgtEl>
                                        <p:attrNameLst>
                                          <p:attrName>style.visibility</p:attrName>
                                        </p:attrNameLst>
                                      </p:cBhvr>
                                      <p:to>
                                        <p:strVal val="visible"/>
                                      </p:to>
                                    </p:set>
                                    <p:animEffect transition="in" filter="fade">
                                      <p:cBhvr>
                                        <p:cTn id="37" dur="500"/>
                                        <p:tgtEl>
                                          <p:spTgt spid="2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nodePh="1">
                                  <p:stCondLst>
                                    <p:cond delay="0"/>
                                  </p:stCondLst>
                                  <p:endCondLst>
                                    <p:cond evt="begin" delay="0">
                                      <p:tn val="40"/>
                                    </p:cond>
                                  </p:end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500"/>
                                        <p:tgtEl>
                                          <p:spTgt spid="38"/>
                                        </p:tgtEl>
                                      </p:cBhvr>
                                    </p:animEffect>
                                  </p:childTnLst>
                                </p:cTn>
                              </p:par>
                              <p:par>
                                <p:cTn id="48" presetID="10" presetClass="exit" presetSubtype="0" fill="hold" grpId="1" nodeType="withEffect" nodePh="1">
                                  <p:stCondLst>
                                    <p:cond delay="0"/>
                                  </p:stCondLst>
                                  <p:endCondLst>
                                    <p:cond evt="begin" delay="0">
                                      <p:tn val="48"/>
                                    </p:cond>
                                  </p:endCondLst>
                                  <p:childTnLst>
                                    <p:animEffect transition="out" filter="fade">
                                      <p:cBhvr>
                                        <p:cTn id="49" dur="500"/>
                                        <p:tgtEl>
                                          <p:spTgt spid="39"/>
                                        </p:tgtEl>
                                      </p:cBhvr>
                                    </p:animEffect>
                                    <p:set>
                                      <p:cBhvr>
                                        <p:cTn id="50" dur="1" fill="hold">
                                          <p:stCondLst>
                                            <p:cond delay="499"/>
                                          </p:stCondLst>
                                        </p:cTn>
                                        <p:tgtEl>
                                          <p:spTgt spid="39"/>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500"/>
                                        <p:tgtEl>
                                          <p:spTgt spid="4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500"/>
                                        <p:tgtEl>
                                          <p:spTgt spid="32"/>
                                        </p:tgtEl>
                                      </p:cBhvr>
                                    </p:animEffect>
                                  </p:childTnLst>
                                </p:cTn>
                              </p:par>
                              <p:par>
                                <p:cTn id="67" presetID="42" presetClass="path" presetSubtype="0" accel="50000" decel="50000" fill="hold" grpId="1" nodeType="withEffect">
                                  <p:stCondLst>
                                    <p:cond delay="0"/>
                                  </p:stCondLst>
                                  <p:childTnLst>
                                    <p:animMotion origin="layout" path="M -4.16667E-6 -1.48148E-6 L -0.40173 -0.00139 " pathEditMode="relative" rAng="0" ptsTypes="AA">
                                      <p:cBhvr>
                                        <p:cTn id="68" dur="2000" fill="hold"/>
                                        <p:tgtEl>
                                          <p:spTgt spid="24"/>
                                        </p:tgtEl>
                                        <p:attrNameLst>
                                          <p:attrName>ppt_x</p:attrName>
                                          <p:attrName>ppt_y</p:attrName>
                                        </p:attrNameLst>
                                      </p:cBhvr>
                                      <p:rCtr x="-20087" y="-69"/>
                                    </p:animMotion>
                                  </p:childTnLst>
                                </p:cTn>
                              </p:par>
                              <p:par>
                                <p:cTn id="69" presetID="10" presetClass="exit" presetSubtype="0" fill="hold" grpId="1" nodeType="withEffect">
                                  <p:stCondLst>
                                    <p:cond delay="0"/>
                                  </p:stCondLst>
                                  <p:childTnLst>
                                    <p:animEffect transition="out" filter="fade">
                                      <p:cBhvr>
                                        <p:cTn id="70" dur="500"/>
                                        <p:tgtEl>
                                          <p:spTgt spid="31"/>
                                        </p:tgtEl>
                                      </p:cBhvr>
                                    </p:animEffect>
                                    <p:set>
                                      <p:cBhvr>
                                        <p:cTn id="71"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0" grpId="0" animBg="1"/>
      <p:bldP spid="20" grpId="0" animBg="1"/>
      <p:bldP spid="24" grpId="0" animBg="1"/>
      <p:bldP spid="24" grpId="1" animBg="1"/>
      <p:bldP spid="31" grpId="0"/>
      <p:bldP spid="31" grpId="1"/>
      <p:bldP spid="32" grpId="0"/>
      <p:bldP spid="33" grpId="0"/>
      <p:bldP spid="35" grpId="0"/>
      <p:bldP spid="36" grpId="0"/>
      <p:bldP spid="38" grpId="0"/>
      <p:bldP spid="39" grpId="0"/>
      <p:bldP spid="39" grpId="1"/>
      <p:bldP spid="4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Autofit/>
          </a:bodyPr>
          <a:lstStyle/>
          <a:p>
            <a:pPr algn="r"/>
            <a:r>
              <a:rPr lang="fr-BE" sz="4000" b="1" i="1">
                <a:cs typeface="Times New Roman" pitchFamily="18" charset="0"/>
              </a:rPr>
              <a:t>2.1.2. Période de référence</a:t>
            </a:r>
            <a:br>
              <a:rPr lang="fr-BE" sz="4000" b="1" i="1">
                <a:cs typeface="Times New Roman" pitchFamily="18" charset="0"/>
              </a:rPr>
            </a:br>
            <a:r>
              <a:rPr lang="fr-BE" sz="4000" b="1" i="1">
                <a:cs typeface="Times New Roman" pitchFamily="18" charset="0"/>
              </a:rPr>
              <a:t>Exemple…</a:t>
            </a:r>
            <a:endParaRPr lang="en-US" sz="4000" b="1" i="1">
              <a:cs typeface="Times New Roman" pitchFamily="18" charset="0"/>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19</a:t>
            </a:fld>
            <a:endParaRPr lang="fr-FR"/>
          </a:p>
        </p:txBody>
      </p:sp>
      <p:sp>
        <p:nvSpPr>
          <p:cNvPr id="10" name="Rectangle 9"/>
          <p:cNvSpPr/>
          <p:nvPr/>
        </p:nvSpPr>
        <p:spPr>
          <a:xfrm>
            <a:off x="1020206" y="2865456"/>
            <a:ext cx="2332803" cy="914400"/>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b="1">
              <a:solidFill>
                <a:schemeClr val="tx1"/>
              </a:solidFill>
            </a:endParaRPr>
          </a:p>
        </p:txBody>
      </p:sp>
      <p:cxnSp>
        <p:nvCxnSpPr>
          <p:cNvPr id="19" name="Connecteur droit 18"/>
          <p:cNvCxnSpPr/>
          <p:nvPr/>
        </p:nvCxnSpPr>
        <p:spPr>
          <a:xfrm>
            <a:off x="8419037" y="2838251"/>
            <a:ext cx="19206" cy="186198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ZoneTexte 24"/>
          <p:cNvSpPr txBox="1"/>
          <p:nvPr/>
        </p:nvSpPr>
        <p:spPr>
          <a:xfrm>
            <a:off x="7770417" y="4718396"/>
            <a:ext cx="1337760" cy="523220"/>
          </a:xfrm>
          <a:prstGeom prst="rect">
            <a:avLst/>
          </a:prstGeom>
          <a:noFill/>
        </p:spPr>
        <p:txBody>
          <a:bodyPr wrap="square" rtlCol="0">
            <a:spAutoFit/>
          </a:bodyPr>
          <a:lstStyle/>
          <a:p>
            <a:pPr algn="ctr"/>
            <a:r>
              <a:rPr lang="fr-BE" sz="1400" b="1">
                <a:solidFill>
                  <a:srgbClr val="00B050"/>
                </a:solidFill>
              </a:rPr>
              <a:t>DA en CC</a:t>
            </a:r>
          </a:p>
          <a:p>
            <a:pPr algn="ctr"/>
            <a:r>
              <a:rPr lang="fr-BE" sz="1400" b="1">
                <a:solidFill>
                  <a:srgbClr val="00B050"/>
                </a:solidFill>
              </a:rPr>
              <a:t>02.10.2023</a:t>
            </a:r>
          </a:p>
        </p:txBody>
      </p:sp>
      <p:cxnSp>
        <p:nvCxnSpPr>
          <p:cNvPr id="28" name="Connecteur droit avec flèche 27"/>
          <p:cNvCxnSpPr/>
          <p:nvPr/>
        </p:nvCxnSpPr>
        <p:spPr>
          <a:xfrm flipV="1">
            <a:off x="0" y="3779856"/>
            <a:ext cx="8892480" cy="22836"/>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20" name="Rectangle 19"/>
          <p:cNvSpPr/>
          <p:nvPr/>
        </p:nvSpPr>
        <p:spPr>
          <a:xfrm>
            <a:off x="3358741" y="2865456"/>
            <a:ext cx="1501291" cy="914400"/>
          </a:xfrm>
          <a:prstGeom prst="rect">
            <a:avLst/>
          </a:prstGeom>
          <a:solidFill>
            <a:srgbClr val="FFFF0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b="1">
              <a:solidFill>
                <a:schemeClr val="tx1"/>
              </a:solidFill>
            </a:endParaRPr>
          </a:p>
        </p:txBody>
      </p:sp>
      <p:sp>
        <p:nvSpPr>
          <p:cNvPr id="29" name="Rectangle 28"/>
          <p:cNvSpPr/>
          <p:nvPr/>
        </p:nvSpPr>
        <p:spPr>
          <a:xfrm>
            <a:off x="117850" y="2869607"/>
            <a:ext cx="902355" cy="914400"/>
          </a:xfrm>
          <a:prstGeom prst="rect">
            <a:avLst/>
          </a:prstGeom>
          <a:solidFill>
            <a:srgbClr val="00FF0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b="1">
              <a:solidFill>
                <a:schemeClr val="tx1"/>
              </a:solidFill>
            </a:endParaRPr>
          </a:p>
        </p:txBody>
      </p:sp>
      <p:sp>
        <p:nvSpPr>
          <p:cNvPr id="31" name="ZoneTexte 30"/>
          <p:cNvSpPr txBox="1"/>
          <p:nvPr/>
        </p:nvSpPr>
        <p:spPr>
          <a:xfrm>
            <a:off x="4088874" y="1782125"/>
            <a:ext cx="2389547" cy="523220"/>
          </a:xfrm>
          <a:prstGeom prst="rect">
            <a:avLst/>
          </a:prstGeom>
          <a:noFill/>
        </p:spPr>
        <p:txBody>
          <a:bodyPr wrap="square" rtlCol="0">
            <a:spAutoFit/>
          </a:bodyPr>
          <a:lstStyle/>
          <a:p>
            <a:pPr algn="ctr"/>
            <a:r>
              <a:rPr lang="fr-BE" sz="1400" b="1">
                <a:solidFill>
                  <a:srgbClr val="FF0000"/>
                </a:solidFill>
              </a:rPr>
              <a:t>Période de Référence </a:t>
            </a:r>
          </a:p>
          <a:p>
            <a:pPr algn="ctr"/>
            <a:r>
              <a:rPr lang="fr-BE" sz="1400" b="1">
                <a:solidFill>
                  <a:srgbClr val="FF0000"/>
                </a:solidFill>
              </a:rPr>
              <a:t>Du 01.04.2022 au 30.09.2023</a:t>
            </a:r>
          </a:p>
        </p:txBody>
      </p:sp>
      <p:sp>
        <p:nvSpPr>
          <p:cNvPr id="32" name="ZoneTexte 31"/>
          <p:cNvSpPr txBox="1"/>
          <p:nvPr/>
        </p:nvSpPr>
        <p:spPr>
          <a:xfrm>
            <a:off x="117849" y="1782125"/>
            <a:ext cx="5462263" cy="537968"/>
          </a:xfrm>
          <a:prstGeom prst="rect">
            <a:avLst/>
          </a:prstGeom>
          <a:noFill/>
        </p:spPr>
        <p:txBody>
          <a:bodyPr wrap="square" rtlCol="0">
            <a:spAutoFit/>
          </a:bodyPr>
          <a:lstStyle/>
          <a:p>
            <a:pPr algn="ctr"/>
            <a:r>
              <a:rPr lang="fr-BE" sz="1400" b="1">
                <a:solidFill>
                  <a:srgbClr val="FF0000"/>
                </a:solidFill>
              </a:rPr>
              <a:t>PR placée librement</a:t>
            </a:r>
          </a:p>
          <a:p>
            <a:pPr algn="ctr"/>
            <a:r>
              <a:rPr lang="fr-BE" sz="1400" b="1">
                <a:solidFill>
                  <a:srgbClr val="FF0000"/>
                </a:solidFill>
              </a:rPr>
              <a:t>Du 01.01.2022 au 30.06.2023</a:t>
            </a:r>
          </a:p>
        </p:txBody>
      </p:sp>
      <p:sp>
        <p:nvSpPr>
          <p:cNvPr id="33" name="ZoneTexte 32"/>
          <p:cNvSpPr txBox="1"/>
          <p:nvPr/>
        </p:nvSpPr>
        <p:spPr>
          <a:xfrm>
            <a:off x="998194" y="3060546"/>
            <a:ext cx="2327479" cy="523220"/>
          </a:xfrm>
          <a:prstGeom prst="rect">
            <a:avLst/>
          </a:prstGeom>
          <a:noFill/>
        </p:spPr>
        <p:txBody>
          <a:bodyPr wrap="square" rtlCol="0">
            <a:spAutoFit/>
          </a:bodyPr>
          <a:lstStyle/>
          <a:p>
            <a:pPr algn="ctr"/>
            <a:r>
              <a:rPr lang="fr-BE" sz="1400" b="1"/>
              <a:t>38/38 employeur A</a:t>
            </a:r>
          </a:p>
          <a:p>
            <a:pPr algn="ctr"/>
            <a:r>
              <a:rPr lang="fr-BE" sz="1400" b="1"/>
              <a:t>du 01.01.2022 au 30.06.2022</a:t>
            </a:r>
          </a:p>
        </p:txBody>
      </p:sp>
      <p:sp>
        <p:nvSpPr>
          <p:cNvPr id="35" name="ZoneTexte 34"/>
          <p:cNvSpPr txBox="1"/>
          <p:nvPr/>
        </p:nvSpPr>
        <p:spPr>
          <a:xfrm>
            <a:off x="3353009" y="2947979"/>
            <a:ext cx="1507024" cy="738664"/>
          </a:xfrm>
          <a:prstGeom prst="rect">
            <a:avLst/>
          </a:prstGeom>
          <a:noFill/>
        </p:spPr>
        <p:txBody>
          <a:bodyPr wrap="square" rtlCol="0">
            <a:spAutoFit/>
          </a:bodyPr>
          <a:lstStyle/>
          <a:p>
            <a:pPr algn="ctr"/>
            <a:r>
              <a:rPr lang="fr-BE" sz="1400" b="1"/>
              <a:t>Inactivité du 01.07.2022 au 30.09.2022</a:t>
            </a:r>
          </a:p>
        </p:txBody>
      </p:sp>
      <p:sp>
        <p:nvSpPr>
          <p:cNvPr id="36" name="ZoneTexte 35"/>
          <p:cNvSpPr txBox="1"/>
          <p:nvPr/>
        </p:nvSpPr>
        <p:spPr>
          <a:xfrm>
            <a:off x="56127" y="2939722"/>
            <a:ext cx="1010490" cy="738664"/>
          </a:xfrm>
          <a:prstGeom prst="rect">
            <a:avLst/>
          </a:prstGeom>
          <a:noFill/>
        </p:spPr>
        <p:txBody>
          <a:bodyPr wrap="square" rtlCol="0">
            <a:spAutoFit/>
          </a:bodyPr>
          <a:lstStyle/>
          <a:p>
            <a:pPr algn="ctr"/>
            <a:r>
              <a:rPr lang="fr-BE" sz="1400" b="1"/>
              <a:t>CC</a:t>
            </a:r>
          </a:p>
          <a:p>
            <a:pPr algn="ctr"/>
            <a:r>
              <a:rPr lang="fr-BE" sz="1400" b="1"/>
              <a:t>DJI</a:t>
            </a:r>
          </a:p>
          <a:p>
            <a:pPr algn="ctr"/>
            <a:r>
              <a:rPr lang="fr-BE" sz="1400" b="1"/>
              <a:t>31.12.2021</a:t>
            </a:r>
          </a:p>
        </p:txBody>
      </p:sp>
      <p:sp>
        <p:nvSpPr>
          <p:cNvPr id="38" name="ZoneTexte 37"/>
          <p:cNvSpPr txBox="1"/>
          <p:nvPr/>
        </p:nvSpPr>
        <p:spPr>
          <a:xfrm>
            <a:off x="7770417" y="5340820"/>
            <a:ext cx="1398217" cy="738664"/>
          </a:xfrm>
          <a:prstGeom prst="rect">
            <a:avLst/>
          </a:prstGeom>
          <a:noFill/>
        </p:spPr>
        <p:txBody>
          <a:bodyPr wrap="square" rtlCol="0">
            <a:spAutoFit/>
          </a:bodyPr>
          <a:lstStyle/>
          <a:p>
            <a:pPr algn="ctr"/>
            <a:r>
              <a:rPr lang="fr-BE" sz="1400" b="1">
                <a:solidFill>
                  <a:srgbClr val="00B050"/>
                </a:solidFill>
              </a:rPr>
              <a:t>Admissible en CC </a:t>
            </a:r>
            <a:r>
              <a:rPr lang="fr-BE" sz="1400" b="1">
                <a:solidFill>
                  <a:srgbClr val="00B050"/>
                </a:solidFill>
                <a:sym typeface="Wingdings" panose="05000000000000000000" pitchFamily="2" charset="2"/>
              </a:rPr>
              <a:t> art.42</a:t>
            </a:r>
            <a:r>
              <a:rPr lang="fr-BE" sz="1400" b="1">
                <a:solidFill>
                  <a:srgbClr val="00B050"/>
                </a:solidFill>
              </a:rPr>
              <a:t> DJI =31.12.2021</a:t>
            </a:r>
          </a:p>
        </p:txBody>
      </p:sp>
      <p:sp>
        <p:nvSpPr>
          <p:cNvPr id="40" name="ZoneTexte 39"/>
          <p:cNvSpPr txBox="1"/>
          <p:nvPr/>
        </p:nvSpPr>
        <p:spPr>
          <a:xfrm>
            <a:off x="7806240" y="5987867"/>
            <a:ext cx="1337760" cy="307777"/>
          </a:xfrm>
          <a:prstGeom prst="rect">
            <a:avLst/>
          </a:prstGeom>
          <a:noFill/>
        </p:spPr>
        <p:txBody>
          <a:bodyPr wrap="square" rtlCol="0">
            <a:spAutoFit/>
          </a:bodyPr>
          <a:lstStyle/>
          <a:p>
            <a:pPr algn="ctr"/>
            <a:r>
              <a:rPr lang="fr-BE" sz="1400" b="1">
                <a:solidFill>
                  <a:srgbClr val="00B050"/>
                </a:solidFill>
              </a:rPr>
              <a:t>QUID 116§1</a:t>
            </a:r>
          </a:p>
        </p:txBody>
      </p:sp>
      <p:sp>
        <p:nvSpPr>
          <p:cNvPr id="23" name="Rectangle 22"/>
          <p:cNvSpPr/>
          <p:nvPr/>
        </p:nvSpPr>
        <p:spPr>
          <a:xfrm>
            <a:off x="4860032" y="2867551"/>
            <a:ext cx="2076512" cy="899519"/>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b="1">
              <a:solidFill>
                <a:schemeClr val="tx1"/>
              </a:solidFill>
            </a:endParaRPr>
          </a:p>
        </p:txBody>
      </p:sp>
      <p:sp>
        <p:nvSpPr>
          <p:cNvPr id="26" name="ZoneTexte 25"/>
          <p:cNvSpPr txBox="1"/>
          <p:nvPr/>
        </p:nvSpPr>
        <p:spPr>
          <a:xfrm>
            <a:off x="4887369" y="2982197"/>
            <a:ext cx="2089223" cy="738664"/>
          </a:xfrm>
          <a:prstGeom prst="rect">
            <a:avLst/>
          </a:prstGeom>
          <a:noFill/>
        </p:spPr>
        <p:txBody>
          <a:bodyPr wrap="square" rtlCol="0">
            <a:spAutoFit/>
          </a:bodyPr>
          <a:lstStyle/>
          <a:p>
            <a:pPr algn="ctr"/>
            <a:r>
              <a:rPr lang="fr-BE" sz="1400" b="1"/>
              <a:t>38/38 employeur B </a:t>
            </a:r>
          </a:p>
          <a:p>
            <a:pPr algn="ctr"/>
            <a:r>
              <a:rPr lang="fr-BE" sz="1400" b="1"/>
              <a:t>du 01.10.2022 au 30.04.2023</a:t>
            </a:r>
          </a:p>
        </p:txBody>
      </p:sp>
      <p:sp>
        <p:nvSpPr>
          <p:cNvPr id="27" name="Rectangle 26"/>
          <p:cNvSpPr/>
          <p:nvPr/>
        </p:nvSpPr>
        <p:spPr>
          <a:xfrm>
            <a:off x="6943117" y="2869607"/>
            <a:ext cx="1475921" cy="914400"/>
          </a:xfrm>
          <a:prstGeom prst="rect">
            <a:avLst/>
          </a:prstGeom>
          <a:solidFill>
            <a:srgbClr val="FFFF0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b="1">
              <a:solidFill>
                <a:schemeClr val="tx1"/>
              </a:solidFill>
            </a:endParaRPr>
          </a:p>
        </p:txBody>
      </p:sp>
      <p:sp>
        <p:nvSpPr>
          <p:cNvPr id="30" name="ZoneTexte 29"/>
          <p:cNvSpPr txBox="1"/>
          <p:nvPr/>
        </p:nvSpPr>
        <p:spPr>
          <a:xfrm>
            <a:off x="6912013" y="2921491"/>
            <a:ext cx="1507024" cy="738664"/>
          </a:xfrm>
          <a:prstGeom prst="rect">
            <a:avLst/>
          </a:prstGeom>
          <a:noFill/>
        </p:spPr>
        <p:txBody>
          <a:bodyPr wrap="square" rtlCol="0">
            <a:spAutoFit/>
          </a:bodyPr>
          <a:lstStyle/>
          <a:p>
            <a:pPr algn="ctr"/>
            <a:r>
              <a:rPr lang="fr-BE" sz="1400" b="1"/>
              <a:t>Inactivité du 01.05.2023 au 30.09.2023</a:t>
            </a:r>
          </a:p>
        </p:txBody>
      </p:sp>
      <p:sp>
        <p:nvSpPr>
          <p:cNvPr id="34" name="Parenthèse ouvrante 33"/>
          <p:cNvSpPr/>
          <p:nvPr/>
        </p:nvSpPr>
        <p:spPr>
          <a:xfrm rot="5400000">
            <a:off x="4546291" y="-54656"/>
            <a:ext cx="1406220" cy="6319840"/>
          </a:xfrm>
          <a:prstGeom prst="leftBracket">
            <a:avLst>
              <a:gd name="adj" fmla="val 4897"/>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BE"/>
          </a:p>
        </p:txBody>
      </p:sp>
    </p:spTree>
    <p:extLst>
      <p:ext uri="{BB962C8B-B14F-4D97-AF65-F5344CB8AC3E}">
        <p14:creationId xmlns:p14="http://schemas.microsoft.com/office/powerpoint/2010/main" val="5439780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50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50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500"/>
                                        <p:tgtEl>
                                          <p:spTgt spid="4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0"/>
                                        <p:tgtEl>
                                          <p:spTgt spid="31"/>
                                        </p:tgtEl>
                                      </p:cBhvr>
                                    </p:animEffect>
                                  </p:childTnLst>
                                </p:cTn>
                              </p:par>
                              <p:par>
                                <p:cTn id="68" presetID="10" presetClass="entr" presetSubtype="0" fill="hold" grpId="1"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500"/>
                                        <p:tgtEl>
                                          <p:spTgt spid="34"/>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path" presetSubtype="0" accel="50000" decel="50000" fill="hold" grpId="0" nodeType="clickEffect">
                                  <p:stCondLst>
                                    <p:cond delay="0"/>
                                  </p:stCondLst>
                                  <p:childTnLst>
                                    <p:animMotion origin="layout" path="M -1.94444E-6 2.22222E-6 L -0.11354 -0.00648 " pathEditMode="relative" rAng="0" ptsTypes="AA">
                                      <p:cBhvr>
                                        <p:cTn id="74" dur="2000" fill="hold"/>
                                        <p:tgtEl>
                                          <p:spTgt spid="34"/>
                                        </p:tgtEl>
                                        <p:attrNameLst>
                                          <p:attrName>ppt_x</p:attrName>
                                          <p:attrName>ppt_y</p:attrName>
                                        </p:attrNameLst>
                                      </p:cBhvr>
                                      <p:rCtr x="-5677" y="-324"/>
                                    </p:animMotion>
                                  </p:childTnLst>
                                </p:cTn>
                              </p:par>
                              <p:par>
                                <p:cTn id="75" presetID="10" presetClass="entr" presetSubtype="0"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500"/>
                                        <p:tgtEl>
                                          <p:spTgt spid="32"/>
                                        </p:tgtEl>
                                      </p:cBhvr>
                                    </p:animEffect>
                                  </p:childTnLst>
                                </p:cTn>
                              </p:par>
                              <p:par>
                                <p:cTn id="78" presetID="10" presetClass="exit" presetSubtype="0" fill="hold" grpId="1" nodeType="withEffect">
                                  <p:stCondLst>
                                    <p:cond delay="0"/>
                                  </p:stCondLst>
                                  <p:childTnLst>
                                    <p:animEffect transition="out" filter="fade">
                                      <p:cBhvr>
                                        <p:cTn id="79" dur="500"/>
                                        <p:tgtEl>
                                          <p:spTgt spid="31"/>
                                        </p:tgtEl>
                                      </p:cBhvr>
                                    </p:animEffect>
                                    <p:set>
                                      <p:cBhvr>
                                        <p:cTn id="80"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5" grpId="0"/>
      <p:bldP spid="20" grpId="0" animBg="1"/>
      <p:bldP spid="29" grpId="0" animBg="1"/>
      <p:bldP spid="31" grpId="0"/>
      <p:bldP spid="31" grpId="1"/>
      <p:bldP spid="32" grpId="0"/>
      <p:bldP spid="33" grpId="0"/>
      <p:bldP spid="35" grpId="0"/>
      <p:bldP spid="36" grpId="0"/>
      <p:bldP spid="38" grpId="0"/>
      <p:bldP spid="40" grpId="0"/>
      <p:bldP spid="23" grpId="0" animBg="1"/>
      <p:bldP spid="26" grpId="0"/>
      <p:bldP spid="27" grpId="0" animBg="1"/>
      <p:bldP spid="30" grpId="0"/>
      <p:bldP spid="34" grpId="0" animBg="1"/>
      <p:bldP spid="34"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p:txBody>
          <a:bodyPr>
            <a:noAutofit/>
          </a:bodyPr>
          <a:lstStyle/>
          <a:p>
            <a:pPr algn="r"/>
            <a:r>
              <a:rPr lang="fr-FR" sz="3600" b="1" i="1">
                <a:cs typeface="Times New Roman" pitchFamily="18" charset="0"/>
              </a:rPr>
              <a:t>2.1.3. Interruptions de la reprise du travail </a:t>
            </a:r>
            <a:endParaRPr lang="en-US" sz="3600" b="1" i="1">
              <a:cs typeface="Times New Roman" pitchFamily="18" charset="0"/>
            </a:endParaRPr>
          </a:p>
        </p:txBody>
      </p:sp>
      <p:graphicFrame>
        <p:nvGraphicFramePr>
          <p:cNvPr id="4" name="Tableau 4">
            <a:extLst>
              <a:ext uri="{FF2B5EF4-FFF2-40B4-BE49-F238E27FC236}">
                <a16:creationId xmlns:a16="http://schemas.microsoft.com/office/drawing/2014/main" id="{E0CCE454-521C-4BC8-A575-2564BE53FC66}"/>
              </a:ext>
            </a:extLst>
          </p:cNvPr>
          <p:cNvGraphicFramePr>
            <a:graphicFrameLocks noGrp="1"/>
          </p:cNvGraphicFramePr>
          <p:nvPr>
            <p:ph idx="1"/>
            <p:extLst>
              <p:ext uri="{D42A27DB-BD31-4B8C-83A1-F6EECF244321}">
                <p14:modId xmlns:p14="http://schemas.microsoft.com/office/powerpoint/2010/main" val="3992483690"/>
              </p:ext>
            </p:extLst>
          </p:nvPr>
        </p:nvGraphicFramePr>
        <p:xfrm>
          <a:off x="457200" y="2060848"/>
          <a:ext cx="8229600" cy="3134360"/>
        </p:xfrm>
        <a:graphic>
          <a:graphicData uri="http://schemas.openxmlformats.org/drawingml/2006/table">
            <a:tbl>
              <a:tblPr firstRow="1" bandRow="1">
                <a:tableStyleId>{F5AB1C69-6EDB-4FF4-983F-18BD219EF322}</a:tableStyleId>
              </a:tblPr>
              <a:tblGrid>
                <a:gridCol w="2743200">
                  <a:extLst>
                    <a:ext uri="{9D8B030D-6E8A-4147-A177-3AD203B41FA5}">
                      <a16:colId xmlns:a16="http://schemas.microsoft.com/office/drawing/2014/main" val="972167093"/>
                    </a:ext>
                  </a:extLst>
                </a:gridCol>
                <a:gridCol w="2743200">
                  <a:extLst>
                    <a:ext uri="{9D8B030D-6E8A-4147-A177-3AD203B41FA5}">
                      <a16:colId xmlns:a16="http://schemas.microsoft.com/office/drawing/2014/main" val="2472472617"/>
                    </a:ext>
                  </a:extLst>
                </a:gridCol>
                <a:gridCol w="2743200">
                  <a:extLst>
                    <a:ext uri="{9D8B030D-6E8A-4147-A177-3AD203B41FA5}">
                      <a16:colId xmlns:a16="http://schemas.microsoft.com/office/drawing/2014/main" val="2307937506"/>
                    </a:ext>
                  </a:extLst>
                </a:gridCol>
              </a:tblGrid>
              <a:tr h="370840">
                <a:tc>
                  <a:txBody>
                    <a:bodyPr/>
                    <a:lstStyle/>
                    <a:p>
                      <a:pPr algn="ctr"/>
                      <a:r>
                        <a:rPr lang="fr-BE"/>
                        <a:t>Interruption ?</a:t>
                      </a:r>
                    </a:p>
                  </a:txBody>
                  <a:tcPr/>
                </a:tc>
                <a:tc>
                  <a:txBody>
                    <a:bodyPr/>
                    <a:lstStyle/>
                    <a:p>
                      <a:pPr algn="ctr"/>
                      <a:r>
                        <a:rPr lang="fr-BE" b="1"/>
                        <a:t>Principaux codes </a:t>
                      </a:r>
                      <a:r>
                        <a:rPr lang="fr-BE" b="1" err="1"/>
                        <a:t>Dmfa</a:t>
                      </a:r>
                      <a:endParaRPr lang="fr-BE" b="1"/>
                    </a:p>
                  </a:txBody>
                  <a:tcPr/>
                </a:tc>
                <a:tc>
                  <a:txBody>
                    <a:bodyPr/>
                    <a:lstStyle/>
                    <a:p>
                      <a:pPr algn="ctr"/>
                      <a:r>
                        <a:rPr lang="fr-BE"/>
                        <a:t>Type d’évènement</a:t>
                      </a:r>
                    </a:p>
                  </a:txBody>
                  <a:tcPr/>
                </a:tc>
                <a:extLst>
                  <a:ext uri="{0D108BD9-81ED-4DB2-BD59-A6C34878D82A}">
                    <a16:rowId xmlns:a16="http://schemas.microsoft.com/office/drawing/2014/main" val="1471601580"/>
                  </a:ext>
                </a:extLst>
              </a:tr>
              <a:tr h="370840">
                <a:tc rowSpan="2">
                  <a:txBody>
                    <a:bodyPr/>
                    <a:lstStyle/>
                    <a:p>
                      <a:r>
                        <a:rPr lang="fr-BE" b="1">
                          <a:solidFill>
                            <a:schemeClr val="tx1"/>
                          </a:solidFill>
                        </a:rPr>
                        <a:t>Sans interruption</a:t>
                      </a:r>
                    </a:p>
                  </a:txBody>
                  <a:tcPr anchor="ctr"/>
                </a:tc>
                <a:tc>
                  <a:txBody>
                    <a:bodyPr/>
                    <a:lstStyle/>
                    <a:p>
                      <a:pPr algn="ctr"/>
                      <a:r>
                        <a:rPr lang="fr-BE" b="1">
                          <a:solidFill>
                            <a:srgbClr val="C00000"/>
                          </a:solidFill>
                        </a:rPr>
                        <a:t>1</a:t>
                      </a:r>
                    </a:p>
                  </a:txBody>
                  <a:tcPr anchor="ctr"/>
                </a:tc>
                <a:tc>
                  <a:txBody>
                    <a:bodyPr/>
                    <a:lstStyle/>
                    <a:p>
                      <a:r>
                        <a:rPr lang="fr-BE" i="1"/>
                        <a:t>Journées rémunérées</a:t>
                      </a:r>
                    </a:p>
                  </a:txBody>
                  <a:tcPr anchor="ctr"/>
                </a:tc>
                <a:extLst>
                  <a:ext uri="{0D108BD9-81ED-4DB2-BD59-A6C34878D82A}">
                    <a16:rowId xmlns:a16="http://schemas.microsoft.com/office/drawing/2014/main" val="448196595"/>
                  </a:ext>
                </a:extLst>
              </a:tr>
              <a:tr h="370840">
                <a:tc vMerge="1">
                  <a:txBody>
                    <a:bodyPr/>
                    <a:lstStyle/>
                    <a:p>
                      <a:endParaRPr lang="fr-BE"/>
                    </a:p>
                  </a:txBody>
                  <a:tcPr/>
                </a:tc>
                <a:tc>
                  <a:txBody>
                    <a:bodyPr/>
                    <a:lstStyle/>
                    <a:p>
                      <a:pPr algn="ctr"/>
                      <a:r>
                        <a:rPr lang="fr-BE" b="1">
                          <a:solidFill>
                            <a:srgbClr val="C00000"/>
                          </a:solidFill>
                        </a:rPr>
                        <a:t>2</a:t>
                      </a:r>
                    </a:p>
                  </a:txBody>
                  <a:tcPr anchor="ctr"/>
                </a:tc>
                <a:tc>
                  <a:txBody>
                    <a:bodyPr/>
                    <a:lstStyle/>
                    <a:p>
                      <a:r>
                        <a:rPr lang="fr-BE" i="1"/>
                        <a:t>Vacances ouvrier</a:t>
                      </a:r>
                    </a:p>
                  </a:txBody>
                  <a:tcPr anchor="ctr"/>
                </a:tc>
                <a:extLst>
                  <a:ext uri="{0D108BD9-81ED-4DB2-BD59-A6C34878D82A}">
                    <a16:rowId xmlns:a16="http://schemas.microsoft.com/office/drawing/2014/main" val="2162609151"/>
                  </a:ext>
                </a:extLst>
              </a:tr>
              <a:tr h="370840">
                <a:tc rowSpan="2">
                  <a:txBody>
                    <a:bodyPr/>
                    <a:lstStyle/>
                    <a:p>
                      <a:r>
                        <a:rPr lang="fr-BE" b="1">
                          <a:solidFill>
                            <a:schemeClr val="tx1"/>
                          </a:solidFill>
                        </a:rPr>
                        <a:t>Sans interruption </a:t>
                      </a:r>
                      <a:r>
                        <a:rPr lang="fr-BE" b="1" u="sng">
                          <a:solidFill>
                            <a:schemeClr val="tx1"/>
                          </a:solidFill>
                        </a:rPr>
                        <a:t>si </a:t>
                      </a:r>
                      <a:r>
                        <a:rPr lang="fr-BE" b="1">
                          <a:solidFill>
                            <a:schemeClr val="tx1"/>
                          </a:solidFill>
                        </a:rPr>
                        <a:t>indemnisé</a:t>
                      </a:r>
                    </a:p>
                  </a:txBody>
                  <a:tcPr anchor="ctr"/>
                </a:tc>
                <a:tc>
                  <a:txBody>
                    <a:bodyPr/>
                    <a:lstStyle/>
                    <a:p>
                      <a:pPr algn="ctr"/>
                      <a:r>
                        <a:rPr lang="fr-BE" b="1">
                          <a:solidFill>
                            <a:srgbClr val="C00000"/>
                          </a:solidFill>
                        </a:rPr>
                        <a:t>51 ou 52</a:t>
                      </a:r>
                    </a:p>
                  </a:txBody>
                  <a:tcPr anchor="ctr"/>
                </a:tc>
                <a:tc>
                  <a:txBody>
                    <a:bodyPr/>
                    <a:lstStyle/>
                    <a:p>
                      <a:r>
                        <a:rPr lang="fr-BE" i="1"/>
                        <a:t>Protection maternité/ congé paternité</a:t>
                      </a:r>
                    </a:p>
                  </a:txBody>
                  <a:tcPr anchor="ctr"/>
                </a:tc>
                <a:extLst>
                  <a:ext uri="{0D108BD9-81ED-4DB2-BD59-A6C34878D82A}">
                    <a16:rowId xmlns:a16="http://schemas.microsoft.com/office/drawing/2014/main" val="3544908532"/>
                  </a:ext>
                </a:extLst>
              </a:tr>
              <a:tr h="370840">
                <a:tc vMerge="1">
                  <a:txBody>
                    <a:bodyPr/>
                    <a:lstStyle/>
                    <a:p>
                      <a:endParaRPr lang="fr-BE"/>
                    </a:p>
                  </a:txBody>
                  <a:tcPr anchor="ctr"/>
                </a:tc>
                <a:tc>
                  <a:txBody>
                    <a:bodyPr/>
                    <a:lstStyle/>
                    <a:p>
                      <a:pPr algn="ctr"/>
                      <a:r>
                        <a:rPr lang="fr-BE" b="1">
                          <a:solidFill>
                            <a:srgbClr val="C00000"/>
                          </a:solidFill>
                        </a:rPr>
                        <a:t>70,71,72,76 ou 77</a:t>
                      </a:r>
                    </a:p>
                  </a:txBody>
                  <a:tcPr anchor="ctr"/>
                </a:tc>
                <a:tc>
                  <a:txBody>
                    <a:bodyPr/>
                    <a:lstStyle/>
                    <a:p>
                      <a:r>
                        <a:rPr lang="fr-BE" i="1"/>
                        <a:t>Chômage temporaire</a:t>
                      </a:r>
                    </a:p>
                  </a:txBody>
                  <a:tcPr anchor="ctr"/>
                </a:tc>
                <a:extLst>
                  <a:ext uri="{0D108BD9-81ED-4DB2-BD59-A6C34878D82A}">
                    <a16:rowId xmlns:a16="http://schemas.microsoft.com/office/drawing/2014/main" val="2364652246"/>
                  </a:ext>
                </a:extLst>
              </a:tr>
              <a:tr h="324832">
                <a:tc>
                  <a:txBody>
                    <a:bodyPr/>
                    <a:lstStyle/>
                    <a:p>
                      <a:r>
                        <a:rPr lang="fr-BE" b="1">
                          <a:solidFill>
                            <a:schemeClr val="tx1"/>
                          </a:solidFill>
                        </a:rPr>
                        <a:t>Sans interruption si &lt;10 j. R5/année civile</a:t>
                      </a:r>
                    </a:p>
                  </a:txBody>
                  <a:tcPr anchor="ctr"/>
                </a:tc>
                <a:tc>
                  <a:txBody>
                    <a:bodyPr/>
                    <a:lstStyle/>
                    <a:p>
                      <a:pPr algn="ctr"/>
                      <a:r>
                        <a:rPr lang="fr-BE" b="1">
                          <a:solidFill>
                            <a:srgbClr val="C00000"/>
                          </a:solidFill>
                        </a:rPr>
                        <a:t>30</a:t>
                      </a:r>
                    </a:p>
                  </a:txBody>
                  <a:tcPr anchor="ctr"/>
                </a:tc>
                <a:tc>
                  <a:txBody>
                    <a:bodyPr/>
                    <a:lstStyle/>
                    <a:p>
                      <a:r>
                        <a:rPr lang="fr-BE" i="1"/>
                        <a:t>Absences non rémunérées</a:t>
                      </a:r>
                    </a:p>
                  </a:txBody>
                  <a:tcPr anchor="ctr"/>
                </a:tc>
                <a:extLst>
                  <a:ext uri="{0D108BD9-81ED-4DB2-BD59-A6C34878D82A}">
                    <a16:rowId xmlns:a16="http://schemas.microsoft.com/office/drawing/2014/main" val="3678775865"/>
                  </a:ext>
                </a:extLst>
              </a:tr>
              <a:tr h="370840">
                <a:tc>
                  <a:txBody>
                    <a:bodyPr/>
                    <a:lstStyle/>
                    <a:p>
                      <a:r>
                        <a:rPr lang="fr-BE" b="1">
                          <a:solidFill>
                            <a:schemeClr val="tx1"/>
                          </a:solidFill>
                        </a:rPr>
                        <a:t>Interruption</a:t>
                      </a:r>
                    </a:p>
                  </a:txBody>
                  <a:tcPr anchor="ctr"/>
                </a:tc>
                <a:tc>
                  <a:txBody>
                    <a:bodyPr/>
                    <a:lstStyle/>
                    <a:p>
                      <a:pPr algn="ctr"/>
                      <a:r>
                        <a:rPr lang="fr-BE" b="1">
                          <a:solidFill>
                            <a:srgbClr val="C00000"/>
                          </a:solidFill>
                        </a:rPr>
                        <a:t>50</a:t>
                      </a:r>
                    </a:p>
                  </a:txBody>
                  <a:tcPr anchor="ctr"/>
                </a:tc>
                <a:tc>
                  <a:txBody>
                    <a:bodyPr/>
                    <a:lstStyle/>
                    <a:p>
                      <a:r>
                        <a:rPr lang="fr-BE" i="1"/>
                        <a:t>Maladie ou invalidité </a:t>
                      </a:r>
                    </a:p>
                  </a:txBody>
                  <a:tcPr anchor="ctr"/>
                </a:tc>
                <a:extLst>
                  <a:ext uri="{0D108BD9-81ED-4DB2-BD59-A6C34878D82A}">
                    <a16:rowId xmlns:a16="http://schemas.microsoft.com/office/drawing/2014/main" val="315378893"/>
                  </a:ext>
                </a:extLst>
              </a:tr>
            </a:tbl>
          </a:graphicData>
        </a:graphic>
      </p:graphicFrame>
      <p:sp>
        <p:nvSpPr>
          <p:cNvPr id="8" name="Espace réservé du numéro de diapositive 7"/>
          <p:cNvSpPr>
            <a:spLocks noGrp="1"/>
          </p:cNvSpPr>
          <p:nvPr>
            <p:ph type="sldNum" sz="quarter" idx="12"/>
          </p:nvPr>
        </p:nvSpPr>
        <p:spPr/>
        <p:txBody>
          <a:bodyPr/>
          <a:lstStyle/>
          <a:p>
            <a:fld id="{55E9056B-6A30-4F99-BDE9-C450E66AE125}" type="slidenum">
              <a:rPr lang="fr-FR" smtClean="0"/>
              <a:pPr/>
              <a:t>20</a:t>
            </a:fld>
            <a:endParaRPr lang="fr-FR"/>
          </a:p>
        </p:txBody>
      </p:sp>
      <p:sp>
        <p:nvSpPr>
          <p:cNvPr id="9" name="ZoneTexte 8">
            <a:extLst>
              <a:ext uri="{FF2B5EF4-FFF2-40B4-BE49-F238E27FC236}">
                <a16:creationId xmlns:a16="http://schemas.microsoft.com/office/drawing/2014/main" id="{AD0B47AD-886A-4460-8959-7CD8EEE5E382}"/>
              </a:ext>
            </a:extLst>
          </p:cNvPr>
          <p:cNvSpPr txBox="1"/>
          <p:nvPr/>
        </p:nvSpPr>
        <p:spPr>
          <a:xfrm>
            <a:off x="457200" y="1500692"/>
            <a:ext cx="4114800" cy="461665"/>
          </a:xfrm>
          <a:prstGeom prst="rect">
            <a:avLst/>
          </a:prstGeom>
          <a:noFill/>
        </p:spPr>
        <p:txBody>
          <a:bodyPr wrap="square" rtlCol="0">
            <a:spAutoFit/>
          </a:bodyPr>
          <a:lstStyle/>
          <a:p>
            <a:pPr marL="342900" indent="-342900">
              <a:buFont typeface="Wingdings" panose="05000000000000000000" pitchFamily="2" charset="2"/>
              <a:buChar char="§"/>
            </a:pPr>
            <a:r>
              <a:rPr lang="fr-BE" sz="2400" b="1" u="sng">
                <a:solidFill>
                  <a:srgbClr val="C00000"/>
                </a:solidFill>
              </a:rPr>
              <a:t>Données </a:t>
            </a:r>
            <a:r>
              <a:rPr lang="fr-BE" sz="2400" b="1" u="sng" err="1">
                <a:solidFill>
                  <a:srgbClr val="C00000"/>
                </a:solidFill>
              </a:rPr>
              <a:t>Dmfa</a:t>
            </a:r>
            <a:r>
              <a:rPr lang="fr-BE" sz="2400" b="1">
                <a:solidFill>
                  <a:srgbClr val="C00000"/>
                </a:solidFill>
              </a:rPr>
              <a:t>:</a:t>
            </a:r>
            <a:endParaRPr lang="fr-BE" sz="2400" b="1" u="sng">
              <a:solidFill>
                <a:srgbClr val="C00000"/>
              </a:solidFill>
            </a:endParaRPr>
          </a:p>
        </p:txBody>
      </p:sp>
      <p:sp>
        <p:nvSpPr>
          <p:cNvPr id="10" name="ZoneTexte 9">
            <a:extLst>
              <a:ext uri="{FF2B5EF4-FFF2-40B4-BE49-F238E27FC236}">
                <a16:creationId xmlns:a16="http://schemas.microsoft.com/office/drawing/2014/main" id="{637F14D6-29DF-4443-AF0D-103A2159864C}"/>
              </a:ext>
            </a:extLst>
          </p:cNvPr>
          <p:cNvSpPr txBox="1"/>
          <p:nvPr/>
        </p:nvSpPr>
        <p:spPr>
          <a:xfrm>
            <a:off x="457200" y="5229200"/>
            <a:ext cx="8229600" cy="1661993"/>
          </a:xfrm>
          <a:prstGeom prst="rect">
            <a:avLst/>
          </a:prstGeom>
          <a:noFill/>
        </p:spPr>
        <p:txBody>
          <a:bodyPr wrap="square" rtlCol="0">
            <a:spAutoFit/>
          </a:bodyPr>
          <a:lstStyle/>
          <a:p>
            <a:pPr marL="342900" indent="-342900">
              <a:buFont typeface="Wingdings" panose="05000000000000000000" pitchFamily="2" charset="2"/>
              <a:buChar char="§"/>
            </a:pPr>
            <a:r>
              <a:rPr lang="fr-BE" sz="2400" b="1" u="sng">
                <a:solidFill>
                  <a:srgbClr val="C00000"/>
                </a:solidFill>
              </a:rPr>
              <a:t>Après le contrat</a:t>
            </a:r>
            <a:r>
              <a:rPr lang="fr-BE" sz="2400" b="1">
                <a:solidFill>
                  <a:srgbClr val="C00000"/>
                </a:solidFill>
              </a:rPr>
              <a:t>:</a:t>
            </a:r>
          </a:p>
          <a:p>
            <a:r>
              <a:rPr lang="fr-BE" sz="2000"/>
              <a:t>Ne constituent </a:t>
            </a:r>
            <a:r>
              <a:rPr lang="fr-BE" sz="2000" b="1"/>
              <a:t>pas une interruption</a:t>
            </a:r>
            <a:r>
              <a:rPr lang="fr-BE" sz="2000"/>
              <a:t>:</a:t>
            </a:r>
          </a:p>
          <a:p>
            <a:r>
              <a:rPr lang="fr-BE" sz="2000">
                <a:sym typeface="Wingdings" panose="05000000000000000000" pitchFamily="2" charset="2"/>
              </a:rPr>
              <a:t> Les week-ends, vacances proméritées et repos compensatoires situés directement après le contrat</a:t>
            </a:r>
            <a:r>
              <a:rPr lang="fr-BE" sz="2000"/>
              <a:t> </a:t>
            </a:r>
          </a:p>
          <a:p>
            <a:endParaRPr lang="fr-BE" b="1"/>
          </a:p>
        </p:txBody>
      </p:sp>
    </p:spTree>
    <p:extLst>
      <p:ext uri="{BB962C8B-B14F-4D97-AF65-F5344CB8AC3E}">
        <p14:creationId xmlns:p14="http://schemas.microsoft.com/office/powerpoint/2010/main" val="2007544934"/>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a:solidFill>
                  <a:prstClr val="black"/>
                </a:solidFill>
                <a:cs typeface="Times New Roman" pitchFamily="18" charset="0"/>
              </a:rPr>
              <a:t>2.1.4. Formules DMFA</a:t>
            </a:r>
            <a:endParaRPr lang="en-US" b="1" i="1">
              <a:solidFill>
                <a:prstClr val="black"/>
              </a:solidFill>
              <a:cs typeface="Times New Roman" pitchFamily="18" charset="0"/>
            </a:endParaRPr>
          </a:p>
        </p:txBody>
      </p:sp>
      <p:sp>
        <p:nvSpPr>
          <p:cNvPr id="3" name="Espace réservé du contenu 2"/>
          <p:cNvSpPr>
            <a:spLocks noGrp="1"/>
          </p:cNvSpPr>
          <p:nvPr>
            <p:ph idx="1"/>
          </p:nvPr>
        </p:nvSpPr>
        <p:spPr/>
        <p:txBody>
          <a:bodyPr>
            <a:normAutofit fontScale="92500" lnSpcReduction="20000"/>
          </a:bodyPr>
          <a:lstStyle/>
          <a:p>
            <a:pPr marL="0" indent="0">
              <a:lnSpc>
                <a:spcPct val="90000"/>
              </a:lnSpc>
              <a:buNone/>
            </a:pPr>
            <a:r>
              <a:rPr lang="fr-FR">
                <a:latin typeface="+mj-lt"/>
                <a:cs typeface="Times New Roman" pitchFamily="18" charset="0"/>
              </a:rPr>
              <a:t>Le calcul </a:t>
            </a:r>
            <a:r>
              <a:rPr lang="fr-FR" b="1">
                <a:latin typeface="+mj-lt"/>
                <a:cs typeface="Times New Roman" pitchFamily="18" charset="0"/>
              </a:rPr>
              <a:t>des jours de travail </a:t>
            </a:r>
            <a:r>
              <a:rPr lang="fr-FR" b="1">
                <a:solidFill>
                  <a:srgbClr val="C00000"/>
                </a:solidFill>
                <a:latin typeface="+mj-lt"/>
                <a:cs typeface="Times New Roman" pitchFamily="18" charset="0"/>
              </a:rPr>
              <a:t>AR 37</a:t>
            </a:r>
            <a:r>
              <a:rPr lang="fr-FR">
                <a:latin typeface="+mj-lt"/>
                <a:cs typeface="Times New Roman" pitchFamily="18" charset="0"/>
              </a:rPr>
              <a:t> </a:t>
            </a:r>
            <a:r>
              <a:rPr lang="fr-FR" b="1">
                <a:latin typeface="+mj-lt"/>
                <a:cs typeface="Times New Roman" pitchFamily="18" charset="0"/>
              </a:rPr>
              <a:t>et assimilés </a:t>
            </a:r>
            <a:r>
              <a:rPr lang="fr-FR" b="1">
                <a:solidFill>
                  <a:srgbClr val="C00000"/>
                </a:solidFill>
                <a:latin typeface="+mj-lt"/>
                <a:cs typeface="Times New Roman" pitchFamily="18" charset="0"/>
              </a:rPr>
              <a:t>AR 38</a:t>
            </a:r>
            <a:r>
              <a:rPr lang="fr-FR">
                <a:latin typeface="+mj-lt"/>
                <a:cs typeface="Times New Roman" pitchFamily="18" charset="0"/>
              </a:rPr>
              <a:t> s’effectue sur base des formules DMFA :</a:t>
            </a:r>
          </a:p>
          <a:p>
            <a:pPr marL="0" indent="0">
              <a:lnSpc>
                <a:spcPct val="90000"/>
              </a:lnSpc>
              <a:buNone/>
            </a:pPr>
            <a:endParaRPr lang="fr-FR" sz="1100">
              <a:latin typeface="+mj-lt"/>
              <a:cs typeface="Times New Roman" pitchFamily="18" charset="0"/>
            </a:endParaRPr>
          </a:p>
          <a:p>
            <a:pPr>
              <a:lnSpc>
                <a:spcPct val="90000"/>
              </a:lnSpc>
              <a:buFont typeface="Wingdings" panose="05000000000000000000" pitchFamily="2" charset="2"/>
              <a:buChar char="§"/>
            </a:pPr>
            <a:r>
              <a:rPr lang="fr-FR" b="1" u="sng">
                <a:latin typeface="+mj-lt"/>
                <a:cs typeface="Times New Roman" pitchFamily="18" charset="0"/>
              </a:rPr>
              <a:t>Occupation à temps plein</a:t>
            </a:r>
            <a:r>
              <a:rPr lang="fr-FR">
                <a:latin typeface="+mj-lt"/>
                <a:cs typeface="Times New Roman" pitchFamily="18" charset="0"/>
              </a:rPr>
              <a:t> 	Q/S = 1</a:t>
            </a:r>
          </a:p>
          <a:p>
            <a:pPr marL="0" indent="0">
              <a:lnSpc>
                <a:spcPct val="90000"/>
              </a:lnSpc>
              <a:buNone/>
            </a:pPr>
            <a:r>
              <a:rPr lang="fr-FR">
                <a:latin typeface="+mj-lt"/>
                <a:cs typeface="Times New Roman" pitchFamily="18" charset="0"/>
              </a:rPr>
              <a:t>	</a:t>
            </a:r>
            <a:r>
              <a:rPr lang="fr-FR" b="1">
                <a:solidFill>
                  <a:srgbClr val="C00000"/>
                </a:solidFill>
                <a:latin typeface="+mj-lt"/>
                <a:cs typeface="Times New Roman" pitchFamily="18" charset="0"/>
              </a:rPr>
              <a:t>A x 6/R    </a:t>
            </a:r>
            <a:r>
              <a:rPr lang="fr-FR">
                <a:latin typeface="+mj-lt"/>
                <a:cs typeface="Times New Roman" pitchFamily="18" charset="0"/>
              </a:rPr>
              <a:t>		</a:t>
            </a:r>
            <a:r>
              <a:rPr lang="fr-FR" sz="2600">
                <a:latin typeface="+mj-lt"/>
                <a:cs typeface="Times New Roman" pitchFamily="18" charset="0"/>
              </a:rPr>
              <a:t>A = nombre de jours</a:t>
            </a:r>
          </a:p>
          <a:p>
            <a:pPr marL="0" indent="0">
              <a:lnSpc>
                <a:spcPct val="90000"/>
              </a:lnSpc>
              <a:buNone/>
            </a:pPr>
            <a:r>
              <a:rPr lang="fr-FR" sz="2600">
                <a:latin typeface="+mj-lt"/>
                <a:cs typeface="Times New Roman" pitchFamily="18" charset="0"/>
              </a:rPr>
              <a:t>				R = régime de travail</a:t>
            </a:r>
          </a:p>
          <a:p>
            <a:pPr marL="0" indent="0">
              <a:lnSpc>
                <a:spcPct val="90000"/>
              </a:lnSpc>
              <a:buNone/>
            </a:pPr>
            <a:endParaRPr lang="fr-FR" sz="1100">
              <a:latin typeface="+mj-lt"/>
              <a:cs typeface="Times New Roman" pitchFamily="18" charset="0"/>
            </a:endParaRPr>
          </a:p>
          <a:p>
            <a:pPr>
              <a:lnSpc>
                <a:spcPct val="90000"/>
              </a:lnSpc>
              <a:buFont typeface="Wingdings" panose="05000000000000000000" pitchFamily="2" charset="2"/>
              <a:buChar char="§"/>
            </a:pPr>
            <a:r>
              <a:rPr lang="fr-FR" b="1" u="sng">
                <a:latin typeface="+mj-lt"/>
                <a:cs typeface="Times New Roman" pitchFamily="18" charset="0"/>
              </a:rPr>
              <a:t>Occupation à temps partiel</a:t>
            </a:r>
            <a:r>
              <a:rPr lang="fr-FR">
                <a:latin typeface="+mj-lt"/>
                <a:cs typeface="Times New Roman" pitchFamily="18" charset="0"/>
              </a:rPr>
              <a:t>	Q/S &lt; 1</a:t>
            </a:r>
          </a:p>
          <a:p>
            <a:pPr marL="0" indent="0">
              <a:lnSpc>
                <a:spcPct val="90000"/>
              </a:lnSpc>
              <a:buNone/>
            </a:pPr>
            <a:r>
              <a:rPr lang="fr-FR">
                <a:latin typeface="+mj-lt"/>
                <a:cs typeface="Times New Roman" pitchFamily="18" charset="0"/>
              </a:rPr>
              <a:t>	</a:t>
            </a:r>
            <a:r>
              <a:rPr lang="fr-FR" b="1">
                <a:solidFill>
                  <a:srgbClr val="C00000"/>
                </a:solidFill>
                <a:latin typeface="+mj-lt"/>
                <a:cs typeface="Times New Roman" pitchFamily="18" charset="0"/>
              </a:rPr>
              <a:t>a x 6/Q	</a:t>
            </a:r>
            <a:r>
              <a:rPr lang="fr-FR">
                <a:latin typeface="+mj-lt"/>
                <a:cs typeface="Times New Roman" pitchFamily="18" charset="0"/>
              </a:rPr>
              <a:t>    	</a:t>
            </a:r>
            <a:r>
              <a:rPr lang="fr-FR" sz="2600">
                <a:latin typeface="+mj-lt"/>
                <a:cs typeface="Times New Roman" pitchFamily="18" charset="0"/>
              </a:rPr>
              <a:t>a = nombre d’heures</a:t>
            </a:r>
          </a:p>
          <a:p>
            <a:pPr marL="0" indent="0">
              <a:lnSpc>
                <a:spcPct val="90000"/>
              </a:lnSpc>
              <a:buNone/>
            </a:pPr>
            <a:r>
              <a:rPr lang="fr-FR" sz="2600">
                <a:latin typeface="+mj-lt"/>
                <a:cs typeface="Times New Roman" pitchFamily="18" charset="0"/>
              </a:rPr>
              <a:t>				Q = nombre d’heures par sem.</a:t>
            </a:r>
          </a:p>
          <a:p>
            <a:pPr marL="0" indent="0">
              <a:lnSpc>
                <a:spcPct val="90000"/>
              </a:lnSpc>
              <a:buNone/>
            </a:pPr>
            <a:endParaRPr lang="fr-FR" sz="2600">
              <a:latin typeface="+mj-lt"/>
              <a:cs typeface="Times New Roman" pitchFamily="18" charset="0"/>
            </a:endParaRPr>
          </a:p>
          <a:p>
            <a:pPr marL="717550" indent="-717550">
              <a:lnSpc>
                <a:spcPct val="90000"/>
              </a:lnSpc>
              <a:buNone/>
            </a:pPr>
            <a:r>
              <a:rPr lang="fr-FR" sz="3900" b="1">
                <a:solidFill>
                  <a:srgbClr val="C00000"/>
                </a:solidFill>
                <a:latin typeface="+mj-lt"/>
                <a:ea typeface="Segoe UI Emoji" panose="020B0502040204020203" pitchFamily="34" charset="0"/>
                <a:cs typeface="Times New Roman" pitchFamily="18" charset="0"/>
              </a:rPr>
              <a:t>⚠</a:t>
            </a:r>
            <a:r>
              <a:rPr lang="fr-FR" sz="3000">
                <a:latin typeface="+mj-lt"/>
                <a:ea typeface="Segoe UI Emoji" panose="020B0502040204020203" pitchFamily="34" charset="0"/>
                <a:cs typeface="Times New Roman" pitchFamily="18" charset="0"/>
              </a:rPr>
              <a:t> Dans les 2 cas, le résultat est </a:t>
            </a:r>
            <a:r>
              <a:rPr lang="fr-FR" sz="3000" b="1">
                <a:solidFill>
                  <a:srgbClr val="C00000"/>
                </a:solidFill>
                <a:latin typeface="+mj-lt"/>
                <a:ea typeface="Segoe UI Emoji" panose="020B0502040204020203" pitchFamily="34" charset="0"/>
                <a:cs typeface="Times New Roman" pitchFamily="18" charset="0"/>
              </a:rPr>
              <a:t>limité à 78 </a:t>
            </a:r>
            <a:r>
              <a:rPr lang="fr-FR" sz="3000">
                <a:latin typeface="+mj-lt"/>
                <a:ea typeface="Segoe UI Emoji" panose="020B0502040204020203" pitchFamily="34" charset="0"/>
                <a:cs typeface="Times New Roman" pitchFamily="18" charset="0"/>
              </a:rPr>
              <a:t>pour un    </a:t>
            </a:r>
            <a:r>
              <a:rPr lang="fr-FR" sz="3000" b="1">
                <a:latin typeface="+mj-lt"/>
                <a:ea typeface="Segoe UI Emoji" panose="020B0502040204020203" pitchFamily="34" charset="0"/>
                <a:cs typeface="Times New Roman" pitchFamily="18" charset="0"/>
              </a:rPr>
              <a:t>trimestre complet</a:t>
            </a:r>
            <a:endParaRPr lang="en-US" sz="3000" b="1">
              <a:latin typeface="+mj-lt"/>
              <a:cs typeface="Times New Roman" pitchFamily="18" charset="0"/>
            </a:endParaRP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21</a:t>
            </a:fld>
            <a:endParaRPr lang="fr-FR"/>
          </a:p>
        </p:txBody>
      </p:sp>
    </p:spTree>
    <p:extLst>
      <p:ext uri="{BB962C8B-B14F-4D97-AF65-F5344CB8AC3E}">
        <p14:creationId xmlns:p14="http://schemas.microsoft.com/office/powerpoint/2010/main" val="189414761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10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10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10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10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1000"/>
                                        <p:tgtEl>
                                          <p:spTgt spid="3">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1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a:solidFill>
                  <a:prstClr val="black"/>
                </a:solidFill>
                <a:cs typeface="Times New Roman" pitchFamily="18" charset="0"/>
              </a:rPr>
              <a:t>2.1.5. Trimestres incomplets ou non acceptés</a:t>
            </a:r>
            <a:endParaRPr lang="en-US" b="1" i="1">
              <a:solidFill>
                <a:prstClr val="black"/>
              </a:solidFill>
              <a:cs typeface="Times New Roman" pitchFamily="18" charset="0"/>
            </a:endParaRP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
            </a:pPr>
            <a:r>
              <a:rPr lang="fr-FR" sz="2800" b="1" u="sng">
                <a:solidFill>
                  <a:srgbClr val="C00000"/>
                </a:solidFill>
                <a:latin typeface="+mj-lt"/>
                <a:cs typeface="Times New Roman" pitchFamily="18" charset="0"/>
              </a:rPr>
              <a:t>Occupation à temps plein</a:t>
            </a:r>
            <a:r>
              <a:rPr lang="fr-FR" sz="2800" b="1">
                <a:solidFill>
                  <a:srgbClr val="C00000"/>
                </a:solidFill>
                <a:latin typeface="+mj-lt"/>
                <a:cs typeface="Times New Roman" pitchFamily="18" charset="0"/>
              </a:rPr>
              <a:t>	</a:t>
            </a:r>
            <a:r>
              <a:rPr lang="fr-FR" sz="2800" b="1" i="1">
                <a:solidFill>
                  <a:srgbClr val="C00000"/>
                </a:solidFill>
                <a:latin typeface="+mj-lt"/>
                <a:cs typeface="Times New Roman" pitchFamily="18" charset="0"/>
              </a:rPr>
              <a:t>Q/S = 1</a:t>
            </a:r>
            <a:endParaRPr lang="fr-FR" sz="2800" i="1" u="sng">
              <a:solidFill>
                <a:srgbClr val="C00000"/>
              </a:solidFill>
              <a:latin typeface="+mj-lt"/>
              <a:cs typeface="Times New Roman" pitchFamily="18" charset="0"/>
            </a:endParaRPr>
          </a:p>
          <a:p>
            <a:pPr lvl="1">
              <a:buFont typeface="Wingdings" panose="05000000000000000000" pitchFamily="2" charset="2"/>
              <a:buChar char="Ø"/>
            </a:pPr>
            <a:r>
              <a:rPr lang="fr-FR" sz="2400" b="1">
                <a:cs typeface="Times New Roman" pitchFamily="18" charset="0"/>
              </a:rPr>
              <a:t>Début de la période de référence durant le trimestre </a:t>
            </a:r>
            <a:r>
              <a:rPr lang="fr-FR" sz="2400" b="1">
                <a:cs typeface="Times New Roman" pitchFamily="18" charset="0"/>
                <a:sym typeface="Wingdings" panose="05000000000000000000" pitchFamily="2" charset="2"/>
              </a:rPr>
              <a:t> </a:t>
            </a:r>
            <a:r>
              <a:rPr lang="fr-FR" sz="2400" b="1" u="sng">
                <a:solidFill>
                  <a:srgbClr val="C00000"/>
                </a:solidFill>
                <a:cs typeface="Times New Roman" pitchFamily="18" charset="0"/>
                <a:sym typeface="Wingdings" panose="05000000000000000000" pitchFamily="2" charset="2"/>
              </a:rPr>
              <a:t>Limiter le résultat de la formule </a:t>
            </a:r>
            <a:r>
              <a:rPr lang="fr-FR" sz="2400" b="1" u="sng" err="1">
                <a:solidFill>
                  <a:srgbClr val="C00000"/>
                </a:solidFill>
                <a:cs typeface="Times New Roman" pitchFamily="18" charset="0"/>
                <a:sym typeface="Wingdings" panose="05000000000000000000" pitchFamily="2" charset="2"/>
              </a:rPr>
              <a:t>Dmfa</a:t>
            </a:r>
            <a:r>
              <a:rPr lang="fr-FR" sz="2400" b="1">
                <a:cs typeface="Times New Roman" pitchFamily="18" charset="0"/>
                <a:sym typeface="Wingdings" panose="05000000000000000000" pitchFamily="2" charset="2"/>
              </a:rPr>
              <a:t>  </a:t>
            </a:r>
            <a:r>
              <a:rPr lang="fr-FR" sz="2400">
                <a:cs typeface="Times New Roman" pitchFamily="18" charset="0"/>
                <a:sym typeface="Wingdings" panose="05000000000000000000" pitchFamily="2" charset="2"/>
              </a:rPr>
              <a:t>au </a:t>
            </a:r>
            <a:r>
              <a:rPr lang="fr-FR" sz="2400" b="1">
                <a:cs typeface="Times New Roman" pitchFamily="18" charset="0"/>
                <a:sym typeface="Wingdings" panose="05000000000000000000" pitchFamily="2" charset="2"/>
              </a:rPr>
              <a:t>nombre de jours R6 </a:t>
            </a:r>
            <a:r>
              <a:rPr lang="fr-FR" sz="2400">
                <a:cs typeface="Times New Roman" pitchFamily="18" charset="0"/>
                <a:sym typeface="Wingdings" panose="05000000000000000000" pitchFamily="2" charset="2"/>
              </a:rPr>
              <a:t>possible entre la date de début de la PR et la fin du trimestre</a:t>
            </a:r>
          </a:p>
          <a:p>
            <a:pPr marL="457200" lvl="1" indent="0">
              <a:buNone/>
            </a:pPr>
            <a:endParaRPr lang="fr-FR" sz="1600">
              <a:cs typeface="Times New Roman" pitchFamily="18" charset="0"/>
              <a:sym typeface="Wingdings" panose="05000000000000000000" pitchFamily="2" charset="2"/>
            </a:endParaRPr>
          </a:p>
          <a:p>
            <a:pPr lvl="1">
              <a:buFont typeface="Wingdings" panose="05000000000000000000" pitchFamily="2" charset="2"/>
              <a:buChar char="Ø"/>
            </a:pPr>
            <a:r>
              <a:rPr lang="fr-FR" sz="2400">
                <a:cs typeface="Times New Roman" pitchFamily="18" charset="0"/>
              </a:rPr>
              <a:t> </a:t>
            </a:r>
            <a:r>
              <a:rPr lang="fr-FR" sz="2400" b="1">
                <a:cs typeface="Times New Roman" pitchFamily="18" charset="0"/>
              </a:rPr>
              <a:t>Fin d’occupation et/ou trimestre ONSS non accepté </a:t>
            </a:r>
            <a:r>
              <a:rPr lang="fr-FR" sz="2400" b="1">
                <a:cs typeface="Times New Roman" pitchFamily="18" charset="0"/>
                <a:sym typeface="Wingdings" panose="05000000000000000000" pitchFamily="2" charset="2"/>
              </a:rPr>
              <a:t> </a:t>
            </a:r>
            <a:r>
              <a:rPr lang="fr-FR" sz="2400">
                <a:cs typeface="Times New Roman" pitchFamily="18" charset="0"/>
                <a:sym typeface="Wingdings" panose="05000000000000000000" pitchFamily="2" charset="2"/>
              </a:rPr>
              <a:t>Calculer le nombre de jours R6 du début du trimestre à la du trimestre ou à la fin du contrat </a:t>
            </a:r>
          </a:p>
          <a:p>
            <a:pPr marL="457200" lvl="1" indent="0">
              <a:buNone/>
            </a:pPr>
            <a:r>
              <a:rPr lang="fr-FR" sz="2400" b="1">
                <a:solidFill>
                  <a:srgbClr val="C00000"/>
                </a:solidFill>
                <a:latin typeface="Segoe UI Emoji" panose="020B0502040204020203" pitchFamily="34" charset="0"/>
                <a:ea typeface="Segoe UI Emoji" panose="020B0502040204020203" pitchFamily="34" charset="0"/>
                <a:cs typeface="Times New Roman" pitchFamily="18" charset="0"/>
                <a:sym typeface="Wingdings" panose="05000000000000000000" pitchFamily="2" charset="2"/>
              </a:rPr>
              <a:t>⚠</a:t>
            </a:r>
            <a:r>
              <a:rPr lang="fr-FR" sz="2400">
                <a:latin typeface="Segoe UI Emoji" panose="020B0502040204020203" pitchFamily="34" charset="0"/>
                <a:ea typeface="Segoe UI Emoji" panose="020B0502040204020203" pitchFamily="34" charset="0"/>
                <a:cs typeface="Times New Roman" pitchFamily="18" charset="0"/>
                <a:sym typeface="Wingdings" panose="05000000000000000000" pitchFamily="2" charset="2"/>
              </a:rPr>
              <a:t> </a:t>
            </a:r>
            <a:r>
              <a:rPr lang="fr-FR" sz="2400" b="1">
                <a:cs typeface="Times New Roman" pitchFamily="18" charset="0"/>
                <a:sym typeface="Wingdings" panose="05000000000000000000" pitchFamily="2" charset="2"/>
              </a:rPr>
              <a:t>Samedi compris </a:t>
            </a:r>
            <a:r>
              <a:rPr lang="fr-FR" sz="2400">
                <a:cs typeface="Times New Roman" pitchFamily="18" charset="0"/>
                <a:sym typeface="Wingdings" panose="05000000000000000000" pitchFamily="2" charset="2"/>
              </a:rPr>
              <a:t>en cas de fin de contrat le vendredi</a:t>
            </a:r>
            <a:endParaRPr lang="fr-FR" sz="2400">
              <a:cs typeface="Times New Roman" pitchFamily="18" charset="0"/>
            </a:endParaRPr>
          </a:p>
          <a:p>
            <a:pPr lvl="0">
              <a:buFont typeface="Wingdings" panose="05000000000000000000" pitchFamily="2" charset="2"/>
              <a:buChar char="§"/>
            </a:pPr>
            <a:endParaRPr lang="fr-FR" b="1" u="sng">
              <a:solidFill>
                <a:srgbClr val="C00000"/>
              </a:solidFill>
              <a:cs typeface="Times New Roman" pitchFamily="18" charset="0"/>
            </a:endParaRPr>
          </a:p>
          <a:p>
            <a:pPr>
              <a:buNone/>
            </a:pPr>
            <a:endParaRPr lang="en-US"/>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22</a:t>
            </a:fld>
            <a:endParaRPr lang="fr-FR"/>
          </a:p>
        </p:txBody>
      </p:sp>
    </p:spTree>
    <p:extLst>
      <p:ext uri="{BB962C8B-B14F-4D97-AF65-F5344CB8AC3E}">
        <p14:creationId xmlns:p14="http://schemas.microsoft.com/office/powerpoint/2010/main" val="103726899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a:solidFill>
                  <a:prstClr val="black"/>
                </a:solidFill>
                <a:cs typeface="Times New Roman" pitchFamily="18" charset="0"/>
              </a:rPr>
              <a:t>2.1.5. Trimestres incomplets ou non acceptés</a:t>
            </a:r>
            <a:endParaRPr lang="en-US" b="1" i="1">
              <a:solidFill>
                <a:prstClr val="black"/>
              </a:solidFill>
              <a:cs typeface="Times New Roman" pitchFamily="18" charset="0"/>
            </a:endParaRPr>
          </a:p>
        </p:txBody>
      </p:sp>
      <p:sp>
        <p:nvSpPr>
          <p:cNvPr id="3" name="Espace réservé du contenu 2"/>
          <p:cNvSpPr>
            <a:spLocks noGrp="1"/>
          </p:cNvSpPr>
          <p:nvPr>
            <p:ph idx="1"/>
          </p:nvPr>
        </p:nvSpPr>
        <p:spPr/>
        <p:txBody>
          <a:bodyPr>
            <a:normAutofit lnSpcReduction="10000"/>
          </a:bodyPr>
          <a:lstStyle/>
          <a:p>
            <a:pPr lvl="0">
              <a:buFont typeface="Wingdings" panose="05000000000000000000" pitchFamily="2" charset="2"/>
              <a:buChar char="§"/>
            </a:pPr>
            <a:r>
              <a:rPr lang="fr-FR" sz="3000" b="1" u="sng">
                <a:cs typeface="Times New Roman" pitchFamily="18" charset="0"/>
              </a:rPr>
              <a:t>Occupation à temps partiel</a:t>
            </a:r>
            <a:r>
              <a:rPr lang="fr-FR" sz="3000" b="1">
                <a:solidFill>
                  <a:prstClr val="black"/>
                </a:solidFill>
                <a:cs typeface="Times New Roman" pitchFamily="18" charset="0"/>
              </a:rPr>
              <a:t>	</a:t>
            </a:r>
            <a:r>
              <a:rPr lang="fr-FR" sz="3000" b="1" i="1">
                <a:solidFill>
                  <a:prstClr val="black"/>
                </a:solidFill>
                <a:cs typeface="Times New Roman" pitchFamily="18" charset="0"/>
              </a:rPr>
              <a:t>Q/S &lt; 1</a:t>
            </a:r>
            <a:endParaRPr lang="fr-FR" sz="3000" b="1" i="1" u="sng">
              <a:solidFill>
                <a:prstClr val="black"/>
              </a:solidFill>
              <a:cs typeface="Times New Roman" pitchFamily="18" charset="0"/>
            </a:endParaRPr>
          </a:p>
          <a:p>
            <a:pPr lvl="1">
              <a:buFont typeface="Wingdings" panose="05000000000000000000" pitchFamily="2" charset="2"/>
              <a:buChar char="Ø"/>
            </a:pPr>
            <a:r>
              <a:rPr lang="fr-FR" sz="2400" b="1">
                <a:cs typeface="Times New Roman" pitchFamily="18" charset="0"/>
              </a:rPr>
              <a:t>Début de la période de référence durant le trimestre </a:t>
            </a:r>
            <a:r>
              <a:rPr lang="fr-FR" sz="2400" b="1">
                <a:cs typeface="Times New Roman" pitchFamily="18" charset="0"/>
                <a:sym typeface="Wingdings" panose="05000000000000000000" pitchFamily="2" charset="2"/>
              </a:rPr>
              <a:t> </a:t>
            </a:r>
            <a:r>
              <a:rPr lang="fr-FR" sz="2400" b="1" u="sng">
                <a:solidFill>
                  <a:srgbClr val="C00000"/>
                </a:solidFill>
                <a:cs typeface="Times New Roman" pitchFamily="18" charset="0"/>
                <a:sym typeface="Wingdings" panose="05000000000000000000" pitchFamily="2" charset="2"/>
              </a:rPr>
              <a:t>Limiter le résultat de la formule </a:t>
            </a:r>
            <a:r>
              <a:rPr lang="fr-FR" sz="2400" b="1" u="sng" err="1">
                <a:solidFill>
                  <a:srgbClr val="C00000"/>
                </a:solidFill>
                <a:cs typeface="Times New Roman" pitchFamily="18" charset="0"/>
                <a:sym typeface="Wingdings" panose="05000000000000000000" pitchFamily="2" charset="2"/>
              </a:rPr>
              <a:t>Dmfa</a:t>
            </a:r>
            <a:r>
              <a:rPr lang="fr-FR" sz="2400" b="1">
                <a:cs typeface="Times New Roman" pitchFamily="18" charset="0"/>
                <a:sym typeface="Wingdings" panose="05000000000000000000" pitchFamily="2" charset="2"/>
              </a:rPr>
              <a:t> </a:t>
            </a:r>
            <a:r>
              <a:rPr lang="fr-FR" sz="2400">
                <a:cs typeface="Times New Roman" pitchFamily="18" charset="0"/>
                <a:sym typeface="Wingdings" panose="05000000000000000000" pitchFamily="2" charset="2"/>
              </a:rPr>
              <a:t> au nombre de jours R6 possible entre la date de début de la PR et la fin du trimestre</a:t>
            </a:r>
          </a:p>
          <a:p>
            <a:pPr marL="457200" lvl="1" indent="0">
              <a:buNone/>
            </a:pPr>
            <a:endParaRPr lang="fr-FR" sz="1400">
              <a:cs typeface="Times New Roman" pitchFamily="18" charset="0"/>
              <a:sym typeface="Wingdings" panose="05000000000000000000" pitchFamily="2" charset="2"/>
            </a:endParaRPr>
          </a:p>
          <a:p>
            <a:pPr lvl="1">
              <a:buFont typeface="Wingdings" panose="05000000000000000000" pitchFamily="2" charset="2"/>
              <a:buChar char="Ø"/>
            </a:pPr>
            <a:r>
              <a:rPr lang="fr-FR" sz="2400">
                <a:cs typeface="Times New Roman" pitchFamily="18" charset="0"/>
              </a:rPr>
              <a:t> </a:t>
            </a:r>
            <a:r>
              <a:rPr lang="fr-FR" sz="2400" b="1">
                <a:cs typeface="Times New Roman" pitchFamily="18" charset="0"/>
              </a:rPr>
              <a:t>Fin d’occupation et/ou trimestre ONSS non accepté </a:t>
            </a:r>
            <a:r>
              <a:rPr lang="fr-FR" sz="2400" b="1" u="sng">
                <a:solidFill>
                  <a:srgbClr val="C00000"/>
                </a:solidFill>
                <a:cs typeface="Times New Roman" pitchFamily="18" charset="0"/>
              </a:rPr>
              <a:t>2 possibilités</a:t>
            </a:r>
            <a:r>
              <a:rPr lang="fr-FR" sz="2400" b="1">
                <a:solidFill>
                  <a:srgbClr val="C00000"/>
                </a:solidFill>
                <a:cs typeface="Times New Roman" pitchFamily="18" charset="0"/>
              </a:rPr>
              <a:t>:</a:t>
            </a:r>
          </a:p>
          <a:p>
            <a:pPr marL="1371600" lvl="2" indent="-457200">
              <a:buFont typeface="+mj-lt"/>
              <a:buAutoNum type="arabicPeriod"/>
            </a:pPr>
            <a:r>
              <a:rPr lang="fr-FR" b="1" u="sng">
                <a:cs typeface="Times New Roman" pitchFamily="18" charset="0"/>
                <a:sym typeface="Wingdings" panose="05000000000000000000" pitchFamily="2" charset="2"/>
              </a:rPr>
              <a:t>Calcul sur base des jours</a:t>
            </a:r>
            <a:r>
              <a:rPr lang="fr-FR" b="1">
                <a:cs typeface="Times New Roman" pitchFamily="18" charset="0"/>
                <a:sym typeface="Wingdings" panose="05000000000000000000" pitchFamily="2" charset="2"/>
              </a:rPr>
              <a:t>:</a:t>
            </a:r>
            <a:r>
              <a:rPr lang="fr-FR">
                <a:cs typeface="Times New Roman" pitchFamily="18" charset="0"/>
                <a:sym typeface="Wingdings" panose="05000000000000000000" pitchFamily="2" charset="2"/>
              </a:rPr>
              <a:t>  </a:t>
            </a:r>
          </a:p>
          <a:p>
            <a:pPr marL="914400" lvl="2" indent="0">
              <a:buNone/>
            </a:pPr>
            <a:r>
              <a:rPr lang="fr-FR" b="1">
                <a:solidFill>
                  <a:srgbClr val="C00000"/>
                </a:solidFill>
                <a:cs typeface="Times New Roman" pitchFamily="18" charset="0"/>
                <a:sym typeface="Wingdings" panose="05000000000000000000" pitchFamily="2" charset="2"/>
              </a:rPr>
              <a:t>	Jours R7 couverts par le contrat X 6/7</a:t>
            </a:r>
          </a:p>
          <a:p>
            <a:pPr marL="1371600" lvl="2" indent="-457200">
              <a:buFont typeface="+mj-lt"/>
              <a:buAutoNum type="arabicPeriod" startAt="2"/>
            </a:pPr>
            <a:r>
              <a:rPr lang="fr-FR" b="1" u="sng">
                <a:cs typeface="Times New Roman" pitchFamily="18" charset="0"/>
                <a:sym typeface="Wingdings" panose="05000000000000000000" pitchFamily="2" charset="2"/>
              </a:rPr>
              <a:t>Calcul sur base des heures théoriques</a:t>
            </a:r>
            <a:r>
              <a:rPr lang="fr-FR">
                <a:cs typeface="Times New Roman" pitchFamily="18" charset="0"/>
                <a:sym typeface="Wingdings" panose="05000000000000000000" pitchFamily="2" charset="2"/>
              </a:rPr>
              <a:t>: </a:t>
            </a:r>
          </a:p>
          <a:p>
            <a:pPr marL="914400" lvl="2" indent="0">
              <a:buNone/>
            </a:pPr>
            <a:r>
              <a:rPr lang="fr-FR" b="1">
                <a:solidFill>
                  <a:srgbClr val="C00000"/>
                </a:solidFill>
                <a:cs typeface="Times New Roman" pitchFamily="18" charset="0"/>
                <a:sym typeface="Wingdings" panose="05000000000000000000" pitchFamily="2" charset="2"/>
              </a:rPr>
              <a:t>	(Jours R7 X Q/7) X Q/6</a:t>
            </a:r>
            <a:endParaRPr lang="fr-FR" sz="2800">
              <a:cs typeface="Times New Roman" pitchFamily="18" charset="0"/>
            </a:endParaRPr>
          </a:p>
          <a:p>
            <a:pPr>
              <a:buNone/>
            </a:pPr>
            <a:endParaRPr lang="en-US"/>
          </a:p>
        </p:txBody>
      </p:sp>
      <p:sp>
        <p:nvSpPr>
          <p:cNvPr id="6" name="Espace réservé du numéro de diapositive 5"/>
          <p:cNvSpPr>
            <a:spLocks noGrp="1"/>
          </p:cNvSpPr>
          <p:nvPr>
            <p:ph type="sldNum" sz="quarter" idx="12"/>
          </p:nvPr>
        </p:nvSpPr>
        <p:spPr>
          <a:xfrm>
            <a:off x="6553200" y="6218237"/>
            <a:ext cx="2133600" cy="365125"/>
          </a:xfrm>
        </p:spPr>
        <p:txBody>
          <a:bodyPr/>
          <a:lstStyle/>
          <a:p>
            <a:fld id="{55E9056B-6A30-4F99-BDE9-C450E66AE125}" type="slidenum">
              <a:rPr lang="fr-FR" smtClean="0"/>
              <a:pPr/>
              <a:t>23</a:t>
            </a:fld>
            <a:endParaRPr lang="fr-FR"/>
          </a:p>
        </p:txBody>
      </p:sp>
      <p:sp>
        <p:nvSpPr>
          <p:cNvPr id="4" name="Accolade ouvrante 3">
            <a:extLst>
              <a:ext uri="{FF2B5EF4-FFF2-40B4-BE49-F238E27FC236}">
                <a16:creationId xmlns:a16="http://schemas.microsoft.com/office/drawing/2014/main" id="{66BDD7ED-2CFC-416B-B30C-9FDE95FC2B0F}"/>
              </a:ext>
            </a:extLst>
          </p:cNvPr>
          <p:cNvSpPr/>
          <p:nvPr/>
        </p:nvSpPr>
        <p:spPr>
          <a:xfrm rot="16200000">
            <a:off x="3209020" y="5044392"/>
            <a:ext cx="395065" cy="2133600"/>
          </a:xfrm>
          <a:prstGeom prst="leftBrace">
            <a:avLst/>
          </a:prstGeom>
          <a:ln w="28575">
            <a:solidFill>
              <a:srgbClr val="00B05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fr-BE"/>
          </a:p>
        </p:txBody>
      </p:sp>
      <p:sp>
        <p:nvSpPr>
          <p:cNvPr id="5" name="ZoneTexte 4">
            <a:extLst>
              <a:ext uri="{FF2B5EF4-FFF2-40B4-BE49-F238E27FC236}">
                <a16:creationId xmlns:a16="http://schemas.microsoft.com/office/drawing/2014/main" id="{19813356-9E8C-4F65-BB54-C1015958AB6B}"/>
              </a:ext>
            </a:extLst>
          </p:cNvPr>
          <p:cNvSpPr txBox="1"/>
          <p:nvPr/>
        </p:nvSpPr>
        <p:spPr>
          <a:xfrm>
            <a:off x="2578460" y="6300421"/>
            <a:ext cx="1656184" cy="369332"/>
          </a:xfrm>
          <a:prstGeom prst="rect">
            <a:avLst/>
          </a:prstGeom>
          <a:noFill/>
        </p:spPr>
        <p:txBody>
          <a:bodyPr wrap="square" rtlCol="0">
            <a:spAutoFit/>
          </a:bodyPr>
          <a:lstStyle/>
          <a:p>
            <a:r>
              <a:rPr lang="fr-BE" b="1">
                <a:solidFill>
                  <a:srgbClr val="008000"/>
                </a:solidFill>
              </a:rPr>
              <a:t>= a théorique</a:t>
            </a:r>
          </a:p>
        </p:txBody>
      </p:sp>
    </p:spTree>
    <p:extLst>
      <p:ext uri="{BB962C8B-B14F-4D97-AF65-F5344CB8AC3E}">
        <p14:creationId xmlns:p14="http://schemas.microsoft.com/office/powerpoint/2010/main" val="4240815913"/>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500"/>
                                        <p:tgtEl>
                                          <p:spTgt spid="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5A33D9-6078-4F97-A04A-B67F0DB36ECD}"/>
              </a:ext>
            </a:extLst>
          </p:cNvPr>
          <p:cNvSpPr>
            <a:spLocks noGrp="1"/>
          </p:cNvSpPr>
          <p:nvPr>
            <p:ph type="title"/>
          </p:nvPr>
        </p:nvSpPr>
        <p:spPr>
          <a:xfrm>
            <a:off x="633845" y="365760"/>
            <a:ext cx="7886700" cy="686976"/>
          </a:xfrm>
        </p:spPr>
        <p:txBody>
          <a:bodyPr>
            <a:noAutofit/>
          </a:bodyPr>
          <a:lstStyle/>
          <a:p>
            <a:r>
              <a:rPr lang="fr-BE" sz="3200" b="1" i="1" u="sng">
                <a:solidFill>
                  <a:srgbClr val="C00000"/>
                </a:solidFill>
                <a:latin typeface="+mn-lt"/>
              </a:rPr>
              <a:t>Exemple de calcul d’un retour en 1</a:t>
            </a:r>
            <a:r>
              <a:rPr lang="fr-BE" sz="3200" b="1" i="1" u="sng" baseline="30000">
                <a:solidFill>
                  <a:srgbClr val="C00000"/>
                </a:solidFill>
                <a:latin typeface="+mn-lt"/>
              </a:rPr>
              <a:t>ère</a:t>
            </a:r>
            <a:r>
              <a:rPr lang="fr-BE" sz="3200" b="1" i="1" u="sng">
                <a:solidFill>
                  <a:srgbClr val="C00000"/>
                </a:solidFill>
                <a:latin typeface="+mn-lt"/>
              </a:rPr>
              <a:t> période</a:t>
            </a:r>
          </a:p>
        </p:txBody>
      </p:sp>
      <p:sp>
        <p:nvSpPr>
          <p:cNvPr id="3" name="Espace réservé du contenu 2">
            <a:extLst>
              <a:ext uri="{FF2B5EF4-FFF2-40B4-BE49-F238E27FC236}">
                <a16:creationId xmlns:a16="http://schemas.microsoft.com/office/drawing/2014/main" id="{5E242F31-A97F-4BCD-B1C0-3D37BAE4859A}"/>
              </a:ext>
            </a:extLst>
          </p:cNvPr>
          <p:cNvSpPr>
            <a:spLocks noGrp="1"/>
          </p:cNvSpPr>
          <p:nvPr>
            <p:ph idx="1"/>
          </p:nvPr>
        </p:nvSpPr>
        <p:spPr>
          <a:xfrm>
            <a:off x="251520" y="1052736"/>
            <a:ext cx="8712968" cy="5439503"/>
          </a:xfrm>
        </p:spPr>
        <p:txBody>
          <a:bodyPr>
            <a:normAutofit fontScale="77500" lnSpcReduction="20000"/>
          </a:bodyPr>
          <a:lstStyle/>
          <a:p>
            <a:pPr marL="0" indent="0">
              <a:buNone/>
            </a:pPr>
            <a:r>
              <a:rPr lang="fr-BE" b="1"/>
              <a:t>Indemnisé en CC depuis le 01.02.2022 sur base de la cascade</a:t>
            </a:r>
            <a:r>
              <a:rPr lang="fr-BE"/>
              <a:t>:</a:t>
            </a:r>
          </a:p>
          <a:p>
            <a:pPr marL="1028700" lvl="3" indent="0">
              <a:buNone/>
            </a:pPr>
            <a:r>
              <a:rPr lang="fr-BE" sz="2200"/>
              <a:t>01/58.N11	01.02.2022</a:t>
            </a:r>
          </a:p>
          <a:p>
            <a:pPr marL="1028700" lvl="3" indent="0">
              <a:buNone/>
            </a:pPr>
            <a:r>
              <a:rPr lang="fr-BE" sz="2200"/>
              <a:t>01/58.N12	01.05.2022</a:t>
            </a:r>
          </a:p>
          <a:p>
            <a:pPr marL="1028700" lvl="3" indent="0">
              <a:buNone/>
            </a:pPr>
            <a:r>
              <a:rPr lang="fr-BE" sz="2200"/>
              <a:t>01/58.N13	01.08.2022</a:t>
            </a:r>
          </a:p>
          <a:p>
            <a:pPr marL="1028700" lvl="3" indent="0">
              <a:buNone/>
            </a:pPr>
            <a:r>
              <a:rPr lang="fr-BE" sz="2200"/>
              <a:t>01/58.N2A 	01.02.2023</a:t>
            </a:r>
          </a:p>
          <a:p>
            <a:pPr marL="1028700" lvl="3" indent="0">
              <a:buNone/>
            </a:pPr>
            <a:r>
              <a:rPr lang="fr-BE" sz="2200"/>
              <a:t>01/58.N29	01.04.2023                           </a:t>
            </a:r>
            <a:r>
              <a:rPr lang="fr-BE" sz="1800"/>
              <a:t>DJI= 30.09.2022</a:t>
            </a:r>
          </a:p>
          <a:p>
            <a:pPr marL="0" indent="0">
              <a:buNone/>
            </a:pPr>
            <a:r>
              <a:rPr lang="fr-BE" b="1"/>
              <a:t>Travail temps plein (38/38)du 01.10.2022 au 31.07.2023 et Temps partiel (32/38) du 01.08.2023 au 30.11.2023</a:t>
            </a:r>
          </a:p>
          <a:p>
            <a:pPr marL="0" indent="0">
              <a:buNone/>
            </a:pPr>
            <a:r>
              <a:rPr lang="fr-BE" sz="2000"/>
              <a:t>    </a:t>
            </a:r>
            <a:r>
              <a:rPr lang="fr-BE" sz="2200"/>
              <a:t>2022/4: 	66J		R5	code1		38/38</a:t>
            </a:r>
          </a:p>
          <a:p>
            <a:pPr marL="0" indent="0">
              <a:buNone/>
            </a:pPr>
            <a:r>
              <a:rPr lang="fr-BE" sz="2200"/>
              <a:t>    2023/1: 	65J		R5	code1		38/38</a:t>
            </a:r>
          </a:p>
          <a:p>
            <a:pPr marL="0" indent="0">
              <a:buNone/>
            </a:pPr>
            <a:r>
              <a:rPr lang="fr-BE" sz="2200"/>
              <a:t>    2023/2: 	65J		R5	code1		38/38</a:t>
            </a:r>
          </a:p>
          <a:p>
            <a:pPr marL="0" indent="0">
              <a:buNone/>
            </a:pPr>
            <a:r>
              <a:rPr lang="fr-BE" sz="2200"/>
              <a:t>    2023/3: 	18J		R5	code1		38/38</a:t>
            </a:r>
          </a:p>
          <a:p>
            <a:pPr marL="0" indent="0">
              <a:buNone/>
            </a:pPr>
            <a:r>
              <a:rPr lang="fr-BE" sz="2200"/>
              <a:t>                     	3J		R5	code2		38/38</a:t>
            </a:r>
          </a:p>
          <a:p>
            <a:pPr marL="0" indent="0">
              <a:buNone/>
            </a:pPr>
            <a:r>
              <a:rPr lang="fr-BE" sz="2200"/>
              <a:t>    2023/3: 	278h		R5	code1		32/38</a:t>
            </a:r>
          </a:p>
          <a:p>
            <a:pPr marL="0" indent="0">
              <a:buNone/>
            </a:pPr>
            <a:r>
              <a:rPr lang="fr-BE" sz="2200"/>
              <a:t>    2023/4: 	Trimestre ONSS non accepté sans interruption</a:t>
            </a:r>
          </a:p>
          <a:p>
            <a:pPr marL="0" indent="0">
              <a:buNone/>
            </a:pPr>
            <a:endParaRPr lang="fr-BE" sz="1800" b="1"/>
          </a:p>
          <a:p>
            <a:pPr marL="0" indent="0">
              <a:buNone/>
            </a:pPr>
            <a:r>
              <a:rPr lang="fr-BE" sz="2200" b="1"/>
              <a:t>DA au ?</a:t>
            </a:r>
          </a:p>
        </p:txBody>
      </p:sp>
    </p:spTree>
    <p:extLst>
      <p:ext uri="{BB962C8B-B14F-4D97-AF65-F5344CB8AC3E}">
        <p14:creationId xmlns:p14="http://schemas.microsoft.com/office/powerpoint/2010/main" val="82968866"/>
      </p:ext>
    </p:extLst>
  </p:cSld>
  <p:clrMapOvr>
    <a:masterClrMapping/>
  </p:clrMapOvr>
  <p:transition>
    <p:dissolv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ctrTitle"/>
          </p:nvPr>
        </p:nvSpPr>
        <p:spPr/>
        <p:txBody>
          <a:bodyPr>
            <a:noAutofit/>
          </a:bodyPr>
          <a:lstStyle/>
          <a:p>
            <a:r>
              <a:rPr lang="fr-BE" sz="5400" b="1" i="1"/>
              <a:t>2.2. Prolongation des périodes d’indemnisation</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solidFill>
                  <a:prstClr val="black">
                    <a:tint val="75000"/>
                  </a:prstClr>
                </a:solidFill>
              </a:rPr>
              <a:pPr/>
              <a:t>25</a:t>
            </a:fld>
            <a:endParaRPr lang="fr-FR">
              <a:solidFill>
                <a:prstClr val="black">
                  <a:tint val="75000"/>
                </a:prstClr>
              </a:solidFill>
            </a:endParaRPr>
          </a:p>
        </p:txBody>
      </p:sp>
    </p:spTree>
    <p:extLst>
      <p:ext uri="{BB962C8B-B14F-4D97-AF65-F5344CB8AC3E}">
        <p14:creationId xmlns:p14="http://schemas.microsoft.com/office/powerpoint/2010/main" val="1152415010"/>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BE" b="1" i="1">
                <a:cs typeface="Times New Roman" pitchFamily="18" charset="0"/>
              </a:rPr>
              <a:t>2.2.1. La prolongation</a:t>
            </a:r>
            <a:endParaRPr lang="en-US" b="1" i="1">
              <a:cs typeface="Times New Roman" pitchFamily="18" charset="0"/>
            </a:endParaRPr>
          </a:p>
        </p:txBody>
      </p:sp>
      <p:sp>
        <p:nvSpPr>
          <p:cNvPr id="3" name="Espace réservé du contenu 2"/>
          <p:cNvSpPr>
            <a:spLocks noGrp="1"/>
          </p:cNvSpPr>
          <p:nvPr>
            <p:ph idx="1"/>
          </p:nvPr>
        </p:nvSpPr>
        <p:spPr/>
        <p:txBody>
          <a:bodyPr>
            <a:normAutofit/>
          </a:bodyPr>
          <a:lstStyle/>
          <a:p>
            <a:pPr>
              <a:lnSpc>
                <a:spcPct val="90000"/>
              </a:lnSpc>
              <a:buFont typeface="Wingdings" panose="05000000000000000000" pitchFamily="2" charset="2"/>
              <a:buChar char="§"/>
            </a:pPr>
            <a:r>
              <a:rPr lang="fr-BE">
                <a:latin typeface="+mj-lt"/>
                <a:cs typeface="Times New Roman" pitchFamily="18" charset="0"/>
              </a:rPr>
              <a:t>Prolongation de la période d’indemnisation (et phase) en cours au début de l’évènement </a:t>
            </a:r>
          </a:p>
          <a:p>
            <a:pPr marL="358775" indent="0">
              <a:lnSpc>
                <a:spcPct val="90000"/>
              </a:lnSpc>
              <a:buNone/>
            </a:pPr>
            <a:r>
              <a:rPr lang="fr-BE" b="1">
                <a:solidFill>
                  <a:srgbClr val="C00000"/>
                </a:solidFill>
                <a:latin typeface="+mj-lt"/>
                <a:cs typeface="Times New Roman" pitchFamily="18" charset="0"/>
                <a:sym typeface="Wingdings" panose="05000000000000000000" pitchFamily="2" charset="2"/>
              </a:rPr>
              <a:t> P</a:t>
            </a:r>
            <a:r>
              <a:rPr lang="fr-BE" b="1">
                <a:solidFill>
                  <a:srgbClr val="C00000"/>
                </a:solidFill>
                <a:latin typeface="+mj-lt"/>
                <a:cs typeface="Times New Roman" pitchFamily="18" charset="0"/>
              </a:rPr>
              <a:t>ostposer dans le futur le début des phases suivantes.</a:t>
            </a:r>
          </a:p>
          <a:p>
            <a:pPr>
              <a:lnSpc>
                <a:spcPct val="90000"/>
              </a:lnSpc>
              <a:buFont typeface="Wingdings" panose="05000000000000000000" pitchFamily="2" charset="2"/>
              <a:buChar char="§"/>
            </a:pPr>
            <a:r>
              <a:rPr lang="fr-BE" b="1">
                <a:latin typeface="+mj-lt"/>
                <a:cs typeface="Times New Roman" pitchFamily="18" charset="0"/>
              </a:rPr>
              <a:t>Prolongation par mois complets </a:t>
            </a:r>
            <a:r>
              <a:rPr lang="fr-BE">
                <a:latin typeface="+mj-lt"/>
                <a:cs typeface="Times New Roman" pitchFamily="18" charset="0"/>
              </a:rPr>
              <a:t>(de date à date).</a:t>
            </a:r>
          </a:p>
          <a:p>
            <a:pPr>
              <a:lnSpc>
                <a:spcPct val="90000"/>
              </a:lnSpc>
              <a:buFont typeface="Wingdings" panose="05000000000000000000" pitchFamily="2" charset="2"/>
              <a:buChar char="§"/>
            </a:pPr>
            <a:r>
              <a:rPr lang="fr-BE">
                <a:latin typeface="+mj-lt"/>
                <a:cs typeface="Times New Roman" pitchFamily="18" charset="0"/>
              </a:rPr>
              <a:t>Seulement certains évènements avec une durée minimale ont un effet de prolongation…</a:t>
            </a:r>
            <a:endParaRPr lang="fr-FR">
              <a:latin typeface="+mj-lt"/>
              <a:cs typeface="Times New Roman" pitchFamily="18" charset="0"/>
            </a:endParaRPr>
          </a:p>
          <a:p>
            <a:endParaRPr lang="en-US"/>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26</a:t>
            </a:fld>
            <a:endParaRPr lang="fr-F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b="1" i="1">
                <a:cs typeface="Times New Roman" pitchFamily="18" charset="0"/>
              </a:rPr>
              <a:t>2.2.2. Evènements prolongeant</a:t>
            </a:r>
            <a:endParaRPr lang="en-US" b="1" i="1">
              <a:cs typeface="Times New Roman" pitchFamily="18" charset="0"/>
            </a:endParaRPr>
          </a:p>
        </p:txBody>
      </p:sp>
      <p:sp>
        <p:nvSpPr>
          <p:cNvPr id="3" name="Espace réservé du contenu 2"/>
          <p:cNvSpPr>
            <a:spLocks noGrp="1"/>
          </p:cNvSpPr>
          <p:nvPr>
            <p:ph idx="1"/>
          </p:nvPr>
        </p:nvSpPr>
        <p:spPr/>
        <p:txBody>
          <a:bodyPr>
            <a:normAutofit/>
          </a:bodyPr>
          <a:lstStyle/>
          <a:p>
            <a:pPr marL="0" indent="0">
              <a:buNone/>
            </a:pPr>
            <a:r>
              <a:rPr lang="fr-FR" sz="3000" b="1" i="1" u="sng">
                <a:cs typeface="Times New Roman" pitchFamily="18" charset="0"/>
              </a:rPr>
              <a:t>Si la durée est </a:t>
            </a:r>
            <a:r>
              <a:rPr lang="fr-FR" sz="3000" b="1" i="1" u="sng">
                <a:solidFill>
                  <a:srgbClr val="C00000"/>
                </a:solidFill>
                <a:cs typeface="Times New Roman" pitchFamily="18" charset="0"/>
              </a:rPr>
              <a:t>≥ à 3 mois</a:t>
            </a:r>
            <a:r>
              <a:rPr lang="fr-FR" sz="3000" b="1" i="1">
                <a:solidFill>
                  <a:srgbClr val="C00000"/>
                </a:solidFill>
                <a:cs typeface="Times New Roman" pitchFamily="18" charset="0"/>
              </a:rPr>
              <a:t> </a:t>
            </a:r>
          </a:p>
          <a:p>
            <a:pPr>
              <a:buFont typeface="Wingdings" panose="05000000000000000000" pitchFamily="2" charset="2"/>
              <a:buChar char="§"/>
            </a:pPr>
            <a:r>
              <a:rPr lang="fr-FR">
                <a:cs typeface="Times New Roman" pitchFamily="18" charset="0"/>
              </a:rPr>
              <a:t>Travail temps plein</a:t>
            </a:r>
          </a:p>
          <a:p>
            <a:pPr marL="0" indent="0" algn="ctr">
              <a:buNone/>
            </a:pPr>
            <a:r>
              <a:rPr lang="fr-FR" sz="2200">
                <a:cs typeface="Times New Roman" pitchFamily="18" charset="0"/>
              </a:rPr>
              <a:t>(</a:t>
            </a:r>
            <a:r>
              <a:rPr lang="fr-FR" sz="2200" b="1">
                <a:cs typeface="Times New Roman" pitchFamily="18" charset="0"/>
              </a:rPr>
              <a:t>Q/S = 1 </a:t>
            </a:r>
            <a:r>
              <a:rPr lang="fr-FR" sz="2200">
                <a:cs typeface="Times New Roman" pitchFamily="18" charset="0"/>
              </a:rPr>
              <a:t>ou </a:t>
            </a:r>
            <a:r>
              <a:rPr lang="fr-FR" sz="2200" b="1">
                <a:cs typeface="Times New Roman" pitchFamily="18" charset="0"/>
              </a:rPr>
              <a:t>&gt;4/5 </a:t>
            </a:r>
            <a:r>
              <a:rPr lang="fr-FR" sz="2200">
                <a:cs typeface="Times New Roman" pitchFamily="18" charset="0"/>
              </a:rPr>
              <a:t>ou </a:t>
            </a:r>
            <a:r>
              <a:rPr lang="fr-FR" sz="2200" b="1">
                <a:cs typeface="Times New Roman" pitchFamily="18" charset="0"/>
              </a:rPr>
              <a:t>salaire ≥ salaire de référence</a:t>
            </a:r>
            <a:r>
              <a:rPr lang="fr-FR" sz="2200">
                <a:cs typeface="Times New Roman" pitchFamily="18" charset="0"/>
              </a:rPr>
              <a:t>)</a:t>
            </a:r>
            <a:endParaRPr lang="fr-FR" sz="3000">
              <a:cs typeface="Times New Roman" pitchFamily="18" charset="0"/>
            </a:endParaRPr>
          </a:p>
          <a:p>
            <a:pPr>
              <a:buFont typeface="Wingdings" panose="05000000000000000000" pitchFamily="2" charset="2"/>
              <a:buChar char="§"/>
            </a:pPr>
            <a:r>
              <a:rPr lang="fr-FR">
                <a:cs typeface="Times New Roman" pitchFamily="18" charset="0"/>
              </a:rPr>
              <a:t>TTPMD sans AGR </a:t>
            </a:r>
            <a:r>
              <a:rPr lang="fr-FR" sz="2400">
                <a:cs typeface="Times New Roman" pitchFamily="18" charset="0"/>
              </a:rPr>
              <a:t>(99/).</a:t>
            </a:r>
          </a:p>
          <a:p>
            <a:pPr>
              <a:buFont typeface="Wingdings" panose="05000000000000000000" pitchFamily="2" charset="2"/>
              <a:buChar char="§"/>
            </a:pPr>
            <a:r>
              <a:rPr lang="fr-FR">
                <a:cs typeface="Times New Roman" pitchFamily="18" charset="0"/>
              </a:rPr>
              <a:t>Formation professionnelle temps plein </a:t>
            </a:r>
            <a:r>
              <a:rPr lang="fr-FR" sz="2400">
                <a:cs typeface="Times New Roman" pitchFamily="18" charset="0"/>
              </a:rPr>
              <a:t>(11/).</a:t>
            </a:r>
            <a:endParaRPr lang="fr-FR">
              <a:cs typeface="Times New Roman" pitchFamily="18" charset="0"/>
            </a:endParaRPr>
          </a:p>
          <a:p>
            <a:pPr marL="0" lvl="0" indent="0">
              <a:buNone/>
            </a:pPr>
            <a:r>
              <a:rPr lang="fr-FR" b="1" i="1" u="sng">
                <a:solidFill>
                  <a:prstClr val="black"/>
                </a:solidFill>
                <a:cs typeface="Times New Roman" pitchFamily="18" charset="0"/>
              </a:rPr>
              <a:t>Si la durée est </a:t>
            </a:r>
            <a:r>
              <a:rPr lang="fr-FR" b="1" i="1" u="sng">
                <a:solidFill>
                  <a:srgbClr val="C00000"/>
                </a:solidFill>
                <a:cs typeface="Times New Roman" pitchFamily="18" charset="0"/>
              </a:rPr>
              <a:t>≥ à 6 mois</a:t>
            </a:r>
            <a:r>
              <a:rPr lang="fr-FR" b="1" i="1">
                <a:solidFill>
                  <a:srgbClr val="C00000"/>
                </a:solidFill>
                <a:cs typeface="Times New Roman" pitchFamily="18" charset="0"/>
              </a:rPr>
              <a:t> :</a:t>
            </a:r>
            <a:endParaRPr lang="fr-FR" b="1" i="1" u="sng">
              <a:solidFill>
                <a:srgbClr val="C00000"/>
              </a:solidFill>
              <a:cs typeface="Times New Roman" pitchFamily="18" charset="0"/>
            </a:endParaRPr>
          </a:p>
          <a:p>
            <a:pPr lvl="0">
              <a:lnSpc>
                <a:spcPct val="90000"/>
              </a:lnSpc>
              <a:buFont typeface="Wingdings" panose="05000000000000000000" pitchFamily="2" charset="2"/>
              <a:buChar char="§"/>
            </a:pPr>
            <a:r>
              <a:rPr lang="fr-FR">
                <a:solidFill>
                  <a:prstClr val="black"/>
                </a:solidFill>
                <a:cs typeface="Times New Roman" pitchFamily="18" charset="0"/>
              </a:rPr>
              <a:t>Profession non assujettie à l’ONSS secteur chômage </a:t>
            </a:r>
            <a:r>
              <a:rPr lang="fr-FR" sz="2400">
                <a:solidFill>
                  <a:prstClr val="black"/>
                </a:solidFill>
                <a:cs typeface="Times New Roman" pitchFamily="18" charset="0"/>
              </a:rPr>
              <a:t>(en Belgique ou à l’étranger)</a:t>
            </a:r>
          </a:p>
          <a:p>
            <a:endParaRPr lang="en-US"/>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27</a:t>
            </a:fld>
            <a:endParaRPr lang="fr-F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a:cs typeface="Times New Roman" pitchFamily="18" charset="0"/>
              </a:rPr>
              <a:t>2.2.2. Evènements prolongeant</a:t>
            </a:r>
            <a:br>
              <a:rPr lang="fr-FR" b="1" i="1">
                <a:cs typeface="Times New Roman" pitchFamily="18" charset="0"/>
              </a:rPr>
            </a:br>
            <a:r>
              <a:rPr lang="fr-FR" b="1" i="1">
                <a:cs typeface="Times New Roman" pitchFamily="18" charset="0"/>
              </a:rPr>
              <a:t>Précisions</a:t>
            </a:r>
            <a:endParaRPr lang="en-US" b="1" i="1">
              <a:cs typeface="Times New Roman" pitchFamily="18" charset="0"/>
            </a:endParaRPr>
          </a:p>
        </p:txBody>
      </p:sp>
      <p:sp>
        <p:nvSpPr>
          <p:cNvPr id="3" name="Espace réservé du contenu 2"/>
          <p:cNvSpPr>
            <a:spLocks noGrp="1"/>
          </p:cNvSpPr>
          <p:nvPr>
            <p:ph idx="1"/>
          </p:nvPr>
        </p:nvSpPr>
        <p:spPr/>
        <p:txBody>
          <a:bodyPr>
            <a:normAutofit/>
          </a:bodyPr>
          <a:lstStyle/>
          <a:p>
            <a:pPr marL="0" indent="0">
              <a:lnSpc>
                <a:spcPct val="90000"/>
              </a:lnSpc>
              <a:buNone/>
            </a:pPr>
            <a:r>
              <a:rPr lang="fr-FR" b="1" i="1" u="sng">
                <a:latin typeface="+mj-lt"/>
                <a:cs typeface="Times New Roman" pitchFamily="18" charset="0"/>
              </a:rPr>
              <a:t>Travail temps plein &amp; TTPMD sans AGR</a:t>
            </a:r>
          </a:p>
          <a:p>
            <a:pPr marL="0" indent="0">
              <a:lnSpc>
                <a:spcPct val="90000"/>
              </a:lnSpc>
              <a:buNone/>
            </a:pPr>
            <a:endParaRPr lang="fr-FR" b="1" i="1" u="sng">
              <a:latin typeface="+mj-lt"/>
              <a:cs typeface="Times New Roman" pitchFamily="18" charset="0"/>
            </a:endParaRPr>
          </a:p>
          <a:p>
            <a:pPr>
              <a:lnSpc>
                <a:spcPct val="90000"/>
              </a:lnSpc>
              <a:buFont typeface="Wingdings" panose="05000000000000000000" pitchFamily="2" charset="2"/>
              <a:buChar char="§"/>
            </a:pPr>
            <a:r>
              <a:rPr lang="fr-FR">
                <a:latin typeface="+mj-lt"/>
                <a:cs typeface="Times New Roman" pitchFamily="18" charset="0"/>
              </a:rPr>
              <a:t>Durée ≥ à 3 mois </a:t>
            </a:r>
            <a:r>
              <a:rPr lang="fr-FR" sz="2400">
                <a:latin typeface="+mj-lt"/>
                <a:cs typeface="Times New Roman" pitchFamily="18" charset="0"/>
                <a:sym typeface="Wingdings" pitchFamily="2" charset="2"/>
              </a:rPr>
              <a:t></a:t>
            </a:r>
            <a:r>
              <a:rPr lang="fr-FR">
                <a:latin typeface="+mj-lt"/>
                <a:cs typeface="Times New Roman" pitchFamily="18" charset="0"/>
                <a:sym typeface="Wingdings" pitchFamily="2" charset="2"/>
              </a:rPr>
              <a:t> L</a:t>
            </a:r>
            <a:r>
              <a:rPr lang="fr-FR">
                <a:latin typeface="+mj-lt"/>
                <a:cs typeface="Times New Roman" pitchFamily="18" charset="0"/>
              </a:rPr>
              <a:t>e travailleur doit être </a:t>
            </a:r>
            <a:r>
              <a:rPr lang="fr-FR" b="1">
                <a:solidFill>
                  <a:srgbClr val="C00000"/>
                </a:solidFill>
                <a:latin typeface="+mj-lt"/>
                <a:cs typeface="Times New Roman" pitchFamily="18" charset="0"/>
              </a:rPr>
              <a:t>lié pendant au moins 3 mois par un contrat de travail</a:t>
            </a:r>
            <a:r>
              <a:rPr lang="fr-FR">
                <a:latin typeface="+mj-lt"/>
                <a:cs typeface="Times New Roman" pitchFamily="18" charset="0"/>
              </a:rPr>
              <a:t>. </a:t>
            </a:r>
          </a:p>
          <a:p>
            <a:pPr marL="0" indent="0">
              <a:lnSpc>
                <a:spcPct val="90000"/>
              </a:lnSpc>
              <a:buNone/>
            </a:pPr>
            <a:r>
              <a:rPr lang="fr-FR" sz="2400">
                <a:latin typeface="+mj-lt"/>
                <a:cs typeface="Times New Roman" pitchFamily="18" charset="0"/>
                <a:sym typeface="Wingdings" panose="05000000000000000000" pitchFamily="2" charset="2"/>
              </a:rPr>
              <a:t></a:t>
            </a:r>
            <a:r>
              <a:rPr lang="fr-FR">
                <a:latin typeface="+mj-lt"/>
                <a:cs typeface="Times New Roman" pitchFamily="18" charset="0"/>
                <a:sym typeface="Wingdings" panose="05000000000000000000" pitchFamily="2" charset="2"/>
              </a:rPr>
              <a:t> </a:t>
            </a:r>
            <a:r>
              <a:rPr lang="fr-FR">
                <a:latin typeface="+mj-lt"/>
                <a:cs typeface="Times New Roman" pitchFamily="18" charset="0"/>
              </a:rPr>
              <a:t>Si interruption pendant le contrat, cette période est comptabilisée pour la durée de l’occupation mais pas prise en compte pour la prolongation. </a:t>
            </a:r>
          </a:p>
          <a:p>
            <a:pPr marL="0" indent="0">
              <a:buNone/>
            </a:pPr>
            <a:endParaRPr lang="en-US"/>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28</a:t>
            </a:fld>
            <a:endParaRPr lang="fr-F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a:solidFill>
                  <a:prstClr val="black"/>
                </a:solidFill>
                <a:cs typeface="Times New Roman" pitchFamily="18" charset="0"/>
              </a:rPr>
              <a:t>2.2.3. Formules DMFA</a:t>
            </a:r>
            <a:endParaRPr lang="en-US" b="1" i="1">
              <a:solidFill>
                <a:prstClr val="black"/>
              </a:solidFill>
              <a:cs typeface="Times New Roman" pitchFamily="18" charset="0"/>
            </a:endParaRPr>
          </a:p>
        </p:txBody>
      </p:sp>
      <p:sp>
        <p:nvSpPr>
          <p:cNvPr id="3" name="Espace réservé du contenu 2"/>
          <p:cNvSpPr>
            <a:spLocks noGrp="1"/>
          </p:cNvSpPr>
          <p:nvPr>
            <p:ph idx="1"/>
          </p:nvPr>
        </p:nvSpPr>
        <p:spPr/>
        <p:txBody>
          <a:bodyPr>
            <a:normAutofit/>
          </a:bodyPr>
          <a:lstStyle/>
          <a:p>
            <a:pPr marL="0" indent="0">
              <a:lnSpc>
                <a:spcPct val="90000"/>
              </a:lnSpc>
              <a:buNone/>
            </a:pPr>
            <a:r>
              <a:rPr lang="fr-FR">
                <a:latin typeface="+mj-lt"/>
                <a:cs typeface="Times New Roman" pitchFamily="18" charset="0"/>
              </a:rPr>
              <a:t>Le calcul s’effectue sur base des formules DMFA </a:t>
            </a:r>
          </a:p>
          <a:p>
            <a:pPr marL="0" indent="0">
              <a:lnSpc>
                <a:spcPct val="90000"/>
              </a:lnSpc>
              <a:buNone/>
            </a:pPr>
            <a:endParaRPr lang="fr-FR">
              <a:latin typeface="+mj-lt"/>
              <a:cs typeface="Times New Roman" pitchFamily="18" charset="0"/>
            </a:endParaRPr>
          </a:p>
          <a:p>
            <a:pPr>
              <a:lnSpc>
                <a:spcPct val="90000"/>
              </a:lnSpc>
              <a:buFont typeface="Wingdings" panose="05000000000000000000" pitchFamily="2" charset="2"/>
              <a:buChar char="§"/>
            </a:pPr>
            <a:r>
              <a:rPr lang="fr-FR" b="1" u="sng">
                <a:latin typeface="+mj-lt"/>
                <a:cs typeface="Times New Roman" pitchFamily="18" charset="0"/>
              </a:rPr>
              <a:t>Occupation à temps plein</a:t>
            </a:r>
            <a:r>
              <a:rPr lang="fr-FR">
                <a:latin typeface="+mj-lt"/>
                <a:cs typeface="Times New Roman" pitchFamily="18" charset="0"/>
              </a:rPr>
              <a:t> 	Q/S = 1</a:t>
            </a:r>
          </a:p>
          <a:p>
            <a:pPr marL="0" indent="0">
              <a:lnSpc>
                <a:spcPct val="90000"/>
              </a:lnSpc>
              <a:buNone/>
            </a:pPr>
            <a:r>
              <a:rPr lang="fr-FR">
                <a:latin typeface="+mj-lt"/>
                <a:cs typeface="Times New Roman" pitchFamily="18" charset="0"/>
              </a:rPr>
              <a:t>	</a:t>
            </a:r>
            <a:r>
              <a:rPr lang="fr-FR" b="1">
                <a:solidFill>
                  <a:srgbClr val="C00000"/>
                </a:solidFill>
                <a:latin typeface="+mj-lt"/>
                <a:cs typeface="Times New Roman" pitchFamily="18" charset="0"/>
              </a:rPr>
              <a:t>A x 6/R    </a:t>
            </a:r>
            <a:r>
              <a:rPr lang="fr-FR">
                <a:latin typeface="+mj-lt"/>
                <a:cs typeface="Times New Roman" pitchFamily="18" charset="0"/>
              </a:rPr>
              <a:t>		</a:t>
            </a:r>
            <a:r>
              <a:rPr lang="fr-FR" sz="2600">
                <a:latin typeface="+mj-lt"/>
                <a:cs typeface="Times New Roman" pitchFamily="18" charset="0"/>
              </a:rPr>
              <a:t>A = nombre de jours</a:t>
            </a:r>
          </a:p>
          <a:p>
            <a:pPr marL="0" indent="0">
              <a:lnSpc>
                <a:spcPct val="90000"/>
              </a:lnSpc>
              <a:buNone/>
            </a:pPr>
            <a:r>
              <a:rPr lang="fr-FR" sz="2600">
                <a:latin typeface="+mj-lt"/>
                <a:cs typeface="Times New Roman" pitchFamily="18" charset="0"/>
              </a:rPr>
              <a:t>				R = régime de travail</a:t>
            </a:r>
          </a:p>
          <a:p>
            <a:pPr>
              <a:lnSpc>
                <a:spcPct val="90000"/>
              </a:lnSpc>
              <a:buFont typeface="Wingdings" panose="05000000000000000000" pitchFamily="2" charset="2"/>
              <a:buChar char="§"/>
            </a:pPr>
            <a:r>
              <a:rPr lang="fr-FR" b="1" u="sng">
                <a:latin typeface="+mj-lt"/>
                <a:cs typeface="Times New Roman" pitchFamily="18" charset="0"/>
              </a:rPr>
              <a:t>Occupation à temps partiel</a:t>
            </a:r>
            <a:r>
              <a:rPr lang="fr-FR">
                <a:latin typeface="+mj-lt"/>
                <a:cs typeface="Times New Roman" pitchFamily="18" charset="0"/>
              </a:rPr>
              <a:t>	Q/S &lt; 1</a:t>
            </a:r>
          </a:p>
          <a:p>
            <a:pPr marL="0" indent="0">
              <a:lnSpc>
                <a:spcPct val="90000"/>
              </a:lnSpc>
              <a:buNone/>
            </a:pPr>
            <a:r>
              <a:rPr lang="fr-FR">
                <a:latin typeface="+mj-lt"/>
                <a:cs typeface="Times New Roman" pitchFamily="18" charset="0"/>
              </a:rPr>
              <a:t>	</a:t>
            </a:r>
            <a:r>
              <a:rPr lang="fr-FR" b="1">
                <a:solidFill>
                  <a:srgbClr val="C00000"/>
                </a:solidFill>
                <a:latin typeface="+mj-lt"/>
                <a:cs typeface="Times New Roman" pitchFamily="18" charset="0"/>
              </a:rPr>
              <a:t>a x 6/Q	</a:t>
            </a:r>
            <a:r>
              <a:rPr lang="fr-FR">
                <a:latin typeface="+mj-lt"/>
                <a:cs typeface="Times New Roman" pitchFamily="18" charset="0"/>
              </a:rPr>
              <a:t>    	</a:t>
            </a:r>
            <a:r>
              <a:rPr lang="fr-FR" sz="2600">
                <a:latin typeface="+mj-lt"/>
                <a:cs typeface="Times New Roman" pitchFamily="18" charset="0"/>
              </a:rPr>
              <a:t>a = nombre d’heures</a:t>
            </a:r>
          </a:p>
          <a:p>
            <a:pPr marL="0" indent="0">
              <a:lnSpc>
                <a:spcPct val="90000"/>
              </a:lnSpc>
              <a:buNone/>
            </a:pPr>
            <a:r>
              <a:rPr lang="fr-FR" sz="2600">
                <a:latin typeface="+mj-lt"/>
                <a:cs typeface="Times New Roman" pitchFamily="18" charset="0"/>
              </a:rPr>
              <a:t>				Q = nombre d’heures par sem.</a:t>
            </a: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29</a:t>
            </a:fld>
            <a:endParaRPr lang="fr-FR"/>
          </a:p>
        </p:txBody>
      </p:sp>
    </p:spTree>
    <p:extLst>
      <p:ext uri="{BB962C8B-B14F-4D97-AF65-F5344CB8AC3E}">
        <p14:creationId xmlns:p14="http://schemas.microsoft.com/office/powerpoint/2010/main" val="102405928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10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10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10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10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r"/>
            <a:r>
              <a:rPr lang="fr-BE" b="1" i="1">
                <a:solidFill>
                  <a:prstClr val="black"/>
                </a:solidFill>
                <a:cs typeface="Times New Roman" pitchFamily="18" charset="0"/>
              </a:rPr>
              <a:t>2.2.3. Formules DMFA</a:t>
            </a:r>
            <a:endParaRPr lang="en-US" b="1" i="1">
              <a:solidFill>
                <a:prstClr val="black"/>
              </a:solidFill>
              <a:cs typeface="Times New Roman" pitchFamily="18" charset="0"/>
            </a:endParaRPr>
          </a:p>
        </p:txBody>
      </p:sp>
      <p:sp>
        <p:nvSpPr>
          <p:cNvPr id="3" name="Espace réservé du contenu 2"/>
          <p:cNvSpPr>
            <a:spLocks noGrp="1"/>
          </p:cNvSpPr>
          <p:nvPr>
            <p:ph idx="1"/>
          </p:nvPr>
        </p:nvSpPr>
        <p:spPr/>
        <p:txBody>
          <a:bodyPr>
            <a:normAutofit/>
          </a:bodyPr>
          <a:lstStyle/>
          <a:p>
            <a:pPr marL="0" indent="0">
              <a:lnSpc>
                <a:spcPct val="90000"/>
              </a:lnSpc>
              <a:buNone/>
            </a:pPr>
            <a:r>
              <a:rPr lang="fr-BE" b="1">
                <a:latin typeface="+mj-lt"/>
                <a:cs typeface="Times New Roman" pitchFamily="18" charset="0"/>
              </a:rPr>
              <a:t>Le nombre de mois de prolongation est obtenu en </a:t>
            </a:r>
            <a:r>
              <a:rPr lang="fr-BE" b="1">
                <a:solidFill>
                  <a:srgbClr val="C00000"/>
                </a:solidFill>
                <a:latin typeface="+mj-lt"/>
                <a:cs typeface="Times New Roman" pitchFamily="18" charset="0"/>
              </a:rPr>
              <a:t>divisant par 26 le total des calculs DMFA</a:t>
            </a:r>
            <a:r>
              <a:rPr lang="fr-BE" b="1">
                <a:latin typeface="+mj-lt"/>
                <a:cs typeface="Times New Roman" pitchFamily="18" charset="0"/>
              </a:rPr>
              <a:t>.</a:t>
            </a:r>
          </a:p>
          <a:p>
            <a:pPr marL="0" indent="0">
              <a:lnSpc>
                <a:spcPct val="90000"/>
              </a:lnSpc>
              <a:buNone/>
            </a:pPr>
            <a:endParaRPr lang="fr-BE" sz="2800">
              <a:latin typeface="+mj-lt"/>
              <a:cs typeface="Times New Roman" pitchFamily="18" charset="0"/>
              <a:sym typeface="Wingdings" panose="05000000000000000000" pitchFamily="2" charset="2"/>
            </a:endParaRPr>
          </a:p>
          <a:p>
            <a:pPr marL="0" indent="0">
              <a:lnSpc>
                <a:spcPct val="90000"/>
              </a:lnSpc>
              <a:buNone/>
            </a:pPr>
            <a:r>
              <a:rPr lang="fr-BE" sz="2800">
                <a:latin typeface="+mj-lt"/>
                <a:cs typeface="Times New Roman" pitchFamily="18" charset="0"/>
                <a:sym typeface="Wingdings" panose="05000000000000000000" pitchFamily="2" charset="2"/>
              </a:rPr>
              <a:t></a:t>
            </a:r>
            <a:r>
              <a:rPr lang="fr-BE">
                <a:latin typeface="+mj-lt"/>
                <a:cs typeface="Times New Roman" pitchFamily="18" charset="0"/>
                <a:sym typeface="Wingdings" panose="05000000000000000000" pitchFamily="2" charset="2"/>
              </a:rPr>
              <a:t> </a:t>
            </a:r>
            <a:r>
              <a:rPr lang="fr-BE">
                <a:latin typeface="+mj-lt"/>
                <a:cs typeface="Times New Roman" pitchFamily="18" charset="0"/>
              </a:rPr>
              <a:t>Le résultat est </a:t>
            </a:r>
            <a:r>
              <a:rPr lang="fr-BE" b="1" u="sng">
                <a:latin typeface="+mj-lt"/>
                <a:cs typeface="Times New Roman" pitchFamily="18" charset="0"/>
              </a:rPr>
              <a:t>toujours</a:t>
            </a:r>
            <a:r>
              <a:rPr lang="fr-BE">
                <a:latin typeface="+mj-lt"/>
                <a:cs typeface="Times New Roman" pitchFamily="18" charset="0"/>
              </a:rPr>
              <a:t> arrondi à l’unité inférieure :</a:t>
            </a:r>
          </a:p>
          <a:p>
            <a:pPr marL="342900" lvl="2" indent="-342900">
              <a:lnSpc>
                <a:spcPct val="90000"/>
              </a:lnSpc>
              <a:buFont typeface="Wingdings" panose="05000000000000000000" pitchFamily="2" charset="2"/>
              <a:buChar char="§"/>
            </a:pPr>
            <a:r>
              <a:rPr lang="fr-BE" sz="3200">
                <a:latin typeface="+mj-lt"/>
                <a:cs typeface="Times New Roman" pitchFamily="18" charset="0"/>
              </a:rPr>
              <a:t>Si &lt; 3 pas de prolongation !</a:t>
            </a:r>
          </a:p>
          <a:p>
            <a:pPr marL="342900" lvl="2" indent="-342900">
              <a:lnSpc>
                <a:spcPct val="90000"/>
              </a:lnSpc>
              <a:buFont typeface="Wingdings" panose="05000000000000000000" pitchFamily="2" charset="2"/>
              <a:buChar char="§"/>
            </a:pPr>
            <a:r>
              <a:rPr lang="fr-BE" sz="3200">
                <a:latin typeface="+mj-lt"/>
                <a:cs typeface="Times New Roman" pitchFamily="18" charset="0"/>
              </a:rPr>
              <a:t>Si ≥ 3 prolongation du nombre de mois complet.</a:t>
            </a:r>
          </a:p>
          <a:p>
            <a:endParaRPr lang="en-US"/>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30</a:t>
            </a:fld>
            <a:endParaRPr lang="fr-F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10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457200" y="332656"/>
            <a:ext cx="8229600" cy="1143000"/>
          </a:xfrm>
        </p:spPr>
        <p:txBody>
          <a:bodyPr>
            <a:normAutofit fontScale="90000"/>
          </a:bodyPr>
          <a:lstStyle/>
          <a:p>
            <a:pPr algn="r"/>
            <a:r>
              <a:rPr lang="fr-BE" sz="4000" b="1" i="1">
                <a:solidFill>
                  <a:prstClr val="black"/>
                </a:solidFill>
                <a:cs typeface="Times New Roman" pitchFamily="18" charset="0"/>
              </a:rPr>
              <a:t>2.2.3. Formules </a:t>
            </a:r>
            <a:r>
              <a:rPr lang="fr-BE" sz="4000" b="1" i="1" err="1">
                <a:solidFill>
                  <a:prstClr val="black"/>
                </a:solidFill>
                <a:cs typeface="Times New Roman" pitchFamily="18" charset="0"/>
              </a:rPr>
              <a:t>Dmfa</a:t>
            </a:r>
            <a:r>
              <a:rPr lang="fr-BE" sz="4000" b="1" i="1">
                <a:solidFill>
                  <a:prstClr val="black"/>
                </a:solidFill>
                <a:cs typeface="Times New Roman" pitchFamily="18" charset="0"/>
              </a:rPr>
              <a:t> </a:t>
            </a:r>
            <a:br>
              <a:rPr lang="fr-BE" sz="4000" b="1" i="1">
                <a:solidFill>
                  <a:prstClr val="black"/>
                </a:solidFill>
                <a:cs typeface="Times New Roman" pitchFamily="18" charset="0"/>
              </a:rPr>
            </a:br>
            <a:r>
              <a:rPr lang="fr-BE" sz="4000" b="1" i="1">
                <a:solidFill>
                  <a:prstClr val="black"/>
                </a:solidFill>
                <a:cs typeface="Times New Roman" pitchFamily="18" charset="0"/>
              </a:rPr>
              <a:t>Exemple 1</a:t>
            </a:r>
            <a:endParaRPr lang="fr-BE" sz="4000" b="1" i="1"/>
          </a:p>
        </p:txBody>
      </p:sp>
      <p:graphicFrame>
        <p:nvGraphicFramePr>
          <p:cNvPr id="25" name="Group 3"/>
          <p:cNvGraphicFramePr>
            <a:graphicFrameLocks noGrp="1"/>
          </p:cNvGraphicFramePr>
          <p:nvPr/>
        </p:nvGraphicFramePr>
        <p:xfrm>
          <a:off x="1339165" y="2667000"/>
          <a:ext cx="6096000" cy="736600"/>
        </p:xfrm>
        <a:graphic>
          <a:graphicData uri="http://schemas.openxmlformats.org/drawingml/2006/table">
            <a:tbl>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736600">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6" name="Line 24"/>
          <p:cNvSpPr>
            <a:spLocks noChangeShapeType="1"/>
          </p:cNvSpPr>
          <p:nvPr/>
        </p:nvSpPr>
        <p:spPr bwMode="auto">
          <a:xfrm>
            <a:off x="381000" y="3403600"/>
            <a:ext cx="8382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Box 25"/>
          <p:cNvSpPr txBox="1">
            <a:spLocks noChangeArrowheads="1"/>
          </p:cNvSpPr>
          <p:nvPr/>
        </p:nvSpPr>
        <p:spPr bwMode="auto">
          <a:xfrm>
            <a:off x="1419022" y="2285998"/>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a:solidFill>
                  <a:prstClr val="black"/>
                </a:solidFill>
                <a:latin typeface="Calibri"/>
              </a:rPr>
              <a:t>06</a:t>
            </a:r>
            <a:r>
              <a:rPr kumimoji="0" lang="fr-BE" sz="1800" b="0" i="0" u="none" strike="noStrike" kern="1200" cap="none" spc="0" normalizeH="0" baseline="0" noProof="0">
                <a:ln>
                  <a:noFill/>
                </a:ln>
                <a:solidFill>
                  <a:prstClr val="black"/>
                </a:solidFill>
                <a:effectLst/>
                <a:uLnTx/>
                <a:uFillTx/>
                <a:latin typeface="Calibri"/>
                <a:ea typeface="+mn-ea"/>
                <a:cs typeface="+mn-cs"/>
              </a:rPr>
              <a:t>.2023</a:t>
            </a:r>
          </a:p>
        </p:txBody>
      </p:sp>
      <p:sp>
        <p:nvSpPr>
          <p:cNvPr id="28" name="Text Box 26"/>
          <p:cNvSpPr txBox="1">
            <a:spLocks noChangeArrowheads="1"/>
          </p:cNvSpPr>
          <p:nvPr/>
        </p:nvSpPr>
        <p:spPr bwMode="auto">
          <a:xfrm>
            <a:off x="2455350" y="2286554"/>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a:solidFill>
                  <a:prstClr val="black"/>
                </a:solidFill>
                <a:latin typeface="Calibri"/>
              </a:rPr>
              <a:t>07</a:t>
            </a:r>
            <a:r>
              <a:rPr kumimoji="0" lang="fr-BE" sz="1800" b="0" i="0" u="none" strike="noStrike" kern="1200" cap="none" spc="0" normalizeH="0" baseline="0" noProof="0">
                <a:ln>
                  <a:noFill/>
                </a:ln>
                <a:solidFill>
                  <a:prstClr val="black"/>
                </a:solidFill>
                <a:effectLst/>
                <a:uLnTx/>
                <a:uFillTx/>
                <a:latin typeface="Calibri"/>
                <a:ea typeface="+mn-ea"/>
                <a:cs typeface="+mn-cs"/>
              </a:rPr>
              <a:t>.2023</a:t>
            </a:r>
          </a:p>
        </p:txBody>
      </p:sp>
      <p:sp>
        <p:nvSpPr>
          <p:cNvPr id="29" name="Text Box 27"/>
          <p:cNvSpPr txBox="1">
            <a:spLocks noChangeArrowheads="1"/>
          </p:cNvSpPr>
          <p:nvPr/>
        </p:nvSpPr>
        <p:spPr bwMode="auto">
          <a:xfrm>
            <a:off x="3416300" y="2284966"/>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08.2023</a:t>
            </a:r>
          </a:p>
        </p:txBody>
      </p:sp>
      <p:sp>
        <p:nvSpPr>
          <p:cNvPr id="30" name="Text Box 28"/>
          <p:cNvSpPr txBox="1">
            <a:spLocks noChangeArrowheads="1"/>
          </p:cNvSpPr>
          <p:nvPr/>
        </p:nvSpPr>
        <p:spPr bwMode="auto">
          <a:xfrm>
            <a:off x="4387165" y="2284966"/>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09.2023</a:t>
            </a:r>
          </a:p>
        </p:txBody>
      </p:sp>
      <p:sp>
        <p:nvSpPr>
          <p:cNvPr id="31" name="Text Box 29"/>
          <p:cNvSpPr txBox="1">
            <a:spLocks noChangeArrowheads="1"/>
          </p:cNvSpPr>
          <p:nvPr/>
        </p:nvSpPr>
        <p:spPr bwMode="auto">
          <a:xfrm>
            <a:off x="5433255" y="2286892"/>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10.2023</a:t>
            </a:r>
          </a:p>
        </p:txBody>
      </p:sp>
      <p:sp>
        <p:nvSpPr>
          <p:cNvPr id="32" name="Text Box 30"/>
          <p:cNvSpPr txBox="1">
            <a:spLocks noChangeArrowheads="1"/>
          </p:cNvSpPr>
          <p:nvPr/>
        </p:nvSpPr>
        <p:spPr bwMode="auto">
          <a:xfrm>
            <a:off x="6446911" y="2284966"/>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a:solidFill>
                  <a:prstClr val="black"/>
                </a:solidFill>
                <a:latin typeface="Calibri"/>
              </a:rPr>
              <a:t>11</a:t>
            </a:r>
            <a:r>
              <a:rPr kumimoji="0" lang="fr-BE" sz="1800" b="0" i="0" u="none" strike="noStrike" kern="1200" cap="none" spc="0" normalizeH="0" baseline="0" noProof="0">
                <a:ln>
                  <a:noFill/>
                </a:ln>
                <a:solidFill>
                  <a:prstClr val="black"/>
                </a:solidFill>
                <a:effectLst/>
                <a:uLnTx/>
                <a:uFillTx/>
                <a:latin typeface="Calibri"/>
                <a:ea typeface="+mn-ea"/>
                <a:cs typeface="+mn-cs"/>
              </a:rPr>
              <a:t>.2023</a:t>
            </a:r>
          </a:p>
        </p:txBody>
      </p:sp>
      <p:sp>
        <p:nvSpPr>
          <p:cNvPr id="34" name="AutoShape 33"/>
          <p:cNvSpPr>
            <a:spLocks/>
          </p:cNvSpPr>
          <p:nvPr/>
        </p:nvSpPr>
        <p:spPr bwMode="auto">
          <a:xfrm rot="16200000" flipV="1">
            <a:off x="4327182" y="778217"/>
            <a:ext cx="152400" cy="6063565"/>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Box 37"/>
          <p:cNvSpPr txBox="1">
            <a:spLocks noChangeArrowheads="1"/>
          </p:cNvSpPr>
          <p:nvPr/>
        </p:nvSpPr>
        <p:spPr bwMode="auto">
          <a:xfrm>
            <a:off x="719572" y="5563569"/>
            <a:ext cx="7704856" cy="369332"/>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52/26 = 2 </a:t>
            </a:r>
            <a:r>
              <a:rPr kumimoji="0" lang="fr-BE" sz="1800" b="0" i="0" u="none" strike="noStrike" kern="1200" cap="none" spc="0" normalizeH="0" baseline="0" noProof="0">
                <a:ln>
                  <a:noFill/>
                </a:ln>
                <a:solidFill>
                  <a:prstClr val="black"/>
                </a:solidFill>
                <a:effectLst/>
                <a:uLnTx/>
                <a:uFillTx/>
                <a:latin typeface="Calibri"/>
                <a:ea typeface="+mn-ea"/>
                <a:cs typeface="+mn-cs"/>
                <a:sym typeface="Wingdings" pitchFamily="2" charset="2"/>
              </a:rPr>
              <a:t>  </a:t>
            </a:r>
            <a:r>
              <a:rPr kumimoji="0" lang="fr-BE" sz="1800" b="0" i="0" u="none" strike="noStrike" kern="1200" cap="none" spc="0" normalizeH="0" baseline="0" noProof="0">
                <a:ln>
                  <a:noFill/>
                </a:ln>
                <a:solidFill>
                  <a:prstClr val="black"/>
                </a:solidFill>
                <a:effectLst/>
                <a:uLnTx/>
                <a:uFillTx/>
                <a:latin typeface="Calibri"/>
                <a:ea typeface="+mn-ea"/>
                <a:cs typeface="+mn-cs"/>
              </a:rPr>
              <a:t>&lt; 3 mois donc pas de prolongation</a:t>
            </a:r>
          </a:p>
        </p:txBody>
      </p:sp>
      <p:sp>
        <p:nvSpPr>
          <p:cNvPr id="40" name="Rectangle 39"/>
          <p:cNvSpPr>
            <a:spLocks noChangeArrowheads="1"/>
          </p:cNvSpPr>
          <p:nvPr/>
        </p:nvSpPr>
        <p:spPr bwMode="auto">
          <a:xfrm>
            <a:off x="2363511" y="3009900"/>
            <a:ext cx="4083400" cy="381000"/>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Times New Roman" pitchFamily="18" charset="0"/>
                <a:ea typeface="+mn-ea"/>
                <a:cs typeface="+mn-cs"/>
              </a:rPr>
              <a:t>maladie</a:t>
            </a:r>
          </a:p>
        </p:txBody>
      </p:sp>
      <p:sp>
        <p:nvSpPr>
          <p:cNvPr id="41" name="Espace réservé du numéro de diapositive 19"/>
          <p:cNvSpPr>
            <a:spLocks noGrp="1"/>
          </p:cNvSpPr>
          <p:nvPr>
            <p:ph type="sldNum" sz="quarter" idx="12"/>
          </p:nvPr>
        </p:nvSpPr>
        <p:spPr>
          <a:xfrm>
            <a:off x="6553200" y="6356350"/>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ZoneTexte 1"/>
          <p:cNvSpPr txBox="1"/>
          <p:nvPr/>
        </p:nvSpPr>
        <p:spPr>
          <a:xfrm>
            <a:off x="539552" y="1700808"/>
            <a:ext cx="73864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800" b="1" i="0" u="none" strike="noStrike" kern="1200" cap="none" spc="0" normalizeH="0" baseline="0" noProof="0">
                <a:ln>
                  <a:noFill/>
                </a:ln>
                <a:solidFill>
                  <a:prstClr val="black"/>
                </a:solidFill>
                <a:effectLst/>
                <a:uLnTx/>
                <a:uFillTx/>
                <a:latin typeface="Calibri"/>
                <a:ea typeface="+mn-ea"/>
                <a:cs typeface="+mn-cs"/>
              </a:rPr>
              <a:t>Un contrat de travail de 6 mois à temps plein du 01.06.2023 au 30.11.2023</a:t>
            </a:r>
            <a:endParaRPr kumimoji="0" lang="en-US" sz="1800" b="1" i="0" u="none" strike="noStrike" kern="1200" cap="none" spc="0" normalizeH="0" baseline="0" noProof="0">
              <a:ln>
                <a:noFill/>
              </a:ln>
              <a:solidFill>
                <a:prstClr val="black"/>
              </a:solidFill>
              <a:effectLst/>
              <a:uLnTx/>
              <a:uFillTx/>
              <a:latin typeface="Calibri"/>
              <a:ea typeface="+mn-ea"/>
              <a:cs typeface="+mn-cs"/>
            </a:endParaRPr>
          </a:p>
        </p:txBody>
      </p:sp>
      <p:sp>
        <p:nvSpPr>
          <p:cNvPr id="3" name="ZoneTexte 2">
            <a:extLst>
              <a:ext uri="{FF2B5EF4-FFF2-40B4-BE49-F238E27FC236}">
                <a16:creationId xmlns:a16="http://schemas.microsoft.com/office/drawing/2014/main" id="{B5BA4966-8562-42D4-8E52-78B1FD98A350}"/>
              </a:ext>
            </a:extLst>
          </p:cNvPr>
          <p:cNvSpPr txBox="1"/>
          <p:nvPr/>
        </p:nvSpPr>
        <p:spPr>
          <a:xfrm>
            <a:off x="2123728" y="3942833"/>
            <a:ext cx="511256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6 mois sous contrat =&gt; OK  </a:t>
            </a:r>
            <a:r>
              <a:rPr kumimoji="0" lang="fr-BE" sz="1800" b="0" i="0" u="sng" strike="noStrike" kern="1200" cap="none" spc="0" normalizeH="0" baseline="0" noProof="0">
                <a:ln>
                  <a:noFill/>
                </a:ln>
                <a:solidFill>
                  <a:prstClr val="black"/>
                </a:solidFill>
                <a:effectLst/>
                <a:uLnTx/>
                <a:uFillTx/>
                <a:latin typeface="Calibri"/>
                <a:ea typeface="+mn-ea"/>
                <a:cs typeface="+mn-cs"/>
              </a:rPr>
              <a:t>&gt;</a:t>
            </a:r>
            <a:r>
              <a:rPr kumimoji="0" lang="fr-BE" sz="1800" b="0" i="0" u="none" strike="noStrike" kern="1200" cap="none" spc="0" normalizeH="0" baseline="0" noProof="0">
                <a:ln>
                  <a:noFill/>
                </a:ln>
                <a:solidFill>
                  <a:prstClr val="black"/>
                </a:solidFill>
                <a:effectLst/>
                <a:uLnTx/>
                <a:uFillTx/>
                <a:latin typeface="Calibri"/>
                <a:ea typeface="+mn-ea"/>
                <a:cs typeface="+mn-cs"/>
              </a:rPr>
              <a:t> 3 mois </a:t>
            </a:r>
          </a:p>
        </p:txBody>
      </p:sp>
      <p:sp>
        <p:nvSpPr>
          <p:cNvPr id="6" name="Parenthèse fermante 5">
            <a:extLst>
              <a:ext uri="{FF2B5EF4-FFF2-40B4-BE49-F238E27FC236}">
                <a16:creationId xmlns:a16="http://schemas.microsoft.com/office/drawing/2014/main" id="{CBCEBD2B-7C0C-4BCD-A8D3-88A8547E1B42}"/>
              </a:ext>
            </a:extLst>
          </p:cNvPr>
          <p:cNvSpPr/>
          <p:nvPr/>
        </p:nvSpPr>
        <p:spPr>
          <a:xfrm rot="5400000">
            <a:off x="2713206" y="2924352"/>
            <a:ext cx="273539" cy="3021623"/>
          </a:xfrm>
          <a:prstGeom prst="rightBracket">
            <a:avLst/>
          </a:prstGeom>
          <a:ln w="19050"/>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a:ea typeface="+mn-ea"/>
              <a:cs typeface="+mn-cs"/>
            </a:endParaRPr>
          </a:p>
        </p:txBody>
      </p:sp>
      <p:pic>
        <p:nvPicPr>
          <p:cNvPr id="7" name="Image 6">
            <a:extLst>
              <a:ext uri="{FF2B5EF4-FFF2-40B4-BE49-F238E27FC236}">
                <a16:creationId xmlns:a16="http://schemas.microsoft.com/office/drawing/2014/main" id="{0FFD4B4A-6BA1-4BFD-AD05-829607B53A91}"/>
              </a:ext>
            </a:extLst>
          </p:cNvPr>
          <p:cNvPicPr>
            <a:picLocks noChangeAspect="1"/>
          </p:cNvPicPr>
          <p:nvPr/>
        </p:nvPicPr>
        <p:blipFill>
          <a:blip r:embed="rId3"/>
          <a:stretch>
            <a:fillRect/>
          </a:stretch>
        </p:blipFill>
        <p:spPr>
          <a:xfrm>
            <a:off x="4399094" y="4305182"/>
            <a:ext cx="3036071" cy="286537"/>
          </a:xfrm>
          <a:prstGeom prst="rect">
            <a:avLst/>
          </a:prstGeom>
        </p:spPr>
      </p:pic>
      <p:sp>
        <p:nvSpPr>
          <p:cNvPr id="21" name="Text Box 35">
            <a:extLst>
              <a:ext uri="{FF2B5EF4-FFF2-40B4-BE49-F238E27FC236}">
                <a16:creationId xmlns:a16="http://schemas.microsoft.com/office/drawing/2014/main" id="{B625E951-3DFD-4A96-A98C-043526573B94}"/>
              </a:ext>
            </a:extLst>
          </p:cNvPr>
          <p:cNvSpPr txBox="1">
            <a:spLocks noChangeArrowheads="1"/>
          </p:cNvSpPr>
          <p:nvPr/>
        </p:nvSpPr>
        <p:spPr bwMode="auto">
          <a:xfrm>
            <a:off x="1555994" y="4724359"/>
            <a:ext cx="2743200" cy="646331"/>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26 j de travail (R6) +            53 j de maladie </a:t>
            </a:r>
          </a:p>
        </p:txBody>
      </p:sp>
      <p:sp>
        <p:nvSpPr>
          <p:cNvPr id="22" name="Text Box 35">
            <a:extLst>
              <a:ext uri="{FF2B5EF4-FFF2-40B4-BE49-F238E27FC236}">
                <a16:creationId xmlns:a16="http://schemas.microsoft.com/office/drawing/2014/main" id="{78F18C5B-BFEE-4781-9297-C8C741D06C2B}"/>
              </a:ext>
            </a:extLst>
          </p:cNvPr>
          <p:cNvSpPr txBox="1">
            <a:spLocks noChangeArrowheads="1"/>
          </p:cNvSpPr>
          <p:nvPr/>
        </p:nvSpPr>
        <p:spPr bwMode="auto">
          <a:xfrm>
            <a:off x="4604969" y="4720608"/>
            <a:ext cx="2743200" cy="646331"/>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26 j de travail (R6) +            52 j de maladie </a:t>
            </a:r>
          </a:p>
        </p:txBody>
      </p:sp>
    </p:spTree>
    <p:extLst>
      <p:ext uri="{BB962C8B-B14F-4D97-AF65-F5344CB8AC3E}">
        <p14:creationId xmlns:p14="http://schemas.microsoft.com/office/powerpoint/2010/main" val="1284887585"/>
      </p:ext>
    </p:extLst>
  </p:cSld>
  <p:clrMapOvr>
    <a:masterClrMapping/>
  </p:clrMapOvr>
  <p:transition>
    <p:dissolv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457200" y="332656"/>
            <a:ext cx="8229600" cy="1143000"/>
          </a:xfrm>
        </p:spPr>
        <p:txBody>
          <a:bodyPr>
            <a:normAutofit fontScale="90000"/>
          </a:bodyPr>
          <a:lstStyle/>
          <a:p>
            <a:pPr algn="r"/>
            <a:r>
              <a:rPr lang="fr-BE" b="1" i="1">
                <a:solidFill>
                  <a:prstClr val="black"/>
                </a:solidFill>
                <a:cs typeface="Times New Roman" pitchFamily="18" charset="0"/>
              </a:rPr>
              <a:t>2.2.3. Formules DMFA</a:t>
            </a:r>
            <a:br>
              <a:rPr lang="fr-BE" b="1" i="1">
                <a:solidFill>
                  <a:prstClr val="black"/>
                </a:solidFill>
                <a:cs typeface="Times New Roman" pitchFamily="18" charset="0"/>
              </a:rPr>
            </a:br>
            <a:r>
              <a:rPr lang="fr-BE" b="1" i="1"/>
              <a:t>Exemple 2</a:t>
            </a:r>
          </a:p>
        </p:txBody>
      </p:sp>
      <p:graphicFrame>
        <p:nvGraphicFramePr>
          <p:cNvPr id="25" name="Group 3"/>
          <p:cNvGraphicFramePr>
            <a:graphicFrameLocks noGrp="1"/>
          </p:cNvGraphicFramePr>
          <p:nvPr/>
        </p:nvGraphicFramePr>
        <p:xfrm>
          <a:off x="1371600" y="2667000"/>
          <a:ext cx="6096000" cy="736600"/>
        </p:xfrm>
        <a:graphic>
          <a:graphicData uri="http://schemas.openxmlformats.org/drawingml/2006/table">
            <a:tbl>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736600">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FF00"/>
                        </a:buClr>
                        <a:buSzPct val="80000"/>
                        <a:buFont typeface="Wingdings" pitchFamily="2" charset="2"/>
                        <a:buNone/>
                        <a:tabLst/>
                      </a:pPr>
                      <a:endParaRPr kumimoji="0" lang="fr-FR"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6" name="Line 24"/>
          <p:cNvSpPr>
            <a:spLocks noChangeShapeType="1"/>
          </p:cNvSpPr>
          <p:nvPr/>
        </p:nvSpPr>
        <p:spPr bwMode="auto">
          <a:xfrm>
            <a:off x="381000" y="3403600"/>
            <a:ext cx="8382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Box 25"/>
          <p:cNvSpPr txBox="1">
            <a:spLocks noChangeArrowheads="1"/>
          </p:cNvSpPr>
          <p:nvPr/>
        </p:nvSpPr>
        <p:spPr bwMode="auto">
          <a:xfrm>
            <a:off x="1419022" y="2285998"/>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06.2023</a:t>
            </a:r>
          </a:p>
        </p:txBody>
      </p:sp>
      <p:sp>
        <p:nvSpPr>
          <p:cNvPr id="28" name="Text Box 26"/>
          <p:cNvSpPr txBox="1">
            <a:spLocks noChangeArrowheads="1"/>
          </p:cNvSpPr>
          <p:nvPr/>
        </p:nvSpPr>
        <p:spPr bwMode="auto">
          <a:xfrm>
            <a:off x="2455350" y="2286554"/>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07.2023</a:t>
            </a:r>
          </a:p>
        </p:txBody>
      </p:sp>
      <p:sp>
        <p:nvSpPr>
          <p:cNvPr id="29" name="Text Box 27"/>
          <p:cNvSpPr txBox="1">
            <a:spLocks noChangeArrowheads="1"/>
          </p:cNvSpPr>
          <p:nvPr/>
        </p:nvSpPr>
        <p:spPr bwMode="auto">
          <a:xfrm>
            <a:off x="3416300" y="2284966"/>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a:solidFill>
                  <a:prstClr val="black"/>
                </a:solidFill>
                <a:latin typeface="Calibri"/>
              </a:rPr>
              <a:t>08</a:t>
            </a:r>
            <a:r>
              <a:rPr kumimoji="0" lang="fr-BE" sz="1800" b="0" i="0" u="none" strike="noStrike" kern="1200" cap="none" spc="0" normalizeH="0" baseline="0" noProof="0">
                <a:ln>
                  <a:noFill/>
                </a:ln>
                <a:solidFill>
                  <a:prstClr val="black"/>
                </a:solidFill>
                <a:effectLst/>
                <a:uLnTx/>
                <a:uFillTx/>
                <a:latin typeface="Calibri"/>
                <a:ea typeface="+mn-ea"/>
                <a:cs typeface="+mn-cs"/>
              </a:rPr>
              <a:t>.2023</a:t>
            </a:r>
          </a:p>
        </p:txBody>
      </p:sp>
      <p:sp>
        <p:nvSpPr>
          <p:cNvPr id="30" name="Text Box 28"/>
          <p:cNvSpPr txBox="1">
            <a:spLocks noChangeArrowheads="1"/>
          </p:cNvSpPr>
          <p:nvPr/>
        </p:nvSpPr>
        <p:spPr bwMode="auto">
          <a:xfrm>
            <a:off x="4387165" y="2284966"/>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09.2023</a:t>
            </a:r>
          </a:p>
        </p:txBody>
      </p:sp>
      <p:sp>
        <p:nvSpPr>
          <p:cNvPr id="31" name="Text Box 29"/>
          <p:cNvSpPr txBox="1">
            <a:spLocks noChangeArrowheads="1"/>
          </p:cNvSpPr>
          <p:nvPr/>
        </p:nvSpPr>
        <p:spPr bwMode="auto">
          <a:xfrm>
            <a:off x="5433255" y="2286892"/>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a:solidFill>
                  <a:prstClr val="black"/>
                </a:solidFill>
                <a:latin typeface="Calibri"/>
              </a:rPr>
              <a:t>10</a:t>
            </a:r>
            <a:r>
              <a:rPr kumimoji="0" lang="fr-BE" sz="1800" b="0" i="0" u="none" strike="noStrike" kern="1200" cap="none" spc="0" normalizeH="0" baseline="0" noProof="0">
                <a:ln>
                  <a:noFill/>
                </a:ln>
                <a:solidFill>
                  <a:prstClr val="black"/>
                </a:solidFill>
                <a:effectLst/>
                <a:uLnTx/>
                <a:uFillTx/>
                <a:latin typeface="Calibri"/>
                <a:ea typeface="+mn-ea"/>
                <a:cs typeface="+mn-cs"/>
              </a:rPr>
              <a:t>.2023</a:t>
            </a:r>
          </a:p>
        </p:txBody>
      </p:sp>
      <p:sp>
        <p:nvSpPr>
          <p:cNvPr id="32" name="Text Box 30"/>
          <p:cNvSpPr txBox="1">
            <a:spLocks noChangeArrowheads="1"/>
          </p:cNvSpPr>
          <p:nvPr/>
        </p:nvSpPr>
        <p:spPr bwMode="auto">
          <a:xfrm>
            <a:off x="6446911" y="2284966"/>
            <a:ext cx="944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a:solidFill>
                  <a:prstClr val="black"/>
                </a:solidFill>
                <a:latin typeface="Calibri"/>
              </a:rPr>
              <a:t>11</a:t>
            </a:r>
            <a:r>
              <a:rPr kumimoji="0" lang="fr-BE" sz="1800" b="0" i="0" u="none" strike="noStrike" kern="1200" cap="none" spc="0" normalizeH="0" baseline="0" noProof="0">
                <a:ln>
                  <a:noFill/>
                </a:ln>
                <a:solidFill>
                  <a:prstClr val="black"/>
                </a:solidFill>
                <a:effectLst/>
                <a:uLnTx/>
                <a:uFillTx/>
                <a:latin typeface="Calibri"/>
                <a:ea typeface="+mn-ea"/>
                <a:cs typeface="+mn-cs"/>
              </a:rPr>
              <a:t>.2023</a:t>
            </a:r>
          </a:p>
        </p:txBody>
      </p:sp>
      <p:sp>
        <p:nvSpPr>
          <p:cNvPr id="34" name="AutoShape 33"/>
          <p:cNvSpPr>
            <a:spLocks/>
          </p:cNvSpPr>
          <p:nvPr/>
        </p:nvSpPr>
        <p:spPr bwMode="auto">
          <a:xfrm rot="16200000" flipV="1">
            <a:off x="2743200" y="2209800"/>
            <a:ext cx="304800" cy="3048000"/>
          </a:xfrm>
          <a:prstGeom prst="leftBrace">
            <a:avLst>
              <a:gd name="adj1" fmla="val 8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AutoShape 34"/>
          <p:cNvSpPr>
            <a:spLocks/>
          </p:cNvSpPr>
          <p:nvPr/>
        </p:nvSpPr>
        <p:spPr bwMode="auto">
          <a:xfrm rot="16200000" flipV="1">
            <a:off x="5753100" y="2247900"/>
            <a:ext cx="304800" cy="2971800"/>
          </a:xfrm>
          <a:prstGeom prst="leftBrace">
            <a:avLst>
              <a:gd name="adj1" fmla="val 8125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Box 35"/>
          <p:cNvSpPr txBox="1">
            <a:spLocks noChangeArrowheads="1"/>
          </p:cNvSpPr>
          <p:nvPr/>
        </p:nvSpPr>
        <p:spPr bwMode="auto">
          <a:xfrm>
            <a:off x="1511300" y="4000500"/>
            <a:ext cx="2743200" cy="646331"/>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52 j de travail (R6) +            27 j de maladie </a:t>
            </a:r>
          </a:p>
        </p:txBody>
      </p:sp>
      <p:sp>
        <p:nvSpPr>
          <p:cNvPr id="37" name="AutoShape 36"/>
          <p:cNvSpPr>
            <a:spLocks/>
          </p:cNvSpPr>
          <p:nvPr/>
        </p:nvSpPr>
        <p:spPr bwMode="auto">
          <a:xfrm rot="16200000" flipV="1">
            <a:off x="4267200" y="1981200"/>
            <a:ext cx="381000" cy="6172200"/>
          </a:xfrm>
          <a:prstGeom prst="leftBrace">
            <a:avLst>
              <a:gd name="adj1" fmla="val 135000"/>
              <a:gd name="adj2" fmla="val 49819"/>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Box 37"/>
          <p:cNvSpPr txBox="1">
            <a:spLocks noChangeArrowheads="1"/>
          </p:cNvSpPr>
          <p:nvPr/>
        </p:nvSpPr>
        <p:spPr bwMode="auto">
          <a:xfrm>
            <a:off x="1714500" y="5486400"/>
            <a:ext cx="5486400" cy="369332"/>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104 j / 26 = 4 </a:t>
            </a:r>
            <a:r>
              <a:rPr kumimoji="0" lang="fr-BE" sz="1800" b="0" i="0" u="none" strike="noStrike" kern="1200" cap="none" spc="0" normalizeH="0" baseline="0" noProof="0">
                <a:ln>
                  <a:noFill/>
                </a:ln>
                <a:solidFill>
                  <a:prstClr val="black"/>
                </a:solidFill>
                <a:effectLst/>
                <a:uLnTx/>
                <a:uFillTx/>
                <a:latin typeface="Calibri"/>
                <a:ea typeface="+mn-ea"/>
                <a:cs typeface="+mn-cs"/>
                <a:sym typeface="Wingdings" pitchFamily="2" charset="2"/>
              </a:rPr>
              <a:t> </a:t>
            </a:r>
            <a:r>
              <a:rPr kumimoji="0" lang="fr-BE" sz="1800" b="0" i="0" u="none" strike="noStrike" kern="1200" cap="none" spc="0" normalizeH="0" baseline="0" noProof="0">
                <a:ln>
                  <a:noFill/>
                </a:ln>
                <a:solidFill>
                  <a:prstClr val="black"/>
                </a:solidFill>
                <a:effectLst/>
                <a:uLnTx/>
                <a:uFillTx/>
                <a:latin typeface="Calibri"/>
                <a:ea typeface="+mn-ea"/>
                <a:cs typeface="+mn-cs"/>
              </a:rPr>
              <a:t>Prolongation de 4 mois  </a:t>
            </a:r>
          </a:p>
        </p:txBody>
      </p:sp>
      <p:sp>
        <p:nvSpPr>
          <p:cNvPr id="39" name="Text Box 38"/>
          <p:cNvSpPr txBox="1">
            <a:spLocks noChangeArrowheads="1"/>
          </p:cNvSpPr>
          <p:nvPr/>
        </p:nvSpPr>
        <p:spPr bwMode="auto">
          <a:xfrm>
            <a:off x="4533900" y="4025900"/>
            <a:ext cx="2743200" cy="646331"/>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Calibri"/>
                <a:ea typeface="+mn-ea"/>
                <a:cs typeface="+mn-cs"/>
              </a:rPr>
              <a:t>52 j de travail (R6) +            26 j de maladie </a:t>
            </a:r>
          </a:p>
        </p:txBody>
      </p:sp>
      <p:sp>
        <p:nvSpPr>
          <p:cNvPr id="40" name="Rectangle 39"/>
          <p:cNvSpPr>
            <a:spLocks noChangeArrowheads="1"/>
          </p:cNvSpPr>
          <p:nvPr/>
        </p:nvSpPr>
        <p:spPr bwMode="auto">
          <a:xfrm>
            <a:off x="3416300" y="3009900"/>
            <a:ext cx="2006600" cy="381000"/>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800" b="0" i="0" u="none" strike="noStrike" kern="1200" cap="none" spc="0" normalizeH="0" baseline="0" noProof="0">
                <a:ln>
                  <a:noFill/>
                </a:ln>
                <a:solidFill>
                  <a:prstClr val="black"/>
                </a:solidFill>
                <a:effectLst/>
                <a:uLnTx/>
                <a:uFillTx/>
                <a:latin typeface="Times New Roman" pitchFamily="18" charset="0"/>
                <a:ea typeface="+mn-ea"/>
                <a:cs typeface="+mn-cs"/>
              </a:rPr>
              <a:t>maladie</a:t>
            </a:r>
          </a:p>
        </p:txBody>
      </p:sp>
      <p:sp>
        <p:nvSpPr>
          <p:cNvPr id="41" name="Espace réservé du numéro de diapositive 19"/>
          <p:cNvSpPr>
            <a:spLocks noGrp="1"/>
          </p:cNvSpPr>
          <p:nvPr>
            <p:ph type="sldNum" sz="quarter" idx="12"/>
          </p:nvPr>
        </p:nvSpPr>
        <p:spPr>
          <a:xfrm>
            <a:off x="6553200" y="6356350"/>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E9056B-6A30-4F99-BDE9-C450E66AE125}" type="slidenum">
              <a:rPr kumimoji="0" lang="fr-FR"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fr-FR"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ZoneTexte 1"/>
          <p:cNvSpPr txBox="1"/>
          <p:nvPr/>
        </p:nvSpPr>
        <p:spPr>
          <a:xfrm>
            <a:off x="539552" y="1700808"/>
            <a:ext cx="726942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800" b="1" i="0" u="none" strike="noStrike" kern="1200" cap="none" spc="0" normalizeH="0" baseline="0" noProof="0">
                <a:ln>
                  <a:noFill/>
                </a:ln>
                <a:solidFill>
                  <a:prstClr val="black"/>
                </a:solidFill>
                <a:effectLst/>
                <a:uLnTx/>
                <a:uFillTx/>
                <a:latin typeface="Calibri"/>
                <a:ea typeface="+mn-ea"/>
                <a:cs typeface="+mn-cs"/>
              </a:rPr>
              <a:t>Un contrat de travail de 6 mois à temps plein du 01.06.2023 au 30.11.2023</a:t>
            </a:r>
            <a:endParaRPr kumimoji="0" lang="en-US" sz="1800" b="1"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00116473"/>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dissolve">
                                      <p:cBhvr>
                                        <p:cTn id="1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a:solidFill>
                  <a:prstClr val="black"/>
                </a:solidFill>
                <a:cs typeface="Times New Roman" pitchFamily="18" charset="0"/>
              </a:rPr>
              <a:t>2.2.4. Trimestres incomplets ou non acceptés</a:t>
            </a:r>
            <a:endParaRPr lang="en-US" b="1" i="1">
              <a:solidFill>
                <a:prstClr val="black"/>
              </a:solidFill>
              <a:cs typeface="Times New Roman" pitchFamily="18" charset="0"/>
            </a:endParaRP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
            </a:pPr>
            <a:r>
              <a:rPr lang="fr-FR" sz="2800" b="1" u="sng">
                <a:solidFill>
                  <a:srgbClr val="C00000"/>
                </a:solidFill>
                <a:latin typeface="+mj-lt"/>
                <a:cs typeface="Times New Roman" pitchFamily="18" charset="0"/>
              </a:rPr>
              <a:t>Occupation à temps plein</a:t>
            </a:r>
            <a:r>
              <a:rPr lang="fr-FR" sz="2800" b="1">
                <a:solidFill>
                  <a:srgbClr val="C00000"/>
                </a:solidFill>
                <a:latin typeface="+mj-lt"/>
                <a:cs typeface="Times New Roman" pitchFamily="18" charset="0"/>
              </a:rPr>
              <a:t>	</a:t>
            </a:r>
            <a:r>
              <a:rPr lang="fr-FR" sz="2800" b="1" i="1">
                <a:solidFill>
                  <a:srgbClr val="C00000"/>
                </a:solidFill>
                <a:latin typeface="+mj-lt"/>
                <a:cs typeface="Times New Roman" pitchFamily="18" charset="0"/>
              </a:rPr>
              <a:t>Q/S = 1</a:t>
            </a:r>
            <a:endParaRPr lang="fr-FR" sz="2800" i="1" u="sng">
              <a:solidFill>
                <a:srgbClr val="C00000"/>
              </a:solidFill>
              <a:latin typeface="+mj-lt"/>
              <a:cs typeface="Times New Roman" pitchFamily="18" charset="0"/>
            </a:endParaRPr>
          </a:p>
          <a:p>
            <a:pPr lvl="1">
              <a:buFont typeface="Wingdings" panose="05000000000000000000" pitchFamily="2" charset="2"/>
              <a:buChar char="Ø"/>
            </a:pPr>
            <a:r>
              <a:rPr lang="fr-FR" sz="2400" b="1">
                <a:cs typeface="Times New Roman" pitchFamily="18" charset="0"/>
              </a:rPr>
              <a:t>Début de la période de référence durant le trimestre </a:t>
            </a:r>
            <a:r>
              <a:rPr lang="fr-FR" sz="2400" b="1">
                <a:cs typeface="Times New Roman" pitchFamily="18" charset="0"/>
                <a:sym typeface="Wingdings" panose="05000000000000000000" pitchFamily="2" charset="2"/>
              </a:rPr>
              <a:t> </a:t>
            </a:r>
            <a:r>
              <a:rPr lang="fr-FR" sz="2400" b="1" u="sng">
                <a:solidFill>
                  <a:srgbClr val="C00000"/>
                </a:solidFill>
                <a:cs typeface="Times New Roman" pitchFamily="18" charset="0"/>
                <a:sym typeface="Wingdings" panose="05000000000000000000" pitchFamily="2" charset="2"/>
              </a:rPr>
              <a:t>Limiter le résultat de la formule </a:t>
            </a:r>
            <a:r>
              <a:rPr lang="fr-FR" sz="2400" b="1" u="sng" err="1">
                <a:solidFill>
                  <a:srgbClr val="C00000"/>
                </a:solidFill>
                <a:cs typeface="Times New Roman" pitchFamily="18" charset="0"/>
                <a:sym typeface="Wingdings" panose="05000000000000000000" pitchFamily="2" charset="2"/>
              </a:rPr>
              <a:t>Dmfa</a:t>
            </a:r>
            <a:r>
              <a:rPr lang="fr-FR" sz="2400" b="1">
                <a:cs typeface="Times New Roman" pitchFamily="18" charset="0"/>
                <a:sym typeface="Wingdings" panose="05000000000000000000" pitchFamily="2" charset="2"/>
              </a:rPr>
              <a:t>  </a:t>
            </a:r>
            <a:r>
              <a:rPr lang="fr-FR" sz="2400">
                <a:cs typeface="Times New Roman" pitchFamily="18" charset="0"/>
                <a:sym typeface="Wingdings" panose="05000000000000000000" pitchFamily="2" charset="2"/>
              </a:rPr>
              <a:t>au </a:t>
            </a:r>
            <a:r>
              <a:rPr lang="fr-FR" sz="2400" b="1">
                <a:cs typeface="Times New Roman" pitchFamily="18" charset="0"/>
                <a:sym typeface="Wingdings" panose="05000000000000000000" pitchFamily="2" charset="2"/>
              </a:rPr>
              <a:t>nombre de jours R6 </a:t>
            </a:r>
            <a:r>
              <a:rPr lang="fr-FR" sz="2400">
                <a:cs typeface="Times New Roman" pitchFamily="18" charset="0"/>
                <a:sym typeface="Wingdings" panose="05000000000000000000" pitchFamily="2" charset="2"/>
              </a:rPr>
              <a:t>possible entre la date de début de la PR et la fin du trimestre</a:t>
            </a:r>
          </a:p>
          <a:p>
            <a:pPr marL="457200" lvl="1" indent="0">
              <a:buNone/>
            </a:pPr>
            <a:endParaRPr lang="fr-FR" sz="1600">
              <a:cs typeface="Times New Roman" pitchFamily="18" charset="0"/>
              <a:sym typeface="Wingdings" panose="05000000000000000000" pitchFamily="2" charset="2"/>
            </a:endParaRPr>
          </a:p>
          <a:p>
            <a:pPr lvl="1">
              <a:buFont typeface="Wingdings" panose="05000000000000000000" pitchFamily="2" charset="2"/>
              <a:buChar char="Ø"/>
            </a:pPr>
            <a:r>
              <a:rPr lang="fr-FR" sz="2400">
                <a:cs typeface="Times New Roman" pitchFamily="18" charset="0"/>
              </a:rPr>
              <a:t> </a:t>
            </a:r>
            <a:r>
              <a:rPr lang="fr-FR" sz="2400" b="1">
                <a:cs typeface="Times New Roman" pitchFamily="18" charset="0"/>
              </a:rPr>
              <a:t>Fin d’occupation et/ou trimestre ONSS non accepté </a:t>
            </a:r>
            <a:r>
              <a:rPr lang="fr-FR" sz="2400" b="1">
                <a:cs typeface="Times New Roman" pitchFamily="18" charset="0"/>
                <a:sym typeface="Wingdings" panose="05000000000000000000" pitchFamily="2" charset="2"/>
              </a:rPr>
              <a:t> </a:t>
            </a:r>
            <a:r>
              <a:rPr lang="fr-FR" sz="2400">
                <a:cs typeface="Times New Roman" pitchFamily="18" charset="0"/>
                <a:sym typeface="Wingdings" panose="05000000000000000000" pitchFamily="2" charset="2"/>
              </a:rPr>
              <a:t>Calculer le nombre de jours R6 du début du trimestre à la du trimestre ou à la fin du contrat </a:t>
            </a:r>
          </a:p>
          <a:p>
            <a:pPr marL="457200" lvl="1" indent="0">
              <a:buNone/>
            </a:pPr>
            <a:r>
              <a:rPr lang="fr-FR" sz="2400" b="1">
                <a:solidFill>
                  <a:srgbClr val="C00000"/>
                </a:solidFill>
                <a:latin typeface="Segoe UI Emoji" panose="020B0502040204020203" pitchFamily="34" charset="0"/>
                <a:ea typeface="Segoe UI Emoji" panose="020B0502040204020203" pitchFamily="34" charset="0"/>
                <a:cs typeface="Times New Roman" pitchFamily="18" charset="0"/>
                <a:sym typeface="Wingdings" panose="05000000000000000000" pitchFamily="2" charset="2"/>
              </a:rPr>
              <a:t>⚠</a:t>
            </a:r>
            <a:r>
              <a:rPr lang="fr-FR" sz="2400">
                <a:latin typeface="Segoe UI Emoji" panose="020B0502040204020203" pitchFamily="34" charset="0"/>
                <a:ea typeface="Segoe UI Emoji" panose="020B0502040204020203" pitchFamily="34" charset="0"/>
                <a:cs typeface="Times New Roman" pitchFamily="18" charset="0"/>
                <a:sym typeface="Wingdings" panose="05000000000000000000" pitchFamily="2" charset="2"/>
              </a:rPr>
              <a:t> </a:t>
            </a:r>
            <a:r>
              <a:rPr lang="fr-FR" sz="2400" b="1">
                <a:cs typeface="Times New Roman" pitchFamily="18" charset="0"/>
                <a:sym typeface="Wingdings" panose="05000000000000000000" pitchFamily="2" charset="2"/>
              </a:rPr>
              <a:t>Samedi compris </a:t>
            </a:r>
            <a:r>
              <a:rPr lang="fr-FR" sz="2400">
                <a:cs typeface="Times New Roman" pitchFamily="18" charset="0"/>
                <a:sym typeface="Wingdings" panose="05000000000000000000" pitchFamily="2" charset="2"/>
              </a:rPr>
              <a:t>en cas de fin de contrat le vendredi</a:t>
            </a:r>
            <a:endParaRPr lang="fr-FR" sz="2400">
              <a:cs typeface="Times New Roman" pitchFamily="18" charset="0"/>
            </a:endParaRPr>
          </a:p>
          <a:p>
            <a:pPr lvl="0">
              <a:buFont typeface="Wingdings" panose="05000000000000000000" pitchFamily="2" charset="2"/>
              <a:buChar char="§"/>
            </a:pPr>
            <a:endParaRPr lang="fr-FR" b="1" u="sng">
              <a:solidFill>
                <a:srgbClr val="C00000"/>
              </a:solidFill>
              <a:cs typeface="Times New Roman" pitchFamily="18" charset="0"/>
            </a:endParaRPr>
          </a:p>
          <a:p>
            <a:pPr>
              <a:buNone/>
            </a:pPr>
            <a:endParaRPr lang="en-US"/>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33</a:t>
            </a:fld>
            <a:endParaRPr lang="fr-FR"/>
          </a:p>
        </p:txBody>
      </p:sp>
    </p:spTree>
    <p:extLst>
      <p:ext uri="{BB962C8B-B14F-4D97-AF65-F5344CB8AC3E}">
        <p14:creationId xmlns:p14="http://schemas.microsoft.com/office/powerpoint/2010/main" val="1349692213"/>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a:solidFill>
                  <a:prstClr val="black"/>
                </a:solidFill>
                <a:cs typeface="Times New Roman" pitchFamily="18" charset="0"/>
              </a:rPr>
              <a:t>2.2.4. Trimestres incomplets ou non acceptés</a:t>
            </a:r>
            <a:endParaRPr lang="en-US" b="1" i="1">
              <a:solidFill>
                <a:prstClr val="black"/>
              </a:solidFill>
              <a:cs typeface="Times New Roman" pitchFamily="18" charset="0"/>
            </a:endParaRPr>
          </a:p>
        </p:txBody>
      </p:sp>
      <p:sp>
        <p:nvSpPr>
          <p:cNvPr id="3" name="Espace réservé du contenu 2"/>
          <p:cNvSpPr>
            <a:spLocks noGrp="1"/>
          </p:cNvSpPr>
          <p:nvPr>
            <p:ph idx="1"/>
          </p:nvPr>
        </p:nvSpPr>
        <p:spPr/>
        <p:txBody>
          <a:bodyPr>
            <a:normAutofit lnSpcReduction="10000"/>
          </a:bodyPr>
          <a:lstStyle/>
          <a:p>
            <a:pPr lvl="0">
              <a:buFont typeface="Wingdings" panose="05000000000000000000" pitchFamily="2" charset="2"/>
              <a:buChar char="§"/>
            </a:pPr>
            <a:r>
              <a:rPr lang="fr-FR" sz="3000" b="1" u="sng">
                <a:cs typeface="Times New Roman" pitchFamily="18" charset="0"/>
              </a:rPr>
              <a:t>Occupation à temps partiel</a:t>
            </a:r>
            <a:r>
              <a:rPr lang="fr-FR" sz="3000" b="1">
                <a:solidFill>
                  <a:prstClr val="black"/>
                </a:solidFill>
                <a:cs typeface="Times New Roman" pitchFamily="18" charset="0"/>
              </a:rPr>
              <a:t>	</a:t>
            </a:r>
            <a:r>
              <a:rPr lang="fr-FR" sz="3000" b="1" i="1">
                <a:solidFill>
                  <a:prstClr val="black"/>
                </a:solidFill>
                <a:cs typeface="Times New Roman" pitchFamily="18" charset="0"/>
              </a:rPr>
              <a:t>Q/S &lt; 1</a:t>
            </a:r>
            <a:endParaRPr lang="fr-FR" sz="3000" b="1" i="1" u="sng">
              <a:solidFill>
                <a:prstClr val="black"/>
              </a:solidFill>
              <a:cs typeface="Times New Roman" pitchFamily="18" charset="0"/>
            </a:endParaRPr>
          </a:p>
          <a:p>
            <a:pPr lvl="1">
              <a:buFont typeface="Wingdings" panose="05000000000000000000" pitchFamily="2" charset="2"/>
              <a:buChar char="Ø"/>
            </a:pPr>
            <a:r>
              <a:rPr lang="fr-FR" sz="2400" b="1">
                <a:cs typeface="Times New Roman" pitchFamily="18" charset="0"/>
              </a:rPr>
              <a:t>Début de la période de référence durant le trimestre </a:t>
            </a:r>
            <a:r>
              <a:rPr lang="fr-FR" sz="2400" b="1">
                <a:cs typeface="Times New Roman" pitchFamily="18" charset="0"/>
                <a:sym typeface="Wingdings" panose="05000000000000000000" pitchFamily="2" charset="2"/>
              </a:rPr>
              <a:t> </a:t>
            </a:r>
            <a:r>
              <a:rPr lang="fr-FR" sz="2400" b="1" u="sng">
                <a:solidFill>
                  <a:srgbClr val="C00000"/>
                </a:solidFill>
                <a:cs typeface="Times New Roman" pitchFamily="18" charset="0"/>
                <a:sym typeface="Wingdings" panose="05000000000000000000" pitchFamily="2" charset="2"/>
              </a:rPr>
              <a:t>Limiter le résultat de la formule </a:t>
            </a:r>
            <a:r>
              <a:rPr lang="fr-FR" sz="2400" b="1" u="sng" err="1">
                <a:solidFill>
                  <a:srgbClr val="C00000"/>
                </a:solidFill>
                <a:cs typeface="Times New Roman" pitchFamily="18" charset="0"/>
                <a:sym typeface="Wingdings" panose="05000000000000000000" pitchFamily="2" charset="2"/>
              </a:rPr>
              <a:t>Dmfa</a:t>
            </a:r>
            <a:r>
              <a:rPr lang="fr-FR" sz="2400" b="1">
                <a:cs typeface="Times New Roman" pitchFamily="18" charset="0"/>
                <a:sym typeface="Wingdings" panose="05000000000000000000" pitchFamily="2" charset="2"/>
              </a:rPr>
              <a:t> </a:t>
            </a:r>
            <a:r>
              <a:rPr lang="fr-FR" sz="2400">
                <a:cs typeface="Times New Roman" pitchFamily="18" charset="0"/>
                <a:sym typeface="Wingdings" panose="05000000000000000000" pitchFamily="2" charset="2"/>
              </a:rPr>
              <a:t> au nombre de jours R6 possible entre la date de début de la PR et la fin du trimestre</a:t>
            </a:r>
          </a:p>
          <a:p>
            <a:pPr marL="457200" lvl="1" indent="0">
              <a:buNone/>
            </a:pPr>
            <a:endParaRPr lang="fr-FR" sz="1400">
              <a:cs typeface="Times New Roman" pitchFamily="18" charset="0"/>
              <a:sym typeface="Wingdings" panose="05000000000000000000" pitchFamily="2" charset="2"/>
            </a:endParaRPr>
          </a:p>
          <a:p>
            <a:pPr lvl="1">
              <a:buFont typeface="Wingdings" panose="05000000000000000000" pitchFamily="2" charset="2"/>
              <a:buChar char="Ø"/>
            </a:pPr>
            <a:r>
              <a:rPr lang="fr-FR" sz="2400">
                <a:cs typeface="Times New Roman" pitchFamily="18" charset="0"/>
              </a:rPr>
              <a:t> </a:t>
            </a:r>
            <a:r>
              <a:rPr lang="fr-FR" sz="2400" b="1">
                <a:cs typeface="Times New Roman" pitchFamily="18" charset="0"/>
              </a:rPr>
              <a:t>Fin d’occupation et/ou trimestre ONSS non accepté </a:t>
            </a:r>
            <a:r>
              <a:rPr lang="fr-FR" sz="2400" b="1" u="sng">
                <a:solidFill>
                  <a:srgbClr val="C00000"/>
                </a:solidFill>
                <a:cs typeface="Times New Roman" pitchFamily="18" charset="0"/>
              </a:rPr>
              <a:t>2 possibilités</a:t>
            </a:r>
            <a:r>
              <a:rPr lang="fr-FR" sz="2400" b="1">
                <a:solidFill>
                  <a:srgbClr val="C00000"/>
                </a:solidFill>
                <a:cs typeface="Times New Roman" pitchFamily="18" charset="0"/>
              </a:rPr>
              <a:t>:</a:t>
            </a:r>
          </a:p>
          <a:p>
            <a:pPr marL="1371600" lvl="2" indent="-457200">
              <a:buFont typeface="+mj-lt"/>
              <a:buAutoNum type="arabicPeriod"/>
            </a:pPr>
            <a:r>
              <a:rPr lang="fr-FR" b="1" u="sng">
                <a:cs typeface="Times New Roman" pitchFamily="18" charset="0"/>
                <a:sym typeface="Wingdings" panose="05000000000000000000" pitchFamily="2" charset="2"/>
              </a:rPr>
              <a:t>Calcul sur base des jours</a:t>
            </a:r>
            <a:r>
              <a:rPr lang="fr-FR" b="1">
                <a:cs typeface="Times New Roman" pitchFamily="18" charset="0"/>
                <a:sym typeface="Wingdings" panose="05000000000000000000" pitchFamily="2" charset="2"/>
              </a:rPr>
              <a:t>:</a:t>
            </a:r>
            <a:r>
              <a:rPr lang="fr-FR">
                <a:cs typeface="Times New Roman" pitchFamily="18" charset="0"/>
                <a:sym typeface="Wingdings" panose="05000000000000000000" pitchFamily="2" charset="2"/>
              </a:rPr>
              <a:t>  </a:t>
            </a:r>
          </a:p>
          <a:p>
            <a:pPr marL="914400" lvl="2" indent="0">
              <a:buNone/>
            </a:pPr>
            <a:r>
              <a:rPr lang="fr-FR" b="1">
                <a:solidFill>
                  <a:srgbClr val="C00000"/>
                </a:solidFill>
                <a:cs typeface="Times New Roman" pitchFamily="18" charset="0"/>
                <a:sym typeface="Wingdings" panose="05000000000000000000" pitchFamily="2" charset="2"/>
              </a:rPr>
              <a:t>	Jours R7 couverts par le contrat X 6/7</a:t>
            </a:r>
          </a:p>
          <a:p>
            <a:pPr marL="1371600" lvl="2" indent="-457200">
              <a:buFont typeface="+mj-lt"/>
              <a:buAutoNum type="arabicPeriod" startAt="2"/>
            </a:pPr>
            <a:r>
              <a:rPr lang="fr-FR" b="1" u="sng">
                <a:cs typeface="Times New Roman" pitchFamily="18" charset="0"/>
                <a:sym typeface="Wingdings" panose="05000000000000000000" pitchFamily="2" charset="2"/>
              </a:rPr>
              <a:t>Calcul sur base des heures théoriques</a:t>
            </a:r>
            <a:r>
              <a:rPr lang="fr-FR">
                <a:cs typeface="Times New Roman" pitchFamily="18" charset="0"/>
                <a:sym typeface="Wingdings" panose="05000000000000000000" pitchFamily="2" charset="2"/>
              </a:rPr>
              <a:t>: </a:t>
            </a:r>
          </a:p>
          <a:p>
            <a:pPr marL="914400" lvl="2" indent="0">
              <a:buNone/>
            </a:pPr>
            <a:r>
              <a:rPr lang="fr-FR" b="1">
                <a:solidFill>
                  <a:srgbClr val="C00000"/>
                </a:solidFill>
                <a:cs typeface="Times New Roman" pitchFamily="18" charset="0"/>
                <a:sym typeface="Wingdings" panose="05000000000000000000" pitchFamily="2" charset="2"/>
              </a:rPr>
              <a:t>	(Jours R7 X Q/7) X Q/6</a:t>
            </a:r>
            <a:endParaRPr lang="fr-FR" sz="2800">
              <a:cs typeface="Times New Roman" pitchFamily="18" charset="0"/>
            </a:endParaRPr>
          </a:p>
          <a:p>
            <a:pPr>
              <a:buNone/>
            </a:pPr>
            <a:endParaRPr lang="en-US"/>
          </a:p>
        </p:txBody>
      </p:sp>
      <p:sp>
        <p:nvSpPr>
          <p:cNvPr id="6" name="Espace réservé du numéro de diapositive 5"/>
          <p:cNvSpPr>
            <a:spLocks noGrp="1"/>
          </p:cNvSpPr>
          <p:nvPr>
            <p:ph type="sldNum" sz="quarter" idx="12"/>
          </p:nvPr>
        </p:nvSpPr>
        <p:spPr>
          <a:xfrm>
            <a:off x="6553200" y="6218237"/>
            <a:ext cx="2133600" cy="365125"/>
          </a:xfrm>
        </p:spPr>
        <p:txBody>
          <a:bodyPr/>
          <a:lstStyle/>
          <a:p>
            <a:fld id="{55E9056B-6A30-4F99-BDE9-C450E66AE125}" type="slidenum">
              <a:rPr lang="fr-FR" smtClean="0"/>
              <a:pPr/>
              <a:t>34</a:t>
            </a:fld>
            <a:endParaRPr lang="fr-FR"/>
          </a:p>
        </p:txBody>
      </p:sp>
      <p:sp>
        <p:nvSpPr>
          <p:cNvPr id="4" name="Accolade ouvrante 3">
            <a:extLst>
              <a:ext uri="{FF2B5EF4-FFF2-40B4-BE49-F238E27FC236}">
                <a16:creationId xmlns:a16="http://schemas.microsoft.com/office/drawing/2014/main" id="{66BDD7ED-2CFC-416B-B30C-9FDE95FC2B0F}"/>
              </a:ext>
            </a:extLst>
          </p:cNvPr>
          <p:cNvSpPr/>
          <p:nvPr/>
        </p:nvSpPr>
        <p:spPr>
          <a:xfrm rot="16200000">
            <a:off x="3209020" y="5044392"/>
            <a:ext cx="395065" cy="2133600"/>
          </a:xfrm>
          <a:prstGeom prst="leftBrace">
            <a:avLst/>
          </a:prstGeom>
          <a:ln w="28575">
            <a:solidFill>
              <a:srgbClr val="00B05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fr-BE"/>
          </a:p>
        </p:txBody>
      </p:sp>
      <p:sp>
        <p:nvSpPr>
          <p:cNvPr id="5" name="ZoneTexte 4">
            <a:extLst>
              <a:ext uri="{FF2B5EF4-FFF2-40B4-BE49-F238E27FC236}">
                <a16:creationId xmlns:a16="http://schemas.microsoft.com/office/drawing/2014/main" id="{19813356-9E8C-4F65-BB54-C1015958AB6B}"/>
              </a:ext>
            </a:extLst>
          </p:cNvPr>
          <p:cNvSpPr txBox="1"/>
          <p:nvPr/>
        </p:nvSpPr>
        <p:spPr>
          <a:xfrm>
            <a:off x="2578460" y="6300421"/>
            <a:ext cx="1656184" cy="369332"/>
          </a:xfrm>
          <a:prstGeom prst="rect">
            <a:avLst/>
          </a:prstGeom>
          <a:noFill/>
        </p:spPr>
        <p:txBody>
          <a:bodyPr wrap="square" rtlCol="0">
            <a:spAutoFit/>
          </a:bodyPr>
          <a:lstStyle/>
          <a:p>
            <a:r>
              <a:rPr lang="fr-BE" b="1">
                <a:solidFill>
                  <a:srgbClr val="008000"/>
                </a:solidFill>
              </a:rPr>
              <a:t>= a théorique</a:t>
            </a:r>
          </a:p>
        </p:txBody>
      </p:sp>
    </p:spTree>
    <p:extLst>
      <p:ext uri="{BB962C8B-B14F-4D97-AF65-F5344CB8AC3E}">
        <p14:creationId xmlns:p14="http://schemas.microsoft.com/office/powerpoint/2010/main" val="676472161"/>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FR" b="1" i="1">
                <a:cs typeface="Times New Roman" pitchFamily="18" charset="0"/>
              </a:rPr>
              <a:t>2.2.5. En pratique </a:t>
            </a:r>
            <a:endParaRPr lang="en-US" b="1" i="1">
              <a:cs typeface="Times New Roman" pitchFamily="18" charset="0"/>
            </a:endParaRPr>
          </a:p>
        </p:txBody>
      </p:sp>
      <p:sp>
        <p:nvSpPr>
          <p:cNvPr id="3" name="Espace réservé du contenu 2"/>
          <p:cNvSpPr>
            <a:spLocks noGrp="1"/>
          </p:cNvSpPr>
          <p:nvPr>
            <p:ph idx="1"/>
          </p:nvPr>
        </p:nvSpPr>
        <p:spPr/>
        <p:txBody>
          <a:bodyPr>
            <a:normAutofit/>
          </a:bodyPr>
          <a:lstStyle/>
          <a:p>
            <a:pPr>
              <a:lnSpc>
                <a:spcPct val="90000"/>
              </a:lnSpc>
              <a:buFont typeface="Wingdings" panose="05000000000000000000" pitchFamily="2" charset="2"/>
              <a:buChar char="§"/>
            </a:pPr>
            <a:r>
              <a:rPr lang="fr-FR">
                <a:latin typeface="+mj-lt"/>
                <a:cs typeface="Times New Roman" pitchFamily="18" charset="0"/>
              </a:rPr>
              <a:t>La </a:t>
            </a:r>
            <a:r>
              <a:rPr lang="fr-FR" b="1">
                <a:solidFill>
                  <a:srgbClr val="C00000"/>
                </a:solidFill>
                <a:latin typeface="+mj-lt"/>
                <a:cs typeface="Times New Roman" pitchFamily="18" charset="0"/>
              </a:rPr>
              <a:t>prolongation </a:t>
            </a:r>
            <a:r>
              <a:rPr lang="fr-FR" b="1">
                <a:latin typeface="+mj-lt"/>
                <a:cs typeface="Times New Roman" pitchFamily="18" charset="0"/>
              </a:rPr>
              <a:t>est toujours effectuée </a:t>
            </a:r>
            <a:r>
              <a:rPr lang="fr-FR" b="1">
                <a:solidFill>
                  <a:srgbClr val="C00000"/>
                </a:solidFill>
                <a:latin typeface="+mj-lt"/>
                <a:cs typeface="Times New Roman" pitchFamily="18" charset="0"/>
              </a:rPr>
              <a:t>par mois complets</a:t>
            </a:r>
            <a:r>
              <a:rPr lang="fr-FR" b="1">
                <a:latin typeface="+mj-lt"/>
                <a:cs typeface="Times New Roman" pitchFamily="18" charset="0"/>
              </a:rPr>
              <a:t> </a:t>
            </a:r>
            <a:r>
              <a:rPr lang="fr-FR" sz="2400">
                <a:latin typeface="+mj-lt"/>
                <a:cs typeface="Times New Roman" pitchFamily="18" charset="0"/>
                <a:sym typeface="Wingdings" panose="05000000000000000000" pitchFamily="2" charset="2"/>
              </a:rPr>
              <a:t></a:t>
            </a:r>
            <a:r>
              <a:rPr lang="fr-FR">
                <a:latin typeface="+mj-lt"/>
                <a:cs typeface="Times New Roman" pitchFamily="18" charset="0"/>
                <a:sym typeface="Wingdings" panose="05000000000000000000" pitchFamily="2" charset="2"/>
              </a:rPr>
              <a:t> </a:t>
            </a:r>
            <a:r>
              <a:rPr lang="fr-FR">
                <a:latin typeface="+mj-lt"/>
                <a:cs typeface="Times New Roman" pitchFamily="18" charset="0"/>
              </a:rPr>
              <a:t>arrondir le résultat vers le bas.</a:t>
            </a:r>
          </a:p>
          <a:p>
            <a:pPr>
              <a:lnSpc>
                <a:spcPct val="90000"/>
              </a:lnSpc>
              <a:buFont typeface="Wingdings" panose="05000000000000000000" pitchFamily="2" charset="2"/>
              <a:buChar char="§"/>
            </a:pPr>
            <a:r>
              <a:rPr lang="fr-BE" b="1">
                <a:latin typeface="+mj-lt"/>
                <a:cs typeface="Times New Roman" pitchFamily="18" charset="0"/>
              </a:rPr>
              <a:t>Prolongation de la période d’indemnisation </a:t>
            </a:r>
            <a:r>
              <a:rPr lang="fr-BE">
                <a:latin typeface="+mj-lt"/>
                <a:cs typeface="Times New Roman" pitchFamily="18" charset="0"/>
              </a:rPr>
              <a:t>(et de la phase) </a:t>
            </a:r>
            <a:r>
              <a:rPr lang="fr-BE" b="1">
                <a:latin typeface="+mj-lt"/>
                <a:cs typeface="Times New Roman" pitchFamily="18" charset="0"/>
              </a:rPr>
              <a:t>en cours au début de cet événement.</a:t>
            </a:r>
          </a:p>
          <a:p>
            <a:pPr marL="352425" indent="0">
              <a:lnSpc>
                <a:spcPct val="90000"/>
              </a:lnSpc>
              <a:buNone/>
            </a:pPr>
            <a:r>
              <a:rPr lang="fr-FR" b="1">
                <a:solidFill>
                  <a:srgbClr val="C00000"/>
                </a:solidFill>
                <a:latin typeface="+mj-lt"/>
                <a:cs typeface="Times New Roman" pitchFamily="18" charset="0"/>
              </a:rPr>
              <a:t>=</a:t>
            </a:r>
            <a:r>
              <a:rPr lang="fr-FR">
                <a:latin typeface="+mj-lt"/>
                <a:cs typeface="Times New Roman" pitchFamily="18" charset="0"/>
              </a:rPr>
              <a:t> </a:t>
            </a:r>
            <a:r>
              <a:rPr lang="fr-FR" b="1">
                <a:solidFill>
                  <a:srgbClr val="C00000"/>
                </a:solidFill>
                <a:latin typeface="+mj-lt"/>
                <a:cs typeface="Times New Roman" pitchFamily="18" charset="0"/>
              </a:rPr>
              <a:t>Postposer le début des phases suivantes </a:t>
            </a:r>
            <a:r>
              <a:rPr lang="fr-FR">
                <a:latin typeface="+mj-lt"/>
                <a:cs typeface="Times New Roman" pitchFamily="18" charset="0"/>
              </a:rPr>
              <a:t>!</a:t>
            </a:r>
          </a:p>
          <a:p>
            <a:pPr>
              <a:buFont typeface="Wingdings" panose="05000000000000000000" pitchFamily="2" charset="2"/>
              <a:buChar char="§"/>
            </a:pPr>
            <a:r>
              <a:rPr lang="fr-BE">
                <a:cs typeface="Times New Roman" pitchFamily="18" charset="0"/>
              </a:rPr>
              <a:t>La prolongation est sans effet, si l’intéressé est déjà au forfait au début de l’évènement.</a:t>
            </a:r>
            <a:endParaRPr lang="fr-BE">
              <a:solidFill>
                <a:srgbClr val="C00000"/>
              </a:solidFill>
              <a:cs typeface="Times New Roman" pitchFamily="18" charset="0"/>
            </a:endParaRP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35</a:t>
            </a:fld>
            <a:endParaRPr lang="fr-F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a:cs typeface="Times New Roman" pitchFamily="18" charset="0"/>
              </a:rPr>
              <a:t>2.2.5. En pratique </a:t>
            </a:r>
            <a:endParaRPr lang="en-US" b="1" i="1">
              <a:cs typeface="Times New Roman" pitchFamily="18" charset="0"/>
            </a:endParaRPr>
          </a:p>
        </p:txBody>
      </p:sp>
      <p:sp>
        <p:nvSpPr>
          <p:cNvPr id="3" name="Espace réservé du contenu 2"/>
          <p:cNvSpPr>
            <a:spLocks noGrp="1"/>
          </p:cNvSpPr>
          <p:nvPr>
            <p:ph idx="1"/>
          </p:nvPr>
        </p:nvSpPr>
        <p:spPr/>
        <p:txBody>
          <a:bodyPr>
            <a:normAutofit fontScale="92500"/>
          </a:bodyPr>
          <a:lstStyle/>
          <a:p>
            <a:pPr marL="0" indent="0">
              <a:buNone/>
            </a:pPr>
            <a:r>
              <a:rPr lang="fr-BE" b="1"/>
              <a:t>Cascade initiale :</a:t>
            </a:r>
          </a:p>
          <a:p>
            <a:pPr marL="0" indent="0">
              <a:buNone/>
            </a:pPr>
            <a:r>
              <a:rPr lang="fr-BE"/>
              <a:t>01/74.A11..		06.02.2023</a:t>
            </a:r>
          </a:p>
          <a:p>
            <a:pPr marL="0" indent="0">
              <a:buNone/>
            </a:pPr>
            <a:r>
              <a:rPr lang="fr-BE"/>
              <a:t>01/74.A12..		06.05.2023</a:t>
            </a:r>
          </a:p>
          <a:p>
            <a:pPr marL="0" indent="0">
              <a:buNone/>
            </a:pPr>
            <a:r>
              <a:rPr lang="fr-BE"/>
              <a:t>01/74.A13..		06.08.2023</a:t>
            </a:r>
          </a:p>
          <a:p>
            <a:pPr marL="0" indent="0">
              <a:buNone/>
            </a:pPr>
            <a:r>
              <a:rPr lang="fr-BE"/>
              <a:t>01/74.A2A..	06.02.2024</a:t>
            </a:r>
          </a:p>
          <a:p>
            <a:pPr marL="0" indent="0">
              <a:buNone/>
            </a:pPr>
            <a:r>
              <a:rPr lang="fr-BE"/>
              <a:t>01/74.A29..		06.04.2024</a:t>
            </a:r>
          </a:p>
          <a:p>
            <a:pPr marL="0" indent="0">
              <a:buNone/>
            </a:pPr>
            <a:r>
              <a:rPr lang="fr-BE">
                <a:sym typeface="Wingdings" panose="05000000000000000000" pitchFamily="2" charset="2"/>
              </a:rPr>
              <a:t> Formation professionnelle à temps plein à partir du </a:t>
            </a:r>
            <a:r>
              <a:rPr lang="fr-BE"/>
              <a:t>01.06.2023 et se terminant le 14.10.2023</a:t>
            </a:r>
          </a:p>
          <a:p>
            <a:pPr marL="0" indent="0">
              <a:buNone/>
            </a:pPr>
            <a:endParaRPr lang="en-US"/>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36</a:t>
            </a:fld>
            <a:endParaRPr lang="fr-FR"/>
          </a:p>
        </p:txBody>
      </p:sp>
    </p:spTree>
    <p:extLst>
      <p:ext uri="{BB962C8B-B14F-4D97-AF65-F5344CB8AC3E}">
        <p14:creationId xmlns:p14="http://schemas.microsoft.com/office/powerpoint/2010/main" val="1778548604"/>
      </p:ext>
    </p:extLst>
  </p:cSld>
  <p:clrMapOvr>
    <a:masterClrMapping/>
  </p:clrMapOvr>
  <p:transition>
    <p:dissolv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a:cs typeface="Times New Roman" pitchFamily="18" charset="0"/>
              </a:rPr>
              <a:t>2.2.5. En pratique </a:t>
            </a:r>
            <a:endParaRPr lang="en-US" b="1" i="1">
              <a:cs typeface="Times New Roman" pitchFamily="18" charset="0"/>
            </a:endParaRP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è"/>
            </a:pPr>
            <a:r>
              <a:rPr lang="fr-BE">
                <a:sym typeface="Wingdings" panose="05000000000000000000" pitchFamily="2" charset="2"/>
              </a:rPr>
              <a:t>Formation professionnelle temps plein= </a:t>
            </a:r>
            <a:r>
              <a:rPr lang="fr-BE" b="1">
                <a:sym typeface="Wingdings" panose="05000000000000000000" pitchFamily="2" charset="2"/>
              </a:rPr>
              <a:t>Evènement prolongeant </a:t>
            </a:r>
            <a:r>
              <a:rPr lang="fr-BE">
                <a:sym typeface="Wingdings" panose="05000000000000000000" pitchFamily="2" charset="2"/>
              </a:rPr>
              <a:t>(si ≥ 3 mois).</a:t>
            </a:r>
          </a:p>
          <a:p>
            <a:pPr>
              <a:buFont typeface="Wingdings" panose="05000000000000000000" pitchFamily="2" charset="2"/>
              <a:buChar char="è"/>
            </a:pPr>
            <a:r>
              <a:rPr lang="fr-BE"/>
              <a:t>débute le 01.06.2023 et se termine le 14.10.2023 = 4 mois et 12 jours (R6)</a:t>
            </a:r>
          </a:p>
          <a:p>
            <a:pPr marL="0" indent="0" algn="ctr">
              <a:buNone/>
            </a:pPr>
            <a:r>
              <a:rPr lang="fr-BE"/>
              <a:t> soit </a:t>
            </a:r>
            <a:r>
              <a:rPr lang="fr-BE" b="1"/>
              <a:t>4 mois </a:t>
            </a:r>
          </a:p>
          <a:p>
            <a:pPr>
              <a:buFont typeface="Wingdings" panose="05000000000000000000" pitchFamily="2" charset="2"/>
              <a:buChar char="è"/>
            </a:pPr>
            <a:r>
              <a:rPr lang="fr-BE" b="1"/>
              <a:t>4 mois ≥ 3 mois </a:t>
            </a:r>
            <a:r>
              <a:rPr lang="fr-BE"/>
              <a:t>ok = </a:t>
            </a:r>
            <a:r>
              <a:rPr lang="fr-BE" b="1">
                <a:solidFill>
                  <a:srgbClr val="C00000"/>
                </a:solidFill>
              </a:rPr>
              <a:t>prolongation de 4 mois</a:t>
            </a:r>
            <a:endParaRPr lang="en-US" b="1">
              <a:solidFill>
                <a:srgbClr val="C00000"/>
              </a:solidFill>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37</a:t>
            </a:fld>
            <a:endParaRPr lang="fr-FR"/>
          </a:p>
        </p:txBody>
      </p:sp>
    </p:spTree>
    <p:extLst>
      <p:ext uri="{BB962C8B-B14F-4D97-AF65-F5344CB8AC3E}">
        <p14:creationId xmlns:p14="http://schemas.microsoft.com/office/powerpoint/2010/main" val="4285191510"/>
      </p:ext>
    </p:extLst>
  </p:cSld>
  <p:clrMapOvr>
    <a:masterClrMapping/>
  </p:clrMapOvr>
  <p:transition>
    <p:dissolv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a:cs typeface="Times New Roman" pitchFamily="18" charset="0"/>
              </a:rPr>
              <a:t>2.2.5. En pratique </a:t>
            </a:r>
            <a:endParaRPr lang="en-US" b="1" i="1">
              <a:cs typeface="Times New Roman" pitchFamily="18" charset="0"/>
            </a:endParaRPr>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è"/>
            </a:pPr>
            <a:r>
              <a:rPr lang="fr-BE"/>
              <a:t> Quid cascade si DA le 16.10.2023 = à la date qui suit la fin de l’évènement prolongeant.</a:t>
            </a:r>
          </a:p>
          <a:p>
            <a:pPr>
              <a:buFont typeface="Wingdings" panose="05000000000000000000" pitchFamily="2" charset="2"/>
              <a:buChar char="è"/>
            </a:pPr>
            <a:endParaRPr lang="fr-BE"/>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fr-BE" sz="2400" b="0" i="0" u="none" strike="noStrike" kern="1200" cap="none" spc="0" normalizeH="0" baseline="0" noProof="0">
                <a:ln>
                  <a:noFill/>
                </a:ln>
                <a:solidFill>
                  <a:prstClr val="black"/>
                </a:solidFill>
                <a:effectLst/>
                <a:uLnTx/>
                <a:uFillTx/>
                <a:latin typeface="Calibri"/>
                <a:ea typeface="+mn-ea"/>
                <a:cs typeface="+mn-cs"/>
              </a:rPr>
              <a:t>01/74.A11..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fr-BE" sz="2400" b="0" i="0" u="none" strike="noStrike" kern="1200" cap="none" spc="0" normalizeH="0" baseline="0" noProof="0">
                <a:ln>
                  <a:noFill/>
                </a:ln>
                <a:solidFill>
                  <a:prstClr val="black"/>
                </a:solidFill>
                <a:effectLst/>
                <a:uLnTx/>
                <a:uFillTx/>
                <a:latin typeface="Calibri"/>
                <a:ea typeface="+mn-ea"/>
                <a:cs typeface="+mn-cs"/>
              </a:rPr>
              <a:t>01/74.A12..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fr-BE" sz="2400" b="0" i="0" u="none" strike="noStrike" kern="1200" cap="none" spc="0" normalizeH="0" baseline="0" noProof="0">
                <a:ln>
                  <a:noFill/>
                </a:ln>
                <a:solidFill>
                  <a:prstClr val="black"/>
                </a:solidFill>
                <a:effectLst/>
                <a:uLnTx/>
                <a:uFillTx/>
                <a:latin typeface="Calibri"/>
                <a:ea typeface="+mn-ea"/>
                <a:cs typeface="+mn-cs"/>
              </a:rPr>
              <a:t>01/74.A13..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fr-BE" sz="2400" b="0" i="0" u="none" strike="noStrike" kern="1200" cap="none" spc="0" normalizeH="0" baseline="0" noProof="0">
                <a:ln>
                  <a:noFill/>
                </a:ln>
                <a:solidFill>
                  <a:prstClr val="black"/>
                </a:solidFill>
                <a:effectLst/>
                <a:uLnTx/>
                <a:uFillTx/>
                <a:latin typeface="Calibri"/>
                <a:ea typeface="+mn-ea"/>
                <a:cs typeface="+mn-cs"/>
              </a:rPr>
              <a:t>01/74.A2A..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fr-BE" sz="2400" b="0" i="0" u="none" strike="noStrike" kern="1200" cap="none" spc="0" normalizeH="0" baseline="0" noProof="0">
                <a:ln>
                  <a:noFill/>
                </a:ln>
                <a:solidFill>
                  <a:prstClr val="black"/>
                </a:solidFill>
                <a:effectLst/>
                <a:uLnTx/>
                <a:uFillTx/>
                <a:latin typeface="Calibri"/>
                <a:ea typeface="+mn-ea"/>
                <a:cs typeface="+mn-cs"/>
              </a:rPr>
              <a:t>01/74.A29..</a:t>
            </a:r>
            <a:endParaRPr lang="fr-BE" sz="2400"/>
          </a:p>
          <a:p>
            <a:pPr>
              <a:buFont typeface="Wingdings" panose="05000000000000000000" pitchFamily="2" charset="2"/>
              <a:buChar char="è"/>
            </a:pPr>
            <a:endParaRPr lang="fr-BE"/>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38</a:t>
            </a:fld>
            <a:endParaRPr lang="fr-FR"/>
          </a:p>
        </p:txBody>
      </p:sp>
      <p:pic>
        <p:nvPicPr>
          <p:cNvPr id="14" name="Image 13">
            <a:hlinkClick r:id="rId3" action="ppaction://hlinksldjump"/>
          </p:cNvPr>
          <p:cNvPicPr>
            <a:picLocks noChangeAspect="1"/>
          </p:cNvPicPr>
          <p:nvPr/>
        </p:nvPicPr>
        <p:blipFill>
          <a:blip r:embed="rId4"/>
          <a:stretch>
            <a:fillRect/>
          </a:stretch>
        </p:blipFill>
        <p:spPr>
          <a:xfrm>
            <a:off x="1372860" y="2590800"/>
            <a:ext cx="1208838" cy="694184"/>
          </a:xfrm>
          <a:prstGeom prst="rect">
            <a:avLst/>
          </a:prstGeom>
        </p:spPr>
      </p:pic>
      <p:pic>
        <p:nvPicPr>
          <p:cNvPr id="15" name="Image 14">
            <a:hlinkClick r:id="rId5" action="ppaction://hlinksldjump"/>
          </p:cNvPr>
          <p:cNvPicPr>
            <a:picLocks noChangeAspect="1"/>
          </p:cNvPicPr>
          <p:nvPr/>
        </p:nvPicPr>
        <p:blipFill>
          <a:blip r:embed="rId6"/>
          <a:stretch>
            <a:fillRect/>
          </a:stretch>
        </p:blipFill>
        <p:spPr>
          <a:xfrm>
            <a:off x="6231556" y="2590800"/>
            <a:ext cx="1203252" cy="694184"/>
          </a:xfrm>
          <a:prstGeom prst="rect">
            <a:avLst/>
          </a:prstGeom>
        </p:spPr>
      </p:pic>
    </p:spTree>
    <p:extLst>
      <p:ext uri="{BB962C8B-B14F-4D97-AF65-F5344CB8AC3E}">
        <p14:creationId xmlns:p14="http://schemas.microsoft.com/office/powerpoint/2010/main" val="3227882079"/>
      </p:ext>
    </p:extLst>
  </p:cSld>
  <p:clrMapOvr>
    <a:masterClrMapping/>
  </p:clrMapOvr>
  <p:transition>
    <p:dissolv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ctrTitle"/>
          </p:nvPr>
        </p:nvSpPr>
        <p:spPr/>
        <p:txBody>
          <a:bodyPr>
            <a:noAutofit/>
          </a:bodyPr>
          <a:lstStyle/>
          <a:p>
            <a:r>
              <a:rPr lang="fr-BE" sz="5400" b="1" i="1"/>
              <a:t>2.3. Fixation temporaire des périodes d’indemnisation</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solidFill>
                  <a:prstClr val="black">
                    <a:tint val="75000"/>
                  </a:prstClr>
                </a:solidFill>
              </a:rPr>
              <a:pPr/>
              <a:t>39</a:t>
            </a:fld>
            <a:endParaRPr lang="fr-FR">
              <a:solidFill>
                <a:prstClr val="black">
                  <a:tint val="75000"/>
                </a:prstClr>
              </a:solidFill>
            </a:endParaRPr>
          </a:p>
        </p:txBody>
      </p:sp>
    </p:spTree>
    <p:extLst>
      <p:ext uri="{BB962C8B-B14F-4D97-AF65-F5344CB8AC3E}">
        <p14:creationId xmlns:p14="http://schemas.microsoft.com/office/powerpoint/2010/main" val="559625749"/>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FR" b="1" i="1">
                <a:cs typeface="Times New Roman" pitchFamily="18" charset="0"/>
              </a:rPr>
              <a:t>2.3. La fixation temporaire </a:t>
            </a:r>
            <a:endParaRPr lang="en-US" i="1">
              <a:cs typeface="Times New Roman" pitchFamily="18" charset="0"/>
            </a:endParaRPr>
          </a:p>
        </p:txBody>
      </p:sp>
      <p:sp>
        <p:nvSpPr>
          <p:cNvPr id="3" name="Espace réservé du contenu 2"/>
          <p:cNvSpPr>
            <a:spLocks noGrp="1"/>
          </p:cNvSpPr>
          <p:nvPr>
            <p:ph idx="1"/>
          </p:nvPr>
        </p:nvSpPr>
        <p:spPr/>
        <p:txBody>
          <a:bodyPr>
            <a:normAutofit/>
          </a:bodyPr>
          <a:lstStyle/>
          <a:p>
            <a:pPr marL="0" indent="0">
              <a:buNone/>
            </a:pPr>
            <a:r>
              <a:rPr lang="fr-FR" sz="3600" b="1">
                <a:solidFill>
                  <a:srgbClr val="C00000"/>
                </a:solidFill>
                <a:latin typeface="+mj-lt"/>
                <a:cs typeface="Times New Roman" pitchFamily="18" charset="0"/>
              </a:rPr>
              <a:t>La fixation temporaire </a:t>
            </a:r>
            <a:r>
              <a:rPr lang="fr-FR" sz="3600">
                <a:latin typeface="+mj-lt"/>
                <a:cs typeface="Times New Roman" pitchFamily="18" charset="0"/>
              </a:rPr>
              <a:t>= Maintien de la phase (période d’indemnisation) valable au début de l'événement et ce pendant toute la durée de celui-ci.</a:t>
            </a:r>
          </a:p>
          <a:p>
            <a:pPr marL="0" lvl="1" indent="0">
              <a:buNone/>
            </a:pPr>
            <a:r>
              <a:rPr lang="fr-FR" sz="3600">
                <a:latin typeface="+mj-lt"/>
                <a:cs typeface="Times New Roman" pitchFamily="18" charset="0"/>
                <a:sym typeface="Wingdings" panose="05000000000000000000" pitchFamily="2" charset="2"/>
              </a:rPr>
              <a:t>La fixation temporaire </a:t>
            </a:r>
            <a:r>
              <a:rPr lang="fr-FR" sz="3600" b="1">
                <a:latin typeface="+mj-lt"/>
                <a:cs typeface="Times New Roman" pitchFamily="18" charset="0"/>
                <a:sym typeface="Wingdings" panose="05000000000000000000" pitchFamily="2" charset="2"/>
              </a:rPr>
              <a:t>concerne la f</a:t>
            </a:r>
            <a:r>
              <a:rPr lang="fr-FR" sz="3600" b="1">
                <a:latin typeface="+mj-lt"/>
                <a:cs typeface="Times New Roman" pitchFamily="18" charset="0"/>
              </a:rPr>
              <a:t>ormation professionnelle à temps plein </a:t>
            </a:r>
          </a:p>
          <a:p>
            <a:pPr marL="0" lvl="1" indent="0">
              <a:buNone/>
            </a:pPr>
            <a:r>
              <a:rPr lang="fr-FR">
                <a:latin typeface="+mj-lt"/>
                <a:cs typeface="Times New Roman" pitchFamily="18" charset="0"/>
              </a:rPr>
              <a:t>(uniquement préfixe 11/).</a:t>
            </a:r>
          </a:p>
          <a:p>
            <a:pPr marL="0" indent="0">
              <a:buNone/>
            </a:pPr>
            <a:endParaRPr lang="en-US" sz="3600">
              <a:latin typeface="+mj-lt"/>
            </a:endParaRP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40</a:t>
            </a:fld>
            <a:endParaRPr lang="fr-F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FR" b="1" i="1">
                <a:cs typeface="Times New Roman" pitchFamily="18" charset="0"/>
              </a:rPr>
              <a:t>2.3.1. Particularité de </a:t>
            </a:r>
            <a:br>
              <a:rPr lang="fr-FR" b="1" i="1">
                <a:cs typeface="Times New Roman" pitchFamily="18" charset="0"/>
              </a:rPr>
            </a:br>
            <a:r>
              <a:rPr lang="fr-FR" b="1" i="1">
                <a:cs typeface="Times New Roman" pitchFamily="18" charset="0"/>
              </a:rPr>
              <a:t>la FP temps plein</a:t>
            </a:r>
            <a:endParaRPr lang="en-US" i="1">
              <a:cs typeface="Times New Roman" pitchFamily="18" charset="0"/>
            </a:endParaRPr>
          </a:p>
        </p:txBody>
      </p:sp>
      <p:sp>
        <p:nvSpPr>
          <p:cNvPr id="3" name="Espace réservé du contenu 2"/>
          <p:cNvSpPr>
            <a:spLocks noGrp="1"/>
          </p:cNvSpPr>
          <p:nvPr>
            <p:ph idx="1"/>
          </p:nvPr>
        </p:nvSpPr>
        <p:spPr/>
        <p:txBody>
          <a:bodyPr>
            <a:normAutofit/>
          </a:bodyPr>
          <a:lstStyle/>
          <a:p>
            <a:pPr>
              <a:lnSpc>
                <a:spcPct val="90000"/>
              </a:lnSpc>
              <a:buFont typeface="Wingdings" panose="05000000000000000000" pitchFamily="2" charset="2"/>
              <a:buChar char="§"/>
            </a:pPr>
            <a:r>
              <a:rPr lang="fr-FR" sz="3600" b="1">
                <a:latin typeface="+mj-lt"/>
                <a:cs typeface="Times New Roman" pitchFamily="18" charset="0"/>
              </a:rPr>
              <a:t>Minimum 35 h/Semaine .</a:t>
            </a:r>
          </a:p>
          <a:p>
            <a:pPr>
              <a:lnSpc>
                <a:spcPct val="90000"/>
              </a:lnSpc>
              <a:buFont typeface="Wingdings" panose="05000000000000000000" pitchFamily="2" charset="2"/>
              <a:buChar char="§"/>
            </a:pPr>
            <a:r>
              <a:rPr lang="fr-FR" sz="3600">
                <a:latin typeface="+mj-lt"/>
                <a:cs typeface="Times New Roman" pitchFamily="18" charset="0"/>
              </a:rPr>
              <a:t>Interruption de la FP si &gt; 1 mois d’absence justifiée ou non, de maladie, de vacances, d’accident ou de maladie du formateur.</a:t>
            </a:r>
          </a:p>
          <a:p>
            <a:pPr>
              <a:lnSpc>
                <a:spcPct val="90000"/>
              </a:lnSpc>
              <a:buFont typeface="Wingdings" panose="05000000000000000000" pitchFamily="2" charset="2"/>
              <a:buChar char="§"/>
            </a:pPr>
            <a:r>
              <a:rPr lang="fr-FR" sz="3600" b="1">
                <a:latin typeface="+mj-lt"/>
                <a:cs typeface="Times New Roman" pitchFamily="18" charset="0"/>
              </a:rPr>
              <a:t>Si durée de la FP ≥ à 3 mois </a:t>
            </a:r>
            <a:r>
              <a:rPr lang="fr-FR" sz="3600">
                <a:latin typeface="+mj-lt"/>
                <a:cs typeface="Times New Roman" pitchFamily="18" charset="0"/>
                <a:sym typeface="Wingdings" panose="05000000000000000000" pitchFamily="2" charset="2"/>
              </a:rPr>
              <a:t>p</a:t>
            </a:r>
            <a:r>
              <a:rPr lang="fr-FR" sz="3600">
                <a:latin typeface="+mj-lt"/>
                <a:cs typeface="Times New Roman" pitchFamily="18" charset="0"/>
              </a:rPr>
              <a:t>rolongation par mois complet.</a:t>
            </a: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solidFill>
                  <a:prstClr val="black">
                    <a:tint val="75000"/>
                  </a:prstClr>
                </a:solidFill>
              </a:rPr>
              <a:pPr/>
              <a:t>41</a:t>
            </a:fld>
            <a:endParaRPr lang="fr-FR">
              <a:solidFill>
                <a:prstClr val="black">
                  <a:tint val="75000"/>
                </a:prstClr>
              </a:solidFill>
            </a:endParaRPr>
          </a:p>
        </p:txBody>
      </p:sp>
    </p:spTree>
    <p:extLst>
      <p:ext uri="{BB962C8B-B14F-4D97-AF65-F5344CB8AC3E}">
        <p14:creationId xmlns:p14="http://schemas.microsoft.com/office/powerpoint/2010/main" val="61011243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71D4D5C3D776247A0B00D9B67B18301" ma:contentTypeVersion="5" ma:contentTypeDescription="Crée un document." ma:contentTypeScope="" ma:versionID="7a3aaf4a5e491451268d7041ab422b5e">
  <xsd:schema xmlns:xsd="http://www.w3.org/2001/XMLSchema" xmlns:xs="http://www.w3.org/2001/XMLSchema" xmlns:p="http://schemas.microsoft.com/office/2006/metadata/properties" xmlns:ns2="70ec8308-a2f0-4163-8d73-ffca7c913578" xmlns:ns3="594ba5a2-1908-49bb-836f-9f7e6dbdc18e" targetNamespace="http://schemas.microsoft.com/office/2006/metadata/properties" ma:root="true" ma:fieldsID="eac2541f887c14507833b58d07aebfe8" ns2:_="" ns3:_="">
    <xsd:import namespace="70ec8308-a2f0-4163-8d73-ffca7c913578"/>
    <xsd:import namespace="594ba5a2-1908-49bb-836f-9f7e6dbdc18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ec8308-a2f0-4163-8d73-ffca7c913578"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94ba5a2-1908-49bb-836f-9f7e6dbdc18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810EFF-F690-43B7-BFF2-BAED85A32BDF}">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594ba5a2-1908-49bb-836f-9f7e6dbdc18e"/>
    <ds:schemaRef ds:uri="70ec8308-a2f0-4163-8d73-ffca7c913578"/>
    <ds:schemaRef ds:uri="http://www.w3.org/XML/1998/namespace"/>
    <ds:schemaRef ds:uri="http://purl.org/dc/dcmitype/"/>
  </ds:schemaRefs>
</ds:datastoreItem>
</file>

<file path=customXml/itemProps2.xml><?xml version="1.0" encoding="utf-8"?>
<ds:datastoreItem xmlns:ds="http://schemas.openxmlformats.org/officeDocument/2006/customXml" ds:itemID="{C84F61F7-2126-4240-AABC-546F0962E7AF}">
  <ds:schemaRefs>
    <ds:schemaRef ds:uri="594ba5a2-1908-49bb-836f-9f7e6dbdc18e"/>
    <ds:schemaRef ds:uri="70ec8308-a2f0-4163-8d73-ffca7c9135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293987A-7DD6-45FC-914C-A4A6F05683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3384</Words>
  <Application>Microsoft Office PowerPoint</Application>
  <PresentationFormat>Affichage à l'écran (4:3)</PresentationFormat>
  <Paragraphs>577</Paragraphs>
  <Slides>41</Slides>
  <Notes>41</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41</vt:i4>
      </vt:variant>
    </vt:vector>
  </HeadingPairs>
  <TitlesOfParts>
    <vt:vector size="50" baseType="lpstr">
      <vt:lpstr>Arial</vt:lpstr>
      <vt:lpstr>Calibri</vt:lpstr>
      <vt:lpstr>Calibri Light</vt:lpstr>
      <vt:lpstr>Segoe UI Emoji</vt:lpstr>
      <vt:lpstr>Times New Roman</vt:lpstr>
      <vt:lpstr>Wingdings</vt:lpstr>
      <vt:lpstr>Wingdings 2</vt:lpstr>
      <vt:lpstr>1_Thème Office</vt:lpstr>
      <vt:lpstr>HDOfficeLightV0</vt:lpstr>
      <vt:lpstr>Evolution des périodes d’indemnisation</vt:lpstr>
      <vt:lpstr>Table des matières </vt:lpstr>
      <vt:lpstr>Table des matières </vt:lpstr>
      <vt:lpstr>1. AR 114 : Rappel</vt:lpstr>
      <vt:lpstr>1. AR 114 : rappel Cascade complète après calcul PP</vt:lpstr>
      <vt:lpstr>1.AR 114 : Rappel Avant calcul PP</vt:lpstr>
      <vt:lpstr>Présentation PowerPoint</vt:lpstr>
      <vt:lpstr>1. AR 114 : Rappel La fixation</vt:lpstr>
      <vt:lpstr>1. AR 114 : Rappel Schéma récapitulatif</vt:lpstr>
      <vt:lpstr>2. AR 116 : Evolution des périodes</vt:lpstr>
      <vt:lpstr>2. AR 116 – Evolution des périodes</vt:lpstr>
      <vt:lpstr>2.1. Le retour en 1ère période d’indemnisation</vt:lpstr>
      <vt:lpstr> 2.1.1. Conditions</vt:lpstr>
      <vt:lpstr>2.1.1. Conditions</vt:lpstr>
      <vt:lpstr>2.1.1. Conditions</vt:lpstr>
      <vt:lpstr>2.1.1. Conditions</vt:lpstr>
      <vt:lpstr>2.1.2. Période de référence</vt:lpstr>
      <vt:lpstr>2.1.2. Période de référence Exemple…</vt:lpstr>
      <vt:lpstr>2.1.2. Période de référence Exemple…</vt:lpstr>
      <vt:lpstr>2.1.3. Interruptions de la reprise du travail </vt:lpstr>
      <vt:lpstr>2.1.4. Formules DMFA</vt:lpstr>
      <vt:lpstr>2.1.5. Trimestres incomplets ou non acceptés</vt:lpstr>
      <vt:lpstr>2.1.5. Trimestres incomplets ou non acceptés</vt:lpstr>
      <vt:lpstr>Exemple de calcul d’un retour en 1ère période</vt:lpstr>
      <vt:lpstr>2.2. Prolongation des périodes d’indemnisation</vt:lpstr>
      <vt:lpstr>2.2.1. La prolongation</vt:lpstr>
      <vt:lpstr>2.2.2. Evènements prolongeant</vt:lpstr>
      <vt:lpstr>2.2.2. Evènements prolongeant Précisions</vt:lpstr>
      <vt:lpstr>2.2.3. Formules DMFA</vt:lpstr>
      <vt:lpstr>2.2.3. Formules DMFA</vt:lpstr>
      <vt:lpstr>2.2.3. Formules Dmfa  Exemple 1</vt:lpstr>
      <vt:lpstr>2.2.3. Formules DMFA Exemple 2</vt:lpstr>
      <vt:lpstr>2.2.4. Trimestres incomplets ou non acceptés</vt:lpstr>
      <vt:lpstr>2.2.4. Trimestres incomplets ou non acceptés</vt:lpstr>
      <vt:lpstr>2.2.5. En pratique </vt:lpstr>
      <vt:lpstr>2.2.5. En pratique </vt:lpstr>
      <vt:lpstr>2.2.5. En pratique </vt:lpstr>
      <vt:lpstr>2.2.5. En pratique </vt:lpstr>
      <vt:lpstr>2.3. Fixation temporaire des périodes d’indemnisation</vt:lpstr>
      <vt:lpstr>2.3. La fixation temporaire </vt:lpstr>
      <vt:lpstr>2.3.1. Particularité de  la FP temps plein</vt:lpstr>
    </vt:vector>
  </TitlesOfParts>
  <Company>ACV-CSC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FCJ-M12-Evolution des périodes d'indemnisation (niv. 2)-Participants</dc:title>
  <dc:creator>u99lge</dc:creator>
  <cp:lastModifiedBy>Ali Bakhouch</cp:lastModifiedBy>
  <cp:revision>2</cp:revision>
  <cp:lastPrinted>2023-10-06T07:15:46Z</cp:lastPrinted>
  <dcterms:created xsi:type="dcterms:W3CDTF">2010-09-22T12:12:06Z</dcterms:created>
  <dcterms:modified xsi:type="dcterms:W3CDTF">2023-10-13T15:00:33Z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0x01010011E8FC1629FD884B95A0235DC4123BD80037E0190D7060C1489B20FAF4695DD315</vt:lpwstr>
  </property>
  <property fmtid="{D5CDD505-2E9C-101B-9397-08002B2CF9AE}" pid="3" name="Type formation">
    <vt:lpwstr>42;#FCJ formation junior|010f76d4-1162-4810-b874-62b7f270a9bc</vt:lpwstr>
  </property>
  <property fmtid="{D5CDD505-2E9C-101B-9397-08002B2CF9AE}" pid="4" name="Type document">
    <vt:lpwstr>29;#Présentation|66a9a075-20e6-47e0-8483-85d2e9240401</vt:lpwstr>
  </property>
  <property fmtid="{D5CDD505-2E9C-101B-9397-08002B2CF9AE}" pid="5" name="Public Cible">
    <vt:lpwstr>12;#FLT|f342c2bc-e504-4fe0-8d5d-34c04f2f783f</vt:lpwstr>
  </property>
  <property fmtid="{D5CDD505-2E9C-101B-9397-08002B2CF9AE}" pid="6" name="Domaine">
    <vt:lpwstr>17;#Admissibilité|d1ac0b1f-1e4c-4aa8-9a97-5b01e61985ba</vt:lpwstr>
  </property>
  <property fmtid="{D5CDD505-2E9C-101B-9397-08002B2CF9AE}" pid="7" name="Thème">
    <vt:lpwstr>30;#Evolution des périodes (AR116) - Base|a70514d4-4023-41d3-a7d0-4ca4a11ca880</vt:lpwstr>
  </property>
  <property fmtid="{D5CDD505-2E9C-101B-9397-08002B2CF9AE}" pid="8" name="Order">
    <vt:r8>246600</vt:r8>
  </property>
  <property fmtid="{D5CDD505-2E9C-101B-9397-08002B2CF9AE}" pid="9" name="_dlc_DocIdItemGuid">
    <vt:lpwstr>96d8405f-cbd3-4df6-a911-4d0e1f3471d4</vt:lpwstr>
  </property>
  <property fmtid="{D5CDD505-2E9C-101B-9397-08002B2CF9AE}" pid="10" name="AuthorIds_UIVersion_1024">
    <vt:lpwstr>23</vt:lpwstr>
  </property>
  <property fmtid="{D5CDD505-2E9C-101B-9397-08002B2CF9AE}" pid="11" name="AuthorIds_UIVersion_1536">
    <vt:lpwstr>23</vt:lpwstr>
  </property>
</Properties>
</file>