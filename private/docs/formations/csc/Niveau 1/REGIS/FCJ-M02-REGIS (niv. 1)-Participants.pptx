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6"/>
  </p:notesMasterIdLst>
  <p:handoutMasterIdLst>
    <p:handoutMasterId r:id="rId17"/>
  </p:handoutMasterIdLst>
  <p:sldIdLst>
    <p:sldId id="378" r:id="rId5"/>
    <p:sldId id="417" r:id="rId6"/>
    <p:sldId id="444" r:id="rId7"/>
    <p:sldId id="418" r:id="rId8"/>
    <p:sldId id="420" r:id="rId9"/>
    <p:sldId id="397" r:id="rId10"/>
    <p:sldId id="408" r:id="rId11"/>
    <p:sldId id="409" r:id="rId12"/>
    <p:sldId id="410" r:id="rId13"/>
    <p:sldId id="441" r:id="rId14"/>
    <p:sldId id="443" r:id="rId15"/>
  </p:sldIdLst>
  <p:sldSz cx="9144000" cy="6858000" type="screen4x3"/>
  <p:notesSz cx="6669088" cy="9872663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anassakis Drossinis" initials="TD" lastIdx="0" clrIdx="0">
    <p:extLst>
      <p:ext uri="{19B8F6BF-5375-455C-9EA6-DF929625EA0E}">
        <p15:presenceInfo xmlns:p15="http://schemas.microsoft.com/office/powerpoint/2012/main" userId="S-1-5-21-969678584-1814248037-6498272-615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B69"/>
    <a:srgbClr val="FF9933"/>
    <a:srgbClr val="008000"/>
    <a:srgbClr val="669900"/>
    <a:srgbClr val="00FF00"/>
    <a:srgbClr val="003399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F5AB1C69-6EDB-4FF4-983F-18BD219EF322}" styleName="Style moyen 2 - Accentuation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74" autoAdjust="0"/>
    <p:restoredTop sz="96362" autoAdjust="0"/>
  </p:normalViewPr>
  <p:slideViewPr>
    <p:cSldViewPr>
      <p:cViewPr varScale="1">
        <p:scale>
          <a:sx n="82" d="100"/>
          <a:sy n="82" d="100"/>
        </p:scale>
        <p:origin x="1387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quarter" idx="1"/>
          </p:nvPr>
        </p:nvSpPr>
        <p:spPr>
          <a:xfrm>
            <a:off x="3777607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7068CA-F0DC-447A-B9ED-AE95D731C7D8}" type="datetimeFigureOut">
              <a:rPr lang="fr-FR" smtClean="0"/>
              <a:pPr/>
              <a:t>13/10/2023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2"/>
          </p:nvPr>
        </p:nvSpPr>
        <p:spPr>
          <a:xfrm>
            <a:off x="0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3"/>
          </p:nvPr>
        </p:nvSpPr>
        <p:spPr>
          <a:xfrm>
            <a:off x="3777607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110657-391D-4BAF-82B8-BBA3EA77C61C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9197707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00F49C-6693-442B-81D1-9FE7387508D2}" type="datetimeFigureOut">
              <a:rPr lang="fr-FR" smtClean="0"/>
              <a:pPr/>
              <a:t>13/10/2023</a:t>
            </a:fld>
            <a:endParaRPr lang="fr-FR" dirty="0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866775" y="739775"/>
            <a:ext cx="4935538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 dirty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66909" y="4689515"/>
            <a:ext cx="5335270" cy="44426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777607" y="9377316"/>
            <a:ext cx="2889938" cy="49363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4742A2-A700-4112-A494-09AD92282681}" type="slidenum">
              <a:rPr lang="fr-FR" smtClean="0"/>
              <a:pPr/>
              <a:t>‹N°›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22369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4727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154359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5282541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6496597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4742A2-A700-4112-A494-09AD92282681}" type="slidenum">
              <a:rPr lang="fr-FR" smtClean="0"/>
              <a:pPr/>
              <a:t>10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84718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A488C-FB81-48B3-9410-4F02CDD870BC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5DE92D-40F0-4B27-9395-54D10DCA5303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1E6BAE-FE67-4B8F-9842-3909DCFDD10D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0A42B-3EA8-4F75-8DFF-371D159B1080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E8271B-28BB-45C0-BF51-C189CBF13EA8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74719E-9661-486B-BC52-DED0BCE1CA98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E3928C-BF26-453E-B309-A4D2C1BBA09C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B23A3-2F7F-46D9-8A5F-DED716CDE0E9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06EC7B-2632-4B6D-B868-628D82FA4463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C1AAE1-56A2-406D-BE7D-D3DDC169CC60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DE46FE-7301-4DF2-A126-6A224B38FFA0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6000"/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699614E-4EFF-4C7E-84EF-0FD71CFDA062}" type="datetime1">
              <a:rPr lang="fr-FR" smtClean="0"/>
              <a:t>13/10/2023</a:t>
            </a:fld>
            <a:endParaRPr lang="fr-FR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E9056B-6A30-4F99-BDE9-C450E66AE125}" type="slidenum">
              <a:rPr lang="fr-FR" smtClean="0"/>
              <a:pPr/>
              <a:t>‹N°›</a:t>
            </a:fld>
            <a:endParaRPr lang="fr-F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>
    <p:dissolve/>
  </p:transition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r-BE" sz="8900" b="1" i="1" dirty="0"/>
              <a:t>Procédure </a:t>
            </a:r>
            <a:br>
              <a:rPr lang="fr-BE" sz="8900" b="1" i="1" dirty="0"/>
            </a:br>
            <a:r>
              <a:rPr lang="fr-BE" sz="8900" b="1" i="1" dirty="0"/>
              <a:t>REGIS</a:t>
            </a:r>
            <a:endParaRPr lang="fr-BE" sz="6600" dirty="0"/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68EBB2EE-8BEE-4E38-A015-5E940D7AEF00}"/>
              </a:ext>
            </a:extLst>
          </p:cNvPr>
          <p:cNvSpPr txBox="1"/>
          <p:nvPr/>
        </p:nvSpPr>
        <p:spPr>
          <a:xfrm>
            <a:off x="899592" y="6169580"/>
            <a:ext cx="2876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dirty="0"/>
              <a:t>FLT – Version </a:t>
            </a:r>
            <a:r>
              <a:rPr lang="fr-BE"/>
              <a:t>du 04.07.2023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602930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Table des matières</a:t>
            </a:r>
            <a:endParaRPr lang="en-US" b="1" i="1" dirty="0"/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1. Introduction					         </a:t>
            </a:r>
            <a:r>
              <a:rPr lang="fr-BE" sz="2400" dirty="0"/>
              <a:t>pg. 3</a:t>
            </a:r>
            <a:endParaRPr lang="fr-BE" sz="3000" dirty="0"/>
          </a:p>
          <a:p>
            <a:pPr marL="0" indent="0">
              <a:spcBef>
                <a:spcPts val="600"/>
              </a:spcBef>
              <a:buNone/>
            </a:pP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2. Consultation REGIS				         </a:t>
            </a:r>
            <a:r>
              <a:rPr lang="fr-BE" sz="2400" dirty="0"/>
              <a:t>pg. 4</a:t>
            </a:r>
            <a:endParaRPr lang="fr-BE" sz="3000" dirty="0"/>
          </a:p>
          <a:p>
            <a:pPr marL="0" indent="0">
              <a:spcBef>
                <a:spcPts val="600"/>
              </a:spcBef>
              <a:buNone/>
            </a:pPr>
            <a:endParaRPr lang="fr-BE" sz="2000" dirty="0"/>
          </a:p>
          <a:p>
            <a:pPr marL="0" indent="0">
              <a:spcBef>
                <a:spcPts val="600"/>
              </a:spcBef>
              <a:buNone/>
            </a:pPr>
            <a:r>
              <a:rPr lang="fr-BE" sz="3000" dirty="0"/>
              <a:t>3. Notifications REGIS				         </a:t>
            </a:r>
            <a:r>
              <a:rPr lang="fr-BE" sz="2400" dirty="0"/>
              <a:t>pg. 6</a:t>
            </a:r>
          </a:p>
          <a:p>
            <a:pPr marL="441325" indent="0">
              <a:spcBef>
                <a:spcPts val="600"/>
              </a:spcBef>
              <a:buNone/>
            </a:pPr>
            <a:r>
              <a:rPr lang="fr-BE" sz="3000" dirty="0"/>
              <a:t>3.1. R-Notif &amp; incidence règl.		         </a:t>
            </a:r>
            <a:r>
              <a:rPr lang="fr-BE" sz="2400" dirty="0"/>
              <a:t>pg. 7</a:t>
            </a:r>
          </a:p>
          <a:p>
            <a:pPr marL="441325" indent="0">
              <a:spcBef>
                <a:spcPts val="600"/>
              </a:spcBef>
              <a:buNone/>
            </a:pPr>
            <a:r>
              <a:rPr lang="fr-BE" sz="3000" dirty="0"/>
              <a:t>3.2. Analyse R-Notif				         </a:t>
            </a:r>
            <a:r>
              <a:rPr lang="fr-BE" sz="2400" dirty="0"/>
              <a:t>pg. 10</a:t>
            </a:r>
            <a:endParaRPr lang="fr-BE" sz="3000" dirty="0"/>
          </a:p>
          <a:p>
            <a:pPr marL="0" indent="0">
              <a:buNone/>
            </a:pPr>
            <a:endParaRPr lang="fr-BE" dirty="0"/>
          </a:p>
          <a:p>
            <a:endParaRPr lang="en-US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2F86C1BD-C574-4C68-8B60-0F57BC3CD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6091472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9C0336-788F-4904-B9EA-751823E95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1. Introduction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492551-9DB2-4281-BA80-EE7874FA87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0"/>
            <a:ext cx="8229600" cy="485740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sz="2800" dirty="0"/>
              <a:t>Depuis 2014, les OP </a:t>
            </a:r>
            <a:r>
              <a:rPr lang="fr-BE" sz="2800" b="1" dirty="0">
                <a:solidFill>
                  <a:srgbClr val="C00000"/>
                </a:solidFill>
              </a:rPr>
              <a:t>doivent</a:t>
            </a:r>
            <a:r>
              <a:rPr lang="fr-BE" sz="2800" dirty="0"/>
              <a:t> contrôler la </a:t>
            </a:r>
            <a:r>
              <a:rPr lang="fr-BE" sz="2800" b="1" u="sng" dirty="0"/>
              <a:t>nationalité</a:t>
            </a:r>
            <a:r>
              <a:rPr lang="fr-BE" sz="2800" dirty="0"/>
              <a:t>, l’</a:t>
            </a:r>
            <a:r>
              <a:rPr lang="fr-BE" sz="2800" b="1" u="sng" dirty="0"/>
              <a:t>adresse</a:t>
            </a:r>
            <a:r>
              <a:rPr lang="fr-BE" sz="2800" dirty="0"/>
              <a:t> et la </a:t>
            </a:r>
            <a:r>
              <a:rPr lang="fr-BE" sz="2800" b="1" u="sng" dirty="0"/>
              <a:t>composition familiale  </a:t>
            </a:r>
            <a:r>
              <a:rPr lang="fr-BE" sz="2800" dirty="0"/>
              <a:t>de certains affiliés.</a:t>
            </a:r>
          </a:p>
          <a:p>
            <a:pPr marL="0" indent="0">
              <a:buNone/>
            </a:pPr>
            <a:r>
              <a:rPr lang="fr-BE" sz="2800" dirty="0"/>
              <a:t>Deux procédures:</a:t>
            </a:r>
          </a:p>
          <a:p>
            <a:pPr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Lors de la constitution d’un dossier, le contrôle de l’adresse et de la composition familiale s’effectuent via une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consultation REGIS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 (R-ELEC)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et le contrôler de la nationalité s’effectue au démarrage du wizard via une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consultation PIGS</a:t>
            </a:r>
          </a:p>
          <a:p>
            <a:pPr lvl="1" indent="-342900"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Traitement d’une notification de modification via la </a:t>
            </a:r>
            <a:r>
              <a:rPr lang="fr-BE" b="1" dirty="0">
                <a:solidFill>
                  <a:srgbClr val="C00000"/>
                </a:solidFill>
                <a:sym typeface="Wingdings" panose="05000000000000000000" pitchFamily="2" charset="2"/>
              </a:rPr>
              <a:t>notification REGIS 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(</a:t>
            </a:r>
            <a:r>
              <a:rPr lang="fr-BE" b="1" dirty="0">
                <a:solidFill>
                  <a:prstClr val="black"/>
                </a:solidFill>
                <a:sym typeface="Wingdings" panose="05000000000000000000" pitchFamily="2" charset="2"/>
              </a:rPr>
              <a:t>R-NOTIF</a:t>
            </a:r>
            <a:r>
              <a:rPr lang="fr-BE" dirty="0">
                <a:solidFill>
                  <a:prstClr val="black"/>
                </a:solidFill>
                <a:sym typeface="Wingdings" panose="05000000000000000000" pitchFamily="2" charset="2"/>
              </a:rPr>
              <a:t>)</a:t>
            </a: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73E9ABC-FF8D-4522-A90A-7B15EDCD9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3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216582"/>
      </p:ext>
    </p:extLst>
  </p:cSld>
  <p:clrMapOvr>
    <a:masterClrMapping/>
  </p:clrMapOvr>
  <p:transition>
    <p:dissolv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2. Consultation REGIS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lvl="0" indent="0">
              <a:spcBef>
                <a:spcPts val="600"/>
              </a:spcBef>
              <a:buNone/>
            </a:pPr>
            <a:r>
              <a:rPr lang="fr-BE" sz="3000" dirty="0">
                <a:solidFill>
                  <a:prstClr val="black"/>
                </a:solidFill>
              </a:rPr>
              <a:t>L’OP est dans l’</a:t>
            </a:r>
            <a:r>
              <a:rPr lang="fr-BE" sz="3000" b="1" dirty="0">
                <a:solidFill>
                  <a:srgbClr val="C00000"/>
                </a:solidFill>
              </a:rPr>
              <a:t>obligation</a:t>
            </a:r>
            <a:r>
              <a:rPr lang="fr-BE" sz="3000" dirty="0">
                <a:solidFill>
                  <a:prstClr val="black"/>
                </a:solidFill>
              </a:rPr>
              <a:t> d’effectuer une </a:t>
            </a:r>
            <a:r>
              <a:rPr lang="fr-BE" sz="3000" b="1" u="sng" dirty="0">
                <a:solidFill>
                  <a:srgbClr val="C00000"/>
                </a:solidFill>
              </a:rPr>
              <a:t>consultation REGIS</a:t>
            </a:r>
            <a:r>
              <a:rPr lang="fr-BE" sz="3000" b="1" dirty="0">
                <a:solidFill>
                  <a:srgbClr val="C00000"/>
                </a:solidFill>
              </a:rPr>
              <a:t> </a:t>
            </a:r>
            <a:r>
              <a:rPr lang="fr-BE" sz="3000" dirty="0">
                <a:solidFill>
                  <a:prstClr val="black"/>
                </a:solidFill>
              </a:rPr>
              <a:t>et joindre ce flux électronique au dossier </a:t>
            </a:r>
            <a:r>
              <a:rPr lang="fr-BE" sz="2400" dirty="0">
                <a:solidFill>
                  <a:prstClr val="black"/>
                </a:solidFill>
              </a:rPr>
              <a:t>(R-ELEC) </a:t>
            </a:r>
            <a:r>
              <a:rPr lang="fr-BE" sz="3000" dirty="0">
                <a:solidFill>
                  <a:prstClr val="black"/>
                </a:solidFill>
              </a:rPr>
              <a:t>pour les </a:t>
            </a:r>
            <a:r>
              <a:rPr lang="fr-BE" sz="3000" b="1" dirty="0">
                <a:solidFill>
                  <a:prstClr val="black"/>
                </a:solidFill>
              </a:rPr>
              <a:t>demandes de CC </a:t>
            </a:r>
            <a:r>
              <a:rPr lang="fr-BE" sz="2400" dirty="0">
                <a:solidFill>
                  <a:prstClr val="black"/>
                </a:solidFill>
              </a:rPr>
              <a:t>(y compris RCC &amp; TTPMD)</a:t>
            </a:r>
            <a:r>
              <a:rPr lang="fr-BE" sz="3000" dirty="0">
                <a:solidFill>
                  <a:prstClr val="black"/>
                </a:solidFill>
              </a:rPr>
              <a:t> contenant un </a:t>
            </a:r>
            <a:r>
              <a:rPr lang="fr-BE" sz="3000" b="1" u="sng" dirty="0">
                <a:solidFill>
                  <a:prstClr val="black"/>
                </a:solidFill>
              </a:rPr>
              <a:t>formulaire C1</a:t>
            </a:r>
            <a:r>
              <a:rPr lang="fr-BE" sz="3000" dirty="0">
                <a:solidFill>
                  <a:prstClr val="black"/>
                </a:solidFill>
              </a:rPr>
              <a:t>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2000" dirty="0">
              <a:solidFill>
                <a:prstClr val="black"/>
              </a:solidFill>
              <a:sym typeface="Wingdings" panose="05000000000000000000" pitchFamily="2" charset="2"/>
            </a:endParaRP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Comparaison de l’adresse et de la composition familiale entre nos données (Horizon) et les données reprises dans REGIS (registre de la commune)</a:t>
            </a:r>
          </a:p>
          <a:p>
            <a:pPr lvl="0">
              <a:spcBef>
                <a:spcPts val="600"/>
              </a:spcBef>
              <a:buFont typeface="Wingdings" panose="05000000000000000000" pitchFamily="2" charset="2"/>
              <a:buChar char="è"/>
            </a:pPr>
            <a:r>
              <a:rPr lang="fr-BE" sz="3000" dirty="0">
                <a:solidFill>
                  <a:prstClr val="black"/>
                </a:solidFill>
                <a:sym typeface="Wingdings" panose="05000000000000000000" pitchFamily="2" charset="2"/>
              </a:rPr>
              <a:t>Comparaison de la nationalité entre notre donnée (horizon) et la donnée reprise dans PIGS</a:t>
            </a:r>
            <a:endParaRPr lang="fr-BE" sz="1800" dirty="0">
              <a:solidFill>
                <a:prstClr val="black"/>
              </a:solidFill>
            </a:endParaRPr>
          </a:p>
          <a:p>
            <a:pPr marL="0" indent="0">
              <a:buNone/>
            </a:pPr>
            <a:endParaRPr lang="fr-BE" sz="1800" dirty="0"/>
          </a:p>
        </p:txBody>
      </p:sp>
      <p:sp>
        <p:nvSpPr>
          <p:cNvPr id="2" name="Espace réservé du numéro de diapositive 1">
            <a:extLst>
              <a:ext uri="{FF2B5EF4-FFF2-40B4-BE49-F238E27FC236}">
                <a16:creationId xmlns:a16="http://schemas.microsoft.com/office/drawing/2014/main" id="{45AFB909-1097-47A3-9401-FEEDF0315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4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63887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2. Consultation REGIS </a:t>
            </a:r>
            <a:endParaRPr lang="fr-BE" sz="40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fr-BE" dirty="0"/>
              <a:t>		    </a:t>
            </a:r>
          </a:p>
          <a:p>
            <a:pPr marL="0" indent="0">
              <a:buNone/>
            </a:pPr>
            <a:endParaRPr lang="fr-BE" dirty="0"/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D1C59AB-8233-49A4-8FE0-E2287FAE8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5</a:t>
            </a:fld>
            <a:endParaRPr lang="fr-FR" dirty="0"/>
          </a:p>
        </p:txBody>
      </p:sp>
      <p:sp>
        <p:nvSpPr>
          <p:cNvPr id="7" name="ZoneTexte 6"/>
          <p:cNvSpPr txBox="1"/>
          <p:nvPr/>
        </p:nvSpPr>
        <p:spPr>
          <a:xfrm>
            <a:off x="295132" y="3010743"/>
            <a:ext cx="1648576" cy="8309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fr-BE" sz="2400" b="1" dirty="0"/>
              <a:t>C1 = Regis/PIGS</a:t>
            </a:r>
          </a:p>
        </p:txBody>
      </p:sp>
      <p:sp>
        <p:nvSpPr>
          <p:cNvPr id="8" name="ZoneTexte 7"/>
          <p:cNvSpPr txBox="1"/>
          <p:nvPr/>
        </p:nvSpPr>
        <p:spPr>
          <a:xfrm>
            <a:off x="2059328" y="2996952"/>
            <a:ext cx="3297152" cy="2308324"/>
          </a:xfrm>
          <a:prstGeom prst="rect">
            <a:avLst/>
          </a:prstGeom>
          <a:solidFill>
            <a:schemeClr val="bg2">
              <a:lumMod val="90000"/>
            </a:schemeClr>
          </a:solidFill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/>
              <a:t>C1 ≠ Regis/PIGS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Prise de contact avec notre affilié.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Adaptation des données dans Hz.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C1 = Regis</a:t>
            </a:r>
            <a:endParaRPr lang="fr-BE" sz="2400" dirty="0"/>
          </a:p>
        </p:txBody>
      </p:sp>
      <p:cxnSp>
        <p:nvCxnSpPr>
          <p:cNvPr id="11" name="Connecteur droit 10"/>
          <p:cNvCxnSpPr>
            <a:cxnSpLocks/>
            <a:stCxn id="22" idx="2"/>
            <a:endCxn id="7" idx="0"/>
          </p:cNvCxnSpPr>
          <p:nvPr/>
        </p:nvCxnSpPr>
        <p:spPr>
          <a:xfrm flipH="1">
            <a:off x="1119420" y="2048074"/>
            <a:ext cx="3164548" cy="962669"/>
          </a:xfrm>
          <a:prstGeom prst="line">
            <a:avLst/>
          </a:prstGeom>
          <a:ln w="254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>
            <a:cxnSpLocks/>
            <a:stCxn id="22" idx="2"/>
            <a:endCxn id="8" idx="0"/>
          </p:cNvCxnSpPr>
          <p:nvPr/>
        </p:nvCxnSpPr>
        <p:spPr>
          <a:xfrm flipH="1">
            <a:off x="3707904" y="2048074"/>
            <a:ext cx="576064" cy="948878"/>
          </a:xfrm>
          <a:prstGeom prst="line">
            <a:avLst/>
          </a:prstGeom>
          <a:ln w="254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eur droit 14"/>
          <p:cNvCxnSpPr>
            <a:cxnSpLocks/>
            <a:stCxn id="22" idx="2"/>
            <a:endCxn id="16" idx="0"/>
          </p:cNvCxnSpPr>
          <p:nvPr/>
        </p:nvCxnSpPr>
        <p:spPr>
          <a:xfrm>
            <a:off x="4283968" y="2048074"/>
            <a:ext cx="2836708" cy="962669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ZoneTexte 21"/>
          <p:cNvSpPr txBox="1"/>
          <p:nvPr/>
        </p:nvSpPr>
        <p:spPr>
          <a:xfrm>
            <a:off x="3131840" y="1586409"/>
            <a:ext cx="2304256" cy="46166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2400" dirty="0"/>
              <a:t>3 Situations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5F2924B-758F-4005-B626-B6A8672A134F}"/>
              </a:ext>
            </a:extLst>
          </p:cNvPr>
          <p:cNvSpPr txBox="1"/>
          <p:nvPr/>
        </p:nvSpPr>
        <p:spPr>
          <a:xfrm>
            <a:off x="5472100" y="3010743"/>
            <a:ext cx="3297152" cy="304698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>
            <a:solidFill>
              <a:srgbClr val="C0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fr-BE" sz="2400" b="1" dirty="0"/>
              <a:t>C1 ≠ Regis/PIGS 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Prise de contact avec notre affilié.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Pas de changement dans la déclaration.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Justificatif obligatoire.</a:t>
            </a:r>
          </a:p>
          <a:p>
            <a:r>
              <a:rPr lang="fr-BE" sz="2000" dirty="0">
                <a:sym typeface="Wingdings" panose="05000000000000000000" pitchFamily="2" charset="2"/>
              </a:rPr>
              <a:t></a:t>
            </a:r>
            <a:r>
              <a:rPr lang="fr-BE" sz="2400" dirty="0">
                <a:sym typeface="Wingdings" panose="05000000000000000000" pitchFamily="2" charset="2"/>
              </a:rPr>
              <a:t> C1 ≠ Regis mais envoi d’un </a:t>
            </a:r>
            <a:r>
              <a:rPr lang="fr-BE" sz="2400" b="1" dirty="0">
                <a:solidFill>
                  <a:srgbClr val="C00000"/>
                </a:solidFill>
                <a:sym typeface="Wingdings" panose="05000000000000000000" pitchFamily="2" charset="2"/>
              </a:rPr>
              <a:t>C1 annexe-REGIS</a:t>
            </a:r>
            <a:endParaRPr lang="fr-BE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9688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 Notification REGIS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spcBef>
                <a:spcPts val="600"/>
              </a:spcBef>
              <a:buNone/>
            </a:pPr>
            <a:r>
              <a:rPr lang="fr-BE" sz="3000" dirty="0">
                <a:solidFill>
                  <a:prstClr val="black"/>
                </a:solidFill>
              </a:rPr>
              <a:t>L’OP est dans l’</a:t>
            </a:r>
            <a:r>
              <a:rPr lang="fr-BE" sz="3000" b="1" dirty="0">
                <a:solidFill>
                  <a:srgbClr val="C00000"/>
                </a:solidFill>
              </a:rPr>
              <a:t>obligation</a:t>
            </a:r>
            <a:r>
              <a:rPr lang="fr-BE" sz="3000" dirty="0">
                <a:solidFill>
                  <a:prstClr val="black"/>
                </a:solidFill>
              </a:rPr>
              <a:t> de </a:t>
            </a:r>
            <a:r>
              <a:rPr lang="fr-BE" sz="3000" b="1" dirty="0">
                <a:solidFill>
                  <a:prstClr val="black"/>
                </a:solidFill>
              </a:rPr>
              <a:t>traiter </a:t>
            </a:r>
            <a:r>
              <a:rPr lang="fr-BE" sz="3000" dirty="0">
                <a:solidFill>
                  <a:prstClr val="black"/>
                </a:solidFill>
              </a:rPr>
              <a:t>toutes les </a:t>
            </a:r>
            <a:r>
              <a:rPr lang="fr-BE" sz="3000" b="1" u="sng" dirty="0">
                <a:solidFill>
                  <a:srgbClr val="C00000"/>
                </a:solidFill>
              </a:rPr>
              <a:t>notifications REGIS</a:t>
            </a:r>
            <a:r>
              <a:rPr lang="fr-BE" sz="3000" b="1" dirty="0">
                <a:solidFill>
                  <a:srgbClr val="C00000"/>
                </a:solidFill>
              </a:rPr>
              <a:t> </a:t>
            </a:r>
            <a:r>
              <a:rPr lang="fr-BE" sz="3000" dirty="0"/>
              <a:t>(R-NOTIF) </a:t>
            </a:r>
            <a:r>
              <a:rPr lang="fr-BE" sz="3000" b="1" dirty="0">
                <a:solidFill>
                  <a:prstClr val="black"/>
                </a:solidFill>
              </a:rPr>
              <a:t>réceptionnées au cours d’un mois pour lequel </a:t>
            </a:r>
            <a:r>
              <a:rPr lang="fr-BE" sz="3000" dirty="0">
                <a:solidFill>
                  <a:prstClr val="black"/>
                </a:solidFill>
              </a:rPr>
              <a:t>l’intéressé </a:t>
            </a:r>
            <a:r>
              <a:rPr lang="fr-BE" sz="3000" b="1" dirty="0">
                <a:solidFill>
                  <a:prstClr val="black"/>
                </a:solidFill>
              </a:rPr>
              <a:t>sollicite des allocations de CC </a:t>
            </a:r>
            <a:r>
              <a:rPr lang="fr-BE" sz="3000" dirty="0">
                <a:solidFill>
                  <a:prstClr val="black"/>
                </a:solidFill>
              </a:rPr>
              <a:t>(y compris AGR &amp; RCC).</a:t>
            </a:r>
          </a:p>
          <a:p>
            <a:pPr marL="0" lvl="0" indent="0">
              <a:spcBef>
                <a:spcPts val="600"/>
              </a:spcBef>
              <a:buNone/>
            </a:pPr>
            <a:endParaRPr lang="fr-BE" sz="2000" dirty="0">
              <a:solidFill>
                <a:prstClr val="black"/>
              </a:solidFill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fr-BE" sz="3000" i="1" dirty="0"/>
              <a:t>Si la notification REGIS n’est pas traitée, cela n’empêche pas le paiement d’allocations pour ce mois et ayant trait à une période antérieure à la date de l’événement modificatif faisant l’objet de la notification.</a:t>
            </a:r>
            <a:endParaRPr lang="fr-BE" sz="3000" i="1" dirty="0">
              <a:solidFill>
                <a:prstClr val="black"/>
              </a:solidFill>
            </a:endParaRPr>
          </a:p>
          <a:p>
            <a:pPr marL="0" lvl="0" indent="0">
              <a:spcBef>
                <a:spcPts val="600"/>
              </a:spcBef>
              <a:buNone/>
            </a:pPr>
            <a:endParaRPr lang="fr-BE" sz="3000" dirty="0">
              <a:solidFill>
                <a:prstClr val="black"/>
              </a:solidFill>
            </a:endParaRP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0205FD-49B1-4402-9F1A-C7914CBD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597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r"/>
            <a:r>
              <a:rPr lang="fr-BE" b="1" i="1" dirty="0"/>
              <a:t>3.1. R-Notif &amp; incidence règl.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b="1" u="sng" dirty="0">
                <a:sym typeface="Wingdings" panose="05000000000000000000" pitchFamily="2" charset="2"/>
              </a:rPr>
              <a:t>Notification REGIS – Nationalité</a:t>
            </a:r>
          </a:p>
          <a:p>
            <a:pPr marL="0" indent="0">
              <a:spcBef>
                <a:spcPts val="600"/>
              </a:spcBef>
              <a:buNone/>
            </a:pPr>
            <a:endParaRPr lang="fr-BE" sz="600" b="1" i="1" u="sng" dirty="0"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Incidence règlementaire :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Nationalité UE </a:t>
            </a: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Nationalité hors UE.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Nationalité hors UE </a:t>
            </a: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Nationalité UE.</a:t>
            </a:r>
          </a:p>
          <a:p>
            <a:pPr marL="538163" indent="0">
              <a:spcBef>
                <a:spcPts val="600"/>
              </a:spcBef>
              <a:buNone/>
            </a:pPr>
            <a:endParaRPr lang="fr-BE" sz="600" dirty="0"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Sans incidence règlementaire :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Nationalité UE </a:t>
            </a: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Autre nationalité UE.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Nationalité hors UE </a:t>
            </a:r>
            <a:r>
              <a:rPr lang="fr-BE" sz="2400" dirty="0">
                <a:sym typeface="Wingdings" panose="05000000000000000000" pitchFamily="2" charset="2"/>
              </a:rPr>
              <a:t></a:t>
            </a:r>
            <a:r>
              <a:rPr lang="fr-BE" sz="3000" dirty="0">
                <a:sym typeface="Wingdings" panose="05000000000000000000" pitchFamily="2" charset="2"/>
              </a:rPr>
              <a:t> Autre nationalité hors UE.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B203040-6548-4AC9-A9C1-FCAB2C57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7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09159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solidFill>
                  <a:prstClr val="black"/>
                </a:solidFill>
              </a:rPr>
              <a:t>3.1. R-Notif &amp; incidence règl.</a:t>
            </a:r>
            <a:endParaRPr lang="fr-BE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fr-BE" sz="3000" b="1" u="sng" dirty="0">
                <a:sym typeface="Wingdings" panose="05000000000000000000" pitchFamily="2" charset="2"/>
              </a:rPr>
              <a:t>Notification REGIS – Adresse</a:t>
            </a:r>
          </a:p>
          <a:p>
            <a:pPr marL="0" indent="0">
              <a:spcBef>
                <a:spcPts val="600"/>
              </a:spcBef>
              <a:buNone/>
            </a:pPr>
            <a:endParaRPr lang="fr-BE" sz="2000" dirty="0">
              <a:sym typeface="Wingdings" panose="05000000000000000000" pitchFamily="2" charset="2"/>
            </a:endParaRPr>
          </a:p>
          <a:p>
            <a:pPr>
              <a:spcBef>
                <a:spcPts val="600"/>
              </a:spcBef>
              <a:buFont typeface="Wingdings" panose="05000000000000000000" pitchFamily="2" charset="2"/>
              <a:buChar char="§"/>
            </a:pPr>
            <a:r>
              <a:rPr lang="fr-BE" sz="3000" dirty="0">
                <a:sym typeface="Wingdings" panose="05000000000000000000" pitchFamily="2" charset="2"/>
              </a:rPr>
              <a:t>Toujours considéré comme ayant une </a:t>
            </a:r>
            <a:r>
              <a:rPr lang="fr-BE" sz="3000" b="1" dirty="0">
                <a:sym typeface="Wingdings" panose="05000000000000000000" pitchFamily="2" charset="2"/>
              </a:rPr>
              <a:t>incidence règlementaire.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4DDB5A-C2D5-420A-8BB5-3B37C4C8F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8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496560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>
                <a:solidFill>
                  <a:prstClr val="black"/>
                </a:solidFill>
              </a:rPr>
              <a:t>3.1. R-Notif &amp; incidence règl.</a:t>
            </a:r>
            <a:endParaRPr lang="fr-BE" b="1" i="1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fr-BE" sz="3000" b="1" u="sng" dirty="0">
                <a:sym typeface="Wingdings" panose="05000000000000000000" pitchFamily="2" charset="2"/>
              </a:rPr>
              <a:t>Notification REGIS – Composition familiale</a:t>
            </a:r>
          </a:p>
          <a:p>
            <a:pPr marL="0" indent="0">
              <a:buNone/>
            </a:pPr>
            <a:endParaRPr lang="fr-BE" sz="600" b="1" u="sng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Incidence règlementaire :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Changement de situation familiale.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Code A : avec changement de sous-catégorie ou de droit constaté vis-à-vis d’une autre personne.</a:t>
            </a:r>
          </a:p>
          <a:p>
            <a:pPr marL="261938" indent="0">
              <a:spcBef>
                <a:spcPts val="600"/>
              </a:spcBef>
              <a:buNone/>
            </a:pPr>
            <a:endParaRPr lang="fr-BE" sz="600" dirty="0">
              <a:sym typeface="Wingdings" panose="05000000000000000000" pitchFamily="2" charset="2"/>
            </a:endParaRPr>
          </a:p>
          <a:p>
            <a:pPr>
              <a:buFont typeface="Wingdings" panose="05000000000000000000" pitchFamily="2" charset="2"/>
              <a:buChar char="§"/>
            </a:pPr>
            <a:r>
              <a:rPr lang="fr-BE" sz="3000" b="1" dirty="0">
                <a:sym typeface="Wingdings" panose="05000000000000000000" pitchFamily="2" charset="2"/>
              </a:rPr>
              <a:t>Sans incidence règlementaire :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Code A : sans changement de sous-catégorie.</a:t>
            </a:r>
          </a:p>
          <a:p>
            <a:pPr marL="719138" indent="-457200">
              <a:spcBef>
                <a:spcPts val="600"/>
              </a:spcBef>
              <a:buFont typeface="Wingdings" panose="05000000000000000000" pitchFamily="2" charset="2"/>
              <a:buChar char="ü"/>
            </a:pPr>
            <a:r>
              <a:rPr lang="fr-BE" sz="3000" dirty="0">
                <a:sym typeface="Wingdings" panose="05000000000000000000" pitchFamily="2" charset="2"/>
              </a:rPr>
              <a:t>Code B : changement sans passage A ou N.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A76D0F4-DF79-4EC8-9B25-D5A00BE9A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9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62246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fr-BE" b="1" i="1" dirty="0"/>
              <a:t>3.2. Analyse R-Notif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E0205FD-49B1-4402-9F1A-C7914CBDBD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E9056B-6A30-4F99-BDE9-C450E66AE125}" type="slidenum">
              <a:rPr lang="fr-FR" smtClean="0"/>
              <a:pPr/>
              <a:t>10</a:t>
            </a:fld>
            <a:endParaRPr lang="fr-FR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B01243-1348-4E64-8773-771300F3C28E}"/>
              </a:ext>
            </a:extLst>
          </p:cNvPr>
          <p:cNvSpPr/>
          <p:nvPr/>
        </p:nvSpPr>
        <p:spPr>
          <a:xfrm>
            <a:off x="457200" y="1398362"/>
            <a:ext cx="6635080" cy="114212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u="sng" dirty="0">
                <a:solidFill>
                  <a:schemeClr val="tx1"/>
                </a:solidFill>
              </a:rPr>
              <a:t>1</a:t>
            </a:r>
            <a:r>
              <a:rPr lang="fr-BE" sz="2200" u="sng" baseline="30000" dirty="0">
                <a:solidFill>
                  <a:schemeClr val="tx1"/>
                </a:solidFill>
              </a:rPr>
              <a:t>ère</a:t>
            </a:r>
            <a:r>
              <a:rPr lang="fr-BE" sz="2200" u="sng" dirty="0">
                <a:solidFill>
                  <a:schemeClr val="tx1"/>
                </a:solidFill>
              </a:rPr>
              <a:t> question</a:t>
            </a:r>
            <a:r>
              <a:rPr lang="fr-BE" sz="2200" dirty="0">
                <a:solidFill>
                  <a:schemeClr val="tx1"/>
                </a:solidFill>
              </a:rPr>
              <a:t> : Est-ce que notre affilié </a:t>
            </a:r>
            <a:r>
              <a:rPr lang="fr-BE" sz="2200" b="1" dirty="0">
                <a:solidFill>
                  <a:schemeClr val="tx1"/>
                </a:solidFill>
              </a:rPr>
              <a:t>sollicite du chômage complet </a:t>
            </a:r>
            <a:r>
              <a:rPr lang="fr-BE" sz="2200" dirty="0">
                <a:solidFill>
                  <a:schemeClr val="tx1"/>
                </a:solidFill>
              </a:rPr>
              <a:t>(AGR ou RCC) </a:t>
            </a:r>
            <a:r>
              <a:rPr lang="fr-BE" sz="2200" b="1" dirty="0">
                <a:solidFill>
                  <a:schemeClr val="tx1"/>
                </a:solidFill>
              </a:rPr>
              <a:t>le mois au cours duquel nous réceptionnons la notification REGIS ?</a:t>
            </a:r>
          </a:p>
        </p:txBody>
      </p:sp>
      <p:cxnSp>
        <p:nvCxnSpPr>
          <p:cNvPr id="8" name="Connecteur droit avec flèche 7">
            <a:extLst>
              <a:ext uri="{FF2B5EF4-FFF2-40B4-BE49-F238E27FC236}">
                <a16:creationId xmlns:a16="http://schemas.microsoft.com/office/drawing/2014/main" id="{24D9750A-2B03-4F2B-A0CA-20DF40E26CE9}"/>
              </a:ext>
            </a:extLst>
          </p:cNvPr>
          <p:cNvCxnSpPr>
            <a:cxnSpLocks/>
            <a:stCxn id="5" idx="2"/>
            <a:endCxn id="11" idx="6"/>
          </p:cNvCxnSpPr>
          <p:nvPr/>
        </p:nvCxnSpPr>
        <p:spPr>
          <a:xfrm flipH="1">
            <a:off x="1691904" y="2540483"/>
            <a:ext cx="2082836" cy="6925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Ellipse 10">
            <a:extLst>
              <a:ext uri="{FF2B5EF4-FFF2-40B4-BE49-F238E27FC236}">
                <a16:creationId xmlns:a16="http://schemas.microsoft.com/office/drawing/2014/main" id="{E02C5988-5691-41C0-8107-EEBA2A78825E}"/>
              </a:ext>
            </a:extLst>
          </p:cNvPr>
          <p:cNvSpPr/>
          <p:nvPr/>
        </p:nvSpPr>
        <p:spPr>
          <a:xfrm>
            <a:off x="777504" y="3027432"/>
            <a:ext cx="914400" cy="41113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Non</a:t>
            </a: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65225F23-EEF4-40B0-9C2C-884CD114952E}"/>
              </a:ext>
            </a:extLst>
          </p:cNvPr>
          <p:cNvCxnSpPr>
            <a:cxnSpLocks/>
            <a:stCxn id="5" idx="2"/>
            <a:endCxn id="19" idx="2"/>
          </p:cNvCxnSpPr>
          <p:nvPr/>
        </p:nvCxnSpPr>
        <p:spPr>
          <a:xfrm>
            <a:off x="3774740" y="2540483"/>
            <a:ext cx="1561299" cy="54363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Ellipse 18">
            <a:extLst>
              <a:ext uri="{FF2B5EF4-FFF2-40B4-BE49-F238E27FC236}">
                <a16:creationId xmlns:a16="http://schemas.microsoft.com/office/drawing/2014/main" id="{20ABE631-9617-4083-8B89-87C8EAE83259}"/>
              </a:ext>
            </a:extLst>
          </p:cNvPr>
          <p:cNvSpPr/>
          <p:nvPr/>
        </p:nvSpPr>
        <p:spPr>
          <a:xfrm>
            <a:off x="5336039" y="2878547"/>
            <a:ext cx="914400" cy="4111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Oui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BC037914-C927-41F8-8A84-11B8E6D20D87}"/>
              </a:ext>
            </a:extLst>
          </p:cNvPr>
          <p:cNvCxnSpPr>
            <a:cxnSpLocks/>
          </p:cNvCxnSpPr>
          <p:nvPr/>
        </p:nvCxnSpPr>
        <p:spPr>
          <a:xfrm>
            <a:off x="1234704" y="3450570"/>
            <a:ext cx="0" cy="27918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FFD027C9-01D3-45CF-8AB3-74608FDFA970}"/>
              </a:ext>
            </a:extLst>
          </p:cNvPr>
          <p:cNvSpPr/>
          <p:nvPr/>
        </p:nvSpPr>
        <p:spPr>
          <a:xfrm>
            <a:off x="277009" y="3729751"/>
            <a:ext cx="1952058" cy="692516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tx1"/>
                </a:solidFill>
              </a:rPr>
              <a:t>Surpression </a:t>
            </a:r>
          </a:p>
          <a:p>
            <a:pPr algn="ctr"/>
            <a:r>
              <a:rPr lang="fr-BE" sz="2000" b="1" dirty="0">
                <a:solidFill>
                  <a:schemeClr val="tx1"/>
                </a:solidFill>
              </a:rPr>
              <a:t>R-Notif </a:t>
            </a:r>
            <a:r>
              <a:rPr lang="fr-BE" sz="2000" dirty="0">
                <a:solidFill>
                  <a:schemeClr val="tx1"/>
                </a:solidFill>
              </a:rPr>
              <a:t>(tâche).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553C863-5FF1-49F1-87D8-FF5F6AC21C6E}"/>
              </a:ext>
            </a:extLst>
          </p:cNvPr>
          <p:cNvSpPr/>
          <p:nvPr/>
        </p:nvSpPr>
        <p:spPr>
          <a:xfrm>
            <a:off x="2549067" y="3521428"/>
            <a:ext cx="6488344" cy="114300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200" u="sng" dirty="0">
                <a:solidFill>
                  <a:schemeClr val="tx1"/>
                </a:solidFill>
              </a:rPr>
              <a:t>2</a:t>
            </a:r>
            <a:r>
              <a:rPr lang="fr-BE" sz="2200" u="sng" baseline="30000" dirty="0">
                <a:solidFill>
                  <a:schemeClr val="tx1"/>
                </a:solidFill>
              </a:rPr>
              <a:t>ème</a:t>
            </a:r>
            <a:r>
              <a:rPr lang="fr-BE" sz="2200" u="sng" dirty="0">
                <a:solidFill>
                  <a:schemeClr val="tx1"/>
                </a:solidFill>
              </a:rPr>
              <a:t> question </a:t>
            </a:r>
            <a:r>
              <a:rPr lang="fr-BE" sz="2200" dirty="0">
                <a:solidFill>
                  <a:schemeClr val="tx1"/>
                </a:solidFill>
              </a:rPr>
              <a:t>: Est-ce que les </a:t>
            </a:r>
            <a:r>
              <a:rPr lang="fr-BE" sz="2200" b="1" dirty="0">
                <a:solidFill>
                  <a:schemeClr val="tx1"/>
                </a:solidFill>
              </a:rPr>
              <a:t>différences</a:t>
            </a:r>
            <a:r>
              <a:rPr lang="fr-BE" sz="2200" dirty="0">
                <a:solidFill>
                  <a:schemeClr val="tx1"/>
                </a:solidFill>
              </a:rPr>
              <a:t> entre les </a:t>
            </a:r>
            <a:r>
              <a:rPr lang="fr-BE" sz="2200" b="1" dirty="0">
                <a:solidFill>
                  <a:schemeClr val="tx1"/>
                </a:solidFill>
              </a:rPr>
              <a:t>données REGIS &amp; Horizon</a:t>
            </a:r>
            <a:r>
              <a:rPr lang="fr-BE" sz="2200" dirty="0">
                <a:solidFill>
                  <a:schemeClr val="tx1"/>
                </a:solidFill>
              </a:rPr>
              <a:t> ont une </a:t>
            </a:r>
            <a:r>
              <a:rPr lang="fr-BE" sz="2200" b="1" dirty="0">
                <a:solidFill>
                  <a:schemeClr val="tx1"/>
                </a:solidFill>
              </a:rPr>
              <a:t>incidence règlementaire ?</a:t>
            </a:r>
          </a:p>
        </p:txBody>
      </p: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78937942-4A72-44FE-8A81-E67D02B2CD31}"/>
              </a:ext>
            </a:extLst>
          </p:cNvPr>
          <p:cNvCxnSpPr>
            <a:cxnSpLocks/>
            <a:endCxn id="25" idx="0"/>
          </p:cNvCxnSpPr>
          <p:nvPr/>
        </p:nvCxnSpPr>
        <p:spPr>
          <a:xfrm>
            <a:off x="5793239" y="3289679"/>
            <a:ext cx="0" cy="23174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9D972D8A-E10E-46E8-BE3E-102C844D3190}"/>
              </a:ext>
            </a:extLst>
          </p:cNvPr>
          <p:cNvCxnSpPr>
            <a:cxnSpLocks/>
            <a:stCxn id="25" idx="2"/>
            <a:endCxn id="38" idx="6"/>
          </p:cNvCxnSpPr>
          <p:nvPr/>
        </p:nvCxnSpPr>
        <p:spPr>
          <a:xfrm flipH="1">
            <a:off x="3117077" y="4664429"/>
            <a:ext cx="2676162" cy="46015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Ellipse 37">
            <a:extLst>
              <a:ext uri="{FF2B5EF4-FFF2-40B4-BE49-F238E27FC236}">
                <a16:creationId xmlns:a16="http://schemas.microsoft.com/office/drawing/2014/main" id="{B7EC1977-F07A-44E1-979E-2223BA9EB9A6}"/>
              </a:ext>
            </a:extLst>
          </p:cNvPr>
          <p:cNvSpPr/>
          <p:nvPr/>
        </p:nvSpPr>
        <p:spPr>
          <a:xfrm>
            <a:off x="2202677" y="4919019"/>
            <a:ext cx="914400" cy="411133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rgbClr val="008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Non</a:t>
            </a:r>
          </a:p>
        </p:txBody>
      </p:sp>
      <p:cxnSp>
        <p:nvCxnSpPr>
          <p:cNvPr id="39" name="Connecteur droit avec flèche 38">
            <a:extLst>
              <a:ext uri="{FF2B5EF4-FFF2-40B4-BE49-F238E27FC236}">
                <a16:creationId xmlns:a16="http://schemas.microsoft.com/office/drawing/2014/main" id="{86AA2C3A-22BB-4682-BB00-81BB854B7C36}"/>
              </a:ext>
            </a:extLst>
          </p:cNvPr>
          <p:cNvCxnSpPr>
            <a:cxnSpLocks/>
            <a:stCxn id="25" idx="2"/>
            <a:endCxn id="40" idx="2"/>
          </p:cNvCxnSpPr>
          <p:nvPr/>
        </p:nvCxnSpPr>
        <p:spPr>
          <a:xfrm>
            <a:off x="5793239" y="4664429"/>
            <a:ext cx="682317" cy="4563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Ellipse 39">
            <a:extLst>
              <a:ext uri="{FF2B5EF4-FFF2-40B4-BE49-F238E27FC236}">
                <a16:creationId xmlns:a16="http://schemas.microsoft.com/office/drawing/2014/main" id="{339E76A2-D641-4695-8786-D53BC54F4C00}"/>
              </a:ext>
            </a:extLst>
          </p:cNvPr>
          <p:cNvSpPr/>
          <p:nvPr/>
        </p:nvSpPr>
        <p:spPr>
          <a:xfrm>
            <a:off x="6475556" y="4915244"/>
            <a:ext cx="914400" cy="411133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dirty="0">
                <a:solidFill>
                  <a:schemeClr val="tx1"/>
                </a:solidFill>
              </a:rPr>
              <a:t>Oui</a:t>
            </a:r>
          </a:p>
        </p:txBody>
      </p: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D0FACFBF-884C-4803-BFE9-197CBF018F1C}"/>
              </a:ext>
            </a:extLst>
          </p:cNvPr>
          <p:cNvCxnSpPr>
            <a:cxnSpLocks/>
          </p:cNvCxnSpPr>
          <p:nvPr/>
        </p:nvCxnSpPr>
        <p:spPr>
          <a:xfrm>
            <a:off x="2656942" y="5326378"/>
            <a:ext cx="0" cy="41113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05E9B9E1-B7F2-4541-B701-10B878C3998A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6932756" y="5326377"/>
            <a:ext cx="8567" cy="41113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E861EC93-13FF-4F6A-B115-670CC1A7ECBB}"/>
              </a:ext>
            </a:extLst>
          </p:cNvPr>
          <p:cNvSpPr/>
          <p:nvPr/>
        </p:nvSpPr>
        <p:spPr>
          <a:xfrm>
            <a:off x="726158" y="5725675"/>
            <a:ext cx="3783085" cy="660693"/>
          </a:xfrm>
          <a:prstGeom prst="roundRect">
            <a:avLst/>
          </a:prstGeom>
          <a:solidFill>
            <a:srgbClr val="FFDB69"/>
          </a:solidFill>
          <a:ln>
            <a:solidFill>
              <a:srgbClr val="FF993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tx1"/>
                </a:solidFill>
              </a:rPr>
              <a:t>Script 0.2 avec la R-Notif et envoi en type C9 450, 480 ou 49A.</a:t>
            </a:r>
          </a:p>
        </p:txBody>
      </p:sp>
      <p:sp>
        <p:nvSpPr>
          <p:cNvPr id="44" name="Rectangle : coins arrondis 43">
            <a:extLst>
              <a:ext uri="{FF2B5EF4-FFF2-40B4-BE49-F238E27FC236}">
                <a16:creationId xmlns:a16="http://schemas.microsoft.com/office/drawing/2014/main" id="{E21D9A60-AF8A-4921-AF48-87C8648B080A}"/>
              </a:ext>
            </a:extLst>
          </p:cNvPr>
          <p:cNvSpPr/>
          <p:nvPr/>
        </p:nvSpPr>
        <p:spPr>
          <a:xfrm>
            <a:off x="4802196" y="5737511"/>
            <a:ext cx="4212000" cy="648858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BE" sz="2000" b="1" dirty="0">
                <a:solidFill>
                  <a:schemeClr val="tx1"/>
                </a:solidFill>
              </a:rPr>
              <a:t>Script 0.1 avec C1 + R-Elec + R-Notif</a:t>
            </a:r>
          </a:p>
          <a:p>
            <a:pPr algn="ctr"/>
            <a:r>
              <a:rPr lang="fr-BE" sz="2000" b="1" dirty="0">
                <a:solidFill>
                  <a:schemeClr val="tx1"/>
                </a:solidFill>
              </a:rPr>
              <a:t>et si nécessaire un C1 annexe-REGIS.</a:t>
            </a:r>
          </a:p>
        </p:txBody>
      </p:sp>
    </p:spTree>
    <p:extLst>
      <p:ext uri="{BB962C8B-B14F-4D97-AF65-F5344CB8AC3E}">
        <p14:creationId xmlns:p14="http://schemas.microsoft.com/office/powerpoint/2010/main" val="373372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Espace réservé du contenu 5">
            <a:extLst>
              <a:ext uri="{FF2B5EF4-FFF2-40B4-BE49-F238E27FC236}">
                <a16:creationId xmlns:a16="http://schemas.microsoft.com/office/drawing/2014/main" id="{79F77B63-5CE6-4B20-BA7F-551E4CBFA1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9912244"/>
              </p:ext>
            </p:extLst>
          </p:nvPr>
        </p:nvGraphicFramePr>
        <p:xfrm>
          <a:off x="0" y="0"/>
          <a:ext cx="9144001" cy="68580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1065651">
                  <a:extLst>
                    <a:ext uri="{9D8B030D-6E8A-4147-A177-3AD203B41FA5}">
                      <a16:colId xmlns:a16="http://schemas.microsoft.com/office/drawing/2014/main" val="3282807753"/>
                    </a:ext>
                  </a:extLst>
                </a:gridCol>
                <a:gridCol w="2756808">
                  <a:extLst>
                    <a:ext uri="{9D8B030D-6E8A-4147-A177-3AD203B41FA5}">
                      <a16:colId xmlns:a16="http://schemas.microsoft.com/office/drawing/2014/main" val="353047771"/>
                    </a:ext>
                  </a:extLst>
                </a:gridCol>
                <a:gridCol w="1119738">
                  <a:extLst>
                    <a:ext uri="{9D8B030D-6E8A-4147-A177-3AD203B41FA5}">
                      <a16:colId xmlns:a16="http://schemas.microsoft.com/office/drawing/2014/main" val="2919827421"/>
                    </a:ext>
                  </a:extLst>
                </a:gridCol>
                <a:gridCol w="1285987">
                  <a:extLst>
                    <a:ext uri="{9D8B030D-6E8A-4147-A177-3AD203B41FA5}">
                      <a16:colId xmlns:a16="http://schemas.microsoft.com/office/drawing/2014/main" val="4167271589"/>
                    </a:ext>
                  </a:extLst>
                </a:gridCol>
                <a:gridCol w="1512168">
                  <a:extLst>
                    <a:ext uri="{9D8B030D-6E8A-4147-A177-3AD203B41FA5}">
                      <a16:colId xmlns:a16="http://schemas.microsoft.com/office/drawing/2014/main" val="4284415460"/>
                    </a:ext>
                  </a:extLst>
                </a:gridCol>
                <a:gridCol w="1403649">
                  <a:extLst>
                    <a:ext uri="{9D8B030D-6E8A-4147-A177-3AD203B41FA5}">
                      <a16:colId xmlns:a16="http://schemas.microsoft.com/office/drawing/2014/main" val="3172068037"/>
                    </a:ext>
                  </a:extLst>
                </a:gridCol>
              </a:tblGrid>
              <a:tr h="939452">
                <a:tc gridSpan="2"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Type de notification REGIS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fr-B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Incidence règl.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rgbClr val="C00000"/>
                          </a:solidFill>
                        </a:rPr>
                        <a:t>Pas d’incidence règl.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R-Notif + C1 + R-Elec + …</a:t>
                      </a:r>
                    </a:p>
                    <a:p>
                      <a:pPr algn="ctr"/>
                      <a:r>
                        <a:rPr lang="fr-BE" dirty="0">
                          <a:solidFill>
                            <a:schemeClr val="tx1"/>
                          </a:solidFill>
                        </a:rPr>
                        <a:t>Type C9 …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>
                          <a:solidFill>
                            <a:srgbClr val="C00000"/>
                          </a:solidFill>
                        </a:rPr>
                        <a:t>R-Notif seule </a:t>
                      </a:r>
                    </a:p>
                    <a:p>
                      <a:pPr algn="ctr"/>
                      <a:r>
                        <a:rPr lang="fr-BE" dirty="0">
                          <a:solidFill>
                            <a:srgbClr val="C00000"/>
                          </a:solidFill>
                        </a:rPr>
                        <a:t>Type C9 …</a:t>
                      </a:r>
                    </a:p>
                  </a:txBody>
                  <a:tcPr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82759908"/>
                  </a:ext>
                </a:extLst>
              </a:tr>
              <a:tr h="375781">
                <a:tc rowSpan="4"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Nationalité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UE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Hors 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0561287"/>
                  </a:ext>
                </a:extLst>
              </a:tr>
              <a:tr h="375781">
                <a:tc vMerge="1"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UE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450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4730680"/>
                  </a:ext>
                </a:extLst>
              </a:tr>
              <a:tr h="375781">
                <a:tc vMerge="1"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Hors UE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490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237915"/>
                  </a:ext>
                </a:extLst>
              </a:tr>
              <a:tr h="375781">
                <a:tc vMerge="1"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Hors UE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fr-BE">
                          <a:sym typeface="Wingdings" panose="05000000000000000000" pitchFamily="2" charset="2"/>
                        </a:rPr>
                        <a:t>Hors UE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450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5634695"/>
                  </a:ext>
                </a:extLst>
              </a:tr>
              <a:tr h="375781"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Adresse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400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9799574"/>
                  </a:ext>
                </a:extLst>
              </a:tr>
              <a:tr h="1503123">
                <a:tc rowSpan="4"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Situation</a:t>
                      </a:r>
                      <a:r>
                        <a:rPr lang="fr-BE" dirty="0"/>
                        <a:t> </a:t>
                      </a:r>
                      <a:r>
                        <a:rPr lang="fr-BE" b="1" dirty="0"/>
                        <a:t>familiale</a:t>
                      </a:r>
                    </a:p>
                  </a:txBody>
                  <a:tcPr vert="vert27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A </a:t>
                      </a:r>
                    </a:p>
                    <a:p>
                      <a:pPr algn="ctr"/>
                      <a:r>
                        <a:rPr lang="fr-BE" dirty="0">
                          <a:sym typeface="Wingdings" panose="05000000000000000000" pitchFamily="2" charset="2"/>
                        </a:rPr>
                        <a:t>avec changement de sous catégorie familiale ou de la personne permettant l’octroi du statut A.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430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1339309"/>
                  </a:ext>
                </a:extLst>
              </a:tr>
              <a:tr h="1503123">
                <a:tc vMerge="1"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A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A </a:t>
                      </a:r>
                    </a:p>
                    <a:p>
                      <a:pPr algn="ctr"/>
                      <a:r>
                        <a:rPr lang="fr-BE" dirty="0">
                          <a:sym typeface="Wingdings" panose="05000000000000000000" pitchFamily="2" charset="2"/>
                        </a:rPr>
                        <a:t>Sans changement de sous catégorie familiale ou de la personne permettant l’octroi du statut A.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480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0875063"/>
                  </a:ext>
                </a:extLst>
              </a:tr>
              <a:tr h="375781">
                <a:tc vMerge="1"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B </a:t>
                      </a:r>
                      <a:r>
                        <a:rPr lang="fr-BE" sz="1600" dirty="0"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fr-BE" dirty="0">
                          <a:sym typeface="Wingdings" panose="05000000000000000000" pitchFamily="2" charset="2"/>
                        </a:rPr>
                        <a:t> B</a:t>
                      </a:r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>
                          <a:solidFill>
                            <a:srgbClr val="C00000"/>
                          </a:solidFill>
                        </a:rPr>
                        <a:t>49A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8299394"/>
                  </a:ext>
                </a:extLst>
              </a:tr>
              <a:tr h="657616">
                <a:tc vMerge="1">
                  <a:txBody>
                    <a:bodyPr/>
                    <a:lstStyle/>
                    <a:p>
                      <a:pPr algn="ctr"/>
                      <a:endParaRPr lang="fr-B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Modification de la situation familiale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b="1" dirty="0"/>
                        <a:t>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BE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780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BE" dirty="0"/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309142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16608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71D4D5C3D776247A0B00D9B67B18301" ma:contentTypeVersion="5" ma:contentTypeDescription="Create a new document." ma:contentTypeScope="" ma:versionID="42e0b0edacfe443d67ba6a6e05eb277d">
  <xsd:schema xmlns:xsd="http://www.w3.org/2001/XMLSchema" xmlns:xs="http://www.w3.org/2001/XMLSchema" xmlns:p="http://schemas.microsoft.com/office/2006/metadata/properties" xmlns:ns2="70ec8308-a2f0-4163-8d73-ffca7c913578" xmlns:ns3="594ba5a2-1908-49bb-836f-9f7e6dbdc18e" targetNamespace="http://schemas.microsoft.com/office/2006/metadata/properties" ma:root="true" ma:fieldsID="c66a8557b28090109aa13aadda700817" ns2:_="" ns3:_="">
    <xsd:import namespace="70ec8308-a2f0-4163-8d73-ffca7c913578"/>
    <xsd:import namespace="594ba5a2-1908-49bb-836f-9f7e6dbdc18e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ec8308-a2f0-4163-8d73-ffca7c91357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4ba5a2-1908-49bb-836f-9f7e6dbdc18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B375CA1-12C2-43AA-B694-C9D48DA6FBF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0ec8308-a2f0-4163-8d73-ffca7c913578"/>
    <ds:schemaRef ds:uri="594ba5a2-1908-49bb-836f-9f7e6dbdc18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9DA69E8-4E28-47D6-842F-F9A43AA3F87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467EFC1-C52A-4CFA-B056-38C439031A54}">
  <ds:schemaRefs>
    <ds:schemaRef ds:uri="http://schemas.microsoft.com/office/2006/metadata/properties"/>
    <ds:schemaRef ds:uri="594ba5a2-1908-49bb-836f-9f7e6dbdc18e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70ec8308-a2f0-4163-8d73-ffca7c913578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14324</TotalTime>
  <Words>722</Words>
  <Application>Microsoft Office PowerPoint</Application>
  <PresentationFormat>Affichage à l'écran (4:3)</PresentationFormat>
  <Paragraphs>135</Paragraphs>
  <Slides>11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Thème Office</vt:lpstr>
      <vt:lpstr>Procédure  REGIS</vt:lpstr>
      <vt:lpstr>Table des matières</vt:lpstr>
      <vt:lpstr>1. Introduction</vt:lpstr>
      <vt:lpstr>2. Consultation REGIS</vt:lpstr>
      <vt:lpstr>2. Consultation REGIS </vt:lpstr>
      <vt:lpstr>3. Notification REGIS</vt:lpstr>
      <vt:lpstr>3.1. R-Notif &amp; incidence règl.</vt:lpstr>
      <vt:lpstr>3.1. R-Notif &amp; incidence règl.</vt:lpstr>
      <vt:lpstr>3.1. R-Notif &amp; incidence règl.</vt:lpstr>
      <vt:lpstr>3.2. Analyse R-Notif</vt:lpstr>
      <vt:lpstr>Présentation PowerPoint</vt:lpstr>
    </vt:vector>
  </TitlesOfParts>
  <Company>ACV-CSC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FCJ-M02-REGIS (niv. 1)-Participants</dc:title>
  <dc:creator>u99lge</dc:creator>
  <cp:lastModifiedBy>Ali Bakhouch</cp:lastModifiedBy>
  <cp:revision>623</cp:revision>
  <cp:lastPrinted>2017-08-29T07:03:45Z</cp:lastPrinted>
  <dcterms:created xsi:type="dcterms:W3CDTF">2010-09-22T12:12:06Z</dcterms:created>
  <dcterms:modified xsi:type="dcterms:W3CDTF">2023-10-13T15:23:32Z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0x010100771D4D5C3D776247A0B00D9B67B18301</vt:lpwstr>
  </property>
  <property fmtid="{D5CDD505-2E9C-101B-9397-08002B2CF9AE}" pid="3" name="Type formation">
    <vt:lpwstr>42;#FCJ formation junior|010f76d4-1162-4810-b874-62b7f270a9bc</vt:lpwstr>
  </property>
  <property fmtid="{D5CDD505-2E9C-101B-9397-08002B2CF9AE}" pid="4" name="Type document">
    <vt:lpwstr>29;#Présentation|66a9a075-20e6-47e0-8483-85d2e9240401</vt:lpwstr>
  </property>
  <property fmtid="{D5CDD505-2E9C-101B-9397-08002B2CF9AE}" pid="5" name="Public Cible">
    <vt:lpwstr>12;#FLT|f342c2bc-e504-4fe0-8d5d-34c04f2f783f</vt:lpwstr>
  </property>
  <property fmtid="{D5CDD505-2E9C-101B-9397-08002B2CF9AE}" pid="6" name="Domaine">
    <vt:lpwstr>17;#Admissibilité|d1ac0b1f-1e4c-4aa8-9a97-5b01e61985ba;#13;#Tâches|addb87cc-e52a-4e6f-a061-fdea8baf7830;#44;#Identification|c878f2ee-3955-448a-86fc-10f3fe74a7ef</vt:lpwstr>
  </property>
  <property fmtid="{D5CDD505-2E9C-101B-9397-08002B2CF9AE}" pid="7" name="Thème">
    <vt:lpwstr>62;#REGIS|e00396ac-fd90-4f73-b1b4-600b0c80c799</vt:lpwstr>
  </property>
  <property fmtid="{D5CDD505-2E9C-101B-9397-08002B2CF9AE}" pid="8" name="_dlc_DocIdItemGuid">
    <vt:lpwstr>6794d64b-d21c-4bb7-86a4-770aa8c49dd1</vt:lpwstr>
  </property>
</Properties>
</file>