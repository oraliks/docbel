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3"/>
  </p:notesMasterIdLst>
  <p:handoutMasterIdLst>
    <p:handoutMasterId r:id="rId54"/>
  </p:handoutMasterIdLst>
  <p:sldIdLst>
    <p:sldId id="256" r:id="rId5"/>
    <p:sldId id="257" r:id="rId6"/>
    <p:sldId id="258" r:id="rId7"/>
    <p:sldId id="259" r:id="rId8"/>
    <p:sldId id="261" r:id="rId9"/>
    <p:sldId id="262" r:id="rId10"/>
    <p:sldId id="263" r:id="rId11"/>
    <p:sldId id="264" r:id="rId12"/>
    <p:sldId id="265" r:id="rId13"/>
    <p:sldId id="267" r:id="rId14"/>
    <p:sldId id="269" r:id="rId15"/>
    <p:sldId id="270" r:id="rId16"/>
    <p:sldId id="271" r:id="rId17"/>
    <p:sldId id="272" r:id="rId18"/>
    <p:sldId id="273" r:id="rId19"/>
    <p:sldId id="309" r:id="rId20"/>
    <p:sldId id="274" r:id="rId21"/>
    <p:sldId id="310" r:id="rId22"/>
    <p:sldId id="275" r:id="rId23"/>
    <p:sldId id="276" r:id="rId24"/>
    <p:sldId id="277" r:id="rId25"/>
    <p:sldId id="278" r:id="rId26"/>
    <p:sldId id="279" r:id="rId27"/>
    <p:sldId id="312" r:id="rId28"/>
    <p:sldId id="314" r:id="rId29"/>
    <p:sldId id="282" r:id="rId30"/>
    <p:sldId id="283" r:id="rId31"/>
    <p:sldId id="311" r:id="rId32"/>
    <p:sldId id="284" r:id="rId33"/>
    <p:sldId id="285" r:id="rId34"/>
    <p:sldId id="313"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3" r:id="rId51"/>
    <p:sldId id="304" r:id="rId52"/>
  </p:sldIdLst>
  <p:sldSz cx="9144000" cy="6858000" type="screen4x3"/>
  <p:notesSz cx="6735763" cy="98663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FF00"/>
    <a:srgbClr val="FF9933"/>
    <a:srgbClr val="669900"/>
    <a:srgbClr val="0033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711" autoAdjust="0"/>
  </p:normalViewPr>
  <p:slideViewPr>
    <p:cSldViewPr>
      <p:cViewPr varScale="1">
        <p:scale>
          <a:sx n="74" d="100"/>
          <a:sy n="74" d="100"/>
        </p:scale>
        <p:origin x="1714" y="7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3.xml"/><Relationship Id="rId18" Type="http://schemas.openxmlformats.org/officeDocument/2006/relationships/slide" Target="slides/slide32.xml"/><Relationship Id="rId26" Type="http://schemas.openxmlformats.org/officeDocument/2006/relationships/slide" Target="slides/slide40.xml"/><Relationship Id="rId3" Type="http://schemas.openxmlformats.org/officeDocument/2006/relationships/slide" Target="slides/slide3.xml"/><Relationship Id="rId21" Type="http://schemas.openxmlformats.org/officeDocument/2006/relationships/slide" Target="slides/slide35.xml"/><Relationship Id="rId34" Type="http://schemas.openxmlformats.org/officeDocument/2006/relationships/slide" Target="slides/slide48.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30.xml"/><Relationship Id="rId25" Type="http://schemas.openxmlformats.org/officeDocument/2006/relationships/slide" Target="slides/slide39.xml"/><Relationship Id="rId33" Type="http://schemas.openxmlformats.org/officeDocument/2006/relationships/slide" Target="slides/slide47.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34.xml"/><Relationship Id="rId29" Type="http://schemas.openxmlformats.org/officeDocument/2006/relationships/slide" Target="slides/slide43.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38.xml"/><Relationship Id="rId32" Type="http://schemas.openxmlformats.org/officeDocument/2006/relationships/slide" Target="slides/slide46.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37.xml"/><Relationship Id="rId28" Type="http://schemas.openxmlformats.org/officeDocument/2006/relationships/slide" Target="slides/slide42.xml"/><Relationship Id="rId10" Type="http://schemas.openxmlformats.org/officeDocument/2006/relationships/slide" Target="slides/slide10.xml"/><Relationship Id="rId19" Type="http://schemas.openxmlformats.org/officeDocument/2006/relationships/slide" Target="slides/slide33.xml"/><Relationship Id="rId31" Type="http://schemas.openxmlformats.org/officeDocument/2006/relationships/slide" Target="slides/slide45.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36.xml"/><Relationship Id="rId27" Type="http://schemas.openxmlformats.org/officeDocument/2006/relationships/slide" Target="slides/slide41.xml"/><Relationship Id="rId30"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E47068CA-F0DC-447A-B9ED-AE95D731C7D8}" type="datetimeFigureOut">
              <a:rPr lang="fr-FR" smtClean="0"/>
              <a:pPr/>
              <a:t>13/10/2023</a:t>
            </a:fld>
            <a:endParaRPr lang="fr-FR"/>
          </a:p>
        </p:txBody>
      </p:sp>
      <p:sp>
        <p:nvSpPr>
          <p:cNvPr id="4" name="Espace réservé du pied de page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B000F49C-6693-442B-81D1-9FE7387508D2}" type="datetimeFigureOut">
              <a:rPr lang="fr-FR" smtClean="0"/>
              <a:pPr/>
              <a:t>13/10/2023</a:t>
            </a:fld>
            <a:endParaRPr lang="fr-FR"/>
          </a:p>
        </p:txBody>
      </p:sp>
      <p:sp>
        <p:nvSpPr>
          <p:cNvPr id="4" name="Espace réservé de l'image des diapositives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3577" y="4686499"/>
            <a:ext cx="5388610" cy="443984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dirty="0"/>
          </a:p>
        </p:txBody>
      </p:sp>
    </p:spTree>
    <p:extLst>
      <p:ext uri="{BB962C8B-B14F-4D97-AF65-F5344CB8AC3E}">
        <p14:creationId xmlns:p14="http://schemas.microsoft.com/office/powerpoint/2010/main" val="534034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dirty="0"/>
          </a:p>
        </p:txBody>
      </p:sp>
    </p:spTree>
    <p:extLst>
      <p:ext uri="{BB962C8B-B14F-4D97-AF65-F5344CB8AC3E}">
        <p14:creationId xmlns:p14="http://schemas.microsoft.com/office/powerpoint/2010/main" val="273139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br>
              <a:rPr lang="fr-FR" dirty="0"/>
            </a:br>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6</a:t>
            </a:fld>
            <a:endParaRPr lang="fr-FR" dirty="0"/>
          </a:p>
        </p:txBody>
      </p:sp>
    </p:spTree>
    <p:extLst>
      <p:ext uri="{BB962C8B-B14F-4D97-AF65-F5344CB8AC3E}">
        <p14:creationId xmlns:p14="http://schemas.microsoft.com/office/powerpoint/2010/main" val="2129990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dirty="0"/>
          </a:p>
        </p:txBody>
      </p:sp>
    </p:spTree>
    <p:extLst>
      <p:ext uri="{BB962C8B-B14F-4D97-AF65-F5344CB8AC3E}">
        <p14:creationId xmlns:p14="http://schemas.microsoft.com/office/powerpoint/2010/main" val="2188428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9</a:t>
            </a:fld>
            <a:endParaRPr lang="fr-FR" dirty="0"/>
          </a:p>
        </p:txBody>
      </p:sp>
    </p:spTree>
    <p:extLst>
      <p:ext uri="{BB962C8B-B14F-4D97-AF65-F5344CB8AC3E}">
        <p14:creationId xmlns:p14="http://schemas.microsoft.com/office/powerpoint/2010/main" val="895684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10</a:t>
            </a:fld>
            <a:endParaRPr lang="fr-FR" dirty="0"/>
          </a:p>
        </p:txBody>
      </p:sp>
    </p:spTree>
    <p:extLst>
      <p:ext uri="{BB962C8B-B14F-4D97-AF65-F5344CB8AC3E}">
        <p14:creationId xmlns:p14="http://schemas.microsoft.com/office/powerpoint/2010/main" val="1655504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u="sng"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11</a:t>
            </a:fld>
            <a:endParaRPr lang="fr-FR"/>
          </a:p>
        </p:txBody>
      </p:sp>
    </p:spTree>
    <p:extLst>
      <p:ext uri="{BB962C8B-B14F-4D97-AF65-F5344CB8AC3E}">
        <p14:creationId xmlns:p14="http://schemas.microsoft.com/office/powerpoint/2010/main" val="2459057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12</a:t>
            </a:fld>
            <a:endParaRPr lang="fr-FR"/>
          </a:p>
        </p:txBody>
      </p:sp>
    </p:spTree>
    <p:extLst>
      <p:ext uri="{BB962C8B-B14F-4D97-AF65-F5344CB8AC3E}">
        <p14:creationId xmlns:p14="http://schemas.microsoft.com/office/powerpoint/2010/main" val="490559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a:p>
        </p:txBody>
      </p:sp>
    </p:spTree>
    <p:extLst>
      <p:ext uri="{BB962C8B-B14F-4D97-AF65-F5344CB8AC3E}">
        <p14:creationId xmlns:p14="http://schemas.microsoft.com/office/powerpoint/2010/main" val="313820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a:p>
        </p:txBody>
      </p:sp>
    </p:spTree>
    <p:extLst>
      <p:ext uri="{BB962C8B-B14F-4D97-AF65-F5344CB8AC3E}">
        <p14:creationId xmlns:p14="http://schemas.microsoft.com/office/powerpoint/2010/main" val="469784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a:p>
        </p:txBody>
      </p:sp>
    </p:spTree>
    <p:extLst>
      <p:ext uri="{BB962C8B-B14F-4D97-AF65-F5344CB8AC3E}">
        <p14:creationId xmlns:p14="http://schemas.microsoft.com/office/powerpoint/2010/main" val="3007941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16</a:t>
            </a:fld>
            <a:endParaRPr lang="fr-FR"/>
          </a:p>
        </p:txBody>
      </p:sp>
    </p:spTree>
    <p:extLst>
      <p:ext uri="{BB962C8B-B14F-4D97-AF65-F5344CB8AC3E}">
        <p14:creationId xmlns:p14="http://schemas.microsoft.com/office/powerpoint/2010/main" val="3371434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2207579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2570984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br>
              <a:rPr lang="fr-BE" dirty="0"/>
            </a:br>
            <a:br>
              <a:rPr lang="fr-BE" dirty="0"/>
            </a:br>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a:p>
        </p:txBody>
      </p:sp>
    </p:spTree>
    <p:extLst>
      <p:ext uri="{BB962C8B-B14F-4D97-AF65-F5344CB8AC3E}">
        <p14:creationId xmlns:p14="http://schemas.microsoft.com/office/powerpoint/2010/main" val="1961648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a:p>
        </p:txBody>
      </p:sp>
    </p:spTree>
    <p:extLst>
      <p:ext uri="{BB962C8B-B14F-4D97-AF65-F5344CB8AC3E}">
        <p14:creationId xmlns:p14="http://schemas.microsoft.com/office/powerpoint/2010/main" val="4214712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767030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a:p>
        </p:txBody>
      </p:sp>
    </p:spTree>
    <p:extLst>
      <p:ext uri="{BB962C8B-B14F-4D97-AF65-F5344CB8AC3E}">
        <p14:creationId xmlns:p14="http://schemas.microsoft.com/office/powerpoint/2010/main" val="533825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27</a:t>
            </a:fld>
            <a:endParaRPr lang="fr-FR"/>
          </a:p>
        </p:txBody>
      </p:sp>
    </p:spTree>
    <p:extLst>
      <p:ext uri="{BB962C8B-B14F-4D97-AF65-F5344CB8AC3E}">
        <p14:creationId xmlns:p14="http://schemas.microsoft.com/office/powerpoint/2010/main" val="7112933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a:p>
        </p:txBody>
      </p:sp>
    </p:spTree>
    <p:extLst>
      <p:ext uri="{BB962C8B-B14F-4D97-AF65-F5344CB8AC3E}">
        <p14:creationId xmlns:p14="http://schemas.microsoft.com/office/powerpoint/2010/main" val="1022785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30</a:t>
            </a:fld>
            <a:endParaRPr lang="fr-FR"/>
          </a:p>
        </p:txBody>
      </p:sp>
    </p:spTree>
    <p:extLst>
      <p:ext uri="{BB962C8B-B14F-4D97-AF65-F5344CB8AC3E}">
        <p14:creationId xmlns:p14="http://schemas.microsoft.com/office/powerpoint/2010/main" val="479337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32</a:t>
            </a:fld>
            <a:endParaRPr lang="fr-FR"/>
          </a:p>
        </p:txBody>
      </p:sp>
    </p:spTree>
    <p:extLst>
      <p:ext uri="{BB962C8B-B14F-4D97-AF65-F5344CB8AC3E}">
        <p14:creationId xmlns:p14="http://schemas.microsoft.com/office/powerpoint/2010/main" val="1231796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br>
              <a:rPr lang="fr-BE" dirty="0">
                <a:effectLst/>
              </a:rPr>
            </a:br>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33</a:t>
            </a:fld>
            <a:endParaRPr lang="fr-FR"/>
          </a:p>
        </p:txBody>
      </p:sp>
    </p:spTree>
    <p:extLst>
      <p:ext uri="{BB962C8B-B14F-4D97-AF65-F5344CB8AC3E}">
        <p14:creationId xmlns:p14="http://schemas.microsoft.com/office/powerpoint/2010/main" val="2766000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34</a:t>
            </a:fld>
            <a:endParaRPr lang="fr-FR"/>
          </a:p>
        </p:txBody>
      </p:sp>
    </p:spTree>
    <p:extLst>
      <p:ext uri="{BB962C8B-B14F-4D97-AF65-F5344CB8AC3E}">
        <p14:creationId xmlns:p14="http://schemas.microsoft.com/office/powerpoint/2010/main" val="25412714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35</a:t>
            </a:fld>
            <a:endParaRPr lang="fr-FR"/>
          </a:p>
        </p:txBody>
      </p:sp>
    </p:spTree>
    <p:extLst>
      <p:ext uri="{BB962C8B-B14F-4D97-AF65-F5344CB8AC3E}">
        <p14:creationId xmlns:p14="http://schemas.microsoft.com/office/powerpoint/2010/main" val="663651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36</a:t>
            </a:fld>
            <a:endParaRPr lang="fr-FR"/>
          </a:p>
        </p:txBody>
      </p:sp>
    </p:spTree>
    <p:extLst>
      <p:ext uri="{BB962C8B-B14F-4D97-AF65-F5344CB8AC3E}">
        <p14:creationId xmlns:p14="http://schemas.microsoft.com/office/powerpoint/2010/main" val="778906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37</a:t>
            </a:fld>
            <a:endParaRPr lang="fr-FR"/>
          </a:p>
        </p:txBody>
      </p:sp>
    </p:spTree>
    <p:extLst>
      <p:ext uri="{BB962C8B-B14F-4D97-AF65-F5344CB8AC3E}">
        <p14:creationId xmlns:p14="http://schemas.microsoft.com/office/powerpoint/2010/main" val="10158027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38</a:t>
            </a:fld>
            <a:endParaRPr lang="fr-FR"/>
          </a:p>
        </p:txBody>
      </p:sp>
    </p:spTree>
    <p:extLst>
      <p:ext uri="{BB962C8B-B14F-4D97-AF65-F5344CB8AC3E}">
        <p14:creationId xmlns:p14="http://schemas.microsoft.com/office/powerpoint/2010/main" val="1885450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39</a:t>
            </a:fld>
            <a:endParaRPr lang="fr-FR"/>
          </a:p>
        </p:txBody>
      </p:sp>
    </p:spTree>
    <p:extLst>
      <p:ext uri="{BB962C8B-B14F-4D97-AF65-F5344CB8AC3E}">
        <p14:creationId xmlns:p14="http://schemas.microsoft.com/office/powerpoint/2010/main" val="3369944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40</a:t>
            </a:fld>
            <a:endParaRPr lang="fr-FR"/>
          </a:p>
        </p:txBody>
      </p:sp>
    </p:spTree>
    <p:extLst>
      <p:ext uri="{BB962C8B-B14F-4D97-AF65-F5344CB8AC3E}">
        <p14:creationId xmlns:p14="http://schemas.microsoft.com/office/powerpoint/2010/main" val="4132850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42</a:t>
            </a:fld>
            <a:endParaRPr lang="fr-FR"/>
          </a:p>
        </p:txBody>
      </p:sp>
    </p:spTree>
    <p:extLst>
      <p:ext uri="{BB962C8B-B14F-4D97-AF65-F5344CB8AC3E}">
        <p14:creationId xmlns:p14="http://schemas.microsoft.com/office/powerpoint/2010/main" val="6894083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44</a:t>
            </a:fld>
            <a:endParaRPr lang="fr-FR"/>
          </a:p>
        </p:txBody>
      </p:sp>
    </p:spTree>
    <p:extLst>
      <p:ext uri="{BB962C8B-B14F-4D97-AF65-F5344CB8AC3E}">
        <p14:creationId xmlns:p14="http://schemas.microsoft.com/office/powerpoint/2010/main" val="3546908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45</a:t>
            </a:fld>
            <a:endParaRPr lang="fr-FR"/>
          </a:p>
        </p:txBody>
      </p:sp>
    </p:spTree>
    <p:extLst>
      <p:ext uri="{BB962C8B-B14F-4D97-AF65-F5344CB8AC3E}">
        <p14:creationId xmlns:p14="http://schemas.microsoft.com/office/powerpoint/2010/main" val="28630487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46</a:t>
            </a:fld>
            <a:endParaRPr lang="fr-FR"/>
          </a:p>
        </p:txBody>
      </p:sp>
    </p:spTree>
    <p:extLst>
      <p:ext uri="{BB962C8B-B14F-4D97-AF65-F5344CB8AC3E}">
        <p14:creationId xmlns:p14="http://schemas.microsoft.com/office/powerpoint/2010/main" val="1225981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47</a:t>
            </a:fld>
            <a:endParaRPr lang="fr-FR"/>
          </a:p>
        </p:txBody>
      </p:sp>
    </p:spTree>
    <p:extLst>
      <p:ext uri="{BB962C8B-B14F-4D97-AF65-F5344CB8AC3E}">
        <p14:creationId xmlns:p14="http://schemas.microsoft.com/office/powerpoint/2010/main" val="6082218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48</a:t>
            </a:fld>
            <a:endParaRPr lang="fr-FR"/>
          </a:p>
        </p:txBody>
      </p:sp>
    </p:spTree>
    <p:extLst>
      <p:ext uri="{BB962C8B-B14F-4D97-AF65-F5344CB8AC3E}">
        <p14:creationId xmlns:p14="http://schemas.microsoft.com/office/powerpoint/2010/main" val="1591872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2DC96D6E-C38E-4277-856D-06F50722526E}"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80EE706-D60D-438E-9EB5-5FE6C38FABA5}"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7DF6F0D5-AD45-494A-B9A7-30C2AF1785FB}"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3171878B-04D5-490C-9544-F70DEFF4BA8A}"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3775061F-A08B-411D-B0F7-375B44020A85}" type="datetime1">
              <a:rPr lang="fr-FR" smtClean="0"/>
              <a:t>13/10/2023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83A968D9-D1FE-457A-95DF-ABF39371C3E1}" type="datetime1">
              <a:rPr lang="fr-FR" smtClean="0"/>
              <a:t>13/10/2023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0B17F29-DFD6-4C70-92A8-B4C929E53EF1}" type="datetime1">
              <a:rPr lang="fr-FR" smtClean="0"/>
              <a:t>13/10/2023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5C77A6E6-CA78-4B75-B4F0-07E2968B6F00}"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B1BC15B-360C-4BB2-89A8-A854A6B2C5E2}"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63DE86-3D0E-4F50-B3CB-A1CAA572C9AA}"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7A8F1AB-1D8B-4550-B903-E9D5957D73C5}"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385DB0-5BFF-4FE0-AF66-4BA27D6B1132}" type="datetime1">
              <a:rPr lang="fr-FR" smtClean="0"/>
              <a:t>13/10/2023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ctrTitle"/>
          </p:nvPr>
        </p:nvSpPr>
        <p:spPr>
          <a:xfrm>
            <a:off x="683568" y="2348880"/>
            <a:ext cx="7772400" cy="1470025"/>
          </a:xfrm>
        </p:spPr>
        <p:txBody>
          <a:bodyPr>
            <a:noAutofit/>
          </a:bodyPr>
          <a:lstStyle/>
          <a:p>
            <a:r>
              <a:rPr lang="fr-BE" sz="6600" b="1" i="1" dirty="0"/>
              <a:t>Les conditions d’octroi</a:t>
            </a:r>
            <a:endParaRPr lang="en-US" sz="6600" i="1" dirty="0"/>
          </a:p>
        </p:txBody>
      </p:sp>
      <p:sp>
        <p:nvSpPr>
          <p:cNvPr id="3" name="ZoneTexte 2"/>
          <p:cNvSpPr txBox="1"/>
          <p:nvPr/>
        </p:nvSpPr>
        <p:spPr>
          <a:xfrm>
            <a:off x="395536" y="5989930"/>
            <a:ext cx="3024336" cy="369332"/>
          </a:xfrm>
          <a:prstGeom prst="rect">
            <a:avLst/>
          </a:prstGeom>
          <a:noFill/>
        </p:spPr>
        <p:txBody>
          <a:bodyPr wrap="square" rtlCol="0">
            <a:spAutoFit/>
          </a:bodyPr>
          <a:lstStyle/>
          <a:p>
            <a:r>
              <a:rPr lang="fr-BE" dirty="0"/>
              <a:t>Version 11.10.2023</a:t>
            </a:r>
          </a:p>
        </p:txBody>
      </p:sp>
    </p:spTree>
    <p:extLst>
      <p:ext uri="{BB962C8B-B14F-4D97-AF65-F5344CB8AC3E}">
        <p14:creationId xmlns:p14="http://schemas.microsoft.com/office/powerpoint/2010/main" val="2859124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dirty="0">
                <a:solidFill>
                  <a:srgbClr val="C00000"/>
                </a:solidFill>
              </a:rPr>
              <a:t>Table des matières</a:t>
            </a:r>
            <a:endParaRPr lang="fr-BE" dirty="0">
              <a:solidFill>
                <a:srgbClr val="C00000"/>
              </a:solidFill>
            </a:endParaRPr>
          </a:p>
        </p:txBody>
      </p:sp>
      <p:sp>
        <p:nvSpPr>
          <p:cNvPr id="3" name="Espace réservé du contenu 2"/>
          <p:cNvSpPr>
            <a:spLocks noGrp="1"/>
          </p:cNvSpPr>
          <p:nvPr>
            <p:ph idx="1"/>
          </p:nvPr>
        </p:nvSpPr>
        <p:spPr/>
        <p:txBody>
          <a:bodyPr>
            <a:normAutofit/>
          </a:bodyPr>
          <a:lstStyle/>
          <a:p>
            <a:pPr marL="0" indent="0">
              <a:buNone/>
            </a:pPr>
            <a:r>
              <a:rPr lang="fr-BE" sz="2000" dirty="0"/>
              <a:t>Les conditions d’octroi						p.  3</a:t>
            </a:r>
          </a:p>
          <a:p>
            <a:pPr marL="457200" indent="-457200">
              <a:buFont typeface="+mj-lt"/>
              <a:buAutoNum type="arabicPeriod"/>
            </a:pPr>
            <a:r>
              <a:rPr lang="fr-BE" sz="2000" i="1" dirty="0"/>
              <a:t>Privation involontaire de travail et de rémunération 		</a:t>
            </a:r>
            <a:r>
              <a:rPr lang="fr-BE" sz="2000" dirty="0"/>
              <a:t>p.  5</a:t>
            </a:r>
          </a:p>
          <a:p>
            <a:pPr marL="457200" indent="-457200">
              <a:buFont typeface="+mj-lt"/>
              <a:buAutoNum type="arabicPeriod"/>
            </a:pPr>
            <a:r>
              <a:rPr lang="fr-BE" sz="2000" i="1" dirty="0"/>
              <a:t>Disponibilité sur le marché de l’emploi				</a:t>
            </a:r>
            <a:r>
              <a:rPr lang="fr-BE" sz="2000" dirty="0"/>
              <a:t>p.  9</a:t>
            </a:r>
          </a:p>
          <a:p>
            <a:pPr marL="0" indent="0">
              <a:buNone/>
            </a:pPr>
            <a:r>
              <a:rPr lang="fr-BE" sz="2000" dirty="0"/>
              <a:t>       	2.1  Emploi convenable					p.  9</a:t>
            </a:r>
          </a:p>
          <a:p>
            <a:pPr marL="0" indent="0">
              <a:buNone/>
            </a:pPr>
            <a:r>
              <a:rPr lang="fr-BE" sz="2000" dirty="0"/>
              <a:t>       	2.2  Activation						p. 11</a:t>
            </a:r>
          </a:p>
          <a:p>
            <a:pPr marL="0" indent="0">
              <a:buNone/>
            </a:pPr>
            <a:r>
              <a:rPr lang="fr-BE" sz="2000" dirty="0"/>
              <a:t>       	2.3  IDE							p. 17</a:t>
            </a:r>
          </a:p>
          <a:p>
            <a:pPr marL="0" indent="0">
              <a:buNone/>
            </a:pPr>
            <a:r>
              <a:rPr lang="fr-BE" sz="2000" i="1" dirty="0"/>
              <a:t>3.     Aptitude au travail						</a:t>
            </a:r>
            <a:r>
              <a:rPr lang="fr-BE" sz="2000" dirty="0"/>
              <a:t>p. 30</a:t>
            </a:r>
          </a:p>
          <a:p>
            <a:pPr marL="0" indent="0">
              <a:buNone/>
            </a:pPr>
            <a:r>
              <a:rPr lang="fr-BE" sz="2000" i="1" dirty="0"/>
              <a:t>4.    Conditions d’âge						</a:t>
            </a:r>
            <a:r>
              <a:rPr lang="fr-BE" sz="2000" dirty="0"/>
              <a:t>p. 31</a:t>
            </a:r>
          </a:p>
          <a:p>
            <a:pPr marL="0" indent="0">
              <a:buNone/>
            </a:pPr>
            <a:r>
              <a:rPr lang="fr-BE" sz="2000" i="1" dirty="0"/>
              <a:t>5.    Autres conditions						</a:t>
            </a:r>
            <a:r>
              <a:rPr lang="fr-BE" sz="2000" dirty="0"/>
              <a:t>p. 35</a:t>
            </a:r>
          </a:p>
          <a:p>
            <a:pPr marL="0" indent="0">
              <a:buNone/>
            </a:pPr>
            <a:r>
              <a:rPr lang="fr-BE" sz="2000" i="1" dirty="0"/>
              <a:t>6.    Déclaration et contrôle des périodes de chômage			</a:t>
            </a:r>
            <a:r>
              <a:rPr lang="fr-BE" sz="2000" dirty="0"/>
              <a:t>p. 42</a:t>
            </a:r>
          </a:p>
          <a:p>
            <a:pPr marL="0" indent="0">
              <a:buNone/>
            </a:pPr>
            <a:r>
              <a:rPr lang="fr-BE" sz="2000" dirty="0"/>
              <a:t>7.    </a:t>
            </a:r>
            <a:r>
              <a:rPr lang="fr-BE" sz="2000" i="1" dirty="0"/>
              <a:t>Disponibilité adaptée	</a:t>
            </a:r>
            <a:r>
              <a:rPr lang="fr-BE" sz="2000" dirty="0"/>
              <a:t>					p. </a:t>
            </a:r>
            <a:r>
              <a:rPr lang="fr-BE" sz="2000"/>
              <a:t>47</a:t>
            </a:r>
            <a:endParaRPr lang="fr-BE" sz="20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a:t>
            </a:fld>
            <a:endParaRPr lang="fr-FR" dirty="0"/>
          </a:p>
        </p:txBody>
      </p:sp>
    </p:spTree>
    <p:extLst>
      <p:ext uri="{BB962C8B-B14F-4D97-AF65-F5344CB8AC3E}">
        <p14:creationId xmlns:p14="http://schemas.microsoft.com/office/powerpoint/2010/main" val="3653052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i="1" dirty="0"/>
              <a:t>Conditions d’octroi</a:t>
            </a:r>
            <a:endParaRPr lang="en-US" b="1" i="1" dirty="0"/>
          </a:p>
        </p:txBody>
      </p:sp>
      <p:sp>
        <p:nvSpPr>
          <p:cNvPr id="3" name="Espace réservé du contenu 2"/>
          <p:cNvSpPr>
            <a:spLocks noGrp="1"/>
          </p:cNvSpPr>
          <p:nvPr>
            <p:ph idx="1"/>
          </p:nvPr>
        </p:nvSpPr>
        <p:spPr/>
        <p:txBody>
          <a:bodyPr/>
          <a:lstStyle/>
          <a:p>
            <a:pPr marL="0" indent="0">
              <a:buNone/>
            </a:pPr>
            <a:r>
              <a:rPr lang="fr-BE" dirty="0"/>
              <a:t>Les conditions d’octroi sont répertoriées en </a:t>
            </a:r>
            <a:r>
              <a:rPr lang="fr-BE" b="1" dirty="0">
                <a:solidFill>
                  <a:schemeClr val="accent2">
                    <a:lumMod val="75000"/>
                  </a:schemeClr>
                </a:solidFill>
              </a:rPr>
              <a:t>9</a:t>
            </a:r>
            <a:r>
              <a:rPr lang="fr-BE" b="1" dirty="0"/>
              <a:t> sections</a:t>
            </a:r>
            <a:r>
              <a:rPr lang="fr-BE" dirty="0"/>
              <a:t> :</a:t>
            </a:r>
          </a:p>
          <a:p>
            <a:pPr>
              <a:buNone/>
            </a:pPr>
            <a:endParaRPr lang="fr-BE" sz="1800" dirty="0"/>
          </a:p>
          <a:p>
            <a:pPr>
              <a:buFont typeface="Wingdings" panose="05000000000000000000" pitchFamily="2" charset="2"/>
              <a:buChar char="è"/>
            </a:pPr>
            <a:r>
              <a:rPr lang="fr-FR" dirty="0"/>
              <a:t>1 - </a:t>
            </a:r>
            <a:r>
              <a:rPr lang="fr-FR" b="1" dirty="0">
                <a:solidFill>
                  <a:schemeClr val="accent2">
                    <a:lumMod val="75000"/>
                  </a:schemeClr>
                </a:solidFill>
              </a:rPr>
              <a:t>Privation involontaire </a:t>
            </a:r>
            <a:r>
              <a:rPr lang="fr-FR" dirty="0"/>
              <a:t>de travail et de rémunération </a:t>
            </a:r>
            <a:r>
              <a:rPr lang="fr-FR" sz="3000" dirty="0"/>
              <a:t>(</a:t>
            </a:r>
            <a:r>
              <a:rPr lang="fr-FR" sz="3000" i="1" dirty="0"/>
              <a:t>art. 44 à 55</a:t>
            </a:r>
            <a:r>
              <a:rPr lang="fr-FR" sz="3000" dirty="0"/>
              <a:t>)</a:t>
            </a:r>
          </a:p>
          <a:p>
            <a:pPr>
              <a:buFont typeface="Wingdings" panose="05000000000000000000" pitchFamily="2" charset="2"/>
              <a:buChar char="è"/>
            </a:pPr>
            <a:r>
              <a:rPr lang="fr-FR" dirty="0"/>
              <a:t>2 - </a:t>
            </a:r>
            <a:r>
              <a:rPr lang="fr-FR" b="1" dirty="0">
                <a:solidFill>
                  <a:schemeClr val="accent2">
                    <a:lumMod val="75000"/>
                  </a:schemeClr>
                </a:solidFill>
              </a:rPr>
              <a:t>Disponibilité</a:t>
            </a:r>
            <a:r>
              <a:rPr lang="fr-FR" dirty="0"/>
              <a:t> pour le marché de l'emploi </a:t>
            </a:r>
            <a:r>
              <a:rPr lang="fr-FR" sz="3000" dirty="0"/>
              <a:t>(</a:t>
            </a:r>
            <a:r>
              <a:rPr lang="fr-FR" sz="3000" i="1" dirty="0"/>
              <a:t>art. 56 à 59decies</a:t>
            </a:r>
            <a:r>
              <a:rPr lang="fr-FR" sz="3000" dirty="0"/>
              <a:t>)</a:t>
            </a:r>
          </a:p>
          <a:p>
            <a:pPr>
              <a:buFont typeface="Wingdings" panose="05000000000000000000" pitchFamily="2" charset="2"/>
              <a:buChar char="è"/>
            </a:pPr>
            <a:r>
              <a:rPr lang="fr-FR" dirty="0"/>
              <a:t>3 - </a:t>
            </a:r>
            <a:r>
              <a:rPr lang="fr-FR" b="1" dirty="0">
                <a:solidFill>
                  <a:schemeClr val="accent2">
                    <a:lumMod val="75000"/>
                  </a:schemeClr>
                </a:solidFill>
              </a:rPr>
              <a:t>Aptitude</a:t>
            </a:r>
            <a:r>
              <a:rPr lang="fr-FR" dirty="0"/>
              <a:t> au travail </a:t>
            </a:r>
            <a:r>
              <a:rPr lang="fr-FR" sz="3000" i="1" dirty="0"/>
              <a:t>(art. 60-62)</a:t>
            </a:r>
          </a:p>
          <a:p>
            <a:pPr marL="514350" indent="-514350">
              <a:buFont typeface="Wingdings" pitchFamily="2" charset="2"/>
              <a:buChar char="q"/>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a:t>
            </a:fld>
            <a:endParaRPr lang="fr-FR" dirty="0"/>
          </a:p>
        </p:txBody>
      </p:sp>
    </p:spTree>
    <p:extLst>
      <p:ext uri="{BB962C8B-B14F-4D97-AF65-F5344CB8AC3E}">
        <p14:creationId xmlns:p14="http://schemas.microsoft.com/office/powerpoint/2010/main" val="1633790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r"/>
            <a:r>
              <a:rPr lang="fr-BE" b="1" i="1" dirty="0"/>
              <a:t>Conditions d’octroi</a:t>
            </a:r>
            <a:endParaRPr lang="en-US" b="1" i="1" dirty="0"/>
          </a:p>
        </p:txBody>
      </p:sp>
      <p:sp>
        <p:nvSpPr>
          <p:cNvPr id="4" name="Espace réservé du contenu 3"/>
          <p:cNvSpPr>
            <a:spLocks noGrp="1"/>
          </p:cNvSpPr>
          <p:nvPr>
            <p:ph idx="1"/>
          </p:nvPr>
        </p:nvSpPr>
        <p:spPr>
          <a:xfrm>
            <a:off x="457200" y="1600200"/>
            <a:ext cx="8435280" cy="4525963"/>
          </a:xfrm>
        </p:spPr>
        <p:txBody>
          <a:bodyPr>
            <a:normAutofit/>
          </a:bodyPr>
          <a:lstStyle/>
          <a:p>
            <a:pPr>
              <a:buFont typeface="Wingdings" panose="05000000000000000000" pitchFamily="2" charset="2"/>
              <a:buChar char="è"/>
            </a:pPr>
            <a:r>
              <a:rPr lang="en-US" dirty="0"/>
              <a:t>4 - Conditions </a:t>
            </a:r>
            <a:r>
              <a:rPr lang="fr-BE" dirty="0"/>
              <a:t>d'</a:t>
            </a:r>
            <a:r>
              <a:rPr lang="fr-BE" b="1" dirty="0">
                <a:solidFill>
                  <a:schemeClr val="accent2">
                    <a:lumMod val="75000"/>
                  </a:schemeClr>
                </a:solidFill>
              </a:rPr>
              <a:t>âge</a:t>
            </a:r>
            <a:r>
              <a:rPr lang="en-US" dirty="0"/>
              <a:t> </a:t>
            </a:r>
            <a:r>
              <a:rPr lang="en-US" sz="3000" i="1" dirty="0"/>
              <a:t>(art. 63 à 65)</a:t>
            </a:r>
          </a:p>
          <a:p>
            <a:pPr>
              <a:buFont typeface="Wingdings" panose="05000000000000000000" pitchFamily="2" charset="2"/>
              <a:buChar char="è"/>
            </a:pPr>
            <a:r>
              <a:rPr lang="en-US" dirty="0"/>
              <a:t>5 - </a:t>
            </a:r>
            <a:r>
              <a:rPr lang="fr-BE" b="1" dirty="0">
                <a:solidFill>
                  <a:schemeClr val="accent2">
                    <a:lumMod val="75000"/>
                  </a:schemeClr>
                </a:solidFill>
              </a:rPr>
              <a:t>Autres</a:t>
            </a:r>
            <a:r>
              <a:rPr lang="en-US" dirty="0"/>
              <a:t> conditions </a:t>
            </a:r>
            <a:r>
              <a:rPr lang="en-US" sz="3000" i="1" dirty="0"/>
              <a:t>(art. 66 à 70)</a:t>
            </a:r>
          </a:p>
          <a:p>
            <a:pPr>
              <a:buFont typeface="Wingdings" panose="05000000000000000000" pitchFamily="2" charset="2"/>
              <a:buChar char="è"/>
            </a:pPr>
            <a:r>
              <a:rPr lang="fr-FR" dirty="0"/>
              <a:t>6 - </a:t>
            </a:r>
            <a:r>
              <a:rPr lang="fr-FR" b="1" dirty="0">
                <a:solidFill>
                  <a:schemeClr val="accent2">
                    <a:lumMod val="75000"/>
                  </a:schemeClr>
                </a:solidFill>
              </a:rPr>
              <a:t>Déclaration et contrôle </a:t>
            </a:r>
            <a:r>
              <a:rPr lang="fr-FR" dirty="0"/>
              <a:t>des périodes de chômage </a:t>
            </a:r>
            <a:r>
              <a:rPr lang="fr-FR" sz="3000" i="1" dirty="0"/>
              <a:t>(art. 71 à 72)</a:t>
            </a:r>
          </a:p>
          <a:p>
            <a:pPr>
              <a:buFont typeface="Wingdings" panose="05000000000000000000" pitchFamily="2" charset="2"/>
              <a:buChar char="è"/>
            </a:pPr>
            <a:r>
              <a:rPr lang="en-US" dirty="0"/>
              <a:t>7 - </a:t>
            </a:r>
            <a:r>
              <a:rPr lang="en-US" b="1" dirty="0">
                <a:solidFill>
                  <a:schemeClr val="accent2">
                    <a:lumMod val="75000"/>
                  </a:schemeClr>
                </a:solidFill>
              </a:rPr>
              <a:t>Régimes </a:t>
            </a:r>
            <a:r>
              <a:rPr lang="fr-BE" b="1" dirty="0">
                <a:solidFill>
                  <a:schemeClr val="accent2">
                    <a:lumMod val="75000"/>
                  </a:schemeClr>
                </a:solidFill>
              </a:rPr>
              <a:t>particulier</a:t>
            </a:r>
            <a:r>
              <a:rPr lang="fr-BE" dirty="0"/>
              <a:t>s</a:t>
            </a:r>
            <a:r>
              <a:rPr lang="en-US" dirty="0"/>
              <a:t> </a:t>
            </a:r>
            <a:r>
              <a:rPr lang="en-US" sz="3000" i="1" dirty="0"/>
              <a:t>(art 73 à 79ter)</a:t>
            </a:r>
          </a:p>
          <a:p>
            <a:pPr>
              <a:buFont typeface="Wingdings" panose="05000000000000000000" pitchFamily="2" charset="2"/>
              <a:buChar char="è"/>
            </a:pPr>
            <a:r>
              <a:rPr lang="en-US" sz="2600" i="1" dirty="0">
                <a:solidFill>
                  <a:schemeClr val="bg1">
                    <a:lumMod val="65000"/>
                  </a:schemeClr>
                </a:solidFill>
              </a:rPr>
              <a:t>8 – Chômage de longue durée (art 80 à 88)</a:t>
            </a:r>
          </a:p>
          <a:p>
            <a:pPr>
              <a:buFont typeface="Wingdings" panose="05000000000000000000" pitchFamily="2" charset="2"/>
              <a:buChar char="è"/>
            </a:pPr>
            <a:r>
              <a:rPr lang="en-US" sz="2600" i="1" dirty="0">
                <a:solidFill>
                  <a:schemeClr val="bg1">
                    <a:lumMod val="65000"/>
                  </a:schemeClr>
                </a:solidFill>
              </a:rPr>
              <a:t>9 – dispense de certaines conditions d ’octroi (art. 89 à 98)</a:t>
            </a:r>
          </a:p>
          <a:p>
            <a:pPr>
              <a:buFont typeface="Wingdings" pitchFamily="2" charset="2"/>
              <a:buChar char="q"/>
            </a:pPr>
            <a:endParaRPr lang="en-US"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a:t>
            </a:fld>
            <a:endParaRPr lang="fr-FR" dirty="0"/>
          </a:p>
        </p:txBody>
      </p:sp>
    </p:spTree>
    <p:extLst>
      <p:ext uri="{BB962C8B-B14F-4D97-AF65-F5344CB8AC3E}">
        <p14:creationId xmlns:p14="http://schemas.microsoft.com/office/powerpoint/2010/main" val="315217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t> 1. Privation involontaire de travail et de rémunération</a:t>
            </a:r>
            <a:endParaRPr lang="en-US" b="1" i="1" dirty="0"/>
          </a:p>
        </p:txBody>
      </p:sp>
      <p:sp>
        <p:nvSpPr>
          <p:cNvPr id="3" name="Espace réservé du contenu 2"/>
          <p:cNvSpPr>
            <a:spLocks noGrp="1"/>
          </p:cNvSpPr>
          <p:nvPr>
            <p:ph idx="1"/>
          </p:nvPr>
        </p:nvSpPr>
        <p:spPr>
          <a:xfrm>
            <a:off x="457200" y="1600200"/>
            <a:ext cx="8363272" cy="4525963"/>
          </a:xfrm>
        </p:spPr>
        <p:txBody>
          <a:bodyPr>
            <a:normAutofit fontScale="92500" lnSpcReduction="10000"/>
          </a:bodyPr>
          <a:lstStyle/>
          <a:p>
            <a:pPr marL="0" indent="0">
              <a:buNone/>
            </a:pPr>
            <a:endParaRPr lang="fr-BE" b="1" u="sng" dirty="0"/>
          </a:p>
          <a:p>
            <a:pPr marL="0" indent="0">
              <a:buNone/>
            </a:pPr>
            <a:r>
              <a:rPr lang="fr-BE" sz="3500" b="1" u="sng" dirty="0"/>
              <a:t>Principe de base : </a:t>
            </a:r>
            <a:endParaRPr lang="fr-FR" sz="3500" b="1" u="sng" dirty="0"/>
          </a:p>
          <a:p>
            <a:pPr marL="0" indent="0">
              <a:buNone/>
            </a:pPr>
            <a:endParaRPr lang="fr-FR" sz="3500" dirty="0"/>
          </a:p>
          <a:p>
            <a:pPr marL="0" indent="0">
              <a:buNone/>
            </a:pPr>
            <a:r>
              <a:rPr lang="fr-FR" sz="3500" dirty="0"/>
              <a:t>Pour pouvoir bénéficier d’allocations, le chômeur doit être </a:t>
            </a:r>
            <a:r>
              <a:rPr lang="fr-FR" sz="3500" b="1" dirty="0">
                <a:solidFill>
                  <a:schemeClr val="accent2">
                    <a:lumMod val="75000"/>
                  </a:schemeClr>
                </a:solidFill>
              </a:rPr>
              <a:t>privé de travail et de rémunération </a:t>
            </a:r>
            <a:r>
              <a:rPr lang="fr-FR" sz="3500" dirty="0"/>
              <a:t>par suite de circonstances </a:t>
            </a:r>
            <a:r>
              <a:rPr lang="fr-FR" sz="3500" b="1" u="sng" dirty="0">
                <a:solidFill>
                  <a:schemeClr val="accent2">
                    <a:lumMod val="75000"/>
                  </a:schemeClr>
                </a:solidFill>
              </a:rPr>
              <a:t>indépendantes</a:t>
            </a:r>
            <a:r>
              <a:rPr lang="fr-FR" sz="3500" dirty="0"/>
              <a:t> de sa volonté </a:t>
            </a:r>
            <a:r>
              <a:rPr lang="fr-FR" i="1" dirty="0"/>
              <a:t>(article 44).</a:t>
            </a:r>
          </a:p>
          <a:p>
            <a:pPr>
              <a:buNone/>
            </a:pPr>
            <a:endParaRPr lang="fr-FR" dirty="0"/>
          </a:p>
          <a:p>
            <a:pPr>
              <a:buNone/>
            </a:pPr>
            <a:r>
              <a:rPr lang="fr-BE" dirty="0"/>
              <a:t> 	</a:t>
            </a:r>
          </a:p>
          <a:p>
            <a:pPr>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5</a:t>
            </a:fld>
            <a:endParaRPr lang="fr-FR" dirty="0"/>
          </a:p>
        </p:txBody>
      </p:sp>
    </p:spTree>
    <p:extLst>
      <p:ext uri="{BB962C8B-B14F-4D97-AF65-F5344CB8AC3E}">
        <p14:creationId xmlns:p14="http://schemas.microsoft.com/office/powerpoint/2010/main" val="4120502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t>1. Privation involontaire de travail et de rémunération</a:t>
            </a:r>
            <a:endParaRPr lang="en-US" b="1" i="1" dirty="0"/>
          </a:p>
        </p:txBody>
      </p:sp>
      <p:sp>
        <p:nvSpPr>
          <p:cNvPr id="3" name="Espace réservé du contenu 2"/>
          <p:cNvSpPr>
            <a:spLocks noGrp="1"/>
          </p:cNvSpPr>
          <p:nvPr>
            <p:ph idx="1"/>
          </p:nvPr>
        </p:nvSpPr>
        <p:spPr>
          <a:xfrm>
            <a:off x="457200" y="1600200"/>
            <a:ext cx="8229600" cy="4756150"/>
          </a:xfrm>
        </p:spPr>
        <p:txBody>
          <a:bodyPr>
            <a:normAutofit fontScale="85000" lnSpcReduction="10000"/>
          </a:bodyPr>
          <a:lstStyle/>
          <a:p>
            <a:pPr>
              <a:buNone/>
            </a:pPr>
            <a:r>
              <a:rPr lang="fr-BE" dirty="0"/>
              <a:t> </a:t>
            </a:r>
            <a:r>
              <a:rPr lang="fr-BE" sz="3800" dirty="0"/>
              <a:t>Est </a:t>
            </a:r>
            <a:r>
              <a:rPr lang="fr-BE" sz="3800" b="1" dirty="0">
                <a:solidFill>
                  <a:schemeClr val="accent2">
                    <a:lumMod val="75000"/>
                  </a:schemeClr>
                </a:solidFill>
              </a:rPr>
              <a:t>considéré comme travail :</a:t>
            </a:r>
          </a:p>
          <a:p>
            <a:pPr>
              <a:buNone/>
            </a:pPr>
            <a:endParaRPr lang="fr-BE" sz="1700" dirty="0"/>
          </a:p>
          <a:p>
            <a:pPr>
              <a:buFont typeface="Wingdings" panose="05000000000000000000" pitchFamily="2" charset="2"/>
              <a:buChar char="§"/>
            </a:pPr>
            <a:r>
              <a:rPr lang="fr-FR" sz="3500" dirty="0"/>
              <a:t>l’activité effectuée </a:t>
            </a:r>
            <a:r>
              <a:rPr lang="fr-FR" sz="3500" i="1" dirty="0"/>
              <a:t>pour son propre compte</a:t>
            </a:r>
            <a:r>
              <a:rPr lang="fr-FR" sz="3500" dirty="0"/>
              <a:t>, qui </a:t>
            </a:r>
            <a:r>
              <a:rPr lang="fr-FR" sz="3500" b="1" dirty="0"/>
              <a:t>peut être intégrée dans le courant des échanges économiques</a:t>
            </a:r>
            <a:r>
              <a:rPr lang="fr-FR" sz="3500" dirty="0"/>
              <a:t> de biens et de services.</a:t>
            </a:r>
          </a:p>
          <a:p>
            <a:pPr marL="0" indent="0">
              <a:buNone/>
            </a:pPr>
            <a:endParaRPr lang="fr-FR" sz="3500" dirty="0"/>
          </a:p>
          <a:p>
            <a:pPr>
              <a:buFont typeface="Wingdings" panose="05000000000000000000" pitchFamily="2" charset="2"/>
              <a:buChar char="§"/>
            </a:pPr>
            <a:r>
              <a:rPr lang="fr-FR" sz="3500" dirty="0"/>
              <a:t>l’activité effectuée pour un tiers et qui </a:t>
            </a:r>
            <a:r>
              <a:rPr lang="fr-FR" sz="3500" b="1" dirty="0"/>
              <a:t>procure au travailleur une rémunération ou un avantage matériel</a:t>
            </a:r>
            <a:r>
              <a:rPr lang="fr-FR" sz="3500" dirty="0"/>
              <a:t> de nature à contribuer à sa subsistance ou à celle de sa famille .</a:t>
            </a:r>
            <a:br>
              <a:rPr lang="fr-FR" dirty="0"/>
            </a:br>
            <a:endParaRPr lang="fr-FR"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6</a:t>
            </a:fld>
            <a:endParaRPr lang="fr-FR" dirty="0"/>
          </a:p>
        </p:txBody>
      </p:sp>
    </p:spTree>
    <p:extLst>
      <p:ext uri="{BB962C8B-B14F-4D97-AF65-F5344CB8AC3E}">
        <p14:creationId xmlns:p14="http://schemas.microsoft.com/office/powerpoint/2010/main" val="1402637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t>1. Privation involontaire de travail et de rémunération</a:t>
            </a:r>
            <a:endParaRPr lang="en-US" b="1" i="1" dirty="0"/>
          </a:p>
        </p:txBody>
      </p:sp>
      <p:sp>
        <p:nvSpPr>
          <p:cNvPr id="3" name="Espace réservé du contenu 2"/>
          <p:cNvSpPr>
            <a:spLocks noGrp="1"/>
          </p:cNvSpPr>
          <p:nvPr>
            <p:ph idx="1"/>
          </p:nvPr>
        </p:nvSpPr>
        <p:spPr/>
        <p:txBody>
          <a:bodyPr>
            <a:normAutofit/>
          </a:bodyPr>
          <a:lstStyle/>
          <a:p>
            <a:pPr>
              <a:buNone/>
            </a:pPr>
            <a:r>
              <a:rPr lang="fr-FR" dirty="0"/>
              <a:t>Est </a:t>
            </a:r>
            <a:r>
              <a:rPr lang="fr-FR" b="1" dirty="0">
                <a:solidFill>
                  <a:schemeClr val="accent2">
                    <a:lumMod val="75000"/>
                  </a:schemeClr>
                </a:solidFill>
              </a:rPr>
              <a:t>considéré comme rémunération :</a:t>
            </a:r>
          </a:p>
          <a:p>
            <a:pPr>
              <a:buFont typeface="Wingdings" panose="05000000000000000000" pitchFamily="2" charset="2"/>
              <a:buChar char="§"/>
            </a:pPr>
            <a:r>
              <a:rPr lang="fr-FR" sz="3000" dirty="0"/>
              <a:t>le </a:t>
            </a:r>
            <a:r>
              <a:rPr lang="fr-FR" sz="3000" b="1" dirty="0"/>
              <a:t>salaire</a:t>
            </a:r>
            <a:r>
              <a:rPr lang="fr-FR" sz="3000" dirty="0"/>
              <a:t> garanti par la législation relative aux contrats de travail, par une CCT qui lie l'entreprise et par la législation relative à la rémunération par les pouvoirs publics </a:t>
            </a:r>
          </a:p>
          <a:p>
            <a:pPr>
              <a:buFont typeface="Wingdings" panose="05000000000000000000" pitchFamily="2" charset="2"/>
              <a:buChar char="§"/>
            </a:pPr>
            <a:r>
              <a:rPr lang="fr-FR" sz="3000" b="1" dirty="0"/>
              <a:t>JF , jours de remplacement d’un JF </a:t>
            </a:r>
            <a:r>
              <a:rPr lang="fr-FR" sz="3000" dirty="0"/>
              <a:t>et JF ou jours de remplacement durant une période de chômage temporaire</a:t>
            </a:r>
            <a:br>
              <a:rPr lang="fr-FR" sz="3000" dirty="0"/>
            </a:br>
            <a:endParaRPr lang="en-US" sz="3000" dirty="0"/>
          </a:p>
          <a:p>
            <a:pPr>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7</a:t>
            </a:fld>
            <a:endParaRPr lang="fr-FR" dirty="0"/>
          </a:p>
        </p:txBody>
      </p:sp>
    </p:spTree>
    <p:extLst>
      <p:ext uri="{BB962C8B-B14F-4D97-AF65-F5344CB8AC3E}">
        <p14:creationId xmlns:p14="http://schemas.microsoft.com/office/powerpoint/2010/main" val="1837451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dirty="0"/>
              <a:t>1. Privation involontaire de travail et de rémunération</a:t>
            </a:r>
            <a:endParaRPr lang="en-US" b="1" i="1"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
            </a:pPr>
            <a:r>
              <a:rPr lang="en-US" dirty="0"/>
              <a:t>le </a:t>
            </a:r>
            <a:r>
              <a:rPr lang="fr-BE" b="1" dirty="0"/>
              <a:t>pécule de vacances</a:t>
            </a:r>
          </a:p>
          <a:p>
            <a:pPr>
              <a:buFont typeface="Wingdings" panose="05000000000000000000" pitchFamily="2" charset="2"/>
              <a:buChar char="§"/>
            </a:pPr>
            <a:r>
              <a:rPr lang="fr-FR" dirty="0"/>
              <a:t>la rémunération pour une période de vacances scolaires (</a:t>
            </a:r>
            <a:r>
              <a:rPr lang="fr-FR" b="1" dirty="0"/>
              <a:t>traitement différé</a:t>
            </a:r>
            <a:r>
              <a:rPr lang="fr-FR" dirty="0"/>
              <a:t>)</a:t>
            </a:r>
          </a:p>
          <a:p>
            <a:pPr>
              <a:buFont typeface="Wingdings" panose="05000000000000000000" pitchFamily="2" charset="2"/>
              <a:buChar char="§"/>
            </a:pPr>
            <a:r>
              <a:rPr lang="fr-FR" b="1" dirty="0"/>
              <a:t>l'indemnité de congé</a:t>
            </a:r>
          </a:p>
          <a:p>
            <a:pPr>
              <a:buFont typeface="Wingdings" panose="05000000000000000000" pitchFamily="2" charset="2"/>
              <a:buChar char="§"/>
            </a:pPr>
            <a:r>
              <a:rPr lang="fr-FR" dirty="0"/>
              <a:t>l'avantage accordé au travailleur dans le cadre d'une </a:t>
            </a:r>
            <a:r>
              <a:rPr lang="fr-FR" b="1" dirty="0"/>
              <a:t>formation, d'études, ou d'un apprentissage </a:t>
            </a:r>
            <a:endParaRPr lang="en-US" b="1"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8</a:t>
            </a:fld>
            <a:endParaRPr lang="fr-FR" dirty="0"/>
          </a:p>
        </p:txBody>
      </p:sp>
    </p:spTree>
    <p:extLst>
      <p:ext uri="{BB962C8B-B14F-4D97-AF65-F5344CB8AC3E}">
        <p14:creationId xmlns:p14="http://schemas.microsoft.com/office/powerpoint/2010/main" val="2012582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2.1. </a:t>
            </a:r>
            <a:r>
              <a:rPr lang="fr-FR" b="1" i="1" dirty="0"/>
              <a:t>Disponibilité pour le marché de l'emploi : emploi convenable</a:t>
            </a:r>
            <a:endParaRPr lang="en-US" b="1" i="1" dirty="0"/>
          </a:p>
        </p:txBody>
      </p:sp>
      <p:sp>
        <p:nvSpPr>
          <p:cNvPr id="3" name="Espace réservé du contenu 2"/>
          <p:cNvSpPr>
            <a:spLocks noGrp="1"/>
          </p:cNvSpPr>
          <p:nvPr>
            <p:ph idx="1"/>
          </p:nvPr>
        </p:nvSpPr>
        <p:spPr>
          <a:xfrm>
            <a:off x="457200" y="1600200"/>
            <a:ext cx="8435280" cy="4525963"/>
          </a:xfrm>
        </p:spPr>
        <p:txBody>
          <a:bodyPr>
            <a:normAutofit/>
          </a:bodyPr>
          <a:lstStyle/>
          <a:p>
            <a:pPr marL="0" indent="0">
              <a:buNone/>
            </a:pPr>
            <a:r>
              <a:rPr lang="fr-FR" dirty="0"/>
              <a:t>Pour bénéficier des allocations, le chômeur complet doit être </a:t>
            </a:r>
            <a:r>
              <a:rPr lang="fr-FR" b="1" dirty="0">
                <a:solidFill>
                  <a:schemeClr val="accent2">
                    <a:lumMod val="75000"/>
                  </a:schemeClr>
                </a:solidFill>
              </a:rPr>
              <a:t>disponible pour le marché de l'emploi</a:t>
            </a:r>
            <a:r>
              <a:rPr lang="fr-FR" dirty="0"/>
              <a:t>. </a:t>
            </a:r>
          </a:p>
          <a:p>
            <a:pPr marL="0" indent="0">
              <a:buNone/>
            </a:pPr>
            <a:r>
              <a:rPr lang="fr-FR" dirty="0">
                <a:sym typeface="Wingdings" panose="05000000000000000000" pitchFamily="2" charset="2"/>
              </a:rPr>
              <a:t> </a:t>
            </a:r>
            <a:r>
              <a:rPr lang="fr-FR" sz="3000" i="1" dirty="0"/>
              <a:t>Le chômeur qui n'est pas disposé à accepter tout emploi convenable du fait qu'il soumet sa remise au travail à des réserves qui, compte tenu des critères de l'emploi convenable, ne sont pas fondées est considéré comme indisponible pour le marché de l'emploi.</a:t>
            </a:r>
          </a:p>
          <a:p>
            <a:pPr marL="0" indent="0">
              <a:buNone/>
            </a:pPr>
            <a:endParaRPr lang="fr-FR" dirty="0"/>
          </a:p>
          <a:p>
            <a:pPr>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9</a:t>
            </a:fld>
            <a:endParaRPr lang="fr-FR" dirty="0"/>
          </a:p>
        </p:txBody>
      </p:sp>
      <p:sp>
        <p:nvSpPr>
          <p:cNvPr id="5" name="Rectangle 4">
            <a:extLst>
              <a:ext uri="{FF2B5EF4-FFF2-40B4-BE49-F238E27FC236}">
                <a16:creationId xmlns:a16="http://schemas.microsoft.com/office/drawing/2014/main" id="{5D28487C-1599-424D-AEB3-98C8AC791016}"/>
              </a:ext>
            </a:extLst>
          </p:cNvPr>
          <p:cNvSpPr/>
          <p:nvPr/>
        </p:nvSpPr>
        <p:spPr>
          <a:xfrm>
            <a:off x="457200" y="1600200"/>
            <a:ext cx="8229600" cy="1468760"/>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Tree>
    <p:extLst>
      <p:ext uri="{BB962C8B-B14F-4D97-AF65-F5344CB8AC3E}">
        <p14:creationId xmlns:p14="http://schemas.microsoft.com/office/powerpoint/2010/main" val="1966743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2.1. </a:t>
            </a:r>
            <a:r>
              <a:rPr lang="fr-FR" b="1" i="1" dirty="0"/>
              <a:t>Disponibilité pour le marché de l'emploi : emploi convenable</a:t>
            </a:r>
            <a:endParaRPr lang="en-US" b="1" i="1"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BE" b="1" u="sng" dirty="0"/>
              <a:t>Exemple de critère pour un emploi convenable</a:t>
            </a:r>
            <a:r>
              <a:rPr lang="fr-BE" b="1" dirty="0"/>
              <a:t>:</a:t>
            </a:r>
            <a:endParaRPr lang="fr-BE" sz="1600" b="1" dirty="0"/>
          </a:p>
          <a:p>
            <a:pPr marL="0" indent="0">
              <a:buNone/>
            </a:pPr>
            <a:endParaRPr lang="fr-BE" sz="1400" dirty="0"/>
          </a:p>
          <a:p>
            <a:pPr marL="0" indent="0">
              <a:buNone/>
            </a:pPr>
            <a:r>
              <a:rPr lang="fr-FR" dirty="0"/>
              <a:t>Un emploi est réputé non convenable s'il donne habituellement lieu à une </a:t>
            </a:r>
            <a:r>
              <a:rPr lang="fr-FR" b="1" dirty="0">
                <a:solidFill>
                  <a:schemeClr val="accent2">
                    <a:lumMod val="75000"/>
                  </a:schemeClr>
                </a:solidFill>
              </a:rPr>
              <a:t>absence</a:t>
            </a:r>
            <a:r>
              <a:rPr lang="fr-FR" dirty="0">
                <a:solidFill>
                  <a:schemeClr val="accent2">
                    <a:lumMod val="75000"/>
                  </a:schemeClr>
                </a:solidFill>
              </a:rPr>
              <a:t> </a:t>
            </a:r>
            <a:r>
              <a:rPr lang="fr-FR" dirty="0"/>
              <a:t>journalière de la résidence habituelle de plus de 12 heures ou si la durée journalière des </a:t>
            </a:r>
            <a:r>
              <a:rPr lang="fr-FR" b="1" dirty="0">
                <a:solidFill>
                  <a:schemeClr val="accent2">
                    <a:lumMod val="75000"/>
                  </a:schemeClr>
                </a:solidFill>
              </a:rPr>
              <a:t>déplacements</a:t>
            </a:r>
            <a:r>
              <a:rPr lang="fr-FR" dirty="0"/>
              <a:t> dépasse habituellement 4 heures.</a:t>
            </a:r>
          </a:p>
          <a:p>
            <a:pPr marL="0" lvl="0" indent="0">
              <a:buNone/>
            </a:pPr>
            <a:r>
              <a:rPr lang="fr-FR" sz="3000" b="1" i="1" u="sng" dirty="0">
                <a:solidFill>
                  <a:schemeClr val="accent2">
                    <a:lumMod val="75000"/>
                  </a:schemeClr>
                </a:solidFill>
              </a:rPr>
              <a:t>Si</a:t>
            </a:r>
            <a:r>
              <a:rPr lang="fr-FR" sz="3000" i="1" dirty="0">
                <a:solidFill>
                  <a:prstClr val="black"/>
                </a:solidFill>
              </a:rPr>
              <a:t> la </a:t>
            </a:r>
            <a:r>
              <a:rPr lang="fr-FR" sz="3000" b="1" i="1" dirty="0">
                <a:solidFill>
                  <a:prstClr val="black"/>
                </a:solidFill>
              </a:rPr>
              <a:t>distance entre le lieu de résidence du travailleur et le lieu de travail</a:t>
            </a:r>
            <a:r>
              <a:rPr lang="fr-FR" sz="3000" i="1" dirty="0">
                <a:solidFill>
                  <a:prstClr val="black"/>
                </a:solidFill>
              </a:rPr>
              <a:t> ne dépasse pas </a:t>
            </a:r>
            <a:r>
              <a:rPr lang="fr-FR" sz="3000" i="1" dirty="0">
                <a:solidFill>
                  <a:schemeClr val="accent2">
                    <a:lumMod val="75000"/>
                  </a:schemeClr>
                </a:solidFill>
              </a:rPr>
              <a:t>60 km</a:t>
            </a:r>
            <a:r>
              <a:rPr lang="fr-FR" sz="3000" i="1" dirty="0">
                <a:solidFill>
                  <a:prstClr val="black"/>
                </a:solidFill>
              </a:rPr>
              <a:t>, il n'est pas tenu compte de la durée de l'absence et des déplacements.</a:t>
            </a:r>
          </a:p>
          <a:p>
            <a:pPr marL="0" indent="0">
              <a:buNone/>
            </a:pPr>
            <a:endParaRPr lang="fr-FR" dirty="0"/>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10</a:t>
            </a:fld>
            <a:endParaRPr lang="fr-FR" dirty="0"/>
          </a:p>
        </p:txBody>
      </p:sp>
    </p:spTree>
    <p:extLst>
      <p:ext uri="{BB962C8B-B14F-4D97-AF65-F5344CB8AC3E}">
        <p14:creationId xmlns:p14="http://schemas.microsoft.com/office/powerpoint/2010/main" val="3725209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p:txBody>
          <a:bodyPr>
            <a:normAutofit lnSpcReduction="10000"/>
          </a:bodyPr>
          <a:lstStyle/>
          <a:p>
            <a:pPr marL="0" indent="0">
              <a:buNone/>
            </a:pPr>
            <a:r>
              <a:rPr lang="fr-FR" dirty="0"/>
              <a:t>Être disponible pour le marché de l’emploi veut également dire que le chômeur</a:t>
            </a:r>
            <a:r>
              <a:rPr lang="fr-BE" dirty="0"/>
              <a:t> </a:t>
            </a:r>
            <a:r>
              <a:rPr lang="fr-BE" b="1" dirty="0">
                <a:solidFill>
                  <a:schemeClr val="accent2">
                    <a:lumMod val="75000"/>
                  </a:schemeClr>
                </a:solidFill>
              </a:rPr>
              <a:t>doit </a:t>
            </a:r>
            <a:r>
              <a:rPr lang="fr-FR" b="1" dirty="0">
                <a:solidFill>
                  <a:schemeClr val="accent2">
                    <a:lumMod val="75000"/>
                  </a:schemeClr>
                </a:solidFill>
              </a:rPr>
              <a:t>chercher lui-même activement un emploi. </a:t>
            </a:r>
          </a:p>
          <a:p>
            <a:pPr marL="0" indent="0">
              <a:buNone/>
            </a:pPr>
            <a:endParaRPr lang="fr-FR" dirty="0"/>
          </a:p>
          <a:p>
            <a:pPr marL="0" indent="0">
              <a:buNone/>
            </a:pPr>
            <a:r>
              <a:rPr lang="fr-FR" dirty="0"/>
              <a:t>Le </a:t>
            </a:r>
            <a:r>
              <a:rPr lang="fr-FR" b="1" dirty="0"/>
              <a:t>SRE</a:t>
            </a:r>
            <a:r>
              <a:rPr lang="fr-FR" dirty="0"/>
              <a:t> vérifie régulièrement que le chômeur cherche activement du travail et remplit donc toujours les conditions pour avoir droit aux allocations </a:t>
            </a:r>
            <a:r>
              <a:rPr lang="fr-FR" b="1" dirty="0">
                <a:solidFill>
                  <a:schemeClr val="accent2">
                    <a:lumMod val="75000"/>
                  </a:schemeClr>
                </a:solidFill>
              </a:rPr>
              <a:t>(= activation du comportement de recherche d’emploi</a:t>
            </a:r>
            <a:r>
              <a:rPr lang="fr-FR" dirty="0">
                <a:solidFill>
                  <a:schemeClr val="accent2">
                    <a:lumMod val="75000"/>
                  </a:schemeClr>
                </a:solidFill>
              </a:rPr>
              <a:t>). </a:t>
            </a:r>
            <a:endParaRPr lang="fr-BE" dirty="0">
              <a:solidFill>
                <a:schemeClr val="accent2">
                  <a:lumMod val="75000"/>
                </a:schemeClr>
              </a:solidFill>
            </a:endParaRPr>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11</a:t>
            </a:fld>
            <a:endParaRPr lang="fr-FR" dirty="0"/>
          </a:p>
        </p:txBody>
      </p:sp>
      <p:sp>
        <p:nvSpPr>
          <p:cNvPr id="5" name="Rectangle 4">
            <a:extLst>
              <a:ext uri="{FF2B5EF4-FFF2-40B4-BE49-F238E27FC236}">
                <a16:creationId xmlns:a16="http://schemas.microsoft.com/office/drawing/2014/main" id="{8978D505-3F98-4700-B2A0-FEDF3B518E98}"/>
              </a:ext>
            </a:extLst>
          </p:cNvPr>
          <p:cNvSpPr/>
          <p:nvPr/>
        </p:nvSpPr>
        <p:spPr>
          <a:xfrm>
            <a:off x="457200" y="1600200"/>
            <a:ext cx="8229600" cy="1468760"/>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Tree>
    <p:extLst>
      <p:ext uri="{BB962C8B-B14F-4D97-AF65-F5344CB8AC3E}">
        <p14:creationId xmlns:p14="http://schemas.microsoft.com/office/powerpoint/2010/main" val="2248222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p:txBody>
          <a:bodyPr>
            <a:normAutofit/>
          </a:bodyPr>
          <a:lstStyle/>
          <a:p>
            <a:pPr marL="0" indent="0">
              <a:buNone/>
            </a:pPr>
            <a:r>
              <a:rPr lang="fr-FR" b="1" u="sng" dirty="0"/>
              <a:t>Procédure SRE</a:t>
            </a:r>
            <a:r>
              <a:rPr lang="fr-FR" dirty="0"/>
              <a:t>: </a:t>
            </a:r>
          </a:p>
          <a:p>
            <a:pPr>
              <a:buFont typeface="Wingdings" panose="05000000000000000000" pitchFamily="2" charset="2"/>
              <a:buChar char="§"/>
            </a:pPr>
            <a:r>
              <a:rPr lang="fr-FR" b="1" dirty="0">
                <a:solidFill>
                  <a:schemeClr val="accent2">
                    <a:lumMod val="75000"/>
                  </a:schemeClr>
                </a:solidFill>
              </a:rPr>
              <a:t>Une seule procédure</a:t>
            </a:r>
            <a:r>
              <a:rPr lang="fr-FR" dirty="0">
                <a:solidFill>
                  <a:schemeClr val="accent2">
                    <a:lumMod val="75000"/>
                  </a:schemeClr>
                </a:solidFill>
              </a:rPr>
              <a:t> </a:t>
            </a:r>
            <a:r>
              <a:rPr lang="fr-FR" dirty="0"/>
              <a:t>applicable à l’ensemble des catégories de personnes contrôlées</a:t>
            </a:r>
          </a:p>
          <a:p>
            <a:pPr>
              <a:buFont typeface="Wingdings" panose="05000000000000000000" pitchFamily="2" charset="2"/>
              <a:buChar char="§"/>
            </a:pPr>
            <a:r>
              <a:rPr lang="fr-FR" b="1" dirty="0">
                <a:solidFill>
                  <a:schemeClr val="accent2">
                    <a:lumMod val="75000"/>
                  </a:schemeClr>
                </a:solidFill>
              </a:rPr>
              <a:t>Public cible</a:t>
            </a:r>
            <a:r>
              <a:rPr lang="fr-FR" dirty="0"/>
              <a:t>: Chômeurs complets &lt; 60 ans et travailleurs à temps partiel avec AGR durant les 12 premiers mois si Q &lt; S/2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12</a:t>
            </a:fld>
            <a:endParaRPr lang="fr-FR"/>
          </a:p>
        </p:txBody>
      </p:sp>
      <p:sp>
        <p:nvSpPr>
          <p:cNvPr id="5" name="ZoneTexte 4"/>
          <p:cNvSpPr txBox="1"/>
          <p:nvPr/>
        </p:nvSpPr>
        <p:spPr>
          <a:xfrm>
            <a:off x="302840" y="5301208"/>
            <a:ext cx="8589640" cy="646331"/>
          </a:xfrm>
          <a:prstGeom prst="rect">
            <a:avLst/>
          </a:prstGeom>
          <a:noFill/>
        </p:spPr>
        <p:txBody>
          <a:bodyPr wrap="square" rtlCol="0">
            <a:spAutoFit/>
          </a:bodyPr>
          <a:lstStyle/>
          <a:p>
            <a:r>
              <a:rPr lang="fr-BE" i="1" dirty="0"/>
              <a:t>* Pour les chômeurs de plus de 60 ans et les travailleurs à temps partiel dont Q </a:t>
            </a:r>
            <a:r>
              <a:rPr lang="fr-BE" dirty="0"/>
              <a:t>≥ S/2 ou après 12 mois on parlera de « disponibilité adaptée » qui sera abordée au point 7</a:t>
            </a:r>
            <a:endParaRPr lang="fr-BE" i="1" dirty="0"/>
          </a:p>
        </p:txBody>
      </p:sp>
    </p:spTree>
    <p:extLst>
      <p:ext uri="{BB962C8B-B14F-4D97-AF65-F5344CB8AC3E}">
        <p14:creationId xmlns:p14="http://schemas.microsoft.com/office/powerpoint/2010/main" val="1008623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a:xfrm>
            <a:off x="457200" y="1600200"/>
            <a:ext cx="8507288" cy="4983162"/>
          </a:xfrm>
        </p:spPr>
        <p:txBody>
          <a:bodyPr>
            <a:normAutofit lnSpcReduction="10000"/>
          </a:bodyPr>
          <a:lstStyle/>
          <a:p>
            <a:pPr>
              <a:buFont typeface="Wingdings" panose="05000000000000000000" pitchFamily="2" charset="2"/>
              <a:buChar char="§"/>
            </a:pPr>
            <a:r>
              <a:rPr lang="fr-FR" sz="3000" b="1" dirty="0">
                <a:solidFill>
                  <a:schemeClr val="accent2">
                    <a:lumMod val="75000"/>
                  </a:schemeClr>
                </a:solidFill>
              </a:rPr>
              <a:t>Périodicité des évaluations: </a:t>
            </a:r>
            <a:r>
              <a:rPr lang="fr-FR" sz="3000" dirty="0"/>
              <a:t>Le SRE évalue la disponibilité active pendant toute la durée du chômage et au moins 1 fois/an pour le chômeur complet ou 1 fois au cours des douze mois pour le travailleur à temps partiel.</a:t>
            </a:r>
          </a:p>
          <a:p>
            <a:pPr lvl="1">
              <a:buFont typeface="Wingdings" panose="05000000000000000000" pitchFamily="2" charset="2"/>
              <a:buChar char="Ø"/>
            </a:pPr>
            <a:r>
              <a:rPr lang="fr-FR" b="1" u="sng" dirty="0">
                <a:solidFill>
                  <a:schemeClr val="accent2">
                    <a:lumMod val="75000"/>
                  </a:schemeClr>
                </a:solidFill>
              </a:rPr>
              <a:t>Si</a:t>
            </a:r>
            <a:r>
              <a:rPr lang="fr-FR" dirty="0"/>
              <a:t> évaluation </a:t>
            </a:r>
            <a:r>
              <a:rPr lang="fr-FR" b="1" dirty="0">
                <a:solidFill>
                  <a:schemeClr val="accent2">
                    <a:lumMod val="75000"/>
                  </a:schemeClr>
                </a:solidFill>
              </a:rPr>
              <a:t>positive</a:t>
            </a:r>
            <a:r>
              <a:rPr lang="fr-FR" dirty="0">
                <a:sym typeface="Wingdings" panose="05000000000000000000" pitchFamily="2" charset="2"/>
              </a:rPr>
              <a:t> reconvoqué dans les 12 mois qui suivent l’évaluation positive</a:t>
            </a:r>
          </a:p>
          <a:p>
            <a:pPr lvl="1">
              <a:buFont typeface="Wingdings" panose="05000000000000000000" pitchFamily="2" charset="2"/>
              <a:buChar char="Ø"/>
            </a:pPr>
            <a:r>
              <a:rPr lang="fr-FR" b="1" u="sng" dirty="0">
                <a:solidFill>
                  <a:schemeClr val="accent2">
                    <a:lumMod val="75000"/>
                  </a:schemeClr>
                </a:solidFill>
                <a:sym typeface="Wingdings" panose="05000000000000000000" pitchFamily="2" charset="2"/>
              </a:rPr>
              <a:t>Si</a:t>
            </a:r>
            <a:r>
              <a:rPr lang="fr-FR" b="1" dirty="0">
                <a:sym typeface="Wingdings" panose="05000000000000000000" pitchFamily="2" charset="2"/>
              </a:rPr>
              <a:t> </a:t>
            </a:r>
            <a:r>
              <a:rPr lang="fr-FR" dirty="0">
                <a:sym typeface="Wingdings" panose="05000000000000000000" pitchFamily="2" charset="2"/>
              </a:rPr>
              <a:t>évaluation </a:t>
            </a:r>
            <a:r>
              <a:rPr lang="fr-FR" b="1" dirty="0">
                <a:solidFill>
                  <a:schemeClr val="accent2">
                    <a:lumMod val="75000"/>
                  </a:schemeClr>
                </a:solidFill>
                <a:sym typeface="Wingdings" panose="05000000000000000000" pitchFamily="2" charset="2"/>
              </a:rPr>
              <a:t>négative</a:t>
            </a:r>
            <a:r>
              <a:rPr lang="fr-FR" dirty="0">
                <a:sym typeface="Wingdings" panose="05000000000000000000" pitchFamily="2" charset="2"/>
              </a:rPr>
              <a:t></a:t>
            </a:r>
            <a:r>
              <a:rPr lang="fr-BE" dirty="0">
                <a:sym typeface="Wingdings" panose="05000000000000000000" pitchFamily="2" charset="2"/>
              </a:rPr>
              <a:t>nouvelle évaluation au plus tard 6 mois après l'évaluation négative ou au plus tard 6 mois après l'expiration de la sanction appliquée à la suite de l'évaluation négative</a:t>
            </a:r>
            <a:endParaRPr lang="fr-FR" dirty="0">
              <a:sym typeface="Wingdings" panose="05000000000000000000" pitchFamily="2" charset="2"/>
            </a:endParaRPr>
          </a:p>
          <a:p>
            <a:pPr marL="1344613" indent="0">
              <a:buNone/>
            </a:pPr>
            <a:endParaRPr lang="fr-FR" sz="2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13</a:t>
            </a:fld>
            <a:endParaRPr lang="fr-FR"/>
          </a:p>
        </p:txBody>
      </p:sp>
    </p:spTree>
    <p:extLst>
      <p:ext uri="{BB962C8B-B14F-4D97-AF65-F5344CB8AC3E}">
        <p14:creationId xmlns:p14="http://schemas.microsoft.com/office/powerpoint/2010/main" val="2110703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p:txBody>
          <a:bodyPr>
            <a:normAutofit fontScale="92500" lnSpcReduction="10000"/>
          </a:bodyPr>
          <a:lstStyle/>
          <a:p>
            <a:pPr>
              <a:buFont typeface="Wingdings" panose="05000000000000000000" pitchFamily="2" charset="2"/>
              <a:buChar char="§"/>
            </a:pPr>
            <a:r>
              <a:rPr lang="fr-FR" b="1" dirty="0">
                <a:solidFill>
                  <a:schemeClr val="accent2">
                    <a:lumMod val="75000"/>
                  </a:schemeClr>
                </a:solidFill>
              </a:rPr>
              <a:t>Période évaluée:</a:t>
            </a:r>
            <a:r>
              <a:rPr lang="fr-FR" dirty="0">
                <a:solidFill>
                  <a:schemeClr val="accent2">
                    <a:lumMod val="75000"/>
                  </a:schemeClr>
                </a:solidFill>
              </a:rPr>
              <a:t> </a:t>
            </a:r>
            <a:r>
              <a:rPr lang="fr-BE" dirty="0"/>
              <a:t>l'évaluation porte sur la période qui s'est écoulée depuis la précédente évaluation ou sur la période qui s'est écoulée depuis le début du chômage ou depuis le début de la période de douze mois pour le travailleur à temps partiel</a:t>
            </a:r>
          </a:p>
          <a:p>
            <a:pPr marL="357188" indent="-357188"/>
            <a:endParaRPr lang="fr-BE" dirty="0"/>
          </a:p>
          <a:p>
            <a:pPr marL="357188" indent="0">
              <a:buNone/>
            </a:pPr>
            <a:r>
              <a:rPr lang="fr-BE" b="1" i="1" dirty="0"/>
              <a:t>Début chômage = date 1</a:t>
            </a:r>
            <a:r>
              <a:rPr lang="fr-BE" b="1" i="1" baseline="30000" dirty="0"/>
              <a:t>ère</a:t>
            </a:r>
            <a:r>
              <a:rPr lang="fr-BE" b="1" i="1" dirty="0"/>
              <a:t> IDE ou dernière IDE après une interruption de l’inscription d’au moins 3 mois</a:t>
            </a:r>
            <a:endParaRPr lang="fr-FR" b="1" i="1" u="sng"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14</a:t>
            </a:fld>
            <a:endParaRPr lang="fr-FR"/>
          </a:p>
        </p:txBody>
      </p:sp>
    </p:spTree>
    <p:extLst>
      <p:ext uri="{BB962C8B-B14F-4D97-AF65-F5344CB8AC3E}">
        <p14:creationId xmlns:p14="http://schemas.microsoft.com/office/powerpoint/2010/main" val="2316564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a:xfrm>
            <a:off x="457200" y="1600200"/>
            <a:ext cx="8363272" cy="4525963"/>
          </a:xfrm>
        </p:spPr>
        <p:txBody>
          <a:bodyPr>
            <a:normAutofit/>
          </a:bodyPr>
          <a:lstStyle/>
          <a:p>
            <a:pPr marL="0" indent="0">
              <a:buNone/>
            </a:pPr>
            <a:r>
              <a:rPr lang="fr-FR" sz="3000" dirty="0"/>
              <a:t>La procédure de contrôle pourra comporter </a:t>
            </a:r>
            <a:r>
              <a:rPr lang="fr-FR" sz="3000" b="1" u="sng" dirty="0">
                <a:solidFill>
                  <a:schemeClr val="accent2">
                    <a:lumMod val="75000"/>
                  </a:schemeClr>
                </a:solidFill>
              </a:rPr>
              <a:t>jusqu’à 3 phases</a:t>
            </a:r>
            <a:r>
              <a:rPr lang="fr-FR" sz="3000" dirty="0">
                <a:solidFill>
                  <a:schemeClr val="accent2">
                    <a:lumMod val="75000"/>
                  </a:schemeClr>
                </a:solidFill>
              </a:rPr>
              <a:t> </a:t>
            </a:r>
            <a:r>
              <a:rPr lang="fr-FR" sz="3000" dirty="0"/>
              <a:t>en cas d’évaluations négatives successives et impliquer des sanctions dont la durée augmentera graduellement.</a:t>
            </a:r>
          </a:p>
          <a:p>
            <a:pPr marL="0" indent="0">
              <a:buNone/>
            </a:pPr>
            <a:r>
              <a:rPr lang="fr-FR" sz="3000" b="1" dirty="0"/>
              <a:t>Sanctions en cas d’évaluation négative</a:t>
            </a:r>
            <a:r>
              <a:rPr lang="fr-FR" sz="2400" dirty="0"/>
              <a:t>:</a:t>
            </a:r>
          </a:p>
          <a:p>
            <a:pPr>
              <a:buFont typeface="Courier New" panose="02070309020205020404" pitchFamily="49" charset="0"/>
              <a:buChar char="o"/>
            </a:pPr>
            <a:r>
              <a:rPr lang="fr-FR" sz="3000" b="1" u="sng" dirty="0">
                <a:solidFill>
                  <a:schemeClr val="accent2">
                    <a:lumMod val="75000"/>
                  </a:schemeClr>
                </a:solidFill>
              </a:rPr>
              <a:t>Phase 1</a:t>
            </a:r>
            <a:r>
              <a:rPr lang="fr-FR" sz="3000" b="1" dirty="0">
                <a:solidFill>
                  <a:schemeClr val="accent2">
                    <a:lumMod val="75000"/>
                  </a:schemeClr>
                </a:solidFill>
              </a:rPr>
              <a:t>: </a:t>
            </a:r>
          </a:p>
          <a:p>
            <a:pPr lvl="1">
              <a:buFont typeface="Wingdings" panose="05000000000000000000" pitchFamily="2" charset="2"/>
              <a:buChar char="Ø"/>
            </a:pPr>
            <a:r>
              <a:rPr lang="fr-FR" sz="3000" b="1" dirty="0"/>
              <a:t>Avertissement</a:t>
            </a:r>
            <a:r>
              <a:rPr lang="fr-FR" sz="3000" dirty="0"/>
              <a:t> en cas de 1</a:t>
            </a:r>
            <a:r>
              <a:rPr lang="fr-FR" sz="3000" baseline="30000" dirty="0"/>
              <a:t>ère</a:t>
            </a:r>
            <a:r>
              <a:rPr lang="fr-FR" sz="3000" dirty="0"/>
              <a:t> évaluation négative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15</a:t>
            </a:fld>
            <a:endParaRPr lang="fr-FR"/>
          </a:p>
        </p:txBody>
      </p:sp>
    </p:spTree>
    <p:extLst>
      <p:ext uri="{BB962C8B-B14F-4D97-AF65-F5344CB8AC3E}">
        <p14:creationId xmlns:p14="http://schemas.microsoft.com/office/powerpoint/2010/main" val="2008180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a:t>
            </a:r>
            <a:r>
              <a:rPr lang="fr-FR" b="1" i="1" dirty="0"/>
              <a:t>Disponibilité pour le marché de l'emploi : activation</a:t>
            </a:r>
            <a:endParaRPr lang="en-US" b="1" i="1" dirty="0"/>
          </a:p>
        </p:txBody>
      </p:sp>
      <p:sp>
        <p:nvSpPr>
          <p:cNvPr id="3" name="Espace réservé du contenu 2"/>
          <p:cNvSpPr>
            <a:spLocks noGrp="1"/>
          </p:cNvSpPr>
          <p:nvPr>
            <p:ph idx="1"/>
          </p:nvPr>
        </p:nvSpPr>
        <p:spPr>
          <a:xfrm>
            <a:off x="457200" y="1417638"/>
            <a:ext cx="8229600" cy="5165724"/>
          </a:xfrm>
        </p:spPr>
        <p:txBody>
          <a:bodyPr>
            <a:normAutofit fontScale="92500" lnSpcReduction="20000"/>
          </a:bodyPr>
          <a:lstStyle/>
          <a:p>
            <a:pPr>
              <a:buFont typeface="Courier New" panose="02070309020205020404" pitchFamily="49" charset="0"/>
              <a:buChar char="o"/>
            </a:pPr>
            <a:r>
              <a:rPr lang="fr-FR" sz="3000" dirty="0">
                <a:solidFill>
                  <a:schemeClr val="accent2">
                    <a:lumMod val="75000"/>
                  </a:schemeClr>
                </a:solidFill>
              </a:rPr>
              <a:t> </a:t>
            </a:r>
            <a:r>
              <a:rPr lang="fr-FR" sz="3000" b="1" u="sng" dirty="0">
                <a:solidFill>
                  <a:schemeClr val="accent2">
                    <a:lumMod val="75000"/>
                  </a:schemeClr>
                </a:solidFill>
                <a:sym typeface="Wingdings" panose="05000000000000000000" pitchFamily="2" charset="2"/>
              </a:rPr>
              <a:t>Phase 2</a:t>
            </a:r>
            <a:r>
              <a:rPr lang="fr-FR" sz="3000" b="1" dirty="0">
                <a:solidFill>
                  <a:schemeClr val="accent2">
                    <a:lumMod val="75000"/>
                  </a:schemeClr>
                </a:solidFill>
                <a:sym typeface="Wingdings" panose="05000000000000000000" pitchFamily="2" charset="2"/>
              </a:rPr>
              <a:t>: </a:t>
            </a:r>
          </a:p>
          <a:p>
            <a:pPr>
              <a:buFont typeface="Wingdings" panose="05000000000000000000" pitchFamily="2" charset="2"/>
              <a:buChar char="Ø"/>
            </a:pPr>
            <a:r>
              <a:rPr lang="fr-FR" sz="2800" b="1" dirty="0"/>
              <a:t>Exclusion </a:t>
            </a:r>
            <a:r>
              <a:rPr lang="fr-FR" sz="2800" dirty="0"/>
              <a:t>du droit aux allocations pour les « B » et pour les personnes qui perçoivent des allocations d’insertion pour une </a:t>
            </a:r>
            <a:r>
              <a:rPr lang="fr-FR" sz="2800" b="1" dirty="0"/>
              <a:t>durée de 13 semaines</a:t>
            </a:r>
          </a:p>
          <a:p>
            <a:pPr>
              <a:buFont typeface="Wingdings" panose="05000000000000000000" pitchFamily="2" charset="2"/>
              <a:buChar char="Ø"/>
            </a:pPr>
            <a:r>
              <a:rPr lang="fr-FR" sz="2800" b="1" dirty="0"/>
              <a:t>Diminution </a:t>
            </a:r>
            <a:r>
              <a:rPr lang="fr-FR" sz="2800" dirty="0"/>
              <a:t>du montant des allocations pour les « N » et « A » pour une </a:t>
            </a:r>
            <a:r>
              <a:rPr lang="fr-FR" sz="2800" b="1" dirty="0"/>
              <a:t>durée de 13 semaines</a:t>
            </a:r>
          </a:p>
          <a:p>
            <a:pPr>
              <a:buFont typeface="Courier New" panose="02070309020205020404" pitchFamily="49" charset="0"/>
              <a:buChar char="o"/>
            </a:pPr>
            <a:r>
              <a:rPr lang="fr-FR" sz="3000" b="1" u="sng" dirty="0">
                <a:solidFill>
                  <a:schemeClr val="accent2">
                    <a:lumMod val="75000"/>
                  </a:schemeClr>
                </a:solidFill>
              </a:rPr>
              <a:t>Phase 3</a:t>
            </a:r>
            <a:r>
              <a:rPr lang="fr-FR" sz="2000" b="1" dirty="0">
                <a:solidFill>
                  <a:schemeClr val="accent2">
                    <a:lumMod val="75000"/>
                  </a:schemeClr>
                </a:solidFill>
              </a:rPr>
              <a:t>: </a:t>
            </a:r>
          </a:p>
          <a:p>
            <a:pPr>
              <a:buFont typeface="Wingdings" panose="05000000000000000000" pitchFamily="2" charset="2"/>
              <a:buChar char="Ø"/>
            </a:pPr>
            <a:r>
              <a:rPr lang="fr-FR" sz="2800" b="1" dirty="0"/>
              <a:t>Exclusion immédiate </a:t>
            </a:r>
            <a:r>
              <a:rPr lang="fr-FR" sz="2800" dirty="0"/>
              <a:t>et perte du droit aux allocations pour les « B » et pour les personnes qui perçoivent des allocations d’insertion</a:t>
            </a:r>
          </a:p>
          <a:p>
            <a:pPr>
              <a:buFont typeface="Wingdings" panose="05000000000000000000" pitchFamily="2" charset="2"/>
              <a:buChar char="Ø"/>
            </a:pPr>
            <a:r>
              <a:rPr lang="fr-FR" sz="2800" b="1" dirty="0"/>
              <a:t>Diminution</a:t>
            </a:r>
            <a:r>
              <a:rPr lang="fr-FR" sz="2800" dirty="0"/>
              <a:t> du montant des allocations pour les « N » et « A » pour une </a:t>
            </a:r>
            <a:r>
              <a:rPr lang="fr-FR" sz="2800" b="1" dirty="0"/>
              <a:t>durée de 6 mois</a:t>
            </a:r>
            <a:r>
              <a:rPr lang="fr-FR" sz="2800" dirty="0"/>
              <a:t> et </a:t>
            </a:r>
            <a:r>
              <a:rPr lang="fr-FR" sz="2800" b="1" dirty="0"/>
              <a:t>perte du droit</a:t>
            </a:r>
            <a:r>
              <a:rPr lang="fr-FR" sz="2800" dirty="0"/>
              <a:t> aux allocations </a:t>
            </a:r>
            <a:r>
              <a:rPr lang="fr-FR" sz="2800" b="1" dirty="0"/>
              <a:t>à échéance de cette période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16</a:t>
            </a:fld>
            <a:endParaRPr lang="fr-FR"/>
          </a:p>
        </p:txBody>
      </p:sp>
    </p:spTree>
    <p:extLst>
      <p:ext uri="{BB962C8B-B14F-4D97-AF65-F5344CB8AC3E}">
        <p14:creationId xmlns:p14="http://schemas.microsoft.com/office/powerpoint/2010/main" val="2966436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fr-BE" b="1" i="1" dirty="0"/>
          </a:p>
        </p:txBody>
      </p:sp>
      <p:sp>
        <p:nvSpPr>
          <p:cNvPr id="6" name="Espace réservé du contenu 5"/>
          <p:cNvSpPr>
            <a:spLocks noGrp="1"/>
          </p:cNvSpPr>
          <p:nvPr>
            <p:ph idx="1"/>
          </p:nvPr>
        </p:nvSpPr>
        <p:spPr>
          <a:xfrm>
            <a:off x="409903" y="1628800"/>
            <a:ext cx="8229600" cy="4525963"/>
          </a:xfrm>
        </p:spPr>
        <p:txBody>
          <a:bodyPr>
            <a:normAutofit fontScale="32500" lnSpcReduction="20000"/>
          </a:bodyPr>
          <a:lstStyle/>
          <a:p>
            <a:pPr marL="0" indent="0">
              <a:buNone/>
            </a:pPr>
            <a:endParaRPr lang="fr-BE" sz="10400" dirty="0"/>
          </a:p>
          <a:p>
            <a:pPr marL="0" indent="0">
              <a:buNone/>
            </a:pPr>
            <a:r>
              <a:rPr lang="fr-BE" sz="10400" dirty="0"/>
              <a:t>Il doit également </a:t>
            </a:r>
            <a:r>
              <a:rPr lang="fr-BE" sz="10400" b="1" dirty="0">
                <a:solidFill>
                  <a:schemeClr val="accent2">
                    <a:lumMod val="75000"/>
                  </a:schemeClr>
                </a:solidFill>
              </a:rPr>
              <a:t>être inscrit comme demandeur d’emploi</a:t>
            </a:r>
            <a:r>
              <a:rPr lang="fr-BE" sz="10400" dirty="0"/>
              <a:t> (s’IDE) et le rester:</a:t>
            </a:r>
          </a:p>
          <a:p>
            <a:pPr marL="0" indent="0">
              <a:buNone/>
            </a:pPr>
            <a:endParaRPr lang="fr-BE" sz="8000" dirty="0"/>
          </a:p>
          <a:p>
            <a:pPr>
              <a:buFont typeface="Wingdings" panose="05000000000000000000" pitchFamily="2" charset="2"/>
              <a:buChar char="Ø"/>
              <a:tabLst>
                <a:tab pos="441325" algn="l"/>
              </a:tabLst>
            </a:pPr>
            <a:r>
              <a:rPr lang="fr-BE" sz="9800" dirty="0"/>
              <a:t>lors d’une </a:t>
            </a:r>
            <a:r>
              <a:rPr lang="fr-BE" sz="9800" b="1" dirty="0">
                <a:solidFill>
                  <a:schemeClr val="accent2">
                    <a:lumMod val="75000"/>
                  </a:schemeClr>
                </a:solidFill>
              </a:rPr>
              <a:t>1</a:t>
            </a:r>
            <a:r>
              <a:rPr lang="fr-BE" sz="9800" b="1" baseline="30000" dirty="0">
                <a:solidFill>
                  <a:schemeClr val="accent2">
                    <a:lumMod val="75000"/>
                  </a:schemeClr>
                </a:solidFill>
              </a:rPr>
              <a:t>ère</a:t>
            </a:r>
            <a:r>
              <a:rPr lang="fr-BE" sz="9800" b="1" dirty="0">
                <a:solidFill>
                  <a:schemeClr val="accent2">
                    <a:lumMod val="75000"/>
                  </a:schemeClr>
                </a:solidFill>
              </a:rPr>
              <a:t>  demande </a:t>
            </a:r>
            <a:r>
              <a:rPr lang="fr-BE" sz="9800" b="1" dirty="0"/>
              <a:t>de chômage</a:t>
            </a:r>
            <a:r>
              <a:rPr lang="fr-BE" sz="9800" dirty="0"/>
              <a:t>,</a:t>
            </a:r>
          </a:p>
          <a:p>
            <a:pPr>
              <a:buFont typeface="Wingdings" panose="05000000000000000000" pitchFamily="2" charset="2"/>
              <a:buChar char="Ø"/>
              <a:tabLst>
                <a:tab pos="441325" algn="l"/>
              </a:tabLst>
            </a:pPr>
            <a:r>
              <a:rPr lang="fr-BE" sz="9800" dirty="0"/>
              <a:t>après une </a:t>
            </a:r>
            <a:r>
              <a:rPr lang="fr-BE" sz="9800" b="1" dirty="0"/>
              <a:t>interruption de chômage </a:t>
            </a:r>
            <a:r>
              <a:rPr lang="fr-BE" sz="9800" b="1" dirty="0">
                <a:solidFill>
                  <a:schemeClr val="accent2">
                    <a:lumMod val="75000"/>
                  </a:schemeClr>
                </a:solidFill>
              </a:rPr>
              <a:t>≥ 28 jours</a:t>
            </a:r>
            <a:r>
              <a:rPr lang="fr-BE" sz="9800" b="1" dirty="0"/>
              <a:t> </a:t>
            </a:r>
            <a:r>
              <a:rPr lang="fr-BE" sz="9800" dirty="0"/>
              <a:t>calendrier consécutifs </a:t>
            </a:r>
          </a:p>
          <a:p>
            <a:pPr>
              <a:buFont typeface="Wingdings" panose="05000000000000000000" pitchFamily="2" charset="2"/>
              <a:buChar char="Ø"/>
              <a:tabLst>
                <a:tab pos="441325" algn="l"/>
              </a:tabLst>
            </a:pPr>
            <a:r>
              <a:rPr lang="fr-BE" sz="9800" dirty="0"/>
              <a:t>en cas de </a:t>
            </a:r>
            <a:r>
              <a:rPr lang="fr-BE" sz="9800" b="1" dirty="0"/>
              <a:t>déménagement et transfert de BC vers une autre entité</a:t>
            </a:r>
          </a:p>
          <a:p>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17</a:t>
            </a:fld>
            <a:endParaRPr lang="fr-FR"/>
          </a:p>
        </p:txBody>
      </p:sp>
      <p:sp>
        <p:nvSpPr>
          <p:cNvPr id="3" name="Rectangle 2">
            <a:extLst>
              <a:ext uri="{FF2B5EF4-FFF2-40B4-BE49-F238E27FC236}">
                <a16:creationId xmlns:a16="http://schemas.microsoft.com/office/drawing/2014/main" id="{0A9CD3BB-EABC-436E-9397-C776A9363F9E}"/>
              </a:ext>
            </a:extLst>
          </p:cNvPr>
          <p:cNvSpPr/>
          <p:nvPr/>
        </p:nvSpPr>
        <p:spPr>
          <a:xfrm>
            <a:off x="409903" y="1964433"/>
            <a:ext cx="7906513" cy="1281707"/>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Tree>
    <p:extLst>
      <p:ext uri="{BB962C8B-B14F-4D97-AF65-F5344CB8AC3E}">
        <p14:creationId xmlns:p14="http://schemas.microsoft.com/office/powerpoint/2010/main" val="3962807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fr-BE" b="1" i="1" dirty="0"/>
          </a:p>
        </p:txBody>
      </p:sp>
      <p:sp>
        <p:nvSpPr>
          <p:cNvPr id="6" name="Espace réservé du contenu 5"/>
          <p:cNvSpPr>
            <a:spLocks noGrp="1"/>
          </p:cNvSpPr>
          <p:nvPr>
            <p:ph idx="1"/>
          </p:nvPr>
        </p:nvSpPr>
        <p:spPr>
          <a:xfrm>
            <a:off x="409903" y="2132856"/>
            <a:ext cx="8229600" cy="4021907"/>
          </a:xfrm>
        </p:spPr>
        <p:txBody>
          <a:bodyPr>
            <a:normAutofit fontScale="32500" lnSpcReduction="20000"/>
          </a:bodyPr>
          <a:lstStyle/>
          <a:p>
            <a:pPr>
              <a:buFont typeface="Wingdings" panose="05000000000000000000" pitchFamily="2" charset="2"/>
              <a:buChar char="Ø"/>
            </a:pPr>
            <a:r>
              <a:rPr lang="fr-BE" sz="9800" dirty="0"/>
              <a:t>à la suite d’une décision de </a:t>
            </a:r>
            <a:r>
              <a:rPr lang="fr-BE" sz="9800" b="1" dirty="0">
                <a:solidFill>
                  <a:schemeClr val="accent2">
                    <a:lumMod val="75000"/>
                  </a:schemeClr>
                </a:solidFill>
              </a:rPr>
              <a:t>refus</a:t>
            </a:r>
            <a:r>
              <a:rPr lang="fr-BE" sz="9800" b="1" dirty="0"/>
              <a:t>, d’</a:t>
            </a:r>
            <a:r>
              <a:rPr lang="fr-BE" sz="9800" b="1" dirty="0">
                <a:solidFill>
                  <a:schemeClr val="accent2">
                    <a:lumMod val="75000"/>
                  </a:schemeClr>
                </a:solidFill>
              </a:rPr>
              <a:t>exclusion</a:t>
            </a:r>
            <a:r>
              <a:rPr lang="fr-BE" sz="9800" b="1" dirty="0"/>
              <a:t> ou de s</a:t>
            </a:r>
            <a:r>
              <a:rPr lang="fr-BE" sz="9800" b="1" dirty="0">
                <a:solidFill>
                  <a:schemeClr val="accent2">
                    <a:lumMod val="75000"/>
                  </a:schemeClr>
                </a:solidFill>
              </a:rPr>
              <a:t>uspension</a:t>
            </a:r>
            <a:r>
              <a:rPr lang="fr-BE" sz="9800" b="1" dirty="0"/>
              <a:t> du droit au chômage.</a:t>
            </a:r>
          </a:p>
          <a:p>
            <a:pPr>
              <a:buFont typeface="Wingdings" panose="05000000000000000000" pitchFamily="2" charset="2"/>
              <a:buChar char="Ø"/>
            </a:pPr>
            <a:r>
              <a:rPr lang="fr-BE" sz="9800" b="1" dirty="0"/>
              <a:t>après une période de </a:t>
            </a:r>
            <a:r>
              <a:rPr lang="fr-BE" sz="9800" b="1" dirty="0">
                <a:solidFill>
                  <a:schemeClr val="accent2">
                    <a:lumMod val="75000"/>
                  </a:schemeClr>
                </a:solidFill>
              </a:rPr>
              <a:t>dispense </a:t>
            </a:r>
            <a:r>
              <a:rPr lang="fr-BE" sz="9800" b="1" dirty="0"/>
              <a:t>d’inscription </a:t>
            </a:r>
            <a:r>
              <a:rPr lang="fr-BE" sz="9800" dirty="0"/>
              <a:t>(certaines formations, aidant proche,…)</a:t>
            </a:r>
            <a:r>
              <a:rPr lang="en-GB" sz="9800" dirty="0"/>
              <a:t> </a:t>
            </a:r>
          </a:p>
          <a:p>
            <a:pPr marL="0" lvl="1" indent="0">
              <a:buNone/>
            </a:pPr>
            <a:endParaRPr lang="fr-BE" sz="8000" b="1" dirty="0"/>
          </a:p>
          <a:p>
            <a:pPr marL="0" lvl="1" indent="0">
              <a:buNone/>
            </a:pPr>
            <a:r>
              <a:rPr lang="fr-BE" sz="10400" dirty="0"/>
              <a:t>La preuve de cette inscription doit être apportée par le chômeur. </a:t>
            </a:r>
          </a:p>
          <a:p>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18</a:t>
            </a:fld>
            <a:endParaRPr lang="fr-FR"/>
          </a:p>
        </p:txBody>
      </p:sp>
    </p:spTree>
    <p:extLst>
      <p:ext uri="{BB962C8B-B14F-4D97-AF65-F5344CB8AC3E}">
        <p14:creationId xmlns:p14="http://schemas.microsoft.com/office/powerpoint/2010/main" val="3008443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p:txBody>
          <a:bodyPr>
            <a:normAutofit/>
          </a:bodyPr>
          <a:lstStyle/>
          <a:p>
            <a:pPr marL="0" indent="0">
              <a:buNone/>
            </a:pPr>
            <a:r>
              <a:rPr lang="fr-FR" sz="3000" dirty="0"/>
              <a:t>Le chômeur doit apporter la preuve qu'il est inscrit comme demandeur d'emploi en produisant une attestation du service régional de l'emploi compétent mentionnant la date à laquelle l'inscription a été effectuée.</a:t>
            </a:r>
          </a:p>
          <a:p>
            <a:pPr marL="0" indent="0">
              <a:buNone/>
            </a:pPr>
            <a:endParaRPr lang="fr-FR" sz="2600" dirty="0"/>
          </a:p>
          <a:p>
            <a:pPr marL="0" indent="0">
              <a:buNone/>
            </a:pPr>
            <a:r>
              <a:rPr lang="fr-FR" sz="3000" dirty="0"/>
              <a:t>Cette attestation peut être remplacée par une mention contenant ce renseignement apposée sur la carte de contrôle.</a:t>
            </a:r>
            <a:endParaRPr lang="en-US" sz="30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19</a:t>
            </a:fld>
            <a:endParaRPr lang="fr-FR"/>
          </a:p>
        </p:txBody>
      </p:sp>
    </p:spTree>
    <p:extLst>
      <p:ext uri="{BB962C8B-B14F-4D97-AF65-F5344CB8AC3E}">
        <p14:creationId xmlns:p14="http://schemas.microsoft.com/office/powerpoint/2010/main" val="1493460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251520" y="1624012"/>
            <a:ext cx="8640960" cy="4525963"/>
          </a:xfrm>
        </p:spPr>
        <p:txBody>
          <a:bodyPr>
            <a:normAutofit lnSpcReduction="10000"/>
          </a:bodyPr>
          <a:lstStyle/>
          <a:p>
            <a:pPr marL="0" indent="0">
              <a:buNone/>
            </a:pPr>
            <a:r>
              <a:rPr lang="fr-FR" dirty="0"/>
              <a:t>Le chômeur complet doit notamment introduire </a:t>
            </a:r>
            <a:r>
              <a:rPr lang="fr-FR" b="1" dirty="0">
                <a:solidFill>
                  <a:schemeClr val="accent2">
                    <a:lumMod val="75000"/>
                  </a:schemeClr>
                </a:solidFill>
              </a:rPr>
              <a:t>une demande d'allocations après une interruption de 4 semaines au moins</a:t>
            </a:r>
            <a:r>
              <a:rPr lang="fr-FR" dirty="0"/>
              <a:t>. </a:t>
            </a:r>
          </a:p>
          <a:p>
            <a:pPr marL="0" indent="0">
              <a:buNone/>
            </a:pPr>
            <a:endParaRPr lang="fr-FR" sz="1800" dirty="0"/>
          </a:p>
          <a:p>
            <a:pPr marL="0" indent="0">
              <a:buNone/>
            </a:pPr>
            <a:r>
              <a:rPr lang="fr-FR" dirty="0"/>
              <a:t>Compte tenu de ce principe, l'ONEm accepte que le chômeur qui s'est inscrit au SRE dans les 4 semaines qui précèdent la demande d'allocations ne doive pas se réinscrire à l'occasion de la demande d'allocations.  </a:t>
            </a:r>
            <a:br>
              <a:rPr lang="fr-FR" dirty="0"/>
            </a:b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20</a:t>
            </a:fld>
            <a:endParaRPr lang="fr-FR"/>
          </a:p>
        </p:txBody>
      </p:sp>
    </p:spTree>
    <p:extLst>
      <p:ext uri="{BB962C8B-B14F-4D97-AF65-F5344CB8AC3E}">
        <p14:creationId xmlns:p14="http://schemas.microsoft.com/office/powerpoint/2010/main" val="36475254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1988840"/>
            <a:ext cx="8229600" cy="4137323"/>
          </a:xfrm>
        </p:spPr>
        <p:txBody>
          <a:bodyPr/>
          <a:lstStyle/>
          <a:p>
            <a:pPr marL="0" indent="0">
              <a:buNone/>
            </a:pPr>
            <a:r>
              <a:rPr lang="fr-FR" dirty="0"/>
              <a:t>Le chômeur qui veut à nouveau bénéficier des allocations </a:t>
            </a:r>
            <a:r>
              <a:rPr lang="fr-FR" b="1" dirty="0">
                <a:solidFill>
                  <a:schemeClr val="accent2">
                    <a:lumMod val="75000"/>
                  </a:schemeClr>
                </a:solidFill>
              </a:rPr>
              <a:t>après une période d’exclusion </a:t>
            </a:r>
            <a:r>
              <a:rPr lang="fr-FR" dirty="0"/>
              <a:t>(préfixe 00/) doit introduire une nouvelle demande d’allocations et joindre à une nouvelle preuve d’inscription à sa carte de contrôle et ce, </a:t>
            </a:r>
            <a:r>
              <a:rPr lang="fr-FR" b="1" dirty="0"/>
              <a:t>même si l’interruption est &lt; à 4 semaines.</a:t>
            </a:r>
            <a:endParaRPr lang="en-US" b="1"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629915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1772816"/>
            <a:ext cx="8229600" cy="4353347"/>
          </a:xfrm>
        </p:spPr>
        <p:txBody>
          <a:bodyPr>
            <a:normAutofit fontScale="85000" lnSpcReduction="10000"/>
          </a:bodyPr>
          <a:lstStyle/>
          <a:p>
            <a:pPr marL="0" indent="0">
              <a:buNone/>
            </a:pPr>
            <a:r>
              <a:rPr lang="fr-FR" sz="3900" dirty="0"/>
              <a:t>Le chômeur complet doit également joindre une preuve d'inscription à sa carte de contrôle à </a:t>
            </a:r>
            <a:r>
              <a:rPr lang="fr-FR" sz="3900" b="1" dirty="0">
                <a:solidFill>
                  <a:schemeClr val="accent2">
                    <a:lumMod val="75000"/>
                  </a:schemeClr>
                </a:solidFill>
              </a:rPr>
              <a:t>l'expiration d'une période de dispense d'inscription</a:t>
            </a:r>
            <a:r>
              <a:rPr lang="fr-FR" sz="3900" dirty="0">
                <a:solidFill>
                  <a:schemeClr val="accent2">
                    <a:lumMod val="75000"/>
                  </a:schemeClr>
                </a:solidFill>
              </a:rPr>
              <a:t> </a:t>
            </a:r>
            <a:r>
              <a:rPr lang="fr-FR" sz="3900" dirty="0"/>
              <a:t>comme demandeur d'emploi. </a:t>
            </a:r>
          </a:p>
          <a:p>
            <a:pPr marL="0" indent="0">
              <a:buNone/>
            </a:pPr>
            <a:endParaRPr lang="fr-FR" sz="3100" dirty="0"/>
          </a:p>
          <a:p>
            <a:pPr marL="0" indent="0">
              <a:buNone/>
            </a:pPr>
            <a:r>
              <a:rPr lang="fr-FR" sz="3900" dirty="0"/>
              <a:t>Ceci n'est toutefois pas requis à l'expiration d'une dispense pour une formation professionnelle  </a:t>
            </a:r>
            <a:r>
              <a:rPr lang="fr-FR" sz="3500" i="1" dirty="0"/>
              <a:t>(art. 91) </a:t>
            </a:r>
            <a:r>
              <a:rPr lang="fr-FR" sz="3900" dirty="0"/>
              <a:t>sauf pour les personnes résidant en région flamande.</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275636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2420888"/>
            <a:ext cx="8229600" cy="3705275"/>
          </a:xfrm>
        </p:spPr>
        <p:txBody>
          <a:bodyPr>
            <a:normAutofit/>
          </a:bodyPr>
          <a:lstStyle/>
          <a:p>
            <a:pPr marL="0" indent="0">
              <a:buNone/>
            </a:pPr>
            <a:r>
              <a:rPr lang="fr-FR" sz="3300" dirty="0"/>
              <a:t>L'obligation d'introduire une preuve d'inscription vaut également en cas de demande d'allocations à la suite du </a:t>
            </a:r>
            <a:r>
              <a:rPr lang="fr-FR" sz="3300" b="1" dirty="0">
                <a:solidFill>
                  <a:schemeClr val="accent2">
                    <a:lumMod val="75000"/>
                  </a:schemeClr>
                </a:solidFill>
              </a:rPr>
              <a:t>déménagement avec transfert de BC vers une autre entité.</a:t>
            </a:r>
            <a:r>
              <a:rPr lang="fr-FR" sz="3300" dirty="0">
                <a:solidFill>
                  <a:schemeClr val="accent2">
                    <a:lumMod val="75000"/>
                  </a:schemeClr>
                </a:solidFill>
              </a:rPr>
              <a:t> </a:t>
            </a:r>
          </a:p>
          <a:p>
            <a:pPr marL="0" indent="0">
              <a:buNone/>
            </a:pPr>
            <a:endParaRPr lang="fr-FR" sz="1800" dirty="0"/>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23</a:t>
            </a:fld>
            <a:endParaRPr lang="fr-FR"/>
          </a:p>
        </p:txBody>
      </p:sp>
    </p:spTree>
    <p:extLst>
      <p:ext uri="{BB962C8B-B14F-4D97-AF65-F5344CB8AC3E}">
        <p14:creationId xmlns:p14="http://schemas.microsoft.com/office/powerpoint/2010/main" val="3894237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53004E-29CC-4426-9776-6D2D339D4D6E}"/>
              </a:ext>
            </a:extLst>
          </p:cNvPr>
          <p:cNvSpPr>
            <a:spLocks noGrp="1"/>
          </p:cNvSpPr>
          <p:nvPr>
            <p:ph type="title"/>
          </p:nvPr>
        </p:nvSpPr>
        <p:spPr/>
        <p:txBody>
          <a:bodyPr>
            <a:normAutofit fontScale="90000"/>
          </a:bodyPr>
          <a:lstStyle/>
          <a:p>
            <a:pPr algn="r"/>
            <a:r>
              <a:rPr lang="fr-BE" b="1" i="1" dirty="0"/>
              <a:t>2.3. Disponibilité pour le marché de l’emploi: IDE</a:t>
            </a:r>
          </a:p>
        </p:txBody>
      </p:sp>
      <p:sp>
        <p:nvSpPr>
          <p:cNvPr id="3" name="Espace réservé du contenu 2">
            <a:extLst>
              <a:ext uri="{FF2B5EF4-FFF2-40B4-BE49-F238E27FC236}">
                <a16:creationId xmlns:a16="http://schemas.microsoft.com/office/drawing/2014/main" id="{6FA837DD-E925-433F-BEE9-ED7D9EF2B966}"/>
              </a:ext>
            </a:extLst>
          </p:cNvPr>
          <p:cNvSpPr>
            <a:spLocks noGrp="1"/>
          </p:cNvSpPr>
          <p:nvPr>
            <p:ph idx="1"/>
          </p:nvPr>
        </p:nvSpPr>
        <p:spPr/>
        <p:txBody>
          <a:bodyPr/>
          <a:lstStyle/>
          <a:p>
            <a:pPr marL="0" indent="0">
              <a:buNone/>
            </a:pPr>
            <a:r>
              <a:rPr lang="fr-BE" b="1" dirty="0">
                <a:solidFill>
                  <a:schemeClr val="accent2">
                    <a:lumMod val="75000"/>
                  </a:schemeClr>
                </a:solidFill>
              </a:rPr>
              <a:t>Délai:</a:t>
            </a:r>
          </a:p>
          <a:p>
            <a:pPr>
              <a:buFont typeface="Wingdings" panose="05000000000000000000" pitchFamily="2" charset="2"/>
              <a:buChar char="Ø"/>
            </a:pPr>
            <a:r>
              <a:rPr lang="fr-BE" b="1" dirty="0">
                <a:solidFill>
                  <a:schemeClr val="accent2">
                    <a:lumMod val="75000"/>
                  </a:schemeClr>
                </a:solidFill>
              </a:rPr>
              <a:t> 8 jours calendrier </a:t>
            </a:r>
            <a:r>
              <a:rPr lang="fr-BE" sz="3000" dirty="0"/>
              <a:t>prenant cours le lendemain de la DA</a:t>
            </a:r>
          </a:p>
          <a:p>
            <a:pPr marL="0" indent="0">
              <a:buNone/>
            </a:pPr>
            <a:r>
              <a:rPr lang="fr-BE" sz="2800" i="1" dirty="0"/>
              <a:t>Dispense pour les premiers 8 jours (date de la DA comprise) et pour les jours de vacances qui suivent, si le chômeur prend des vacances au plus tard à partir du 9ème jour et s'inscrit immédiatement après les vacances.</a:t>
            </a:r>
          </a:p>
          <a:p>
            <a:pPr>
              <a:buFont typeface="Wingdings" panose="05000000000000000000" pitchFamily="2" charset="2"/>
              <a:buChar char="Ø"/>
            </a:pPr>
            <a:r>
              <a:rPr lang="fr-BE" b="1" dirty="0">
                <a:solidFill>
                  <a:schemeClr val="accent2">
                    <a:lumMod val="75000"/>
                  </a:schemeClr>
                </a:solidFill>
              </a:rPr>
              <a:t>Max. 28 jours calendrier </a:t>
            </a:r>
            <a:r>
              <a:rPr lang="fr-BE" sz="3000" dirty="0"/>
              <a:t>avant la date de la DA</a:t>
            </a:r>
          </a:p>
        </p:txBody>
      </p:sp>
      <p:sp>
        <p:nvSpPr>
          <p:cNvPr id="4" name="Espace réservé du numéro de diapositive 3">
            <a:extLst>
              <a:ext uri="{FF2B5EF4-FFF2-40B4-BE49-F238E27FC236}">
                <a16:creationId xmlns:a16="http://schemas.microsoft.com/office/drawing/2014/main" id="{94361440-EE34-4A83-AA3A-0CF6747992EB}"/>
              </a:ext>
            </a:extLst>
          </p:cNvPr>
          <p:cNvSpPr>
            <a:spLocks noGrp="1"/>
          </p:cNvSpPr>
          <p:nvPr>
            <p:ph type="sldNum" sz="quarter" idx="12"/>
          </p:nvPr>
        </p:nvSpPr>
        <p:spPr/>
        <p:txBody>
          <a:bodyPr/>
          <a:lstStyle/>
          <a:p>
            <a:fld id="{55E9056B-6A30-4F99-BDE9-C450E66AE125}" type="slidenum">
              <a:rPr lang="fr-FR" smtClean="0"/>
              <a:pPr/>
              <a:t>24</a:t>
            </a:fld>
            <a:endParaRPr lang="fr-FR"/>
          </a:p>
        </p:txBody>
      </p:sp>
    </p:spTree>
    <p:extLst>
      <p:ext uri="{BB962C8B-B14F-4D97-AF65-F5344CB8AC3E}">
        <p14:creationId xmlns:p14="http://schemas.microsoft.com/office/powerpoint/2010/main" val="2299015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4" name="Espace réservé du contenu 3"/>
          <p:cNvSpPr>
            <a:spLocks noGrp="1"/>
          </p:cNvSpPr>
          <p:nvPr>
            <p:ph idx="1"/>
          </p:nvPr>
        </p:nvSpPr>
        <p:spPr>
          <a:xfrm>
            <a:off x="251520" y="1600200"/>
            <a:ext cx="8712968" cy="4525963"/>
          </a:xfrm>
        </p:spPr>
        <p:txBody>
          <a:bodyPr>
            <a:normAutofit/>
          </a:bodyPr>
          <a:lstStyle/>
          <a:p>
            <a:pPr>
              <a:buNone/>
            </a:pPr>
            <a:r>
              <a:rPr lang="fr-BE" dirty="0"/>
              <a:t>Exemple : 1</a:t>
            </a:r>
            <a:r>
              <a:rPr lang="fr-BE" baseline="30000" dirty="0"/>
              <a:t>ère</a:t>
            </a:r>
            <a:r>
              <a:rPr lang="fr-BE" dirty="0"/>
              <a:t> DA en chômage complet le 09.10.23: </a:t>
            </a:r>
            <a:endParaRPr lang="fr-BE" u="sng" dirty="0"/>
          </a:p>
          <a:p>
            <a:pPr lvl="1">
              <a:buNone/>
            </a:pPr>
            <a:r>
              <a:rPr lang="fr-BE" u="sng" dirty="0"/>
              <a:t>Situation 1: </a:t>
            </a:r>
          </a:p>
          <a:p>
            <a:pPr marL="400050" lvl="1" indent="0">
              <a:buNone/>
            </a:pPr>
            <a:r>
              <a:rPr lang="fr-BE" dirty="0">
                <a:sym typeface="Wingdings" pitchFamily="2" charset="2"/>
              </a:rPr>
              <a:t>IDE Ok si l’assuré social s’est inscrit comme demandeur d’emploi entre le 11.09.23 et le 17.10.23</a:t>
            </a:r>
          </a:p>
          <a:p>
            <a:pPr marL="400050" lvl="1" indent="0">
              <a:buNone/>
            </a:pPr>
            <a:r>
              <a:rPr lang="fr-BE" u="sng" dirty="0"/>
              <a:t>Situation 2: </a:t>
            </a:r>
          </a:p>
          <a:p>
            <a:pPr marL="400050" lvl="1" indent="0">
              <a:buNone/>
            </a:pPr>
            <a:r>
              <a:rPr lang="fr-BE" dirty="0">
                <a:sym typeface="Wingdings" pitchFamily="2" charset="2"/>
              </a:rPr>
              <a:t>IDE OK si l’assuré s’est inscrit comme demandeur d’emploi le 24.10.23 et appose des vacances (« V » sur sa carte de contrôle) du 17.10 au 23.10.23 inclus</a:t>
            </a:r>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25</a:t>
            </a:fld>
            <a:endParaRPr lang="fr-FR" dirty="0"/>
          </a:p>
        </p:txBody>
      </p:sp>
    </p:spTree>
    <p:extLst>
      <p:ext uri="{BB962C8B-B14F-4D97-AF65-F5344CB8AC3E}">
        <p14:creationId xmlns:p14="http://schemas.microsoft.com/office/powerpoint/2010/main" val="4020232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4" name="Espace réservé du contenu 3"/>
          <p:cNvSpPr>
            <a:spLocks noGrp="1"/>
          </p:cNvSpPr>
          <p:nvPr>
            <p:ph idx="1"/>
          </p:nvPr>
        </p:nvSpPr>
        <p:spPr>
          <a:xfrm>
            <a:off x="457200" y="1600200"/>
            <a:ext cx="8507288" cy="4525963"/>
          </a:xfrm>
        </p:spPr>
        <p:txBody>
          <a:bodyPr>
            <a:noAutofit/>
          </a:bodyPr>
          <a:lstStyle/>
          <a:p>
            <a:pPr marL="0" indent="0" hangingPunct="0">
              <a:buNone/>
            </a:pPr>
            <a:r>
              <a:rPr lang="fr-BE" sz="2800" dirty="0"/>
              <a:t>Le chômeur ne peut </a:t>
            </a:r>
            <a:r>
              <a:rPr lang="fr-BE" sz="2800" b="1" u="sng" dirty="0"/>
              <a:t>théoriquement</a:t>
            </a:r>
            <a:r>
              <a:rPr lang="fr-BE" sz="2800" dirty="0"/>
              <a:t> plus bénéficier des allocations à partir du jour où son inscription comme demandeur d'emploi a été </a:t>
            </a:r>
            <a:r>
              <a:rPr lang="fr-BE" sz="2800" b="1" u="sng" dirty="0">
                <a:solidFill>
                  <a:schemeClr val="accent2">
                    <a:lumMod val="75000"/>
                  </a:schemeClr>
                </a:solidFill>
              </a:rPr>
              <a:t>radiée</a:t>
            </a:r>
            <a:r>
              <a:rPr lang="fr-BE" sz="2800" dirty="0"/>
              <a:t> d'office par le service régional de l'emploi compétent, notamment à la suite du fait qu'il : </a:t>
            </a:r>
          </a:p>
          <a:p>
            <a:pPr hangingPunct="0">
              <a:buFont typeface="Wingdings" panose="05000000000000000000" pitchFamily="2" charset="2"/>
              <a:buChar char="Ø"/>
            </a:pPr>
            <a:r>
              <a:rPr lang="fr-BE" sz="2600" dirty="0"/>
              <a:t>n'est plus disponible pour le marché de l'emploi ;</a:t>
            </a:r>
            <a:endParaRPr lang="fr-FR" sz="2600" dirty="0"/>
          </a:p>
          <a:p>
            <a:pPr hangingPunct="0">
              <a:buFont typeface="Wingdings" panose="05000000000000000000" pitchFamily="2" charset="2"/>
              <a:buChar char="Ø"/>
            </a:pPr>
            <a:r>
              <a:rPr lang="fr-BE" sz="2600" dirty="0"/>
              <a:t>ne s'est pas présenté à ce service quand il a été convoqué ;</a:t>
            </a:r>
            <a:endParaRPr lang="fr-FR" sz="2600" dirty="0"/>
          </a:p>
          <a:p>
            <a:pPr hangingPunct="0">
              <a:buFont typeface="Wingdings" panose="05000000000000000000" pitchFamily="2" charset="2"/>
              <a:buChar char="Ø"/>
            </a:pPr>
            <a:r>
              <a:rPr lang="fr-BE" sz="2600" dirty="0"/>
              <a:t>n'a pas averti ce service de son changement d'adresse ; </a:t>
            </a:r>
          </a:p>
          <a:p>
            <a:pPr hangingPunct="0">
              <a:buFont typeface="Wingdings" panose="05000000000000000000" pitchFamily="2" charset="2"/>
              <a:buChar char="Ø"/>
            </a:pPr>
            <a:r>
              <a:rPr lang="fr-BE" sz="2600" dirty="0"/>
              <a:t>n'a pas accompli les formalités requises par ce service aux fins  de maintenir l’IDE.</a:t>
            </a:r>
          </a:p>
          <a:p>
            <a:pPr marL="0" indent="0" hangingPunct="0">
              <a:buNone/>
            </a:pPr>
            <a:r>
              <a:rPr lang="fr-BE" sz="2400" dirty="0">
                <a:sym typeface="Wingdings" panose="05000000000000000000" pitchFamily="2" charset="2"/>
              </a:rPr>
              <a:t> </a:t>
            </a:r>
            <a:r>
              <a:rPr lang="fr-BE" sz="2400" b="1" dirty="0">
                <a:sym typeface="Wingdings" panose="05000000000000000000" pitchFamily="2" charset="2"/>
              </a:rPr>
              <a:t>Nous parlerons ici de contrôle de la disponibilité passive</a:t>
            </a:r>
            <a:r>
              <a:rPr lang="fr-BE" sz="2400" dirty="0"/>
              <a:t>	</a:t>
            </a:r>
            <a:endParaRPr lang="fr-FR" sz="2400" dirty="0"/>
          </a:p>
          <a:p>
            <a:pPr>
              <a:buNone/>
            </a:pPr>
            <a:endParaRPr lang="en-US" sz="24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26</a:t>
            </a:fld>
            <a:endParaRPr lang="fr-FR"/>
          </a:p>
        </p:txBody>
      </p:sp>
    </p:spTree>
    <p:extLst>
      <p:ext uri="{BB962C8B-B14F-4D97-AF65-F5344CB8AC3E}">
        <p14:creationId xmlns:p14="http://schemas.microsoft.com/office/powerpoint/2010/main" val="11345194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additive="base">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1700808"/>
            <a:ext cx="8229600" cy="4425355"/>
          </a:xfrm>
        </p:spPr>
        <p:txBody>
          <a:bodyPr>
            <a:normAutofit lnSpcReduction="10000"/>
          </a:bodyPr>
          <a:lstStyle/>
          <a:p>
            <a:pPr marL="0" indent="0">
              <a:buNone/>
            </a:pPr>
            <a:r>
              <a:rPr lang="fr-FR" dirty="0"/>
              <a:t>Le travailleur </a:t>
            </a:r>
            <a:r>
              <a:rPr lang="fr-BE" dirty="0"/>
              <a:t>licencié qui se trouve dans une situation où il ne doit plus prester de préavis après son licenciement, doit s'inscrire </a:t>
            </a:r>
            <a:r>
              <a:rPr lang="fr-BE" b="1" dirty="0">
                <a:solidFill>
                  <a:schemeClr val="accent2">
                    <a:lumMod val="75000"/>
                  </a:schemeClr>
                </a:solidFill>
              </a:rPr>
              <a:t>dans les deux mois</a:t>
            </a:r>
            <a:r>
              <a:rPr lang="fr-BE" dirty="0"/>
              <a:t> comme demandeur d'emploi auprès du service régional de l'emploi. </a:t>
            </a:r>
          </a:p>
          <a:p>
            <a:pPr marL="0" indent="0" hangingPunct="0">
              <a:buNone/>
            </a:pPr>
            <a:endParaRPr lang="fr-BE" dirty="0"/>
          </a:p>
          <a:p>
            <a:pPr marL="0" indent="0" hangingPunct="0">
              <a:buNone/>
            </a:pPr>
            <a:r>
              <a:rPr lang="fr-BE" dirty="0"/>
              <a:t>Le travailleur qui omet de le faire, peut être considéré comme </a:t>
            </a:r>
            <a:r>
              <a:rPr lang="fr-BE" b="1" dirty="0">
                <a:solidFill>
                  <a:schemeClr val="accent2">
                    <a:lumMod val="75000"/>
                  </a:schemeClr>
                </a:solidFill>
              </a:rPr>
              <a:t>chômeur volontaire </a:t>
            </a:r>
            <a:r>
              <a:rPr lang="fr-BE" dirty="0"/>
              <a:t>lors de sa demande d'allocations. </a:t>
            </a:r>
          </a:p>
          <a:p>
            <a:pPr marL="0" indent="0" hangingPunct="0">
              <a:buNone/>
            </a:pP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27</a:t>
            </a:fld>
            <a:endParaRPr lang="fr-FR"/>
          </a:p>
        </p:txBody>
      </p:sp>
    </p:spTree>
    <p:extLst>
      <p:ext uri="{BB962C8B-B14F-4D97-AF65-F5344CB8AC3E}">
        <p14:creationId xmlns:p14="http://schemas.microsoft.com/office/powerpoint/2010/main" val="2517655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2060848"/>
            <a:ext cx="8229600" cy="4065315"/>
          </a:xfrm>
        </p:spPr>
        <p:txBody>
          <a:bodyPr>
            <a:normAutofit fontScale="77500" lnSpcReduction="20000"/>
          </a:bodyPr>
          <a:lstStyle/>
          <a:p>
            <a:pPr marL="0" indent="0">
              <a:buNone/>
            </a:pPr>
            <a:r>
              <a:rPr lang="fr-BE" sz="3200" b="1" dirty="0">
                <a:solidFill>
                  <a:srgbClr val="C00000"/>
                </a:solidFill>
              </a:rPr>
              <a:t>nouveau régime </a:t>
            </a:r>
            <a:r>
              <a:rPr lang="fr-BE" b="1" dirty="0">
                <a:solidFill>
                  <a:srgbClr val="C00000"/>
                </a:solidFill>
              </a:rPr>
              <a:t>prévoyant</a:t>
            </a:r>
            <a:r>
              <a:rPr lang="fr-BE" sz="3200" b="1" dirty="0">
                <a:solidFill>
                  <a:srgbClr val="C00000"/>
                </a:solidFill>
              </a:rPr>
              <a:t> une IDE </a:t>
            </a:r>
            <a:r>
              <a:rPr lang="fr-BE" sz="3200" dirty="0"/>
              <a:t>en cas de CT concerne le </a:t>
            </a:r>
            <a:r>
              <a:rPr lang="fr-BE" sz="3200" b="1" u="sng" dirty="0"/>
              <a:t>CT pour cause de force majeure </a:t>
            </a:r>
            <a:r>
              <a:rPr lang="fr-BE" sz="3200" dirty="0"/>
              <a:t>et le </a:t>
            </a:r>
            <a:r>
              <a:rPr lang="fr-BE" sz="3200" b="1" u="sng" dirty="0"/>
              <a:t>CT pour causes économiques</a:t>
            </a:r>
            <a:r>
              <a:rPr lang="fr-BE" sz="3200" dirty="0"/>
              <a:t> :</a:t>
            </a:r>
          </a:p>
          <a:p>
            <a:pPr marL="0" indent="0">
              <a:buNone/>
            </a:pPr>
            <a:endParaRPr lang="fr-BE" sz="3200" dirty="0"/>
          </a:p>
          <a:p>
            <a:pPr>
              <a:buFont typeface="Wingdings" panose="05000000000000000000" pitchFamily="2" charset="2"/>
              <a:buChar char="è"/>
            </a:pPr>
            <a:r>
              <a:rPr lang="fr-BE" sz="3200" b="1" dirty="0">
                <a:solidFill>
                  <a:srgbClr val="C00000"/>
                </a:solidFill>
                <a:sym typeface="Wingdings" panose="05000000000000000000" pitchFamily="2" charset="2"/>
              </a:rPr>
              <a:t>Obligation de s’IDE après les 3 premiers mois de CT</a:t>
            </a:r>
            <a:r>
              <a:rPr lang="fr-BE" sz="3200" dirty="0">
                <a:sym typeface="Wingdings" panose="05000000000000000000" pitchFamily="2" charset="2"/>
              </a:rPr>
              <a:t>. </a:t>
            </a:r>
          </a:p>
          <a:p>
            <a:pPr marL="0" indent="0">
              <a:buNone/>
            </a:pPr>
            <a:endParaRPr lang="fr-BE" sz="2800" dirty="0">
              <a:sym typeface="Wingdings" panose="05000000000000000000" pitchFamily="2" charset="2"/>
            </a:endParaRPr>
          </a:p>
          <a:p>
            <a:pPr>
              <a:buFont typeface="Wingdings" panose="05000000000000000000" pitchFamily="2" charset="2"/>
              <a:buChar char="è"/>
            </a:pPr>
            <a:r>
              <a:rPr lang="fr-BE" sz="3200" dirty="0">
                <a:sym typeface="Wingdings" panose="05000000000000000000" pitchFamily="2" charset="2"/>
              </a:rPr>
              <a:t>Une reprise du travail complète pendant deux semaines consécutives fait courir une nouvelle période de 3 mois.</a:t>
            </a:r>
          </a:p>
          <a:p>
            <a:pPr marL="0" indent="0">
              <a:buNone/>
            </a:pPr>
            <a:endParaRPr lang="fr-BE" sz="3200" dirty="0">
              <a:sym typeface="Wingdings" panose="05000000000000000000" pitchFamily="2" charset="2"/>
            </a:endParaRPr>
          </a:p>
          <a:p>
            <a:pPr marL="0" indent="0">
              <a:buNone/>
            </a:pPr>
            <a:r>
              <a:rPr lang="fr-BE" sz="2800" dirty="0">
                <a:sym typeface="Wingdings" panose="05000000000000000000" pitchFamily="2" charset="2"/>
              </a:rPr>
              <a:t></a:t>
            </a:r>
            <a:r>
              <a:rPr lang="fr-BE" sz="3200" dirty="0">
                <a:sym typeface="Wingdings" panose="05000000000000000000" pitchFamily="2" charset="2"/>
              </a:rPr>
              <a:t> L’IDE n’est pas requise s’il s’agit de CT pour force majeure causé par l’incapacité de travail du travailleur.</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28</a:t>
            </a:fld>
            <a:endParaRPr lang="fr-FR"/>
          </a:p>
        </p:txBody>
      </p:sp>
    </p:spTree>
    <p:extLst>
      <p:ext uri="{BB962C8B-B14F-4D97-AF65-F5344CB8AC3E}">
        <p14:creationId xmlns:p14="http://schemas.microsoft.com/office/powerpoint/2010/main" val="3930281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2.3- </a:t>
            </a:r>
            <a:r>
              <a:rPr lang="fr-FR" b="1" i="1" dirty="0"/>
              <a:t>Disponibilité pour le marché de l'emploi : IDE</a:t>
            </a:r>
            <a:endParaRPr lang="en-US" b="1" i="1" dirty="0"/>
          </a:p>
        </p:txBody>
      </p:sp>
      <p:sp>
        <p:nvSpPr>
          <p:cNvPr id="3" name="Espace réservé du contenu 2"/>
          <p:cNvSpPr>
            <a:spLocks noGrp="1"/>
          </p:cNvSpPr>
          <p:nvPr>
            <p:ph idx="1"/>
          </p:nvPr>
        </p:nvSpPr>
        <p:spPr>
          <a:xfrm>
            <a:off x="457200" y="2060848"/>
            <a:ext cx="8229600" cy="4065315"/>
          </a:xfrm>
        </p:spPr>
        <p:txBody>
          <a:bodyPr>
            <a:normAutofit lnSpcReduction="10000"/>
          </a:bodyPr>
          <a:lstStyle/>
          <a:p>
            <a:pPr marL="0" indent="0">
              <a:buNone/>
            </a:pPr>
            <a:r>
              <a:rPr lang="fr-FR" dirty="0"/>
              <a:t>Le travailleur qui est </a:t>
            </a:r>
            <a:r>
              <a:rPr lang="fr-FR" b="1" u="sng" dirty="0"/>
              <a:t>chômeur temporaire</a:t>
            </a:r>
            <a:r>
              <a:rPr lang="fr-FR" dirty="0"/>
              <a:t> pour force majeure ou manque de travail résultant de </a:t>
            </a:r>
            <a:r>
              <a:rPr lang="fr-FR" b="1" dirty="0">
                <a:solidFill>
                  <a:schemeClr val="accent2">
                    <a:lumMod val="75000"/>
                  </a:schemeClr>
                </a:solidFill>
              </a:rPr>
              <a:t>causes économiques </a:t>
            </a:r>
            <a:r>
              <a:rPr lang="fr-FR" dirty="0"/>
              <a:t>et qui doit être inscrit comme demandeur d’emploi, « </a:t>
            </a:r>
            <a:r>
              <a:rPr lang="fr-BE" i="1" dirty="0"/>
              <a:t>est tenu de collaborer activement avec le service régional de l'emploi dans le cadre du trajet qui lui est proposé en vue d'une meilleure insertion sur le marché de l'emploi » (art. </a:t>
            </a:r>
            <a:r>
              <a:rPr lang="fr-BE" i="1"/>
              <a:t>35 de l’AR du 25.11.1991)</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29</a:t>
            </a:fld>
            <a:endParaRPr lang="fr-FR"/>
          </a:p>
        </p:txBody>
      </p:sp>
    </p:spTree>
    <p:extLst>
      <p:ext uri="{BB962C8B-B14F-4D97-AF65-F5344CB8AC3E}">
        <p14:creationId xmlns:p14="http://schemas.microsoft.com/office/powerpoint/2010/main" val="25498768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t>3. Aptitude au travail</a:t>
            </a:r>
            <a:endParaRPr lang="en-US" b="1" i="1" dirty="0"/>
          </a:p>
        </p:txBody>
      </p:sp>
      <p:sp>
        <p:nvSpPr>
          <p:cNvPr id="3" name="Espace réservé du contenu 2"/>
          <p:cNvSpPr>
            <a:spLocks noGrp="1"/>
          </p:cNvSpPr>
          <p:nvPr>
            <p:ph idx="1"/>
          </p:nvPr>
        </p:nvSpPr>
        <p:spPr/>
        <p:txBody>
          <a:bodyPr/>
          <a:lstStyle/>
          <a:p>
            <a:pPr marL="0" indent="0">
              <a:buNone/>
            </a:pPr>
            <a:r>
              <a:rPr lang="fr-FR" dirty="0"/>
              <a:t>Pour bénéficier des allocations, le travailleur doit </a:t>
            </a:r>
            <a:r>
              <a:rPr lang="fr-FR" b="1" dirty="0">
                <a:solidFill>
                  <a:schemeClr val="accent2">
                    <a:lumMod val="75000"/>
                  </a:schemeClr>
                </a:solidFill>
              </a:rPr>
              <a:t>être apte au travail</a:t>
            </a:r>
            <a:r>
              <a:rPr lang="fr-FR" dirty="0">
                <a:solidFill>
                  <a:schemeClr val="accent2">
                    <a:lumMod val="75000"/>
                  </a:schemeClr>
                </a:solidFill>
              </a:rPr>
              <a:t> </a:t>
            </a:r>
            <a:r>
              <a:rPr lang="fr-FR" dirty="0"/>
              <a:t>au sens de la législation relative à l'assurance obligatoire contre la maladie et l'invalidité.</a:t>
            </a:r>
          </a:p>
          <a:p>
            <a:pPr>
              <a:buNone/>
            </a:pPr>
            <a:endParaRPr lang="fr-FR" sz="2000" dirty="0"/>
          </a:p>
          <a:p>
            <a:pPr marL="0" indent="0">
              <a:buNone/>
            </a:pPr>
            <a:r>
              <a:rPr lang="fr-BE" dirty="0"/>
              <a:t>Le travailleur ne doit </a:t>
            </a:r>
            <a:r>
              <a:rPr lang="fr-BE" b="1" dirty="0"/>
              <a:t>pas avoir une incapacité de travail &gt; à 66 %</a:t>
            </a:r>
            <a:r>
              <a:rPr lang="fr-BE" dirty="0"/>
              <a:t>, auquel cas il doit s’adresser à sa mutuelle.</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30</a:t>
            </a:fld>
            <a:endParaRPr lang="fr-FR"/>
          </a:p>
        </p:txBody>
      </p:sp>
    </p:spTree>
    <p:extLst>
      <p:ext uri="{BB962C8B-B14F-4D97-AF65-F5344CB8AC3E}">
        <p14:creationId xmlns:p14="http://schemas.microsoft.com/office/powerpoint/2010/main" val="3020288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94AAC4-6BB6-4B5C-BF54-B75D4817E0FB}"/>
              </a:ext>
            </a:extLst>
          </p:cNvPr>
          <p:cNvSpPr>
            <a:spLocks noGrp="1"/>
          </p:cNvSpPr>
          <p:nvPr>
            <p:ph type="title"/>
          </p:nvPr>
        </p:nvSpPr>
        <p:spPr/>
        <p:txBody>
          <a:bodyPr/>
          <a:lstStyle/>
          <a:p>
            <a:pPr algn="r"/>
            <a:r>
              <a:rPr lang="fr-BE" b="1" i="1" dirty="0"/>
              <a:t>4. Conditions d’âge</a:t>
            </a:r>
          </a:p>
        </p:txBody>
      </p:sp>
      <p:sp>
        <p:nvSpPr>
          <p:cNvPr id="3" name="Espace réservé du contenu 2">
            <a:extLst>
              <a:ext uri="{FF2B5EF4-FFF2-40B4-BE49-F238E27FC236}">
                <a16:creationId xmlns:a16="http://schemas.microsoft.com/office/drawing/2014/main" id="{17BB1F8C-5BEF-4047-86A9-9094C54BE6DE}"/>
              </a:ext>
            </a:extLst>
          </p:cNvPr>
          <p:cNvSpPr>
            <a:spLocks noGrp="1"/>
          </p:cNvSpPr>
          <p:nvPr>
            <p:ph idx="1"/>
          </p:nvPr>
        </p:nvSpPr>
        <p:spPr/>
        <p:txBody>
          <a:bodyPr>
            <a:normAutofit fontScale="77500" lnSpcReduction="20000"/>
          </a:bodyPr>
          <a:lstStyle/>
          <a:p>
            <a:pPr marL="0" indent="0">
              <a:buNone/>
            </a:pPr>
            <a:r>
              <a:rPr kumimoji="0" lang="fr-FR" sz="4100" b="0" i="0" u="none" strike="noStrike" kern="1200" cap="none" spc="0" normalizeH="0" baseline="0" noProof="0" dirty="0">
                <a:ln>
                  <a:noFill/>
                </a:ln>
                <a:solidFill>
                  <a:prstClr val="black"/>
                </a:solidFill>
                <a:effectLst/>
                <a:uLnTx/>
                <a:uFillTx/>
                <a:latin typeface="Calibri"/>
                <a:ea typeface="+mn-ea"/>
                <a:cs typeface="+mn-cs"/>
              </a:rPr>
              <a:t>Le jeune travailleur ne peut bénéficier des allocations avant la fin de l’obligation scolaire à temps plein et à temps partiel:</a:t>
            </a:r>
            <a:endParaRPr lang="fr-BE" sz="4100" dirty="0"/>
          </a:p>
          <a:p>
            <a:pPr marL="0" indent="0">
              <a:buNone/>
            </a:pPr>
            <a:endParaRPr lang="fr-BE" dirty="0"/>
          </a:p>
          <a:p>
            <a:pPr marL="0" indent="0">
              <a:buNone/>
            </a:pPr>
            <a:r>
              <a:rPr lang="fr-BE" sz="3800" dirty="0"/>
              <a:t>L'obligation scolaire s'applique </a:t>
            </a:r>
            <a:r>
              <a:rPr lang="fr-BE" sz="3800" b="1" dirty="0">
                <a:solidFill>
                  <a:schemeClr val="accent2">
                    <a:lumMod val="75000"/>
                  </a:schemeClr>
                </a:solidFill>
              </a:rPr>
              <a:t>jusqu'à l'âge de 18 ans </a:t>
            </a:r>
            <a:r>
              <a:rPr lang="fr-BE" sz="3800" dirty="0"/>
              <a:t>et prend fin :</a:t>
            </a:r>
          </a:p>
          <a:p>
            <a:pPr>
              <a:buFont typeface="Wingdings" panose="05000000000000000000" pitchFamily="2" charset="2"/>
              <a:buChar char="Ø"/>
            </a:pPr>
            <a:r>
              <a:rPr lang="fr-BE" sz="3800" dirty="0"/>
              <a:t>le jour de son 18e anniversaire pour le jeune dont l'anniversaire est situé avant le 1er juillet ; </a:t>
            </a:r>
          </a:p>
          <a:p>
            <a:pPr>
              <a:buFont typeface="Wingdings" panose="05000000000000000000" pitchFamily="2" charset="2"/>
              <a:buChar char="Ø"/>
            </a:pPr>
            <a:r>
              <a:rPr lang="fr-BE" sz="3800" dirty="0"/>
              <a:t>le 30 juin de l'année durant laquelle il atteint l'âge de 18 ans pour le jeune dont anniversaire est situé après le 30 juin</a:t>
            </a:r>
            <a:r>
              <a:rPr lang="fr-BE" dirty="0"/>
              <a:t>. </a:t>
            </a:r>
          </a:p>
          <a:p>
            <a:pPr marL="0" indent="0">
              <a:buNone/>
            </a:pPr>
            <a:endParaRPr lang="fr-BE" dirty="0"/>
          </a:p>
        </p:txBody>
      </p:sp>
      <p:sp>
        <p:nvSpPr>
          <p:cNvPr id="4" name="Espace réservé du numéro de diapositive 3">
            <a:extLst>
              <a:ext uri="{FF2B5EF4-FFF2-40B4-BE49-F238E27FC236}">
                <a16:creationId xmlns:a16="http://schemas.microsoft.com/office/drawing/2014/main" id="{5577E338-08AD-45B5-969D-612F5C08EF44}"/>
              </a:ext>
            </a:extLst>
          </p:cNvPr>
          <p:cNvSpPr>
            <a:spLocks noGrp="1"/>
          </p:cNvSpPr>
          <p:nvPr>
            <p:ph type="sldNum" sz="quarter" idx="12"/>
          </p:nvPr>
        </p:nvSpPr>
        <p:spPr/>
        <p:txBody>
          <a:bodyPr/>
          <a:lstStyle/>
          <a:p>
            <a:fld id="{55E9056B-6A30-4F99-BDE9-C450E66AE125}" type="slidenum">
              <a:rPr lang="fr-FR" smtClean="0"/>
              <a:pPr/>
              <a:t>31</a:t>
            </a:fld>
            <a:endParaRPr lang="fr-FR"/>
          </a:p>
        </p:txBody>
      </p:sp>
    </p:spTree>
    <p:extLst>
      <p:ext uri="{BB962C8B-B14F-4D97-AF65-F5344CB8AC3E}">
        <p14:creationId xmlns:p14="http://schemas.microsoft.com/office/powerpoint/2010/main" val="940244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4. Conditions d’âge</a:t>
            </a:r>
            <a:endParaRPr lang="en-US" b="1" i="1" dirty="0"/>
          </a:p>
        </p:txBody>
      </p:sp>
      <p:sp>
        <p:nvSpPr>
          <p:cNvPr id="3" name="Espace réservé du contenu 2"/>
          <p:cNvSpPr>
            <a:spLocks noGrp="1"/>
          </p:cNvSpPr>
          <p:nvPr>
            <p:ph idx="1"/>
          </p:nvPr>
        </p:nvSpPr>
        <p:spPr/>
        <p:txBody>
          <a:bodyPr>
            <a:normAutofit/>
          </a:bodyPr>
          <a:lstStyle/>
          <a:p>
            <a:pPr marL="0" indent="0">
              <a:buNone/>
            </a:pPr>
            <a:r>
              <a:rPr lang="fr-FR" dirty="0"/>
              <a:t>Le chômeur ne peut plus bénéficier des allocations à partir du </a:t>
            </a:r>
            <a:r>
              <a:rPr lang="fr-FR" b="1" u="sng" dirty="0">
                <a:solidFill>
                  <a:schemeClr val="accent2">
                    <a:lumMod val="75000"/>
                  </a:schemeClr>
                </a:solidFill>
              </a:rPr>
              <a:t>premier jour du mois civil </a:t>
            </a:r>
            <a:r>
              <a:rPr lang="fr-FR" dirty="0"/>
              <a:t>qui suit celui de son 65</a:t>
            </a:r>
            <a:r>
              <a:rPr lang="fr-FR" baseline="30000" dirty="0"/>
              <a:t>ème</a:t>
            </a:r>
            <a:r>
              <a:rPr lang="fr-FR" dirty="0"/>
              <a:t> anniversaire.</a:t>
            </a:r>
          </a:p>
          <a:p>
            <a:pPr marL="0" indent="0">
              <a:buNone/>
            </a:pPr>
            <a:endParaRPr lang="fr-FR" sz="1600" dirty="0"/>
          </a:p>
          <a:p>
            <a:pPr marL="0" indent="0">
              <a:buNone/>
            </a:pPr>
            <a:r>
              <a:rPr lang="fr-FR" dirty="0"/>
              <a:t>Néanmoins, possibilité de bénéficier des allocations en CT (sauf force majeure médicale) au-delà du mois qui suit celui du 65</a:t>
            </a:r>
            <a:r>
              <a:rPr lang="fr-FR" baseline="30000" dirty="0"/>
              <a:t>ème</a:t>
            </a:r>
            <a:r>
              <a:rPr lang="fr-FR" dirty="0"/>
              <a:t> anniversaire.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32</a:t>
            </a:fld>
            <a:endParaRPr lang="fr-FR"/>
          </a:p>
        </p:txBody>
      </p:sp>
    </p:spTree>
    <p:extLst>
      <p:ext uri="{BB962C8B-B14F-4D97-AF65-F5344CB8AC3E}">
        <p14:creationId xmlns:p14="http://schemas.microsoft.com/office/powerpoint/2010/main" val="3071844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pPr algn="r"/>
            <a:r>
              <a:rPr lang="en-US" b="1" i="1" dirty="0"/>
              <a:t>4. Conditions </a:t>
            </a:r>
            <a:r>
              <a:rPr lang="fr-BE" b="1" i="1" dirty="0"/>
              <a:t>d’âge</a:t>
            </a:r>
            <a:endParaRPr lang="en-US" b="1" i="1" dirty="0"/>
          </a:p>
        </p:txBody>
      </p:sp>
      <p:sp>
        <p:nvSpPr>
          <p:cNvPr id="6" name="Espace réservé du contenu 5"/>
          <p:cNvSpPr>
            <a:spLocks noGrp="1"/>
          </p:cNvSpPr>
          <p:nvPr>
            <p:ph idx="1"/>
          </p:nvPr>
        </p:nvSpPr>
        <p:spPr>
          <a:xfrm>
            <a:off x="457200" y="1600200"/>
            <a:ext cx="8435280" cy="5121275"/>
          </a:xfrm>
        </p:spPr>
        <p:txBody>
          <a:bodyPr>
            <a:normAutofit fontScale="77500" lnSpcReduction="20000"/>
          </a:bodyPr>
          <a:lstStyle/>
          <a:p>
            <a:pPr marL="0" indent="0">
              <a:buNone/>
            </a:pPr>
            <a:r>
              <a:rPr lang="fr-FR" sz="3900" dirty="0"/>
              <a:t>Le chômeur qui peut prétendre à une </a:t>
            </a:r>
            <a:r>
              <a:rPr lang="fr-FR" sz="3900" b="1" dirty="0">
                <a:solidFill>
                  <a:schemeClr val="accent2">
                    <a:lumMod val="75000"/>
                  </a:schemeClr>
                </a:solidFill>
              </a:rPr>
              <a:t>pension complè</a:t>
            </a:r>
            <a:r>
              <a:rPr lang="fr-FR" sz="3900" b="1" dirty="0">
                <a:solidFill>
                  <a:srgbClr val="C00000"/>
                </a:solidFill>
              </a:rPr>
              <a:t>te</a:t>
            </a:r>
            <a:r>
              <a:rPr lang="fr-FR" sz="3900" dirty="0"/>
              <a:t> </a:t>
            </a:r>
            <a:r>
              <a:rPr lang="fr-FR" sz="3900" b="1" dirty="0"/>
              <a:t>ne peut pas bénéficier des allocations</a:t>
            </a:r>
            <a:r>
              <a:rPr lang="fr-FR" sz="3900" dirty="0"/>
              <a:t>.</a:t>
            </a:r>
          </a:p>
          <a:p>
            <a:pPr marL="0" indent="0">
              <a:buNone/>
            </a:pPr>
            <a:endParaRPr lang="fr-FR" sz="3500" dirty="0"/>
          </a:p>
          <a:p>
            <a:pPr marL="0" indent="0">
              <a:buNone/>
            </a:pPr>
            <a:r>
              <a:rPr lang="fr-FR" sz="3900" dirty="0"/>
              <a:t>Par contre, le travailleur qui bénéficie d'une </a:t>
            </a:r>
            <a:r>
              <a:rPr lang="fr-FR" sz="3900" b="1" dirty="0">
                <a:solidFill>
                  <a:schemeClr val="accent2">
                    <a:lumMod val="75000"/>
                  </a:schemeClr>
                </a:solidFill>
              </a:rPr>
              <a:t>pension incomplète ou de survie </a:t>
            </a:r>
            <a:r>
              <a:rPr lang="fr-FR" sz="3900" dirty="0"/>
              <a:t>peut, </a:t>
            </a:r>
            <a:r>
              <a:rPr lang="fr-FR" sz="3900" b="1" dirty="0"/>
              <a:t>dans certaines limites</a:t>
            </a:r>
            <a:r>
              <a:rPr lang="fr-FR" sz="3900" dirty="0"/>
              <a:t>, bénéficier d’allocations pour autant que le bénéfice ou le montant ne dépendent </a:t>
            </a:r>
            <a:r>
              <a:rPr lang="fr-FR" sz="3900" b="1" dirty="0"/>
              <a:t>pas de conditions qui limitent la disponibilité</a:t>
            </a:r>
            <a:r>
              <a:rPr lang="fr-FR" sz="3900" dirty="0"/>
              <a:t> pour le marché de l’emploi.</a:t>
            </a:r>
          </a:p>
          <a:p>
            <a:pPr marL="0" indent="0">
              <a:buNone/>
            </a:pPr>
            <a:r>
              <a:rPr lang="fr-FR" b="1" i="1" u="sng" dirty="0"/>
              <a:t>Exception:</a:t>
            </a:r>
          </a:p>
          <a:p>
            <a:pPr marL="0" indent="0">
              <a:buNone/>
            </a:pPr>
            <a:r>
              <a:rPr lang="fr-FR" i="1" dirty="0"/>
              <a:t>Le bénéfice d’une </a:t>
            </a:r>
            <a:r>
              <a:rPr lang="fr-FR" b="1" i="1" dirty="0">
                <a:solidFill>
                  <a:schemeClr val="accent2">
                    <a:lumMod val="75000"/>
                  </a:schemeClr>
                </a:solidFill>
              </a:rPr>
              <a:t>allocation de transition</a:t>
            </a:r>
            <a:r>
              <a:rPr lang="fr-FR" i="1" dirty="0">
                <a:solidFill>
                  <a:schemeClr val="accent2">
                    <a:lumMod val="75000"/>
                  </a:schemeClr>
                </a:solidFill>
              </a:rPr>
              <a:t> </a:t>
            </a:r>
            <a:r>
              <a:rPr lang="fr-FR" i="1" dirty="0"/>
              <a:t>durant 18, 36 ou 48 mois  </a:t>
            </a:r>
            <a:r>
              <a:rPr lang="fr-FR" b="1" i="1" u="sng" dirty="0"/>
              <a:t>est cumulable de manière illimitée</a:t>
            </a:r>
            <a:endParaRPr lang="en-US" b="1" i="1" u="sng"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33</a:t>
            </a:fld>
            <a:endParaRPr lang="fr-FR"/>
          </a:p>
        </p:txBody>
      </p:sp>
    </p:spTree>
    <p:extLst>
      <p:ext uri="{BB962C8B-B14F-4D97-AF65-F5344CB8AC3E}">
        <p14:creationId xmlns:p14="http://schemas.microsoft.com/office/powerpoint/2010/main" val="37326057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pPr algn="r"/>
            <a:r>
              <a:rPr lang="en-US" b="1" i="1" dirty="0"/>
              <a:t>4. Conditions </a:t>
            </a:r>
            <a:r>
              <a:rPr lang="fr-BE" b="1" i="1" dirty="0"/>
              <a:t>d'âge</a:t>
            </a:r>
            <a:endParaRPr lang="en-US" b="1" i="1" dirty="0"/>
          </a:p>
        </p:txBody>
      </p:sp>
      <p:sp>
        <p:nvSpPr>
          <p:cNvPr id="6" name="Espace réservé du contenu 5"/>
          <p:cNvSpPr>
            <a:spLocks noGrp="1"/>
          </p:cNvSpPr>
          <p:nvPr>
            <p:ph idx="1"/>
          </p:nvPr>
        </p:nvSpPr>
        <p:spPr/>
        <p:txBody>
          <a:bodyPr>
            <a:normAutofit/>
          </a:bodyPr>
          <a:lstStyle/>
          <a:p>
            <a:pPr marL="0" indent="0">
              <a:buNone/>
            </a:pPr>
            <a:r>
              <a:rPr lang="fr-FR" dirty="0"/>
              <a:t>Cependant, le travailleur qui bénéficie d'une pension incomplète ou de survie dont le bénéfice ou le montant dépend de </a:t>
            </a:r>
            <a:r>
              <a:rPr lang="fr-FR" b="1" dirty="0"/>
              <a:t>conditions qui limitent la disponibilité pour le marché de l’emploi</a:t>
            </a:r>
            <a:r>
              <a:rPr lang="fr-FR" dirty="0"/>
              <a:t> peut bénéficier d'allocations pendant une </a:t>
            </a:r>
            <a:r>
              <a:rPr lang="fr-FR" b="1" dirty="0">
                <a:solidFill>
                  <a:schemeClr val="accent2">
                    <a:lumMod val="75000"/>
                  </a:schemeClr>
                </a:solidFill>
              </a:rPr>
              <a:t>période unique de 12 mois </a:t>
            </a:r>
            <a:r>
              <a:rPr lang="fr-FR" dirty="0"/>
              <a:t>calendrier consécutifs ou non. </a:t>
            </a:r>
            <a:endParaRPr lang="en-US"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34</a:t>
            </a:fld>
            <a:endParaRPr lang="fr-FR"/>
          </a:p>
        </p:txBody>
      </p:sp>
    </p:spTree>
    <p:extLst>
      <p:ext uri="{BB962C8B-B14F-4D97-AF65-F5344CB8AC3E}">
        <p14:creationId xmlns:p14="http://schemas.microsoft.com/office/powerpoint/2010/main" val="1769751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lstStyle/>
          <a:p>
            <a:pPr algn="r"/>
            <a:r>
              <a:rPr lang="en-US" b="1" i="1" dirty="0"/>
              <a:t>5. Autres conditions</a:t>
            </a:r>
          </a:p>
        </p:txBody>
      </p:sp>
      <p:sp>
        <p:nvSpPr>
          <p:cNvPr id="3" name="Espace réservé du contenu 2"/>
          <p:cNvSpPr>
            <a:spLocks noGrp="1"/>
          </p:cNvSpPr>
          <p:nvPr>
            <p:ph idx="1"/>
          </p:nvPr>
        </p:nvSpPr>
        <p:spPr>
          <a:xfrm>
            <a:off x="457200" y="2132856"/>
            <a:ext cx="8229600" cy="3993307"/>
          </a:xfrm>
        </p:spPr>
        <p:txBody>
          <a:bodyPr>
            <a:normAutofit/>
          </a:bodyPr>
          <a:lstStyle/>
          <a:p>
            <a:pPr marL="0" indent="0">
              <a:buNone/>
            </a:pPr>
            <a:r>
              <a:rPr lang="fr-FR" dirty="0"/>
              <a:t>Pour bénéficier des allocations, le chômeur doit avoir sa </a:t>
            </a:r>
            <a:r>
              <a:rPr lang="fr-FR" b="1" dirty="0">
                <a:solidFill>
                  <a:schemeClr val="accent2">
                    <a:lumMod val="75000"/>
                  </a:schemeClr>
                </a:solidFill>
              </a:rPr>
              <a:t>résidence principale en Belgique</a:t>
            </a:r>
            <a:r>
              <a:rPr lang="fr-FR" dirty="0"/>
              <a:t>.</a:t>
            </a:r>
          </a:p>
          <a:p>
            <a:pPr marL="0" indent="0">
              <a:buNone/>
            </a:pPr>
            <a:r>
              <a:rPr lang="fr-FR" dirty="0"/>
              <a:t>En outre, il doit </a:t>
            </a:r>
            <a:r>
              <a:rPr lang="fr-FR" b="1" dirty="0"/>
              <a:t>résider effectivement</a:t>
            </a:r>
            <a:r>
              <a:rPr lang="fr-FR" dirty="0"/>
              <a:t> en Belgique.</a:t>
            </a:r>
          </a:p>
          <a:p>
            <a:pPr>
              <a:buNone/>
            </a:pPr>
            <a:endParaRPr lang="fr-FR" dirty="0"/>
          </a:p>
          <a:p>
            <a:pPr>
              <a:buNone/>
            </a:pPr>
            <a:r>
              <a:rPr lang="fr-FR" dirty="0"/>
              <a:t>	</a:t>
            </a:r>
            <a:endParaRPr lang="fr-FR" b="1" dirty="0"/>
          </a:p>
          <a:p>
            <a:pPr>
              <a:buNone/>
            </a:pPr>
            <a:r>
              <a:rPr lang="fr-FR" b="1" dirty="0"/>
              <a:t>	</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35</a:t>
            </a:fld>
            <a:endParaRPr lang="fr-FR"/>
          </a:p>
        </p:txBody>
      </p:sp>
    </p:spTree>
    <p:extLst>
      <p:ext uri="{BB962C8B-B14F-4D97-AF65-F5344CB8AC3E}">
        <p14:creationId xmlns:p14="http://schemas.microsoft.com/office/powerpoint/2010/main" val="362708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Autres conditions</a:t>
            </a:r>
            <a:endParaRPr lang="en-US" dirty="0">
              <a:solidFill>
                <a:srgbClr val="008000"/>
              </a:solidFill>
            </a:endParaRPr>
          </a:p>
        </p:txBody>
      </p:sp>
      <p:sp>
        <p:nvSpPr>
          <p:cNvPr id="3" name="Espace réservé du contenu 2"/>
          <p:cNvSpPr>
            <a:spLocks noGrp="1"/>
          </p:cNvSpPr>
          <p:nvPr>
            <p:ph idx="1"/>
          </p:nvPr>
        </p:nvSpPr>
        <p:spPr>
          <a:xfrm>
            <a:off x="457200" y="1628800"/>
            <a:ext cx="8229600" cy="4525963"/>
          </a:xfrm>
        </p:spPr>
        <p:txBody>
          <a:bodyPr>
            <a:normAutofit fontScale="92500" lnSpcReduction="10000"/>
          </a:bodyPr>
          <a:lstStyle/>
          <a:p>
            <a:pPr marL="0" indent="0">
              <a:buNone/>
            </a:pPr>
            <a:r>
              <a:rPr lang="fr-FR" dirty="0"/>
              <a:t>L’ONEM envoie chaque mois une lettre à un certain nombre de chômeurs: </a:t>
            </a:r>
            <a:r>
              <a:rPr lang="fr-FR" b="1" dirty="0">
                <a:solidFill>
                  <a:schemeClr val="accent2">
                    <a:lumMod val="75000"/>
                  </a:schemeClr>
                </a:solidFill>
              </a:rPr>
              <a:t>attestation de résidence C66bis</a:t>
            </a:r>
            <a:r>
              <a:rPr lang="fr-FR" dirty="0">
                <a:solidFill>
                  <a:schemeClr val="accent2">
                    <a:lumMod val="75000"/>
                  </a:schemeClr>
                </a:solidFill>
              </a:rPr>
              <a:t>. </a:t>
            </a:r>
            <a:endParaRPr lang="en-US" dirty="0">
              <a:solidFill>
                <a:schemeClr val="accent2">
                  <a:lumMod val="75000"/>
                </a:schemeClr>
              </a:solidFill>
            </a:endParaRPr>
          </a:p>
          <a:p>
            <a:pPr>
              <a:buNone/>
            </a:pPr>
            <a:endParaRPr lang="en-US" sz="2100" dirty="0"/>
          </a:p>
          <a:p>
            <a:pPr marL="0" indent="0">
              <a:buNone/>
            </a:pPr>
            <a:r>
              <a:rPr lang="fr-FR" dirty="0"/>
              <a:t>Dans celle-ci, il est demandé au chômeur de se présenter personnellement auprès de son </a:t>
            </a:r>
            <a:r>
              <a:rPr lang="fr-FR" b="1" dirty="0"/>
              <a:t>administration communale</a:t>
            </a:r>
            <a:r>
              <a:rPr lang="fr-FR" dirty="0"/>
              <a:t> ou auprès du </a:t>
            </a:r>
            <a:r>
              <a:rPr lang="fr-FR" b="1" dirty="0"/>
              <a:t>BC</a:t>
            </a:r>
            <a:r>
              <a:rPr lang="fr-FR" dirty="0"/>
              <a:t>.</a:t>
            </a:r>
          </a:p>
          <a:p>
            <a:pPr marL="0" indent="0">
              <a:buNone/>
            </a:pPr>
            <a:endParaRPr lang="fr-FR" sz="2000" dirty="0"/>
          </a:p>
          <a:p>
            <a:pPr marL="0" indent="0">
              <a:buNone/>
            </a:pPr>
            <a:r>
              <a:rPr lang="fr-FR" dirty="0"/>
              <a:t>L’objectif de cette présentation est de </a:t>
            </a:r>
            <a:r>
              <a:rPr lang="fr-FR" b="1" u="sng" dirty="0"/>
              <a:t>vérifier si il réside effectivement en Belgique.</a:t>
            </a:r>
            <a:endParaRPr lang="en-US" b="1" u="sng" dirty="0"/>
          </a:p>
          <a:p>
            <a:pPr>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36</a:t>
            </a:fld>
            <a:endParaRPr lang="fr-FR"/>
          </a:p>
        </p:txBody>
      </p:sp>
    </p:spTree>
    <p:extLst>
      <p:ext uri="{BB962C8B-B14F-4D97-AF65-F5344CB8AC3E}">
        <p14:creationId xmlns:p14="http://schemas.microsoft.com/office/powerpoint/2010/main" val="3181657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a:t>
            </a:r>
            <a:r>
              <a:rPr lang="fr-BE" b="1" i="1" dirty="0"/>
              <a:t>Autres</a:t>
            </a:r>
            <a:r>
              <a:rPr lang="en-US" b="1" i="1" dirty="0"/>
              <a:t> conditions</a:t>
            </a:r>
          </a:p>
        </p:txBody>
      </p:sp>
      <p:sp>
        <p:nvSpPr>
          <p:cNvPr id="3" name="Espace réservé du contenu 2"/>
          <p:cNvSpPr>
            <a:spLocks noGrp="1"/>
          </p:cNvSpPr>
          <p:nvPr>
            <p:ph idx="1"/>
          </p:nvPr>
        </p:nvSpPr>
        <p:spPr/>
        <p:txBody>
          <a:bodyPr/>
          <a:lstStyle/>
          <a:p>
            <a:pPr marL="0" indent="0">
              <a:buNone/>
            </a:pPr>
            <a:r>
              <a:rPr lang="fr-FR" dirty="0"/>
              <a:t>La présentation doit avoir lieu </a:t>
            </a:r>
            <a:r>
              <a:rPr lang="fr-FR" b="1" dirty="0">
                <a:solidFill>
                  <a:schemeClr val="accent2">
                    <a:lumMod val="75000"/>
                  </a:schemeClr>
                </a:solidFill>
              </a:rPr>
              <a:t>dans les 7 jours calendrier</a:t>
            </a:r>
            <a:r>
              <a:rPr lang="fr-FR" dirty="0"/>
              <a:t> après l’envoi de la lettre par l’ONEm . Le dernier jour où le chômeur peut se présenter est expressément </a:t>
            </a:r>
            <a:r>
              <a:rPr lang="fr-FR" u="sng" dirty="0"/>
              <a:t>indiqué dans la lettre</a:t>
            </a:r>
            <a:r>
              <a:rPr lang="fr-FR" dirty="0"/>
              <a:t>.</a:t>
            </a:r>
          </a:p>
          <a:p>
            <a:pPr marL="0" indent="0">
              <a:buNone/>
            </a:pPr>
            <a:endParaRPr lang="fr-FR" sz="1600" dirty="0"/>
          </a:p>
          <a:p>
            <a:pPr marL="0" indent="0">
              <a:buNone/>
            </a:pPr>
            <a:r>
              <a:rPr lang="fr-FR" dirty="0"/>
              <a:t>En cas de </a:t>
            </a:r>
            <a:r>
              <a:rPr lang="fr-FR" b="1" dirty="0"/>
              <a:t>non présentation</a:t>
            </a:r>
            <a:r>
              <a:rPr lang="fr-FR" dirty="0"/>
              <a:t>, le chômeur n’est </a:t>
            </a:r>
            <a:r>
              <a:rPr lang="fr-FR" b="1" dirty="0"/>
              <a:t>plus indemnisable à partir du jour qui suit </a:t>
            </a:r>
            <a:r>
              <a:rPr lang="fr-FR" dirty="0"/>
              <a:t>la date ultime de présentation. </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37</a:t>
            </a:fld>
            <a:endParaRPr lang="fr-FR"/>
          </a:p>
        </p:txBody>
      </p:sp>
    </p:spTree>
    <p:extLst>
      <p:ext uri="{BB962C8B-B14F-4D97-AF65-F5344CB8AC3E}">
        <p14:creationId xmlns:p14="http://schemas.microsoft.com/office/powerpoint/2010/main" val="4073370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 Autres conditions</a:t>
            </a:r>
            <a:endParaRPr lang="en-US" dirty="0">
              <a:solidFill>
                <a:srgbClr val="008000"/>
              </a:solidFill>
            </a:endParaRPr>
          </a:p>
        </p:txBody>
      </p:sp>
      <p:sp>
        <p:nvSpPr>
          <p:cNvPr id="3" name="Espace réservé du contenu 2"/>
          <p:cNvSpPr>
            <a:spLocks noGrp="1"/>
          </p:cNvSpPr>
          <p:nvPr>
            <p:ph idx="1"/>
          </p:nvPr>
        </p:nvSpPr>
        <p:spPr>
          <a:xfrm>
            <a:off x="457200" y="1600200"/>
            <a:ext cx="8229600" cy="4756149"/>
          </a:xfrm>
        </p:spPr>
        <p:txBody>
          <a:bodyPr/>
          <a:lstStyle/>
          <a:p>
            <a:pPr marL="0" indent="0">
              <a:buNone/>
            </a:pPr>
            <a:r>
              <a:rPr lang="fr-FR" dirty="0"/>
              <a:t>Le chômeur ne peut bénéficier des allocations durant une période d’accomplissement </a:t>
            </a:r>
            <a:r>
              <a:rPr lang="fr-FR" b="1" dirty="0"/>
              <a:t>d’obligations de milice, de détention préventive, de privation de liberté</a:t>
            </a:r>
            <a:r>
              <a:rPr lang="fr-FR" dirty="0"/>
              <a:t> ou de </a:t>
            </a:r>
            <a:r>
              <a:rPr lang="fr-BE" b="1" u="sng" dirty="0">
                <a:solidFill>
                  <a:schemeClr val="accent2">
                    <a:lumMod val="75000"/>
                  </a:schemeClr>
                </a:solidFill>
              </a:rPr>
              <a:t>surveillance électronique</a:t>
            </a:r>
          </a:p>
          <a:p>
            <a:pPr marL="0" indent="0">
              <a:buNone/>
            </a:pPr>
            <a:endParaRPr lang="fr-BE" b="1" dirty="0">
              <a:solidFill>
                <a:srgbClr val="FF0000"/>
              </a:solidFill>
            </a:endParaRPr>
          </a:p>
          <a:p>
            <a:pPr marL="0" indent="0">
              <a:buNone/>
            </a:pPr>
            <a:r>
              <a:rPr lang="fr-BE" dirty="0">
                <a:sym typeface="Wingdings" panose="05000000000000000000" pitchFamily="2" charset="2"/>
              </a:rPr>
              <a:t> Pour la surveillance électronique seul le </a:t>
            </a:r>
            <a:r>
              <a:rPr lang="fr-BE" b="1" dirty="0">
                <a:solidFill>
                  <a:schemeClr val="accent2">
                    <a:lumMod val="75000"/>
                  </a:schemeClr>
                </a:solidFill>
                <a:sym typeface="Wingdings" panose="05000000000000000000" pitchFamily="2" charset="2"/>
              </a:rPr>
              <a:t>régime de mandat d’arrêt sous SE</a:t>
            </a:r>
            <a:r>
              <a:rPr lang="fr-BE" dirty="0">
                <a:solidFill>
                  <a:schemeClr val="accent2">
                    <a:lumMod val="75000"/>
                  </a:schemeClr>
                </a:solidFill>
                <a:sym typeface="Wingdings" panose="05000000000000000000" pitchFamily="2" charset="2"/>
              </a:rPr>
              <a:t> </a:t>
            </a:r>
            <a:r>
              <a:rPr lang="fr-BE" dirty="0">
                <a:sym typeface="Wingdings" panose="05000000000000000000" pitchFamily="2" charset="2"/>
              </a:rPr>
              <a:t>est </a:t>
            </a:r>
            <a:r>
              <a:rPr lang="fr-BE" b="1" dirty="0">
                <a:sym typeface="Wingdings" panose="05000000000000000000" pitchFamily="2" charset="2"/>
              </a:rPr>
              <a:t>non indemnisable</a:t>
            </a:r>
            <a:endParaRPr lang="fr-BE" b="1" dirty="0"/>
          </a:p>
          <a:p>
            <a:pPr marL="0" indent="0">
              <a:buNone/>
            </a:pPr>
            <a:endParaRPr lang="fr-BE" b="1" dirty="0">
              <a:solidFill>
                <a:srgbClr val="FF0000"/>
              </a:solidFill>
            </a:endParaRPr>
          </a:p>
          <a:p>
            <a:pPr marL="0" indent="0">
              <a:buNone/>
            </a:pPr>
            <a:endParaRPr lang="en-US" dirty="0"/>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38</a:t>
            </a:fld>
            <a:endParaRPr lang="fr-FR"/>
          </a:p>
        </p:txBody>
      </p:sp>
    </p:spTree>
    <p:extLst>
      <p:ext uri="{BB962C8B-B14F-4D97-AF65-F5344CB8AC3E}">
        <p14:creationId xmlns:p14="http://schemas.microsoft.com/office/powerpoint/2010/main" val="428683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Autres conditions</a:t>
            </a:r>
          </a:p>
        </p:txBody>
      </p:sp>
      <p:sp>
        <p:nvSpPr>
          <p:cNvPr id="3" name="Espace réservé du contenu 2"/>
          <p:cNvSpPr>
            <a:spLocks noGrp="1"/>
          </p:cNvSpPr>
          <p:nvPr>
            <p:ph idx="1"/>
          </p:nvPr>
        </p:nvSpPr>
        <p:spPr>
          <a:xfrm>
            <a:off x="457200" y="1600200"/>
            <a:ext cx="8229600" cy="4525963"/>
          </a:xfrm>
        </p:spPr>
        <p:txBody>
          <a:bodyPr>
            <a:normAutofit fontScale="85000" lnSpcReduction="20000"/>
          </a:bodyPr>
          <a:lstStyle/>
          <a:p>
            <a:pPr marL="0" indent="0">
              <a:buNone/>
            </a:pPr>
            <a:r>
              <a:rPr lang="fr-FR" sz="3500" dirty="0"/>
              <a:t>Le chômeur ne peut bénéficier d'allocations pendant la période durant laquelle il suit en Belgique des </a:t>
            </a:r>
            <a:r>
              <a:rPr lang="fr-FR" sz="3500" b="1" dirty="0">
                <a:solidFill>
                  <a:schemeClr val="accent2">
                    <a:lumMod val="75000"/>
                  </a:schemeClr>
                </a:solidFill>
              </a:rPr>
              <a:t>études de plein exercice, une formation ou un apprentissage.</a:t>
            </a:r>
          </a:p>
          <a:p>
            <a:pPr marL="0" indent="0">
              <a:buNone/>
            </a:pPr>
            <a:endParaRPr lang="fr-FR" b="1" i="1" u="sng" dirty="0"/>
          </a:p>
          <a:p>
            <a:pPr marL="0" indent="0">
              <a:buNone/>
            </a:pPr>
            <a:r>
              <a:rPr lang="fr-FR" b="1" i="1" u="sng" dirty="0"/>
              <a:t>Exceptions:</a:t>
            </a:r>
          </a:p>
          <a:p>
            <a:pPr lvl="1">
              <a:buFont typeface="Wingdings" panose="05000000000000000000" pitchFamily="2" charset="2"/>
              <a:buChar char="Ø"/>
            </a:pPr>
            <a:r>
              <a:rPr lang="fr-FR" dirty="0"/>
              <a:t>les cours sont dispensés principalement le </a:t>
            </a:r>
            <a:r>
              <a:rPr lang="fr-FR" b="1" dirty="0"/>
              <a:t>samedi ou après 17 heures</a:t>
            </a:r>
          </a:p>
          <a:p>
            <a:pPr lvl="1">
              <a:buFont typeface="Wingdings" panose="05000000000000000000" pitchFamily="2" charset="2"/>
              <a:buChar char="Ø"/>
            </a:pPr>
            <a:r>
              <a:rPr lang="fr-FR" dirty="0"/>
              <a:t>le chômeur a obtenu une </a:t>
            </a:r>
            <a:r>
              <a:rPr lang="fr-FR" b="1" dirty="0"/>
              <a:t>dispense du SRE</a:t>
            </a:r>
            <a:r>
              <a:rPr lang="fr-FR" b="1" baseline="30000" dirty="0"/>
              <a:t>*  </a:t>
            </a:r>
            <a:r>
              <a:rPr lang="fr-FR" dirty="0"/>
              <a:t>(ou une autorisation) pour suivre les cours et activités</a:t>
            </a:r>
            <a:endParaRPr lang="fr-FR" baseline="30000" dirty="0"/>
          </a:p>
          <a:p>
            <a:pPr marL="0" indent="0">
              <a:buNone/>
            </a:pPr>
            <a:endParaRPr lang="fr-FR" dirty="0"/>
          </a:p>
          <a:p>
            <a:pPr marL="0" indent="0">
              <a:buNone/>
            </a:pPr>
            <a:r>
              <a:rPr lang="fr-FR" sz="1700" dirty="0"/>
              <a:t>* Conditions abordées dans le module « Dispense » </a:t>
            </a:r>
            <a:endParaRPr lang="fr-FR" sz="26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39</a:t>
            </a:fld>
            <a:endParaRPr lang="fr-FR"/>
          </a:p>
        </p:txBody>
      </p:sp>
    </p:spTree>
    <p:extLst>
      <p:ext uri="{BB962C8B-B14F-4D97-AF65-F5344CB8AC3E}">
        <p14:creationId xmlns:p14="http://schemas.microsoft.com/office/powerpoint/2010/main" val="3768044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a:t>
            </a:r>
            <a:r>
              <a:rPr lang="en-US" b="1" i="1" dirty="0" err="1"/>
              <a:t>Autres</a:t>
            </a:r>
            <a:r>
              <a:rPr lang="en-US" b="1" i="1" dirty="0"/>
              <a:t> conditions</a:t>
            </a:r>
          </a:p>
        </p:txBody>
      </p:sp>
      <p:sp>
        <p:nvSpPr>
          <p:cNvPr id="3" name="Espace réservé du contenu 2"/>
          <p:cNvSpPr>
            <a:spLocks noGrp="1"/>
          </p:cNvSpPr>
          <p:nvPr>
            <p:ph idx="1"/>
          </p:nvPr>
        </p:nvSpPr>
        <p:spPr>
          <a:xfrm>
            <a:off x="457200" y="1988840"/>
            <a:ext cx="8229600" cy="4137323"/>
          </a:xfrm>
        </p:spPr>
        <p:txBody>
          <a:bodyPr/>
          <a:lstStyle/>
          <a:p>
            <a:pPr marL="0" indent="0">
              <a:buNone/>
            </a:pPr>
            <a:r>
              <a:rPr lang="fr-FR" dirty="0"/>
              <a:t>Pour bénéficier des allocations, le </a:t>
            </a:r>
            <a:r>
              <a:rPr lang="fr-FR" b="1" dirty="0">
                <a:solidFill>
                  <a:schemeClr val="accent2">
                    <a:lumMod val="75000"/>
                  </a:schemeClr>
                </a:solidFill>
              </a:rPr>
              <a:t>chômeur étranger ou apatride</a:t>
            </a:r>
            <a:r>
              <a:rPr lang="fr-FR" dirty="0"/>
              <a:t> doit satisfaire à la législation relative aux étrangers et à celle relative à l'occupation de la main-d'œuvre étrangère</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40</a:t>
            </a:fld>
            <a:endParaRPr lang="fr-FR"/>
          </a:p>
        </p:txBody>
      </p:sp>
    </p:spTree>
    <p:extLst>
      <p:ext uri="{BB962C8B-B14F-4D97-AF65-F5344CB8AC3E}">
        <p14:creationId xmlns:p14="http://schemas.microsoft.com/office/powerpoint/2010/main" val="4028626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en-US" b="1" i="1" dirty="0"/>
              <a:t>5. Autres conditions </a:t>
            </a:r>
          </a:p>
        </p:txBody>
      </p:sp>
      <p:sp>
        <p:nvSpPr>
          <p:cNvPr id="3" name="Espace réservé du contenu 2"/>
          <p:cNvSpPr>
            <a:spLocks noGrp="1"/>
          </p:cNvSpPr>
          <p:nvPr>
            <p:ph idx="1"/>
          </p:nvPr>
        </p:nvSpPr>
        <p:spPr>
          <a:xfrm>
            <a:off x="457200" y="2132856"/>
            <a:ext cx="8229600" cy="3993307"/>
          </a:xfrm>
        </p:spPr>
        <p:txBody>
          <a:bodyPr>
            <a:normAutofit/>
          </a:bodyPr>
          <a:lstStyle/>
          <a:p>
            <a:pPr marL="0" indent="0">
              <a:buNone/>
            </a:pPr>
            <a:r>
              <a:rPr lang="fr-FR" dirty="0"/>
              <a:t>Le chômeur qui n’a pas donné suite à une </a:t>
            </a:r>
            <a:r>
              <a:rPr lang="fr-FR" b="1" dirty="0"/>
              <a:t>convocation du BC </a:t>
            </a:r>
            <a:r>
              <a:rPr lang="fr-FR" dirty="0"/>
              <a:t>ou à une </a:t>
            </a:r>
            <a:r>
              <a:rPr lang="fr-FR" b="1" dirty="0"/>
              <a:t>invitation</a:t>
            </a:r>
            <a:r>
              <a:rPr lang="fr-FR" dirty="0"/>
              <a:t> à attendre chez lui la visite d’un contrôleur est </a:t>
            </a:r>
            <a:r>
              <a:rPr lang="fr-FR" b="1" dirty="0">
                <a:solidFill>
                  <a:schemeClr val="accent2">
                    <a:lumMod val="75000"/>
                  </a:schemeClr>
                </a:solidFill>
              </a:rPr>
              <a:t>exclu du bénéfice des allocations.</a:t>
            </a:r>
            <a:endParaRPr lang="fr-FR" dirty="0">
              <a:solidFill>
                <a:schemeClr val="accent2">
                  <a:lumMod val="75000"/>
                </a:schemeClr>
              </a:solidFill>
            </a:endParaRP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41</a:t>
            </a:fld>
            <a:endParaRPr lang="fr-FR"/>
          </a:p>
        </p:txBody>
      </p:sp>
    </p:spTree>
    <p:extLst>
      <p:ext uri="{BB962C8B-B14F-4D97-AF65-F5344CB8AC3E}">
        <p14:creationId xmlns:p14="http://schemas.microsoft.com/office/powerpoint/2010/main" val="141724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Autofit/>
          </a:bodyPr>
          <a:lstStyle/>
          <a:p>
            <a:pPr algn="r"/>
            <a:r>
              <a:rPr lang="fr-FR" sz="4000" b="1" i="1" dirty="0"/>
              <a:t>6 - Déclaration et contrôle des périodes de chômage</a:t>
            </a:r>
            <a:endParaRPr lang="en-US" sz="4000" b="1" i="1" dirty="0"/>
          </a:p>
        </p:txBody>
      </p:sp>
      <p:sp>
        <p:nvSpPr>
          <p:cNvPr id="6" name="Espace réservé du contenu 5"/>
          <p:cNvSpPr>
            <a:spLocks noGrp="1"/>
          </p:cNvSpPr>
          <p:nvPr>
            <p:ph idx="1"/>
          </p:nvPr>
        </p:nvSpPr>
        <p:spPr/>
        <p:txBody>
          <a:bodyPr>
            <a:normAutofit/>
          </a:bodyPr>
          <a:lstStyle/>
          <a:p>
            <a:pPr marL="0" indent="0">
              <a:buNone/>
            </a:pPr>
            <a:r>
              <a:rPr lang="fr-FR" b="1" dirty="0"/>
              <a:t>Pour pouvoir bénéficier des allocations, le travailleur doit</a:t>
            </a:r>
            <a:r>
              <a:rPr lang="fr-FR" dirty="0"/>
              <a:t>:</a:t>
            </a:r>
          </a:p>
          <a:p>
            <a:pPr marL="0" indent="0">
              <a:buNone/>
            </a:pPr>
            <a:endParaRPr lang="fr-FR" sz="1100" dirty="0"/>
          </a:p>
          <a:p>
            <a:pPr marL="276225" indent="-276225">
              <a:buNone/>
            </a:pPr>
            <a:r>
              <a:rPr lang="fr-FR" dirty="0"/>
              <a:t>-  </a:t>
            </a:r>
            <a:r>
              <a:rPr lang="fr-FR" b="1" dirty="0">
                <a:solidFill>
                  <a:schemeClr val="accent2">
                    <a:lumMod val="75000"/>
                  </a:schemeClr>
                </a:solidFill>
              </a:rPr>
              <a:t>être en possession d'une carte de contrôle </a:t>
            </a:r>
            <a:r>
              <a:rPr lang="fr-FR" dirty="0"/>
              <a:t>dès le premier jour de chômage effectif du mois et jusqu'au dernier jour de celui-ci  ainsi que de </a:t>
            </a:r>
            <a:r>
              <a:rPr lang="fr-FR" b="1" dirty="0">
                <a:solidFill>
                  <a:schemeClr val="accent2">
                    <a:lumMod val="75000"/>
                  </a:schemeClr>
                </a:solidFill>
              </a:rPr>
              <a:t>la conserver sur lui</a:t>
            </a:r>
            <a:r>
              <a:rPr lang="fr-FR" dirty="0"/>
              <a:t>;</a:t>
            </a:r>
          </a:p>
          <a:p>
            <a:pPr marL="276225" indent="-276225">
              <a:buNone/>
            </a:pPr>
            <a:r>
              <a:rPr lang="fr-FR" dirty="0"/>
              <a:t>-  </a:t>
            </a:r>
            <a:r>
              <a:rPr lang="fr-FR" b="1" dirty="0">
                <a:solidFill>
                  <a:schemeClr val="accent2">
                    <a:lumMod val="75000"/>
                  </a:schemeClr>
                </a:solidFill>
              </a:rPr>
              <a:t>compléter à l'encre indélébile </a:t>
            </a:r>
            <a:r>
              <a:rPr lang="fr-FR" dirty="0"/>
              <a:t>sa carte de contrôle conformément aux directives;</a:t>
            </a:r>
          </a:p>
          <a:p>
            <a:pPr>
              <a:buNone/>
            </a:pPr>
            <a:endParaRPr lang="en-US"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42</a:t>
            </a:fld>
            <a:endParaRPr lang="fr-FR"/>
          </a:p>
        </p:txBody>
      </p:sp>
    </p:spTree>
    <p:extLst>
      <p:ext uri="{BB962C8B-B14F-4D97-AF65-F5344CB8AC3E}">
        <p14:creationId xmlns:p14="http://schemas.microsoft.com/office/powerpoint/2010/main" val="1819883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Autofit/>
          </a:bodyPr>
          <a:lstStyle/>
          <a:p>
            <a:pPr algn="r"/>
            <a:r>
              <a:rPr lang="fr-FR" sz="4000" b="1" i="1" dirty="0"/>
              <a:t>6 - Déclaration et contrôle des périodes de chômage</a:t>
            </a:r>
            <a:endParaRPr lang="en-US" sz="4000" b="1" i="1" dirty="0"/>
          </a:p>
        </p:txBody>
      </p:sp>
      <p:sp>
        <p:nvSpPr>
          <p:cNvPr id="6" name="Espace réservé du contenu 5"/>
          <p:cNvSpPr>
            <a:spLocks noGrp="1"/>
          </p:cNvSpPr>
          <p:nvPr>
            <p:ph idx="1"/>
          </p:nvPr>
        </p:nvSpPr>
        <p:spPr/>
        <p:txBody>
          <a:bodyPr>
            <a:normAutofit lnSpcReduction="10000"/>
          </a:bodyPr>
          <a:lstStyle/>
          <a:p>
            <a:pPr>
              <a:buFontTx/>
              <a:buChar char="-"/>
            </a:pPr>
            <a:r>
              <a:rPr lang="fr-FR" b="1" dirty="0">
                <a:solidFill>
                  <a:schemeClr val="accent2">
                    <a:lumMod val="75000"/>
                  </a:schemeClr>
                </a:solidFill>
              </a:rPr>
              <a:t>avant le début d'une activité, en faire mention </a:t>
            </a:r>
            <a:r>
              <a:rPr lang="fr-FR" dirty="0"/>
              <a:t>à l'encre indélébile sur sa carte de contrôle;</a:t>
            </a:r>
          </a:p>
          <a:p>
            <a:pPr marL="0" indent="0">
              <a:buNone/>
            </a:pPr>
            <a:endParaRPr lang="fr-FR" sz="1600" dirty="0"/>
          </a:p>
          <a:p>
            <a:pPr>
              <a:buFontTx/>
              <a:buChar char="-"/>
            </a:pPr>
            <a:r>
              <a:rPr lang="fr-FR" b="1" dirty="0">
                <a:solidFill>
                  <a:schemeClr val="accent2">
                    <a:lumMod val="75000"/>
                  </a:schemeClr>
                </a:solidFill>
              </a:rPr>
              <a:t>présenter immédiatement sa carte de contrôle à chaque réquisition</a:t>
            </a:r>
            <a:r>
              <a:rPr lang="fr-FR" dirty="0">
                <a:solidFill>
                  <a:schemeClr val="accent2">
                    <a:lumMod val="75000"/>
                  </a:schemeClr>
                </a:solidFill>
              </a:rPr>
              <a:t> </a:t>
            </a:r>
            <a:r>
              <a:rPr lang="fr-FR" dirty="0"/>
              <a:t>par une personne habilitée à cet effet;</a:t>
            </a:r>
          </a:p>
          <a:p>
            <a:pPr marL="0" indent="0">
              <a:buNone/>
            </a:pPr>
            <a:endParaRPr lang="fr-FR" sz="1600" dirty="0"/>
          </a:p>
          <a:p>
            <a:pPr>
              <a:buFontTx/>
              <a:buChar char="-"/>
            </a:pPr>
            <a:r>
              <a:rPr lang="fr-FR" b="1" dirty="0">
                <a:solidFill>
                  <a:schemeClr val="accent2">
                    <a:lumMod val="75000"/>
                  </a:schemeClr>
                </a:solidFill>
              </a:rPr>
              <a:t>signer sa carte de contrôle et la remettre à son OP.</a:t>
            </a:r>
            <a:endParaRPr lang="en-US" b="1" dirty="0">
              <a:solidFill>
                <a:schemeClr val="accent2">
                  <a:lumMod val="75000"/>
                </a:schemeClr>
              </a:solidFill>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43</a:t>
            </a:fld>
            <a:endParaRPr lang="fr-FR"/>
          </a:p>
        </p:txBody>
      </p:sp>
    </p:spTree>
    <p:extLst>
      <p:ext uri="{BB962C8B-B14F-4D97-AF65-F5344CB8AC3E}">
        <p14:creationId xmlns:p14="http://schemas.microsoft.com/office/powerpoint/2010/main" val="1682608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Autofit/>
          </a:bodyPr>
          <a:lstStyle/>
          <a:p>
            <a:pPr algn="r"/>
            <a:r>
              <a:rPr lang="fr-FR" sz="4000" b="1" i="1" dirty="0"/>
              <a:t>6 - Déclaration et contrôle des périodes de chômage</a:t>
            </a:r>
            <a:endParaRPr lang="en-US" sz="4000" b="1" i="1" dirty="0"/>
          </a:p>
        </p:txBody>
      </p:sp>
      <p:sp>
        <p:nvSpPr>
          <p:cNvPr id="6" name="Espace réservé du contenu 5"/>
          <p:cNvSpPr>
            <a:spLocks noGrp="1"/>
          </p:cNvSpPr>
          <p:nvPr>
            <p:ph idx="1"/>
          </p:nvPr>
        </p:nvSpPr>
        <p:spPr>
          <a:xfrm>
            <a:off x="457200" y="1600200"/>
            <a:ext cx="8363272" cy="4983162"/>
          </a:xfrm>
        </p:spPr>
        <p:txBody>
          <a:bodyPr>
            <a:normAutofit fontScale="85000" lnSpcReduction="20000"/>
          </a:bodyPr>
          <a:lstStyle/>
          <a:p>
            <a:pPr marL="0" indent="0">
              <a:buNone/>
            </a:pPr>
            <a:r>
              <a:rPr lang="fr-BE" sz="3800" dirty="0"/>
              <a:t>Le chômeur complet peut respecter ses obligations par le biais d'une </a:t>
            </a:r>
            <a:r>
              <a:rPr lang="fr-BE" sz="3800" b="1" dirty="0"/>
              <a:t>application électronique: </a:t>
            </a:r>
            <a:r>
              <a:rPr lang="fr-BE" sz="3800" b="1" u="sng" dirty="0">
                <a:solidFill>
                  <a:schemeClr val="accent2">
                    <a:lumMod val="75000"/>
                  </a:schemeClr>
                </a:solidFill>
              </a:rPr>
              <a:t>EC3</a:t>
            </a:r>
            <a:r>
              <a:rPr lang="fr-BE" sz="3800" dirty="0"/>
              <a:t>.</a:t>
            </a:r>
          </a:p>
          <a:p>
            <a:pPr marL="0" indent="0">
              <a:buNone/>
            </a:pPr>
            <a:endParaRPr lang="fr-BE" sz="3500" dirty="0"/>
          </a:p>
          <a:p>
            <a:pPr marL="0" indent="0">
              <a:buNone/>
            </a:pPr>
            <a:r>
              <a:rPr lang="fr-BE" sz="3500" dirty="0"/>
              <a:t>Si tel est le cas, le chômeur devra confirmer ce choix par voie électronique sur le site de la sécurité sociale et sera </a:t>
            </a:r>
            <a:r>
              <a:rPr lang="fr-BE" sz="3500" b="1" dirty="0"/>
              <a:t>valable pour une durée indéterminée</a:t>
            </a:r>
            <a:r>
              <a:rPr lang="fr-BE" sz="3500" dirty="0"/>
              <a:t>. </a:t>
            </a:r>
          </a:p>
          <a:p>
            <a:pPr marL="0" indent="0">
              <a:buNone/>
            </a:pPr>
            <a:endParaRPr lang="fr-BE" sz="3500" dirty="0"/>
          </a:p>
          <a:p>
            <a:pPr marL="0" indent="0">
              <a:buNone/>
            </a:pPr>
            <a:r>
              <a:rPr lang="fr-BE" sz="3500" dirty="0"/>
              <a:t>Les obligations sont les mêmes que celles relatives lors de  l’utilisation d’une carte de contrôle « papier » .</a:t>
            </a:r>
          </a:p>
          <a:p>
            <a:pPr marL="0" indent="0">
              <a:buNone/>
            </a:pPr>
            <a:endParaRPr lang="en-US"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44</a:t>
            </a:fld>
            <a:endParaRPr lang="fr-FR"/>
          </a:p>
        </p:txBody>
      </p:sp>
    </p:spTree>
    <p:extLst>
      <p:ext uri="{BB962C8B-B14F-4D97-AF65-F5344CB8AC3E}">
        <p14:creationId xmlns:p14="http://schemas.microsoft.com/office/powerpoint/2010/main" val="712854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Autofit/>
          </a:bodyPr>
          <a:lstStyle/>
          <a:p>
            <a:pPr algn="r"/>
            <a:r>
              <a:rPr lang="fr-FR" sz="4000" b="1" i="1" dirty="0"/>
              <a:t>6. Déclaration et contrôle des périodes de chômage</a:t>
            </a:r>
            <a:endParaRPr lang="en-US" sz="4000" b="1" i="1" dirty="0"/>
          </a:p>
        </p:txBody>
      </p:sp>
      <p:sp>
        <p:nvSpPr>
          <p:cNvPr id="6" name="Espace réservé du contenu 5"/>
          <p:cNvSpPr>
            <a:spLocks noGrp="1"/>
          </p:cNvSpPr>
          <p:nvPr>
            <p:ph idx="1"/>
          </p:nvPr>
        </p:nvSpPr>
        <p:spPr>
          <a:xfrm>
            <a:off x="457200" y="1844824"/>
            <a:ext cx="8229600" cy="4281339"/>
          </a:xfrm>
        </p:spPr>
        <p:txBody>
          <a:bodyPr>
            <a:normAutofit/>
          </a:bodyPr>
          <a:lstStyle/>
          <a:p>
            <a:pPr marL="0" indent="0">
              <a:buNone/>
            </a:pPr>
            <a:r>
              <a:rPr lang="fr-BE" dirty="0"/>
              <a:t>Lorsque le chômeur complet se trouve dans l’impossibilité de compléter son EC3, il peut utiliser un formulaire </a:t>
            </a:r>
            <a:r>
              <a:rPr lang="fr-BE" b="1" dirty="0">
                <a:solidFill>
                  <a:schemeClr val="accent2">
                    <a:lumMod val="75000"/>
                  </a:schemeClr>
                </a:solidFill>
              </a:rPr>
              <a:t>C3E-RETRACTATION</a:t>
            </a:r>
            <a:r>
              <a:rPr lang="fr-BE" dirty="0"/>
              <a:t> pour revenir à la procédure papier.</a:t>
            </a:r>
          </a:p>
          <a:p>
            <a:pPr marL="0" indent="0">
              <a:buNone/>
            </a:pPr>
            <a:endParaRPr lang="fr-BE" b="1" dirty="0"/>
          </a:p>
          <a:p>
            <a:pPr marL="893763" indent="-357188">
              <a:buFont typeface="Wingdings" panose="05000000000000000000" pitchFamily="2" charset="2"/>
              <a:buChar char="Ø"/>
            </a:pPr>
            <a:r>
              <a:rPr lang="fr-BE" b="1" dirty="0">
                <a:solidFill>
                  <a:schemeClr val="accent2">
                    <a:lumMod val="75000"/>
                  </a:schemeClr>
                </a:solidFill>
              </a:rPr>
              <a:t>Rétractation temporaire</a:t>
            </a:r>
            <a:r>
              <a:rPr lang="fr-BE" dirty="0">
                <a:solidFill>
                  <a:schemeClr val="accent2">
                    <a:lumMod val="75000"/>
                  </a:schemeClr>
                </a:solidFill>
              </a:rPr>
              <a:t> </a:t>
            </a:r>
            <a:r>
              <a:rPr lang="fr-BE" dirty="0"/>
              <a:t>(valable pour le « mois en cours » et le mois qui suit)</a:t>
            </a:r>
          </a:p>
          <a:p>
            <a:pPr marL="536575" indent="0">
              <a:buNone/>
            </a:pPr>
            <a:endParaRPr lang="en-US" dirty="0">
              <a:solidFill>
                <a:srgbClr val="FF0000"/>
              </a:solidFill>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45</a:t>
            </a:fld>
            <a:endParaRPr lang="fr-FR"/>
          </a:p>
        </p:txBody>
      </p:sp>
    </p:spTree>
    <p:extLst>
      <p:ext uri="{BB962C8B-B14F-4D97-AF65-F5344CB8AC3E}">
        <p14:creationId xmlns:p14="http://schemas.microsoft.com/office/powerpoint/2010/main" val="4232978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Autofit/>
          </a:bodyPr>
          <a:lstStyle/>
          <a:p>
            <a:pPr algn="r"/>
            <a:r>
              <a:rPr lang="fr-FR" sz="4000" b="1" i="1" dirty="0"/>
              <a:t>6. Déclaration et contrôle des périodes de chômage</a:t>
            </a:r>
            <a:endParaRPr lang="en-US" sz="4000" b="1" i="1" dirty="0"/>
          </a:p>
        </p:txBody>
      </p:sp>
      <p:sp>
        <p:nvSpPr>
          <p:cNvPr id="6" name="Espace réservé du contenu 5"/>
          <p:cNvSpPr>
            <a:spLocks noGrp="1"/>
          </p:cNvSpPr>
          <p:nvPr>
            <p:ph idx="1"/>
          </p:nvPr>
        </p:nvSpPr>
        <p:spPr>
          <a:xfrm>
            <a:off x="457200" y="1600200"/>
            <a:ext cx="8363272" cy="4525963"/>
          </a:xfrm>
        </p:spPr>
        <p:txBody>
          <a:bodyPr>
            <a:normAutofit/>
          </a:bodyPr>
          <a:lstStyle/>
          <a:p>
            <a:pPr marL="0" indent="0">
              <a:buNone/>
            </a:pPr>
            <a:r>
              <a:rPr lang="fr-BE" dirty="0"/>
              <a:t>Une procédure en cas de </a:t>
            </a:r>
            <a:r>
              <a:rPr lang="fr-BE" b="1" dirty="0"/>
              <a:t>jours non-indemnisables</a:t>
            </a:r>
            <a:r>
              <a:rPr lang="fr-BE" dirty="0"/>
              <a:t> survenant </a:t>
            </a:r>
            <a:r>
              <a:rPr lang="fr-BE" b="1" dirty="0"/>
              <a:t>après envoi </a:t>
            </a:r>
            <a:r>
              <a:rPr lang="fr-BE" dirty="0"/>
              <a:t>de la carte ou en cas d’</a:t>
            </a:r>
            <a:r>
              <a:rPr lang="fr-BE" b="1" dirty="0"/>
              <a:t>impossibilité occasionnelle </a:t>
            </a:r>
            <a:r>
              <a:rPr lang="fr-BE" dirty="0"/>
              <a:t>de renseigner l’évènement est prévue.</a:t>
            </a:r>
          </a:p>
          <a:p>
            <a:pPr marL="0" indent="0">
              <a:buNone/>
            </a:pPr>
            <a:r>
              <a:rPr lang="fr-BE" dirty="0"/>
              <a:t>L’assuré social doit </a:t>
            </a:r>
            <a:r>
              <a:rPr lang="fr-BE" b="1" u="sng" dirty="0">
                <a:solidFill>
                  <a:schemeClr val="accent2">
                    <a:lumMod val="75000"/>
                  </a:schemeClr>
                </a:solidFill>
              </a:rPr>
              <a:t>avertir directement le BC </a:t>
            </a:r>
            <a:r>
              <a:rPr lang="fr-BE" dirty="0"/>
              <a:t>(mail, téléphone, fax,…) et recevra un accusé de réception </a:t>
            </a:r>
            <a:r>
              <a:rPr lang="fr-BE" b="1" dirty="0">
                <a:solidFill>
                  <a:schemeClr val="accent2">
                    <a:lumMod val="75000"/>
                  </a:schemeClr>
                </a:solidFill>
              </a:rPr>
              <a:t>C3E-Obstacle</a:t>
            </a:r>
            <a:r>
              <a:rPr lang="fr-BE" dirty="0">
                <a:solidFill>
                  <a:srgbClr val="FF0000"/>
                </a:solidFill>
              </a:rPr>
              <a:t> </a:t>
            </a:r>
            <a:r>
              <a:rPr lang="fr-BE" dirty="0"/>
              <a:t>et ne pourra alors être sanctionné.</a:t>
            </a:r>
            <a:endParaRPr lang="fr-BE" dirty="0">
              <a:solidFill>
                <a:srgbClr val="FF0000"/>
              </a:solidFill>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46</a:t>
            </a:fld>
            <a:endParaRPr lang="fr-FR"/>
          </a:p>
        </p:txBody>
      </p:sp>
    </p:spTree>
    <p:extLst>
      <p:ext uri="{BB962C8B-B14F-4D97-AF65-F5344CB8AC3E}">
        <p14:creationId xmlns:p14="http://schemas.microsoft.com/office/powerpoint/2010/main" val="2142010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t>7. Disponibilité adaptée</a:t>
            </a:r>
            <a:endParaRPr lang="en-US" b="1" i="1" dirty="0"/>
          </a:p>
        </p:txBody>
      </p:sp>
      <p:sp>
        <p:nvSpPr>
          <p:cNvPr id="3" name="Espace réservé du contenu 2"/>
          <p:cNvSpPr>
            <a:spLocks noGrp="1"/>
          </p:cNvSpPr>
          <p:nvPr>
            <p:ph idx="1"/>
          </p:nvPr>
        </p:nvSpPr>
        <p:spPr>
          <a:xfrm>
            <a:off x="457200" y="1600200"/>
            <a:ext cx="8229600" cy="4983162"/>
          </a:xfrm>
        </p:spPr>
        <p:txBody>
          <a:bodyPr>
            <a:normAutofit lnSpcReduction="10000"/>
          </a:bodyPr>
          <a:lstStyle/>
          <a:p>
            <a:pPr>
              <a:buFont typeface="Wingdings" panose="05000000000000000000" pitchFamily="2" charset="2"/>
              <a:buChar char="§"/>
            </a:pPr>
            <a:r>
              <a:rPr lang="fr-FR" sz="3000" dirty="0"/>
              <a:t>Les chômeurs complets sont soumis à une </a:t>
            </a:r>
            <a:r>
              <a:rPr lang="fr-FR" sz="3000" b="1" dirty="0">
                <a:solidFill>
                  <a:schemeClr val="accent2">
                    <a:lumMod val="75000"/>
                  </a:schemeClr>
                </a:solidFill>
              </a:rPr>
              <a:t>disponibilité adaptée </a:t>
            </a:r>
            <a:r>
              <a:rPr lang="fr-FR" sz="3000" dirty="0"/>
              <a:t>à partir du </a:t>
            </a:r>
            <a:r>
              <a:rPr lang="fr-FR" sz="3000" b="1" dirty="0"/>
              <a:t>mois du 60</a:t>
            </a:r>
            <a:r>
              <a:rPr lang="fr-FR" sz="3000" b="1" baseline="30000" dirty="0"/>
              <a:t>ème</a:t>
            </a:r>
            <a:r>
              <a:rPr lang="fr-FR" sz="3000" b="1" dirty="0"/>
              <a:t> anniversaire</a:t>
            </a:r>
            <a:r>
              <a:rPr lang="fr-FR" sz="3000" dirty="0"/>
              <a:t> </a:t>
            </a:r>
          </a:p>
          <a:p>
            <a:pPr lvl="1">
              <a:buFont typeface="Wingdings" panose="05000000000000000000" pitchFamily="2" charset="2"/>
              <a:buChar char="è"/>
            </a:pPr>
            <a:r>
              <a:rPr lang="fr-FR" sz="3000" dirty="0">
                <a:sym typeface="Wingdings" panose="05000000000000000000" pitchFamily="2" charset="2"/>
              </a:rPr>
              <a:t>Dispense de recherche active d’emploi et d’utilisation de carte de contrôle  </a:t>
            </a:r>
          </a:p>
          <a:p>
            <a:pPr marL="0" indent="0">
              <a:buNone/>
            </a:pPr>
            <a:endParaRPr lang="fr-FR" sz="1800" dirty="0">
              <a:sym typeface="Wingdings" panose="05000000000000000000" pitchFamily="2" charset="2"/>
            </a:endParaRPr>
          </a:p>
          <a:p>
            <a:pPr>
              <a:buFont typeface="Wingdings" panose="05000000000000000000" pitchFamily="2" charset="2"/>
              <a:buChar char="§"/>
            </a:pPr>
            <a:r>
              <a:rPr lang="fr-FR" sz="3000" dirty="0">
                <a:sym typeface="Wingdings" panose="05000000000000000000" pitchFamily="2" charset="2"/>
              </a:rPr>
              <a:t>Les TTPMD avec </a:t>
            </a:r>
            <a:r>
              <a:rPr lang="fr-FR" sz="3000" b="1" dirty="0">
                <a:sym typeface="Wingdings" panose="05000000000000000000" pitchFamily="2" charset="2"/>
              </a:rPr>
              <a:t>AGR &lt;  S/2 </a:t>
            </a:r>
            <a:r>
              <a:rPr lang="fr-FR" sz="3000" dirty="0">
                <a:sym typeface="Wingdings" panose="05000000000000000000" pitchFamily="2" charset="2"/>
              </a:rPr>
              <a:t>(après 12 mois et 1 évaluation positive « dispo Active ») et les TTPMD avec </a:t>
            </a:r>
            <a:r>
              <a:rPr lang="fr-FR" sz="3000" b="1" dirty="0">
                <a:sym typeface="Wingdings" panose="05000000000000000000" pitchFamily="2" charset="2"/>
              </a:rPr>
              <a:t>AGR  ≥ S/2 </a:t>
            </a:r>
            <a:r>
              <a:rPr lang="fr-FR" sz="3000" dirty="0">
                <a:sym typeface="Wingdings" panose="05000000000000000000" pitchFamily="2" charset="2"/>
              </a:rPr>
              <a:t>sont également soumis à une </a:t>
            </a:r>
            <a:r>
              <a:rPr lang="fr-FR" sz="3000" b="1" dirty="0">
                <a:solidFill>
                  <a:schemeClr val="accent2">
                    <a:lumMod val="75000"/>
                  </a:schemeClr>
                </a:solidFill>
                <a:sym typeface="Wingdings" panose="05000000000000000000" pitchFamily="2" charset="2"/>
              </a:rPr>
              <a:t>disponibilité adaptée</a:t>
            </a:r>
          </a:p>
          <a:p>
            <a:pPr marL="400050" lvl="1" indent="0">
              <a:buNone/>
            </a:pPr>
            <a:r>
              <a:rPr lang="fr-FR" sz="2600" dirty="0">
                <a:sym typeface="Wingdings" panose="05000000000000000000" pitchFamily="2" charset="2"/>
              </a:rPr>
              <a:t></a:t>
            </a:r>
            <a:r>
              <a:rPr lang="fr-FR" sz="3000" dirty="0">
                <a:sym typeface="Wingdings" panose="05000000000000000000" pitchFamily="2" charset="2"/>
              </a:rPr>
              <a:t>Dispense de recherche active d’emploi</a:t>
            </a:r>
          </a:p>
          <a:p>
            <a:pPr marL="0" indent="0">
              <a:buNone/>
            </a:pPr>
            <a:endParaRPr lang="fr-FR" dirty="0">
              <a:sym typeface="Wingdings" panose="05000000000000000000" pitchFamily="2" charset="2"/>
            </a:endParaRPr>
          </a:p>
          <a:p>
            <a:pPr marL="0" indent="0">
              <a:buNone/>
            </a:pPr>
            <a:endParaRPr lang="fr-FR" dirty="0">
              <a:sym typeface="Wingdings" panose="05000000000000000000" pitchFamily="2" charset="2"/>
            </a:endParaRPr>
          </a:p>
          <a:p>
            <a:pPr>
              <a:buFont typeface="Wingdings" panose="05000000000000000000" pitchFamily="2" charset="2"/>
              <a:buChar char="è"/>
            </a:pPr>
            <a:endParaRPr lang="fr-FR" dirty="0">
              <a:sym typeface="Wingdings" panose="05000000000000000000" pitchFamily="2" charset="2"/>
            </a:endParaRPr>
          </a:p>
          <a:p>
            <a:pPr marL="0" indent="0">
              <a:buNone/>
            </a:pPr>
            <a:endParaRPr lang="fr-FR"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47</a:t>
            </a:fld>
            <a:endParaRPr lang="fr-FR"/>
          </a:p>
        </p:txBody>
      </p:sp>
    </p:spTree>
    <p:extLst>
      <p:ext uri="{BB962C8B-B14F-4D97-AF65-F5344CB8AC3E}">
        <p14:creationId xmlns:p14="http://schemas.microsoft.com/office/powerpoint/2010/main" val="1285318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dirty="0"/>
              <a:t>7. Disponibilité adaptée</a:t>
            </a:r>
            <a:endParaRPr lang="en-US" b="1" i="1" dirty="0"/>
          </a:p>
        </p:txBody>
      </p:sp>
      <p:sp>
        <p:nvSpPr>
          <p:cNvPr id="3" name="Espace réservé du contenu 2"/>
          <p:cNvSpPr>
            <a:spLocks noGrp="1"/>
          </p:cNvSpPr>
          <p:nvPr>
            <p:ph idx="1"/>
          </p:nvPr>
        </p:nvSpPr>
        <p:spPr>
          <a:xfrm>
            <a:off x="457200" y="2060848"/>
            <a:ext cx="8229600" cy="4065315"/>
          </a:xfrm>
        </p:spPr>
        <p:txBody>
          <a:bodyPr>
            <a:normAutofit/>
          </a:bodyPr>
          <a:lstStyle/>
          <a:p>
            <a:pPr marL="0" indent="0">
              <a:buNone/>
            </a:pPr>
            <a:r>
              <a:rPr lang="fr-FR" dirty="0">
                <a:sym typeface="Wingdings" panose="05000000000000000000" pitchFamily="2" charset="2"/>
              </a:rPr>
              <a:t>Possibilité d’obtenir une dispense de certaines conditions d’octroi si: </a:t>
            </a:r>
          </a:p>
          <a:p>
            <a:pPr>
              <a:buFontTx/>
              <a:buChar char="-"/>
            </a:pPr>
            <a:r>
              <a:rPr lang="fr-FR" dirty="0">
                <a:sym typeface="Wingdings" panose="05000000000000000000" pitchFamily="2" charset="2"/>
              </a:rPr>
              <a:t>dispense </a:t>
            </a:r>
            <a:r>
              <a:rPr lang="fr-FR" b="1" dirty="0">
                <a:solidFill>
                  <a:schemeClr val="accent2">
                    <a:lumMod val="75000"/>
                  </a:schemeClr>
                </a:solidFill>
                <a:sym typeface="Wingdings" panose="05000000000000000000" pitchFamily="2" charset="2"/>
              </a:rPr>
              <a:t>89,2</a:t>
            </a:r>
            <a:r>
              <a:rPr lang="fr-FR" dirty="0">
                <a:sym typeface="Wingdings" panose="05000000000000000000" pitchFamily="2" charset="2"/>
              </a:rPr>
              <a:t> </a:t>
            </a:r>
          </a:p>
          <a:p>
            <a:pPr>
              <a:buFontTx/>
              <a:buChar char="-"/>
            </a:pPr>
            <a:r>
              <a:rPr lang="fr-FR" dirty="0">
                <a:sym typeface="Wingdings" panose="05000000000000000000" pitchFamily="2" charset="2"/>
              </a:rPr>
              <a:t>dispense de disponibilité adaptée </a:t>
            </a:r>
            <a:r>
              <a:rPr lang="fr-FR" b="1" dirty="0">
                <a:solidFill>
                  <a:schemeClr val="accent2">
                    <a:lumMod val="75000"/>
                  </a:schemeClr>
                </a:solidFill>
                <a:sym typeface="Wingdings" panose="05000000000000000000" pitchFamily="2" charset="2"/>
              </a:rPr>
              <a:t>89,2N</a:t>
            </a:r>
          </a:p>
          <a:p>
            <a:pPr marL="0" indent="0">
              <a:buNone/>
            </a:pPr>
            <a:endParaRPr lang="fr-FR" dirty="0">
              <a:latin typeface="BatangChe" panose="02030609000101010101" pitchFamily="49" charset="-127"/>
              <a:ea typeface="BatangChe" panose="02030609000101010101" pitchFamily="49" charset="-127"/>
              <a:sym typeface="Wingdings" panose="05000000000000000000" pitchFamily="2" charset="2"/>
            </a:endParaRPr>
          </a:p>
          <a:p>
            <a:pPr marL="0" indent="0">
              <a:buNone/>
            </a:pPr>
            <a:endParaRPr lang="fr-FR" dirty="0">
              <a:sym typeface="Wingdings" panose="05000000000000000000" pitchFamily="2" charset="2"/>
            </a:endParaRPr>
          </a:p>
          <a:p>
            <a:pPr>
              <a:buFont typeface="Wingdings" panose="05000000000000000000" pitchFamily="2" charset="2"/>
              <a:buChar char="è"/>
            </a:pPr>
            <a:endParaRPr lang="fr-FR" dirty="0">
              <a:sym typeface="Wingdings" panose="05000000000000000000" pitchFamily="2" charset="2"/>
            </a:endParaRP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48</a:t>
            </a:fld>
            <a:endParaRPr lang="fr-FR"/>
          </a:p>
        </p:txBody>
      </p:sp>
    </p:spTree>
    <p:extLst>
      <p:ext uri="{BB962C8B-B14F-4D97-AF65-F5344CB8AC3E}">
        <p14:creationId xmlns:p14="http://schemas.microsoft.com/office/powerpoint/2010/main" val="3141881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1D4D5C3D776247A0B00D9B67B18301" ma:contentTypeVersion="5" ma:contentTypeDescription="Crée un document." ma:contentTypeScope="" ma:versionID="7a3aaf4a5e491451268d7041ab422b5e">
  <xsd:schema xmlns:xsd="http://www.w3.org/2001/XMLSchema" xmlns:xs="http://www.w3.org/2001/XMLSchema" xmlns:p="http://schemas.microsoft.com/office/2006/metadata/properties" xmlns:ns2="70ec8308-a2f0-4163-8d73-ffca7c913578" xmlns:ns3="594ba5a2-1908-49bb-836f-9f7e6dbdc18e" targetNamespace="http://schemas.microsoft.com/office/2006/metadata/properties" ma:root="true" ma:fieldsID="eac2541f887c14507833b58d07aebfe8" ns2:_="" ns3:_="">
    <xsd:import namespace="70ec8308-a2f0-4163-8d73-ffca7c913578"/>
    <xsd:import namespace="594ba5a2-1908-49bb-836f-9f7e6dbdc18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ec8308-a2f0-4163-8d73-ffca7c913578"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4ba5a2-1908-49bb-836f-9f7e6dbdc18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64DB2-5D93-4CF3-AD57-3F17D5C4F521}">
  <ds:schemaRefs>
    <ds:schemaRef ds:uri="http://schemas.microsoft.com/sharepoint/v3/contenttype/forms"/>
  </ds:schemaRefs>
</ds:datastoreItem>
</file>

<file path=customXml/itemProps2.xml><?xml version="1.0" encoding="utf-8"?>
<ds:datastoreItem xmlns:ds="http://schemas.openxmlformats.org/officeDocument/2006/customXml" ds:itemID="{25D74D1A-5927-4786-9E18-CCFF316ED70E}">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594ba5a2-1908-49bb-836f-9f7e6dbdc18e"/>
    <ds:schemaRef ds:uri="http://purl.org/dc/terms/"/>
    <ds:schemaRef ds:uri="70ec8308-a2f0-4163-8d73-ffca7c913578"/>
    <ds:schemaRef ds:uri="http://www.w3.org/XML/1998/namespace"/>
    <ds:schemaRef ds:uri="http://purl.org/dc/dcmitype/"/>
  </ds:schemaRefs>
</ds:datastoreItem>
</file>

<file path=customXml/itemProps3.xml><?xml version="1.0" encoding="utf-8"?>
<ds:datastoreItem xmlns:ds="http://schemas.openxmlformats.org/officeDocument/2006/customXml" ds:itemID="{0552CEF4-5309-4FE0-9943-495DD15A8A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ec8308-a2f0-4163-8d73-ffca7c913578"/>
    <ds:schemaRef ds:uri="594ba5a2-1908-49bb-836f-9f7e6dbdc1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12862</TotalTime>
  <Words>3151</Words>
  <Application>Microsoft Office PowerPoint</Application>
  <PresentationFormat>Affichage à l'écran (4:3)</PresentationFormat>
  <Paragraphs>325</Paragraphs>
  <Slides>48</Slides>
  <Notes>36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48</vt:i4>
      </vt:variant>
    </vt:vector>
  </HeadingPairs>
  <TitlesOfParts>
    <vt:vector size="54" baseType="lpstr">
      <vt:lpstr>BatangChe</vt:lpstr>
      <vt:lpstr>Arial</vt:lpstr>
      <vt:lpstr>Calibri</vt:lpstr>
      <vt:lpstr>Courier New</vt:lpstr>
      <vt:lpstr>Wingdings</vt:lpstr>
      <vt:lpstr>Thème Office</vt:lpstr>
      <vt:lpstr>Les conditions d’octroi</vt:lpstr>
      <vt:lpstr>Table des matières</vt:lpstr>
      <vt:lpstr>Conditions d’octroi</vt:lpstr>
      <vt:lpstr>Conditions d’octroi</vt:lpstr>
      <vt:lpstr> 1. Privation involontaire de travail et de rémunération</vt:lpstr>
      <vt:lpstr>1. Privation involontaire de travail et de rémunération</vt:lpstr>
      <vt:lpstr>1. Privation involontaire de travail et de rémunération</vt:lpstr>
      <vt:lpstr>1. Privation involontaire de travail et de rémunération</vt:lpstr>
      <vt:lpstr>2.1. Disponibilité pour le marché de l'emploi : emploi convenable</vt:lpstr>
      <vt:lpstr>2.1. Disponibilité pour le marché de l'emploi : emploi convenable</vt:lpstr>
      <vt:lpstr>2.2- Disponibilité pour le marché de l'emploi : activation</vt:lpstr>
      <vt:lpstr>2.2. Disponibilité pour le marché de l'emploi : activation</vt:lpstr>
      <vt:lpstr>2.2. Disponibilité pour le marché de l'emploi : activation</vt:lpstr>
      <vt:lpstr>2.2. Disponibilité pour le marché de l'emploi : activation</vt:lpstr>
      <vt:lpstr>2.2- Disponibilité pour le marché de l'emploi : activation</vt:lpstr>
      <vt:lpstr>2.2. Disponibilité pour le marché de l'emploi : activation</vt:lpstr>
      <vt:lpstr>2.3. Disponibilité pour le marché de l'emploi : IDE</vt:lpstr>
      <vt:lpstr>2.3. Disponibilité pour le marché de l'emploi : IDE</vt:lpstr>
      <vt:lpstr>2.3. Disponibilité pour le marché de l'emploi : IDE</vt:lpstr>
      <vt:lpstr>2.3- Disponibilité pour le marché de l'emploi : IDE</vt:lpstr>
      <vt:lpstr>2.3- Disponibilité pour le marché de l'emploi : IDE</vt:lpstr>
      <vt:lpstr>2.3- Disponibilité pour le marché de l'emploi : IDE</vt:lpstr>
      <vt:lpstr>2.3- Disponibilité pour le marché de l'emploi : IDE</vt:lpstr>
      <vt:lpstr>2.3. Disponibilité pour le marché de l’emploi: IDE</vt:lpstr>
      <vt:lpstr>2.3- Disponibilité pour le marché de l'emploi : IDE</vt:lpstr>
      <vt:lpstr>2.3- Disponibilité pour le marché de l'emploi : IDE</vt:lpstr>
      <vt:lpstr>2.3- Disponibilité pour le marché de l'emploi : IDE</vt:lpstr>
      <vt:lpstr>2.3- Disponibilité pour le marché de l'emploi : IDE</vt:lpstr>
      <vt:lpstr>2.3- Disponibilité pour le marché de l'emploi : IDE</vt:lpstr>
      <vt:lpstr>3. Aptitude au travail</vt:lpstr>
      <vt:lpstr>4. Conditions d’âge</vt:lpstr>
      <vt:lpstr>4. Conditions d’âge</vt:lpstr>
      <vt:lpstr>4. Conditions d’âge</vt:lpstr>
      <vt:lpstr>4. Conditions d'âge</vt:lpstr>
      <vt:lpstr>5. Autres conditions</vt:lpstr>
      <vt:lpstr>5. Autres conditions</vt:lpstr>
      <vt:lpstr>5. Autres conditions</vt:lpstr>
      <vt:lpstr>5 - Autres conditions</vt:lpstr>
      <vt:lpstr>5. Autres conditions</vt:lpstr>
      <vt:lpstr>5. Autres conditions</vt:lpstr>
      <vt:lpstr>5. Autres conditions </vt:lpstr>
      <vt:lpstr>6 - Déclaration et contrôle des périodes de chômage</vt:lpstr>
      <vt:lpstr>6 - Déclaration et contrôle des périodes de chômage</vt:lpstr>
      <vt:lpstr>6 - Déclaration et contrôle des périodes de chômage</vt:lpstr>
      <vt:lpstr>6. Déclaration et contrôle des périodes de chômage</vt:lpstr>
      <vt:lpstr>6. Déclaration et contrôle des périodes de chômage</vt:lpstr>
      <vt:lpstr>7. Disponibilité adaptée</vt:lpstr>
      <vt:lpstr>7. Disponibilité adaptée</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FCJ-M13-Les conditions d'octroi-FLT</dc:title>
  <dc:creator>u99lge</dc:creator>
  <cp:lastModifiedBy>Ali Bakhouch</cp:lastModifiedBy>
  <cp:revision>612</cp:revision>
  <dcterms:created xsi:type="dcterms:W3CDTF">2010-09-22T12:12:06Z</dcterms:created>
  <dcterms:modified xsi:type="dcterms:W3CDTF">2023-10-13T15:02:35Z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0x010100771D4D5C3D776247A0B00D9B67B18301</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22;#Indemnisabilité|b5f95997-28b8-41b1-bbb7-1a3d8a5995b4;#26;#Paiement|bbe82f01-f3c6-4a35-a642-de01f3e9fac7;#18;#Vérités|91331765-02c2-47c0-8605-37a5a3e877f2</vt:lpwstr>
  </property>
  <property fmtid="{D5CDD505-2E9C-101B-9397-08002B2CF9AE}" pid="7" name="Thème">
    <vt:lpwstr>38;#Conditions d'octroi|b7113e02-9cc3-4add-a01c-084b0ca4a262</vt:lpwstr>
  </property>
  <property fmtid="{D5CDD505-2E9C-101B-9397-08002B2CF9AE}" pid="8" name="Order">
    <vt:r8>21900</vt:r8>
  </property>
  <property fmtid="{D5CDD505-2E9C-101B-9397-08002B2CF9AE}" pid="9" name="_dlc_DocIdItemGuid">
    <vt:lpwstr>fc9b71ac-a9d2-4df4-bc88-f578f4067760</vt:lpwstr>
  </property>
</Properties>
</file>