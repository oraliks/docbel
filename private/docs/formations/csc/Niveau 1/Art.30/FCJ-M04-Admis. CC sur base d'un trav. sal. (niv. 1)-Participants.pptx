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9"/>
  </p:notesMasterIdLst>
  <p:handoutMasterIdLst>
    <p:handoutMasterId r:id="rId60"/>
  </p:handoutMasterIdLst>
  <p:sldIdLst>
    <p:sldId id="419" r:id="rId5"/>
    <p:sldId id="321" r:id="rId6"/>
    <p:sldId id="375" r:id="rId7"/>
    <p:sldId id="414" r:id="rId8"/>
    <p:sldId id="394" r:id="rId9"/>
    <p:sldId id="395" r:id="rId10"/>
    <p:sldId id="400" r:id="rId11"/>
    <p:sldId id="388" r:id="rId12"/>
    <p:sldId id="389" r:id="rId13"/>
    <p:sldId id="431" r:id="rId14"/>
    <p:sldId id="432" r:id="rId15"/>
    <p:sldId id="433" r:id="rId16"/>
    <p:sldId id="434" r:id="rId17"/>
    <p:sldId id="327" r:id="rId18"/>
    <p:sldId id="366" r:id="rId19"/>
    <p:sldId id="412" r:id="rId20"/>
    <p:sldId id="413" r:id="rId21"/>
    <p:sldId id="435" r:id="rId22"/>
    <p:sldId id="332" r:id="rId23"/>
    <p:sldId id="340" r:id="rId24"/>
    <p:sldId id="393" r:id="rId25"/>
    <p:sldId id="341" r:id="rId26"/>
    <p:sldId id="377" r:id="rId27"/>
    <p:sldId id="436" r:id="rId28"/>
    <p:sldId id="437" r:id="rId29"/>
    <p:sldId id="438" r:id="rId30"/>
    <p:sldId id="439" r:id="rId31"/>
    <p:sldId id="343" r:id="rId32"/>
    <p:sldId id="440" r:id="rId33"/>
    <p:sldId id="347" r:id="rId34"/>
    <p:sldId id="348" r:id="rId35"/>
    <p:sldId id="378" r:id="rId36"/>
    <p:sldId id="406" r:id="rId37"/>
    <p:sldId id="407" r:id="rId38"/>
    <p:sldId id="354" r:id="rId39"/>
    <p:sldId id="405" r:id="rId40"/>
    <p:sldId id="409" r:id="rId41"/>
    <p:sldId id="410" r:id="rId42"/>
    <p:sldId id="355" r:id="rId43"/>
    <p:sldId id="397" r:id="rId44"/>
    <p:sldId id="357" r:id="rId45"/>
    <p:sldId id="358" r:id="rId46"/>
    <p:sldId id="364" r:id="rId47"/>
    <p:sldId id="365" r:id="rId48"/>
    <p:sldId id="428" r:id="rId49"/>
    <p:sldId id="415" r:id="rId50"/>
    <p:sldId id="429" r:id="rId51"/>
    <p:sldId id="360" r:id="rId52"/>
    <p:sldId id="404" r:id="rId53"/>
    <p:sldId id="385" r:id="rId54"/>
    <p:sldId id="386" r:id="rId55"/>
    <p:sldId id="363" r:id="rId56"/>
    <p:sldId id="430" r:id="rId57"/>
    <p:sldId id="387" r:id="rId58"/>
  </p:sldIdLst>
  <p:sldSz cx="9144000" cy="6858000" type="screen4x3"/>
  <p:notesSz cx="6797675" cy="987266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nassakis Drossinis" initials="TD" lastIdx="1" clrIdx="0">
    <p:extLst>
      <p:ext uri="{19B8F6BF-5375-455C-9EA6-DF929625EA0E}">
        <p15:presenceInfo xmlns:p15="http://schemas.microsoft.com/office/powerpoint/2012/main" userId="S::u99tdr@acv-csc.be::b25eba5c-ae41-4ffc-9e38-008e1ba3ee4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CC00"/>
    <a:srgbClr val="FF9933"/>
    <a:srgbClr val="0033CC"/>
    <a:srgbClr val="003399"/>
    <a:srgbClr val="669900"/>
    <a:srgbClr val="00FF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59ED51-677E-409A-82F2-FC475790533A}" v="39" dt="2022-11-04T07:02:57.634"/>
    <p1510:client id="{E701E8A7-2CAB-46EA-B8F4-520691138368}" v="2" dt="2022-11-17T14:28:02.84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Style moyen 3 - Accentuation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302" autoAdjust="0"/>
  </p:normalViewPr>
  <p:slideViewPr>
    <p:cSldViewPr>
      <p:cViewPr varScale="1">
        <p:scale>
          <a:sx n="96" d="100"/>
          <a:sy n="96" d="100"/>
        </p:scale>
        <p:origin x="414" y="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commentAuthors" Target="commen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67"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ilippe Barbier" userId="534da69a-1040-4e6d-8807-26f79df2c0dd" providerId="ADAL" clId="{7B6DD524-5A6A-49CC-8B0D-B0798962DD55}"/>
    <pc:docChg chg="custSel addSld delSld modSld">
      <pc:chgData name="Philippe Barbier" userId="534da69a-1040-4e6d-8807-26f79df2c0dd" providerId="ADAL" clId="{7B6DD524-5A6A-49CC-8B0D-B0798962DD55}" dt="2022-08-25T10:49:04.215" v="61" actId="20577"/>
      <pc:docMkLst>
        <pc:docMk/>
      </pc:docMkLst>
      <pc:sldChg chg="modSp mod">
        <pc:chgData name="Philippe Barbier" userId="534da69a-1040-4e6d-8807-26f79df2c0dd" providerId="ADAL" clId="{7B6DD524-5A6A-49CC-8B0D-B0798962DD55}" dt="2022-08-25T08:45:30.791" v="55" actId="27636"/>
        <pc:sldMkLst>
          <pc:docMk/>
          <pc:sldMk cId="1728700928" sldId="360"/>
        </pc:sldMkLst>
        <pc:spChg chg="mod">
          <ac:chgData name="Philippe Barbier" userId="534da69a-1040-4e6d-8807-26f79df2c0dd" providerId="ADAL" clId="{7B6DD524-5A6A-49CC-8B0D-B0798962DD55}" dt="2022-08-25T08:45:30.791" v="55" actId="27636"/>
          <ac:spMkLst>
            <pc:docMk/>
            <pc:sldMk cId="1728700928" sldId="360"/>
            <ac:spMk id="8" creationId="{00000000-0000-0000-0000-000000000000}"/>
          </ac:spMkLst>
        </pc:spChg>
      </pc:sldChg>
      <pc:sldChg chg="add">
        <pc:chgData name="Philippe Barbier" userId="534da69a-1040-4e6d-8807-26f79df2c0dd" providerId="ADAL" clId="{7B6DD524-5A6A-49CC-8B0D-B0798962DD55}" dt="2022-08-25T08:43:33.172" v="36"/>
        <pc:sldMkLst>
          <pc:docMk/>
          <pc:sldMk cId="1147488450" sldId="367"/>
        </pc:sldMkLst>
      </pc:sldChg>
      <pc:sldChg chg="add">
        <pc:chgData name="Philippe Barbier" userId="534da69a-1040-4e6d-8807-26f79df2c0dd" providerId="ADAL" clId="{7B6DD524-5A6A-49CC-8B0D-B0798962DD55}" dt="2022-08-25T08:43:33.172" v="36"/>
        <pc:sldMkLst>
          <pc:docMk/>
          <pc:sldMk cId="2783535278" sldId="380"/>
        </pc:sldMkLst>
      </pc:sldChg>
      <pc:sldChg chg="add">
        <pc:chgData name="Philippe Barbier" userId="534da69a-1040-4e6d-8807-26f79df2c0dd" providerId="ADAL" clId="{7B6DD524-5A6A-49CC-8B0D-B0798962DD55}" dt="2022-08-25T08:43:33.172" v="36"/>
        <pc:sldMkLst>
          <pc:docMk/>
          <pc:sldMk cId="1608862674" sldId="381"/>
        </pc:sldMkLst>
      </pc:sldChg>
      <pc:sldChg chg="add">
        <pc:chgData name="Philippe Barbier" userId="534da69a-1040-4e6d-8807-26f79df2c0dd" providerId="ADAL" clId="{7B6DD524-5A6A-49CC-8B0D-B0798962DD55}" dt="2022-08-25T08:44:01.877" v="41"/>
        <pc:sldMkLst>
          <pc:docMk/>
          <pc:sldMk cId="4058523744" sldId="384"/>
        </pc:sldMkLst>
      </pc:sldChg>
      <pc:sldChg chg="del">
        <pc:chgData name="Philippe Barbier" userId="534da69a-1040-4e6d-8807-26f79df2c0dd" providerId="ADAL" clId="{7B6DD524-5A6A-49CC-8B0D-B0798962DD55}" dt="2022-08-25T08:39:58.273" v="12" actId="47"/>
        <pc:sldMkLst>
          <pc:docMk/>
          <pc:sldMk cId="4064001760" sldId="390"/>
        </pc:sldMkLst>
      </pc:sldChg>
      <pc:sldChg chg="del">
        <pc:chgData name="Philippe Barbier" userId="534da69a-1040-4e6d-8807-26f79df2c0dd" providerId="ADAL" clId="{7B6DD524-5A6A-49CC-8B0D-B0798962DD55}" dt="2022-08-25T08:39:59.660" v="13" actId="47"/>
        <pc:sldMkLst>
          <pc:docMk/>
          <pc:sldMk cId="3169762334" sldId="391"/>
        </pc:sldMkLst>
      </pc:sldChg>
      <pc:sldChg chg="del">
        <pc:chgData name="Philippe Barbier" userId="534da69a-1040-4e6d-8807-26f79df2c0dd" providerId="ADAL" clId="{7B6DD524-5A6A-49CC-8B0D-B0798962DD55}" dt="2022-08-25T08:40:02.183" v="14" actId="47"/>
        <pc:sldMkLst>
          <pc:docMk/>
          <pc:sldMk cId="3699232588" sldId="392"/>
        </pc:sldMkLst>
      </pc:sldChg>
      <pc:sldChg chg="del">
        <pc:chgData name="Philippe Barbier" userId="534da69a-1040-4e6d-8807-26f79df2c0dd" providerId="ADAL" clId="{7B6DD524-5A6A-49CC-8B0D-B0798962DD55}" dt="2022-08-25T08:40:04.336" v="15" actId="47"/>
        <pc:sldMkLst>
          <pc:docMk/>
          <pc:sldMk cId="2855594071" sldId="401"/>
        </pc:sldMkLst>
      </pc:sldChg>
      <pc:sldChg chg="add">
        <pc:chgData name="Philippe Barbier" userId="534da69a-1040-4e6d-8807-26f79df2c0dd" providerId="ADAL" clId="{7B6DD524-5A6A-49CC-8B0D-B0798962DD55}" dt="2022-08-25T08:42:21.564" v="32"/>
        <pc:sldMkLst>
          <pc:docMk/>
          <pc:sldMk cId="444199639" sldId="402"/>
        </pc:sldMkLst>
      </pc:sldChg>
      <pc:sldChg chg="add">
        <pc:chgData name="Philippe Barbier" userId="534da69a-1040-4e6d-8807-26f79df2c0dd" providerId="ADAL" clId="{7B6DD524-5A6A-49CC-8B0D-B0798962DD55}" dt="2022-08-25T08:41:08.168" v="16"/>
        <pc:sldMkLst>
          <pc:docMk/>
          <pc:sldMk cId="1066023670" sldId="412"/>
        </pc:sldMkLst>
      </pc:sldChg>
      <pc:sldChg chg="modSp mod">
        <pc:chgData name="Philippe Barbier" userId="534da69a-1040-4e6d-8807-26f79df2c0dd" providerId="ADAL" clId="{7B6DD524-5A6A-49CC-8B0D-B0798962DD55}" dt="2022-08-25T08:41:53.542" v="31" actId="6549"/>
        <pc:sldMkLst>
          <pc:docMk/>
          <pc:sldMk cId="1214842423" sldId="413"/>
        </pc:sldMkLst>
        <pc:spChg chg="mod">
          <ac:chgData name="Philippe Barbier" userId="534da69a-1040-4e6d-8807-26f79df2c0dd" providerId="ADAL" clId="{7B6DD524-5A6A-49CC-8B0D-B0798962DD55}" dt="2022-08-25T08:41:41.246" v="25" actId="6549"/>
          <ac:spMkLst>
            <pc:docMk/>
            <pc:sldMk cId="1214842423" sldId="413"/>
            <ac:spMk id="5" creationId="{E9465347-DE69-49ED-B58A-F572CAC1B0CC}"/>
          </ac:spMkLst>
        </pc:spChg>
        <pc:graphicFrameChg chg="modGraphic">
          <ac:chgData name="Philippe Barbier" userId="534da69a-1040-4e6d-8807-26f79df2c0dd" providerId="ADAL" clId="{7B6DD524-5A6A-49CC-8B0D-B0798962DD55}" dt="2022-08-25T08:41:53.542" v="31" actId="6549"/>
          <ac:graphicFrameMkLst>
            <pc:docMk/>
            <pc:sldMk cId="1214842423" sldId="413"/>
            <ac:graphicFrameMk id="8" creationId="{347CC0E2-57AC-4FB1-B25F-E56F04810F94}"/>
          </ac:graphicFrameMkLst>
        </pc:graphicFrameChg>
      </pc:sldChg>
      <pc:sldChg chg="modSp add mod">
        <pc:chgData name="Philippe Barbier" userId="534da69a-1040-4e6d-8807-26f79df2c0dd" providerId="ADAL" clId="{7B6DD524-5A6A-49CC-8B0D-B0798962DD55}" dt="2022-08-25T10:49:04.215" v="61" actId="20577"/>
        <pc:sldMkLst>
          <pc:docMk/>
          <pc:sldMk cId="3587852646" sldId="417"/>
        </pc:sldMkLst>
        <pc:spChg chg="mod">
          <ac:chgData name="Philippe Barbier" userId="534da69a-1040-4e6d-8807-26f79df2c0dd" providerId="ADAL" clId="{7B6DD524-5A6A-49CC-8B0D-B0798962DD55}" dt="2022-08-25T10:49:04.215" v="61" actId="20577"/>
          <ac:spMkLst>
            <pc:docMk/>
            <pc:sldMk cId="3587852646" sldId="417"/>
            <ac:spMk id="29" creationId="{00000000-0000-0000-0000-000000000000}"/>
          </ac:spMkLst>
        </pc:spChg>
      </pc:sldChg>
      <pc:sldChg chg="modSp mod">
        <pc:chgData name="Philippe Barbier" userId="534da69a-1040-4e6d-8807-26f79df2c0dd" providerId="ADAL" clId="{7B6DD524-5A6A-49CC-8B0D-B0798962DD55}" dt="2022-08-25T08:30:08.401" v="5" actId="6549"/>
        <pc:sldMkLst>
          <pc:docMk/>
          <pc:sldMk cId="1256084873" sldId="419"/>
        </pc:sldMkLst>
        <pc:spChg chg="mod">
          <ac:chgData name="Philippe Barbier" userId="534da69a-1040-4e6d-8807-26f79df2c0dd" providerId="ADAL" clId="{7B6DD524-5A6A-49CC-8B0D-B0798962DD55}" dt="2022-08-25T08:30:08.401" v="5" actId="6549"/>
          <ac:spMkLst>
            <pc:docMk/>
            <pc:sldMk cId="1256084873" sldId="419"/>
            <ac:spMk id="4" creationId="{00000000-0000-0000-0000-000000000000}"/>
          </ac:spMkLst>
        </pc:spChg>
      </pc:sldChg>
      <pc:sldChg chg="del">
        <pc:chgData name="Philippe Barbier" userId="534da69a-1040-4e6d-8807-26f79df2c0dd" providerId="ADAL" clId="{7B6DD524-5A6A-49CC-8B0D-B0798962DD55}" dt="2022-08-25T08:41:13.430" v="17" actId="47"/>
        <pc:sldMkLst>
          <pc:docMk/>
          <pc:sldMk cId="3742301119" sldId="421"/>
        </pc:sldMkLst>
      </pc:sldChg>
      <pc:sldChg chg="del">
        <pc:chgData name="Philippe Barbier" userId="534da69a-1040-4e6d-8807-26f79df2c0dd" providerId="ADAL" clId="{7B6DD524-5A6A-49CC-8B0D-B0798962DD55}" dt="2022-08-25T08:42:25.494" v="33" actId="47"/>
        <pc:sldMkLst>
          <pc:docMk/>
          <pc:sldMk cId="2529820967" sldId="422"/>
        </pc:sldMkLst>
      </pc:sldChg>
      <pc:sldChg chg="del">
        <pc:chgData name="Philippe Barbier" userId="534da69a-1040-4e6d-8807-26f79df2c0dd" providerId="ADAL" clId="{7B6DD524-5A6A-49CC-8B0D-B0798962DD55}" dt="2022-08-25T08:43:39.645" v="37" actId="47"/>
        <pc:sldMkLst>
          <pc:docMk/>
          <pc:sldMk cId="1169676554" sldId="423"/>
        </pc:sldMkLst>
      </pc:sldChg>
      <pc:sldChg chg="del">
        <pc:chgData name="Philippe Barbier" userId="534da69a-1040-4e6d-8807-26f79df2c0dd" providerId="ADAL" clId="{7B6DD524-5A6A-49CC-8B0D-B0798962DD55}" dt="2022-08-25T08:43:41.613" v="38" actId="47"/>
        <pc:sldMkLst>
          <pc:docMk/>
          <pc:sldMk cId="315439705" sldId="424"/>
        </pc:sldMkLst>
      </pc:sldChg>
      <pc:sldChg chg="del">
        <pc:chgData name="Philippe Barbier" userId="534da69a-1040-4e6d-8807-26f79df2c0dd" providerId="ADAL" clId="{7B6DD524-5A6A-49CC-8B0D-B0798962DD55}" dt="2022-08-25T08:43:42.900" v="39" actId="47"/>
        <pc:sldMkLst>
          <pc:docMk/>
          <pc:sldMk cId="1506038613" sldId="425"/>
        </pc:sldMkLst>
      </pc:sldChg>
      <pc:sldChg chg="del">
        <pc:chgData name="Philippe Barbier" userId="534da69a-1040-4e6d-8807-26f79df2c0dd" providerId="ADAL" clId="{7B6DD524-5A6A-49CC-8B0D-B0798962DD55}" dt="2022-08-25T08:43:43.902" v="40" actId="47"/>
        <pc:sldMkLst>
          <pc:docMk/>
          <pc:sldMk cId="164769734" sldId="426"/>
        </pc:sldMkLst>
      </pc:sldChg>
      <pc:sldChg chg="del">
        <pc:chgData name="Philippe Barbier" userId="534da69a-1040-4e6d-8807-26f79df2c0dd" providerId="ADAL" clId="{7B6DD524-5A6A-49CC-8B0D-B0798962DD55}" dt="2022-08-25T08:44:05.165" v="42" actId="47"/>
        <pc:sldMkLst>
          <pc:docMk/>
          <pc:sldMk cId="71354815" sldId="427"/>
        </pc:sldMkLst>
      </pc:sldChg>
      <pc:sldChg chg="modSp mod">
        <pc:chgData name="Philippe Barbier" userId="534da69a-1040-4e6d-8807-26f79df2c0dd" providerId="ADAL" clId="{7B6DD524-5A6A-49CC-8B0D-B0798962DD55}" dt="2022-08-25T08:45:07.036" v="43"/>
        <pc:sldMkLst>
          <pc:docMk/>
          <pc:sldMk cId="1914653031" sldId="429"/>
        </pc:sldMkLst>
        <pc:spChg chg="mod">
          <ac:chgData name="Philippe Barbier" userId="534da69a-1040-4e6d-8807-26f79df2c0dd" providerId="ADAL" clId="{7B6DD524-5A6A-49CC-8B0D-B0798962DD55}" dt="2022-08-25T08:45:07.036" v="43"/>
          <ac:spMkLst>
            <pc:docMk/>
            <pc:sldMk cId="1914653031" sldId="429"/>
            <ac:spMk id="3" creationId="{566BE3B3-EA91-45A0-B10E-0904075491A2}"/>
          </ac:spMkLst>
        </pc:spChg>
      </pc:sldChg>
      <pc:sldChg chg="add">
        <pc:chgData name="Philippe Barbier" userId="534da69a-1040-4e6d-8807-26f79df2c0dd" providerId="ADAL" clId="{7B6DD524-5A6A-49CC-8B0D-B0798962DD55}" dt="2022-08-25T08:32:51.068" v="6"/>
        <pc:sldMkLst>
          <pc:docMk/>
          <pc:sldMk cId="8221830" sldId="431"/>
        </pc:sldMkLst>
      </pc:sldChg>
      <pc:sldChg chg="add">
        <pc:chgData name="Philippe Barbier" userId="534da69a-1040-4e6d-8807-26f79df2c0dd" providerId="ADAL" clId="{7B6DD524-5A6A-49CC-8B0D-B0798962DD55}" dt="2022-08-25T08:32:51.068" v="6"/>
        <pc:sldMkLst>
          <pc:docMk/>
          <pc:sldMk cId="2669023101" sldId="432"/>
        </pc:sldMkLst>
      </pc:sldChg>
      <pc:sldChg chg="modSp add modAnim">
        <pc:chgData name="Philippe Barbier" userId="534da69a-1040-4e6d-8807-26f79df2c0dd" providerId="ADAL" clId="{7B6DD524-5A6A-49CC-8B0D-B0798962DD55}" dt="2022-08-25T08:39:41.588" v="9" actId="6549"/>
        <pc:sldMkLst>
          <pc:docMk/>
          <pc:sldMk cId="3939742802" sldId="433"/>
        </pc:sldMkLst>
        <pc:spChg chg="mod">
          <ac:chgData name="Philippe Barbier" userId="534da69a-1040-4e6d-8807-26f79df2c0dd" providerId="ADAL" clId="{7B6DD524-5A6A-49CC-8B0D-B0798962DD55}" dt="2022-08-25T08:39:41.588" v="9" actId="6549"/>
          <ac:spMkLst>
            <pc:docMk/>
            <pc:sldMk cId="3939742802" sldId="433"/>
            <ac:spMk id="3" creationId="{AB5477FB-3A5F-4733-807D-72351A848739}"/>
          </ac:spMkLst>
        </pc:spChg>
      </pc:sldChg>
      <pc:sldChg chg="modSp add modAnim">
        <pc:chgData name="Philippe Barbier" userId="534da69a-1040-4e6d-8807-26f79df2c0dd" providerId="ADAL" clId="{7B6DD524-5A6A-49CC-8B0D-B0798962DD55}" dt="2022-08-25T08:39:50.836" v="11" actId="6549"/>
        <pc:sldMkLst>
          <pc:docMk/>
          <pc:sldMk cId="3356223406" sldId="434"/>
        </pc:sldMkLst>
        <pc:spChg chg="mod">
          <ac:chgData name="Philippe Barbier" userId="534da69a-1040-4e6d-8807-26f79df2c0dd" providerId="ADAL" clId="{7B6DD524-5A6A-49CC-8B0D-B0798962DD55}" dt="2022-08-25T08:39:50.836" v="11" actId="6549"/>
          <ac:spMkLst>
            <pc:docMk/>
            <pc:sldMk cId="3356223406" sldId="434"/>
            <ac:spMk id="3" creationId="{AB5477FB-3A5F-4733-807D-72351A848739}"/>
          </ac:spMkLst>
        </pc:spChg>
      </pc:sldChg>
      <pc:sldChg chg="add del">
        <pc:chgData name="Philippe Barbier" userId="534da69a-1040-4e6d-8807-26f79df2c0dd" providerId="ADAL" clId="{7B6DD524-5A6A-49CC-8B0D-B0798962DD55}" dt="2022-08-25T08:43:12.929" v="35"/>
        <pc:sldMkLst>
          <pc:docMk/>
          <pc:sldMk cId="2855278563" sldId="435"/>
        </pc:sldMkLst>
      </pc:sldChg>
    </pc:docChg>
  </pc:docChgLst>
  <pc:docChgLst>
    <pc:chgData name="Philippe Barbier" userId="534da69a-1040-4e6d-8807-26f79df2c0dd" providerId="ADAL" clId="{BA59ED51-677E-409A-82F2-FC475790533A}"/>
    <pc:docChg chg="addSld delSld modSld">
      <pc:chgData name="Philippe Barbier" userId="534da69a-1040-4e6d-8807-26f79df2c0dd" providerId="ADAL" clId="{BA59ED51-677E-409A-82F2-FC475790533A}" dt="2022-11-04T07:02:57.634" v="97" actId="6549"/>
      <pc:docMkLst>
        <pc:docMk/>
      </pc:docMkLst>
      <pc:sldChg chg="del">
        <pc:chgData name="Philippe Barbier" userId="534da69a-1040-4e6d-8807-26f79df2c0dd" providerId="ADAL" clId="{BA59ED51-677E-409A-82F2-FC475790533A}" dt="2022-10-21T11:21:23.655" v="51" actId="47"/>
        <pc:sldMkLst>
          <pc:docMk/>
          <pc:sldMk cId="1147488450" sldId="367"/>
        </pc:sldMkLst>
      </pc:sldChg>
      <pc:sldChg chg="del">
        <pc:chgData name="Philippe Barbier" userId="534da69a-1040-4e6d-8807-26f79df2c0dd" providerId="ADAL" clId="{BA59ED51-677E-409A-82F2-FC475790533A}" dt="2022-10-21T11:21:25.357" v="52" actId="47"/>
        <pc:sldMkLst>
          <pc:docMk/>
          <pc:sldMk cId="2783535278" sldId="380"/>
        </pc:sldMkLst>
      </pc:sldChg>
      <pc:sldChg chg="del">
        <pc:chgData name="Philippe Barbier" userId="534da69a-1040-4e6d-8807-26f79df2c0dd" providerId="ADAL" clId="{BA59ED51-677E-409A-82F2-FC475790533A}" dt="2022-10-21T11:21:27.189" v="53" actId="47"/>
        <pc:sldMkLst>
          <pc:docMk/>
          <pc:sldMk cId="1608862674" sldId="381"/>
        </pc:sldMkLst>
      </pc:sldChg>
      <pc:sldChg chg="del">
        <pc:chgData name="Philippe Barbier" userId="534da69a-1040-4e6d-8807-26f79df2c0dd" providerId="ADAL" clId="{BA59ED51-677E-409A-82F2-FC475790533A}" dt="2022-10-21T11:21:51.623" v="56" actId="47"/>
        <pc:sldMkLst>
          <pc:docMk/>
          <pc:sldMk cId="4058523744" sldId="384"/>
        </pc:sldMkLst>
      </pc:sldChg>
      <pc:sldChg chg="del">
        <pc:chgData name="Philippe Barbier" userId="534da69a-1040-4e6d-8807-26f79df2c0dd" providerId="ADAL" clId="{BA59ED51-677E-409A-82F2-FC475790533A}" dt="2022-10-21T11:20:34.367" v="49" actId="47"/>
        <pc:sldMkLst>
          <pc:docMk/>
          <pc:sldMk cId="444199639" sldId="402"/>
        </pc:sldMkLst>
      </pc:sldChg>
      <pc:sldChg chg="modSp mod">
        <pc:chgData name="Philippe Barbier" userId="534da69a-1040-4e6d-8807-26f79df2c0dd" providerId="ADAL" clId="{BA59ED51-677E-409A-82F2-FC475790533A}" dt="2022-10-21T11:19:50.944" v="37" actId="6549"/>
        <pc:sldMkLst>
          <pc:docMk/>
          <pc:sldMk cId="1066023670" sldId="412"/>
        </pc:sldMkLst>
        <pc:spChg chg="mod">
          <ac:chgData name="Philippe Barbier" userId="534da69a-1040-4e6d-8807-26f79df2c0dd" providerId="ADAL" clId="{BA59ED51-677E-409A-82F2-FC475790533A}" dt="2022-10-21T11:19:50.944" v="37" actId="6549"/>
          <ac:spMkLst>
            <pc:docMk/>
            <pc:sldMk cId="1066023670" sldId="412"/>
            <ac:spMk id="2" creationId="{EB873140-45CC-47C1-B27C-0E727231FDB1}"/>
          </ac:spMkLst>
        </pc:spChg>
      </pc:sldChg>
      <pc:sldChg chg="modSp mod">
        <pc:chgData name="Philippe Barbier" userId="534da69a-1040-4e6d-8807-26f79df2c0dd" providerId="ADAL" clId="{BA59ED51-677E-409A-82F2-FC475790533A}" dt="2022-10-21T11:20:09.854" v="47" actId="6549"/>
        <pc:sldMkLst>
          <pc:docMk/>
          <pc:sldMk cId="1214842423" sldId="413"/>
        </pc:sldMkLst>
        <pc:spChg chg="mod">
          <ac:chgData name="Philippe Barbier" userId="534da69a-1040-4e6d-8807-26f79df2c0dd" providerId="ADAL" clId="{BA59ED51-677E-409A-82F2-FC475790533A}" dt="2022-10-21T11:20:09.854" v="47" actId="6549"/>
          <ac:spMkLst>
            <pc:docMk/>
            <pc:sldMk cId="1214842423" sldId="413"/>
            <ac:spMk id="5" creationId="{E9465347-DE69-49ED-B58A-F572CAC1B0CC}"/>
          </ac:spMkLst>
        </pc:spChg>
      </pc:sldChg>
      <pc:sldChg chg="del">
        <pc:chgData name="Philippe Barbier" userId="534da69a-1040-4e6d-8807-26f79df2c0dd" providerId="ADAL" clId="{BA59ED51-677E-409A-82F2-FC475790533A}" dt="2022-10-21T11:21:29.134" v="54" actId="47"/>
        <pc:sldMkLst>
          <pc:docMk/>
          <pc:sldMk cId="3587852646" sldId="417"/>
        </pc:sldMkLst>
      </pc:sldChg>
      <pc:sldChg chg="modSp mod">
        <pc:chgData name="Philippe Barbier" userId="534da69a-1040-4e6d-8807-26f79df2c0dd" providerId="ADAL" clId="{BA59ED51-677E-409A-82F2-FC475790533A}" dt="2022-11-04T07:02:31.624" v="83" actId="6549"/>
        <pc:sldMkLst>
          <pc:docMk/>
          <pc:sldMk cId="1256084873" sldId="419"/>
        </pc:sldMkLst>
        <pc:spChg chg="mod">
          <ac:chgData name="Philippe Barbier" userId="534da69a-1040-4e6d-8807-26f79df2c0dd" providerId="ADAL" clId="{BA59ED51-677E-409A-82F2-FC475790533A}" dt="2022-11-04T07:02:31.624" v="83" actId="6549"/>
          <ac:spMkLst>
            <pc:docMk/>
            <pc:sldMk cId="1256084873" sldId="419"/>
            <ac:spMk id="4" creationId="{00000000-0000-0000-0000-000000000000}"/>
          </ac:spMkLst>
        </pc:spChg>
      </pc:sldChg>
      <pc:sldChg chg="modSp mod">
        <pc:chgData name="Philippe Barbier" userId="534da69a-1040-4e6d-8807-26f79df2c0dd" providerId="ADAL" clId="{BA59ED51-677E-409A-82F2-FC475790533A}" dt="2022-10-21T11:22:54.720" v="70" actId="20577"/>
        <pc:sldMkLst>
          <pc:docMk/>
          <pc:sldMk cId="1914653031" sldId="429"/>
        </pc:sldMkLst>
        <pc:spChg chg="mod">
          <ac:chgData name="Philippe Barbier" userId="534da69a-1040-4e6d-8807-26f79df2c0dd" providerId="ADAL" clId="{BA59ED51-677E-409A-82F2-FC475790533A}" dt="2022-10-21T11:22:54.720" v="70" actId="20577"/>
          <ac:spMkLst>
            <pc:docMk/>
            <pc:sldMk cId="1914653031" sldId="429"/>
            <ac:spMk id="3" creationId="{566BE3B3-EA91-45A0-B10E-0904075491A2}"/>
          </ac:spMkLst>
        </pc:spChg>
      </pc:sldChg>
      <pc:sldChg chg="modSp">
        <pc:chgData name="Philippe Barbier" userId="534da69a-1040-4e6d-8807-26f79df2c0dd" providerId="ADAL" clId="{BA59ED51-677E-409A-82F2-FC475790533A}" dt="2022-11-04T07:02:57.634" v="97" actId="6549"/>
        <pc:sldMkLst>
          <pc:docMk/>
          <pc:sldMk cId="8221830" sldId="431"/>
        </pc:sldMkLst>
        <pc:spChg chg="mod">
          <ac:chgData name="Philippe Barbier" userId="534da69a-1040-4e6d-8807-26f79df2c0dd" providerId="ADAL" clId="{BA59ED51-677E-409A-82F2-FC475790533A}" dt="2022-11-04T07:02:57.634" v="97" actId="6549"/>
          <ac:spMkLst>
            <pc:docMk/>
            <pc:sldMk cId="8221830" sldId="431"/>
            <ac:spMk id="3" creationId="{69A1FC12-C61A-4562-9E7B-E44C21842284}"/>
          </ac:spMkLst>
        </pc:spChg>
      </pc:sldChg>
      <pc:sldChg chg="modSp">
        <pc:chgData name="Philippe Barbier" userId="534da69a-1040-4e6d-8807-26f79df2c0dd" providerId="ADAL" clId="{BA59ED51-677E-409A-82F2-FC475790533A}" dt="2022-10-21T11:18:50.276" v="17" actId="6549"/>
        <pc:sldMkLst>
          <pc:docMk/>
          <pc:sldMk cId="3939742802" sldId="433"/>
        </pc:sldMkLst>
        <pc:spChg chg="mod">
          <ac:chgData name="Philippe Barbier" userId="534da69a-1040-4e6d-8807-26f79df2c0dd" providerId="ADAL" clId="{BA59ED51-677E-409A-82F2-FC475790533A}" dt="2022-10-21T11:18:50.276" v="17" actId="6549"/>
          <ac:spMkLst>
            <pc:docMk/>
            <pc:sldMk cId="3939742802" sldId="433"/>
            <ac:spMk id="3" creationId="{AB5477FB-3A5F-4733-807D-72351A848739}"/>
          </ac:spMkLst>
        </pc:spChg>
      </pc:sldChg>
      <pc:sldChg chg="modSp">
        <pc:chgData name="Philippe Barbier" userId="534da69a-1040-4e6d-8807-26f79df2c0dd" providerId="ADAL" clId="{BA59ED51-677E-409A-82F2-FC475790533A}" dt="2022-10-21T11:19:19.491" v="27" actId="20577"/>
        <pc:sldMkLst>
          <pc:docMk/>
          <pc:sldMk cId="3356223406" sldId="434"/>
        </pc:sldMkLst>
        <pc:spChg chg="mod">
          <ac:chgData name="Philippe Barbier" userId="534da69a-1040-4e6d-8807-26f79df2c0dd" providerId="ADAL" clId="{BA59ED51-677E-409A-82F2-FC475790533A}" dt="2022-10-21T11:19:19.491" v="27" actId="20577"/>
          <ac:spMkLst>
            <pc:docMk/>
            <pc:sldMk cId="3356223406" sldId="434"/>
            <ac:spMk id="3" creationId="{AB5477FB-3A5F-4733-807D-72351A848739}"/>
          </ac:spMkLst>
        </pc:spChg>
      </pc:sldChg>
      <pc:sldChg chg="add">
        <pc:chgData name="Philippe Barbier" userId="534da69a-1040-4e6d-8807-26f79df2c0dd" providerId="ADAL" clId="{BA59ED51-677E-409A-82F2-FC475790533A}" dt="2022-10-21T11:20:28.265" v="48"/>
        <pc:sldMkLst>
          <pc:docMk/>
          <pc:sldMk cId="451878511" sldId="435"/>
        </pc:sldMkLst>
      </pc:sldChg>
      <pc:sldChg chg="add">
        <pc:chgData name="Philippe Barbier" userId="534da69a-1040-4e6d-8807-26f79df2c0dd" providerId="ADAL" clId="{BA59ED51-677E-409A-82F2-FC475790533A}" dt="2022-10-21T11:21:14.054" v="50"/>
        <pc:sldMkLst>
          <pc:docMk/>
          <pc:sldMk cId="2938666055" sldId="436"/>
        </pc:sldMkLst>
      </pc:sldChg>
      <pc:sldChg chg="add">
        <pc:chgData name="Philippe Barbier" userId="534da69a-1040-4e6d-8807-26f79df2c0dd" providerId="ADAL" clId="{BA59ED51-677E-409A-82F2-FC475790533A}" dt="2022-10-21T11:21:14.054" v="50"/>
        <pc:sldMkLst>
          <pc:docMk/>
          <pc:sldMk cId="2631896176" sldId="437"/>
        </pc:sldMkLst>
      </pc:sldChg>
      <pc:sldChg chg="modSp add">
        <pc:chgData name="Philippe Barbier" userId="534da69a-1040-4e6d-8807-26f79df2c0dd" providerId="ADAL" clId="{BA59ED51-677E-409A-82F2-FC475790533A}" dt="2022-10-24T07:19:30.715" v="76" actId="6549"/>
        <pc:sldMkLst>
          <pc:docMk/>
          <pc:sldMk cId="1417773750" sldId="438"/>
        </pc:sldMkLst>
        <pc:spChg chg="mod">
          <ac:chgData name="Philippe Barbier" userId="534da69a-1040-4e6d-8807-26f79df2c0dd" providerId="ADAL" clId="{BA59ED51-677E-409A-82F2-FC475790533A}" dt="2022-10-24T07:19:30.715" v="76" actId="6549"/>
          <ac:spMkLst>
            <pc:docMk/>
            <pc:sldMk cId="1417773750" sldId="438"/>
            <ac:spMk id="50" creationId="{00000000-0000-0000-0000-000000000000}"/>
          </ac:spMkLst>
        </pc:spChg>
      </pc:sldChg>
      <pc:sldChg chg="add">
        <pc:chgData name="Philippe Barbier" userId="534da69a-1040-4e6d-8807-26f79df2c0dd" providerId="ADAL" clId="{BA59ED51-677E-409A-82F2-FC475790533A}" dt="2022-10-21T11:21:14.054" v="50"/>
        <pc:sldMkLst>
          <pc:docMk/>
          <pc:sldMk cId="123421117" sldId="439"/>
        </pc:sldMkLst>
      </pc:sldChg>
      <pc:sldChg chg="add">
        <pc:chgData name="Philippe Barbier" userId="534da69a-1040-4e6d-8807-26f79df2c0dd" providerId="ADAL" clId="{BA59ED51-677E-409A-82F2-FC475790533A}" dt="2022-10-21T11:21:47.312" v="55"/>
        <pc:sldMkLst>
          <pc:docMk/>
          <pc:sldMk cId="3466408361" sldId="440"/>
        </pc:sldMkLst>
      </pc:sldChg>
    </pc:docChg>
  </pc:docChgLst>
  <pc:docChgLst>
    <pc:chgData name="Jerome Martini" userId="cf445fd1-bb94-431f-9d69-de636e77a98d" providerId="ADAL" clId="{9890F571-804B-48F9-9E8D-97BD2C78D47B}"/>
    <pc:docChg chg="addSld modSld">
      <pc:chgData name="Jerome Martini" userId="cf445fd1-bb94-431f-9d69-de636e77a98d" providerId="ADAL" clId="{9890F571-804B-48F9-9E8D-97BD2C78D47B}" dt="2021-09-12T20:30:10.194" v="41" actId="207"/>
      <pc:docMkLst>
        <pc:docMk/>
      </pc:docMkLst>
      <pc:sldChg chg="addSp modSp">
        <pc:chgData name="Jerome Martini" userId="cf445fd1-bb94-431f-9d69-de636e77a98d" providerId="ADAL" clId="{9890F571-804B-48F9-9E8D-97BD2C78D47B}" dt="2021-09-12T20:30:10.194" v="41" actId="207"/>
        <pc:sldMkLst>
          <pc:docMk/>
          <pc:sldMk cId="3870192855" sldId="355"/>
        </pc:sldMkLst>
        <pc:spChg chg="add mod">
          <ac:chgData name="Jerome Martini" userId="cf445fd1-bb94-431f-9d69-de636e77a98d" providerId="ADAL" clId="{9890F571-804B-48F9-9E8D-97BD2C78D47B}" dt="2021-09-12T20:30:10.194" v="41" actId="207"/>
          <ac:spMkLst>
            <pc:docMk/>
            <pc:sldMk cId="3870192855" sldId="355"/>
            <ac:spMk id="2" creationId="{84DC7C1F-C952-45CF-8652-5A234D7308A7}"/>
          </ac:spMkLst>
        </pc:spChg>
      </pc:sldChg>
      <pc:sldChg chg="modSp">
        <pc:chgData name="Jerome Martini" userId="cf445fd1-bb94-431f-9d69-de636e77a98d" providerId="ADAL" clId="{9890F571-804B-48F9-9E8D-97BD2C78D47B}" dt="2021-09-08T12:26:34.958" v="11" actId="20577"/>
        <pc:sldMkLst>
          <pc:docMk/>
          <pc:sldMk cId="4064001760" sldId="390"/>
        </pc:sldMkLst>
        <pc:spChg chg="mod">
          <ac:chgData name="Jerome Martini" userId="cf445fd1-bb94-431f-9d69-de636e77a98d" providerId="ADAL" clId="{9890F571-804B-48F9-9E8D-97BD2C78D47B}" dt="2021-09-08T12:26:34.958" v="11" actId="20577"/>
          <ac:spMkLst>
            <pc:docMk/>
            <pc:sldMk cId="4064001760" sldId="390"/>
            <ac:spMk id="3" creationId="{69A1FC12-C61A-4562-9E7B-E44C21842284}"/>
          </ac:spMkLst>
        </pc:spChg>
      </pc:sldChg>
      <pc:sldChg chg="modSp modAnim">
        <pc:chgData name="Jerome Martini" userId="cf445fd1-bb94-431f-9d69-de636e77a98d" providerId="ADAL" clId="{9890F571-804B-48F9-9E8D-97BD2C78D47B}" dt="2021-09-08T12:39:16.758" v="27" actId="1076"/>
        <pc:sldMkLst>
          <pc:docMk/>
          <pc:sldMk cId="1489533179" sldId="404"/>
        </pc:sldMkLst>
        <pc:spChg chg="mod">
          <ac:chgData name="Jerome Martini" userId="cf445fd1-bb94-431f-9d69-de636e77a98d" providerId="ADAL" clId="{9890F571-804B-48F9-9E8D-97BD2C78D47B}" dt="2021-09-08T12:37:19.816" v="26" actId="1076"/>
          <ac:spMkLst>
            <pc:docMk/>
            <pc:sldMk cId="1489533179" sldId="404"/>
            <ac:spMk id="9" creationId="{484073CE-0B28-4A72-97A9-5982C2924009}"/>
          </ac:spMkLst>
        </pc:spChg>
        <pc:spChg chg="mod">
          <ac:chgData name="Jerome Martini" userId="cf445fd1-bb94-431f-9d69-de636e77a98d" providerId="ADAL" clId="{9890F571-804B-48F9-9E8D-97BD2C78D47B}" dt="2021-09-08T12:39:16.758" v="27" actId="1076"/>
          <ac:spMkLst>
            <pc:docMk/>
            <pc:sldMk cId="1489533179" sldId="404"/>
            <ac:spMk id="13" creationId="{E80BAFE3-D9CB-495C-993D-056A0F3EA911}"/>
          </ac:spMkLst>
        </pc:spChg>
      </pc:sldChg>
      <pc:sldChg chg="modSp">
        <pc:chgData name="Jerome Martini" userId="cf445fd1-bb94-431f-9d69-de636e77a98d" providerId="ADAL" clId="{9890F571-804B-48F9-9E8D-97BD2C78D47B}" dt="2021-09-08T12:35:39.772" v="15" actId="207"/>
        <pc:sldMkLst>
          <pc:docMk/>
          <pc:sldMk cId="3530800011" sldId="409"/>
        </pc:sldMkLst>
        <pc:spChg chg="mod">
          <ac:chgData name="Jerome Martini" userId="cf445fd1-bb94-431f-9d69-de636e77a98d" providerId="ADAL" clId="{9890F571-804B-48F9-9E8D-97BD2C78D47B}" dt="2021-09-08T12:35:39.772" v="15" actId="207"/>
          <ac:spMkLst>
            <pc:docMk/>
            <pc:sldMk cId="3530800011" sldId="409"/>
            <ac:spMk id="28" creationId="{1A105617-98A7-46AF-BBC2-A65984A7F541}"/>
          </ac:spMkLst>
        </pc:spChg>
        <pc:spChg chg="mod">
          <ac:chgData name="Jerome Martini" userId="cf445fd1-bb94-431f-9d69-de636e77a98d" providerId="ADAL" clId="{9890F571-804B-48F9-9E8D-97BD2C78D47B}" dt="2021-09-08T12:35:35.286" v="14" actId="207"/>
          <ac:spMkLst>
            <pc:docMk/>
            <pc:sldMk cId="3530800011" sldId="409"/>
            <ac:spMk id="29" creationId="{01646D75-ED35-4BDE-B068-C73BC15D9203}"/>
          </ac:spMkLst>
        </pc:spChg>
        <pc:spChg chg="mod">
          <ac:chgData name="Jerome Martini" userId="cf445fd1-bb94-431f-9d69-de636e77a98d" providerId="ADAL" clId="{9890F571-804B-48F9-9E8D-97BD2C78D47B}" dt="2021-09-08T12:35:11.306" v="13" actId="207"/>
          <ac:spMkLst>
            <pc:docMk/>
            <pc:sldMk cId="3530800011" sldId="409"/>
            <ac:spMk id="30" creationId="{87FCCFB9-C234-4508-8C8E-0E498AF3807B}"/>
          </ac:spMkLst>
        </pc:spChg>
        <pc:spChg chg="mod">
          <ac:chgData name="Jerome Martini" userId="cf445fd1-bb94-431f-9d69-de636e77a98d" providerId="ADAL" clId="{9890F571-804B-48F9-9E8D-97BD2C78D47B}" dt="2021-09-08T12:35:04.815" v="12" actId="207"/>
          <ac:spMkLst>
            <pc:docMk/>
            <pc:sldMk cId="3530800011" sldId="409"/>
            <ac:spMk id="31" creationId="{4A373DEF-40FC-4044-8797-169B6FEA02F5}"/>
          </ac:spMkLst>
        </pc:spChg>
      </pc:sldChg>
      <pc:sldChg chg="modSp">
        <pc:chgData name="Jerome Martini" userId="cf445fd1-bb94-431f-9d69-de636e77a98d" providerId="ADAL" clId="{9890F571-804B-48F9-9E8D-97BD2C78D47B}" dt="2021-09-08T12:42:32.443" v="35" actId="20577"/>
        <pc:sldMkLst>
          <pc:docMk/>
          <pc:sldMk cId="4178122144" sldId="414"/>
        </pc:sldMkLst>
        <pc:spChg chg="mod">
          <ac:chgData name="Jerome Martini" userId="cf445fd1-bb94-431f-9d69-de636e77a98d" providerId="ADAL" clId="{9890F571-804B-48F9-9E8D-97BD2C78D47B}" dt="2021-09-08T12:42:32.443" v="35" actId="20577"/>
          <ac:spMkLst>
            <pc:docMk/>
            <pc:sldMk cId="4178122144" sldId="414"/>
            <ac:spMk id="15" creationId="{00000000-0000-0000-0000-000000000000}"/>
          </ac:spMkLst>
        </pc:spChg>
      </pc:sldChg>
      <pc:sldChg chg="addSp delSp modSp add modAnim">
        <pc:chgData name="Jerome Martini" userId="cf445fd1-bb94-431f-9d69-de636e77a98d" providerId="ADAL" clId="{9890F571-804B-48F9-9E8D-97BD2C78D47B}" dt="2021-09-08T12:40:33.171" v="33" actId="14100"/>
        <pc:sldMkLst>
          <pc:docMk/>
          <pc:sldMk cId="2838764595" sldId="418"/>
        </pc:sldMkLst>
        <pc:spChg chg="del mod">
          <ac:chgData name="Jerome Martini" userId="cf445fd1-bb94-431f-9d69-de636e77a98d" providerId="ADAL" clId="{9890F571-804B-48F9-9E8D-97BD2C78D47B}" dt="2021-09-08T12:40:23.254" v="31" actId="931"/>
          <ac:spMkLst>
            <pc:docMk/>
            <pc:sldMk cId="2838764595" sldId="418"/>
            <ac:spMk id="8" creationId="{00000000-0000-0000-0000-000000000000}"/>
          </ac:spMkLst>
        </pc:spChg>
        <pc:picChg chg="add mod">
          <ac:chgData name="Jerome Martini" userId="cf445fd1-bb94-431f-9d69-de636e77a98d" providerId="ADAL" clId="{9890F571-804B-48F9-9E8D-97BD2C78D47B}" dt="2021-09-08T12:40:33.171" v="33" actId="14100"/>
          <ac:picMkLst>
            <pc:docMk/>
            <pc:sldMk cId="2838764595" sldId="418"/>
            <ac:picMk id="4" creationId="{42B64E0F-0B18-4B22-9A22-5906BF1BB1BC}"/>
          </ac:picMkLst>
        </pc:picChg>
      </pc:sldChg>
    </pc:docChg>
  </pc:docChgLst>
  <pc:docChgLst>
    <pc:chgData name="Philippe Barbier" userId="534da69a-1040-4e6d-8807-26f79df2c0dd" providerId="ADAL" clId="{71A1ED51-24A8-4938-9836-071B12ABA216}"/>
    <pc:docChg chg="undo custSel addSld delSld modSld">
      <pc:chgData name="Philippe Barbier" userId="534da69a-1040-4e6d-8807-26f79df2c0dd" providerId="ADAL" clId="{71A1ED51-24A8-4938-9836-071B12ABA216}" dt="2022-04-06T14:14:25.241" v="146" actId="20577"/>
      <pc:docMkLst>
        <pc:docMk/>
      </pc:docMkLst>
      <pc:sldChg chg="addSp delSp del mod">
        <pc:chgData name="Philippe Barbier" userId="534da69a-1040-4e6d-8807-26f79df2c0dd" providerId="ADAL" clId="{71A1ED51-24A8-4938-9836-071B12ABA216}" dt="2022-03-22T14:32:27.009" v="3" actId="47"/>
        <pc:sldMkLst>
          <pc:docMk/>
          <pc:sldMk cId="2848394750" sldId="322"/>
        </pc:sldMkLst>
        <pc:picChg chg="add del">
          <ac:chgData name="Philippe Barbier" userId="534da69a-1040-4e6d-8807-26f79df2c0dd" providerId="ADAL" clId="{71A1ED51-24A8-4938-9836-071B12ABA216}" dt="2022-03-22T14:32:18.014" v="1" actId="22"/>
          <ac:picMkLst>
            <pc:docMk/>
            <pc:sldMk cId="2848394750" sldId="322"/>
            <ac:picMk id="5" creationId="{20DC5DFC-3A62-427D-9B4E-313C1BB1BAEB}"/>
          </ac:picMkLst>
        </pc:picChg>
      </pc:sldChg>
      <pc:sldChg chg="modSp mod">
        <pc:chgData name="Philippe Barbier" userId="534da69a-1040-4e6d-8807-26f79df2c0dd" providerId="ADAL" clId="{71A1ED51-24A8-4938-9836-071B12ABA216}" dt="2022-03-22T14:39:10.704" v="103" actId="27636"/>
        <pc:sldMkLst>
          <pc:docMk/>
          <pc:sldMk cId="1728700928" sldId="360"/>
        </pc:sldMkLst>
        <pc:spChg chg="mod">
          <ac:chgData name="Philippe Barbier" userId="534da69a-1040-4e6d-8807-26f79df2c0dd" providerId="ADAL" clId="{71A1ED51-24A8-4938-9836-071B12ABA216}" dt="2022-03-22T14:39:10.704" v="103" actId="27636"/>
          <ac:spMkLst>
            <pc:docMk/>
            <pc:sldMk cId="1728700928" sldId="360"/>
            <ac:spMk id="8" creationId="{00000000-0000-0000-0000-000000000000}"/>
          </ac:spMkLst>
        </pc:spChg>
      </pc:sldChg>
      <pc:sldChg chg="del">
        <pc:chgData name="Philippe Barbier" userId="534da69a-1040-4e6d-8807-26f79df2c0dd" providerId="ADAL" clId="{71A1ED51-24A8-4938-9836-071B12ABA216}" dt="2022-03-22T14:36:39.311" v="81" actId="47"/>
        <pc:sldMkLst>
          <pc:docMk/>
          <pc:sldMk cId="1147488450" sldId="367"/>
        </pc:sldMkLst>
      </pc:sldChg>
      <pc:sldChg chg="modSp">
        <pc:chgData name="Philippe Barbier" userId="534da69a-1040-4e6d-8807-26f79df2c0dd" providerId="ADAL" clId="{71A1ED51-24A8-4938-9836-071B12ABA216}" dt="2022-03-28T09:44:46.049" v="122" actId="20577"/>
        <pc:sldMkLst>
          <pc:docMk/>
          <pc:sldMk cId="3801712406" sldId="377"/>
        </pc:sldMkLst>
        <pc:spChg chg="mod">
          <ac:chgData name="Philippe Barbier" userId="534da69a-1040-4e6d-8807-26f79df2c0dd" providerId="ADAL" clId="{71A1ED51-24A8-4938-9836-071B12ABA216}" dt="2022-03-28T09:44:46.049" v="122" actId="20577"/>
          <ac:spMkLst>
            <pc:docMk/>
            <pc:sldMk cId="3801712406" sldId="377"/>
            <ac:spMk id="8" creationId="{00000000-0000-0000-0000-000000000000}"/>
          </ac:spMkLst>
        </pc:spChg>
      </pc:sldChg>
      <pc:sldChg chg="del">
        <pc:chgData name="Philippe Barbier" userId="534da69a-1040-4e6d-8807-26f79df2c0dd" providerId="ADAL" clId="{71A1ED51-24A8-4938-9836-071B12ABA216}" dt="2022-03-22T14:36:40.746" v="82" actId="47"/>
        <pc:sldMkLst>
          <pc:docMk/>
          <pc:sldMk cId="2783535278" sldId="380"/>
        </pc:sldMkLst>
      </pc:sldChg>
      <pc:sldChg chg="del">
        <pc:chgData name="Philippe Barbier" userId="534da69a-1040-4e6d-8807-26f79df2c0dd" providerId="ADAL" clId="{71A1ED51-24A8-4938-9836-071B12ABA216}" dt="2022-03-22T14:36:41.896" v="83" actId="47"/>
        <pc:sldMkLst>
          <pc:docMk/>
          <pc:sldMk cId="1608862674" sldId="381"/>
        </pc:sldMkLst>
      </pc:sldChg>
      <pc:sldChg chg="del">
        <pc:chgData name="Philippe Barbier" userId="534da69a-1040-4e6d-8807-26f79df2c0dd" providerId="ADAL" clId="{71A1ED51-24A8-4938-9836-071B12ABA216}" dt="2022-03-22T14:37:09.242" v="86" actId="47"/>
        <pc:sldMkLst>
          <pc:docMk/>
          <pc:sldMk cId="4058523744" sldId="384"/>
        </pc:sldMkLst>
      </pc:sldChg>
      <pc:sldChg chg="modSp">
        <pc:chgData name="Philippe Barbier" userId="534da69a-1040-4e6d-8807-26f79df2c0dd" providerId="ADAL" clId="{71A1ED51-24A8-4938-9836-071B12ABA216}" dt="2022-03-22T14:39:26.715" v="117" actId="6549"/>
        <pc:sldMkLst>
          <pc:docMk/>
          <pc:sldMk cId="978292461" sldId="385"/>
        </pc:sldMkLst>
        <pc:spChg chg="mod">
          <ac:chgData name="Philippe Barbier" userId="534da69a-1040-4e6d-8807-26f79df2c0dd" providerId="ADAL" clId="{71A1ED51-24A8-4938-9836-071B12ABA216}" dt="2022-03-22T14:39:26.715" v="117" actId="6549"/>
          <ac:spMkLst>
            <pc:docMk/>
            <pc:sldMk cId="978292461" sldId="385"/>
            <ac:spMk id="4" creationId="{00000000-0000-0000-0000-000000000000}"/>
          </ac:spMkLst>
        </pc:spChg>
      </pc:sldChg>
      <pc:sldChg chg="addSp modSp mod modAnim">
        <pc:chgData name="Philippe Barbier" userId="534da69a-1040-4e6d-8807-26f79df2c0dd" providerId="ADAL" clId="{71A1ED51-24A8-4938-9836-071B12ABA216}" dt="2022-04-06T14:14:25.241" v="146" actId="20577"/>
        <pc:sldMkLst>
          <pc:docMk/>
          <pc:sldMk cId="2829839820" sldId="387"/>
        </pc:sldMkLst>
        <pc:spChg chg="add mod">
          <ac:chgData name="Philippe Barbier" userId="534da69a-1040-4e6d-8807-26f79df2c0dd" providerId="ADAL" clId="{71A1ED51-24A8-4938-9836-071B12ABA216}" dt="2022-04-06T14:14:25.241" v="146" actId="20577"/>
          <ac:spMkLst>
            <pc:docMk/>
            <pc:sldMk cId="2829839820" sldId="387"/>
            <ac:spMk id="9" creationId="{8B2A6D8F-2544-471D-8786-ADB550327C96}"/>
          </ac:spMkLst>
        </pc:spChg>
        <pc:picChg chg="add mod">
          <ac:chgData name="Philippe Barbier" userId="534da69a-1040-4e6d-8807-26f79df2c0dd" providerId="ADAL" clId="{71A1ED51-24A8-4938-9836-071B12ABA216}" dt="2022-04-06T11:41:31.493" v="141" actId="1076"/>
          <ac:picMkLst>
            <pc:docMk/>
            <pc:sldMk cId="2829839820" sldId="387"/>
            <ac:picMk id="4" creationId="{B2DFCA1E-7342-4D84-8914-F6FDBA73232B}"/>
          </ac:picMkLst>
        </pc:picChg>
      </pc:sldChg>
      <pc:sldChg chg="modSp">
        <pc:chgData name="Philippe Barbier" userId="534da69a-1040-4e6d-8807-26f79df2c0dd" providerId="ADAL" clId="{71A1ED51-24A8-4938-9836-071B12ABA216}" dt="2022-03-23T12:53:40.216" v="120" actId="20577"/>
        <pc:sldMkLst>
          <pc:docMk/>
          <pc:sldMk cId="3285420308" sldId="388"/>
        </pc:sldMkLst>
        <pc:spChg chg="mod">
          <ac:chgData name="Philippe Barbier" userId="534da69a-1040-4e6d-8807-26f79df2c0dd" providerId="ADAL" clId="{71A1ED51-24A8-4938-9836-071B12ABA216}" dt="2022-03-23T12:53:40.216" v="120" actId="20577"/>
          <ac:spMkLst>
            <pc:docMk/>
            <pc:sldMk cId="3285420308" sldId="388"/>
            <ac:spMk id="3" creationId="{99C9B578-FD5F-4B85-866B-DCD58473F3B7}"/>
          </ac:spMkLst>
        </pc:spChg>
      </pc:sldChg>
      <pc:sldChg chg="add del">
        <pc:chgData name="Philippe Barbier" userId="534da69a-1040-4e6d-8807-26f79df2c0dd" providerId="ADAL" clId="{71A1ED51-24A8-4938-9836-071B12ABA216}" dt="2022-03-31T06:28:17.125" v="127"/>
        <pc:sldMkLst>
          <pc:docMk/>
          <pc:sldMk cId="4064001760" sldId="390"/>
        </pc:sldMkLst>
      </pc:sldChg>
      <pc:sldChg chg="modSp">
        <pc:chgData name="Philippe Barbier" userId="534da69a-1040-4e6d-8807-26f79df2c0dd" providerId="ADAL" clId="{71A1ED51-24A8-4938-9836-071B12ABA216}" dt="2022-03-22T14:33:48.435" v="30" actId="6549"/>
        <pc:sldMkLst>
          <pc:docMk/>
          <pc:sldMk cId="3699232588" sldId="392"/>
        </pc:sldMkLst>
        <pc:spChg chg="mod">
          <ac:chgData name="Philippe Barbier" userId="534da69a-1040-4e6d-8807-26f79df2c0dd" providerId="ADAL" clId="{71A1ED51-24A8-4938-9836-071B12ABA216}" dt="2022-03-22T14:33:48.435" v="30" actId="6549"/>
          <ac:spMkLst>
            <pc:docMk/>
            <pc:sldMk cId="3699232588" sldId="392"/>
            <ac:spMk id="3" creationId="{AB5477FB-3A5F-4733-807D-72351A848739}"/>
          </ac:spMkLst>
        </pc:spChg>
      </pc:sldChg>
      <pc:sldChg chg="modSp mod">
        <pc:chgData name="Philippe Barbier" userId="534da69a-1040-4e6d-8807-26f79df2c0dd" providerId="ADAL" clId="{71A1ED51-24A8-4938-9836-071B12ABA216}" dt="2022-03-22T14:32:58.389" v="4" actId="12385"/>
        <pc:sldMkLst>
          <pc:docMk/>
          <pc:sldMk cId="1096714978" sldId="394"/>
        </pc:sldMkLst>
        <pc:graphicFrameChg chg="modGraphic">
          <ac:chgData name="Philippe Barbier" userId="534da69a-1040-4e6d-8807-26f79df2c0dd" providerId="ADAL" clId="{71A1ED51-24A8-4938-9836-071B12ABA216}" dt="2022-03-22T14:32:58.389" v="4" actId="12385"/>
          <ac:graphicFrameMkLst>
            <pc:docMk/>
            <pc:sldMk cId="1096714978" sldId="394"/>
            <ac:graphicFrameMk id="5" creationId="{790CCBA8-88DE-4775-90EC-679FEDC6C107}"/>
          </ac:graphicFrameMkLst>
        </pc:graphicFrameChg>
      </pc:sldChg>
      <pc:sldChg chg="modSp">
        <pc:chgData name="Philippe Barbier" userId="534da69a-1040-4e6d-8807-26f79df2c0dd" providerId="ADAL" clId="{71A1ED51-24A8-4938-9836-071B12ABA216}" dt="2022-03-22T14:34:04.547" v="50" actId="6549"/>
        <pc:sldMkLst>
          <pc:docMk/>
          <pc:sldMk cId="2855594071" sldId="401"/>
        </pc:sldMkLst>
        <pc:spChg chg="mod">
          <ac:chgData name="Philippe Barbier" userId="534da69a-1040-4e6d-8807-26f79df2c0dd" providerId="ADAL" clId="{71A1ED51-24A8-4938-9836-071B12ABA216}" dt="2022-03-22T14:34:04.547" v="50" actId="6549"/>
          <ac:spMkLst>
            <pc:docMk/>
            <pc:sldMk cId="2855594071" sldId="401"/>
            <ac:spMk id="3" creationId="{AB5477FB-3A5F-4733-807D-72351A848739}"/>
          </ac:spMkLst>
        </pc:spChg>
      </pc:sldChg>
      <pc:sldChg chg="del">
        <pc:chgData name="Philippe Barbier" userId="534da69a-1040-4e6d-8807-26f79df2c0dd" providerId="ADAL" clId="{71A1ED51-24A8-4938-9836-071B12ABA216}" dt="2022-03-22T14:35:52.250" v="79" actId="47"/>
        <pc:sldMkLst>
          <pc:docMk/>
          <pc:sldMk cId="444199639" sldId="402"/>
        </pc:sldMkLst>
      </pc:sldChg>
      <pc:sldChg chg="del">
        <pc:chgData name="Philippe Barbier" userId="534da69a-1040-4e6d-8807-26f79df2c0dd" providerId="ADAL" clId="{71A1ED51-24A8-4938-9836-071B12ABA216}" dt="2022-03-22T14:38:24.295" v="88" actId="47"/>
        <pc:sldMkLst>
          <pc:docMk/>
          <pc:sldMk cId="1690712311" sldId="411"/>
        </pc:sldMkLst>
      </pc:sldChg>
      <pc:sldChg chg="del">
        <pc:chgData name="Philippe Barbier" userId="534da69a-1040-4e6d-8807-26f79df2c0dd" providerId="ADAL" clId="{71A1ED51-24A8-4938-9836-071B12ABA216}" dt="2022-03-22T14:34:39.173" v="52" actId="47"/>
        <pc:sldMkLst>
          <pc:docMk/>
          <pc:sldMk cId="1066023670" sldId="412"/>
        </pc:sldMkLst>
      </pc:sldChg>
      <pc:sldChg chg="addSp delSp modSp mod">
        <pc:chgData name="Philippe Barbier" userId="534da69a-1040-4e6d-8807-26f79df2c0dd" providerId="ADAL" clId="{71A1ED51-24A8-4938-9836-071B12ABA216}" dt="2022-03-22T14:35:24.373" v="77" actId="6549"/>
        <pc:sldMkLst>
          <pc:docMk/>
          <pc:sldMk cId="1214842423" sldId="413"/>
        </pc:sldMkLst>
        <pc:spChg chg="mod">
          <ac:chgData name="Philippe Barbier" userId="534da69a-1040-4e6d-8807-26f79df2c0dd" providerId="ADAL" clId="{71A1ED51-24A8-4938-9836-071B12ABA216}" dt="2022-03-22T14:35:13.696" v="75" actId="6549"/>
          <ac:spMkLst>
            <pc:docMk/>
            <pc:sldMk cId="1214842423" sldId="413"/>
            <ac:spMk id="5" creationId="{E9465347-DE69-49ED-B58A-F572CAC1B0CC}"/>
          </ac:spMkLst>
        </pc:spChg>
        <pc:graphicFrameChg chg="del">
          <ac:chgData name="Philippe Barbier" userId="534da69a-1040-4e6d-8807-26f79df2c0dd" providerId="ADAL" clId="{71A1ED51-24A8-4938-9836-071B12ABA216}" dt="2022-03-22T14:34:59.875" v="53" actId="478"/>
          <ac:graphicFrameMkLst>
            <pc:docMk/>
            <pc:sldMk cId="1214842423" sldId="413"/>
            <ac:graphicFrameMk id="6" creationId="{A191B1A7-79A1-4A28-94A0-62D80547FFE4}"/>
          </ac:graphicFrameMkLst>
        </pc:graphicFrameChg>
        <pc:graphicFrameChg chg="add del mod">
          <ac:chgData name="Philippe Barbier" userId="534da69a-1040-4e6d-8807-26f79df2c0dd" providerId="ADAL" clId="{71A1ED51-24A8-4938-9836-071B12ABA216}" dt="2022-03-22T14:35:04.820" v="55"/>
          <ac:graphicFrameMkLst>
            <pc:docMk/>
            <pc:sldMk cId="1214842423" sldId="413"/>
            <ac:graphicFrameMk id="7" creationId="{6B35EA0A-7833-4EB7-95A2-9B411CDB38CC}"/>
          </ac:graphicFrameMkLst>
        </pc:graphicFrameChg>
        <pc:graphicFrameChg chg="add mod modGraphic">
          <ac:chgData name="Philippe Barbier" userId="534da69a-1040-4e6d-8807-26f79df2c0dd" providerId="ADAL" clId="{71A1ED51-24A8-4938-9836-071B12ABA216}" dt="2022-03-22T14:35:24.373" v="77" actId="6549"/>
          <ac:graphicFrameMkLst>
            <pc:docMk/>
            <pc:sldMk cId="1214842423" sldId="413"/>
            <ac:graphicFrameMk id="8" creationId="{347CC0E2-57AC-4FB1-B25F-E56F04810F94}"/>
          </ac:graphicFrameMkLst>
        </pc:graphicFrameChg>
      </pc:sldChg>
      <pc:sldChg chg="del">
        <pc:chgData name="Philippe Barbier" userId="534da69a-1040-4e6d-8807-26f79df2c0dd" providerId="ADAL" clId="{71A1ED51-24A8-4938-9836-071B12ABA216}" dt="2022-03-22T14:38:47.170" v="90" actId="47"/>
        <pc:sldMkLst>
          <pc:docMk/>
          <pc:sldMk cId="2816468570" sldId="416"/>
        </pc:sldMkLst>
      </pc:sldChg>
      <pc:sldChg chg="del">
        <pc:chgData name="Philippe Barbier" userId="534da69a-1040-4e6d-8807-26f79df2c0dd" providerId="ADAL" clId="{71A1ED51-24A8-4938-9836-071B12ABA216}" dt="2022-03-22T14:36:43.021" v="84" actId="47"/>
        <pc:sldMkLst>
          <pc:docMk/>
          <pc:sldMk cId="3587852646" sldId="417"/>
        </pc:sldMkLst>
      </pc:sldChg>
      <pc:sldChg chg="del">
        <pc:chgData name="Philippe Barbier" userId="534da69a-1040-4e6d-8807-26f79df2c0dd" providerId="ADAL" clId="{71A1ED51-24A8-4938-9836-071B12ABA216}" dt="2022-03-22T14:39:55.932" v="119" actId="47"/>
        <pc:sldMkLst>
          <pc:docMk/>
          <pc:sldMk cId="2838764595" sldId="418"/>
        </pc:sldMkLst>
      </pc:sldChg>
      <pc:sldChg chg="modSp add mod">
        <pc:chgData name="Philippe Barbier" userId="534da69a-1040-4e6d-8807-26f79df2c0dd" providerId="ADAL" clId="{71A1ED51-24A8-4938-9836-071B12ABA216}" dt="2022-04-06T09:52:47.334" v="134" actId="6549"/>
        <pc:sldMkLst>
          <pc:docMk/>
          <pc:sldMk cId="1256084873" sldId="419"/>
        </pc:sldMkLst>
        <pc:spChg chg="mod">
          <ac:chgData name="Philippe Barbier" userId="534da69a-1040-4e6d-8807-26f79df2c0dd" providerId="ADAL" clId="{71A1ED51-24A8-4938-9836-071B12ABA216}" dt="2022-04-06T09:52:47.334" v="134" actId="6549"/>
          <ac:spMkLst>
            <pc:docMk/>
            <pc:sldMk cId="1256084873" sldId="419"/>
            <ac:spMk id="4" creationId="{00000000-0000-0000-0000-000000000000}"/>
          </ac:spMkLst>
        </pc:spChg>
        <pc:spChg chg="mod">
          <ac:chgData name="Philippe Barbier" userId="534da69a-1040-4e6d-8807-26f79df2c0dd" providerId="ADAL" clId="{71A1ED51-24A8-4938-9836-071B12ABA216}" dt="2022-03-24T14:08:53.462" v="121" actId="20577"/>
          <ac:spMkLst>
            <pc:docMk/>
            <pc:sldMk cId="1256084873" sldId="419"/>
            <ac:spMk id="7" creationId="{00000000-0000-0000-0000-000000000000}"/>
          </ac:spMkLst>
        </pc:spChg>
      </pc:sldChg>
      <pc:sldChg chg="add del">
        <pc:chgData name="Philippe Barbier" userId="534da69a-1040-4e6d-8807-26f79df2c0dd" providerId="ADAL" clId="{71A1ED51-24A8-4938-9836-071B12ABA216}" dt="2022-03-31T06:28:22.309" v="128" actId="47"/>
        <pc:sldMkLst>
          <pc:docMk/>
          <pc:sldMk cId="138893082" sldId="420"/>
        </pc:sldMkLst>
      </pc:sldChg>
      <pc:sldChg chg="add">
        <pc:chgData name="Philippe Barbier" userId="534da69a-1040-4e6d-8807-26f79df2c0dd" providerId="ADAL" clId="{71A1ED51-24A8-4938-9836-071B12ABA216}" dt="2022-03-22T14:34:36.492" v="51"/>
        <pc:sldMkLst>
          <pc:docMk/>
          <pc:sldMk cId="3742301119" sldId="421"/>
        </pc:sldMkLst>
      </pc:sldChg>
      <pc:sldChg chg="add">
        <pc:chgData name="Philippe Barbier" userId="534da69a-1040-4e6d-8807-26f79df2c0dd" providerId="ADAL" clId="{71A1ED51-24A8-4938-9836-071B12ABA216}" dt="2022-03-22T14:35:50.036" v="78"/>
        <pc:sldMkLst>
          <pc:docMk/>
          <pc:sldMk cId="2529820967" sldId="422"/>
        </pc:sldMkLst>
      </pc:sldChg>
      <pc:sldChg chg="add">
        <pc:chgData name="Philippe Barbier" userId="534da69a-1040-4e6d-8807-26f79df2c0dd" providerId="ADAL" clId="{71A1ED51-24A8-4938-9836-071B12ABA216}" dt="2022-03-22T14:36:35.376" v="80"/>
        <pc:sldMkLst>
          <pc:docMk/>
          <pc:sldMk cId="1169676554" sldId="423"/>
        </pc:sldMkLst>
      </pc:sldChg>
      <pc:sldChg chg="add">
        <pc:chgData name="Philippe Barbier" userId="534da69a-1040-4e6d-8807-26f79df2c0dd" providerId="ADAL" clId="{71A1ED51-24A8-4938-9836-071B12ABA216}" dt="2022-03-22T14:36:35.376" v="80"/>
        <pc:sldMkLst>
          <pc:docMk/>
          <pc:sldMk cId="315439705" sldId="424"/>
        </pc:sldMkLst>
      </pc:sldChg>
      <pc:sldChg chg="add">
        <pc:chgData name="Philippe Barbier" userId="534da69a-1040-4e6d-8807-26f79df2c0dd" providerId="ADAL" clId="{71A1ED51-24A8-4938-9836-071B12ABA216}" dt="2022-03-22T14:36:35.376" v="80"/>
        <pc:sldMkLst>
          <pc:docMk/>
          <pc:sldMk cId="1506038613" sldId="425"/>
        </pc:sldMkLst>
      </pc:sldChg>
      <pc:sldChg chg="add">
        <pc:chgData name="Philippe Barbier" userId="534da69a-1040-4e6d-8807-26f79df2c0dd" providerId="ADAL" clId="{71A1ED51-24A8-4938-9836-071B12ABA216}" dt="2022-03-22T14:36:35.376" v="80"/>
        <pc:sldMkLst>
          <pc:docMk/>
          <pc:sldMk cId="164769734" sldId="426"/>
        </pc:sldMkLst>
      </pc:sldChg>
      <pc:sldChg chg="add">
        <pc:chgData name="Philippe Barbier" userId="534da69a-1040-4e6d-8807-26f79df2c0dd" providerId="ADAL" clId="{71A1ED51-24A8-4938-9836-071B12ABA216}" dt="2022-03-22T14:37:04.545" v="85"/>
        <pc:sldMkLst>
          <pc:docMk/>
          <pc:sldMk cId="71354815" sldId="427"/>
        </pc:sldMkLst>
      </pc:sldChg>
      <pc:sldChg chg="add">
        <pc:chgData name="Philippe Barbier" userId="534da69a-1040-4e6d-8807-26f79df2c0dd" providerId="ADAL" clId="{71A1ED51-24A8-4938-9836-071B12ABA216}" dt="2022-03-22T14:38:20.024" v="87"/>
        <pc:sldMkLst>
          <pc:docMk/>
          <pc:sldMk cId="474013378" sldId="428"/>
        </pc:sldMkLst>
      </pc:sldChg>
      <pc:sldChg chg="modSp add mod modAnim">
        <pc:chgData name="Philippe Barbier" userId="534da69a-1040-4e6d-8807-26f79df2c0dd" providerId="ADAL" clId="{71A1ED51-24A8-4938-9836-071B12ABA216}" dt="2022-04-06T09:53:27.644" v="138" actId="6549"/>
        <pc:sldMkLst>
          <pc:docMk/>
          <pc:sldMk cId="1914653031" sldId="429"/>
        </pc:sldMkLst>
        <pc:spChg chg="mod">
          <ac:chgData name="Philippe Barbier" userId="534da69a-1040-4e6d-8807-26f79df2c0dd" providerId="ADAL" clId="{71A1ED51-24A8-4938-9836-071B12ABA216}" dt="2022-04-06T09:53:27.644" v="138" actId="6549"/>
          <ac:spMkLst>
            <pc:docMk/>
            <pc:sldMk cId="1914653031" sldId="429"/>
            <ac:spMk id="3" creationId="{566BE3B3-EA91-45A0-B10E-0904075491A2}"/>
          </ac:spMkLst>
        </pc:spChg>
      </pc:sldChg>
      <pc:sldChg chg="add">
        <pc:chgData name="Philippe Barbier" userId="534da69a-1040-4e6d-8807-26f79df2c0dd" providerId="ADAL" clId="{71A1ED51-24A8-4938-9836-071B12ABA216}" dt="2022-03-22T14:39:51.368" v="118"/>
        <pc:sldMkLst>
          <pc:docMk/>
          <pc:sldMk cId="3409096636" sldId="430"/>
        </pc:sldMkLst>
      </pc:sldChg>
    </pc:docChg>
  </pc:docChgLst>
  <pc:docChgLst>
    <pc:chgData name="Philippe Barbier" userId="S::u99pbr@acv-csc.be::534da69a-1040-4e6d-8807-26f79df2c0dd" providerId="AD" clId="Web-{E701E8A7-2CAB-46EA-B8F4-520691138368}"/>
    <pc:docChg chg="modSld">
      <pc:chgData name="Philippe Barbier" userId="S::u99pbr@acv-csc.be::534da69a-1040-4e6d-8807-26f79df2c0dd" providerId="AD" clId="Web-{E701E8A7-2CAB-46EA-B8F4-520691138368}" dt="2022-11-17T14:27:58.574" v="0" actId="20577"/>
      <pc:docMkLst>
        <pc:docMk/>
      </pc:docMkLst>
      <pc:sldChg chg="modSp">
        <pc:chgData name="Philippe Barbier" userId="S::u99pbr@acv-csc.be::534da69a-1040-4e6d-8807-26f79df2c0dd" providerId="AD" clId="Web-{E701E8A7-2CAB-46EA-B8F4-520691138368}" dt="2022-11-17T14:27:58.574" v="0" actId="20577"/>
        <pc:sldMkLst>
          <pc:docMk/>
          <pc:sldMk cId="3530800011" sldId="409"/>
        </pc:sldMkLst>
        <pc:spChg chg="mod">
          <ac:chgData name="Philippe Barbier" userId="S::u99pbr@acv-csc.be::534da69a-1040-4e6d-8807-26f79df2c0dd" providerId="AD" clId="Web-{E701E8A7-2CAB-46EA-B8F4-520691138368}" dt="2022-11-17T14:27:58.574" v="0" actId="20577"/>
          <ac:spMkLst>
            <pc:docMk/>
            <pc:sldMk cId="3530800011" sldId="409"/>
            <ac:spMk id="3" creationId="{C0E1F4CD-ECE2-4D39-95D3-9C672E74036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2"/>
            <a:ext cx="2945659" cy="493633"/>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sz="quarter" idx="1"/>
          </p:nvPr>
        </p:nvSpPr>
        <p:spPr>
          <a:xfrm>
            <a:off x="3850443" y="2"/>
            <a:ext cx="2945659" cy="493633"/>
          </a:xfrm>
          <a:prstGeom prst="rect">
            <a:avLst/>
          </a:prstGeom>
        </p:spPr>
        <p:txBody>
          <a:bodyPr vert="horz" lIns="91440" tIns="45720" rIns="91440" bIns="45720" rtlCol="0"/>
          <a:lstStyle>
            <a:lvl1pPr algn="r">
              <a:defRPr sz="1200"/>
            </a:lvl1pPr>
          </a:lstStyle>
          <a:p>
            <a:fld id="{E47068CA-F0DC-447A-B9ED-AE95D731C7D8}" type="datetimeFigureOut">
              <a:rPr lang="fr-FR" smtClean="0"/>
              <a:pPr/>
              <a:t>17/11/2022</a:t>
            </a:fld>
            <a:endParaRPr lang="fr-FR" dirty="0"/>
          </a:p>
        </p:txBody>
      </p:sp>
      <p:sp>
        <p:nvSpPr>
          <p:cNvPr id="4" name="Espace réservé du pied de page 3"/>
          <p:cNvSpPr>
            <a:spLocks noGrp="1"/>
          </p:cNvSpPr>
          <p:nvPr>
            <p:ph type="ftr" sz="quarter" idx="2"/>
          </p:nvPr>
        </p:nvSpPr>
        <p:spPr>
          <a:xfrm>
            <a:off x="0" y="9377319"/>
            <a:ext cx="2945659" cy="493633"/>
          </a:xfrm>
          <a:prstGeom prst="rect">
            <a:avLst/>
          </a:prstGeom>
        </p:spPr>
        <p:txBody>
          <a:bodyPr vert="horz" lIns="91440" tIns="45720" rIns="91440" bIns="45720" rtlCol="0" anchor="b"/>
          <a:lstStyle>
            <a:lvl1pPr algn="l">
              <a:defRPr sz="1200"/>
            </a:lvl1pPr>
          </a:lstStyle>
          <a:p>
            <a:endParaRPr lang="fr-FR" dirty="0"/>
          </a:p>
        </p:txBody>
      </p:sp>
      <p:sp>
        <p:nvSpPr>
          <p:cNvPr id="5" name="Espace réservé du numéro de diapositive 4"/>
          <p:cNvSpPr>
            <a:spLocks noGrp="1"/>
          </p:cNvSpPr>
          <p:nvPr>
            <p:ph type="sldNum" sz="quarter" idx="3"/>
          </p:nvPr>
        </p:nvSpPr>
        <p:spPr>
          <a:xfrm>
            <a:off x="3850443" y="9377319"/>
            <a:ext cx="2945659" cy="493633"/>
          </a:xfrm>
          <a:prstGeom prst="rect">
            <a:avLst/>
          </a:prstGeom>
        </p:spPr>
        <p:txBody>
          <a:bodyPr vert="horz" lIns="91440" tIns="45720" rIns="91440" bIns="45720" rtlCol="0" anchor="b"/>
          <a:lstStyle>
            <a:lvl1pPr algn="r">
              <a:defRPr sz="1200"/>
            </a:lvl1pPr>
          </a:lstStyle>
          <a:p>
            <a:fld id="{49110657-391D-4BAF-82B8-BBA3EA77C61C}" type="slidenum">
              <a:rPr lang="fr-FR" smtClean="0"/>
              <a:pPr/>
              <a:t>‹N°›</a:t>
            </a:fld>
            <a:endParaRPr lang="fr-FR" dirty="0"/>
          </a:p>
        </p:txBody>
      </p:sp>
    </p:spTree>
    <p:extLst>
      <p:ext uri="{BB962C8B-B14F-4D97-AF65-F5344CB8AC3E}">
        <p14:creationId xmlns:p14="http://schemas.microsoft.com/office/powerpoint/2010/main" val="26919770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2"/>
            <a:ext cx="2945659" cy="493633"/>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50443" y="2"/>
            <a:ext cx="2945659" cy="493633"/>
          </a:xfrm>
          <a:prstGeom prst="rect">
            <a:avLst/>
          </a:prstGeom>
        </p:spPr>
        <p:txBody>
          <a:bodyPr vert="horz" lIns="91440" tIns="45720" rIns="91440" bIns="45720" rtlCol="0"/>
          <a:lstStyle>
            <a:lvl1pPr algn="r">
              <a:defRPr sz="1200"/>
            </a:lvl1pPr>
          </a:lstStyle>
          <a:p>
            <a:fld id="{B000F49C-6693-442B-81D1-9FE7387508D2}" type="datetimeFigureOut">
              <a:rPr lang="fr-FR" smtClean="0"/>
              <a:pPr/>
              <a:t>17/11/2022</a:t>
            </a:fld>
            <a:endParaRPr lang="fr-FR" dirty="0"/>
          </a:p>
        </p:txBody>
      </p:sp>
      <p:sp>
        <p:nvSpPr>
          <p:cNvPr id="4" name="Espace réservé de l'image des diapositives 3"/>
          <p:cNvSpPr>
            <a:spLocks noGrp="1" noRot="1" noChangeAspect="1"/>
          </p:cNvSpPr>
          <p:nvPr>
            <p:ph type="sldImg" idx="2"/>
          </p:nvPr>
        </p:nvSpPr>
        <p:spPr>
          <a:xfrm>
            <a:off x="930275" y="739775"/>
            <a:ext cx="4937125" cy="3703638"/>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commentaires 4"/>
          <p:cNvSpPr>
            <a:spLocks noGrp="1"/>
          </p:cNvSpPr>
          <p:nvPr>
            <p:ph type="body" sz="quarter" idx="3"/>
          </p:nvPr>
        </p:nvSpPr>
        <p:spPr>
          <a:xfrm>
            <a:off x="679768" y="4689515"/>
            <a:ext cx="5438140" cy="444269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377319"/>
            <a:ext cx="2945659" cy="493633"/>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50443" y="9377319"/>
            <a:ext cx="2945659" cy="493633"/>
          </a:xfrm>
          <a:prstGeom prst="rect">
            <a:avLst/>
          </a:prstGeom>
        </p:spPr>
        <p:txBody>
          <a:bodyPr vert="horz" lIns="91440" tIns="45720" rIns="91440" bIns="45720" rtlCol="0" anchor="b"/>
          <a:lstStyle>
            <a:lvl1pPr algn="r">
              <a:defRPr sz="1200"/>
            </a:lvl1pPr>
          </a:lstStyle>
          <a:p>
            <a:fld id="{784742A2-A700-4112-A494-09AD92282681}" type="slidenum">
              <a:rPr lang="fr-FR" smtClean="0"/>
              <a:pPr/>
              <a:t>‹N°›</a:t>
            </a:fld>
            <a:endParaRPr lang="fr-FR" dirty="0"/>
          </a:p>
        </p:txBody>
      </p:sp>
    </p:spTree>
    <p:extLst>
      <p:ext uri="{BB962C8B-B14F-4D97-AF65-F5344CB8AC3E}">
        <p14:creationId xmlns:p14="http://schemas.microsoft.com/office/powerpoint/2010/main" val="1422369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a:t>
            </a:fld>
            <a:endParaRPr lang="fr-FR" dirty="0"/>
          </a:p>
        </p:txBody>
      </p:sp>
    </p:spTree>
    <p:extLst>
      <p:ext uri="{BB962C8B-B14F-4D97-AF65-F5344CB8AC3E}">
        <p14:creationId xmlns:p14="http://schemas.microsoft.com/office/powerpoint/2010/main" val="3740905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a:t>
            </a:fld>
            <a:endParaRPr lang="fr-FR" dirty="0"/>
          </a:p>
        </p:txBody>
      </p:sp>
    </p:spTree>
    <p:extLst>
      <p:ext uri="{BB962C8B-B14F-4D97-AF65-F5344CB8AC3E}">
        <p14:creationId xmlns:p14="http://schemas.microsoft.com/office/powerpoint/2010/main" val="140415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a:t>
            </a:fld>
            <a:endParaRPr lang="fr-FR" dirty="0"/>
          </a:p>
        </p:txBody>
      </p:sp>
    </p:spTree>
    <p:extLst>
      <p:ext uri="{BB962C8B-B14F-4D97-AF65-F5344CB8AC3E}">
        <p14:creationId xmlns:p14="http://schemas.microsoft.com/office/powerpoint/2010/main" val="140415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a:t>
            </a:fld>
            <a:endParaRPr lang="fr-FR" dirty="0"/>
          </a:p>
        </p:txBody>
      </p:sp>
    </p:spTree>
    <p:extLst>
      <p:ext uri="{BB962C8B-B14F-4D97-AF65-F5344CB8AC3E}">
        <p14:creationId xmlns:p14="http://schemas.microsoft.com/office/powerpoint/2010/main" val="866893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BE" sz="1100" i="0" baseline="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14</a:t>
            </a:fld>
            <a:endParaRPr lang="fr-FR" dirty="0"/>
          </a:p>
        </p:txBody>
      </p:sp>
    </p:spTree>
    <p:extLst>
      <p:ext uri="{BB962C8B-B14F-4D97-AF65-F5344CB8AC3E}">
        <p14:creationId xmlns:p14="http://schemas.microsoft.com/office/powerpoint/2010/main" val="2149329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sz="1100" baseline="0" dirty="0">
              <a:sym typeface="Wingdings" pitchFamily="2" charset="2"/>
            </a:endParaRP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15</a:t>
            </a:fld>
            <a:endParaRPr lang="fr-FR" dirty="0"/>
          </a:p>
        </p:txBody>
      </p:sp>
    </p:spTree>
    <p:extLst>
      <p:ext uri="{BB962C8B-B14F-4D97-AF65-F5344CB8AC3E}">
        <p14:creationId xmlns:p14="http://schemas.microsoft.com/office/powerpoint/2010/main" val="1430212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indent="0">
              <a:buNone/>
            </a:pPr>
            <a:endParaRPr lang="fr-BE" sz="110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18</a:t>
            </a:fld>
            <a:endParaRPr lang="fr-FR" dirty="0"/>
          </a:p>
        </p:txBody>
      </p:sp>
    </p:spTree>
    <p:extLst>
      <p:ext uri="{BB962C8B-B14F-4D97-AF65-F5344CB8AC3E}">
        <p14:creationId xmlns:p14="http://schemas.microsoft.com/office/powerpoint/2010/main" val="4153894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sz="1100" i="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19</a:t>
            </a:fld>
            <a:endParaRPr lang="fr-FR" dirty="0"/>
          </a:p>
        </p:txBody>
      </p:sp>
    </p:spTree>
    <p:extLst>
      <p:ext uri="{BB962C8B-B14F-4D97-AF65-F5344CB8AC3E}">
        <p14:creationId xmlns:p14="http://schemas.microsoft.com/office/powerpoint/2010/main" val="918828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20</a:t>
            </a:fld>
            <a:endParaRPr lang="fr-FR" dirty="0"/>
          </a:p>
        </p:txBody>
      </p:sp>
    </p:spTree>
    <p:extLst>
      <p:ext uri="{BB962C8B-B14F-4D97-AF65-F5344CB8AC3E}">
        <p14:creationId xmlns:p14="http://schemas.microsoft.com/office/powerpoint/2010/main" val="28414782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21</a:t>
            </a:fld>
            <a:endParaRPr lang="fr-FR" dirty="0"/>
          </a:p>
        </p:txBody>
      </p:sp>
    </p:spTree>
    <p:extLst>
      <p:ext uri="{BB962C8B-B14F-4D97-AF65-F5344CB8AC3E}">
        <p14:creationId xmlns:p14="http://schemas.microsoft.com/office/powerpoint/2010/main" val="28414782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sz="110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22</a:t>
            </a:fld>
            <a:endParaRPr lang="fr-FR" dirty="0"/>
          </a:p>
        </p:txBody>
      </p:sp>
    </p:spTree>
    <p:extLst>
      <p:ext uri="{BB962C8B-B14F-4D97-AF65-F5344CB8AC3E}">
        <p14:creationId xmlns:p14="http://schemas.microsoft.com/office/powerpoint/2010/main" val="2187621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23</a:t>
            </a:fld>
            <a:endParaRPr lang="fr-FR" dirty="0"/>
          </a:p>
        </p:txBody>
      </p:sp>
    </p:spTree>
    <p:extLst>
      <p:ext uri="{BB962C8B-B14F-4D97-AF65-F5344CB8AC3E}">
        <p14:creationId xmlns:p14="http://schemas.microsoft.com/office/powerpoint/2010/main" val="3078349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indent="0">
              <a:buNone/>
            </a:pPr>
            <a:endParaRPr lang="fr-BE" sz="110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24</a:t>
            </a:fld>
            <a:endParaRPr lang="fr-FR" dirty="0"/>
          </a:p>
        </p:txBody>
      </p:sp>
    </p:spTree>
    <p:extLst>
      <p:ext uri="{BB962C8B-B14F-4D97-AF65-F5344CB8AC3E}">
        <p14:creationId xmlns:p14="http://schemas.microsoft.com/office/powerpoint/2010/main" val="3238510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indent="0">
              <a:buNone/>
            </a:pPr>
            <a:endParaRPr lang="fr-BE" sz="110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25</a:t>
            </a:fld>
            <a:endParaRPr lang="fr-FR" dirty="0"/>
          </a:p>
        </p:txBody>
      </p:sp>
    </p:spTree>
    <p:extLst>
      <p:ext uri="{BB962C8B-B14F-4D97-AF65-F5344CB8AC3E}">
        <p14:creationId xmlns:p14="http://schemas.microsoft.com/office/powerpoint/2010/main" val="32385109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indent="0">
              <a:buNone/>
            </a:pPr>
            <a:endParaRPr lang="fr-BE" sz="110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26</a:t>
            </a:fld>
            <a:endParaRPr lang="fr-FR" dirty="0"/>
          </a:p>
        </p:txBody>
      </p:sp>
    </p:spTree>
    <p:extLst>
      <p:ext uri="{BB962C8B-B14F-4D97-AF65-F5344CB8AC3E}">
        <p14:creationId xmlns:p14="http://schemas.microsoft.com/office/powerpoint/2010/main" val="32385109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indent="0">
              <a:buNone/>
            </a:pPr>
            <a:endParaRPr lang="fr-BE" sz="110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27</a:t>
            </a:fld>
            <a:endParaRPr lang="fr-FR" dirty="0"/>
          </a:p>
        </p:txBody>
      </p:sp>
    </p:spTree>
    <p:extLst>
      <p:ext uri="{BB962C8B-B14F-4D97-AF65-F5344CB8AC3E}">
        <p14:creationId xmlns:p14="http://schemas.microsoft.com/office/powerpoint/2010/main" val="9164374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BE" sz="110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28</a:t>
            </a:fld>
            <a:endParaRPr lang="fr-FR" dirty="0"/>
          </a:p>
        </p:txBody>
      </p:sp>
    </p:spTree>
    <p:extLst>
      <p:ext uri="{BB962C8B-B14F-4D97-AF65-F5344CB8AC3E}">
        <p14:creationId xmlns:p14="http://schemas.microsoft.com/office/powerpoint/2010/main" val="3664518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indent="0">
              <a:buNone/>
            </a:pPr>
            <a:endParaRPr lang="fr-BE" sz="110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29</a:t>
            </a:fld>
            <a:endParaRPr lang="fr-FR" dirty="0"/>
          </a:p>
        </p:txBody>
      </p:sp>
    </p:spTree>
    <p:extLst>
      <p:ext uri="{BB962C8B-B14F-4D97-AF65-F5344CB8AC3E}">
        <p14:creationId xmlns:p14="http://schemas.microsoft.com/office/powerpoint/2010/main" val="32385109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30</a:t>
            </a:fld>
            <a:endParaRPr lang="fr-FR" dirty="0"/>
          </a:p>
        </p:txBody>
      </p:sp>
    </p:spTree>
    <p:extLst>
      <p:ext uri="{BB962C8B-B14F-4D97-AF65-F5344CB8AC3E}">
        <p14:creationId xmlns:p14="http://schemas.microsoft.com/office/powerpoint/2010/main" val="31326234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sz="1100" b="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31</a:t>
            </a:fld>
            <a:endParaRPr lang="fr-FR" dirty="0"/>
          </a:p>
        </p:txBody>
      </p:sp>
    </p:spTree>
    <p:extLst>
      <p:ext uri="{BB962C8B-B14F-4D97-AF65-F5344CB8AC3E}">
        <p14:creationId xmlns:p14="http://schemas.microsoft.com/office/powerpoint/2010/main" val="25553794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sz="1100" i="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32</a:t>
            </a:fld>
            <a:endParaRPr lang="fr-FR" dirty="0"/>
          </a:p>
        </p:txBody>
      </p:sp>
    </p:spTree>
    <p:extLst>
      <p:ext uri="{BB962C8B-B14F-4D97-AF65-F5344CB8AC3E}">
        <p14:creationId xmlns:p14="http://schemas.microsoft.com/office/powerpoint/2010/main" val="25676819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sz="110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35</a:t>
            </a:fld>
            <a:endParaRPr lang="fr-FR" dirty="0"/>
          </a:p>
        </p:txBody>
      </p:sp>
    </p:spTree>
    <p:extLst>
      <p:ext uri="{BB962C8B-B14F-4D97-AF65-F5344CB8AC3E}">
        <p14:creationId xmlns:p14="http://schemas.microsoft.com/office/powerpoint/2010/main" val="27116677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970529/495-28 : DA au 28/06/2021</a:t>
            </a:r>
          </a:p>
        </p:txBody>
      </p:sp>
      <p:sp>
        <p:nvSpPr>
          <p:cNvPr id="4" name="Espace réservé du numéro de diapositive 3"/>
          <p:cNvSpPr>
            <a:spLocks noGrp="1"/>
          </p:cNvSpPr>
          <p:nvPr>
            <p:ph type="sldNum" sz="quarter" idx="5"/>
          </p:nvPr>
        </p:nvSpPr>
        <p:spPr/>
        <p:txBody>
          <a:bodyPr/>
          <a:lstStyle/>
          <a:p>
            <a:fld id="{784742A2-A700-4112-A494-09AD92282681}" type="slidenum">
              <a:rPr lang="fr-FR" smtClean="0"/>
              <a:pPr/>
              <a:t>36</a:t>
            </a:fld>
            <a:endParaRPr lang="fr-FR" dirty="0"/>
          </a:p>
        </p:txBody>
      </p:sp>
    </p:spTree>
    <p:extLst>
      <p:ext uri="{BB962C8B-B14F-4D97-AF65-F5344CB8AC3E}">
        <p14:creationId xmlns:p14="http://schemas.microsoft.com/office/powerpoint/2010/main" val="8851901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sz="1100" dirty="0"/>
              <a:t>940810/191-84 – DA au 01/07/2021</a:t>
            </a: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39</a:t>
            </a:fld>
            <a:endParaRPr lang="fr-FR" dirty="0"/>
          </a:p>
        </p:txBody>
      </p:sp>
    </p:spTree>
    <p:extLst>
      <p:ext uri="{BB962C8B-B14F-4D97-AF65-F5344CB8AC3E}">
        <p14:creationId xmlns:p14="http://schemas.microsoft.com/office/powerpoint/2010/main" val="6642894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5"/>
          </p:nvPr>
        </p:nvSpPr>
        <p:spPr/>
        <p:txBody>
          <a:bodyPr/>
          <a:lstStyle/>
          <a:p>
            <a:fld id="{784742A2-A700-4112-A494-09AD92282681}" type="slidenum">
              <a:rPr lang="fr-FR" smtClean="0"/>
              <a:pPr/>
              <a:t>40</a:t>
            </a:fld>
            <a:endParaRPr lang="fr-FR" dirty="0"/>
          </a:p>
        </p:txBody>
      </p:sp>
    </p:spTree>
    <p:extLst>
      <p:ext uri="{BB962C8B-B14F-4D97-AF65-F5344CB8AC3E}">
        <p14:creationId xmlns:p14="http://schemas.microsoft.com/office/powerpoint/2010/main" val="35522145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BE" sz="1100" i="0" baseline="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41</a:t>
            </a:fld>
            <a:endParaRPr lang="fr-FR" dirty="0"/>
          </a:p>
        </p:txBody>
      </p:sp>
    </p:spTree>
    <p:extLst>
      <p:ext uri="{BB962C8B-B14F-4D97-AF65-F5344CB8AC3E}">
        <p14:creationId xmlns:p14="http://schemas.microsoft.com/office/powerpoint/2010/main" val="14788538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Wingdings"/>
              <a:buNone/>
              <a:tabLst/>
              <a:defRPr/>
            </a:pPr>
            <a:endParaRPr lang="fr-BE" sz="1100" i="0" baseline="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42</a:t>
            </a:fld>
            <a:endParaRPr lang="fr-FR" dirty="0"/>
          </a:p>
        </p:txBody>
      </p:sp>
    </p:spTree>
    <p:extLst>
      <p:ext uri="{BB962C8B-B14F-4D97-AF65-F5344CB8AC3E}">
        <p14:creationId xmlns:p14="http://schemas.microsoft.com/office/powerpoint/2010/main" val="18638282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43</a:t>
            </a:fld>
            <a:endParaRPr lang="fr-FR" dirty="0"/>
          </a:p>
        </p:txBody>
      </p:sp>
    </p:spTree>
    <p:extLst>
      <p:ext uri="{BB962C8B-B14F-4D97-AF65-F5344CB8AC3E}">
        <p14:creationId xmlns:p14="http://schemas.microsoft.com/office/powerpoint/2010/main" val="30435770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spcBef>
                <a:spcPts val="0"/>
              </a:spcBef>
              <a:buFont typeface="Wingdings" pitchFamily="2" charset="2"/>
              <a:buNone/>
            </a:pPr>
            <a:endParaRPr lang="fr-BE" sz="1100" i="0" dirty="0">
              <a:sym typeface="Wingdings" pitchFamily="2" charset="2"/>
            </a:endParaRP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44</a:t>
            </a:fld>
            <a:endParaRPr lang="fr-FR" dirty="0"/>
          </a:p>
        </p:txBody>
      </p:sp>
    </p:spTree>
    <p:extLst>
      <p:ext uri="{BB962C8B-B14F-4D97-AF65-F5344CB8AC3E}">
        <p14:creationId xmlns:p14="http://schemas.microsoft.com/office/powerpoint/2010/main" val="30435770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 typeface="Wingdings" pitchFamily="2" charset="2"/>
              <a:buNone/>
              <a:tabLst/>
              <a:defRPr/>
            </a:pPr>
            <a:endParaRPr lang="fr-BE" sz="110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48</a:t>
            </a:fld>
            <a:endParaRPr lang="fr-FR" dirty="0"/>
          </a:p>
        </p:txBody>
      </p:sp>
    </p:spTree>
    <p:extLst>
      <p:ext uri="{BB962C8B-B14F-4D97-AF65-F5344CB8AC3E}">
        <p14:creationId xmlns:p14="http://schemas.microsoft.com/office/powerpoint/2010/main" val="30507677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5"/>
          </p:nvPr>
        </p:nvSpPr>
        <p:spPr/>
        <p:txBody>
          <a:bodyPr/>
          <a:lstStyle/>
          <a:p>
            <a:fld id="{784742A2-A700-4112-A494-09AD92282681}" type="slidenum">
              <a:rPr lang="fr-FR" smtClean="0"/>
              <a:pPr/>
              <a:t>49</a:t>
            </a:fld>
            <a:endParaRPr lang="fr-FR" dirty="0"/>
          </a:p>
        </p:txBody>
      </p:sp>
    </p:spTree>
    <p:extLst>
      <p:ext uri="{BB962C8B-B14F-4D97-AF65-F5344CB8AC3E}">
        <p14:creationId xmlns:p14="http://schemas.microsoft.com/office/powerpoint/2010/main" val="42806220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sz="1100" b="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50</a:t>
            </a:fld>
            <a:endParaRPr lang="fr-FR" dirty="0"/>
          </a:p>
        </p:txBody>
      </p:sp>
    </p:spTree>
    <p:extLst>
      <p:ext uri="{BB962C8B-B14F-4D97-AF65-F5344CB8AC3E}">
        <p14:creationId xmlns:p14="http://schemas.microsoft.com/office/powerpoint/2010/main" val="7930139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sz="110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51</a:t>
            </a:fld>
            <a:endParaRPr lang="fr-FR" dirty="0"/>
          </a:p>
        </p:txBody>
      </p:sp>
    </p:spTree>
    <p:extLst>
      <p:ext uri="{BB962C8B-B14F-4D97-AF65-F5344CB8AC3E}">
        <p14:creationId xmlns:p14="http://schemas.microsoft.com/office/powerpoint/2010/main" val="11748923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spcBef>
                <a:spcPts val="0"/>
              </a:spcBef>
              <a:buSzPct val="100000"/>
              <a:buFont typeface="Wingdings" pitchFamily="2" charset="2"/>
              <a:buNone/>
            </a:pPr>
            <a:endParaRPr lang="fr-BE" sz="1100" i="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52</a:t>
            </a:fld>
            <a:endParaRPr lang="fr-FR" dirty="0"/>
          </a:p>
        </p:txBody>
      </p:sp>
    </p:spTree>
    <p:extLst>
      <p:ext uri="{BB962C8B-B14F-4D97-AF65-F5344CB8AC3E}">
        <p14:creationId xmlns:p14="http://schemas.microsoft.com/office/powerpoint/2010/main" val="17736064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spcBef>
                <a:spcPts val="0"/>
              </a:spcBef>
              <a:buSzPct val="100000"/>
              <a:buFont typeface="Wingdings" pitchFamily="2" charset="2"/>
              <a:buNone/>
            </a:pPr>
            <a:endParaRPr lang="fr-BE" sz="1100" i="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53</a:t>
            </a:fld>
            <a:endParaRPr lang="fr-FR" dirty="0"/>
          </a:p>
        </p:txBody>
      </p:sp>
    </p:spTree>
    <p:extLst>
      <p:ext uri="{BB962C8B-B14F-4D97-AF65-F5344CB8AC3E}">
        <p14:creationId xmlns:p14="http://schemas.microsoft.com/office/powerpoint/2010/main" val="32614988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spcBef>
                <a:spcPts val="0"/>
              </a:spcBef>
              <a:buSzPct val="100000"/>
              <a:buFont typeface="Wingdings" pitchFamily="2" charset="2"/>
              <a:buNone/>
            </a:pPr>
            <a:endParaRPr lang="fr-BE" sz="1100" i="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54</a:t>
            </a:fld>
            <a:endParaRPr lang="fr-FR" dirty="0"/>
          </a:p>
        </p:txBody>
      </p:sp>
    </p:spTree>
    <p:extLst>
      <p:ext uri="{BB962C8B-B14F-4D97-AF65-F5344CB8AC3E}">
        <p14:creationId xmlns:p14="http://schemas.microsoft.com/office/powerpoint/2010/main" val="34524807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652EED0B-8308-4CD3-BB8E-10C51F4592D0}" type="datetime1">
              <a:rPr lang="fr-FR" smtClean="0"/>
              <a:t>17/11/2022</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transition>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CCF2E4A-6308-43CA-8A56-450F051C7091}" type="datetime1">
              <a:rPr lang="fr-FR" smtClean="0"/>
              <a:t>17/11/2022</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transition>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ECB879B0-42FA-4548-BDBA-1EA4B86B2F51}" type="datetime1">
              <a:rPr lang="fr-FR" smtClean="0"/>
              <a:t>17/11/2022</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transition>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9579BFFA-28C4-4227-A433-63447FFA291E}" type="datetime1">
              <a:rPr lang="fr-FR" smtClean="0"/>
              <a:t>17/11/2022</a:t>
            </a:fld>
            <a:endParaRPr lang="fr-FR" dirty="0"/>
          </a:p>
        </p:txBody>
      </p:sp>
      <p:sp>
        <p:nvSpPr>
          <p:cNvPr id="6" name="Espace réservé du pied de page 5"/>
          <p:cNvSpPr>
            <a:spLocks noGrp="1"/>
          </p:cNvSpPr>
          <p:nvPr>
            <p:ph type="ftr" sz="quarter" idx="11"/>
          </p:nvPr>
        </p:nvSpPr>
        <p:spPr/>
        <p:txBody>
          <a:bodyPr/>
          <a:lstStyle/>
          <a:p>
            <a:endParaRPr lang="fr-FR" dirty="0"/>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transition>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013D36DD-5C76-4BC0-9D07-AE101F11D426}" type="datetime1">
              <a:rPr lang="fr-FR" smtClean="0"/>
              <a:t>17/11/2022</a:t>
            </a:fld>
            <a:endParaRPr lang="fr-FR" dirty="0"/>
          </a:p>
        </p:txBody>
      </p:sp>
      <p:sp>
        <p:nvSpPr>
          <p:cNvPr id="8" name="Espace réservé du pied de page 7"/>
          <p:cNvSpPr>
            <a:spLocks noGrp="1"/>
          </p:cNvSpPr>
          <p:nvPr>
            <p:ph type="ftr" sz="quarter" idx="11"/>
          </p:nvPr>
        </p:nvSpPr>
        <p:spPr/>
        <p:txBody>
          <a:bodyPr/>
          <a:lstStyle/>
          <a:p>
            <a:endParaRPr lang="fr-FR" dirty="0"/>
          </a:p>
        </p:txBody>
      </p:sp>
      <p:sp>
        <p:nvSpPr>
          <p:cNvPr id="9" name="Espace réservé du numéro de diapositive 8"/>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transition>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50E15B0B-36B7-4829-A696-0E99AFE7BFB6}" type="datetime1">
              <a:rPr lang="fr-FR" smtClean="0"/>
              <a:t>17/11/2022</a:t>
            </a:fld>
            <a:endParaRPr lang="fr-FR" dirty="0"/>
          </a:p>
        </p:txBody>
      </p:sp>
      <p:sp>
        <p:nvSpPr>
          <p:cNvPr id="4" name="Espace réservé du pied de page 3"/>
          <p:cNvSpPr>
            <a:spLocks noGrp="1"/>
          </p:cNvSpPr>
          <p:nvPr>
            <p:ph type="ftr" sz="quarter" idx="11"/>
          </p:nvPr>
        </p:nvSpPr>
        <p:spPr/>
        <p:txBody>
          <a:bodyPr/>
          <a:lstStyle/>
          <a:p>
            <a:endParaRPr lang="fr-FR" dirty="0"/>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transition>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82B2BC98-55A0-4640-8406-A32173CD3434}" type="datetime1">
              <a:rPr lang="fr-FR" smtClean="0"/>
              <a:t>17/11/2022</a:t>
            </a:fld>
            <a:endParaRPr lang="fr-FR" dirty="0"/>
          </a:p>
        </p:txBody>
      </p:sp>
      <p:sp>
        <p:nvSpPr>
          <p:cNvPr id="3" name="Espace réservé du pied de page 2"/>
          <p:cNvSpPr>
            <a:spLocks noGrp="1"/>
          </p:cNvSpPr>
          <p:nvPr>
            <p:ph type="ftr" sz="quarter" idx="11"/>
          </p:nvPr>
        </p:nvSpPr>
        <p:spPr/>
        <p:txBody>
          <a:bodyPr/>
          <a:lstStyle/>
          <a:p>
            <a:endParaRPr lang="fr-FR"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transition>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C0825F40-2F0C-4EF2-9002-1F24F1AB6E44}" type="datetime1">
              <a:rPr lang="fr-FR" smtClean="0"/>
              <a:t>17/11/2022</a:t>
            </a:fld>
            <a:endParaRPr lang="fr-FR" dirty="0"/>
          </a:p>
        </p:txBody>
      </p:sp>
      <p:sp>
        <p:nvSpPr>
          <p:cNvPr id="6" name="Espace réservé du pied de page 5"/>
          <p:cNvSpPr>
            <a:spLocks noGrp="1"/>
          </p:cNvSpPr>
          <p:nvPr>
            <p:ph type="ftr" sz="quarter" idx="11"/>
          </p:nvPr>
        </p:nvSpPr>
        <p:spPr/>
        <p:txBody>
          <a:bodyPr/>
          <a:lstStyle/>
          <a:p>
            <a:endParaRPr lang="fr-FR" dirty="0"/>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transition>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dirty="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E829EDA1-62A2-4998-83AB-9428889B58A6}" type="datetime1">
              <a:rPr lang="fr-FR" smtClean="0"/>
              <a:t>17/11/2022</a:t>
            </a:fld>
            <a:endParaRPr lang="fr-FR" dirty="0"/>
          </a:p>
        </p:txBody>
      </p:sp>
      <p:sp>
        <p:nvSpPr>
          <p:cNvPr id="6" name="Espace réservé du pied de page 5"/>
          <p:cNvSpPr>
            <a:spLocks noGrp="1"/>
          </p:cNvSpPr>
          <p:nvPr>
            <p:ph type="ftr" sz="quarter" idx="11"/>
          </p:nvPr>
        </p:nvSpPr>
        <p:spPr/>
        <p:txBody>
          <a:bodyPr/>
          <a:lstStyle/>
          <a:p>
            <a:endParaRPr lang="fr-FR" dirty="0"/>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transition>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3FDC51CB-7511-498B-B05E-37604DD6CF59}" type="datetime1">
              <a:rPr lang="fr-FR" smtClean="0"/>
              <a:t>17/11/2022</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transition>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C01FA6F-B94A-464A-BF80-84B7F2E926D6}" type="datetime1">
              <a:rPr lang="fr-FR" smtClean="0"/>
              <a:t>17/11/2022</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dirty="0"/>
          </a:p>
        </p:txBody>
      </p:sp>
    </p:spTree>
  </p:cSld>
  <p:clrMapOvr>
    <a:masterClrMapping/>
  </p:clrMapOvr>
  <p:transition>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6000"/>
            <a:lum/>
          </a:blip>
          <a:srcRect/>
          <a:stretch>
            <a:fillRect l="-7000" r="-7000"/>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D92AFF-46D0-459F-8460-312A3E956313}" type="datetime1">
              <a:rPr lang="fr-FR" smtClean="0"/>
              <a:t>17/11/2022</a:t>
            </a:fld>
            <a:endParaRPr lang="fr-FR" dirty="0"/>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E9056B-6A30-4F99-BDE9-C450E66AE125}" type="slidenum">
              <a:rPr lang="fr-FR" smtClean="0"/>
              <a:pPr/>
              <a:t>‹N°›</a:t>
            </a:fld>
            <a:endParaRPr lang="fr-F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dissolv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hyperlink" Target="http://opzegtermijn.acv-csc.intranet/opzegtermij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ctrTitle"/>
          </p:nvPr>
        </p:nvSpPr>
        <p:spPr>
          <a:xfrm>
            <a:off x="685800" y="1571612"/>
            <a:ext cx="7772400" cy="2786083"/>
          </a:xfrm>
        </p:spPr>
        <p:txBody>
          <a:bodyPr>
            <a:noAutofit/>
          </a:bodyPr>
          <a:lstStyle/>
          <a:p>
            <a:r>
              <a:rPr lang="fr-BE" sz="5000" b="1" i="1" dirty="0"/>
              <a:t>Admission en chômage complet sur base</a:t>
            </a:r>
            <a:br>
              <a:rPr lang="fr-BE" sz="5000" b="1" i="1" dirty="0"/>
            </a:br>
            <a:r>
              <a:rPr lang="fr-BE" sz="5000" b="1" i="1" dirty="0"/>
              <a:t>d’un travail salarié </a:t>
            </a:r>
            <a:br>
              <a:rPr lang="fr-BE" sz="5000" b="1" i="1" dirty="0"/>
            </a:br>
            <a:r>
              <a:rPr lang="fr-BE" sz="5000" b="1" i="1" dirty="0"/>
              <a:t>« temps plein »</a:t>
            </a:r>
            <a:endParaRPr lang="fr-FR" sz="5000" dirty="0"/>
          </a:p>
        </p:txBody>
      </p:sp>
      <p:sp>
        <p:nvSpPr>
          <p:cNvPr id="7" name="Sous-titre 6"/>
          <p:cNvSpPr>
            <a:spLocks noGrp="1"/>
          </p:cNvSpPr>
          <p:nvPr>
            <p:ph type="subTitle" idx="1"/>
          </p:nvPr>
        </p:nvSpPr>
        <p:spPr>
          <a:xfrm>
            <a:off x="1371600" y="4572008"/>
            <a:ext cx="6400800" cy="1066792"/>
          </a:xfrm>
        </p:spPr>
        <p:txBody>
          <a:bodyPr>
            <a:noAutofit/>
          </a:bodyPr>
          <a:lstStyle/>
          <a:p>
            <a:pPr>
              <a:spcBef>
                <a:spcPts val="0"/>
              </a:spcBef>
            </a:pPr>
            <a:r>
              <a:rPr lang="fr-BE" sz="3800" b="1" i="1" dirty="0">
                <a:solidFill>
                  <a:srgbClr val="C00000"/>
                </a:solidFill>
              </a:rPr>
              <a:t>Art. 30 </a:t>
            </a:r>
            <a:r>
              <a:rPr lang="fr-BE" sz="3800" b="1" i="1" dirty="0">
                <a:solidFill>
                  <a:schemeClr val="tx1"/>
                </a:solidFill>
              </a:rPr>
              <a:t>- </a:t>
            </a:r>
            <a:r>
              <a:rPr lang="fr-BE" sz="3800" b="1" i="1" dirty="0">
                <a:solidFill>
                  <a:srgbClr val="C00000"/>
                </a:solidFill>
              </a:rPr>
              <a:t>37</a:t>
            </a:r>
            <a:r>
              <a:rPr lang="fr-BE" sz="3800" b="1" i="1" dirty="0">
                <a:solidFill>
                  <a:schemeClr val="tx1"/>
                </a:solidFill>
              </a:rPr>
              <a:t> - </a:t>
            </a:r>
            <a:r>
              <a:rPr lang="fr-BE" sz="3800" b="1" i="1" dirty="0">
                <a:solidFill>
                  <a:srgbClr val="C00000"/>
                </a:solidFill>
              </a:rPr>
              <a:t>38</a:t>
            </a:r>
          </a:p>
          <a:p>
            <a:pPr>
              <a:spcBef>
                <a:spcPts val="0"/>
              </a:spcBef>
            </a:pPr>
            <a:r>
              <a:rPr lang="fr-BE" sz="3800" b="1" i="1" dirty="0">
                <a:solidFill>
                  <a:schemeClr val="tx1"/>
                </a:solidFill>
              </a:rPr>
              <a:t>de l’AR du 25.11.1991  </a:t>
            </a:r>
            <a:endParaRPr lang="fr-FR" sz="3800" b="1" i="1" dirty="0">
              <a:solidFill>
                <a:schemeClr val="tx1"/>
              </a:solidFill>
            </a:endParaRPr>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1</a:t>
            </a:fld>
            <a:endParaRPr lang="fr-FR" dirty="0"/>
          </a:p>
        </p:txBody>
      </p:sp>
      <p:sp>
        <p:nvSpPr>
          <p:cNvPr id="4" name="ZoneTexte 3"/>
          <p:cNvSpPr txBox="1"/>
          <p:nvPr/>
        </p:nvSpPr>
        <p:spPr>
          <a:xfrm>
            <a:off x="683568" y="6133946"/>
            <a:ext cx="2880320" cy="369332"/>
          </a:xfrm>
          <a:prstGeom prst="rect">
            <a:avLst/>
          </a:prstGeom>
          <a:noFill/>
        </p:spPr>
        <p:txBody>
          <a:bodyPr wrap="square" rtlCol="0">
            <a:spAutoFit/>
          </a:bodyPr>
          <a:lstStyle/>
          <a:p>
            <a:r>
              <a:rPr lang="fr-BE" dirty="0"/>
              <a:t>FLT – Version du 04.11.2022 </a:t>
            </a:r>
          </a:p>
        </p:txBody>
      </p:sp>
    </p:spTree>
    <p:extLst>
      <p:ext uri="{BB962C8B-B14F-4D97-AF65-F5344CB8AC3E}">
        <p14:creationId xmlns:p14="http://schemas.microsoft.com/office/powerpoint/2010/main" val="12560848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p:cTn id="7" dur="2000" fill="hold"/>
                                        <p:tgtEl>
                                          <p:spTgt spid="7">
                                            <p:txEl>
                                              <p:pRg st="0" end="0"/>
                                            </p:txEl>
                                          </p:spTgt>
                                        </p:tgtEl>
                                        <p:attrNameLst>
                                          <p:attrName>ppt_w</p:attrName>
                                        </p:attrNameLst>
                                      </p:cBhvr>
                                      <p:tavLst>
                                        <p:tav tm="0">
                                          <p:val>
                                            <p:fltVal val="0"/>
                                          </p:val>
                                        </p:tav>
                                        <p:tav tm="100000">
                                          <p:val>
                                            <p:strVal val="#ppt_w"/>
                                          </p:val>
                                        </p:tav>
                                      </p:tavLst>
                                    </p:anim>
                                    <p:anim calcmode="lin" valueType="num">
                                      <p:cBhvr>
                                        <p:cTn id="8" dur="2000" fill="hold"/>
                                        <p:tgtEl>
                                          <p:spTgt spid="7">
                                            <p:txEl>
                                              <p:pRg st="0" end="0"/>
                                            </p:txEl>
                                          </p:spTgt>
                                        </p:tgtEl>
                                        <p:attrNameLst>
                                          <p:attrName>ppt_h</p:attrName>
                                        </p:attrNameLst>
                                      </p:cBhvr>
                                      <p:tavLst>
                                        <p:tav tm="0">
                                          <p:val>
                                            <p:fltVal val="0"/>
                                          </p:val>
                                        </p:tav>
                                        <p:tav tm="100000">
                                          <p:val>
                                            <p:strVal val="#ppt_h"/>
                                          </p:val>
                                        </p:tav>
                                      </p:tavLst>
                                    </p:anim>
                                    <p:anim calcmode="lin" valueType="num">
                                      <p:cBhvr>
                                        <p:cTn id="9" dur="2000" fill="hold"/>
                                        <p:tgtEl>
                                          <p:spTgt spid="7">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2000" fill="hold"/>
                                        <p:tgtEl>
                                          <p:spTgt spid="7">
                                            <p:txEl>
                                              <p:pRg st="0" end="0"/>
                                            </p:txEl>
                                          </p:spTgt>
                                        </p:tgtEl>
                                        <p:attrNameLst>
                                          <p:attrName>ppt_y</p:attrName>
                                        </p:attrNameLst>
                                      </p:cBhvr>
                                      <p:tavLst>
                                        <p:tav tm="0" fmla="#ppt_y+(sin(-2*pi*(1-$))*-#ppt_x+cos(-2*pi*(1-$))*(1-#ppt_y))*(1-$)">
                                          <p:val>
                                            <p:fltVal val="0"/>
                                          </p:val>
                                        </p:tav>
                                        <p:tav tm="100000">
                                          <p:val>
                                            <p:fltVal val="1"/>
                                          </p:val>
                                        </p:tav>
                                      </p:tavLst>
                                    </p:anim>
                                  </p:childTnLst>
                                </p:cTn>
                              </p:par>
                              <p:par>
                                <p:cTn id="11" presetID="15" presetClass="entr" presetSubtype="0" fill="hold" grpId="0" nodeType="with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p:cTn id="13" dur="2000" fill="hold"/>
                                        <p:tgtEl>
                                          <p:spTgt spid="7">
                                            <p:txEl>
                                              <p:pRg st="1" end="1"/>
                                            </p:txEl>
                                          </p:spTgt>
                                        </p:tgtEl>
                                        <p:attrNameLst>
                                          <p:attrName>ppt_w</p:attrName>
                                        </p:attrNameLst>
                                      </p:cBhvr>
                                      <p:tavLst>
                                        <p:tav tm="0">
                                          <p:val>
                                            <p:fltVal val="0"/>
                                          </p:val>
                                        </p:tav>
                                        <p:tav tm="100000">
                                          <p:val>
                                            <p:strVal val="#ppt_w"/>
                                          </p:val>
                                        </p:tav>
                                      </p:tavLst>
                                    </p:anim>
                                    <p:anim calcmode="lin" valueType="num">
                                      <p:cBhvr>
                                        <p:cTn id="14" dur="2000" fill="hold"/>
                                        <p:tgtEl>
                                          <p:spTgt spid="7">
                                            <p:txEl>
                                              <p:pRg st="1" end="1"/>
                                            </p:txEl>
                                          </p:spTgt>
                                        </p:tgtEl>
                                        <p:attrNameLst>
                                          <p:attrName>ppt_h</p:attrName>
                                        </p:attrNameLst>
                                      </p:cBhvr>
                                      <p:tavLst>
                                        <p:tav tm="0">
                                          <p:val>
                                            <p:fltVal val="0"/>
                                          </p:val>
                                        </p:tav>
                                        <p:tav tm="100000">
                                          <p:val>
                                            <p:strVal val="#ppt_h"/>
                                          </p:val>
                                        </p:tav>
                                      </p:tavLst>
                                    </p:anim>
                                    <p:anim calcmode="lin" valueType="num">
                                      <p:cBhvr>
                                        <p:cTn id="15" dur="2000" fill="hold"/>
                                        <p:tgtEl>
                                          <p:spTgt spid="7">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6" dur="2000" fill="hold"/>
                                        <p:tgtEl>
                                          <p:spTgt spid="7">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re 13"/>
          <p:cNvSpPr>
            <a:spLocks noGrp="1"/>
          </p:cNvSpPr>
          <p:nvPr>
            <p:ph type="title"/>
          </p:nvPr>
        </p:nvSpPr>
        <p:spPr/>
        <p:txBody>
          <a:bodyPr>
            <a:normAutofit/>
          </a:bodyPr>
          <a:lstStyle/>
          <a:p>
            <a:r>
              <a:rPr lang="fr-BE" sz="4000" b="1" i="1" dirty="0">
                <a:solidFill>
                  <a:srgbClr val="C00000"/>
                </a:solidFill>
              </a:rPr>
              <a:t>Table des matières</a:t>
            </a:r>
            <a:endParaRPr lang="fr-FR" sz="4000" b="1" i="1" dirty="0">
              <a:solidFill>
                <a:srgbClr val="C00000"/>
              </a:solidFill>
            </a:endParaRPr>
          </a:p>
        </p:txBody>
      </p:sp>
      <p:sp>
        <p:nvSpPr>
          <p:cNvPr id="15" name="Espace réservé du contenu 14"/>
          <p:cNvSpPr>
            <a:spLocks noGrp="1"/>
          </p:cNvSpPr>
          <p:nvPr>
            <p:ph idx="1"/>
          </p:nvPr>
        </p:nvSpPr>
        <p:spPr/>
        <p:txBody>
          <a:bodyPr>
            <a:noAutofit/>
          </a:bodyPr>
          <a:lstStyle/>
          <a:p>
            <a:pPr marL="0" indent="0">
              <a:spcBef>
                <a:spcPts val="600"/>
              </a:spcBef>
              <a:buNone/>
            </a:pPr>
            <a:r>
              <a:rPr lang="fr-BE" sz="2200" dirty="0"/>
              <a:t> 1. Définitions							pg. 5</a:t>
            </a:r>
          </a:p>
          <a:p>
            <a:pPr lvl="1">
              <a:spcBef>
                <a:spcPts val="600"/>
              </a:spcBef>
            </a:pPr>
            <a:r>
              <a:rPr lang="fr-BE" sz="1800" dirty="0"/>
              <a:t>Chômage temporaire/chômage complet				pg. 5</a:t>
            </a:r>
          </a:p>
          <a:p>
            <a:pPr lvl="1">
              <a:spcBef>
                <a:spcPts val="600"/>
              </a:spcBef>
            </a:pPr>
            <a:r>
              <a:rPr lang="fr-BE" sz="1800" dirty="0"/>
              <a:t>Différents types de chômage complet				pg. 6</a:t>
            </a:r>
          </a:p>
          <a:p>
            <a:pPr lvl="1">
              <a:spcBef>
                <a:spcPts val="600"/>
              </a:spcBef>
            </a:pPr>
            <a:r>
              <a:rPr lang="fr-BE" sz="1800" dirty="0"/>
              <a:t>Code chômage complet					pg. 7</a:t>
            </a:r>
          </a:p>
          <a:p>
            <a:pPr marL="0" indent="0">
              <a:spcBef>
                <a:spcPts val="600"/>
              </a:spcBef>
              <a:buNone/>
            </a:pPr>
            <a:r>
              <a:rPr lang="fr-BE" sz="2200" dirty="0"/>
              <a:t>2. Fixer le statut du travailleur					pg. 8</a:t>
            </a:r>
          </a:p>
          <a:p>
            <a:pPr lvl="1">
              <a:spcBef>
                <a:spcPts val="600"/>
              </a:spcBef>
            </a:pPr>
            <a:r>
              <a:rPr lang="fr-BE" sz="1800" dirty="0"/>
              <a:t>Travailleur à temps plein					pg. 9</a:t>
            </a:r>
          </a:p>
          <a:p>
            <a:pPr lvl="1">
              <a:spcBef>
                <a:spcPts val="600"/>
              </a:spcBef>
            </a:pPr>
            <a:r>
              <a:rPr lang="fr-BE" sz="1800" dirty="0"/>
              <a:t>Travailleur assimilé à temps plein				pg. 11</a:t>
            </a:r>
          </a:p>
          <a:p>
            <a:pPr lvl="1">
              <a:spcBef>
                <a:spcPts val="600"/>
              </a:spcBef>
            </a:pPr>
            <a:r>
              <a:rPr lang="fr-BE" sz="1800" dirty="0"/>
              <a:t>Exemples							pg. 12</a:t>
            </a:r>
          </a:p>
          <a:p>
            <a:pPr marL="0" indent="0">
              <a:spcBef>
                <a:spcPts val="600"/>
              </a:spcBef>
              <a:buNone/>
            </a:pPr>
            <a:r>
              <a:rPr lang="fr-BE" sz="2200" dirty="0"/>
              <a:t>3. Règle générale						pg. 14</a:t>
            </a:r>
          </a:p>
          <a:p>
            <a:pPr lvl="1">
              <a:spcBef>
                <a:spcPts val="600"/>
              </a:spcBef>
            </a:pPr>
            <a:r>
              <a:rPr lang="fr-BE" sz="1800" dirty="0"/>
              <a:t>Fixation de la période de référence				pg. 16</a:t>
            </a:r>
          </a:p>
          <a:p>
            <a:pPr marL="0" indent="0">
              <a:spcBef>
                <a:spcPts val="600"/>
              </a:spcBef>
              <a:buNone/>
            </a:pPr>
            <a:endParaRPr lang="fr-BE" sz="1800" dirty="0"/>
          </a:p>
          <a:p>
            <a:pPr marL="0" indent="0">
              <a:spcBef>
                <a:spcPts val="600"/>
              </a:spcBef>
              <a:buNone/>
            </a:pPr>
            <a:endParaRPr lang="fr-BE" sz="1800" dirty="0"/>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2</a:t>
            </a:fld>
            <a:endParaRPr lang="fr-FR" dirty="0"/>
          </a:p>
        </p:txBody>
      </p:sp>
    </p:spTree>
    <p:extLst>
      <p:ext uri="{BB962C8B-B14F-4D97-AF65-F5344CB8AC3E}">
        <p14:creationId xmlns:p14="http://schemas.microsoft.com/office/powerpoint/2010/main" val="2040729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re 13"/>
          <p:cNvSpPr>
            <a:spLocks noGrp="1"/>
          </p:cNvSpPr>
          <p:nvPr>
            <p:ph type="title"/>
          </p:nvPr>
        </p:nvSpPr>
        <p:spPr/>
        <p:txBody>
          <a:bodyPr>
            <a:normAutofit/>
          </a:bodyPr>
          <a:lstStyle/>
          <a:p>
            <a:r>
              <a:rPr lang="fr-BE" sz="4000" b="1" i="1" dirty="0">
                <a:solidFill>
                  <a:srgbClr val="C00000"/>
                </a:solidFill>
              </a:rPr>
              <a:t>Table des matières</a:t>
            </a:r>
            <a:endParaRPr lang="fr-FR" sz="4000" b="1" i="1" dirty="0">
              <a:solidFill>
                <a:srgbClr val="C00000"/>
              </a:solidFill>
            </a:endParaRPr>
          </a:p>
        </p:txBody>
      </p:sp>
      <p:sp>
        <p:nvSpPr>
          <p:cNvPr id="15" name="Espace réservé du contenu 14"/>
          <p:cNvSpPr>
            <a:spLocks noGrp="1"/>
          </p:cNvSpPr>
          <p:nvPr>
            <p:ph idx="1"/>
          </p:nvPr>
        </p:nvSpPr>
        <p:spPr/>
        <p:txBody>
          <a:bodyPr>
            <a:noAutofit/>
          </a:bodyPr>
          <a:lstStyle/>
          <a:p>
            <a:pPr marL="0" indent="0">
              <a:spcBef>
                <a:spcPts val="600"/>
              </a:spcBef>
              <a:buNone/>
            </a:pPr>
            <a:r>
              <a:rPr lang="fr-BE" sz="2000" dirty="0"/>
              <a:t>4. Assouplissements						pg. 19</a:t>
            </a:r>
          </a:p>
          <a:p>
            <a:pPr marL="0" indent="0">
              <a:spcBef>
                <a:spcPts val="600"/>
              </a:spcBef>
              <a:buNone/>
            </a:pPr>
            <a:r>
              <a:rPr lang="fr-BE" sz="2000" dirty="0"/>
              <a:t>	4.1. Evènements prolongateurs de la période de référence	pg. 20</a:t>
            </a:r>
          </a:p>
          <a:p>
            <a:pPr marL="0" indent="0">
              <a:spcBef>
                <a:spcPts val="600"/>
              </a:spcBef>
              <a:buNone/>
            </a:pPr>
            <a:r>
              <a:rPr lang="fr-BE" sz="2000" dirty="0"/>
              <a:t>	4.2. Principes de prolongation				pg. 23</a:t>
            </a:r>
          </a:p>
          <a:p>
            <a:pPr marL="0" indent="0">
              <a:spcBef>
                <a:spcPts val="600"/>
              </a:spcBef>
              <a:buNone/>
            </a:pPr>
            <a:r>
              <a:rPr lang="fr-BE" sz="2000" dirty="0"/>
              <a:t>5. Méthodes de travail						pg. 29</a:t>
            </a:r>
          </a:p>
          <a:p>
            <a:pPr marL="0" indent="0">
              <a:spcBef>
                <a:spcPts val="600"/>
              </a:spcBef>
              <a:buNone/>
            </a:pPr>
            <a:r>
              <a:rPr lang="fr-BE" sz="2000" dirty="0"/>
              <a:t>6. Jours de travail					      		pg. 30</a:t>
            </a:r>
          </a:p>
          <a:p>
            <a:pPr marL="0" indent="0">
              <a:spcBef>
                <a:spcPts val="600"/>
              </a:spcBef>
              <a:buNone/>
            </a:pPr>
            <a:r>
              <a:rPr lang="fr-BE" sz="2000" dirty="0"/>
              <a:t>7.  Jours assimilés							pg. 31</a:t>
            </a:r>
          </a:p>
          <a:p>
            <a:pPr marL="0" indent="0">
              <a:spcBef>
                <a:spcPts val="600"/>
              </a:spcBef>
              <a:buNone/>
            </a:pPr>
            <a:r>
              <a:rPr lang="fr-BE" sz="2000" dirty="0"/>
              <a:t>8.  La DMFA 							pg. 34</a:t>
            </a:r>
          </a:p>
          <a:p>
            <a:pPr marL="544513" indent="0">
              <a:spcBef>
                <a:spcPts val="600"/>
              </a:spcBef>
              <a:buNone/>
            </a:pPr>
            <a:r>
              <a:rPr lang="fr-BE" sz="2000" dirty="0"/>
              <a:t>8.1. Calcul DMFA						pg. 40</a:t>
            </a:r>
          </a:p>
          <a:p>
            <a:pPr marL="552450" indent="-7938">
              <a:spcBef>
                <a:spcPts val="600"/>
              </a:spcBef>
              <a:buNone/>
            </a:pPr>
            <a:r>
              <a:rPr lang="fr-BE" sz="2000" dirty="0"/>
              <a:t>8.2. Période de référence débutant dans le trimestre ONSS	pg. 42</a:t>
            </a:r>
          </a:p>
          <a:p>
            <a:pPr marL="1287462" lvl="1">
              <a:spcBef>
                <a:spcPts val="600"/>
              </a:spcBef>
            </a:pPr>
            <a:r>
              <a:rPr lang="fr-BE" sz="1600" dirty="0"/>
              <a:t>Principe de la situation utile des prestations			pg. 42</a:t>
            </a:r>
          </a:p>
          <a:p>
            <a:pPr marL="1287462" lvl="1">
              <a:spcBef>
                <a:spcPts val="600"/>
              </a:spcBef>
            </a:pPr>
            <a:r>
              <a:rPr lang="fr-BE" sz="1600" dirty="0"/>
              <a:t>Limitation						pg. 43</a:t>
            </a:r>
          </a:p>
          <a:p>
            <a:pPr marL="544512" indent="0">
              <a:spcBef>
                <a:spcPts val="600"/>
              </a:spcBef>
              <a:buNone/>
            </a:pPr>
            <a:r>
              <a:rPr lang="fr-BE" sz="2000" dirty="0"/>
              <a:t>8.3. Période de référence dans le dernier trimestre ONSS		pg. 45</a:t>
            </a:r>
          </a:p>
          <a:p>
            <a:pPr>
              <a:spcBef>
                <a:spcPts val="600"/>
              </a:spcBef>
              <a:buNone/>
            </a:pPr>
            <a:r>
              <a:rPr lang="fr-BE" sz="2400" dirty="0"/>
              <a:t>					</a:t>
            </a:r>
            <a:endParaRPr lang="fr-BE" sz="1800" dirty="0"/>
          </a:p>
          <a:p>
            <a:pPr>
              <a:spcBef>
                <a:spcPts val="0"/>
              </a:spcBef>
              <a:buNone/>
            </a:pPr>
            <a:endParaRPr lang="fr-BE" sz="2200" dirty="0"/>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3</a:t>
            </a:fld>
            <a:endParaRPr lang="fr-FR" dirty="0"/>
          </a:p>
        </p:txBody>
      </p:sp>
    </p:spTree>
    <p:extLst>
      <p:ext uri="{BB962C8B-B14F-4D97-AF65-F5344CB8AC3E}">
        <p14:creationId xmlns:p14="http://schemas.microsoft.com/office/powerpoint/2010/main" val="19076126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re 13"/>
          <p:cNvSpPr>
            <a:spLocks noGrp="1"/>
          </p:cNvSpPr>
          <p:nvPr>
            <p:ph type="title"/>
          </p:nvPr>
        </p:nvSpPr>
        <p:spPr/>
        <p:txBody>
          <a:bodyPr>
            <a:normAutofit/>
          </a:bodyPr>
          <a:lstStyle/>
          <a:p>
            <a:r>
              <a:rPr lang="fr-BE" sz="4000" b="1" i="1" dirty="0">
                <a:solidFill>
                  <a:srgbClr val="C00000"/>
                </a:solidFill>
              </a:rPr>
              <a:t>Table des matières</a:t>
            </a:r>
            <a:endParaRPr lang="fr-FR" sz="4000" b="1" i="1" dirty="0">
              <a:solidFill>
                <a:srgbClr val="C00000"/>
              </a:solidFill>
            </a:endParaRPr>
          </a:p>
        </p:txBody>
      </p:sp>
      <p:sp>
        <p:nvSpPr>
          <p:cNvPr id="15" name="Espace réservé du contenu 14"/>
          <p:cNvSpPr>
            <a:spLocks noGrp="1"/>
          </p:cNvSpPr>
          <p:nvPr>
            <p:ph idx="1"/>
          </p:nvPr>
        </p:nvSpPr>
        <p:spPr/>
        <p:txBody>
          <a:bodyPr>
            <a:noAutofit/>
          </a:bodyPr>
          <a:lstStyle/>
          <a:p>
            <a:pPr>
              <a:spcBef>
                <a:spcPts val="600"/>
              </a:spcBef>
              <a:buNone/>
            </a:pPr>
            <a:r>
              <a:rPr lang="fr-BE" sz="2000" dirty="0"/>
              <a:t>	8.4. Arrondi							pg. 47</a:t>
            </a:r>
          </a:p>
          <a:p>
            <a:pPr>
              <a:spcBef>
                <a:spcPts val="600"/>
              </a:spcBef>
              <a:buNone/>
            </a:pPr>
            <a:r>
              <a:rPr lang="fr-BE" sz="2000" dirty="0"/>
              <a:t>9. Horizon &amp; DMFA						pg. 48</a:t>
            </a:r>
          </a:p>
          <a:p>
            <a:pPr>
              <a:spcBef>
                <a:spcPts val="600"/>
              </a:spcBef>
              <a:buNone/>
            </a:pPr>
            <a:r>
              <a:rPr lang="fr-BE" sz="2000" dirty="0"/>
              <a:t>10.  Composition du dossier					pg. 49</a:t>
            </a:r>
          </a:p>
          <a:p>
            <a:pPr>
              <a:spcBef>
                <a:spcPts val="600"/>
              </a:spcBef>
              <a:buNone/>
            </a:pPr>
            <a:r>
              <a:rPr lang="fr-BE" sz="2000" dirty="0"/>
              <a:t>11.  Types C9							pg. 50</a:t>
            </a:r>
          </a:p>
          <a:p>
            <a:pPr>
              <a:spcBef>
                <a:spcPts val="600"/>
              </a:spcBef>
              <a:buNone/>
            </a:pPr>
            <a:r>
              <a:rPr lang="fr-BE" sz="2000" dirty="0"/>
              <a:t>12. Délai d’introduction						pg. 51</a:t>
            </a:r>
          </a:p>
          <a:p>
            <a:pPr>
              <a:spcBef>
                <a:spcPts val="600"/>
              </a:spcBef>
              <a:buNone/>
            </a:pPr>
            <a:r>
              <a:rPr lang="fr-BE" sz="2000" dirty="0"/>
              <a:t>13. Calcul préavis							pg. 54</a:t>
            </a:r>
          </a:p>
          <a:p>
            <a:pPr>
              <a:spcBef>
                <a:spcPts val="0"/>
              </a:spcBef>
              <a:buNone/>
            </a:pPr>
            <a:endParaRPr lang="fr-BE" sz="2200" dirty="0"/>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4</a:t>
            </a:fld>
            <a:endParaRPr lang="fr-FR" dirty="0"/>
          </a:p>
        </p:txBody>
      </p:sp>
    </p:spTree>
    <p:extLst>
      <p:ext uri="{BB962C8B-B14F-4D97-AF65-F5344CB8AC3E}">
        <p14:creationId xmlns:p14="http://schemas.microsoft.com/office/powerpoint/2010/main" val="41781221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D66032-C513-406F-8087-A28EC6F3A687}"/>
              </a:ext>
            </a:extLst>
          </p:cNvPr>
          <p:cNvSpPr>
            <a:spLocks noGrp="1"/>
          </p:cNvSpPr>
          <p:nvPr>
            <p:ph type="title"/>
          </p:nvPr>
        </p:nvSpPr>
        <p:spPr/>
        <p:txBody>
          <a:bodyPr>
            <a:normAutofit/>
          </a:bodyPr>
          <a:lstStyle/>
          <a:p>
            <a:r>
              <a:rPr lang="fr-BE" sz="4000" b="1" dirty="0"/>
              <a:t>1. Définitions</a:t>
            </a:r>
          </a:p>
        </p:txBody>
      </p:sp>
      <p:graphicFrame>
        <p:nvGraphicFramePr>
          <p:cNvPr id="5" name="Tableau 5">
            <a:extLst>
              <a:ext uri="{FF2B5EF4-FFF2-40B4-BE49-F238E27FC236}">
                <a16:creationId xmlns:a16="http://schemas.microsoft.com/office/drawing/2014/main" id="{790CCBA8-88DE-4775-90EC-679FEDC6C107}"/>
              </a:ext>
            </a:extLst>
          </p:cNvPr>
          <p:cNvGraphicFramePr>
            <a:graphicFrameLocks noGrp="1"/>
          </p:cNvGraphicFramePr>
          <p:nvPr>
            <p:ph idx="1"/>
            <p:extLst>
              <p:ext uri="{D42A27DB-BD31-4B8C-83A1-F6EECF244321}">
                <p14:modId xmlns:p14="http://schemas.microsoft.com/office/powerpoint/2010/main" val="4202261408"/>
              </p:ext>
            </p:extLst>
          </p:nvPr>
        </p:nvGraphicFramePr>
        <p:xfrm>
          <a:off x="467544" y="1600200"/>
          <a:ext cx="8219256" cy="4876680"/>
        </p:xfrm>
        <a:graphic>
          <a:graphicData uri="http://schemas.openxmlformats.org/drawingml/2006/table">
            <a:tbl>
              <a:tblPr firstRow="1" bandRow="1">
                <a:tableStyleId>{EB344D84-9AFB-497E-A393-DC336BA19D2E}</a:tableStyleId>
              </a:tblPr>
              <a:tblGrid>
                <a:gridCol w="4104456">
                  <a:extLst>
                    <a:ext uri="{9D8B030D-6E8A-4147-A177-3AD203B41FA5}">
                      <a16:colId xmlns:a16="http://schemas.microsoft.com/office/drawing/2014/main" val="3723963624"/>
                    </a:ext>
                  </a:extLst>
                </a:gridCol>
                <a:gridCol w="4114800">
                  <a:extLst>
                    <a:ext uri="{9D8B030D-6E8A-4147-A177-3AD203B41FA5}">
                      <a16:colId xmlns:a16="http://schemas.microsoft.com/office/drawing/2014/main" val="1119925447"/>
                    </a:ext>
                  </a:extLst>
                </a:gridCol>
              </a:tblGrid>
              <a:tr h="563820">
                <a:tc>
                  <a:txBody>
                    <a:bodyPr/>
                    <a:lstStyle/>
                    <a:p>
                      <a:pPr algn="ctr"/>
                      <a:r>
                        <a:rPr lang="fr-BE" dirty="0"/>
                        <a:t>Chômeur temporaire</a:t>
                      </a:r>
                    </a:p>
                  </a:txBody>
                  <a:tcPr/>
                </a:tc>
                <a:tc>
                  <a:txBody>
                    <a:bodyPr/>
                    <a:lstStyle/>
                    <a:p>
                      <a:pPr algn="ctr"/>
                      <a:r>
                        <a:rPr lang="fr-BE" dirty="0"/>
                        <a:t>Chômeur complet</a:t>
                      </a:r>
                    </a:p>
                  </a:txBody>
                  <a:tcPr/>
                </a:tc>
                <a:extLst>
                  <a:ext uri="{0D108BD9-81ED-4DB2-BD59-A6C34878D82A}">
                    <a16:rowId xmlns:a16="http://schemas.microsoft.com/office/drawing/2014/main" val="2511333402"/>
                  </a:ext>
                </a:extLst>
              </a:tr>
              <a:tr h="3628510">
                <a:tc>
                  <a:txBody>
                    <a:bodyPr/>
                    <a:lstStyle/>
                    <a:p>
                      <a:r>
                        <a:rPr lang="fr-BE" sz="2400" dirty="0"/>
                        <a:t>Le chômeur temporaire est un travailleur dont l’exécution du contrat de travail qui le lie à l’employeur est temporairement suspendue (Art. 27,2°)</a:t>
                      </a:r>
                    </a:p>
                    <a:p>
                      <a:endParaRPr lang="fr-BE" sz="2400" dirty="0"/>
                    </a:p>
                  </a:txBody>
                  <a:tcPr/>
                </a:tc>
                <a:tc>
                  <a:txBody>
                    <a:bodyPr/>
                    <a:lstStyle/>
                    <a:p>
                      <a:pPr marL="457200" lvl="1" indent="-457200">
                        <a:spcBef>
                          <a:spcPts val="0"/>
                        </a:spcBef>
                        <a:buFont typeface="Wingdings" pitchFamily="2" charset="2"/>
                        <a:buChar char="§"/>
                      </a:pPr>
                      <a:r>
                        <a:rPr lang="fr-FR" sz="2400" dirty="0"/>
                        <a:t>Le chômeur qui n’est pas lié par un contrat de travail (art. 27, 1°)</a:t>
                      </a:r>
                    </a:p>
                    <a:p>
                      <a:pPr marL="0" lvl="1" indent="0">
                        <a:spcBef>
                          <a:spcPts val="0"/>
                        </a:spcBef>
                        <a:buNone/>
                      </a:pPr>
                      <a:endParaRPr lang="fr-FR" sz="2400" dirty="0"/>
                    </a:p>
                    <a:p>
                      <a:pPr marL="457200" lvl="1" indent="-457200">
                        <a:spcBef>
                          <a:spcPts val="0"/>
                        </a:spcBef>
                        <a:buFont typeface="Wingdings" pitchFamily="2" charset="2"/>
                        <a:buChar char="§"/>
                      </a:pPr>
                      <a:r>
                        <a:rPr lang="fr-BE" sz="2400" dirty="0"/>
                        <a:t>Le travailleur à temps partiel (art. 29), pour les heures pendant lesquelles il ne travaille pas habituellement. (Art. 27,1°)</a:t>
                      </a:r>
                    </a:p>
                    <a:p>
                      <a:endParaRPr lang="fr-BE" sz="2400" dirty="0"/>
                    </a:p>
                  </a:txBody>
                  <a:tcPr/>
                </a:tc>
                <a:extLst>
                  <a:ext uri="{0D108BD9-81ED-4DB2-BD59-A6C34878D82A}">
                    <a16:rowId xmlns:a16="http://schemas.microsoft.com/office/drawing/2014/main" val="2929967182"/>
                  </a:ext>
                </a:extLst>
              </a:tr>
              <a:tr h="563820">
                <a:tc>
                  <a:txBody>
                    <a:bodyPr/>
                    <a:lstStyle/>
                    <a:p>
                      <a:pPr algn="ctr"/>
                      <a:r>
                        <a:rPr lang="fr-BE" dirty="0"/>
                        <a:t>Préfixe 02/ , 04/, 06/ , 57/ , 58/</a:t>
                      </a:r>
                      <a:endParaRPr lang="fr-BE" b="1" dirty="0"/>
                    </a:p>
                  </a:txBody>
                  <a:tcPr/>
                </a:tc>
                <a:tc>
                  <a:txBody>
                    <a:bodyPr/>
                    <a:lstStyle/>
                    <a:p>
                      <a:pPr algn="ctr"/>
                      <a:r>
                        <a:rPr lang="fr-BE" dirty="0"/>
                        <a:t>Préfixe 01/ , 03/, 57/, 58/ </a:t>
                      </a:r>
                      <a:endParaRPr lang="fr-BE" b="1" dirty="0"/>
                    </a:p>
                  </a:txBody>
                  <a:tcPr/>
                </a:tc>
                <a:extLst>
                  <a:ext uri="{0D108BD9-81ED-4DB2-BD59-A6C34878D82A}">
                    <a16:rowId xmlns:a16="http://schemas.microsoft.com/office/drawing/2014/main" val="60022582"/>
                  </a:ext>
                </a:extLst>
              </a:tr>
            </a:tbl>
          </a:graphicData>
        </a:graphic>
      </p:graphicFrame>
      <p:sp>
        <p:nvSpPr>
          <p:cNvPr id="4" name="Espace réservé du numéro de diapositive 3">
            <a:extLst>
              <a:ext uri="{FF2B5EF4-FFF2-40B4-BE49-F238E27FC236}">
                <a16:creationId xmlns:a16="http://schemas.microsoft.com/office/drawing/2014/main" id="{E0BAB2A3-295A-4CFE-8A14-A07C2016E860}"/>
              </a:ext>
            </a:extLst>
          </p:cNvPr>
          <p:cNvSpPr>
            <a:spLocks noGrp="1"/>
          </p:cNvSpPr>
          <p:nvPr>
            <p:ph type="sldNum" sz="quarter" idx="12"/>
          </p:nvPr>
        </p:nvSpPr>
        <p:spPr/>
        <p:txBody>
          <a:bodyPr/>
          <a:lstStyle/>
          <a:p>
            <a:fld id="{55E9056B-6A30-4F99-BDE9-C450E66AE125}" type="slidenum">
              <a:rPr lang="fr-FR" smtClean="0"/>
              <a:pPr/>
              <a:t>5</a:t>
            </a:fld>
            <a:endParaRPr lang="fr-FR" dirty="0"/>
          </a:p>
        </p:txBody>
      </p:sp>
    </p:spTree>
    <p:extLst>
      <p:ext uri="{BB962C8B-B14F-4D97-AF65-F5344CB8AC3E}">
        <p14:creationId xmlns:p14="http://schemas.microsoft.com/office/powerpoint/2010/main" val="10967149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804B28-8455-4616-959B-AB200D7F1BE4}"/>
              </a:ext>
            </a:extLst>
          </p:cNvPr>
          <p:cNvSpPr>
            <a:spLocks noGrp="1"/>
          </p:cNvSpPr>
          <p:nvPr>
            <p:ph type="title"/>
          </p:nvPr>
        </p:nvSpPr>
        <p:spPr/>
        <p:txBody>
          <a:bodyPr/>
          <a:lstStyle/>
          <a:p>
            <a:r>
              <a:rPr lang="fr-BE" b="1" dirty="0"/>
              <a:t>1</a:t>
            </a:r>
            <a:r>
              <a:rPr lang="fr-BE" sz="4000" b="1" dirty="0"/>
              <a:t>. Définitions</a:t>
            </a:r>
          </a:p>
        </p:txBody>
      </p:sp>
      <p:sp>
        <p:nvSpPr>
          <p:cNvPr id="4" name="Espace réservé du numéro de diapositive 3">
            <a:extLst>
              <a:ext uri="{FF2B5EF4-FFF2-40B4-BE49-F238E27FC236}">
                <a16:creationId xmlns:a16="http://schemas.microsoft.com/office/drawing/2014/main" id="{2D20316E-421E-4B8D-8846-BDC93E9558D3}"/>
              </a:ext>
            </a:extLst>
          </p:cNvPr>
          <p:cNvSpPr>
            <a:spLocks noGrp="1"/>
          </p:cNvSpPr>
          <p:nvPr>
            <p:ph type="sldNum" sz="quarter" idx="12"/>
          </p:nvPr>
        </p:nvSpPr>
        <p:spPr/>
        <p:txBody>
          <a:bodyPr/>
          <a:lstStyle/>
          <a:p>
            <a:fld id="{55E9056B-6A30-4F99-BDE9-C450E66AE125}" type="slidenum">
              <a:rPr lang="fr-FR" smtClean="0"/>
              <a:pPr/>
              <a:t>6</a:t>
            </a:fld>
            <a:endParaRPr lang="fr-FR" dirty="0"/>
          </a:p>
        </p:txBody>
      </p:sp>
      <p:sp>
        <p:nvSpPr>
          <p:cNvPr id="5" name="Rectangle 4">
            <a:extLst>
              <a:ext uri="{FF2B5EF4-FFF2-40B4-BE49-F238E27FC236}">
                <a16:creationId xmlns:a16="http://schemas.microsoft.com/office/drawing/2014/main" id="{8DC5A522-AC41-4FDD-AC29-EA1A240F8B02}"/>
              </a:ext>
            </a:extLst>
          </p:cNvPr>
          <p:cNvSpPr/>
          <p:nvPr/>
        </p:nvSpPr>
        <p:spPr>
          <a:xfrm>
            <a:off x="2523347" y="1686302"/>
            <a:ext cx="1584176" cy="792088"/>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Chômage complet</a:t>
            </a:r>
          </a:p>
        </p:txBody>
      </p:sp>
      <p:cxnSp>
        <p:nvCxnSpPr>
          <p:cNvPr id="7" name="Connecteur droit avec flèche 6">
            <a:extLst>
              <a:ext uri="{FF2B5EF4-FFF2-40B4-BE49-F238E27FC236}">
                <a16:creationId xmlns:a16="http://schemas.microsoft.com/office/drawing/2014/main" id="{615B7B61-A250-454B-BDB0-7542A12989F1}"/>
              </a:ext>
            </a:extLst>
          </p:cNvPr>
          <p:cNvCxnSpPr>
            <a:cxnSpLocks/>
            <a:endCxn id="13" idx="0"/>
          </p:cNvCxnSpPr>
          <p:nvPr/>
        </p:nvCxnSpPr>
        <p:spPr>
          <a:xfrm flipH="1">
            <a:off x="2015716" y="2492896"/>
            <a:ext cx="1315952" cy="5147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Connecteur droit avec flèche 7">
            <a:extLst>
              <a:ext uri="{FF2B5EF4-FFF2-40B4-BE49-F238E27FC236}">
                <a16:creationId xmlns:a16="http://schemas.microsoft.com/office/drawing/2014/main" id="{B539D483-E36C-4935-9EE5-36E8BF6C813E}"/>
              </a:ext>
            </a:extLst>
          </p:cNvPr>
          <p:cNvCxnSpPr>
            <a:cxnSpLocks/>
            <a:endCxn id="14" idx="0"/>
          </p:cNvCxnSpPr>
          <p:nvPr/>
        </p:nvCxnSpPr>
        <p:spPr>
          <a:xfrm>
            <a:off x="3315435" y="2492896"/>
            <a:ext cx="2595901" cy="514704"/>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0550E810-BABA-40A0-8EBF-74CDFAF33EB8}"/>
              </a:ext>
            </a:extLst>
          </p:cNvPr>
          <p:cNvSpPr/>
          <p:nvPr/>
        </p:nvSpPr>
        <p:spPr>
          <a:xfrm>
            <a:off x="755576" y="3007600"/>
            <a:ext cx="2520280" cy="637424"/>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Chômage complet sur base des études</a:t>
            </a:r>
          </a:p>
        </p:txBody>
      </p:sp>
      <p:sp>
        <p:nvSpPr>
          <p:cNvPr id="14" name="Rectangle 13">
            <a:extLst>
              <a:ext uri="{FF2B5EF4-FFF2-40B4-BE49-F238E27FC236}">
                <a16:creationId xmlns:a16="http://schemas.microsoft.com/office/drawing/2014/main" id="{A07BA527-7BEB-4FC8-B302-3B724596E41D}"/>
              </a:ext>
            </a:extLst>
          </p:cNvPr>
          <p:cNvSpPr/>
          <p:nvPr/>
        </p:nvSpPr>
        <p:spPr>
          <a:xfrm>
            <a:off x="4687200" y="3007600"/>
            <a:ext cx="2448272" cy="637424"/>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Chômage complet sur base d’un travail</a:t>
            </a:r>
          </a:p>
        </p:txBody>
      </p:sp>
      <p:sp>
        <p:nvSpPr>
          <p:cNvPr id="17" name="Rectangle 16">
            <a:extLst>
              <a:ext uri="{FF2B5EF4-FFF2-40B4-BE49-F238E27FC236}">
                <a16:creationId xmlns:a16="http://schemas.microsoft.com/office/drawing/2014/main" id="{53212F73-9B62-4D51-9517-F9BB6253E83C}"/>
              </a:ext>
            </a:extLst>
          </p:cNvPr>
          <p:cNvSpPr/>
          <p:nvPr/>
        </p:nvSpPr>
        <p:spPr>
          <a:xfrm>
            <a:off x="3203848" y="4249688"/>
            <a:ext cx="2520280" cy="802736"/>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Chômage complet sur base d’un « travail temps plein »</a:t>
            </a:r>
          </a:p>
        </p:txBody>
      </p:sp>
      <p:sp>
        <p:nvSpPr>
          <p:cNvPr id="18" name="Rectangle 17">
            <a:extLst>
              <a:ext uri="{FF2B5EF4-FFF2-40B4-BE49-F238E27FC236}">
                <a16:creationId xmlns:a16="http://schemas.microsoft.com/office/drawing/2014/main" id="{532DD34D-B551-43A3-8C4C-8AED5C962190}"/>
              </a:ext>
            </a:extLst>
          </p:cNvPr>
          <p:cNvSpPr/>
          <p:nvPr/>
        </p:nvSpPr>
        <p:spPr>
          <a:xfrm>
            <a:off x="6084168" y="4249688"/>
            <a:ext cx="2386607" cy="802736"/>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Chômage complet sur base d’un travail à temps partiel</a:t>
            </a:r>
          </a:p>
        </p:txBody>
      </p:sp>
      <p:cxnSp>
        <p:nvCxnSpPr>
          <p:cNvPr id="20" name="Connecteur droit avec flèche 19">
            <a:extLst>
              <a:ext uri="{FF2B5EF4-FFF2-40B4-BE49-F238E27FC236}">
                <a16:creationId xmlns:a16="http://schemas.microsoft.com/office/drawing/2014/main" id="{0D16D66A-4889-4F99-BDEA-67969BE62133}"/>
              </a:ext>
            </a:extLst>
          </p:cNvPr>
          <p:cNvCxnSpPr>
            <a:cxnSpLocks/>
          </p:cNvCxnSpPr>
          <p:nvPr/>
        </p:nvCxnSpPr>
        <p:spPr>
          <a:xfrm flipH="1">
            <a:off x="4355976" y="3645024"/>
            <a:ext cx="1461775" cy="5756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2">
            <a:extLst>
              <a:ext uri="{FF2B5EF4-FFF2-40B4-BE49-F238E27FC236}">
                <a16:creationId xmlns:a16="http://schemas.microsoft.com/office/drawing/2014/main" id="{241B0EF1-97E5-4F15-A858-35BD7A1AE5DC}"/>
              </a:ext>
            </a:extLst>
          </p:cNvPr>
          <p:cNvCxnSpPr/>
          <p:nvPr/>
        </p:nvCxnSpPr>
        <p:spPr>
          <a:xfrm>
            <a:off x="5817751" y="3645024"/>
            <a:ext cx="1490553" cy="5756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4">
            <a:extLst>
              <a:ext uri="{FF2B5EF4-FFF2-40B4-BE49-F238E27FC236}">
                <a16:creationId xmlns:a16="http://schemas.microsoft.com/office/drawing/2014/main" id="{74F500CF-4AC7-4527-A099-CB54495085C4}"/>
              </a:ext>
            </a:extLst>
          </p:cNvPr>
          <p:cNvCxnSpPr/>
          <p:nvPr/>
        </p:nvCxnSpPr>
        <p:spPr>
          <a:xfrm>
            <a:off x="4427984" y="5052424"/>
            <a:ext cx="0" cy="32079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Connecteur droit avec flèche 26">
            <a:extLst>
              <a:ext uri="{FF2B5EF4-FFF2-40B4-BE49-F238E27FC236}">
                <a16:creationId xmlns:a16="http://schemas.microsoft.com/office/drawing/2014/main" id="{E525F1F4-B765-4204-8B40-2401576BE87D}"/>
              </a:ext>
            </a:extLst>
          </p:cNvPr>
          <p:cNvCxnSpPr/>
          <p:nvPr/>
        </p:nvCxnSpPr>
        <p:spPr>
          <a:xfrm>
            <a:off x="7308304" y="5052424"/>
            <a:ext cx="0" cy="32079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63C78DFE-3820-4F2F-A905-3F728880E0B6}"/>
              </a:ext>
            </a:extLst>
          </p:cNvPr>
          <p:cNvSpPr/>
          <p:nvPr/>
        </p:nvSpPr>
        <p:spPr>
          <a:xfrm>
            <a:off x="3238666" y="5373216"/>
            <a:ext cx="2520269" cy="648072"/>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Code 01/75B11</a:t>
            </a:r>
          </a:p>
        </p:txBody>
      </p:sp>
      <p:sp>
        <p:nvSpPr>
          <p:cNvPr id="29" name="Rectangle 28">
            <a:extLst>
              <a:ext uri="{FF2B5EF4-FFF2-40B4-BE49-F238E27FC236}">
                <a16:creationId xmlns:a16="http://schemas.microsoft.com/office/drawing/2014/main" id="{C591F742-9EB4-4E27-ADB4-813F03C210CD}"/>
              </a:ext>
            </a:extLst>
          </p:cNvPr>
          <p:cNvSpPr/>
          <p:nvPr/>
        </p:nvSpPr>
        <p:spPr>
          <a:xfrm>
            <a:off x="6042203" y="5373216"/>
            <a:ext cx="2386593" cy="648072"/>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Code 03/75B11</a:t>
            </a:r>
          </a:p>
        </p:txBody>
      </p:sp>
      <p:cxnSp>
        <p:nvCxnSpPr>
          <p:cNvPr id="32" name="Connecteur droit avec flèche 31">
            <a:extLst>
              <a:ext uri="{FF2B5EF4-FFF2-40B4-BE49-F238E27FC236}">
                <a16:creationId xmlns:a16="http://schemas.microsoft.com/office/drawing/2014/main" id="{976CB327-EFAF-4676-BE3A-0D3169E9FD39}"/>
              </a:ext>
            </a:extLst>
          </p:cNvPr>
          <p:cNvCxnSpPr>
            <a:stCxn id="13" idx="2"/>
          </p:cNvCxnSpPr>
          <p:nvPr/>
        </p:nvCxnSpPr>
        <p:spPr>
          <a:xfrm>
            <a:off x="2015716" y="3645024"/>
            <a:ext cx="0" cy="172819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3AE271C6-A4B2-461B-B314-044C182BC33B}"/>
              </a:ext>
            </a:extLst>
          </p:cNvPr>
          <p:cNvSpPr/>
          <p:nvPr/>
        </p:nvSpPr>
        <p:spPr>
          <a:xfrm>
            <a:off x="755576" y="5373216"/>
            <a:ext cx="2130186" cy="637424"/>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Code 01/WB3</a:t>
            </a:r>
          </a:p>
        </p:txBody>
      </p:sp>
    </p:spTree>
    <p:extLst>
      <p:ext uri="{BB962C8B-B14F-4D97-AF65-F5344CB8AC3E}">
        <p14:creationId xmlns:p14="http://schemas.microsoft.com/office/powerpoint/2010/main" val="14267144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1000" fill="hold"/>
                                        <p:tgtEl>
                                          <p:spTgt spid="5"/>
                                        </p:tgtEl>
                                        <p:attrNameLst>
                                          <p:attrName>style.color</p:attrName>
                                        </p:attrNameLst>
                                      </p:cBhvr>
                                      <p:to>
                                        <a:srgbClr val="FF3300"/>
                                      </p:to>
                                    </p:animClr>
                                  </p:childTnLst>
                                </p:cTn>
                              </p:par>
                              <p:par>
                                <p:cTn id="7" presetID="7" presetClass="emph" presetSubtype="2" fill="hold" nodeType="withEffect">
                                  <p:stCondLst>
                                    <p:cond delay="0"/>
                                  </p:stCondLst>
                                  <p:childTnLst>
                                    <p:animClr clrSpc="rgb" dir="cw">
                                      <p:cBhvr>
                                        <p:cTn id="8" dur="1000" fill="hold"/>
                                        <p:tgtEl>
                                          <p:spTgt spid="8"/>
                                        </p:tgtEl>
                                        <p:attrNameLst>
                                          <p:attrName>stroke.color</p:attrName>
                                        </p:attrNameLst>
                                      </p:cBhvr>
                                      <p:to>
                                        <a:srgbClr val="FF3300"/>
                                      </p:to>
                                    </p:animClr>
                                    <p:set>
                                      <p:cBhvr>
                                        <p:cTn id="9" dur="1000" fill="hold"/>
                                        <p:tgtEl>
                                          <p:spTgt spid="8"/>
                                        </p:tgtEl>
                                        <p:attrNameLst>
                                          <p:attrName>stroke.on</p:attrName>
                                        </p:attrNameLst>
                                      </p:cBhvr>
                                      <p:to>
                                        <p:strVal val="true"/>
                                      </p:to>
                                    </p:set>
                                  </p:childTnLst>
                                </p:cTn>
                              </p:par>
                              <p:par>
                                <p:cTn id="10" presetID="3" presetClass="emph" presetSubtype="2" fill="hold" nodeType="withEffect">
                                  <p:stCondLst>
                                    <p:cond delay="0"/>
                                  </p:stCondLst>
                                  <p:childTnLst>
                                    <p:animClr clrSpc="rgb" dir="cw">
                                      <p:cBhvr override="childStyle">
                                        <p:cTn id="11" dur="1000" fill="hold"/>
                                        <p:tgtEl>
                                          <p:spTgt spid="14">
                                            <p:txEl>
                                              <p:pRg st="0" end="0"/>
                                            </p:txEl>
                                          </p:spTgt>
                                        </p:tgtEl>
                                        <p:attrNameLst>
                                          <p:attrName>style.color</p:attrName>
                                        </p:attrNameLst>
                                      </p:cBhvr>
                                      <p:to>
                                        <a:srgbClr val="FF3300"/>
                                      </p:to>
                                    </p:animClr>
                                  </p:childTnLst>
                                </p:cTn>
                              </p:par>
                              <p:par>
                                <p:cTn id="12" presetID="7" presetClass="emph" presetSubtype="2" fill="hold" nodeType="withEffect">
                                  <p:stCondLst>
                                    <p:cond delay="0"/>
                                  </p:stCondLst>
                                  <p:childTnLst>
                                    <p:animClr clrSpc="rgb" dir="cw">
                                      <p:cBhvr>
                                        <p:cTn id="13" dur="1000" fill="hold"/>
                                        <p:tgtEl>
                                          <p:spTgt spid="20"/>
                                        </p:tgtEl>
                                        <p:attrNameLst>
                                          <p:attrName>stroke.color</p:attrName>
                                        </p:attrNameLst>
                                      </p:cBhvr>
                                      <p:to>
                                        <a:srgbClr val="FF3300"/>
                                      </p:to>
                                    </p:animClr>
                                    <p:set>
                                      <p:cBhvr>
                                        <p:cTn id="14" dur="1000" fill="hold"/>
                                        <p:tgtEl>
                                          <p:spTgt spid="20"/>
                                        </p:tgtEl>
                                        <p:attrNameLst>
                                          <p:attrName>stroke.on</p:attrName>
                                        </p:attrNameLst>
                                      </p:cBhvr>
                                      <p:to>
                                        <p:strVal val="true"/>
                                      </p:to>
                                    </p:set>
                                  </p:childTnLst>
                                </p:cTn>
                              </p:par>
                              <p:par>
                                <p:cTn id="15" presetID="3" presetClass="emph" presetSubtype="2" fill="hold" nodeType="withEffect">
                                  <p:stCondLst>
                                    <p:cond delay="0"/>
                                  </p:stCondLst>
                                  <p:childTnLst>
                                    <p:animClr clrSpc="rgb" dir="cw">
                                      <p:cBhvr override="childStyle">
                                        <p:cTn id="16" dur="1000" fill="hold"/>
                                        <p:tgtEl>
                                          <p:spTgt spid="17">
                                            <p:txEl>
                                              <p:pRg st="0" end="0"/>
                                            </p:txEl>
                                          </p:spTgt>
                                        </p:tgtEl>
                                        <p:attrNameLst>
                                          <p:attrName>style.color</p:attrName>
                                        </p:attrNameLst>
                                      </p:cBhvr>
                                      <p:to>
                                        <a:srgbClr val="FF3300"/>
                                      </p:to>
                                    </p:animClr>
                                  </p:childTnLst>
                                </p:cTn>
                              </p:par>
                              <p:par>
                                <p:cTn id="17" presetID="7" presetClass="emph" presetSubtype="2" fill="hold" nodeType="withEffect">
                                  <p:stCondLst>
                                    <p:cond delay="0"/>
                                  </p:stCondLst>
                                  <p:childTnLst>
                                    <p:animClr clrSpc="rgb" dir="cw">
                                      <p:cBhvr>
                                        <p:cTn id="18" dur="1000" fill="hold"/>
                                        <p:tgtEl>
                                          <p:spTgt spid="25"/>
                                        </p:tgtEl>
                                        <p:attrNameLst>
                                          <p:attrName>stroke.color</p:attrName>
                                        </p:attrNameLst>
                                      </p:cBhvr>
                                      <p:to>
                                        <a:srgbClr val="FF3300"/>
                                      </p:to>
                                    </p:animClr>
                                    <p:set>
                                      <p:cBhvr>
                                        <p:cTn id="19" dur="1000" fill="hold"/>
                                        <p:tgtEl>
                                          <p:spTgt spid="25"/>
                                        </p:tgtEl>
                                        <p:attrNameLst>
                                          <p:attrName>stroke.on</p:attrName>
                                        </p:attrNameLst>
                                      </p:cBhvr>
                                      <p:to>
                                        <p:strVal val="true"/>
                                      </p:to>
                                    </p:set>
                                  </p:childTnLst>
                                </p:cTn>
                              </p:par>
                              <p:par>
                                <p:cTn id="20" presetID="3" presetClass="emph" presetSubtype="2" fill="hold" nodeType="withEffect">
                                  <p:stCondLst>
                                    <p:cond delay="0"/>
                                  </p:stCondLst>
                                  <p:childTnLst>
                                    <p:animClr clrSpc="rgb" dir="cw">
                                      <p:cBhvr override="childStyle">
                                        <p:cTn id="21" dur="1000" fill="hold"/>
                                        <p:tgtEl>
                                          <p:spTgt spid="28">
                                            <p:txEl>
                                              <p:pRg st="0" end="0"/>
                                            </p:txEl>
                                          </p:spTgt>
                                        </p:tgtEl>
                                        <p:attrNameLst>
                                          <p:attrName>style.color</p:attrName>
                                        </p:attrNameLst>
                                      </p:cBhvr>
                                      <p:to>
                                        <a:srgbClr val="FF33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02DA11-5483-4DBB-8513-FD3930CAD44C}"/>
              </a:ext>
            </a:extLst>
          </p:cNvPr>
          <p:cNvSpPr>
            <a:spLocks noGrp="1"/>
          </p:cNvSpPr>
          <p:nvPr>
            <p:ph type="title"/>
          </p:nvPr>
        </p:nvSpPr>
        <p:spPr/>
        <p:txBody>
          <a:bodyPr/>
          <a:lstStyle/>
          <a:p>
            <a:r>
              <a:rPr lang="fr-BE" b="1" dirty="0"/>
              <a:t>1. </a:t>
            </a:r>
            <a:r>
              <a:rPr lang="fr-BE" sz="4000" b="1" dirty="0"/>
              <a:t>Définitions</a:t>
            </a:r>
          </a:p>
        </p:txBody>
      </p:sp>
      <p:sp>
        <p:nvSpPr>
          <p:cNvPr id="3" name="Espace réservé du contenu 2">
            <a:extLst>
              <a:ext uri="{FF2B5EF4-FFF2-40B4-BE49-F238E27FC236}">
                <a16:creationId xmlns:a16="http://schemas.microsoft.com/office/drawing/2014/main" id="{5B09F6E4-B351-45C1-AF1C-B37DA6D4FBF1}"/>
              </a:ext>
            </a:extLst>
          </p:cNvPr>
          <p:cNvSpPr>
            <a:spLocks noGrp="1"/>
          </p:cNvSpPr>
          <p:nvPr>
            <p:ph idx="1"/>
          </p:nvPr>
        </p:nvSpPr>
        <p:spPr/>
        <p:txBody>
          <a:bodyPr/>
          <a:lstStyle/>
          <a:p>
            <a:pPr marL="0" indent="0">
              <a:buNone/>
            </a:pPr>
            <a:endParaRPr lang="fr-BE" dirty="0"/>
          </a:p>
          <a:p>
            <a:pPr marL="0" indent="0">
              <a:buNone/>
            </a:pPr>
            <a:endParaRPr lang="fr-BE" dirty="0"/>
          </a:p>
          <a:p>
            <a:pPr marL="0" indent="0">
              <a:buNone/>
            </a:pPr>
            <a:endParaRPr lang="fr-BE" dirty="0"/>
          </a:p>
        </p:txBody>
      </p:sp>
      <p:sp>
        <p:nvSpPr>
          <p:cNvPr id="4" name="Espace réservé du numéro de diapositive 3">
            <a:extLst>
              <a:ext uri="{FF2B5EF4-FFF2-40B4-BE49-F238E27FC236}">
                <a16:creationId xmlns:a16="http://schemas.microsoft.com/office/drawing/2014/main" id="{E2333540-320D-4CA0-A949-EFC08C54BD2A}"/>
              </a:ext>
            </a:extLst>
          </p:cNvPr>
          <p:cNvSpPr>
            <a:spLocks noGrp="1"/>
          </p:cNvSpPr>
          <p:nvPr>
            <p:ph type="sldNum" sz="quarter" idx="12"/>
          </p:nvPr>
        </p:nvSpPr>
        <p:spPr/>
        <p:txBody>
          <a:bodyPr/>
          <a:lstStyle/>
          <a:p>
            <a:fld id="{55E9056B-6A30-4F99-BDE9-C450E66AE125}" type="slidenum">
              <a:rPr lang="fr-FR" smtClean="0"/>
              <a:pPr/>
              <a:t>7</a:t>
            </a:fld>
            <a:endParaRPr lang="fr-FR" dirty="0"/>
          </a:p>
        </p:txBody>
      </p:sp>
      <p:sp>
        <p:nvSpPr>
          <p:cNvPr id="5" name="Rectangle 4">
            <a:extLst>
              <a:ext uri="{FF2B5EF4-FFF2-40B4-BE49-F238E27FC236}">
                <a16:creationId xmlns:a16="http://schemas.microsoft.com/office/drawing/2014/main" id="{697927D4-5658-47BC-BFAF-673135E46028}"/>
              </a:ext>
            </a:extLst>
          </p:cNvPr>
          <p:cNvSpPr/>
          <p:nvPr/>
        </p:nvSpPr>
        <p:spPr>
          <a:xfrm>
            <a:off x="2250149" y="2132856"/>
            <a:ext cx="432048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5400" dirty="0">
                <a:solidFill>
                  <a:schemeClr val="tx1"/>
                </a:solidFill>
              </a:rPr>
              <a:t>01/75B11</a:t>
            </a:r>
          </a:p>
        </p:txBody>
      </p:sp>
      <p:cxnSp>
        <p:nvCxnSpPr>
          <p:cNvPr id="11" name="Connecteur droit avec flèche 10">
            <a:extLst>
              <a:ext uri="{FF2B5EF4-FFF2-40B4-BE49-F238E27FC236}">
                <a16:creationId xmlns:a16="http://schemas.microsoft.com/office/drawing/2014/main" id="{75DE8320-1D6F-4A26-A63C-60BCBF71232A}"/>
              </a:ext>
            </a:extLst>
          </p:cNvPr>
          <p:cNvCxnSpPr>
            <a:cxnSpLocks/>
            <a:stCxn id="19" idx="1"/>
          </p:cNvCxnSpPr>
          <p:nvPr/>
        </p:nvCxnSpPr>
        <p:spPr>
          <a:xfrm flipH="1">
            <a:off x="1915286" y="3232767"/>
            <a:ext cx="1462570" cy="87261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44D1116B-AD31-4062-BEB9-2C72A20875FC}"/>
              </a:ext>
            </a:extLst>
          </p:cNvPr>
          <p:cNvCxnSpPr>
            <a:cxnSpLocks/>
            <a:stCxn id="21" idx="1"/>
          </p:cNvCxnSpPr>
          <p:nvPr/>
        </p:nvCxnSpPr>
        <p:spPr>
          <a:xfrm flipH="1">
            <a:off x="3860427" y="3189915"/>
            <a:ext cx="456182" cy="91615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Connecteur droit avec flèche 15">
            <a:extLst>
              <a:ext uri="{FF2B5EF4-FFF2-40B4-BE49-F238E27FC236}">
                <a16:creationId xmlns:a16="http://schemas.microsoft.com/office/drawing/2014/main" id="{0306F834-52E6-4145-BA6C-8F3818ED12CB}"/>
              </a:ext>
            </a:extLst>
          </p:cNvPr>
          <p:cNvCxnSpPr>
            <a:cxnSpLocks/>
            <a:stCxn id="24" idx="1"/>
            <a:endCxn id="30" idx="0"/>
          </p:cNvCxnSpPr>
          <p:nvPr/>
        </p:nvCxnSpPr>
        <p:spPr>
          <a:xfrm>
            <a:off x="4896145" y="3189912"/>
            <a:ext cx="624800" cy="80893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Connecteur droit avec flèche 17">
            <a:extLst>
              <a:ext uri="{FF2B5EF4-FFF2-40B4-BE49-F238E27FC236}">
                <a16:creationId xmlns:a16="http://schemas.microsoft.com/office/drawing/2014/main" id="{9075C740-DFE6-4720-B847-59F625EED5D0}"/>
              </a:ext>
            </a:extLst>
          </p:cNvPr>
          <p:cNvCxnSpPr>
            <a:cxnSpLocks/>
            <a:stCxn id="26" idx="1"/>
          </p:cNvCxnSpPr>
          <p:nvPr/>
        </p:nvCxnSpPr>
        <p:spPr>
          <a:xfrm>
            <a:off x="5428910" y="3189915"/>
            <a:ext cx="1519352" cy="87261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Accolade ouvrante 18">
            <a:extLst>
              <a:ext uri="{FF2B5EF4-FFF2-40B4-BE49-F238E27FC236}">
                <a16:creationId xmlns:a16="http://schemas.microsoft.com/office/drawing/2014/main" id="{45263D68-48ED-4C2E-9E42-8913CE153652}"/>
              </a:ext>
            </a:extLst>
          </p:cNvPr>
          <p:cNvSpPr/>
          <p:nvPr/>
        </p:nvSpPr>
        <p:spPr>
          <a:xfrm rot="16200000">
            <a:off x="3288253" y="2835859"/>
            <a:ext cx="179205" cy="614610"/>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fr-BE" dirty="0"/>
          </a:p>
        </p:txBody>
      </p:sp>
      <p:sp>
        <p:nvSpPr>
          <p:cNvPr id="21" name="Accolade fermante 20">
            <a:extLst>
              <a:ext uri="{FF2B5EF4-FFF2-40B4-BE49-F238E27FC236}">
                <a16:creationId xmlns:a16="http://schemas.microsoft.com/office/drawing/2014/main" id="{AA781381-A011-4F37-B6DA-2BD3F21E2A3B}"/>
              </a:ext>
            </a:extLst>
          </p:cNvPr>
          <p:cNvSpPr/>
          <p:nvPr/>
        </p:nvSpPr>
        <p:spPr>
          <a:xfrm rot="5400000">
            <a:off x="4248215" y="2814215"/>
            <a:ext cx="136788" cy="614612"/>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fr-BE" dirty="0"/>
          </a:p>
        </p:txBody>
      </p:sp>
      <p:sp>
        <p:nvSpPr>
          <p:cNvPr id="24" name="Accolade fermante 23">
            <a:extLst>
              <a:ext uri="{FF2B5EF4-FFF2-40B4-BE49-F238E27FC236}">
                <a16:creationId xmlns:a16="http://schemas.microsoft.com/office/drawing/2014/main" id="{6D0F6A54-29F5-48B5-BCFD-102953BBC7D8}"/>
              </a:ext>
            </a:extLst>
          </p:cNvPr>
          <p:cNvSpPr/>
          <p:nvPr/>
        </p:nvSpPr>
        <p:spPr>
          <a:xfrm rot="5400000">
            <a:off x="4827753" y="2898202"/>
            <a:ext cx="136785" cy="446635"/>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fr-BE" dirty="0"/>
          </a:p>
        </p:txBody>
      </p:sp>
      <p:sp>
        <p:nvSpPr>
          <p:cNvPr id="26" name="Accolade fermante 25">
            <a:extLst>
              <a:ext uri="{FF2B5EF4-FFF2-40B4-BE49-F238E27FC236}">
                <a16:creationId xmlns:a16="http://schemas.microsoft.com/office/drawing/2014/main" id="{5C25BA9C-F89B-47BB-B0EA-F8E9A650421E}"/>
              </a:ext>
            </a:extLst>
          </p:cNvPr>
          <p:cNvSpPr/>
          <p:nvPr/>
        </p:nvSpPr>
        <p:spPr>
          <a:xfrm rot="5400000">
            <a:off x="5360516" y="2869493"/>
            <a:ext cx="136787" cy="504056"/>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fr-BE" dirty="0"/>
          </a:p>
        </p:txBody>
      </p:sp>
      <p:sp>
        <p:nvSpPr>
          <p:cNvPr id="28" name="ZoneTexte 27">
            <a:extLst>
              <a:ext uri="{FF2B5EF4-FFF2-40B4-BE49-F238E27FC236}">
                <a16:creationId xmlns:a16="http://schemas.microsoft.com/office/drawing/2014/main" id="{F7A96B92-098B-46C7-AF6E-DFF0BE8905F7}"/>
              </a:ext>
            </a:extLst>
          </p:cNvPr>
          <p:cNvSpPr txBox="1"/>
          <p:nvPr/>
        </p:nvSpPr>
        <p:spPr>
          <a:xfrm>
            <a:off x="1259632" y="4005064"/>
            <a:ext cx="1368152" cy="369332"/>
          </a:xfrm>
          <a:prstGeom prst="rect">
            <a:avLst/>
          </a:prstGeom>
          <a:noFill/>
        </p:spPr>
        <p:txBody>
          <a:bodyPr wrap="square" rtlCol="0">
            <a:spAutoFit/>
          </a:bodyPr>
          <a:lstStyle/>
          <a:p>
            <a:pPr algn="ctr"/>
            <a:r>
              <a:rPr lang="fr-BE" dirty="0"/>
              <a:t>Préfixe</a:t>
            </a:r>
          </a:p>
        </p:txBody>
      </p:sp>
      <p:sp>
        <p:nvSpPr>
          <p:cNvPr id="29" name="Rectangle 28">
            <a:extLst>
              <a:ext uri="{FF2B5EF4-FFF2-40B4-BE49-F238E27FC236}">
                <a16:creationId xmlns:a16="http://schemas.microsoft.com/office/drawing/2014/main" id="{BFB1351D-1933-42E9-833E-858BBD2CC6F5}"/>
              </a:ext>
            </a:extLst>
          </p:cNvPr>
          <p:cNvSpPr/>
          <p:nvPr/>
        </p:nvSpPr>
        <p:spPr>
          <a:xfrm>
            <a:off x="3203848" y="4005064"/>
            <a:ext cx="1224136" cy="6596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tabLst>
                <a:tab pos="892175" algn="l"/>
              </a:tabLst>
            </a:pPr>
            <a:r>
              <a:rPr lang="fr-BE" dirty="0">
                <a:solidFill>
                  <a:schemeClr val="tx1"/>
                </a:solidFill>
              </a:rPr>
              <a:t>Code chiffré</a:t>
            </a:r>
          </a:p>
        </p:txBody>
      </p:sp>
      <p:sp>
        <p:nvSpPr>
          <p:cNvPr id="30" name="Rectangle 29">
            <a:extLst>
              <a:ext uri="{FF2B5EF4-FFF2-40B4-BE49-F238E27FC236}">
                <a16:creationId xmlns:a16="http://schemas.microsoft.com/office/drawing/2014/main" id="{357B891C-2B5D-4292-B96B-331E4C00C4E7}"/>
              </a:ext>
            </a:extLst>
          </p:cNvPr>
          <p:cNvSpPr/>
          <p:nvPr/>
        </p:nvSpPr>
        <p:spPr>
          <a:xfrm>
            <a:off x="4910556" y="3998845"/>
            <a:ext cx="1220777" cy="6377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Situation familiale</a:t>
            </a:r>
          </a:p>
        </p:txBody>
      </p:sp>
      <p:sp>
        <p:nvSpPr>
          <p:cNvPr id="32" name="Rectangle 31">
            <a:extLst>
              <a:ext uri="{FF2B5EF4-FFF2-40B4-BE49-F238E27FC236}">
                <a16:creationId xmlns:a16="http://schemas.microsoft.com/office/drawing/2014/main" id="{CBF7DCB9-193D-4565-9D17-19D81DE44E99}"/>
              </a:ext>
            </a:extLst>
          </p:cNvPr>
          <p:cNvSpPr/>
          <p:nvPr/>
        </p:nvSpPr>
        <p:spPr>
          <a:xfrm>
            <a:off x="6116923" y="4048603"/>
            <a:ext cx="1728191" cy="5325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Période d’indemnisation</a:t>
            </a:r>
          </a:p>
        </p:txBody>
      </p:sp>
    </p:spTree>
    <p:extLst>
      <p:ext uri="{BB962C8B-B14F-4D97-AF65-F5344CB8AC3E}">
        <p14:creationId xmlns:p14="http://schemas.microsoft.com/office/powerpoint/2010/main" val="688107591"/>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grpId="0" nodeType="clickEffect">
                                  <p:stCondLst>
                                    <p:cond delay="0"/>
                                  </p:stCondLst>
                                  <p:childTnLst>
                                    <p:animClr clrSpc="rgb" dir="cw">
                                      <p:cBhvr>
                                        <p:cTn id="6" dur="1000" fill="hold"/>
                                        <p:tgtEl>
                                          <p:spTgt spid="19"/>
                                        </p:tgtEl>
                                        <p:attrNameLst>
                                          <p:attrName>stroke.color</p:attrName>
                                        </p:attrNameLst>
                                      </p:cBhvr>
                                      <p:to>
                                        <a:srgbClr val="FF0000"/>
                                      </p:to>
                                    </p:animClr>
                                    <p:set>
                                      <p:cBhvr>
                                        <p:cTn id="7" dur="1000" fill="hold"/>
                                        <p:tgtEl>
                                          <p:spTgt spid="19"/>
                                        </p:tgtEl>
                                        <p:attrNameLst>
                                          <p:attrName>stroke.on</p:attrName>
                                        </p:attrNameLst>
                                      </p:cBhvr>
                                      <p:to>
                                        <p:strVal val="true"/>
                                      </p:to>
                                    </p:set>
                                  </p:childTnLst>
                                </p:cTn>
                              </p:par>
                            </p:childTnLst>
                          </p:cTn>
                        </p:par>
                        <p:par>
                          <p:cTn id="8" fill="hold">
                            <p:stCondLst>
                              <p:cond delay="1000"/>
                            </p:stCondLst>
                            <p:childTnLst>
                              <p:par>
                                <p:cTn id="9" presetID="7" presetClass="emph" presetSubtype="2" fill="hold" nodeType="afterEffect">
                                  <p:stCondLst>
                                    <p:cond delay="0"/>
                                  </p:stCondLst>
                                  <p:childTnLst>
                                    <p:animClr clrSpc="rgb" dir="cw">
                                      <p:cBhvr>
                                        <p:cTn id="10" dur="1000" fill="hold"/>
                                        <p:tgtEl>
                                          <p:spTgt spid="11"/>
                                        </p:tgtEl>
                                        <p:attrNameLst>
                                          <p:attrName>stroke.color</p:attrName>
                                        </p:attrNameLst>
                                      </p:cBhvr>
                                      <p:to>
                                        <a:srgbClr val="FF0000"/>
                                      </p:to>
                                    </p:animClr>
                                    <p:set>
                                      <p:cBhvr>
                                        <p:cTn id="11" dur="1000" fill="hold"/>
                                        <p:tgtEl>
                                          <p:spTgt spid="11"/>
                                        </p:tgtEl>
                                        <p:attrNameLst>
                                          <p:attrName>stroke.on</p:attrName>
                                        </p:attrNameLst>
                                      </p:cBhvr>
                                      <p:to>
                                        <p:strVal val="true"/>
                                      </p:to>
                                    </p:set>
                                  </p:childTnLst>
                                </p:cTn>
                              </p:par>
                            </p:childTnLst>
                          </p:cTn>
                        </p:par>
                        <p:par>
                          <p:cTn id="12" fill="hold">
                            <p:stCondLst>
                              <p:cond delay="2000"/>
                            </p:stCondLst>
                            <p:childTnLst>
                              <p:par>
                                <p:cTn id="13" presetID="3" presetClass="emph" presetSubtype="2" fill="hold" grpId="0" nodeType="afterEffect">
                                  <p:stCondLst>
                                    <p:cond delay="0"/>
                                  </p:stCondLst>
                                  <p:childTnLst>
                                    <p:animClr clrSpc="rgb" dir="cw">
                                      <p:cBhvr override="childStyle">
                                        <p:cTn id="14" dur="1000" fill="hold"/>
                                        <p:tgtEl>
                                          <p:spTgt spid="28"/>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autoUpdateAnimBg="0"/>
      <p:bldP spid="2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E4C52E-D592-4CA4-95E8-8C7B1E4446FF}"/>
              </a:ext>
            </a:extLst>
          </p:cNvPr>
          <p:cNvSpPr>
            <a:spLocks noGrp="1"/>
          </p:cNvSpPr>
          <p:nvPr>
            <p:ph type="title"/>
          </p:nvPr>
        </p:nvSpPr>
        <p:spPr/>
        <p:txBody>
          <a:bodyPr>
            <a:normAutofit/>
          </a:bodyPr>
          <a:lstStyle/>
          <a:p>
            <a:r>
              <a:rPr lang="fr-BE" sz="4000" b="1" i="1" dirty="0"/>
              <a:t>2. Fixer le statut du travailleur</a:t>
            </a:r>
          </a:p>
        </p:txBody>
      </p:sp>
      <p:sp>
        <p:nvSpPr>
          <p:cNvPr id="3" name="Espace réservé du contenu 2">
            <a:extLst>
              <a:ext uri="{FF2B5EF4-FFF2-40B4-BE49-F238E27FC236}">
                <a16:creationId xmlns:a16="http://schemas.microsoft.com/office/drawing/2014/main" id="{99C9B578-FD5F-4B85-866B-DCD58473F3B7}"/>
              </a:ext>
            </a:extLst>
          </p:cNvPr>
          <p:cNvSpPr>
            <a:spLocks noGrp="1"/>
          </p:cNvSpPr>
          <p:nvPr>
            <p:ph idx="1"/>
          </p:nvPr>
        </p:nvSpPr>
        <p:spPr/>
        <p:txBody>
          <a:bodyPr>
            <a:normAutofit/>
          </a:bodyPr>
          <a:lstStyle/>
          <a:p>
            <a:pPr marL="0" indent="0">
              <a:buNone/>
            </a:pPr>
            <a:r>
              <a:rPr lang="fr-BE" dirty="0"/>
              <a:t>Pour bénéficier d’allocation de chômage complet sur base d’un travail temps plein, il faut  avoir été: </a:t>
            </a:r>
          </a:p>
          <a:p>
            <a:r>
              <a:rPr lang="fr-BE" b="1" dirty="0"/>
              <a:t>Soit travailleur à temps plein </a:t>
            </a:r>
            <a:r>
              <a:rPr lang="fr-BE" b="1" dirty="0">
                <a:solidFill>
                  <a:srgbClr val="C00000"/>
                </a:solidFill>
              </a:rPr>
              <a:t>(Art.28§1)</a:t>
            </a:r>
            <a:r>
              <a:rPr lang="fr-BE" dirty="0"/>
              <a:t>;</a:t>
            </a:r>
          </a:p>
          <a:p>
            <a:r>
              <a:rPr lang="fr-BE" b="1" dirty="0"/>
              <a:t>Soit travailleur assimilé à un temps plein </a:t>
            </a:r>
            <a:r>
              <a:rPr lang="fr-BE" b="1" dirty="0">
                <a:solidFill>
                  <a:srgbClr val="C00000"/>
                </a:solidFill>
              </a:rPr>
              <a:t>(Art. 28§2)</a:t>
            </a:r>
            <a:r>
              <a:rPr lang="fr-BE" dirty="0"/>
              <a:t>;</a:t>
            </a:r>
          </a:p>
          <a:p>
            <a:pPr marL="0" indent="0">
              <a:buNone/>
            </a:pPr>
            <a:r>
              <a:rPr lang="fr-BE" dirty="0"/>
              <a:t>Sur base de la </a:t>
            </a:r>
            <a:r>
              <a:rPr lang="fr-BE" b="1" dirty="0"/>
              <a:t>dernière occupation d’au moins une semaine, </a:t>
            </a:r>
          </a:p>
        </p:txBody>
      </p:sp>
      <p:sp>
        <p:nvSpPr>
          <p:cNvPr id="4" name="Espace réservé du numéro de diapositive 3">
            <a:extLst>
              <a:ext uri="{FF2B5EF4-FFF2-40B4-BE49-F238E27FC236}">
                <a16:creationId xmlns:a16="http://schemas.microsoft.com/office/drawing/2014/main" id="{B2AF77E7-984F-40A2-8944-B96D1F6E4397}"/>
              </a:ext>
            </a:extLst>
          </p:cNvPr>
          <p:cNvSpPr>
            <a:spLocks noGrp="1"/>
          </p:cNvSpPr>
          <p:nvPr>
            <p:ph type="sldNum" sz="quarter" idx="12"/>
          </p:nvPr>
        </p:nvSpPr>
        <p:spPr/>
        <p:txBody>
          <a:bodyPr/>
          <a:lstStyle/>
          <a:p>
            <a:fld id="{55E9056B-6A30-4F99-BDE9-C450E66AE125}" type="slidenum">
              <a:rPr lang="fr-FR" smtClean="0"/>
              <a:pPr/>
              <a:t>8</a:t>
            </a:fld>
            <a:endParaRPr lang="fr-FR" dirty="0"/>
          </a:p>
        </p:txBody>
      </p:sp>
    </p:spTree>
    <p:extLst>
      <p:ext uri="{BB962C8B-B14F-4D97-AF65-F5344CB8AC3E}">
        <p14:creationId xmlns:p14="http://schemas.microsoft.com/office/powerpoint/2010/main" val="32854203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57520C-DC83-4BE9-BB87-50A64C98AE44}"/>
              </a:ext>
            </a:extLst>
          </p:cNvPr>
          <p:cNvSpPr>
            <a:spLocks noGrp="1"/>
          </p:cNvSpPr>
          <p:nvPr>
            <p:ph type="title"/>
          </p:nvPr>
        </p:nvSpPr>
        <p:spPr/>
        <p:txBody>
          <a:bodyPr>
            <a:normAutofit/>
          </a:bodyPr>
          <a:lstStyle/>
          <a:p>
            <a:r>
              <a:rPr lang="fr-BE" sz="4000" b="1" i="1" dirty="0"/>
              <a:t>- Le travailleur à temps plein</a:t>
            </a:r>
          </a:p>
        </p:txBody>
      </p:sp>
      <p:sp>
        <p:nvSpPr>
          <p:cNvPr id="3" name="Espace réservé du contenu 2">
            <a:extLst>
              <a:ext uri="{FF2B5EF4-FFF2-40B4-BE49-F238E27FC236}">
                <a16:creationId xmlns:a16="http://schemas.microsoft.com/office/drawing/2014/main" id="{D194566C-9DB5-4C16-A069-941586B51D6C}"/>
              </a:ext>
            </a:extLst>
          </p:cNvPr>
          <p:cNvSpPr>
            <a:spLocks noGrp="1"/>
          </p:cNvSpPr>
          <p:nvPr>
            <p:ph idx="1"/>
          </p:nvPr>
        </p:nvSpPr>
        <p:spPr/>
        <p:txBody>
          <a:bodyPr/>
          <a:lstStyle/>
          <a:p>
            <a:pPr marL="0" indent="0">
              <a:buNone/>
            </a:pPr>
            <a:r>
              <a:rPr lang="fr-BE" b="1" dirty="0">
                <a:solidFill>
                  <a:srgbClr val="C00000"/>
                </a:solidFill>
                <a:cs typeface="Times New Roman" pitchFamily="18" charset="0"/>
              </a:rPr>
              <a:t>Art. 28§1 : </a:t>
            </a:r>
            <a:r>
              <a:rPr lang="fr-BE" dirty="0">
                <a:cs typeface="Times New Roman" pitchFamily="18" charset="0"/>
              </a:rPr>
              <a:t>L</a:t>
            </a:r>
            <a:r>
              <a:rPr lang="fr-FR" dirty="0">
                <a:cs typeface="Times New Roman" pitchFamily="18" charset="0"/>
              </a:rPr>
              <a:t>e travailleur dont la durée contractuelle normale de travail correspond à la </a:t>
            </a:r>
            <a:r>
              <a:rPr lang="fr-FR" b="1" dirty="0">
                <a:cs typeface="Times New Roman" pitchFamily="18" charset="0"/>
              </a:rPr>
              <a:t>durée de travail maximale </a:t>
            </a:r>
            <a:r>
              <a:rPr lang="fr-FR" dirty="0">
                <a:cs typeface="Times New Roman" pitchFamily="18" charset="0"/>
              </a:rPr>
              <a:t>en vigueur dans l'entreprise en vertu de la loi, </a:t>
            </a:r>
            <a:r>
              <a:rPr lang="fr-FR" b="1" i="1" dirty="0">
                <a:solidFill>
                  <a:srgbClr val="C00000"/>
                </a:solidFill>
                <a:cs typeface="Times New Roman" pitchFamily="18" charset="0"/>
              </a:rPr>
              <a:t>ET</a:t>
            </a:r>
            <a:r>
              <a:rPr lang="fr-FR" dirty="0">
                <a:solidFill>
                  <a:srgbClr val="FF0000"/>
                </a:solidFill>
                <a:cs typeface="Times New Roman" pitchFamily="18" charset="0"/>
              </a:rPr>
              <a:t> </a:t>
            </a:r>
            <a:r>
              <a:rPr lang="fr-FR" dirty="0">
                <a:cs typeface="Times New Roman" pitchFamily="18" charset="0"/>
              </a:rPr>
              <a:t>qui reçoit une </a:t>
            </a:r>
            <a:r>
              <a:rPr lang="fr-FR" b="1" dirty="0">
                <a:cs typeface="Times New Roman" pitchFamily="18" charset="0"/>
              </a:rPr>
              <a:t>rémunération correspondante </a:t>
            </a:r>
            <a:r>
              <a:rPr lang="fr-FR" dirty="0">
                <a:cs typeface="Times New Roman" pitchFamily="18" charset="0"/>
              </a:rPr>
              <a:t>à celle due pour </a:t>
            </a:r>
            <a:r>
              <a:rPr lang="fr-FR" b="1" dirty="0">
                <a:cs typeface="Times New Roman" pitchFamily="18" charset="0"/>
              </a:rPr>
              <a:t>une semaine complète de travail</a:t>
            </a:r>
            <a:r>
              <a:rPr lang="fr-FR" dirty="0">
                <a:cs typeface="Times New Roman" pitchFamily="18" charset="0"/>
              </a:rPr>
              <a:t>, est censé être un travailleur à temps plein. </a:t>
            </a:r>
            <a:endParaRPr lang="fr-FR" b="1" dirty="0"/>
          </a:p>
          <a:p>
            <a:pPr marL="0" indent="0">
              <a:buNone/>
            </a:pPr>
            <a:endParaRPr lang="fr-BE" dirty="0"/>
          </a:p>
        </p:txBody>
      </p:sp>
      <p:sp>
        <p:nvSpPr>
          <p:cNvPr id="4" name="Espace réservé du numéro de diapositive 3">
            <a:extLst>
              <a:ext uri="{FF2B5EF4-FFF2-40B4-BE49-F238E27FC236}">
                <a16:creationId xmlns:a16="http://schemas.microsoft.com/office/drawing/2014/main" id="{ED4980E5-062F-4FA8-89BA-1B47A62010F0}"/>
              </a:ext>
            </a:extLst>
          </p:cNvPr>
          <p:cNvSpPr>
            <a:spLocks noGrp="1"/>
          </p:cNvSpPr>
          <p:nvPr>
            <p:ph type="sldNum" sz="quarter" idx="12"/>
          </p:nvPr>
        </p:nvSpPr>
        <p:spPr/>
        <p:txBody>
          <a:bodyPr/>
          <a:lstStyle/>
          <a:p>
            <a:fld id="{55E9056B-6A30-4F99-BDE9-C450E66AE125}" type="slidenum">
              <a:rPr lang="fr-FR" smtClean="0"/>
              <a:pPr/>
              <a:t>9</a:t>
            </a:fld>
            <a:endParaRPr lang="fr-FR" dirty="0"/>
          </a:p>
        </p:txBody>
      </p:sp>
    </p:spTree>
    <p:extLst>
      <p:ext uri="{BB962C8B-B14F-4D97-AF65-F5344CB8AC3E}">
        <p14:creationId xmlns:p14="http://schemas.microsoft.com/office/powerpoint/2010/main" val="37399358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E01A57-A931-4D8F-BBCD-A6ABE7C4DEA4}"/>
              </a:ext>
            </a:extLst>
          </p:cNvPr>
          <p:cNvSpPr>
            <a:spLocks noGrp="1"/>
          </p:cNvSpPr>
          <p:nvPr>
            <p:ph type="title"/>
          </p:nvPr>
        </p:nvSpPr>
        <p:spPr/>
        <p:txBody>
          <a:bodyPr>
            <a:normAutofit/>
          </a:bodyPr>
          <a:lstStyle/>
          <a:p>
            <a:r>
              <a:rPr lang="fr-BE" b="1" i="1" dirty="0"/>
              <a:t>- Le travailleur à temps plein</a:t>
            </a:r>
            <a:endParaRPr lang="fr-BE" dirty="0"/>
          </a:p>
        </p:txBody>
      </p:sp>
      <p:sp>
        <p:nvSpPr>
          <p:cNvPr id="3" name="Espace réservé du contenu 2">
            <a:extLst>
              <a:ext uri="{FF2B5EF4-FFF2-40B4-BE49-F238E27FC236}">
                <a16:creationId xmlns:a16="http://schemas.microsoft.com/office/drawing/2014/main" id="{69A1FC12-C61A-4562-9E7B-E44C21842284}"/>
              </a:ext>
            </a:extLst>
          </p:cNvPr>
          <p:cNvSpPr>
            <a:spLocks noGrp="1"/>
          </p:cNvSpPr>
          <p:nvPr>
            <p:ph idx="1"/>
          </p:nvPr>
        </p:nvSpPr>
        <p:spPr/>
        <p:txBody>
          <a:bodyPr/>
          <a:lstStyle/>
          <a:p>
            <a:pPr marL="0" indent="0">
              <a:buNone/>
            </a:pPr>
            <a:endParaRPr lang="fr-BE" dirty="0"/>
          </a:p>
          <a:p>
            <a:pPr marL="0" indent="0">
              <a:buNone/>
            </a:pPr>
            <a:r>
              <a:rPr lang="fr-BE" dirty="0"/>
              <a:t>→ 2 conditions cumulatives:</a:t>
            </a:r>
          </a:p>
          <a:p>
            <a:pPr marL="0" indent="0">
              <a:buNone/>
            </a:pPr>
            <a:endParaRPr lang="fr-BE" dirty="0"/>
          </a:p>
          <a:p>
            <a:r>
              <a:rPr lang="fr-BE" dirty="0"/>
              <a:t> </a:t>
            </a:r>
            <a:r>
              <a:rPr lang="fr-BE" b="1" dirty="0"/>
              <a:t>Q = S ou Q/S = 1</a:t>
            </a:r>
          </a:p>
          <a:p>
            <a:r>
              <a:rPr lang="fr-BE" b="1" dirty="0"/>
              <a:t>Rémunération « suffisante » </a:t>
            </a:r>
            <a:r>
              <a:rPr lang="fr-BE" dirty="0"/>
              <a:t>: Au sens de la réglementation chômage, le salaire ≥ salaire de référence (</a:t>
            </a:r>
            <a:r>
              <a:rPr lang="fr-BE" b="1" dirty="0"/>
              <a:t>1916,70 euros bruts </a:t>
            </a:r>
            <a:r>
              <a:rPr lang="fr-BE" dirty="0"/>
              <a:t>– barèmes 01.11.2022)</a:t>
            </a:r>
          </a:p>
        </p:txBody>
      </p:sp>
      <p:sp>
        <p:nvSpPr>
          <p:cNvPr id="4" name="Espace réservé du numéro de diapositive 3">
            <a:extLst>
              <a:ext uri="{FF2B5EF4-FFF2-40B4-BE49-F238E27FC236}">
                <a16:creationId xmlns:a16="http://schemas.microsoft.com/office/drawing/2014/main" id="{09312BDE-DD4A-400B-85CE-F45CE41AB7BA}"/>
              </a:ext>
            </a:extLst>
          </p:cNvPr>
          <p:cNvSpPr>
            <a:spLocks noGrp="1"/>
          </p:cNvSpPr>
          <p:nvPr>
            <p:ph type="sldNum" sz="quarter" idx="12"/>
          </p:nvPr>
        </p:nvSpPr>
        <p:spPr/>
        <p:txBody>
          <a:bodyPr/>
          <a:lstStyle/>
          <a:p>
            <a:fld id="{55E9056B-6A30-4F99-BDE9-C450E66AE125}" type="slidenum">
              <a:rPr lang="fr-FR" smtClean="0"/>
              <a:pPr/>
              <a:t>10</a:t>
            </a:fld>
            <a:endParaRPr lang="fr-FR" dirty="0"/>
          </a:p>
        </p:txBody>
      </p:sp>
    </p:spTree>
    <p:extLst>
      <p:ext uri="{BB962C8B-B14F-4D97-AF65-F5344CB8AC3E}">
        <p14:creationId xmlns:p14="http://schemas.microsoft.com/office/powerpoint/2010/main" val="82218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B224C8-483E-44C7-8D10-851328A38A5B}"/>
              </a:ext>
            </a:extLst>
          </p:cNvPr>
          <p:cNvSpPr>
            <a:spLocks noGrp="1"/>
          </p:cNvSpPr>
          <p:nvPr>
            <p:ph type="title"/>
          </p:nvPr>
        </p:nvSpPr>
        <p:spPr/>
        <p:txBody>
          <a:bodyPr>
            <a:normAutofit fontScale="90000"/>
          </a:bodyPr>
          <a:lstStyle/>
          <a:p>
            <a:r>
              <a:rPr lang="fr-BE" b="1" i="1" dirty="0"/>
              <a:t>- Le travailleur assimilé à un travailleur à temps plein</a:t>
            </a:r>
            <a:endParaRPr lang="fr-BE" dirty="0"/>
          </a:p>
        </p:txBody>
      </p:sp>
      <p:sp>
        <p:nvSpPr>
          <p:cNvPr id="3" name="Espace réservé du contenu 2">
            <a:extLst>
              <a:ext uri="{FF2B5EF4-FFF2-40B4-BE49-F238E27FC236}">
                <a16:creationId xmlns:a16="http://schemas.microsoft.com/office/drawing/2014/main" id="{F085FFC7-15BA-4E73-8908-F46301025CA4}"/>
              </a:ext>
            </a:extLst>
          </p:cNvPr>
          <p:cNvSpPr>
            <a:spLocks noGrp="1"/>
          </p:cNvSpPr>
          <p:nvPr>
            <p:ph idx="1"/>
          </p:nvPr>
        </p:nvSpPr>
        <p:spPr/>
        <p:txBody>
          <a:bodyPr/>
          <a:lstStyle/>
          <a:p>
            <a:pPr>
              <a:spcBef>
                <a:spcPts val="0"/>
              </a:spcBef>
              <a:buSzPct val="100000"/>
              <a:buFont typeface="Wingdings" pitchFamily="2" charset="2"/>
              <a:buChar char="§"/>
            </a:pPr>
            <a:r>
              <a:rPr lang="fr-BE" b="1" dirty="0">
                <a:solidFill>
                  <a:srgbClr val="C00000"/>
                </a:solidFill>
                <a:cs typeface="Times New Roman" pitchFamily="18" charset="0"/>
              </a:rPr>
              <a:t>Art. 28§2 </a:t>
            </a:r>
            <a:r>
              <a:rPr lang="fr-BE" dirty="0">
                <a:cs typeface="Times New Roman" pitchFamily="18" charset="0"/>
              </a:rPr>
              <a:t>: Le travailleur qui perçoit en moyenne une </a:t>
            </a:r>
            <a:r>
              <a:rPr lang="fr-BE" b="1" dirty="0">
                <a:cs typeface="Times New Roman" pitchFamily="18" charset="0"/>
              </a:rPr>
              <a:t>rémunération mensuelle au moins égale au salaire mensuel de référence </a:t>
            </a:r>
            <a:r>
              <a:rPr lang="fr-BE" dirty="0">
                <a:cs typeface="Times New Roman" pitchFamily="18" charset="0"/>
              </a:rPr>
              <a:t>est assimilé à un travailleur à temps plein, peu importe la durée du travail (Q/S).</a:t>
            </a:r>
          </a:p>
          <a:p>
            <a:pPr marL="0" indent="0">
              <a:spcBef>
                <a:spcPts val="0"/>
              </a:spcBef>
              <a:buSzPct val="100000"/>
              <a:buNone/>
            </a:pPr>
            <a:endParaRPr lang="fr-BE" sz="1600" dirty="0">
              <a:cs typeface="Times New Roman" pitchFamily="18" charset="0"/>
            </a:endParaRPr>
          </a:p>
          <a:p>
            <a:pPr>
              <a:spcBef>
                <a:spcPts val="0"/>
              </a:spcBef>
              <a:buSzPct val="100000"/>
              <a:buFont typeface="Wingdings" pitchFamily="2" charset="2"/>
              <a:buChar char="§"/>
            </a:pPr>
            <a:r>
              <a:rPr lang="fr-BE" dirty="0">
                <a:cs typeface="Times New Roman" pitchFamily="18" charset="0"/>
              </a:rPr>
              <a:t>En outre, ce travailleur doit remplir les conditions d’admissibilité temps plein et être I.D.E. à temps plein. </a:t>
            </a:r>
          </a:p>
          <a:p>
            <a:pPr marL="0" indent="0">
              <a:buNone/>
            </a:pPr>
            <a:endParaRPr lang="fr-BE" dirty="0"/>
          </a:p>
        </p:txBody>
      </p:sp>
      <p:sp>
        <p:nvSpPr>
          <p:cNvPr id="4" name="Espace réservé du numéro de diapositive 3">
            <a:extLst>
              <a:ext uri="{FF2B5EF4-FFF2-40B4-BE49-F238E27FC236}">
                <a16:creationId xmlns:a16="http://schemas.microsoft.com/office/drawing/2014/main" id="{778D51D8-C72D-40B5-BDAE-3FE46FC2992E}"/>
              </a:ext>
            </a:extLst>
          </p:cNvPr>
          <p:cNvSpPr>
            <a:spLocks noGrp="1"/>
          </p:cNvSpPr>
          <p:nvPr>
            <p:ph type="sldNum" sz="quarter" idx="12"/>
          </p:nvPr>
        </p:nvSpPr>
        <p:spPr/>
        <p:txBody>
          <a:bodyPr/>
          <a:lstStyle/>
          <a:p>
            <a:fld id="{55E9056B-6A30-4F99-BDE9-C450E66AE125}" type="slidenum">
              <a:rPr lang="fr-FR" smtClean="0"/>
              <a:pPr/>
              <a:t>11</a:t>
            </a:fld>
            <a:endParaRPr lang="fr-FR" dirty="0"/>
          </a:p>
        </p:txBody>
      </p:sp>
    </p:spTree>
    <p:extLst>
      <p:ext uri="{BB962C8B-B14F-4D97-AF65-F5344CB8AC3E}">
        <p14:creationId xmlns:p14="http://schemas.microsoft.com/office/powerpoint/2010/main" val="26690231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796190A-3063-46BB-9918-7CCFFFE5BA24}"/>
              </a:ext>
            </a:extLst>
          </p:cNvPr>
          <p:cNvSpPr>
            <a:spLocks noGrp="1"/>
          </p:cNvSpPr>
          <p:nvPr>
            <p:ph type="title"/>
          </p:nvPr>
        </p:nvSpPr>
        <p:spPr/>
        <p:txBody>
          <a:bodyPr>
            <a:normAutofit/>
          </a:bodyPr>
          <a:lstStyle/>
          <a:p>
            <a:r>
              <a:rPr lang="fr-BE" b="1" i="1" dirty="0"/>
              <a:t>- Exemples</a:t>
            </a:r>
            <a:endParaRPr lang="fr-BE" dirty="0"/>
          </a:p>
        </p:txBody>
      </p:sp>
      <p:sp>
        <p:nvSpPr>
          <p:cNvPr id="3" name="Espace réservé du contenu 2">
            <a:extLst>
              <a:ext uri="{FF2B5EF4-FFF2-40B4-BE49-F238E27FC236}">
                <a16:creationId xmlns:a16="http://schemas.microsoft.com/office/drawing/2014/main" id="{AB5477FB-3A5F-4733-807D-72351A848739}"/>
              </a:ext>
            </a:extLst>
          </p:cNvPr>
          <p:cNvSpPr>
            <a:spLocks noGrp="1"/>
          </p:cNvSpPr>
          <p:nvPr>
            <p:ph idx="1"/>
          </p:nvPr>
        </p:nvSpPr>
        <p:spPr/>
        <p:txBody>
          <a:bodyPr>
            <a:normAutofit/>
          </a:bodyPr>
          <a:lstStyle/>
          <a:p>
            <a:pPr marL="0" indent="0">
              <a:buNone/>
            </a:pPr>
            <a:r>
              <a:rPr lang="fr-BE" sz="2400" dirty="0"/>
              <a:t>Le 03/11/2022, </a:t>
            </a:r>
            <a:r>
              <a:rPr lang="fr-BE" sz="2400" i="1" dirty="0"/>
              <a:t>un travailleur est occupé 38h/38 et perçoit un salaire mensuel brut de 2.317,89 €.</a:t>
            </a:r>
          </a:p>
          <a:p>
            <a:pPr marL="0" indent="0">
              <a:buNone/>
            </a:pPr>
            <a:endParaRPr lang="fr-BE" sz="2400" i="1" dirty="0"/>
          </a:p>
          <a:p>
            <a:pPr marL="0" indent="0">
              <a:buNone/>
            </a:pPr>
            <a:r>
              <a:rPr lang="fr-BE" sz="2000" b="1" dirty="0"/>
              <a:t>Fraction d’occupation – Temps plein (ou Q = S) ?</a:t>
            </a:r>
            <a:r>
              <a:rPr lang="fr-BE" sz="2000" dirty="0">
                <a:solidFill>
                  <a:srgbClr val="FF0000"/>
                </a:solidFill>
              </a:rPr>
              <a:t> </a:t>
            </a:r>
          </a:p>
          <a:p>
            <a:pPr marL="0" indent="0">
              <a:buNone/>
            </a:pPr>
            <a:endParaRPr lang="fr-BE" sz="2000" dirty="0">
              <a:solidFill>
                <a:srgbClr val="FF0000"/>
              </a:solidFill>
            </a:endParaRPr>
          </a:p>
          <a:p>
            <a:pPr marL="0" indent="0">
              <a:buNone/>
            </a:pPr>
            <a:r>
              <a:rPr lang="fr-BE" sz="2000" b="1" dirty="0"/>
              <a:t>Salaire « suffisant »? </a:t>
            </a:r>
          </a:p>
          <a:p>
            <a:pPr marL="0" indent="0">
              <a:buNone/>
            </a:pPr>
            <a:endParaRPr lang="fr-BE" sz="2400" i="1" dirty="0"/>
          </a:p>
          <a:p>
            <a:pPr marL="0" indent="0">
              <a:buNone/>
            </a:pPr>
            <a:endParaRPr lang="fr-BE" sz="2400" dirty="0"/>
          </a:p>
        </p:txBody>
      </p:sp>
      <p:sp>
        <p:nvSpPr>
          <p:cNvPr id="4" name="Espace réservé du numéro de diapositive 3">
            <a:extLst>
              <a:ext uri="{FF2B5EF4-FFF2-40B4-BE49-F238E27FC236}">
                <a16:creationId xmlns:a16="http://schemas.microsoft.com/office/drawing/2014/main" id="{2C26B003-A6D6-4C1A-9292-2A10035888D1}"/>
              </a:ext>
            </a:extLst>
          </p:cNvPr>
          <p:cNvSpPr>
            <a:spLocks noGrp="1"/>
          </p:cNvSpPr>
          <p:nvPr>
            <p:ph type="sldNum" sz="quarter" idx="12"/>
          </p:nvPr>
        </p:nvSpPr>
        <p:spPr/>
        <p:txBody>
          <a:bodyPr/>
          <a:lstStyle/>
          <a:p>
            <a:fld id="{55E9056B-6A30-4F99-BDE9-C450E66AE125}" type="slidenum">
              <a:rPr lang="fr-FR" smtClean="0"/>
              <a:pPr/>
              <a:t>12</a:t>
            </a:fld>
            <a:endParaRPr lang="fr-FR" dirty="0"/>
          </a:p>
        </p:txBody>
      </p:sp>
    </p:spTree>
    <p:extLst>
      <p:ext uri="{BB962C8B-B14F-4D97-AF65-F5344CB8AC3E}">
        <p14:creationId xmlns:p14="http://schemas.microsoft.com/office/powerpoint/2010/main" val="39397428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796190A-3063-46BB-9918-7CCFFFE5BA24}"/>
              </a:ext>
            </a:extLst>
          </p:cNvPr>
          <p:cNvSpPr>
            <a:spLocks noGrp="1"/>
          </p:cNvSpPr>
          <p:nvPr>
            <p:ph type="title"/>
          </p:nvPr>
        </p:nvSpPr>
        <p:spPr/>
        <p:txBody>
          <a:bodyPr>
            <a:normAutofit/>
          </a:bodyPr>
          <a:lstStyle/>
          <a:p>
            <a:r>
              <a:rPr lang="fr-BE" b="1" i="1" dirty="0"/>
              <a:t>- Exemples</a:t>
            </a:r>
            <a:endParaRPr lang="fr-BE" dirty="0"/>
          </a:p>
        </p:txBody>
      </p:sp>
      <p:sp>
        <p:nvSpPr>
          <p:cNvPr id="3" name="Espace réservé du contenu 2">
            <a:extLst>
              <a:ext uri="{FF2B5EF4-FFF2-40B4-BE49-F238E27FC236}">
                <a16:creationId xmlns:a16="http://schemas.microsoft.com/office/drawing/2014/main" id="{AB5477FB-3A5F-4733-807D-72351A848739}"/>
              </a:ext>
            </a:extLst>
          </p:cNvPr>
          <p:cNvSpPr>
            <a:spLocks noGrp="1"/>
          </p:cNvSpPr>
          <p:nvPr>
            <p:ph idx="1"/>
          </p:nvPr>
        </p:nvSpPr>
        <p:spPr/>
        <p:txBody>
          <a:bodyPr>
            <a:normAutofit/>
          </a:bodyPr>
          <a:lstStyle/>
          <a:p>
            <a:pPr marL="0" indent="0">
              <a:buNone/>
            </a:pPr>
            <a:r>
              <a:rPr lang="fr-BE" sz="2400" i="1" dirty="0"/>
              <a:t>Le 07/11/2022, un travailleur est occupé à 28/38 et perçoit un salaire horaire brut de 16,32 euros.</a:t>
            </a:r>
          </a:p>
          <a:p>
            <a:pPr marL="0" indent="0">
              <a:buNone/>
            </a:pPr>
            <a:r>
              <a:rPr lang="fr-BE" sz="2400" b="1" i="1" dirty="0"/>
              <a:t>Règle de conversion: sal. horaire X Q X 13/3 = sal. mensuel</a:t>
            </a:r>
          </a:p>
          <a:p>
            <a:pPr marL="0" indent="0">
              <a:buNone/>
            </a:pPr>
            <a:endParaRPr lang="fr-BE" sz="2000" b="1" i="1" dirty="0">
              <a:solidFill>
                <a:srgbClr val="FF0000"/>
              </a:solidFill>
            </a:endParaRPr>
          </a:p>
          <a:p>
            <a:pPr marL="0" indent="0">
              <a:buNone/>
            </a:pPr>
            <a:r>
              <a:rPr lang="fr-BE" sz="2000" b="1" dirty="0"/>
              <a:t>Q=S?</a:t>
            </a:r>
          </a:p>
          <a:p>
            <a:pPr marL="0" indent="0">
              <a:buNone/>
            </a:pPr>
            <a:r>
              <a:rPr lang="fr-BE" sz="2000" i="1" dirty="0">
                <a:solidFill>
                  <a:srgbClr val="FF0000"/>
                </a:solidFill>
              </a:rPr>
              <a:t> </a:t>
            </a:r>
            <a:r>
              <a:rPr lang="fr-BE" sz="2000" i="1" dirty="0">
                <a:solidFill>
                  <a:srgbClr val="00B050"/>
                </a:solidFill>
              </a:rPr>
              <a:t> </a:t>
            </a:r>
          </a:p>
          <a:p>
            <a:pPr marL="0" indent="0">
              <a:buNone/>
            </a:pPr>
            <a:r>
              <a:rPr lang="fr-BE" sz="2000" b="1" dirty="0"/>
              <a:t>Salaire « suffisant »? </a:t>
            </a:r>
          </a:p>
          <a:p>
            <a:pPr marL="0" indent="0">
              <a:buNone/>
            </a:pPr>
            <a:endParaRPr lang="fr-BE" sz="2400" i="1" dirty="0"/>
          </a:p>
          <a:p>
            <a:pPr marL="0" indent="0">
              <a:buNone/>
            </a:pPr>
            <a:endParaRPr lang="fr-BE" sz="2400" dirty="0"/>
          </a:p>
        </p:txBody>
      </p:sp>
      <p:sp>
        <p:nvSpPr>
          <p:cNvPr id="4" name="Espace réservé du numéro de diapositive 3">
            <a:extLst>
              <a:ext uri="{FF2B5EF4-FFF2-40B4-BE49-F238E27FC236}">
                <a16:creationId xmlns:a16="http://schemas.microsoft.com/office/drawing/2014/main" id="{2C26B003-A6D6-4C1A-9292-2A10035888D1}"/>
              </a:ext>
            </a:extLst>
          </p:cNvPr>
          <p:cNvSpPr>
            <a:spLocks noGrp="1"/>
          </p:cNvSpPr>
          <p:nvPr>
            <p:ph type="sldNum" sz="quarter" idx="12"/>
          </p:nvPr>
        </p:nvSpPr>
        <p:spPr/>
        <p:txBody>
          <a:bodyPr/>
          <a:lstStyle/>
          <a:p>
            <a:fld id="{55E9056B-6A30-4F99-BDE9-C450E66AE125}" type="slidenum">
              <a:rPr lang="fr-FR" smtClean="0"/>
              <a:pPr/>
              <a:t>13</a:t>
            </a:fld>
            <a:endParaRPr lang="fr-FR" dirty="0"/>
          </a:p>
        </p:txBody>
      </p:sp>
    </p:spTree>
    <p:extLst>
      <p:ext uri="{BB962C8B-B14F-4D97-AF65-F5344CB8AC3E}">
        <p14:creationId xmlns:p14="http://schemas.microsoft.com/office/powerpoint/2010/main" val="33562234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r>
              <a:rPr lang="fr-BE" sz="4000" dirty="0"/>
              <a:t>	</a:t>
            </a:r>
            <a:r>
              <a:rPr lang="fr-BE" sz="4000" b="1" i="1" dirty="0"/>
              <a:t>3.</a:t>
            </a:r>
            <a:r>
              <a:rPr lang="fr-BE" sz="4000" b="1" i="1" dirty="0">
                <a:cs typeface="Times New Roman" pitchFamily="18" charset="0"/>
              </a:rPr>
              <a:t> Règle générale</a:t>
            </a:r>
            <a:endParaRPr lang="fr-FR" sz="4000" b="1" i="1" dirty="0">
              <a:cs typeface="Times New Roman" pitchFamily="18" charset="0"/>
            </a:endParaRPr>
          </a:p>
        </p:txBody>
      </p:sp>
      <p:sp>
        <p:nvSpPr>
          <p:cNvPr id="8" name="Espace réservé du contenu 7"/>
          <p:cNvSpPr>
            <a:spLocks noGrp="1"/>
          </p:cNvSpPr>
          <p:nvPr>
            <p:ph idx="1"/>
          </p:nvPr>
        </p:nvSpPr>
        <p:spPr/>
        <p:txBody>
          <a:bodyPr>
            <a:normAutofit/>
          </a:bodyPr>
          <a:lstStyle/>
          <a:p>
            <a:pPr marL="0" indent="0">
              <a:spcBef>
                <a:spcPts val="0"/>
              </a:spcBef>
              <a:buNone/>
            </a:pPr>
            <a:r>
              <a:rPr lang="fr-BE" dirty="0">
                <a:cs typeface="Times New Roman" pitchFamily="18" charset="0"/>
              </a:rPr>
              <a:t>Pour être admis au bénéfice des allocations de chômage complet </a:t>
            </a:r>
            <a:r>
              <a:rPr lang="fr-BE" b="1" dirty="0">
                <a:cs typeface="Times New Roman" pitchFamily="18" charset="0"/>
              </a:rPr>
              <a:t>préfixe 01</a:t>
            </a:r>
            <a:r>
              <a:rPr lang="fr-BE" dirty="0">
                <a:cs typeface="Times New Roman" pitchFamily="18" charset="0"/>
              </a:rPr>
              <a:t>, </a:t>
            </a:r>
            <a:r>
              <a:rPr lang="fr-BE" b="1" dirty="0">
                <a:cs typeface="Times New Roman" pitchFamily="18" charset="0"/>
              </a:rPr>
              <a:t>le travailleur à temps plein ou assimilé temps plein </a:t>
            </a:r>
            <a:r>
              <a:rPr lang="fr-BE" dirty="0">
                <a:cs typeface="Times New Roman" pitchFamily="18" charset="0"/>
              </a:rPr>
              <a:t>doit :</a:t>
            </a:r>
          </a:p>
          <a:p>
            <a:pPr marL="0" indent="0">
              <a:spcBef>
                <a:spcPts val="0"/>
              </a:spcBef>
              <a:buNone/>
            </a:pPr>
            <a:endParaRPr lang="fr-BE" sz="1000" dirty="0">
              <a:cs typeface="Times New Roman" pitchFamily="18" charset="0"/>
            </a:endParaRPr>
          </a:p>
          <a:p>
            <a:pPr marL="457200" lvl="1" indent="-457200">
              <a:spcBef>
                <a:spcPts val="0"/>
              </a:spcBef>
              <a:buSzPct val="100000"/>
              <a:buFont typeface="Wingdings" pitchFamily="2" charset="2"/>
              <a:buChar char="§"/>
            </a:pPr>
            <a:r>
              <a:rPr lang="fr-BE" sz="3200" b="1" dirty="0">
                <a:cs typeface="Times New Roman" pitchFamily="18" charset="0"/>
              </a:rPr>
              <a:t>Justifier</a:t>
            </a:r>
            <a:r>
              <a:rPr lang="fr-BE" sz="3200" dirty="0">
                <a:cs typeface="Times New Roman" pitchFamily="18" charset="0"/>
              </a:rPr>
              <a:t> un certain nombre de </a:t>
            </a:r>
            <a:r>
              <a:rPr lang="fr-BE" sz="3200" b="1" dirty="0">
                <a:solidFill>
                  <a:srgbClr val="C00000"/>
                </a:solidFill>
                <a:cs typeface="Times New Roman" pitchFamily="18" charset="0"/>
              </a:rPr>
              <a:t>jours de travail </a:t>
            </a:r>
            <a:r>
              <a:rPr lang="fr-BE" sz="3200" b="1" dirty="0">
                <a:cs typeface="Times New Roman" pitchFamily="18" charset="0"/>
              </a:rPr>
              <a:t>et/ou</a:t>
            </a:r>
            <a:r>
              <a:rPr lang="fr-BE" sz="3200" b="1" dirty="0">
                <a:solidFill>
                  <a:srgbClr val="C00000"/>
                </a:solidFill>
                <a:cs typeface="Times New Roman" pitchFamily="18" charset="0"/>
              </a:rPr>
              <a:t> assimilés </a:t>
            </a:r>
            <a:r>
              <a:rPr lang="fr-BE" sz="3200" dirty="0">
                <a:cs typeface="Times New Roman" pitchFamily="18" charset="0"/>
              </a:rPr>
              <a:t>en</a:t>
            </a:r>
            <a:r>
              <a:rPr lang="fr-BE" sz="3200" dirty="0">
                <a:solidFill>
                  <a:srgbClr val="C00000"/>
                </a:solidFill>
                <a:cs typeface="Times New Roman" pitchFamily="18" charset="0"/>
              </a:rPr>
              <a:t> </a:t>
            </a:r>
            <a:r>
              <a:rPr lang="fr-BE" sz="3200" b="1" dirty="0">
                <a:cs typeface="Times New Roman" pitchFamily="18" charset="0"/>
              </a:rPr>
              <a:t>régime 6</a:t>
            </a:r>
            <a:r>
              <a:rPr lang="fr-BE" sz="3200" dirty="0">
                <a:cs typeface="Times New Roman" pitchFamily="18" charset="0"/>
              </a:rPr>
              <a:t>.</a:t>
            </a:r>
          </a:p>
          <a:p>
            <a:pPr marL="0" lvl="1" indent="0">
              <a:spcBef>
                <a:spcPts val="0"/>
              </a:spcBef>
              <a:buSzPct val="100000"/>
              <a:buNone/>
            </a:pPr>
            <a:endParaRPr lang="fr-BE" sz="1000" dirty="0">
              <a:cs typeface="Times New Roman" pitchFamily="18" charset="0"/>
            </a:endParaRPr>
          </a:p>
          <a:p>
            <a:pPr marL="457200" lvl="1" indent="-457200">
              <a:spcBef>
                <a:spcPts val="0"/>
              </a:spcBef>
              <a:buSzPct val="100000"/>
              <a:buFont typeface="Wingdings" pitchFamily="2" charset="2"/>
              <a:buChar char="§"/>
            </a:pPr>
            <a:r>
              <a:rPr lang="fr-BE" sz="3200" b="1" dirty="0">
                <a:cs typeface="Times New Roman" pitchFamily="18" charset="0"/>
              </a:rPr>
              <a:t>Au cours d’une </a:t>
            </a:r>
            <a:r>
              <a:rPr lang="fr-BE" sz="3200" b="1" dirty="0">
                <a:solidFill>
                  <a:srgbClr val="C00000"/>
                </a:solidFill>
                <a:cs typeface="Times New Roman" pitchFamily="18" charset="0"/>
              </a:rPr>
              <a:t>période de référence</a:t>
            </a:r>
            <a:r>
              <a:rPr lang="fr-BE" sz="3200" dirty="0">
                <a:solidFill>
                  <a:srgbClr val="C00000"/>
                </a:solidFill>
                <a:cs typeface="Times New Roman" pitchFamily="18" charset="0"/>
              </a:rPr>
              <a:t> </a:t>
            </a:r>
            <a:r>
              <a:rPr lang="fr-BE" sz="3200" b="1" dirty="0">
                <a:solidFill>
                  <a:srgbClr val="C00000"/>
                </a:solidFill>
                <a:cs typeface="Times New Roman" pitchFamily="18" charset="0"/>
              </a:rPr>
              <a:t>précédant immédiatement </a:t>
            </a:r>
            <a:r>
              <a:rPr lang="fr-BE" sz="3200" b="1" dirty="0">
                <a:cs typeface="Times New Roman" pitchFamily="18" charset="0"/>
              </a:rPr>
              <a:t>la demande d’allocations</a:t>
            </a:r>
            <a:r>
              <a:rPr lang="fr-BE" sz="3200" dirty="0">
                <a:cs typeface="Times New Roman" pitchFamily="18" charset="0"/>
              </a:rPr>
              <a:t> (DA).</a:t>
            </a:r>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14</a:t>
            </a:fld>
            <a:endParaRPr lang="fr-FR" dirty="0"/>
          </a:p>
        </p:txBody>
      </p:sp>
    </p:spTree>
    <p:extLst>
      <p:ext uri="{BB962C8B-B14F-4D97-AF65-F5344CB8AC3E}">
        <p14:creationId xmlns:p14="http://schemas.microsoft.com/office/powerpoint/2010/main" val="16424351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10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r>
              <a:rPr lang="fr-BE" sz="4000" b="1" i="1" dirty="0">
                <a:cs typeface="Times New Roman" pitchFamily="18" charset="0"/>
              </a:rPr>
              <a:t>3. Règle générale</a:t>
            </a:r>
            <a:endParaRPr lang="fr-FR" sz="4000" b="1" i="1" dirty="0">
              <a:cs typeface="Times New Roman" pitchFamily="18" charset="0"/>
            </a:endParaRPr>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15</a:t>
            </a:fld>
            <a:endParaRPr lang="fr-FR" dirty="0"/>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67544" y="1484785"/>
            <a:ext cx="8229600" cy="5040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43413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873140-45CC-47C1-B27C-0E727231FDB1}"/>
              </a:ext>
            </a:extLst>
          </p:cNvPr>
          <p:cNvSpPr>
            <a:spLocks noGrp="1"/>
          </p:cNvSpPr>
          <p:nvPr>
            <p:ph type="title"/>
          </p:nvPr>
        </p:nvSpPr>
        <p:spPr/>
        <p:txBody>
          <a:bodyPr>
            <a:normAutofit fontScale="90000"/>
          </a:bodyPr>
          <a:lstStyle/>
          <a:p>
            <a:pPr marL="571500" indent="-571500">
              <a:buFont typeface="Arial" panose="020B0604020202020204" pitchFamily="34" charset="0"/>
              <a:buChar char="•"/>
            </a:pPr>
            <a:r>
              <a:rPr lang="fr-BE" sz="4000" dirty="0"/>
              <a:t>Fixation de la période de référence: DA au 28/11/2022</a:t>
            </a:r>
          </a:p>
        </p:txBody>
      </p:sp>
      <p:graphicFrame>
        <p:nvGraphicFramePr>
          <p:cNvPr id="5" name="Tableau 5">
            <a:extLst>
              <a:ext uri="{FF2B5EF4-FFF2-40B4-BE49-F238E27FC236}">
                <a16:creationId xmlns:a16="http://schemas.microsoft.com/office/drawing/2014/main" id="{52B11A67-E483-46D5-85B2-C1B01715EBB7}"/>
              </a:ext>
            </a:extLst>
          </p:cNvPr>
          <p:cNvGraphicFramePr>
            <a:graphicFrameLocks noGrp="1"/>
          </p:cNvGraphicFramePr>
          <p:nvPr>
            <p:ph idx="1"/>
          </p:nvPr>
        </p:nvGraphicFramePr>
        <p:xfrm>
          <a:off x="457200" y="1600200"/>
          <a:ext cx="8229600" cy="1854200"/>
        </p:xfrm>
        <a:graphic>
          <a:graphicData uri="http://schemas.openxmlformats.org/drawingml/2006/table">
            <a:tbl>
              <a:tblPr firstRow="1" bandRow="1">
                <a:tableStyleId>{5C22544A-7EE6-4342-B048-85BDC9FD1C3A}</a:tableStyleId>
              </a:tblPr>
              <a:tblGrid>
                <a:gridCol w="2159490">
                  <a:extLst>
                    <a:ext uri="{9D8B030D-6E8A-4147-A177-3AD203B41FA5}">
                      <a16:colId xmlns:a16="http://schemas.microsoft.com/office/drawing/2014/main" val="1012832237"/>
                    </a:ext>
                  </a:extLst>
                </a:gridCol>
                <a:gridCol w="6070110">
                  <a:extLst>
                    <a:ext uri="{9D8B030D-6E8A-4147-A177-3AD203B41FA5}">
                      <a16:colId xmlns:a16="http://schemas.microsoft.com/office/drawing/2014/main" val="782386251"/>
                    </a:ext>
                  </a:extLst>
                </a:gridCol>
              </a:tblGrid>
              <a:tr h="370840">
                <a:tc>
                  <a:txBody>
                    <a:bodyPr/>
                    <a:lstStyle/>
                    <a:p>
                      <a:r>
                        <a:rPr lang="fr-BE" sz="1600" dirty="0">
                          <a:solidFill>
                            <a:schemeClr val="tx1"/>
                          </a:solidFill>
                        </a:rPr>
                        <a:t>DA au 17/10/2022</a:t>
                      </a:r>
                    </a:p>
                  </a:txBody>
                  <a:tcPr/>
                </a:tc>
                <a:tc>
                  <a:txBody>
                    <a:bodyPr/>
                    <a:lstStyle/>
                    <a:p>
                      <a:pPr algn="ctr"/>
                      <a:r>
                        <a:rPr lang="fr-BE" dirty="0">
                          <a:solidFill>
                            <a:schemeClr val="tx1"/>
                          </a:solidFill>
                        </a:rPr>
                        <a:t>&lt; 36 ans</a:t>
                      </a:r>
                    </a:p>
                  </a:txBody>
                  <a:tcPr/>
                </a:tc>
                <a:extLst>
                  <a:ext uri="{0D108BD9-81ED-4DB2-BD59-A6C34878D82A}">
                    <a16:rowId xmlns:a16="http://schemas.microsoft.com/office/drawing/2014/main" val="3919980296"/>
                  </a:ext>
                </a:extLst>
              </a:tr>
              <a:tr h="370840">
                <a:tc>
                  <a:txBody>
                    <a:bodyPr/>
                    <a:lstStyle/>
                    <a:p>
                      <a:pPr algn="ctr"/>
                      <a:r>
                        <a:rPr lang="fr-BE" dirty="0">
                          <a:solidFill>
                            <a:schemeClr val="tx1"/>
                          </a:solidFill>
                        </a:rPr>
                        <a:t>1</a:t>
                      </a:r>
                      <a:r>
                        <a:rPr lang="fr-BE" baseline="30000" dirty="0">
                          <a:solidFill>
                            <a:schemeClr val="tx1"/>
                          </a:solidFill>
                        </a:rPr>
                        <a:t>ère</a:t>
                      </a:r>
                      <a:r>
                        <a:rPr lang="fr-BE" dirty="0">
                          <a:solidFill>
                            <a:schemeClr val="tx1"/>
                          </a:solidFill>
                        </a:rPr>
                        <a:t> étape</a:t>
                      </a:r>
                    </a:p>
                  </a:txBody>
                  <a:tcPr/>
                </a:tc>
                <a:tc>
                  <a:txBody>
                    <a:bodyPr/>
                    <a:lstStyle/>
                    <a:p>
                      <a:pPr algn="ctr"/>
                      <a:endParaRPr lang="fr-BE" b="1" dirty="0"/>
                    </a:p>
                  </a:txBody>
                  <a:tcPr/>
                </a:tc>
                <a:extLst>
                  <a:ext uri="{0D108BD9-81ED-4DB2-BD59-A6C34878D82A}">
                    <a16:rowId xmlns:a16="http://schemas.microsoft.com/office/drawing/2014/main" val="432916319"/>
                  </a:ext>
                </a:extLst>
              </a:tr>
              <a:tr h="370840">
                <a:tc>
                  <a:txBody>
                    <a:bodyPr/>
                    <a:lstStyle/>
                    <a:p>
                      <a:pPr algn="ctr"/>
                      <a:r>
                        <a:rPr lang="fr-BE" dirty="0">
                          <a:solidFill>
                            <a:schemeClr val="tx1"/>
                          </a:solidFill>
                        </a:rPr>
                        <a:t>2</a:t>
                      </a:r>
                      <a:r>
                        <a:rPr lang="fr-BE" baseline="30000" dirty="0">
                          <a:solidFill>
                            <a:schemeClr val="tx1"/>
                          </a:solidFill>
                        </a:rPr>
                        <a:t>ème</a:t>
                      </a:r>
                      <a:r>
                        <a:rPr lang="fr-BE" dirty="0">
                          <a:solidFill>
                            <a:schemeClr val="tx1"/>
                          </a:solidFill>
                        </a:rPr>
                        <a:t> étape</a:t>
                      </a:r>
                    </a:p>
                  </a:txBody>
                  <a:tcPr/>
                </a:tc>
                <a:tc>
                  <a:txBody>
                    <a:bodyPr/>
                    <a:lstStyle/>
                    <a:p>
                      <a:endParaRPr lang="fr-BE" b="1" dirty="0">
                        <a:solidFill>
                          <a:schemeClr val="tx1"/>
                        </a:solidFill>
                      </a:endParaRPr>
                    </a:p>
                  </a:txBody>
                  <a:tcPr/>
                </a:tc>
                <a:extLst>
                  <a:ext uri="{0D108BD9-81ED-4DB2-BD59-A6C34878D82A}">
                    <a16:rowId xmlns:a16="http://schemas.microsoft.com/office/drawing/2014/main" val="1932867693"/>
                  </a:ext>
                </a:extLst>
              </a:tr>
              <a:tr h="370840">
                <a:tc>
                  <a:txBody>
                    <a:bodyPr/>
                    <a:lstStyle/>
                    <a:p>
                      <a:pPr algn="ctr"/>
                      <a:r>
                        <a:rPr lang="fr-BE" dirty="0">
                          <a:solidFill>
                            <a:schemeClr val="tx1"/>
                          </a:solidFill>
                        </a:rPr>
                        <a:t>3</a:t>
                      </a:r>
                      <a:r>
                        <a:rPr lang="fr-BE" baseline="30000" dirty="0">
                          <a:solidFill>
                            <a:schemeClr val="tx1"/>
                          </a:solidFill>
                        </a:rPr>
                        <a:t>ème</a:t>
                      </a:r>
                      <a:r>
                        <a:rPr lang="fr-BE" dirty="0">
                          <a:solidFill>
                            <a:schemeClr val="tx1"/>
                          </a:solidFill>
                        </a:rPr>
                        <a:t> étape</a:t>
                      </a:r>
                    </a:p>
                  </a:txBody>
                  <a:tcPr/>
                </a:tc>
                <a:tc>
                  <a:txBody>
                    <a:bodyPr/>
                    <a:lstStyle/>
                    <a:p>
                      <a:endParaRPr lang="fr-BE" b="1" dirty="0">
                        <a:solidFill>
                          <a:schemeClr val="tx1"/>
                        </a:solidFill>
                      </a:endParaRPr>
                    </a:p>
                  </a:txBody>
                  <a:tcPr/>
                </a:tc>
                <a:extLst>
                  <a:ext uri="{0D108BD9-81ED-4DB2-BD59-A6C34878D82A}">
                    <a16:rowId xmlns:a16="http://schemas.microsoft.com/office/drawing/2014/main" val="1177593652"/>
                  </a:ext>
                </a:extLst>
              </a:tr>
              <a:tr h="370840">
                <a:tc>
                  <a:txBody>
                    <a:bodyPr/>
                    <a:lstStyle/>
                    <a:p>
                      <a:pPr algn="ctr"/>
                      <a:r>
                        <a:rPr lang="fr-BE" dirty="0">
                          <a:solidFill>
                            <a:schemeClr val="tx1"/>
                          </a:solidFill>
                        </a:rPr>
                        <a:t>4</a:t>
                      </a:r>
                      <a:r>
                        <a:rPr lang="fr-BE" baseline="30000" dirty="0">
                          <a:solidFill>
                            <a:schemeClr val="tx1"/>
                          </a:solidFill>
                        </a:rPr>
                        <a:t>ème</a:t>
                      </a:r>
                      <a:r>
                        <a:rPr lang="fr-BE" dirty="0">
                          <a:solidFill>
                            <a:schemeClr val="tx1"/>
                          </a:solidFill>
                        </a:rPr>
                        <a:t> étape</a:t>
                      </a:r>
                    </a:p>
                  </a:txBody>
                  <a:tcPr/>
                </a:tc>
                <a:tc>
                  <a:txBody>
                    <a:bodyPr/>
                    <a:lstStyle/>
                    <a:p>
                      <a:endParaRPr lang="fr-BE" b="1" dirty="0">
                        <a:solidFill>
                          <a:srgbClr val="C00000"/>
                        </a:solidFill>
                      </a:endParaRPr>
                    </a:p>
                  </a:txBody>
                  <a:tcPr/>
                </a:tc>
                <a:extLst>
                  <a:ext uri="{0D108BD9-81ED-4DB2-BD59-A6C34878D82A}">
                    <a16:rowId xmlns:a16="http://schemas.microsoft.com/office/drawing/2014/main" val="3929228592"/>
                  </a:ext>
                </a:extLst>
              </a:tr>
            </a:tbl>
          </a:graphicData>
        </a:graphic>
      </p:graphicFrame>
      <p:sp>
        <p:nvSpPr>
          <p:cNvPr id="4" name="Espace réservé du numéro de diapositive 3">
            <a:extLst>
              <a:ext uri="{FF2B5EF4-FFF2-40B4-BE49-F238E27FC236}">
                <a16:creationId xmlns:a16="http://schemas.microsoft.com/office/drawing/2014/main" id="{6D24E2D0-2D67-4239-815C-D0B24C2B4168}"/>
              </a:ext>
            </a:extLst>
          </p:cNvPr>
          <p:cNvSpPr>
            <a:spLocks noGrp="1"/>
          </p:cNvSpPr>
          <p:nvPr>
            <p:ph type="sldNum" sz="quarter" idx="12"/>
          </p:nvPr>
        </p:nvSpPr>
        <p:spPr/>
        <p:txBody>
          <a:bodyPr/>
          <a:lstStyle/>
          <a:p>
            <a:fld id="{55E9056B-6A30-4F99-BDE9-C450E66AE125}" type="slidenum">
              <a:rPr lang="fr-FR" smtClean="0"/>
              <a:pPr/>
              <a:t>16</a:t>
            </a:fld>
            <a:endParaRPr lang="fr-FR" dirty="0"/>
          </a:p>
        </p:txBody>
      </p:sp>
      <p:graphicFrame>
        <p:nvGraphicFramePr>
          <p:cNvPr id="7" name="Tableau 5">
            <a:extLst>
              <a:ext uri="{FF2B5EF4-FFF2-40B4-BE49-F238E27FC236}">
                <a16:creationId xmlns:a16="http://schemas.microsoft.com/office/drawing/2014/main" id="{9499F2F7-EA07-42DF-AD45-7E530313CBF7}"/>
              </a:ext>
            </a:extLst>
          </p:cNvPr>
          <p:cNvGraphicFramePr>
            <a:graphicFrameLocks/>
          </p:cNvGraphicFramePr>
          <p:nvPr/>
        </p:nvGraphicFramePr>
        <p:xfrm>
          <a:off x="457200" y="4061460"/>
          <a:ext cx="8229600" cy="1854200"/>
        </p:xfrm>
        <a:graphic>
          <a:graphicData uri="http://schemas.openxmlformats.org/drawingml/2006/table">
            <a:tbl>
              <a:tblPr firstRow="1" bandRow="1">
                <a:tableStyleId>{5C22544A-7EE6-4342-B048-85BDC9FD1C3A}</a:tableStyleId>
              </a:tblPr>
              <a:tblGrid>
                <a:gridCol w="2159490">
                  <a:extLst>
                    <a:ext uri="{9D8B030D-6E8A-4147-A177-3AD203B41FA5}">
                      <a16:colId xmlns:a16="http://schemas.microsoft.com/office/drawing/2014/main" val="1012832237"/>
                    </a:ext>
                  </a:extLst>
                </a:gridCol>
                <a:gridCol w="6070110">
                  <a:extLst>
                    <a:ext uri="{9D8B030D-6E8A-4147-A177-3AD203B41FA5}">
                      <a16:colId xmlns:a16="http://schemas.microsoft.com/office/drawing/2014/main" val="782386251"/>
                    </a:ext>
                  </a:extLst>
                </a:gridCol>
              </a:tblGrid>
              <a:tr h="370840">
                <a:tc>
                  <a:txBody>
                    <a:bodyPr/>
                    <a:lstStyle/>
                    <a:p>
                      <a:r>
                        <a:rPr lang="fr-BE" sz="1600" dirty="0">
                          <a:solidFill>
                            <a:schemeClr val="tx1"/>
                          </a:solidFill>
                        </a:rPr>
                        <a:t>DA au 17/10/2022</a:t>
                      </a:r>
                    </a:p>
                  </a:txBody>
                  <a:tcPr/>
                </a:tc>
                <a:tc>
                  <a:txBody>
                    <a:bodyPr/>
                    <a:lstStyle/>
                    <a:p>
                      <a:pPr algn="ctr"/>
                      <a:r>
                        <a:rPr lang="fr-BE" dirty="0">
                          <a:solidFill>
                            <a:schemeClr val="tx1"/>
                          </a:solidFill>
                        </a:rPr>
                        <a:t>≥ 36 ans &lt; 50 ans</a:t>
                      </a:r>
                    </a:p>
                  </a:txBody>
                  <a:tcPr/>
                </a:tc>
                <a:extLst>
                  <a:ext uri="{0D108BD9-81ED-4DB2-BD59-A6C34878D82A}">
                    <a16:rowId xmlns:a16="http://schemas.microsoft.com/office/drawing/2014/main" val="3919980296"/>
                  </a:ext>
                </a:extLst>
              </a:tr>
              <a:tr h="370840">
                <a:tc>
                  <a:txBody>
                    <a:bodyPr/>
                    <a:lstStyle/>
                    <a:p>
                      <a:pPr algn="ctr"/>
                      <a:r>
                        <a:rPr lang="fr-BE" dirty="0">
                          <a:solidFill>
                            <a:schemeClr val="tx1"/>
                          </a:solidFill>
                        </a:rPr>
                        <a:t>1</a:t>
                      </a:r>
                      <a:r>
                        <a:rPr lang="fr-BE" baseline="30000" dirty="0">
                          <a:solidFill>
                            <a:schemeClr val="tx1"/>
                          </a:solidFill>
                        </a:rPr>
                        <a:t>ère</a:t>
                      </a:r>
                      <a:r>
                        <a:rPr lang="fr-BE" dirty="0">
                          <a:solidFill>
                            <a:schemeClr val="tx1"/>
                          </a:solidFill>
                        </a:rPr>
                        <a:t> étape</a:t>
                      </a:r>
                    </a:p>
                  </a:txBody>
                  <a:tcPr/>
                </a:tc>
                <a:tc>
                  <a:txBody>
                    <a:bodyPr/>
                    <a:lstStyle/>
                    <a:p>
                      <a:pPr algn="ctr"/>
                      <a:endParaRPr lang="fr-BE" b="1" dirty="0"/>
                    </a:p>
                  </a:txBody>
                  <a:tcPr/>
                </a:tc>
                <a:extLst>
                  <a:ext uri="{0D108BD9-81ED-4DB2-BD59-A6C34878D82A}">
                    <a16:rowId xmlns:a16="http://schemas.microsoft.com/office/drawing/2014/main" val="432916319"/>
                  </a:ext>
                </a:extLst>
              </a:tr>
              <a:tr h="370840">
                <a:tc>
                  <a:txBody>
                    <a:bodyPr/>
                    <a:lstStyle/>
                    <a:p>
                      <a:pPr algn="ctr"/>
                      <a:r>
                        <a:rPr lang="fr-BE" dirty="0">
                          <a:solidFill>
                            <a:schemeClr val="tx1"/>
                          </a:solidFill>
                        </a:rPr>
                        <a:t>2</a:t>
                      </a:r>
                      <a:r>
                        <a:rPr lang="fr-BE" baseline="30000" dirty="0">
                          <a:solidFill>
                            <a:schemeClr val="tx1"/>
                          </a:solidFill>
                        </a:rPr>
                        <a:t>ème</a:t>
                      </a:r>
                      <a:r>
                        <a:rPr lang="fr-BE" dirty="0">
                          <a:solidFill>
                            <a:schemeClr val="tx1"/>
                          </a:solidFill>
                        </a:rPr>
                        <a:t> étape</a:t>
                      </a:r>
                    </a:p>
                  </a:txBody>
                  <a:tcPr/>
                </a:tc>
                <a:tc>
                  <a:txBody>
                    <a:bodyPr/>
                    <a:lstStyle/>
                    <a:p>
                      <a:endParaRPr lang="fr-BE" b="1" dirty="0">
                        <a:solidFill>
                          <a:schemeClr val="tx1"/>
                        </a:solidFill>
                      </a:endParaRPr>
                    </a:p>
                  </a:txBody>
                  <a:tcPr/>
                </a:tc>
                <a:extLst>
                  <a:ext uri="{0D108BD9-81ED-4DB2-BD59-A6C34878D82A}">
                    <a16:rowId xmlns:a16="http://schemas.microsoft.com/office/drawing/2014/main" val="1932867693"/>
                  </a:ext>
                </a:extLst>
              </a:tr>
              <a:tr h="370840">
                <a:tc>
                  <a:txBody>
                    <a:bodyPr/>
                    <a:lstStyle/>
                    <a:p>
                      <a:pPr algn="ctr"/>
                      <a:r>
                        <a:rPr lang="fr-BE" dirty="0">
                          <a:solidFill>
                            <a:schemeClr val="tx1"/>
                          </a:solidFill>
                        </a:rPr>
                        <a:t>3</a:t>
                      </a:r>
                      <a:r>
                        <a:rPr lang="fr-BE" baseline="30000" dirty="0">
                          <a:solidFill>
                            <a:schemeClr val="tx1"/>
                          </a:solidFill>
                        </a:rPr>
                        <a:t>ème</a:t>
                      </a:r>
                      <a:r>
                        <a:rPr lang="fr-BE" dirty="0">
                          <a:solidFill>
                            <a:schemeClr val="tx1"/>
                          </a:solidFill>
                        </a:rPr>
                        <a:t> étape</a:t>
                      </a:r>
                    </a:p>
                  </a:txBody>
                  <a:tcPr/>
                </a:tc>
                <a:tc>
                  <a:txBody>
                    <a:bodyPr/>
                    <a:lstStyle/>
                    <a:p>
                      <a:endParaRPr lang="fr-BE" b="1" dirty="0"/>
                    </a:p>
                  </a:txBody>
                  <a:tcPr/>
                </a:tc>
                <a:extLst>
                  <a:ext uri="{0D108BD9-81ED-4DB2-BD59-A6C34878D82A}">
                    <a16:rowId xmlns:a16="http://schemas.microsoft.com/office/drawing/2014/main" val="1177593652"/>
                  </a:ext>
                </a:extLst>
              </a:tr>
              <a:tr h="370840">
                <a:tc>
                  <a:txBody>
                    <a:bodyPr/>
                    <a:lstStyle/>
                    <a:p>
                      <a:pPr algn="ctr"/>
                      <a:r>
                        <a:rPr lang="fr-BE" dirty="0">
                          <a:solidFill>
                            <a:schemeClr val="tx1"/>
                          </a:solidFill>
                        </a:rPr>
                        <a:t>4</a:t>
                      </a:r>
                      <a:r>
                        <a:rPr lang="fr-BE" baseline="30000" dirty="0">
                          <a:solidFill>
                            <a:schemeClr val="tx1"/>
                          </a:solidFill>
                        </a:rPr>
                        <a:t>ème</a:t>
                      </a:r>
                      <a:r>
                        <a:rPr lang="fr-BE" dirty="0">
                          <a:solidFill>
                            <a:schemeClr val="tx1"/>
                          </a:solidFill>
                        </a:rPr>
                        <a:t> étape</a:t>
                      </a:r>
                    </a:p>
                  </a:txBody>
                  <a:tcPr/>
                </a:tc>
                <a:tc>
                  <a:txBody>
                    <a:bodyPr/>
                    <a:lstStyle/>
                    <a:p>
                      <a:endParaRPr lang="fr-BE" b="1" dirty="0">
                        <a:solidFill>
                          <a:srgbClr val="C00000"/>
                        </a:solidFill>
                      </a:endParaRPr>
                    </a:p>
                  </a:txBody>
                  <a:tcPr/>
                </a:tc>
                <a:extLst>
                  <a:ext uri="{0D108BD9-81ED-4DB2-BD59-A6C34878D82A}">
                    <a16:rowId xmlns:a16="http://schemas.microsoft.com/office/drawing/2014/main" val="3929228592"/>
                  </a:ext>
                </a:extLst>
              </a:tr>
            </a:tbl>
          </a:graphicData>
        </a:graphic>
      </p:graphicFrame>
    </p:spTree>
    <p:extLst>
      <p:ext uri="{BB962C8B-B14F-4D97-AF65-F5344CB8AC3E}">
        <p14:creationId xmlns:p14="http://schemas.microsoft.com/office/powerpoint/2010/main" val="10660236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E9465347-DE69-49ED-B58A-F572CAC1B0CC}"/>
              </a:ext>
            </a:extLst>
          </p:cNvPr>
          <p:cNvSpPr>
            <a:spLocks noGrp="1"/>
          </p:cNvSpPr>
          <p:nvPr>
            <p:ph type="title"/>
          </p:nvPr>
        </p:nvSpPr>
        <p:spPr/>
        <p:txBody>
          <a:bodyPr>
            <a:normAutofit fontScale="90000"/>
          </a:bodyPr>
          <a:lstStyle/>
          <a:p>
            <a:pPr marL="571500" indent="-571500">
              <a:buFont typeface="Arial" panose="020B0604020202020204" pitchFamily="34" charset="0"/>
              <a:buChar char="•"/>
            </a:pPr>
            <a:r>
              <a:rPr lang="fr-BE" dirty="0"/>
              <a:t>Fixation de la période de référence: DA au 28/11/2022</a:t>
            </a:r>
          </a:p>
        </p:txBody>
      </p:sp>
      <p:sp>
        <p:nvSpPr>
          <p:cNvPr id="4" name="Espace réservé du numéro de diapositive 3">
            <a:extLst>
              <a:ext uri="{FF2B5EF4-FFF2-40B4-BE49-F238E27FC236}">
                <a16:creationId xmlns:a16="http://schemas.microsoft.com/office/drawing/2014/main" id="{A982C608-ABCC-4D2C-9DF3-81373F3F76C4}"/>
              </a:ext>
            </a:extLst>
          </p:cNvPr>
          <p:cNvSpPr>
            <a:spLocks noGrp="1"/>
          </p:cNvSpPr>
          <p:nvPr>
            <p:ph type="sldNum" sz="quarter" idx="12"/>
          </p:nvPr>
        </p:nvSpPr>
        <p:spPr/>
        <p:txBody>
          <a:bodyPr/>
          <a:lstStyle/>
          <a:p>
            <a:fld id="{55E9056B-6A30-4F99-BDE9-C450E66AE125}" type="slidenum">
              <a:rPr lang="fr-FR" smtClean="0"/>
              <a:pPr/>
              <a:t>17</a:t>
            </a:fld>
            <a:endParaRPr lang="fr-FR" dirty="0"/>
          </a:p>
        </p:txBody>
      </p:sp>
      <p:graphicFrame>
        <p:nvGraphicFramePr>
          <p:cNvPr id="8" name="Tableau 7">
            <a:extLst>
              <a:ext uri="{FF2B5EF4-FFF2-40B4-BE49-F238E27FC236}">
                <a16:creationId xmlns:a16="http://schemas.microsoft.com/office/drawing/2014/main" id="{347CC0E2-57AC-4FB1-B25F-E56F04810F94}"/>
              </a:ext>
            </a:extLst>
          </p:cNvPr>
          <p:cNvGraphicFramePr>
            <a:graphicFrameLocks/>
          </p:cNvGraphicFramePr>
          <p:nvPr>
            <p:extLst>
              <p:ext uri="{D42A27DB-BD31-4B8C-83A1-F6EECF244321}">
                <p14:modId xmlns:p14="http://schemas.microsoft.com/office/powerpoint/2010/main" val="2222562236"/>
              </p:ext>
            </p:extLst>
          </p:nvPr>
        </p:nvGraphicFramePr>
        <p:xfrm>
          <a:off x="457200" y="1600200"/>
          <a:ext cx="8229600" cy="1854200"/>
        </p:xfrm>
        <a:graphic>
          <a:graphicData uri="http://schemas.openxmlformats.org/drawingml/2006/table">
            <a:tbl>
              <a:tblPr firstRow="1" bandRow="1">
                <a:tableStyleId>{5C22544A-7EE6-4342-B048-85BDC9FD1C3A}</a:tableStyleId>
              </a:tblPr>
              <a:tblGrid>
                <a:gridCol w="2159490">
                  <a:extLst>
                    <a:ext uri="{9D8B030D-6E8A-4147-A177-3AD203B41FA5}">
                      <a16:colId xmlns:a16="http://schemas.microsoft.com/office/drawing/2014/main" val="1012832237"/>
                    </a:ext>
                  </a:extLst>
                </a:gridCol>
                <a:gridCol w="6070110">
                  <a:extLst>
                    <a:ext uri="{9D8B030D-6E8A-4147-A177-3AD203B41FA5}">
                      <a16:colId xmlns:a16="http://schemas.microsoft.com/office/drawing/2014/main" val="782386251"/>
                    </a:ext>
                  </a:extLst>
                </a:gridCol>
              </a:tblGrid>
              <a:tr h="370840">
                <a:tc>
                  <a:txBody>
                    <a:bodyPr/>
                    <a:lstStyle/>
                    <a:p>
                      <a:r>
                        <a:rPr lang="fr-BE" sz="1600" dirty="0">
                          <a:solidFill>
                            <a:schemeClr val="tx1"/>
                          </a:solidFill>
                        </a:rPr>
                        <a:t>DA au 17/10/2022</a:t>
                      </a:r>
                    </a:p>
                  </a:txBody>
                  <a:tcPr/>
                </a:tc>
                <a:tc>
                  <a:txBody>
                    <a:bodyPr/>
                    <a:lstStyle/>
                    <a:p>
                      <a:pPr algn="ctr"/>
                      <a:r>
                        <a:rPr lang="fr-BE" dirty="0">
                          <a:solidFill>
                            <a:schemeClr val="tx1"/>
                          </a:solidFill>
                        </a:rPr>
                        <a:t>≥ 50 ans</a:t>
                      </a:r>
                    </a:p>
                  </a:txBody>
                  <a:tcPr/>
                </a:tc>
                <a:extLst>
                  <a:ext uri="{0D108BD9-81ED-4DB2-BD59-A6C34878D82A}">
                    <a16:rowId xmlns:a16="http://schemas.microsoft.com/office/drawing/2014/main" val="3919980296"/>
                  </a:ext>
                </a:extLst>
              </a:tr>
              <a:tr h="370840">
                <a:tc>
                  <a:txBody>
                    <a:bodyPr/>
                    <a:lstStyle/>
                    <a:p>
                      <a:pPr algn="ctr"/>
                      <a:r>
                        <a:rPr lang="fr-BE" dirty="0">
                          <a:solidFill>
                            <a:schemeClr val="tx1"/>
                          </a:solidFill>
                        </a:rPr>
                        <a:t>1</a:t>
                      </a:r>
                      <a:r>
                        <a:rPr lang="fr-BE" baseline="30000" dirty="0">
                          <a:solidFill>
                            <a:schemeClr val="tx1"/>
                          </a:solidFill>
                        </a:rPr>
                        <a:t>ère</a:t>
                      </a:r>
                      <a:r>
                        <a:rPr lang="fr-BE" dirty="0">
                          <a:solidFill>
                            <a:schemeClr val="tx1"/>
                          </a:solidFill>
                        </a:rPr>
                        <a:t> étape</a:t>
                      </a:r>
                    </a:p>
                  </a:txBody>
                  <a:tcPr/>
                </a:tc>
                <a:tc>
                  <a:txBody>
                    <a:bodyPr/>
                    <a:lstStyle/>
                    <a:p>
                      <a:pPr algn="ctr"/>
                      <a:endParaRPr lang="fr-BE" b="1" dirty="0"/>
                    </a:p>
                  </a:txBody>
                  <a:tcPr/>
                </a:tc>
                <a:extLst>
                  <a:ext uri="{0D108BD9-81ED-4DB2-BD59-A6C34878D82A}">
                    <a16:rowId xmlns:a16="http://schemas.microsoft.com/office/drawing/2014/main" val="432916319"/>
                  </a:ext>
                </a:extLst>
              </a:tr>
              <a:tr h="370840">
                <a:tc>
                  <a:txBody>
                    <a:bodyPr/>
                    <a:lstStyle/>
                    <a:p>
                      <a:pPr algn="ctr"/>
                      <a:r>
                        <a:rPr lang="fr-BE" dirty="0">
                          <a:solidFill>
                            <a:schemeClr val="tx1"/>
                          </a:solidFill>
                        </a:rPr>
                        <a:t>2</a:t>
                      </a:r>
                      <a:r>
                        <a:rPr lang="fr-BE" baseline="30000" dirty="0">
                          <a:solidFill>
                            <a:schemeClr val="tx1"/>
                          </a:solidFill>
                        </a:rPr>
                        <a:t>ème</a:t>
                      </a:r>
                      <a:r>
                        <a:rPr lang="fr-BE" dirty="0">
                          <a:solidFill>
                            <a:schemeClr val="tx1"/>
                          </a:solidFill>
                        </a:rPr>
                        <a:t> étape</a:t>
                      </a:r>
                    </a:p>
                  </a:txBody>
                  <a:tcPr/>
                </a:tc>
                <a:tc>
                  <a:txBody>
                    <a:bodyPr/>
                    <a:lstStyle/>
                    <a:p>
                      <a:endParaRPr lang="fr-BE" b="1" dirty="0">
                        <a:solidFill>
                          <a:schemeClr val="tx1"/>
                        </a:solidFill>
                      </a:endParaRPr>
                    </a:p>
                  </a:txBody>
                  <a:tcPr/>
                </a:tc>
                <a:extLst>
                  <a:ext uri="{0D108BD9-81ED-4DB2-BD59-A6C34878D82A}">
                    <a16:rowId xmlns:a16="http://schemas.microsoft.com/office/drawing/2014/main" val="1932867693"/>
                  </a:ext>
                </a:extLst>
              </a:tr>
              <a:tr h="370840">
                <a:tc>
                  <a:txBody>
                    <a:bodyPr/>
                    <a:lstStyle/>
                    <a:p>
                      <a:pPr algn="ctr"/>
                      <a:r>
                        <a:rPr lang="fr-BE" dirty="0">
                          <a:solidFill>
                            <a:schemeClr val="tx1"/>
                          </a:solidFill>
                        </a:rPr>
                        <a:t>3</a:t>
                      </a:r>
                      <a:r>
                        <a:rPr lang="fr-BE" baseline="30000" dirty="0">
                          <a:solidFill>
                            <a:schemeClr val="tx1"/>
                          </a:solidFill>
                        </a:rPr>
                        <a:t>ème</a:t>
                      </a:r>
                      <a:r>
                        <a:rPr lang="fr-BE" dirty="0">
                          <a:solidFill>
                            <a:schemeClr val="tx1"/>
                          </a:solidFill>
                        </a:rPr>
                        <a:t> étape</a:t>
                      </a:r>
                    </a:p>
                  </a:txBody>
                  <a:tcPr/>
                </a:tc>
                <a:tc>
                  <a:txBody>
                    <a:bodyPr/>
                    <a:lstStyle/>
                    <a:p>
                      <a:endParaRPr lang="fr-BE" b="1" dirty="0"/>
                    </a:p>
                  </a:txBody>
                  <a:tcPr/>
                </a:tc>
                <a:extLst>
                  <a:ext uri="{0D108BD9-81ED-4DB2-BD59-A6C34878D82A}">
                    <a16:rowId xmlns:a16="http://schemas.microsoft.com/office/drawing/2014/main" val="1177593652"/>
                  </a:ext>
                </a:extLst>
              </a:tr>
              <a:tr h="370840">
                <a:tc>
                  <a:txBody>
                    <a:bodyPr/>
                    <a:lstStyle/>
                    <a:p>
                      <a:pPr algn="ctr"/>
                      <a:r>
                        <a:rPr lang="fr-BE" dirty="0">
                          <a:solidFill>
                            <a:schemeClr val="tx1"/>
                          </a:solidFill>
                        </a:rPr>
                        <a:t>4</a:t>
                      </a:r>
                      <a:r>
                        <a:rPr lang="fr-BE" baseline="30000" dirty="0">
                          <a:solidFill>
                            <a:schemeClr val="tx1"/>
                          </a:solidFill>
                        </a:rPr>
                        <a:t>ème</a:t>
                      </a:r>
                      <a:r>
                        <a:rPr lang="fr-BE" dirty="0">
                          <a:solidFill>
                            <a:schemeClr val="tx1"/>
                          </a:solidFill>
                        </a:rPr>
                        <a:t> étape</a:t>
                      </a:r>
                    </a:p>
                  </a:txBody>
                  <a:tcPr/>
                </a:tc>
                <a:tc>
                  <a:txBody>
                    <a:bodyPr/>
                    <a:lstStyle/>
                    <a:p>
                      <a:endParaRPr lang="fr-BE" b="1" dirty="0">
                        <a:solidFill>
                          <a:srgbClr val="C00000"/>
                        </a:solidFill>
                      </a:endParaRPr>
                    </a:p>
                  </a:txBody>
                  <a:tcPr/>
                </a:tc>
                <a:extLst>
                  <a:ext uri="{0D108BD9-81ED-4DB2-BD59-A6C34878D82A}">
                    <a16:rowId xmlns:a16="http://schemas.microsoft.com/office/drawing/2014/main" val="3929228592"/>
                  </a:ext>
                </a:extLst>
              </a:tr>
            </a:tbl>
          </a:graphicData>
        </a:graphic>
      </p:graphicFrame>
    </p:spTree>
    <p:extLst>
      <p:ext uri="{BB962C8B-B14F-4D97-AF65-F5344CB8AC3E}">
        <p14:creationId xmlns:p14="http://schemas.microsoft.com/office/powerpoint/2010/main" val="1214842423"/>
      </p:ext>
    </p:extLst>
  </p:cSld>
  <p:clrMapOvr>
    <a:masterClrMapping/>
  </p:clrMapOvr>
  <p:transition>
    <p:dissolv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sz="4000" b="1" i="1" dirty="0"/>
              <a:t> Exemple: Pour une DA le 28/11/2022</a:t>
            </a:r>
          </a:p>
        </p:txBody>
      </p:sp>
      <p:sp>
        <p:nvSpPr>
          <p:cNvPr id="3" name="Espace réservé du contenu 2"/>
          <p:cNvSpPr>
            <a:spLocks noGrp="1"/>
          </p:cNvSpPr>
          <p:nvPr>
            <p:ph idx="1"/>
          </p:nvPr>
        </p:nvSpPr>
        <p:spPr>
          <a:xfrm>
            <a:off x="457200" y="1341688"/>
            <a:ext cx="8229600" cy="4525963"/>
          </a:xfrm>
        </p:spPr>
        <p:txBody>
          <a:bodyPr>
            <a:normAutofit/>
          </a:bodyPr>
          <a:lstStyle/>
          <a:p>
            <a:pPr marL="0" indent="0">
              <a:buNone/>
            </a:pPr>
            <a:r>
              <a:rPr lang="fr-BE" sz="1800" dirty="0">
                <a:solidFill>
                  <a:srgbClr val="00B050"/>
                </a:solidFill>
              </a:rPr>
              <a:t> &lt; de 36ans: </a:t>
            </a:r>
          </a:p>
          <a:p>
            <a:pPr marL="0" indent="0">
              <a:buNone/>
            </a:pPr>
            <a:r>
              <a:rPr lang="fr-BE" sz="1800" dirty="0">
                <a:solidFill>
                  <a:srgbClr val="FF0000"/>
                </a:solidFill>
              </a:rPr>
              <a:t>≥ de 36 ans &amp; &lt; 50 ans</a:t>
            </a:r>
          </a:p>
          <a:p>
            <a:pPr marL="0" indent="0">
              <a:buNone/>
            </a:pPr>
            <a:r>
              <a:rPr lang="fr-BE" sz="1800" dirty="0">
                <a:solidFill>
                  <a:srgbClr val="0033CC"/>
                </a:solidFill>
              </a:rPr>
              <a:t>≥ de 50 ans</a:t>
            </a:r>
          </a:p>
        </p:txBody>
      </p:sp>
      <p:sp>
        <p:nvSpPr>
          <p:cNvPr id="24" name="Accolade ouvrante 23"/>
          <p:cNvSpPr/>
          <p:nvPr/>
        </p:nvSpPr>
        <p:spPr>
          <a:xfrm rot="16200000">
            <a:off x="6344377" y="4095603"/>
            <a:ext cx="235898" cy="1622140"/>
          </a:xfrm>
          <a:prstGeom prst="leftBrace">
            <a:avLst/>
          </a:prstGeom>
          <a:ln>
            <a:solidFill>
              <a:srgbClr val="00800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fr-BE" dirty="0">
              <a:solidFill>
                <a:srgbClr val="008000"/>
              </a:solidFill>
            </a:endParaRPr>
          </a:p>
        </p:txBody>
      </p:sp>
      <p:sp>
        <p:nvSpPr>
          <p:cNvPr id="25" name="ZoneTexte 24"/>
          <p:cNvSpPr txBox="1"/>
          <p:nvPr/>
        </p:nvSpPr>
        <p:spPr>
          <a:xfrm>
            <a:off x="6584990" y="4945457"/>
            <a:ext cx="1407049" cy="307777"/>
          </a:xfrm>
          <a:prstGeom prst="rect">
            <a:avLst/>
          </a:prstGeom>
          <a:noFill/>
        </p:spPr>
        <p:txBody>
          <a:bodyPr wrap="square" rtlCol="0">
            <a:spAutoFit/>
          </a:bodyPr>
          <a:lstStyle/>
          <a:p>
            <a:pPr algn="ctr"/>
            <a:r>
              <a:rPr lang="fr-BE" sz="1400" b="1" dirty="0">
                <a:solidFill>
                  <a:srgbClr val="008000"/>
                </a:solidFill>
              </a:rPr>
              <a:t>27.11.2022</a:t>
            </a:r>
          </a:p>
        </p:txBody>
      </p:sp>
      <p:sp>
        <p:nvSpPr>
          <p:cNvPr id="26" name="ZoneTexte 25"/>
          <p:cNvSpPr txBox="1"/>
          <p:nvPr/>
        </p:nvSpPr>
        <p:spPr>
          <a:xfrm>
            <a:off x="5074356" y="4958866"/>
            <a:ext cx="1153799" cy="307777"/>
          </a:xfrm>
          <a:prstGeom prst="rect">
            <a:avLst/>
          </a:prstGeom>
          <a:noFill/>
        </p:spPr>
        <p:txBody>
          <a:bodyPr wrap="square" rtlCol="0">
            <a:spAutoFit/>
          </a:bodyPr>
          <a:lstStyle/>
          <a:p>
            <a:pPr algn="ctr"/>
            <a:r>
              <a:rPr lang="fr-BE" sz="1400" b="1" dirty="0">
                <a:solidFill>
                  <a:srgbClr val="008000"/>
                </a:solidFill>
              </a:rPr>
              <a:t>28.02.2021</a:t>
            </a:r>
            <a:endParaRPr lang="fr-BE" sz="1200" b="1" dirty="0">
              <a:solidFill>
                <a:srgbClr val="008000"/>
              </a:solidFill>
            </a:endParaRPr>
          </a:p>
        </p:txBody>
      </p:sp>
      <p:sp>
        <p:nvSpPr>
          <p:cNvPr id="27" name="ZoneTexte 26"/>
          <p:cNvSpPr txBox="1"/>
          <p:nvPr/>
        </p:nvSpPr>
        <p:spPr>
          <a:xfrm>
            <a:off x="5526222" y="5135845"/>
            <a:ext cx="1872208" cy="307777"/>
          </a:xfrm>
          <a:prstGeom prst="rect">
            <a:avLst/>
          </a:prstGeom>
          <a:noFill/>
        </p:spPr>
        <p:txBody>
          <a:bodyPr wrap="square" rtlCol="0">
            <a:spAutoFit/>
          </a:bodyPr>
          <a:lstStyle/>
          <a:p>
            <a:pPr algn="ctr"/>
            <a:r>
              <a:rPr lang="fr-BE" sz="1400" b="1" dirty="0">
                <a:solidFill>
                  <a:srgbClr val="008000"/>
                </a:solidFill>
              </a:rPr>
              <a:t>Période référence</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18</a:t>
            </a:fld>
            <a:endParaRPr lang="fr-FR" dirty="0"/>
          </a:p>
        </p:txBody>
      </p:sp>
      <p:cxnSp>
        <p:nvCxnSpPr>
          <p:cNvPr id="51" name="Connecteur droit avec flèche 50"/>
          <p:cNvCxnSpPr/>
          <p:nvPr/>
        </p:nvCxnSpPr>
        <p:spPr>
          <a:xfrm>
            <a:off x="755576" y="3933056"/>
            <a:ext cx="7416824"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Connecteur droit avec flèche 39"/>
          <p:cNvCxnSpPr>
            <a:cxnSpLocks/>
          </p:cNvCxnSpPr>
          <p:nvPr/>
        </p:nvCxnSpPr>
        <p:spPr>
          <a:xfrm>
            <a:off x="7308304" y="2204864"/>
            <a:ext cx="0" cy="2061093"/>
          </a:xfrm>
          <a:prstGeom prst="straightConnector1">
            <a:avLst/>
          </a:prstGeom>
          <a:ln w="38100">
            <a:tailEnd type="arrow"/>
          </a:ln>
        </p:spPr>
        <p:style>
          <a:lnRef idx="2">
            <a:schemeClr val="accent2"/>
          </a:lnRef>
          <a:fillRef idx="0">
            <a:schemeClr val="accent2"/>
          </a:fillRef>
          <a:effectRef idx="1">
            <a:schemeClr val="accent2"/>
          </a:effectRef>
          <a:fontRef idx="minor">
            <a:schemeClr val="tx1"/>
          </a:fontRef>
        </p:style>
      </p:cxnSp>
      <p:cxnSp>
        <p:nvCxnSpPr>
          <p:cNvPr id="42" name="Connecteur droit 41"/>
          <p:cNvCxnSpPr>
            <a:cxnSpLocks/>
          </p:cNvCxnSpPr>
          <p:nvPr/>
        </p:nvCxnSpPr>
        <p:spPr>
          <a:xfrm>
            <a:off x="7273395" y="2831170"/>
            <a:ext cx="0" cy="1994212"/>
          </a:xfrm>
          <a:prstGeom prst="line">
            <a:avLst/>
          </a:prstGeom>
          <a:ln w="38100" cmpd="sng">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43" name="Connecteur droit 42"/>
          <p:cNvCxnSpPr>
            <a:cxnSpLocks/>
          </p:cNvCxnSpPr>
          <p:nvPr/>
        </p:nvCxnSpPr>
        <p:spPr>
          <a:xfrm flipH="1">
            <a:off x="5651255" y="2838676"/>
            <a:ext cx="18319" cy="1979200"/>
          </a:xfrm>
          <a:prstGeom prst="line">
            <a:avLst/>
          </a:prstGeom>
          <a:ln w="38100" cmpd="sng">
            <a:solidFill>
              <a:srgbClr val="008000"/>
            </a:solidFill>
          </a:ln>
        </p:spPr>
        <p:style>
          <a:lnRef idx="1">
            <a:schemeClr val="accent1"/>
          </a:lnRef>
          <a:fillRef idx="0">
            <a:schemeClr val="accent1"/>
          </a:fillRef>
          <a:effectRef idx="0">
            <a:schemeClr val="accent1"/>
          </a:effectRef>
          <a:fontRef idx="minor">
            <a:schemeClr val="tx1"/>
          </a:fontRef>
        </p:style>
      </p:cxnSp>
      <p:sp>
        <p:nvSpPr>
          <p:cNvPr id="15" name="ZoneTexte 14"/>
          <p:cNvSpPr txBox="1"/>
          <p:nvPr/>
        </p:nvSpPr>
        <p:spPr>
          <a:xfrm>
            <a:off x="6372200" y="4234534"/>
            <a:ext cx="1872208" cy="523220"/>
          </a:xfrm>
          <a:prstGeom prst="rect">
            <a:avLst/>
          </a:prstGeom>
          <a:noFill/>
        </p:spPr>
        <p:txBody>
          <a:bodyPr wrap="square" rtlCol="0">
            <a:spAutoFit/>
          </a:bodyPr>
          <a:lstStyle/>
          <a:p>
            <a:pPr algn="ctr"/>
            <a:r>
              <a:rPr lang="fr-BE" sz="1400" b="1" dirty="0"/>
              <a:t>DA le 28.11.2022</a:t>
            </a:r>
          </a:p>
          <a:p>
            <a:pPr algn="ctr"/>
            <a:endParaRPr lang="fr-BE" sz="1400" b="1" dirty="0"/>
          </a:p>
        </p:txBody>
      </p:sp>
      <p:cxnSp>
        <p:nvCxnSpPr>
          <p:cNvPr id="12" name="Connecteur droit 11">
            <a:extLst>
              <a:ext uri="{FF2B5EF4-FFF2-40B4-BE49-F238E27FC236}">
                <a16:creationId xmlns:a16="http://schemas.microsoft.com/office/drawing/2014/main" id="{C82C2551-E2EC-4B6B-BC9C-23F5FC5B1EBC}"/>
              </a:ext>
            </a:extLst>
          </p:cNvPr>
          <p:cNvCxnSpPr/>
          <p:nvPr/>
        </p:nvCxnSpPr>
        <p:spPr>
          <a:xfrm>
            <a:off x="7343213" y="2831170"/>
            <a:ext cx="0" cy="268514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02DEC354-99EC-4B0D-B948-C8D09D695EF9}"/>
              </a:ext>
            </a:extLst>
          </p:cNvPr>
          <p:cNvCxnSpPr>
            <a:cxnSpLocks/>
            <a:endCxn id="16" idx="2"/>
          </p:cNvCxnSpPr>
          <p:nvPr/>
        </p:nvCxnSpPr>
        <p:spPr>
          <a:xfrm>
            <a:off x="3923928" y="2838676"/>
            <a:ext cx="1" cy="266142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Accolade fermante 15">
            <a:extLst>
              <a:ext uri="{FF2B5EF4-FFF2-40B4-BE49-F238E27FC236}">
                <a16:creationId xmlns:a16="http://schemas.microsoft.com/office/drawing/2014/main" id="{A60D83CD-228F-4E53-A13B-EAD5C830DD2E}"/>
              </a:ext>
            </a:extLst>
          </p:cNvPr>
          <p:cNvSpPr/>
          <p:nvPr/>
        </p:nvSpPr>
        <p:spPr>
          <a:xfrm rot="5400000">
            <a:off x="5540395" y="3883636"/>
            <a:ext cx="186352" cy="3419285"/>
          </a:xfrm>
          <a:prstGeom prst="righ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BE" dirty="0"/>
          </a:p>
        </p:txBody>
      </p:sp>
      <p:sp>
        <p:nvSpPr>
          <p:cNvPr id="21" name="Rectangle 20">
            <a:extLst>
              <a:ext uri="{FF2B5EF4-FFF2-40B4-BE49-F238E27FC236}">
                <a16:creationId xmlns:a16="http://schemas.microsoft.com/office/drawing/2014/main" id="{04F4A021-E47E-4621-8B4E-D682AB1A26B2}"/>
              </a:ext>
            </a:extLst>
          </p:cNvPr>
          <p:cNvSpPr/>
          <p:nvPr/>
        </p:nvSpPr>
        <p:spPr>
          <a:xfrm>
            <a:off x="4737563" y="5673542"/>
            <a:ext cx="1872191" cy="22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1400" b="1" dirty="0">
                <a:solidFill>
                  <a:srgbClr val="FF0000"/>
                </a:solidFill>
              </a:rPr>
              <a:t>Période de référence</a:t>
            </a:r>
          </a:p>
        </p:txBody>
      </p:sp>
      <p:sp>
        <p:nvSpPr>
          <p:cNvPr id="22" name="ZoneTexte 21">
            <a:extLst>
              <a:ext uri="{FF2B5EF4-FFF2-40B4-BE49-F238E27FC236}">
                <a16:creationId xmlns:a16="http://schemas.microsoft.com/office/drawing/2014/main" id="{BEEA45AA-7B4D-4CE1-B356-BD4928E5823D}"/>
              </a:ext>
            </a:extLst>
          </p:cNvPr>
          <p:cNvSpPr txBox="1"/>
          <p:nvPr/>
        </p:nvSpPr>
        <p:spPr>
          <a:xfrm>
            <a:off x="3419871" y="5635540"/>
            <a:ext cx="1008112" cy="307777"/>
          </a:xfrm>
          <a:prstGeom prst="rect">
            <a:avLst/>
          </a:prstGeom>
          <a:noFill/>
        </p:spPr>
        <p:txBody>
          <a:bodyPr wrap="square" rtlCol="0">
            <a:spAutoFit/>
          </a:bodyPr>
          <a:lstStyle/>
          <a:p>
            <a:r>
              <a:rPr lang="fr-BE" sz="1400" b="1" dirty="0">
                <a:solidFill>
                  <a:srgbClr val="FF0000"/>
                </a:solidFill>
              </a:rPr>
              <a:t>28.02.2020</a:t>
            </a:r>
          </a:p>
        </p:txBody>
      </p:sp>
      <p:sp>
        <p:nvSpPr>
          <p:cNvPr id="46" name="ZoneTexte 45">
            <a:extLst>
              <a:ext uri="{FF2B5EF4-FFF2-40B4-BE49-F238E27FC236}">
                <a16:creationId xmlns:a16="http://schemas.microsoft.com/office/drawing/2014/main" id="{8C4584FC-3145-41B6-A704-23043A2DFB51}"/>
              </a:ext>
            </a:extLst>
          </p:cNvPr>
          <p:cNvSpPr txBox="1"/>
          <p:nvPr/>
        </p:nvSpPr>
        <p:spPr>
          <a:xfrm>
            <a:off x="6609754" y="5629850"/>
            <a:ext cx="1407049" cy="307777"/>
          </a:xfrm>
          <a:prstGeom prst="rect">
            <a:avLst/>
          </a:prstGeom>
          <a:noFill/>
        </p:spPr>
        <p:txBody>
          <a:bodyPr wrap="square" rtlCol="0">
            <a:spAutoFit/>
          </a:bodyPr>
          <a:lstStyle/>
          <a:p>
            <a:pPr algn="ctr"/>
            <a:r>
              <a:rPr lang="fr-BE" sz="1400" b="1" dirty="0">
                <a:solidFill>
                  <a:srgbClr val="FF0000"/>
                </a:solidFill>
              </a:rPr>
              <a:t>27.11.2022</a:t>
            </a:r>
          </a:p>
        </p:txBody>
      </p:sp>
      <p:cxnSp>
        <p:nvCxnSpPr>
          <p:cNvPr id="37" name="Connecteur droit 36">
            <a:extLst>
              <a:ext uri="{FF2B5EF4-FFF2-40B4-BE49-F238E27FC236}">
                <a16:creationId xmlns:a16="http://schemas.microsoft.com/office/drawing/2014/main" id="{8C862693-6937-4B76-9806-822CAA60ADEF}"/>
              </a:ext>
            </a:extLst>
          </p:cNvPr>
          <p:cNvCxnSpPr>
            <a:endCxn id="46" idx="2"/>
          </p:cNvCxnSpPr>
          <p:nvPr/>
        </p:nvCxnSpPr>
        <p:spPr>
          <a:xfrm>
            <a:off x="7273395" y="2838675"/>
            <a:ext cx="39884" cy="3098952"/>
          </a:xfrm>
          <a:prstGeom prst="line">
            <a:avLst/>
          </a:prstGeom>
          <a:ln w="381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B9534E50-95F9-4F93-AA66-AB9902A63A7B}"/>
              </a:ext>
            </a:extLst>
          </p:cNvPr>
          <p:cNvCxnSpPr/>
          <p:nvPr/>
        </p:nvCxnSpPr>
        <p:spPr>
          <a:xfrm>
            <a:off x="2843808" y="2852936"/>
            <a:ext cx="0" cy="3084691"/>
          </a:xfrm>
          <a:prstGeom prst="line">
            <a:avLst/>
          </a:prstGeom>
          <a:ln w="38100">
            <a:solidFill>
              <a:srgbClr val="0033CC"/>
            </a:solidFill>
          </a:ln>
        </p:spPr>
        <p:style>
          <a:lnRef idx="1">
            <a:schemeClr val="accent1"/>
          </a:lnRef>
          <a:fillRef idx="0">
            <a:schemeClr val="accent1"/>
          </a:fillRef>
          <a:effectRef idx="0">
            <a:schemeClr val="accent1"/>
          </a:effectRef>
          <a:fontRef idx="minor">
            <a:schemeClr val="tx1"/>
          </a:fontRef>
        </p:style>
      </p:cxnSp>
      <p:sp>
        <p:nvSpPr>
          <p:cNvPr id="47" name="Accolade fermante 46">
            <a:extLst>
              <a:ext uri="{FF2B5EF4-FFF2-40B4-BE49-F238E27FC236}">
                <a16:creationId xmlns:a16="http://schemas.microsoft.com/office/drawing/2014/main" id="{D60A80DA-5C47-4E9C-A802-70B7FFA5B5B1}"/>
              </a:ext>
            </a:extLst>
          </p:cNvPr>
          <p:cNvSpPr/>
          <p:nvPr/>
        </p:nvSpPr>
        <p:spPr>
          <a:xfrm rot="5400000">
            <a:off x="4984948" y="3795523"/>
            <a:ext cx="187194" cy="4469473"/>
          </a:xfrm>
          <a:prstGeom prst="rightBrace">
            <a:avLst/>
          </a:prstGeom>
          <a:ln w="38100">
            <a:solidFill>
              <a:srgbClr val="0033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BE" dirty="0"/>
          </a:p>
        </p:txBody>
      </p:sp>
      <p:sp>
        <p:nvSpPr>
          <p:cNvPr id="54" name="Rectangle 53">
            <a:extLst>
              <a:ext uri="{FF2B5EF4-FFF2-40B4-BE49-F238E27FC236}">
                <a16:creationId xmlns:a16="http://schemas.microsoft.com/office/drawing/2014/main" id="{EB060CF6-8128-4613-B4B2-2C141F879B1B}"/>
              </a:ext>
            </a:extLst>
          </p:cNvPr>
          <p:cNvSpPr/>
          <p:nvPr/>
        </p:nvSpPr>
        <p:spPr>
          <a:xfrm>
            <a:off x="4211960" y="6136090"/>
            <a:ext cx="1872191" cy="22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1400" b="1" dirty="0">
                <a:solidFill>
                  <a:srgbClr val="0033CC"/>
                </a:solidFill>
              </a:rPr>
              <a:t>Période de référence</a:t>
            </a:r>
          </a:p>
        </p:txBody>
      </p:sp>
      <p:sp>
        <p:nvSpPr>
          <p:cNvPr id="55" name="ZoneTexte 54">
            <a:extLst>
              <a:ext uri="{FF2B5EF4-FFF2-40B4-BE49-F238E27FC236}">
                <a16:creationId xmlns:a16="http://schemas.microsoft.com/office/drawing/2014/main" id="{D81C3E6F-FB35-4E40-95A5-975FDF4AFD85}"/>
              </a:ext>
            </a:extLst>
          </p:cNvPr>
          <p:cNvSpPr txBox="1"/>
          <p:nvPr/>
        </p:nvSpPr>
        <p:spPr>
          <a:xfrm>
            <a:off x="6553200" y="6086215"/>
            <a:ext cx="1407049" cy="307777"/>
          </a:xfrm>
          <a:prstGeom prst="rect">
            <a:avLst/>
          </a:prstGeom>
          <a:noFill/>
        </p:spPr>
        <p:txBody>
          <a:bodyPr wrap="square" rtlCol="0">
            <a:spAutoFit/>
          </a:bodyPr>
          <a:lstStyle/>
          <a:p>
            <a:pPr algn="ctr"/>
            <a:r>
              <a:rPr lang="fr-BE" sz="1400" b="1" dirty="0">
                <a:solidFill>
                  <a:srgbClr val="0033CC"/>
                </a:solidFill>
              </a:rPr>
              <a:t>27.11.2022</a:t>
            </a:r>
          </a:p>
        </p:txBody>
      </p:sp>
      <p:sp>
        <p:nvSpPr>
          <p:cNvPr id="56" name="ZoneTexte 55">
            <a:extLst>
              <a:ext uri="{FF2B5EF4-FFF2-40B4-BE49-F238E27FC236}">
                <a16:creationId xmlns:a16="http://schemas.microsoft.com/office/drawing/2014/main" id="{32174F35-B134-4B5E-B98F-E70BEC48F9B6}"/>
              </a:ext>
            </a:extLst>
          </p:cNvPr>
          <p:cNvSpPr txBox="1"/>
          <p:nvPr/>
        </p:nvSpPr>
        <p:spPr>
          <a:xfrm>
            <a:off x="2140265" y="6080139"/>
            <a:ext cx="1407049" cy="307777"/>
          </a:xfrm>
          <a:prstGeom prst="rect">
            <a:avLst/>
          </a:prstGeom>
          <a:noFill/>
        </p:spPr>
        <p:txBody>
          <a:bodyPr wrap="square" rtlCol="0">
            <a:spAutoFit/>
          </a:bodyPr>
          <a:lstStyle/>
          <a:p>
            <a:pPr algn="ctr"/>
            <a:r>
              <a:rPr lang="fr-BE" sz="1400" b="1" dirty="0">
                <a:solidFill>
                  <a:srgbClr val="0033CC"/>
                </a:solidFill>
              </a:rPr>
              <a:t>28.05.2019</a:t>
            </a:r>
          </a:p>
        </p:txBody>
      </p:sp>
    </p:spTree>
    <p:extLst>
      <p:ext uri="{BB962C8B-B14F-4D97-AF65-F5344CB8AC3E}">
        <p14:creationId xmlns:p14="http://schemas.microsoft.com/office/powerpoint/2010/main" val="4518785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wipe(up)">
                                      <p:cBhvr>
                                        <p:cTn id="11" dur="1000"/>
                                        <p:tgtEl>
                                          <p:spTgt spid="4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1000"/>
                                        <p:tgtEl>
                                          <p:spTgt spid="25"/>
                                        </p:tgtEl>
                                      </p:cBhvr>
                                    </p:animEffect>
                                  </p:childTnLst>
                                </p:cTn>
                              </p:par>
                            </p:childTnLst>
                          </p:cTn>
                        </p:par>
                        <p:par>
                          <p:cTn id="15" fill="hold">
                            <p:stCondLst>
                              <p:cond delay="2000"/>
                            </p:stCondLst>
                            <p:childTnLst>
                              <p:par>
                                <p:cTn id="16" presetID="22" presetClass="entr" presetSubtype="2" fill="hold" grpId="0" nodeType="after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right)">
                                      <p:cBhvr>
                                        <p:cTn id="18" dur="1000"/>
                                        <p:tgtEl>
                                          <p:spTgt spid="24"/>
                                        </p:tgtEl>
                                      </p:cBhvr>
                                    </p:animEffect>
                                  </p:childTnLst>
                                </p:cTn>
                              </p:par>
                            </p:childTnLst>
                          </p:cTn>
                        </p:par>
                        <p:par>
                          <p:cTn id="19" fill="hold">
                            <p:stCondLst>
                              <p:cond delay="3000"/>
                            </p:stCondLst>
                            <p:childTnLst>
                              <p:par>
                                <p:cTn id="20" presetID="22" presetClass="entr" presetSubtype="4" fill="hold" nodeType="after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wipe(down)">
                                      <p:cBhvr>
                                        <p:cTn id="22" dur="1000"/>
                                        <p:tgtEl>
                                          <p:spTgt spid="4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10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Effect transition="in" filter="fade">
                                      <p:cBhvr>
                                        <p:cTn id="30" dur="1000"/>
                                        <p:tgtEl>
                                          <p:spTgt spid="21">
                                            <p:txEl>
                                              <p:pRg st="0" end="0"/>
                                            </p:txEl>
                                          </p:spTgt>
                                        </p:tgtEl>
                                      </p:cBhvr>
                                    </p:animEffect>
                                  </p:childTnLst>
                                </p:cTn>
                              </p:par>
                            </p:childTnLst>
                          </p:cTn>
                        </p:par>
                        <p:par>
                          <p:cTn id="31" fill="hold">
                            <p:stCondLst>
                              <p:cond delay="1000"/>
                            </p:stCondLst>
                            <p:childTnLst>
                              <p:par>
                                <p:cTn id="32" presetID="22" presetClass="entr" presetSubtype="1" fill="hold"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up)">
                                      <p:cBhvr>
                                        <p:cTn id="34" dur="10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fade">
                                      <p:cBhvr>
                                        <p:cTn id="37" dur="1000"/>
                                        <p:tgtEl>
                                          <p:spTgt spid="46"/>
                                        </p:tgtEl>
                                      </p:cBhvr>
                                    </p:animEffect>
                                  </p:childTnLst>
                                </p:cTn>
                              </p:par>
                            </p:childTnLst>
                          </p:cTn>
                        </p:par>
                        <p:par>
                          <p:cTn id="38" fill="hold">
                            <p:stCondLst>
                              <p:cond delay="2000"/>
                            </p:stCondLst>
                            <p:childTnLst>
                              <p:par>
                                <p:cTn id="39" presetID="22" presetClass="entr" presetSubtype="2" fill="hold" grpId="0" nodeType="after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right)">
                                      <p:cBhvr>
                                        <p:cTn id="41" dur="1000"/>
                                        <p:tgtEl>
                                          <p:spTgt spid="16"/>
                                        </p:tgtEl>
                                      </p:cBhvr>
                                    </p:animEffect>
                                  </p:childTnLst>
                                </p:cTn>
                              </p:par>
                            </p:childTnLst>
                          </p:cTn>
                        </p:par>
                        <p:par>
                          <p:cTn id="42" fill="hold">
                            <p:stCondLst>
                              <p:cond delay="3000"/>
                            </p:stCondLst>
                            <p:childTnLst>
                              <p:par>
                                <p:cTn id="43" presetID="22" presetClass="entr" presetSubtype="4" fill="hold" nodeType="after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down)">
                                      <p:cBhvr>
                                        <p:cTn id="45" dur="1000"/>
                                        <p:tgtEl>
                                          <p:spTgt spid="1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1000"/>
                                        <p:tgtEl>
                                          <p:spTgt spid="22"/>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54"/>
                                        </p:tgtEl>
                                        <p:attrNameLst>
                                          <p:attrName>style.visibility</p:attrName>
                                        </p:attrNameLst>
                                      </p:cBhvr>
                                      <p:to>
                                        <p:strVal val="visible"/>
                                      </p:to>
                                    </p:set>
                                    <p:animEffect transition="in" filter="fade">
                                      <p:cBhvr>
                                        <p:cTn id="53" dur="1000"/>
                                        <p:tgtEl>
                                          <p:spTgt spid="54"/>
                                        </p:tgtEl>
                                      </p:cBhvr>
                                    </p:animEffect>
                                  </p:childTnLst>
                                </p:cTn>
                              </p:par>
                            </p:childTnLst>
                          </p:cTn>
                        </p:par>
                        <p:par>
                          <p:cTn id="54" fill="hold">
                            <p:stCondLst>
                              <p:cond delay="1000"/>
                            </p:stCondLst>
                            <p:childTnLst>
                              <p:par>
                                <p:cTn id="55" presetID="22" presetClass="entr" presetSubtype="1" fill="hold" nodeType="after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wipe(up)">
                                      <p:cBhvr>
                                        <p:cTn id="57" dur="1000"/>
                                        <p:tgtEl>
                                          <p:spTgt spid="3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5"/>
                                        </p:tgtEl>
                                        <p:attrNameLst>
                                          <p:attrName>style.visibility</p:attrName>
                                        </p:attrNameLst>
                                      </p:cBhvr>
                                      <p:to>
                                        <p:strVal val="visible"/>
                                      </p:to>
                                    </p:set>
                                    <p:animEffect transition="in" filter="fade">
                                      <p:cBhvr>
                                        <p:cTn id="60" dur="1000"/>
                                        <p:tgtEl>
                                          <p:spTgt spid="55"/>
                                        </p:tgtEl>
                                      </p:cBhvr>
                                    </p:animEffect>
                                  </p:childTnLst>
                                </p:cTn>
                              </p:par>
                            </p:childTnLst>
                          </p:cTn>
                        </p:par>
                        <p:par>
                          <p:cTn id="61" fill="hold">
                            <p:stCondLst>
                              <p:cond delay="2000"/>
                            </p:stCondLst>
                            <p:childTnLst>
                              <p:par>
                                <p:cTn id="62" presetID="22" presetClass="entr" presetSubtype="2" fill="hold" grpId="0" nodeType="afterEffect">
                                  <p:stCondLst>
                                    <p:cond delay="0"/>
                                  </p:stCondLst>
                                  <p:childTnLst>
                                    <p:set>
                                      <p:cBhvr>
                                        <p:cTn id="63" dur="1" fill="hold">
                                          <p:stCondLst>
                                            <p:cond delay="0"/>
                                          </p:stCondLst>
                                        </p:cTn>
                                        <p:tgtEl>
                                          <p:spTgt spid="47"/>
                                        </p:tgtEl>
                                        <p:attrNameLst>
                                          <p:attrName>style.visibility</p:attrName>
                                        </p:attrNameLst>
                                      </p:cBhvr>
                                      <p:to>
                                        <p:strVal val="visible"/>
                                      </p:to>
                                    </p:set>
                                    <p:animEffect transition="in" filter="wipe(right)">
                                      <p:cBhvr>
                                        <p:cTn id="64" dur="1000"/>
                                        <p:tgtEl>
                                          <p:spTgt spid="47"/>
                                        </p:tgtEl>
                                      </p:cBhvr>
                                    </p:animEffect>
                                  </p:childTnLst>
                                </p:cTn>
                              </p:par>
                            </p:childTnLst>
                          </p:cTn>
                        </p:par>
                        <p:par>
                          <p:cTn id="65" fill="hold">
                            <p:stCondLst>
                              <p:cond delay="3000"/>
                            </p:stCondLst>
                            <p:childTnLst>
                              <p:par>
                                <p:cTn id="66" presetID="22" presetClass="entr" presetSubtype="4" fill="hold" nodeType="afterEffect">
                                  <p:stCondLst>
                                    <p:cond delay="0"/>
                                  </p:stCondLst>
                                  <p:childTnLst>
                                    <p:set>
                                      <p:cBhvr>
                                        <p:cTn id="67" dur="1" fill="hold">
                                          <p:stCondLst>
                                            <p:cond delay="0"/>
                                          </p:stCondLst>
                                        </p:cTn>
                                        <p:tgtEl>
                                          <p:spTgt spid="39"/>
                                        </p:tgtEl>
                                        <p:attrNameLst>
                                          <p:attrName>style.visibility</p:attrName>
                                        </p:attrNameLst>
                                      </p:cBhvr>
                                      <p:to>
                                        <p:strVal val="visible"/>
                                      </p:to>
                                    </p:set>
                                    <p:animEffect transition="in" filter="wipe(down)">
                                      <p:cBhvr>
                                        <p:cTn id="68" dur="1000"/>
                                        <p:tgtEl>
                                          <p:spTgt spid="3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56"/>
                                        </p:tgtEl>
                                        <p:attrNameLst>
                                          <p:attrName>style.visibility</p:attrName>
                                        </p:attrNameLst>
                                      </p:cBhvr>
                                      <p:to>
                                        <p:strVal val="visible"/>
                                      </p:to>
                                    </p:set>
                                    <p:animEffect transition="in" filter="fade">
                                      <p:cBhvr>
                                        <p:cTn id="71" dur="10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P spid="26" grpId="0"/>
      <p:bldP spid="27" grpId="0"/>
      <p:bldP spid="16" grpId="0" animBg="1"/>
      <p:bldP spid="22" grpId="0"/>
      <p:bldP spid="46" grpId="0"/>
      <p:bldP spid="47" grpId="0" animBg="1"/>
      <p:bldP spid="54" grpId="0"/>
      <p:bldP spid="55" grpId="0"/>
      <p:bldP spid="5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r>
              <a:rPr lang="fr-BE" sz="4000" b="1" i="1" dirty="0">
                <a:cs typeface="Times New Roman" pitchFamily="18" charset="0"/>
              </a:rPr>
              <a:t>4. Assouplissements</a:t>
            </a:r>
            <a:endParaRPr lang="fr-FR" sz="4000" b="1" i="1" dirty="0">
              <a:cs typeface="Times New Roman" pitchFamily="18" charset="0"/>
            </a:endParaRPr>
          </a:p>
        </p:txBody>
      </p:sp>
      <p:sp>
        <p:nvSpPr>
          <p:cNvPr id="8" name="Espace réservé du contenu 7"/>
          <p:cNvSpPr>
            <a:spLocks noGrp="1"/>
          </p:cNvSpPr>
          <p:nvPr>
            <p:ph idx="1"/>
          </p:nvPr>
        </p:nvSpPr>
        <p:spPr/>
        <p:txBody>
          <a:bodyPr>
            <a:normAutofit/>
          </a:bodyPr>
          <a:lstStyle/>
          <a:p>
            <a:pPr marL="609600" indent="-609600">
              <a:spcBef>
                <a:spcPts val="0"/>
              </a:spcBef>
              <a:buSzPct val="80000"/>
              <a:buNone/>
            </a:pPr>
            <a:r>
              <a:rPr lang="fr-BE" dirty="0">
                <a:cs typeface="Times New Roman" pitchFamily="18" charset="0"/>
              </a:rPr>
              <a:t>1. 	Satisfaire aux conditions </a:t>
            </a:r>
            <a:r>
              <a:rPr lang="fr-BE" b="1" u="sng" dirty="0">
                <a:cs typeface="Times New Roman" pitchFamily="18" charset="0"/>
              </a:rPr>
              <a:t>d’une</a:t>
            </a:r>
            <a:r>
              <a:rPr lang="fr-BE" dirty="0">
                <a:cs typeface="Times New Roman" pitchFamily="18" charset="0"/>
              </a:rPr>
              <a:t> </a:t>
            </a:r>
            <a:r>
              <a:rPr lang="fr-BE" b="1" dirty="0">
                <a:solidFill>
                  <a:srgbClr val="C00000"/>
                </a:solidFill>
                <a:cs typeface="Times New Roman" pitchFamily="18" charset="0"/>
              </a:rPr>
              <a:t>catégorie d’âge supérieure</a:t>
            </a:r>
            <a:r>
              <a:rPr lang="fr-BE" dirty="0">
                <a:cs typeface="Times New Roman" pitchFamily="18" charset="0"/>
              </a:rPr>
              <a:t>.</a:t>
            </a:r>
          </a:p>
          <a:p>
            <a:pPr marL="609600" indent="-609600">
              <a:spcBef>
                <a:spcPts val="0"/>
              </a:spcBef>
              <a:buSzPct val="80000"/>
              <a:buNone/>
            </a:pPr>
            <a:endParaRPr lang="fr-BE" b="1" dirty="0">
              <a:solidFill>
                <a:srgbClr val="C00000"/>
              </a:solidFill>
              <a:cs typeface="Times New Roman" pitchFamily="18" charset="0"/>
            </a:endParaRPr>
          </a:p>
          <a:p>
            <a:pPr marL="609600" indent="-609600">
              <a:spcBef>
                <a:spcPts val="0"/>
              </a:spcBef>
              <a:buSzPct val="80000"/>
              <a:buNone/>
            </a:pPr>
            <a:r>
              <a:rPr lang="fr-BE" dirty="0">
                <a:cs typeface="Times New Roman" pitchFamily="18" charset="0"/>
              </a:rPr>
              <a:t>2. 	Possibilité de </a:t>
            </a:r>
            <a:r>
              <a:rPr lang="fr-BE" b="1" dirty="0">
                <a:solidFill>
                  <a:srgbClr val="C00000"/>
                </a:solidFill>
                <a:cs typeface="Times New Roman" pitchFamily="18" charset="0"/>
              </a:rPr>
              <a:t>prolonger la période de référence</a:t>
            </a:r>
            <a:r>
              <a:rPr lang="fr-BE" dirty="0">
                <a:cs typeface="Times New Roman" pitchFamily="18" charset="0"/>
              </a:rPr>
              <a:t>.</a:t>
            </a:r>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19</a:t>
            </a:fld>
            <a:endParaRPr lang="fr-FR" dirty="0"/>
          </a:p>
        </p:txBody>
      </p:sp>
    </p:spTree>
    <p:extLst>
      <p:ext uri="{BB962C8B-B14F-4D97-AF65-F5344CB8AC3E}">
        <p14:creationId xmlns:p14="http://schemas.microsoft.com/office/powerpoint/2010/main" val="19681705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457200" y="339467"/>
            <a:ext cx="8229600" cy="1143000"/>
          </a:xfrm>
        </p:spPr>
        <p:txBody>
          <a:bodyPr>
            <a:normAutofit fontScale="90000"/>
          </a:bodyPr>
          <a:lstStyle/>
          <a:p>
            <a:r>
              <a:rPr lang="fr-BE" b="1" i="1" dirty="0">
                <a:cs typeface="Times New Roman" pitchFamily="18" charset="0"/>
              </a:rPr>
              <a:t>4.1. Evènements prolongateurs de la</a:t>
            </a:r>
            <a:br>
              <a:rPr lang="fr-BE" b="1" i="1" dirty="0">
                <a:cs typeface="Times New Roman" pitchFamily="18" charset="0"/>
              </a:rPr>
            </a:br>
            <a:r>
              <a:rPr lang="fr-BE" b="1" i="1" dirty="0">
                <a:cs typeface="Times New Roman" pitchFamily="18" charset="0"/>
              </a:rPr>
              <a:t>période de référence</a:t>
            </a:r>
            <a:endParaRPr lang="fr-FR" dirty="0"/>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20</a:t>
            </a:fld>
            <a:endParaRPr lang="fr-FR" dirty="0"/>
          </a:p>
        </p:txBody>
      </p:sp>
      <p:graphicFrame>
        <p:nvGraphicFramePr>
          <p:cNvPr id="12" name="Tableau 11">
            <a:extLst>
              <a:ext uri="{FF2B5EF4-FFF2-40B4-BE49-F238E27FC236}">
                <a16:creationId xmlns:a16="http://schemas.microsoft.com/office/drawing/2014/main" id="{200C68C4-91CF-4445-9AB8-3F97AE898B05}"/>
              </a:ext>
            </a:extLst>
          </p:cNvPr>
          <p:cNvGraphicFramePr>
            <a:graphicFrameLocks noGrp="1"/>
          </p:cNvGraphicFramePr>
          <p:nvPr>
            <p:extLst>
              <p:ext uri="{D42A27DB-BD31-4B8C-83A1-F6EECF244321}">
                <p14:modId xmlns:p14="http://schemas.microsoft.com/office/powerpoint/2010/main" val="488821124"/>
              </p:ext>
            </p:extLst>
          </p:nvPr>
        </p:nvGraphicFramePr>
        <p:xfrm>
          <a:off x="457200" y="1700808"/>
          <a:ext cx="8229600" cy="4536506"/>
        </p:xfrm>
        <a:graphic>
          <a:graphicData uri="http://schemas.openxmlformats.org/drawingml/2006/table">
            <a:tbl>
              <a:tblPr/>
              <a:tblGrid>
                <a:gridCol w="2735846">
                  <a:extLst>
                    <a:ext uri="{9D8B030D-6E8A-4147-A177-3AD203B41FA5}">
                      <a16:colId xmlns:a16="http://schemas.microsoft.com/office/drawing/2014/main" val="2507112106"/>
                    </a:ext>
                  </a:extLst>
                </a:gridCol>
                <a:gridCol w="2746877">
                  <a:extLst>
                    <a:ext uri="{9D8B030D-6E8A-4147-A177-3AD203B41FA5}">
                      <a16:colId xmlns:a16="http://schemas.microsoft.com/office/drawing/2014/main" val="3789534707"/>
                    </a:ext>
                  </a:extLst>
                </a:gridCol>
                <a:gridCol w="2746877">
                  <a:extLst>
                    <a:ext uri="{9D8B030D-6E8A-4147-A177-3AD203B41FA5}">
                      <a16:colId xmlns:a16="http://schemas.microsoft.com/office/drawing/2014/main" val="3339177189"/>
                    </a:ext>
                  </a:extLst>
                </a:gridCol>
              </a:tblGrid>
              <a:tr h="369546">
                <a:tc>
                  <a:txBody>
                    <a:bodyPr/>
                    <a:lstStyle/>
                    <a:p>
                      <a:pPr algn="ctr" fontAlgn="ctr"/>
                      <a:r>
                        <a:rPr lang="fr-BE" sz="1400" b="1" i="0" u="none" strike="noStrike" dirty="0">
                          <a:solidFill>
                            <a:srgbClr val="000000"/>
                          </a:solidFill>
                          <a:effectLst/>
                          <a:latin typeface="Calibri" panose="020F0502020204030204" pitchFamily="34" charset="0"/>
                        </a:rPr>
                        <a:t>Evènements</a:t>
                      </a:r>
                    </a:p>
                  </a:txBody>
                  <a:tcPr marL="7620" marR="7620" marT="7620"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4D79B"/>
                    </a:solidFill>
                  </a:tcPr>
                </a:tc>
                <a:tc>
                  <a:txBody>
                    <a:bodyPr/>
                    <a:lstStyle/>
                    <a:p>
                      <a:pPr algn="ctr" fontAlgn="ctr"/>
                      <a:r>
                        <a:rPr lang="fr-BE" sz="1400" b="1" i="0" u="none" strike="noStrike" dirty="0">
                          <a:solidFill>
                            <a:srgbClr val="000000"/>
                          </a:solidFill>
                          <a:effectLst/>
                          <a:latin typeface="Calibri" panose="020F0502020204030204" pitchFamily="34" charset="0"/>
                        </a:rPr>
                        <a:t>Durée de prolongation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4D79B"/>
                    </a:solidFill>
                  </a:tcPr>
                </a:tc>
                <a:tc>
                  <a:txBody>
                    <a:bodyPr/>
                    <a:lstStyle/>
                    <a:p>
                      <a:pPr algn="ctr" fontAlgn="ctr"/>
                      <a:r>
                        <a:rPr lang="fr-BE" sz="1400" b="1" i="0" u="none" strike="noStrike" dirty="0">
                          <a:solidFill>
                            <a:srgbClr val="000000"/>
                          </a:solidFill>
                          <a:effectLst/>
                          <a:latin typeface="Calibri" panose="020F0502020204030204" pitchFamily="34" charset="0"/>
                        </a:rPr>
                        <a:t>Documents - Flux</a:t>
                      </a:r>
                    </a:p>
                  </a:txBody>
                  <a:tcPr marL="7620" marR="7620" marT="7620"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4D79B"/>
                    </a:solidFill>
                  </a:tcPr>
                </a:tc>
                <a:extLst>
                  <a:ext uri="{0D108BD9-81ED-4DB2-BD59-A6C34878D82A}">
                    <a16:rowId xmlns:a16="http://schemas.microsoft.com/office/drawing/2014/main" val="1040152443"/>
                  </a:ext>
                </a:extLst>
              </a:tr>
              <a:tr h="1083155">
                <a:tc>
                  <a:txBody>
                    <a:bodyPr/>
                    <a:lstStyle/>
                    <a:p>
                      <a:pPr algn="l" fontAlgn="ctr"/>
                      <a:r>
                        <a:rPr lang="fr-BE" sz="1400" b="1" i="0" u="none" strike="noStrike" dirty="0">
                          <a:solidFill>
                            <a:srgbClr val="000000"/>
                          </a:solidFill>
                          <a:effectLst/>
                          <a:latin typeface="Calibri" panose="020F0502020204030204" pitchFamily="34" charset="0"/>
                        </a:rPr>
                        <a:t>Obligation de milice           </a:t>
                      </a:r>
                    </a:p>
                    <a:p>
                      <a:pPr algn="l" fontAlgn="ctr"/>
                      <a:r>
                        <a:rPr lang="fr-BE" sz="1400" b="1" i="0" u="none" strike="noStrike" dirty="0">
                          <a:solidFill>
                            <a:srgbClr val="000000"/>
                          </a:solidFill>
                          <a:effectLst/>
                          <a:latin typeface="Calibri" panose="020F0502020204030204" pitchFamily="34" charset="0"/>
                        </a:rPr>
                        <a:t>Détention                                       </a:t>
                      </a:r>
                    </a:p>
                    <a:p>
                      <a:pPr algn="l" fontAlgn="ctr"/>
                      <a:r>
                        <a:rPr lang="fr-BE" sz="1400" b="1" i="0" u="none" strike="noStrike" dirty="0">
                          <a:solidFill>
                            <a:srgbClr val="000000"/>
                          </a:solidFill>
                          <a:effectLst/>
                          <a:latin typeface="Calibri" panose="020F0502020204030204" pitchFamily="34" charset="0"/>
                        </a:rPr>
                        <a:t>Force majeure</a:t>
                      </a:r>
                    </a:p>
                  </a:txBody>
                  <a:tcPr marL="7620" marR="7620" marT="7620"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a:txBody>
                    <a:bodyPr/>
                    <a:lstStyle/>
                    <a:p>
                      <a:pPr algn="l" fontAlgn="ctr"/>
                      <a:r>
                        <a:rPr lang="fr-BE" sz="1200" b="0" i="0" u="none" strike="noStrike" dirty="0">
                          <a:solidFill>
                            <a:srgbClr val="000000"/>
                          </a:solidFill>
                          <a:effectLst/>
                          <a:latin typeface="Calibri" panose="020F0502020204030204" pitchFamily="34" charset="0"/>
                        </a:rPr>
                        <a:t>Durée de l'évènement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a:txBody>
                    <a:bodyPr/>
                    <a:lstStyle/>
                    <a:p>
                      <a:pPr algn="l" fontAlgn="ctr"/>
                      <a:r>
                        <a:rPr lang="fr-BE" sz="1200" b="0" i="0" u="none" strike="noStrike" dirty="0">
                          <a:solidFill>
                            <a:srgbClr val="000000"/>
                          </a:solidFill>
                          <a:effectLst/>
                          <a:latin typeface="Calibri" panose="020F0502020204030204" pitchFamily="34" charset="0"/>
                        </a:rPr>
                        <a:t>Attestation délivrée par les instances compétentes</a:t>
                      </a:r>
                    </a:p>
                  </a:txBody>
                  <a:tcPr marL="7620" marR="7620" marT="7620"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extLst>
                  <a:ext uri="{0D108BD9-81ED-4DB2-BD59-A6C34878D82A}">
                    <a16:rowId xmlns:a16="http://schemas.microsoft.com/office/drawing/2014/main" val="2404867960"/>
                  </a:ext>
                </a:extLst>
              </a:tr>
              <a:tr h="1236070">
                <a:tc>
                  <a:txBody>
                    <a:bodyPr/>
                    <a:lstStyle/>
                    <a:p>
                      <a:pPr algn="l" fontAlgn="ctr"/>
                      <a:r>
                        <a:rPr lang="fr-BE" sz="1400" b="1" i="0" u="none" strike="noStrike" dirty="0">
                          <a:solidFill>
                            <a:srgbClr val="000000"/>
                          </a:solidFill>
                          <a:effectLst/>
                          <a:latin typeface="Calibri" panose="020F0502020204030204" pitchFamily="34" charset="0"/>
                        </a:rPr>
                        <a:t>Inactivité pour l'éducation d'un enfant</a:t>
                      </a:r>
                    </a:p>
                  </a:txBody>
                  <a:tcPr marL="7620" marR="7620" marT="7620"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4BC"/>
                    </a:solidFill>
                  </a:tcPr>
                </a:tc>
                <a:tc>
                  <a:txBody>
                    <a:bodyPr/>
                    <a:lstStyle/>
                    <a:p>
                      <a:pPr algn="l" fontAlgn="ctr"/>
                      <a:r>
                        <a:rPr lang="fr-BE" sz="1200" b="0" i="0" u="none" strike="noStrike" dirty="0">
                          <a:solidFill>
                            <a:srgbClr val="000000"/>
                          </a:solidFill>
                          <a:effectLst/>
                          <a:latin typeface="Calibri" panose="020F0502020204030204" pitchFamily="34" charset="0"/>
                        </a:rPr>
                        <a:t>Min. 6 mois &amp; Max. 6 ans            </a:t>
                      </a:r>
                    </a:p>
                    <a:p>
                      <a:pPr algn="l" fontAlgn="ctr"/>
                      <a:r>
                        <a:rPr lang="fr-BE" sz="1200" b="0" i="0" u="none" strike="noStrike" dirty="0">
                          <a:solidFill>
                            <a:srgbClr val="000000"/>
                          </a:solidFill>
                          <a:effectLst/>
                          <a:latin typeface="Calibri" panose="020F0502020204030204" pitchFamily="34" charset="0"/>
                        </a:rPr>
                        <a:t>Max. 18 ans si enfant ''handicapé''                                      (à dater de chaque naissance)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4BC"/>
                    </a:solidFill>
                  </a:tcPr>
                </a:tc>
                <a:tc>
                  <a:txBody>
                    <a:bodyPr/>
                    <a:lstStyle/>
                    <a:p>
                      <a:pPr algn="l" fontAlgn="ctr"/>
                      <a:r>
                        <a:rPr lang="fr-BE" sz="1200" b="0" i="0" u="none" strike="noStrike" dirty="0">
                          <a:solidFill>
                            <a:srgbClr val="000000"/>
                          </a:solidFill>
                          <a:effectLst/>
                          <a:latin typeface="Calibri" panose="020F0502020204030204" pitchFamily="34" charset="0"/>
                        </a:rPr>
                        <a:t>Déclaration sur l'honneur                </a:t>
                      </a:r>
                    </a:p>
                    <a:p>
                      <a:pPr algn="l" fontAlgn="ctr"/>
                      <a:r>
                        <a:rPr lang="fr-BE" sz="1200" b="0" i="0" u="none" strike="noStrike" dirty="0">
                          <a:solidFill>
                            <a:srgbClr val="000000"/>
                          </a:solidFill>
                          <a:effectLst/>
                          <a:latin typeface="Calibri" panose="020F0502020204030204" pitchFamily="34" charset="0"/>
                        </a:rPr>
                        <a:t>Si DA après abandon d'emploi : fournir preuve "ne peut être occupé à nouv. par l'ex-employeur"</a:t>
                      </a:r>
                    </a:p>
                  </a:txBody>
                  <a:tcPr marL="7620" marR="7620" marT="7620"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4BC"/>
                    </a:solidFill>
                  </a:tcPr>
                </a:tc>
                <a:extLst>
                  <a:ext uri="{0D108BD9-81ED-4DB2-BD59-A6C34878D82A}">
                    <a16:rowId xmlns:a16="http://schemas.microsoft.com/office/drawing/2014/main" val="831724268"/>
                  </a:ext>
                </a:extLst>
              </a:tr>
              <a:tr h="1847735">
                <a:tc>
                  <a:txBody>
                    <a:bodyPr/>
                    <a:lstStyle/>
                    <a:p>
                      <a:pPr algn="l" fontAlgn="ctr"/>
                      <a:r>
                        <a:rPr lang="fr-BE" sz="1400" b="1" i="0" u="none" strike="noStrike" dirty="0">
                          <a:solidFill>
                            <a:srgbClr val="000000"/>
                          </a:solidFill>
                          <a:effectLst/>
                          <a:latin typeface="Calibri" panose="020F0502020204030204" pitchFamily="34" charset="0"/>
                        </a:rPr>
                        <a:t>Profession sans cotisation ONSS secteur chômage</a:t>
                      </a:r>
                    </a:p>
                    <a:p>
                      <a:pPr algn="l" fontAlgn="ctr"/>
                      <a:r>
                        <a:rPr lang="fr-BE" sz="1400" b="1" i="0" u="none" strike="noStrike" dirty="0">
                          <a:solidFill>
                            <a:srgbClr val="000000"/>
                          </a:solidFill>
                          <a:effectLst/>
                          <a:latin typeface="Calibri" panose="020F0502020204030204" pitchFamily="34" charset="0"/>
                        </a:rPr>
                        <a:t> (cf.: Indépendant, ...)</a:t>
                      </a:r>
                    </a:p>
                  </a:txBody>
                  <a:tcPr marL="7620" marR="7620" marT="7620"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BF1DE"/>
                    </a:solidFill>
                  </a:tcPr>
                </a:tc>
                <a:tc>
                  <a:txBody>
                    <a:bodyPr/>
                    <a:lstStyle/>
                    <a:p>
                      <a:pPr algn="l" fontAlgn="ctr"/>
                      <a:r>
                        <a:rPr lang="fr-BE" sz="1200" b="0" i="0" u="none" strike="noStrike" dirty="0">
                          <a:solidFill>
                            <a:srgbClr val="000000"/>
                          </a:solidFill>
                          <a:effectLst/>
                          <a:latin typeface="Calibri" panose="020F0502020204030204" pitchFamily="34" charset="0"/>
                        </a:rPr>
                        <a:t>Min. 6 mois &amp; Max. 15 ans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BF1DE"/>
                    </a:solidFill>
                  </a:tcPr>
                </a:tc>
                <a:tc>
                  <a:txBody>
                    <a:bodyPr/>
                    <a:lstStyle/>
                    <a:p>
                      <a:pPr algn="l" fontAlgn="ctr"/>
                      <a:r>
                        <a:rPr lang="fr-BE" sz="1200" b="0" i="0" u="none" strike="noStrike" dirty="0">
                          <a:solidFill>
                            <a:srgbClr val="000000"/>
                          </a:solidFill>
                          <a:effectLst/>
                          <a:latin typeface="Calibri" panose="020F0502020204030204" pitchFamily="34" charset="0"/>
                        </a:rPr>
                        <a:t>Flux L302 (consultcareer) = Attestation de la période d'act. indépendante (RGTI)                                    Si DA après abandon d'emploi : fournir preuve "ne peut être occupé à nouv. par l'ex-employeur"</a:t>
                      </a:r>
                    </a:p>
                  </a:txBody>
                  <a:tcPr marL="7620" marR="7620" marT="7620"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BF1DE"/>
                    </a:solidFill>
                  </a:tcPr>
                </a:tc>
                <a:extLst>
                  <a:ext uri="{0D108BD9-81ED-4DB2-BD59-A6C34878D82A}">
                    <a16:rowId xmlns:a16="http://schemas.microsoft.com/office/drawing/2014/main" val="232678803"/>
                  </a:ext>
                </a:extLst>
              </a:tr>
            </a:tbl>
          </a:graphicData>
        </a:graphic>
      </p:graphicFrame>
    </p:spTree>
    <p:extLst>
      <p:ext uri="{BB962C8B-B14F-4D97-AF65-F5344CB8AC3E}">
        <p14:creationId xmlns:p14="http://schemas.microsoft.com/office/powerpoint/2010/main" val="29255855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fontScale="90000"/>
          </a:bodyPr>
          <a:lstStyle/>
          <a:p>
            <a:pPr algn="l"/>
            <a:r>
              <a:rPr lang="fr-BE" b="1" i="1" dirty="0">
                <a:cs typeface="Times New Roman" pitchFamily="18" charset="0"/>
              </a:rPr>
              <a:t>4.1. Evènements prolongateurs de la</a:t>
            </a:r>
            <a:br>
              <a:rPr lang="fr-BE" b="1" i="1" dirty="0">
                <a:cs typeface="Times New Roman" pitchFamily="18" charset="0"/>
              </a:rPr>
            </a:br>
            <a:r>
              <a:rPr lang="fr-BE" b="1" i="1" dirty="0">
                <a:cs typeface="Times New Roman" pitchFamily="18" charset="0"/>
              </a:rPr>
              <a:t>période de référence</a:t>
            </a:r>
            <a:endParaRPr lang="fr-FR" dirty="0"/>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21</a:t>
            </a:fld>
            <a:endParaRPr lang="fr-FR" dirty="0"/>
          </a:p>
        </p:txBody>
      </p:sp>
      <p:pic>
        <p:nvPicPr>
          <p:cNvPr id="205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67544" y="1628799"/>
            <a:ext cx="8208912" cy="4855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593129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fontScale="90000"/>
          </a:bodyPr>
          <a:lstStyle/>
          <a:p>
            <a:pPr algn="l"/>
            <a:r>
              <a:rPr lang="fr-BE" b="1" i="1" dirty="0">
                <a:cs typeface="Times New Roman" pitchFamily="18" charset="0"/>
              </a:rPr>
              <a:t>4.1. Evènements prolongateurs de la</a:t>
            </a:r>
            <a:br>
              <a:rPr lang="fr-BE" b="1" i="1" dirty="0">
                <a:cs typeface="Times New Roman" pitchFamily="18" charset="0"/>
              </a:rPr>
            </a:br>
            <a:r>
              <a:rPr lang="fr-BE" b="1" i="1" dirty="0">
                <a:cs typeface="Times New Roman" pitchFamily="18" charset="0"/>
              </a:rPr>
              <a:t>période de référence</a:t>
            </a:r>
            <a:endParaRPr lang="fr-FR" dirty="0"/>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22</a:t>
            </a:fld>
            <a:endParaRPr lang="fr-FR" dirty="0"/>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67544" y="1628800"/>
            <a:ext cx="8208912" cy="4824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65432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pPr algn="l"/>
            <a:r>
              <a:rPr lang="fr-BE" sz="4000" b="1" i="1" dirty="0">
                <a:cs typeface="Times New Roman" pitchFamily="18" charset="0"/>
              </a:rPr>
              <a:t>4.2. Principes de prolongation</a:t>
            </a:r>
            <a:endParaRPr lang="fr-FR" sz="4000" i="1" dirty="0">
              <a:cs typeface="Times New Roman" pitchFamily="18" charset="0"/>
            </a:endParaRPr>
          </a:p>
        </p:txBody>
      </p:sp>
      <p:sp>
        <p:nvSpPr>
          <p:cNvPr id="8" name="Espace réservé du contenu 7"/>
          <p:cNvSpPr>
            <a:spLocks noGrp="1"/>
          </p:cNvSpPr>
          <p:nvPr>
            <p:ph idx="1"/>
          </p:nvPr>
        </p:nvSpPr>
        <p:spPr/>
        <p:txBody>
          <a:bodyPr>
            <a:normAutofit fontScale="92500" lnSpcReduction="20000"/>
          </a:bodyPr>
          <a:lstStyle/>
          <a:p>
            <a:pPr marL="0" indent="0">
              <a:lnSpc>
                <a:spcPct val="120000"/>
              </a:lnSpc>
              <a:spcBef>
                <a:spcPts val="0"/>
              </a:spcBef>
              <a:buSzPct val="100000"/>
              <a:buNone/>
            </a:pPr>
            <a:r>
              <a:rPr lang="fr-BE" dirty="0">
                <a:cs typeface="Times New Roman" pitchFamily="18" charset="0"/>
              </a:rPr>
              <a:t>La période de référence est prolongée si </a:t>
            </a:r>
            <a:r>
              <a:rPr lang="fr-BE" b="1" dirty="0">
                <a:solidFill>
                  <a:srgbClr val="C00000"/>
                </a:solidFill>
                <a:cs typeface="Times New Roman" pitchFamily="18" charset="0"/>
              </a:rPr>
              <a:t>au moins 1 jour</a:t>
            </a:r>
            <a:r>
              <a:rPr lang="fr-BE" dirty="0">
                <a:cs typeface="Times New Roman" pitchFamily="18" charset="0"/>
              </a:rPr>
              <a:t> de l’</a:t>
            </a:r>
            <a:r>
              <a:rPr lang="fr-BE" b="1" dirty="0">
                <a:cs typeface="Times New Roman" pitchFamily="18" charset="0"/>
              </a:rPr>
              <a:t>évènement</a:t>
            </a:r>
            <a:r>
              <a:rPr lang="fr-BE" dirty="0">
                <a:cs typeface="Times New Roman" pitchFamily="18" charset="0"/>
              </a:rPr>
              <a:t>, </a:t>
            </a:r>
            <a:r>
              <a:rPr lang="fr-BE" b="1" dirty="0">
                <a:solidFill>
                  <a:srgbClr val="C00000"/>
                </a:solidFill>
                <a:cs typeface="Times New Roman" pitchFamily="18" charset="0"/>
              </a:rPr>
              <a:t>réduit à sa durée maximale</a:t>
            </a:r>
            <a:r>
              <a:rPr lang="fr-BE" dirty="0">
                <a:cs typeface="Times New Roman" pitchFamily="18" charset="0"/>
              </a:rPr>
              <a:t>, est situé </a:t>
            </a:r>
            <a:r>
              <a:rPr lang="fr-BE" b="1" dirty="0">
                <a:solidFill>
                  <a:srgbClr val="C00000"/>
                </a:solidFill>
                <a:cs typeface="Times New Roman" pitchFamily="18" charset="0"/>
              </a:rPr>
              <a:t>dans</a:t>
            </a:r>
            <a:r>
              <a:rPr lang="fr-BE" dirty="0">
                <a:cs typeface="Times New Roman" pitchFamily="18" charset="0"/>
              </a:rPr>
              <a:t> la </a:t>
            </a:r>
            <a:r>
              <a:rPr lang="fr-BE" b="1" dirty="0">
                <a:cs typeface="Times New Roman" pitchFamily="18" charset="0"/>
              </a:rPr>
              <a:t>période de référence</a:t>
            </a:r>
            <a:r>
              <a:rPr lang="fr-BE" dirty="0">
                <a:cs typeface="Times New Roman" pitchFamily="18" charset="0"/>
              </a:rPr>
              <a:t> initiale (ou prolongée).</a:t>
            </a:r>
          </a:p>
          <a:p>
            <a:pPr marL="0" indent="0">
              <a:lnSpc>
                <a:spcPct val="120000"/>
              </a:lnSpc>
              <a:spcBef>
                <a:spcPts val="0"/>
              </a:spcBef>
              <a:buSzPct val="100000"/>
              <a:buNone/>
            </a:pPr>
            <a:endParaRPr lang="fr-BE" sz="800" dirty="0">
              <a:cs typeface="Times New Roman" pitchFamily="18" charset="0"/>
            </a:endParaRPr>
          </a:p>
          <a:p>
            <a:pPr>
              <a:lnSpc>
                <a:spcPct val="120000"/>
              </a:lnSpc>
              <a:spcBef>
                <a:spcPts val="0"/>
              </a:spcBef>
              <a:buSzPct val="100000"/>
              <a:buFont typeface="Wingdings" pitchFamily="2" charset="2"/>
              <a:buChar char="§"/>
            </a:pPr>
            <a:r>
              <a:rPr lang="fr-BE" dirty="0">
                <a:cs typeface="Times New Roman" pitchFamily="18" charset="0"/>
              </a:rPr>
              <a:t>La durée maximale est déterminée à partir du 1</a:t>
            </a:r>
            <a:r>
              <a:rPr lang="fr-BE" baseline="30000" dirty="0">
                <a:cs typeface="Times New Roman" pitchFamily="18" charset="0"/>
              </a:rPr>
              <a:t>ier</a:t>
            </a:r>
            <a:r>
              <a:rPr lang="fr-BE" dirty="0">
                <a:cs typeface="Times New Roman" pitchFamily="18" charset="0"/>
              </a:rPr>
              <a:t> jour de l’évènement.</a:t>
            </a:r>
          </a:p>
          <a:p>
            <a:pPr marL="0" indent="0">
              <a:lnSpc>
                <a:spcPct val="120000"/>
              </a:lnSpc>
              <a:spcBef>
                <a:spcPts val="0"/>
              </a:spcBef>
              <a:buSzPct val="100000"/>
              <a:buNone/>
            </a:pPr>
            <a:endParaRPr lang="fr-BE" sz="600" dirty="0">
              <a:cs typeface="Times New Roman" pitchFamily="18" charset="0"/>
            </a:endParaRPr>
          </a:p>
          <a:p>
            <a:pPr>
              <a:lnSpc>
                <a:spcPct val="120000"/>
              </a:lnSpc>
              <a:spcBef>
                <a:spcPts val="0"/>
              </a:spcBef>
              <a:buSzPct val="100000"/>
              <a:buFont typeface="Wingdings" pitchFamily="2" charset="2"/>
              <a:buChar char="§"/>
            </a:pPr>
            <a:r>
              <a:rPr lang="fr-BE" dirty="0">
                <a:cs typeface="Times New Roman" pitchFamily="18" charset="0"/>
              </a:rPr>
              <a:t>Si la prolongation est possible </a:t>
            </a:r>
            <a:r>
              <a:rPr lang="fr-BE" sz="2200" dirty="0">
                <a:cs typeface="Times New Roman" pitchFamily="18" charset="0"/>
                <a:sym typeface="Wingdings" pitchFamily="2" charset="2"/>
              </a:rPr>
              <a:t> </a:t>
            </a:r>
            <a:r>
              <a:rPr lang="fr-BE" dirty="0">
                <a:cs typeface="Times New Roman" pitchFamily="18" charset="0"/>
                <a:sym typeface="Wingdings" pitchFamily="2" charset="2"/>
              </a:rPr>
              <a:t>prolongation de la durée (maximale) de l’évènement même si celui-ci n’est pas entièrement dans la P.R.</a:t>
            </a:r>
            <a:endParaRPr lang="fr-BE" dirty="0">
              <a:cs typeface="Times New Roman" pitchFamily="18" charset="0"/>
            </a:endParaRP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23</a:t>
            </a:fld>
            <a:endParaRPr lang="fr-FR" dirty="0"/>
          </a:p>
        </p:txBody>
      </p:sp>
    </p:spTree>
    <p:extLst>
      <p:ext uri="{BB962C8B-B14F-4D97-AF65-F5344CB8AC3E}">
        <p14:creationId xmlns:p14="http://schemas.microsoft.com/office/powerpoint/2010/main" val="38017124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10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l"/>
            <a:r>
              <a:rPr lang="fr-BE" sz="4000" b="1" i="1" dirty="0"/>
              <a:t>4.2. Exemple 1 </a:t>
            </a:r>
          </a:p>
        </p:txBody>
      </p:sp>
      <p:sp>
        <p:nvSpPr>
          <p:cNvPr id="3" name="Espace réservé du contenu 2"/>
          <p:cNvSpPr>
            <a:spLocks noGrp="1"/>
          </p:cNvSpPr>
          <p:nvPr>
            <p:ph idx="1"/>
          </p:nvPr>
        </p:nvSpPr>
        <p:spPr/>
        <p:txBody>
          <a:bodyPr/>
          <a:lstStyle/>
          <a:p>
            <a:pPr marL="0" indent="0">
              <a:buNone/>
            </a:pPr>
            <a:endParaRPr lang="fr-BE" dirty="0"/>
          </a:p>
          <a:p>
            <a:pPr marL="0" indent="0">
              <a:buNone/>
            </a:pPr>
            <a:endParaRPr lang="fr-BE" dirty="0"/>
          </a:p>
          <a:p>
            <a:pPr marL="0" indent="0">
              <a:buNone/>
            </a:pPr>
            <a:endParaRPr lang="fr-BE" dirty="0"/>
          </a:p>
          <a:p>
            <a:pPr marL="0" indent="0">
              <a:buNone/>
            </a:pPr>
            <a:endParaRPr lang="fr-BE" dirty="0"/>
          </a:p>
        </p:txBody>
      </p:sp>
      <p:sp>
        <p:nvSpPr>
          <p:cNvPr id="24" name="Accolade ouvrante 23"/>
          <p:cNvSpPr/>
          <p:nvPr/>
        </p:nvSpPr>
        <p:spPr>
          <a:xfrm rot="16200000">
            <a:off x="6344377" y="4977827"/>
            <a:ext cx="235898" cy="1622140"/>
          </a:xfrm>
          <a:prstGeom prst="leftBrace">
            <a:avLst/>
          </a:prstGeom>
          <a:ln>
            <a:solidFill>
              <a:srgbClr val="00800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fr-BE" dirty="0">
              <a:solidFill>
                <a:srgbClr val="008000"/>
              </a:solidFill>
            </a:endParaRPr>
          </a:p>
        </p:txBody>
      </p:sp>
      <p:sp>
        <p:nvSpPr>
          <p:cNvPr id="25" name="ZoneTexte 24"/>
          <p:cNvSpPr txBox="1"/>
          <p:nvPr/>
        </p:nvSpPr>
        <p:spPr>
          <a:xfrm>
            <a:off x="6569871" y="5837298"/>
            <a:ext cx="1407049" cy="307777"/>
          </a:xfrm>
          <a:prstGeom prst="rect">
            <a:avLst/>
          </a:prstGeom>
          <a:noFill/>
        </p:spPr>
        <p:txBody>
          <a:bodyPr wrap="square" rtlCol="0">
            <a:spAutoFit/>
          </a:bodyPr>
          <a:lstStyle/>
          <a:p>
            <a:pPr algn="ctr"/>
            <a:r>
              <a:rPr lang="fr-BE" sz="1400" b="1" dirty="0">
                <a:solidFill>
                  <a:srgbClr val="008000"/>
                </a:solidFill>
              </a:rPr>
              <a:t>27.11.2022</a:t>
            </a:r>
          </a:p>
        </p:txBody>
      </p:sp>
      <p:sp>
        <p:nvSpPr>
          <p:cNvPr id="26" name="ZoneTexte 25"/>
          <p:cNvSpPr txBox="1"/>
          <p:nvPr/>
        </p:nvSpPr>
        <p:spPr>
          <a:xfrm>
            <a:off x="5074356" y="5829034"/>
            <a:ext cx="1153799" cy="307777"/>
          </a:xfrm>
          <a:prstGeom prst="rect">
            <a:avLst/>
          </a:prstGeom>
          <a:noFill/>
        </p:spPr>
        <p:txBody>
          <a:bodyPr wrap="square" rtlCol="0">
            <a:spAutoFit/>
          </a:bodyPr>
          <a:lstStyle/>
          <a:p>
            <a:pPr algn="ctr"/>
            <a:r>
              <a:rPr lang="fr-BE" sz="1400" b="1" dirty="0">
                <a:solidFill>
                  <a:srgbClr val="008000"/>
                </a:solidFill>
              </a:rPr>
              <a:t>28.02.2021</a:t>
            </a:r>
            <a:endParaRPr lang="fr-BE" sz="1200" b="1" dirty="0">
              <a:solidFill>
                <a:srgbClr val="008000"/>
              </a:solidFill>
            </a:endParaRPr>
          </a:p>
        </p:txBody>
      </p:sp>
      <p:sp>
        <p:nvSpPr>
          <p:cNvPr id="27" name="ZoneTexte 26"/>
          <p:cNvSpPr txBox="1"/>
          <p:nvPr/>
        </p:nvSpPr>
        <p:spPr>
          <a:xfrm>
            <a:off x="5526222" y="5345073"/>
            <a:ext cx="1872208" cy="307777"/>
          </a:xfrm>
          <a:prstGeom prst="rect">
            <a:avLst/>
          </a:prstGeom>
          <a:noFill/>
        </p:spPr>
        <p:txBody>
          <a:bodyPr wrap="square" rtlCol="0">
            <a:spAutoFit/>
          </a:bodyPr>
          <a:lstStyle/>
          <a:p>
            <a:pPr algn="ctr"/>
            <a:r>
              <a:rPr lang="fr-BE" sz="1400" b="1" dirty="0">
                <a:solidFill>
                  <a:srgbClr val="008000"/>
                </a:solidFill>
              </a:rPr>
              <a:t>Période référence</a:t>
            </a:r>
          </a:p>
        </p:txBody>
      </p:sp>
      <p:sp>
        <p:nvSpPr>
          <p:cNvPr id="28" name="ZoneTexte 27"/>
          <p:cNvSpPr txBox="1"/>
          <p:nvPr/>
        </p:nvSpPr>
        <p:spPr>
          <a:xfrm>
            <a:off x="6366835" y="1890726"/>
            <a:ext cx="1008113" cy="307777"/>
          </a:xfrm>
          <a:prstGeom prst="rect">
            <a:avLst/>
          </a:prstGeom>
          <a:noFill/>
        </p:spPr>
        <p:txBody>
          <a:bodyPr wrap="square" rtlCol="0">
            <a:spAutoFit/>
          </a:bodyPr>
          <a:lstStyle/>
          <a:p>
            <a:pPr algn="ctr"/>
            <a:r>
              <a:rPr lang="fr-BE" sz="1400" b="1" dirty="0"/>
              <a:t>18.07.2022</a:t>
            </a:r>
          </a:p>
        </p:txBody>
      </p:sp>
      <p:sp>
        <p:nvSpPr>
          <p:cNvPr id="29" name="ZoneTexte 28"/>
          <p:cNvSpPr txBox="1"/>
          <p:nvPr/>
        </p:nvSpPr>
        <p:spPr>
          <a:xfrm>
            <a:off x="3191732" y="1890728"/>
            <a:ext cx="1152128" cy="307777"/>
          </a:xfrm>
          <a:prstGeom prst="rect">
            <a:avLst/>
          </a:prstGeom>
          <a:noFill/>
        </p:spPr>
        <p:txBody>
          <a:bodyPr wrap="square" rtlCol="0">
            <a:spAutoFit/>
          </a:bodyPr>
          <a:lstStyle/>
          <a:p>
            <a:pPr algn="ctr"/>
            <a:r>
              <a:rPr lang="fr-BE" sz="1400" b="1" dirty="0"/>
              <a:t>19.01.2020</a:t>
            </a:r>
          </a:p>
        </p:txBody>
      </p:sp>
      <p:sp>
        <p:nvSpPr>
          <p:cNvPr id="31" name="Accolade ouvrante 30"/>
          <p:cNvSpPr/>
          <p:nvPr/>
        </p:nvSpPr>
        <p:spPr>
          <a:xfrm rot="16200000">
            <a:off x="4607522" y="3669392"/>
            <a:ext cx="364350" cy="5037222"/>
          </a:xfrm>
          <a:prstGeom prst="leftBrace">
            <a:avLst/>
          </a:prstGeom>
          <a:ln>
            <a:solidFill>
              <a:srgbClr val="7030A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fr-BE" dirty="0">
              <a:solidFill>
                <a:srgbClr val="7030A0"/>
              </a:solidFill>
            </a:endParaRPr>
          </a:p>
        </p:txBody>
      </p:sp>
      <p:sp>
        <p:nvSpPr>
          <p:cNvPr id="34" name="ZoneTexte 33"/>
          <p:cNvSpPr txBox="1"/>
          <p:nvPr/>
        </p:nvSpPr>
        <p:spPr>
          <a:xfrm>
            <a:off x="1613107" y="6218638"/>
            <a:ext cx="1296144" cy="307777"/>
          </a:xfrm>
          <a:prstGeom prst="rect">
            <a:avLst/>
          </a:prstGeom>
          <a:noFill/>
        </p:spPr>
        <p:txBody>
          <a:bodyPr wrap="square" rtlCol="0">
            <a:spAutoFit/>
          </a:bodyPr>
          <a:lstStyle/>
          <a:p>
            <a:pPr algn="ctr"/>
            <a:r>
              <a:rPr lang="fr-BE" sz="1400" b="1" dirty="0">
                <a:solidFill>
                  <a:srgbClr val="7030A0"/>
                </a:solidFill>
              </a:rPr>
              <a:t>28.08.2018</a:t>
            </a:r>
            <a:endParaRPr lang="fr-BE" sz="1200" b="1" dirty="0">
              <a:solidFill>
                <a:srgbClr val="00B0F0"/>
              </a:solidFill>
            </a:endParaRPr>
          </a:p>
        </p:txBody>
      </p:sp>
      <p:sp>
        <p:nvSpPr>
          <p:cNvPr id="35" name="ZoneTexte 34"/>
          <p:cNvSpPr txBox="1"/>
          <p:nvPr/>
        </p:nvSpPr>
        <p:spPr>
          <a:xfrm>
            <a:off x="3626468" y="6372527"/>
            <a:ext cx="2326458" cy="307777"/>
          </a:xfrm>
          <a:prstGeom prst="rect">
            <a:avLst/>
          </a:prstGeom>
          <a:noFill/>
        </p:spPr>
        <p:txBody>
          <a:bodyPr wrap="square" rtlCol="0">
            <a:spAutoFit/>
          </a:bodyPr>
          <a:lstStyle/>
          <a:p>
            <a:pPr algn="ctr"/>
            <a:r>
              <a:rPr lang="fr-BE" sz="1400" b="1" dirty="0">
                <a:solidFill>
                  <a:srgbClr val="7030A0"/>
                </a:solidFill>
              </a:rPr>
              <a:t>Période référence prolongée</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24</a:t>
            </a:fld>
            <a:endParaRPr lang="fr-FR" dirty="0"/>
          </a:p>
        </p:txBody>
      </p:sp>
      <p:sp>
        <p:nvSpPr>
          <p:cNvPr id="17" name="Rectangle 16"/>
          <p:cNvSpPr/>
          <p:nvPr/>
        </p:nvSpPr>
        <p:spPr>
          <a:xfrm>
            <a:off x="755576" y="3286726"/>
            <a:ext cx="3011206" cy="646331"/>
          </a:xfrm>
          <a:prstGeom prst="rect">
            <a:avLst/>
          </a:prstGeom>
          <a:solidFill>
            <a:srgbClr val="FFC000"/>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1600" b="1" dirty="0">
                <a:solidFill>
                  <a:schemeClr val="tx1"/>
                </a:solidFill>
              </a:rPr>
              <a:t>Occupation temps plein 38/38</a:t>
            </a:r>
          </a:p>
          <a:p>
            <a:pPr algn="ctr"/>
            <a:r>
              <a:rPr lang="fr-BE" sz="1600" b="1" dirty="0">
                <a:solidFill>
                  <a:schemeClr val="tx1"/>
                </a:solidFill>
              </a:rPr>
              <a:t>Fin le 18.01.2020</a:t>
            </a:r>
          </a:p>
        </p:txBody>
      </p:sp>
      <p:sp>
        <p:nvSpPr>
          <p:cNvPr id="44" name="Rectangle 43"/>
          <p:cNvSpPr/>
          <p:nvPr/>
        </p:nvSpPr>
        <p:spPr>
          <a:xfrm>
            <a:off x="3766783" y="3286723"/>
            <a:ext cx="3027122" cy="646331"/>
          </a:xfrm>
          <a:prstGeom prst="rect">
            <a:avLst/>
          </a:prstGeom>
          <a:solidFill>
            <a:schemeClr val="tx2">
              <a:lumMod val="20000"/>
              <a:lumOff val="80000"/>
            </a:schemeClr>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1600" b="1" dirty="0">
                <a:solidFill>
                  <a:schemeClr val="tx1"/>
                </a:solidFill>
              </a:rPr>
              <a:t>Détention</a:t>
            </a:r>
          </a:p>
        </p:txBody>
      </p:sp>
      <p:cxnSp>
        <p:nvCxnSpPr>
          <p:cNvPr id="51" name="Connecteur droit avec flèche 50"/>
          <p:cNvCxnSpPr/>
          <p:nvPr/>
        </p:nvCxnSpPr>
        <p:spPr>
          <a:xfrm>
            <a:off x="755576" y="3933056"/>
            <a:ext cx="7416824"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Connecteur droit avec flèche 51"/>
          <p:cNvCxnSpPr/>
          <p:nvPr/>
        </p:nvCxnSpPr>
        <p:spPr>
          <a:xfrm flipV="1">
            <a:off x="2271086" y="2941976"/>
            <a:ext cx="0" cy="3129987"/>
          </a:xfrm>
          <a:prstGeom prst="straightConnector1">
            <a:avLst/>
          </a:prstGeom>
          <a:ln w="38100">
            <a:solidFill>
              <a:srgbClr val="7030A0"/>
            </a:solidFill>
            <a:prstDash val="sysDash"/>
            <a:tailEnd type="arrow"/>
          </a:ln>
        </p:spPr>
        <p:style>
          <a:lnRef idx="2">
            <a:schemeClr val="accent2"/>
          </a:lnRef>
          <a:fillRef idx="0">
            <a:schemeClr val="accent2"/>
          </a:fillRef>
          <a:effectRef idx="1">
            <a:schemeClr val="accent2"/>
          </a:effectRef>
          <a:fontRef idx="minor">
            <a:schemeClr val="tx1"/>
          </a:fontRef>
        </p:style>
      </p:cxnSp>
      <p:sp>
        <p:nvSpPr>
          <p:cNvPr id="53" name="Accolade ouvrante 52"/>
          <p:cNvSpPr/>
          <p:nvPr/>
        </p:nvSpPr>
        <p:spPr>
          <a:xfrm rot="16200000">
            <a:off x="5155757" y="2558735"/>
            <a:ext cx="267514" cy="3000045"/>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fr-BE" dirty="0"/>
          </a:p>
        </p:txBody>
      </p:sp>
      <p:cxnSp>
        <p:nvCxnSpPr>
          <p:cNvPr id="6" name="Connecteur droit 5"/>
          <p:cNvCxnSpPr>
            <a:cxnSpLocks/>
            <a:stCxn id="29" idx="2"/>
          </p:cNvCxnSpPr>
          <p:nvPr/>
        </p:nvCxnSpPr>
        <p:spPr>
          <a:xfrm>
            <a:off x="3767796" y="2198505"/>
            <a:ext cx="0" cy="1718884"/>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Connecteur droit 31"/>
          <p:cNvCxnSpPr>
            <a:cxnSpLocks/>
          </p:cNvCxnSpPr>
          <p:nvPr/>
        </p:nvCxnSpPr>
        <p:spPr>
          <a:xfrm>
            <a:off x="6792827" y="2222554"/>
            <a:ext cx="3290" cy="1718886"/>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Connecteur droit avec flèche 39"/>
          <p:cNvCxnSpPr/>
          <p:nvPr/>
        </p:nvCxnSpPr>
        <p:spPr>
          <a:xfrm>
            <a:off x="7308304" y="2204864"/>
            <a:ext cx="0" cy="2664296"/>
          </a:xfrm>
          <a:prstGeom prst="straightConnector1">
            <a:avLst/>
          </a:prstGeom>
          <a:ln w="38100">
            <a:tailEnd type="arrow"/>
          </a:ln>
        </p:spPr>
        <p:style>
          <a:lnRef idx="2">
            <a:schemeClr val="accent2"/>
          </a:lnRef>
          <a:fillRef idx="0">
            <a:schemeClr val="accent2"/>
          </a:fillRef>
          <a:effectRef idx="1">
            <a:schemeClr val="accent2"/>
          </a:effectRef>
          <a:fontRef idx="minor">
            <a:schemeClr val="tx1"/>
          </a:fontRef>
        </p:style>
      </p:cxnSp>
      <p:sp>
        <p:nvSpPr>
          <p:cNvPr id="41" name="ZoneTexte 40"/>
          <p:cNvSpPr txBox="1"/>
          <p:nvPr/>
        </p:nvSpPr>
        <p:spPr>
          <a:xfrm>
            <a:off x="6625323" y="6230646"/>
            <a:ext cx="1296144" cy="307777"/>
          </a:xfrm>
          <a:prstGeom prst="rect">
            <a:avLst/>
          </a:prstGeom>
          <a:noFill/>
        </p:spPr>
        <p:txBody>
          <a:bodyPr wrap="square" rtlCol="0">
            <a:spAutoFit/>
          </a:bodyPr>
          <a:lstStyle/>
          <a:p>
            <a:pPr algn="ctr"/>
            <a:r>
              <a:rPr lang="fr-BE" sz="1400" b="1" dirty="0">
                <a:solidFill>
                  <a:srgbClr val="7030A0"/>
                </a:solidFill>
              </a:rPr>
              <a:t>27.11.2022</a:t>
            </a:r>
            <a:endParaRPr lang="fr-BE" sz="1200" b="1" dirty="0">
              <a:solidFill>
                <a:srgbClr val="00B0F0"/>
              </a:solidFill>
            </a:endParaRPr>
          </a:p>
        </p:txBody>
      </p:sp>
      <p:cxnSp>
        <p:nvCxnSpPr>
          <p:cNvPr id="42" name="Connecteur droit 41"/>
          <p:cNvCxnSpPr/>
          <p:nvPr/>
        </p:nvCxnSpPr>
        <p:spPr>
          <a:xfrm>
            <a:off x="7273395" y="2831170"/>
            <a:ext cx="2" cy="2869574"/>
          </a:xfrm>
          <a:prstGeom prst="line">
            <a:avLst/>
          </a:prstGeom>
          <a:ln w="38100" cmpd="sng">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43" name="Connecteur droit 42"/>
          <p:cNvCxnSpPr/>
          <p:nvPr/>
        </p:nvCxnSpPr>
        <p:spPr>
          <a:xfrm>
            <a:off x="5652120" y="2821835"/>
            <a:ext cx="2" cy="2869574"/>
          </a:xfrm>
          <a:prstGeom prst="line">
            <a:avLst/>
          </a:prstGeom>
          <a:ln w="38100" cmpd="sng">
            <a:solidFill>
              <a:srgbClr val="008000"/>
            </a:solidFill>
          </a:ln>
        </p:spPr>
        <p:style>
          <a:lnRef idx="1">
            <a:schemeClr val="accent1"/>
          </a:lnRef>
          <a:fillRef idx="0">
            <a:schemeClr val="accent1"/>
          </a:fillRef>
          <a:effectRef idx="0">
            <a:schemeClr val="accent1"/>
          </a:effectRef>
          <a:fontRef idx="minor">
            <a:schemeClr val="tx1"/>
          </a:fontRef>
        </p:style>
      </p:cxnSp>
      <p:sp>
        <p:nvSpPr>
          <p:cNvPr id="15" name="ZoneTexte 14"/>
          <p:cNvSpPr txBox="1"/>
          <p:nvPr/>
        </p:nvSpPr>
        <p:spPr>
          <a:xfrm>
            <a:off x="6372200" y="4869160"/>
            <a:ext cx="1872208" cy="523220"/>
          </a:xfrm>
          <a:prstGeom prst="rect">
            <a:avLst/>
          </a:prstGeom>
          <a:noFill/>
        </p:spPr>
        <p:txBody>
          <a:bodyPr wrap="square" rtlCol="0">
            <a:spAutoFit/>
          </a:bodyPr>
          <a:lstStyle/>
          <a:p>
            <a:pPr algn="ctr"/>
            <a:r>
              <a:rPr lang="fr-BE" sz="1400" b="1" dirty="0"/>
              <a:t>DA le 28.11.2022</a:t>
            </a:r>
          </a:p>
          <a:p>
            <a:pPr algn="ctr"/>
            <a:r>
              <a:rPr lang="fr-BE" sz="1400" b="1" dirty="0"/>
              <a:t>Agé de 34 ans</a:t>
            </a:r>
          </a:p>
        </p:txBody>
      </p:sp>
      <p:sp>
        <p:nvSpPr>
          <p:cNvPr id="23" name="ZoneTexte 22"/>
          <p:cNvSpPr txBox="1"/>
          <p:nvPr/>
        </p:nvSpPr>
        <p:spPr>
          <a:xfrm>
            <a:off x="4139886" y="4236161"/>
            <a:ext cx="2357911" cy="523220"/>
          </a:xfrm>
          <a:prstGeom prst="rect">
            <a:avLst/>
          </a:prstGeom>
          <a:noFill/>
        </p:spPr>
        <p:txBody>
          <a:bodyPr wrap="square" rtlCol="0">
            <a:spAutoFit/>
          </a:bodyPr>
          <a:lstStyle/>
          <a:p>
            <a:pPr algn="ctr"/>
            <a:r>
              <a:rPr lang="fr-BE" sz="1400" b="1" dirty="0"/>
              <a:t>Durée de l’évènement </a:t>
            </a:r>
          </a:p>
          <a:p>
            <a:pPr algn="ctr"/>
            <a:r>
              <a:rPr lang="fr-BE" sz="1400" b="1" dirty="0"/>
              <a:t>= 2 ans et 6 mois</a:t>
            </a:r>
          </a:p>
        </p:txBody>
      </p:sp>
    </p:spTree>
    <p:extLst>
      <p:ext uri="{BB962C8B-B14F-4D97-AF65-F5344CB8AC3E}">
        <p14:creationId xmlns:p14="http://schemas.microsoft.com/office/powerpoint/2010/main" val="2938666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wipe(up)">
                                      <p:cBhvr>
                                        <p:cTn id="11" dur="1000"/>
                                        <p:tgtEl>
                                          <p:spTgt spid="4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1000"/>
                                        <p:tgtEl>
                                          <p:spTgt spid="25"/>
                                        </p:tgtEl>
                                      </p:cBhvr>
                                    </p:animEffect>
                                  </p:childTnLst>
                                </p:cTn>
                              </p:par>
                            </p:childTnLst>
                          </p:cTn>
                        </p:par>
                        <p:par>
                          <p:cTn id="15" fill="hold">
                            <p:stCondLst>
                              <p:cond delay="2000"/>
                            </p:stCondLst>
                            <p:childTnLst>
                              <p:par>
                                <p:cTn id="16" presetID="22" presetClass="entr" presetSubtype="2" fill="hold" grpId="0" nodeType="after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right)">
                                      <p:cBhvr>
                                        <p:cTn id="18" dur="1000"/>
                                        <p:tgtEl>
                                          <p:spTgt spid="24"/>
                                        </p:tgtEl>
                                      </p:cBhvr>
                                    </p:animEffect>
                                  </p:childTnLst>
                                </p:cTn>
                              </p:par>
                            </p:childTnLst>
                          </p:cTn>
                        </p:par>
                        <p:par>
                          <p:cTn id="19" fill="hold">
                            <p:stCondLst>
                              <p:cond delay="3000"/>
                            </p:stCondLst>
                            <p:childTnLst>
                              <p:par>
                                <p:cTn id="20" presetID="22" presetClass="entr" presetSubtype="4" fill="hold" nodeType="after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wipe(down)">
                                      <p:cBhvr>
                                        <p:cTn id="22" dur="1000"/>
                                        <p:tgtEl>
                                          <p:spTgt spid="4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10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4"/>
                                        </p:tgtEl>
                                        <p:attrNameLst>
                                          <p:attrName>style.visibility</p:attrName>
                                        </p:attrNameLst>
                                      </p:cBhvr>
                                      <p:to>
                                        <p:strVal val="visible"/>
                                      </p:to>
                                    </p:set>
                                    <p:animEffect transition="in" filter="fade">
                                      <p:cBhvr>
                                        <p:cTn id="30" dur="1000"/>
                                        <p:tgtEl>
                                          <p:spTgt spid="44"/>
                                        </p:tgtEl>
                                      </p:cBhvr>
                                    </p:animEffect>
                                  </p:childTnLst>
                                </p:cTn>
                              </p:par>
                            </p:childTnLst>
                          </p:cTn>
                        </p:par>
                        <p:par>
                          <p:cTn id="31" fill="hold">
                            <p:stCondLst>
                              <p:cond delay="1000"/>
                            </p:stCondLst>
                            <p:childTnLst>
                              <p:par>
                                <p:cTn id="32" presetID="10" presetClass="entr" presetSubtype="0" fill="hold" grpId="0" nodeType="after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10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1000"/>
                                        <p:tgtEl>
                                          <p:spTgt spid="28"/>
                                        </p:tgtEl>
                                      </p:cBhvr>
                                    </p:animEffect>
                                  </p:childTnLst>
                                </p:cTn>
                              </p:par>
                              <p:par>
                                <p:cTn id="38" presetID="10" presetClass="entr" presetSubtype="0" fill="hold"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1000"/>
                                        <p:tgtEl>
                                          <p:spTgt spid="6"/>
                                        </p:tgtEl>
                                      </p:cBhvr>
                                    </p:animEffect>
                                  </p:childTnLst>
                                </p:cTn>
                              </p:par>
                              <p:par>
                                <p:cTn id="41" presetID="10" presetClass="entr" presetSubtype="0"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1000"/>
                                        <p:tgtEl>
                                          <p:spTgt spid="3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53"/>
                                        </p:tgtEl>
                                        <p:attrNameLst>
                                          <p:attrName>style.visibility</p:attrName>
                                        </p:attrNameLst>
                                      </p:cBhvr>
                                      <p:to>
                                        <p:strVal val="visible"/>
                                      </p:to>
                                    </p:set>
                                    <p:animEffect transition="in" filter="wipe(left)">
                                      <p:cBhvr>
                                        <p:cTn id="48" dur="1000"/>
                                        <p:tgtEl>
                                          <p:spTgt spid="53"/>
                                        </p:tgtEl>
                                      </p:cBhvr>
                                    </p:animEffect>
                                  </p:childTnLst>
                                </p:cTn>
                              </p:par>
                            </p:childTnLst>
                          </p:cTn>
                        </p:par>
                        <p:par>
                          <p:cTn id="49" fill="hold">
                            <p:stCondLst>
                              <p:cond delay="1000"/>
                            </p:stCondLst>
                            <p:childTnLst>
                              <p:par>
                                <p:cTn id="50" presetID="10" presetClass="entr" presetSubtype="0" fill="hold" grpId="0" nodeType="after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10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2" fill="hold" grpId="0" nodeType="click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wipe(right)">
                                      <p:cBhvr>
                                        <p:cTn id="57" dur="1000"/>
                                        <p:tgtEl>
                                          <p:spTgt spid="31"/>
                                        </p:tgtEl>
                                      </p:cBhvr>
                                    </p:animEffect>
                                  </p:childTnLst>
                                </p:cTn>
                              </p:par>
                            </p:childTnLst>
                          </p:cTn>
                        </p:par>
                        <p:par>
                          <p:cTn id="58" fill="hold">
                            <p:stCondLst>
                              <p:cond delay="1000"/>
                            </p:stCondLst>
                            <p:childTnLst>
                              <p:par>
                                <p:cTn id="59" presetID="22" presetClass="entr" presetSubtype="4" fill="hold" nodeType="afterEffect">
                                  <p:stCondLst>
                                    <p:cond delay="0"/>
                                  </p:stCondLst>
                                  <p:childTnLst>
                                    <p:set>
                                      <p:cBhvr>
                                        <p:cTn id="60" dur="1" fill="hold">
                                          <p:stCondLst>
                                            <p:cond delay="0"/>
                                          </p:stCondLst>
                                        </p:cTn>
                                        <p:tgtEl>
                                          <p:spTgt spid="52"/>
                                        </p:tgtEl>
                                        <p:attrNameLst>
                                          <p:attrName>style.visibility</p:attrName>
                                        </p:attrNameLst>
                                      </p:cBhvr>
                                      <p:to>
                                        <p:strVal val="visible"/>
                                      </p:to>
                                    </p:set>
                                    <p:animEffect transition="in" filter="wipe(down)">
                                      <p:cBhvr>
                                        <p:cTn id="61" dur="1000"/>
                                        <p:tgtEl>
                                          <p:spTgt spid="52"/>
                                        </p:tgtEl>
                                      </p:cBhvr>
                                    </p:animEffect>
                                  </p:childTnLst>
                                </p:cTn>
                              </p:par>
                            </p:childTnLst>
                          </p:cTn>
                        </p:par>
                        <p:par>
                          <p:cTn id="62" fill="hold">
                            <p:stCondLst>
                              <p:cond delay="2000"/>
                            </p:stCondLst>
                            <p:childTnLst>
                              <p:par>
                                <p:cTn id="63" presetID="10" presetClass="entr" presetSubtype="0" fill="hold" grpId="0" nodeType="after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1000"/>
                                        <p:tgtEl>
                                          <p:spTgt spid="3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fade">
                                      <p:cBhvr>
                                        <p:cTn id="68" dur="1000"/>
                                        <p:tgtEl>
                                          <p:spTgt spid="3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fade">
                                      <p:cBhvr>
                                        <p:cTn id="71" dur="1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P spid="26" grpId="0"/>
      <p:bldP spid="27" grpId="0"/>
      <p:bldP spid="28" grpId="0"/>
      <p:bldP spid="29" grpId="0"/>
      <p:bldP spid="31" grpId="0" animBg="1"/>
      <p:bldP spid="34" grpId="0"/>
      <p:bldP spid="35" grpId="0"/>
      <p:bldP spid="44" grpId="0" animBg="1"/>
      <p:bldP spid="53" grpId="0" animBg="1"/>
      <p:bldP spid="41" grpId="0"/>
      <p:bldP spid="2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l"/>
            <a:r>
              <a:rPr lang="fr-BE" sz="4000" b="1" i="1" dirty="0"/>
              <a:t>4.2. Exemple 2 </a:t>
            </a:r>
          </a:p>
        </p:txBody>
      </p:sp>
      <p:sp>
        <p:nvSpPr>
          <p:cNvPr id="3" name="Espace réservé du contenu 2"/>
          <p:cNvSpPr>
            <a:spLocks noGrp="1"/>
          </p:cNvSpPr>
          <p:nvPr>
            <p:ph idx="1"/>
          </p:nvPr>
        </p:nvSpPr>
        <p:spPr/>
        <p:txBody>
          <a:bodyPr/>
          <a:lstStyle/>
          <a:p>
            <a:pPr marL="0" indent="0">
              <a:buNone/>
            </a:pPr>
            <a:endParaRPr lang="fr-BE" dirty="0"/>
          </a:p>
          <a:p>
            <a:pPr marL="0" indent="0">
              <a:buNone/>
            </a:pPr>
            <a:endParaRPr lang="fr-BE" dirty="0"/>
          </a:p>
          <a:p>
            <a:pPr marL="0" indent="0">
              <a:buNone/>
            </a:pPr>
            <a:endParaRPr lang="fr-BE" dirty="0"/>
          </a:p>
          <a:p>
            <a:pPr marL="0" indent="0">
              <a:buNone/>
            </a:pPr>
            <a:endParaRPr lang="fr-BE" dirty="0"/>
          </a:p>
        </p:txBody>
      </p:sp>
      <p:sp>
        <p:nvSpPr>
          <p:cNvPr id="23" name="ZoneTexte 22"/>
          <p:cNvSpPr txBox="1"/>
          <p:nvPr/>
        </p:nvSpPr>
        <p:spPr>
          <a:xfrm>
            <a:off x="3461170" y="4179082"/>
            <a:ext cx="2357911" cy="523220"/>
          </a:xfrm>
          <a:prstGeom prst="rect">
            <a:avLst/>
          </a:prstGeom>
          <a:noFill/>
        </p:spPr>
        <p:txBody>
          <a:bodyPr wrap="square" rtlCol="0">
            <a:spAutoFit/>
          </a:bodyPr>
          <a:lstStyle/>
          <a:p>
            <a:pPr algn="ctr"/>
            <a:r>
              <a:rPr lang="fr-BE" sz="1400" b="1" dirty="0"/>
              <a:t>Durée de l’évènement </a:t>
            </a:r>
          </a:p>
          <a:p>
            <a:pPr algn="ctr"/>
            <a:r>
              <a:rPr lang="fr-BE" sz="1400" b="1" dirty="0"/>
              <a:t>= 2 ans &amp; 8 mois</a:t>
            </a:r>
          </a:p>
        </p:txBody>
      </p:sp>
      <p:sp>
        <p:nvSpPr>
          <p:cNvPr id="24" name="Accolade ouvrante 23"/>
          <p:cNvSpPr/>
          <p:nvPr/>
        </p:nvSpPr>
        <p:spPr>
          <a:xfrm rot="16200000">
            <a:off x="6415334" y="5026280"/>
            <a:ext cx="213393" cy="1502729"/>
          </a:xfrm>
          <a:prstGeom prst="leftBrace">
            <a:avLst/>
          </a:prstGeom>
          <a:ln>
            <a:solidFill>
              <a:srgbClr val="00800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fr-BE" dirty="0">
              <a:solidFill>
                <a:srgbClr val="008000"/>
              </a:solidFill>
            </a:endParaRPr>
          </a:p>
        </p:txBody>
      </p:sp>
      <p:sp>
        <p:nvSpPr>
          <p:cNvPr id="25" name="ZoneTexte 24"/>
          <p:cNvSpPr txBox="1"/>
          <p:nvPr/>
        </p:nvSpPr>
        <p:spPr>
          <a:xfrm>
            <a:off x="6569871" y="5837298"/>
            <a:ext cx="1407049" cy="307777"/>
          </a:xfrm>
          <a:prstGeom prst="rect">
            <a:avLst/>
          </a:prstGeom>
          <a:noFill/>
        </p:spPr>
        <p:txBody>
          <a:bodyPr wrap="square" rtlCol="0">
            <a:spAutoFit/>
          </a:bodyPr>
          <a:lstStyle/>
          <a:p>
            <a:pPr algn="ctr"/>
            <a:r>
              <a:rPr lang="fr-BE" sz="1400" b="1" dirty="0">
                <a:solidFill>
                  <a:srgbClr val="008000"/>
                </a:solidFill>
              </a:rPr>
              <a:t>27.11.2022</a:t>
            </a:r>
          </a:p>
        </p:txBody>
      </p:sp>
      <p:sp>
        <p:nvSpPr>
          <p:cNvPr id="26" name="ZoneTexte 25"/>
          <p:cNvSpPr txBox="1"/>
          <p:nvPr/>
        </p:nvSpPr>
        <p:spPr>
          <a:xfrm>
            <a:off x="5074356" y="5829034"/>
            <a:ext cx="1153799" cy="307777"/>
          </a:xfrm>
          <a:prstGeom prst="rect">
            <a:avLst/>
          </a:prstGeom>
          <a:noFill/>
        </p:spPr>
        <p:txBody>
          <a:bodyPr wrap="square" rtlCol="0">
            <a:spAutoFit/>
          </a:bodyPr>
          <a:lstStyle/>
          <a:p>
            <a:pPr algn="ctr"/>
            <a:r>
              <a:rPr lang="fr-BE" sz="1400" b="1" dirty="0">
                <a:solidFill>
                  <a:srgbClr val="008000"/>
                </a:solidFill>
              </a:rPr>
              <a:t>28.02.2021</a:t>
            </a:r>
            <a:endParaRPr lang="fr-BE" sz="1200" b="1" dirty="0">
              <a:solidFill>
                <a:srgbClr val="008000"/>
              </a:solidFill>
            </a:endParaRPr>
          </a:p>
        </p:txBody>
      </p:sp>
      <p:sp>
        <p:nvSpPr>
          <p:cNvPr id="27" name="ZoneTexte 26"/>
          <p:cNvSpPr txBox="1"/>
          <p:nvPr/>
        </p:nvSpPr>
        <p:spPr>
          <a:xfrm>
            <a:off x="5526222" y="5345073"/>
            <a:ext cx="1872208" cy="307777"/>
          </a:xfrm>
          <a:prstGeom prst="rect">
            <a:avLst/>
          </a:prstGeom>
          <a:noFill/>
        </p:spPr>
        <p:txBody>
          <a:bodyPr wrap="square" rtlCol="0">
            <a:spAutoFit/>
          </a:bodyPr>
          <a:lstStyle/>
          <a:p>
            <a:pPr algn="ctr"/>
            <a:r>
              <a:rPr lang="fr-BE" sz="1400" b="1" dirty="0">
                <a:solidFill>
                  <a:srgbClr val="008000"/>
                </a:solidFill>
              </a:rPr>
              <a:t>Période référence</a:t>
            </a:r>
          </a:p>
        </p:txBody>
      </p:sp>
      <p:sp>
        <p:nvSpPr>
          <p:cNvPr id="28" name="ZoneTexte 27"/>
          <p:cNvSpPr txBox="1"/>
          <p:nvPr/>
        </p:nvSpPr>
        <p:spPr>
          <a:xfrm>
            <a:off x="4804839" y="1886154"/>
            <a:ext cx="1442765" cy="317754"/>
          </a:xfrm>
          <a:prstGeom prst="rect">
            <a:avLst/>
          </a:prstGeom>
          <a:noFill/>
        </p:spPr>
        <p:txBody>
          <a:bodyPr wrap="square" rtlCol="0">
            <a:spAutoFit/>
          </a:bodyPr>
          <a:lstStyle/>
          <a:p>
            <a:pPr algn="ctr"/>
            <a:r>
              <a:rPr lang="fr-BE" sz="1400" b="1" dirty="0"/>
              <a:t>15.01.2021</a:t>
            </a:r>
          </a:p>
        </p:txBody>
      </p:sp>
      <p:sp>
        <p:nvSpPr>
          <p:cNvPr id="29" name="ZoneTexte 28"/>
          <p:cNvSpPr txBox="1"/>
          <p:nvPr/>
        </p:nvSpPr>
        <p:spPr>
          <a:xfrm>
            <a:off x="3058925" y="1879050"/>
            <a:ext cx="1415717" cy="311183"/>
          </a:xfrm>
          <a:prstGeom prst="rect">
            <a:avLst/>
          </a:prstGeom>
          <a:noFill/>
        </p:spPr>
        <p:txBody>
          <a:bodyPr wrap="square" rtlCol="0">
            <a:spAutoFit/>
          </a:bodyPr>
          <a:lstStyle/>
          <a:p>
            <a:pPr algn="ctr"/>
            <a:r>
              <a:rPr lang="fr-BE" sz="1400" b="1" dirty="0"/>
              <a:t>16.05.2018</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25</a:t>
            </a:fld>
            <a:endParaRPr lang="fr-FR" dirty="0"/>
          </a:p>
        </p:txBody>
      </p:sp>
      <p:sp>
        <p:nvSpPr>
          <p:cNvPr id="17" name="Rectangle 16"/>
          <p:cNvSpPr/>
          <p:nvPr/>
        </p:nvSpPr>
        <p:spPr>
          <a:xfrm>
            <a:off x="755576" y="3286726"/>
            <a:ext cx="3011206" cy="646331"/>
          </a:xfrm>
          <a:prstGeom prst="rect">
            <a:avLst/>
          </a:prstGeom>
          <a:solidFill>
            <a:srgbClr val="FFC000"/>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1600" b="1" dirty="0">
                <a:solidFill>
                  <a:schemeClr val="tx1"/>
                </a:solidFill>
              </a:rPr>
              <a:t>Occupation temps plein 38/38</a:t>
            </a:r>
          </a:p>
          <a:p>
            <a:pPr algn="ctr"/>
            <a:r>
              <a:rPr lang="fr-BE" sz="1600" b="1" dirty="0">
                <a:solidFill>
                  <a:schemeClr val="tx1"/>
                </a:solidFill>
              </a:rPr>
              <a:t>Fin le 15.05.2018</a:t>
            </a:r>
          </a:p>
        </p:txBody>
      </p:sp>
      <p:sp>
        <p:nvSpPr>
          <p:cNvPr id="44" name="Rectangle 43"/>
          <p:cNvSpPr/>
          <p:nvPr/>
        </p:nvSpPr>
        <p:spPr>
          <a:xfrm>
            <a:off x="3766781" y="3286723"/>
            <a:ext cx="1746687" cy="646331"/>
          </a:xfrm>
          <a:prstGeom prst="rect">
            <a:avLst/>
          </a:prstGeom>
          <a:solidFill>
            <a:schemeClr val="tx2">
              <a:lumMod val="20000"/>
              <a:lumOff val="80000"/>
            </a:schemeClr>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1600" b="1" dirty="0">
                <a:solidFill>
                  <a:schemeClr val="tx1"/>
                </a:solidFill>
              </a:rPr>
              <a:t>Détention</a:t>
            </a:r>
          </a:p>
        </p:txBody>
      </p:sp>
      <p:cxnSp>
        <p:nvCxnSpPr>
          <p:cNvPr id="51" name="Connecteur droit avec flèche 50"/>
          <p:cNvCxnSpPr/>
          <p:nvPr/>
        </p:nvCxnSpPr>
        <p:spPr>
          <a:xfrm>
            <a:off x="755576" y="3933056"/>
            <a:ext cx="7416824"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Accolade ouvrante 29"/>
          <p:cNvSpPr/>
          <p:nvPr/>
        </p:nvSpPr>
        <p:spPr>
          <a:xfrm rot="16200000">
            <a:off x="4512539" y="3155131"/>
            <a:ext cx="255170" cy="1746687"/>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fr-BE" dirty="0"/>
          </a:p>
        </p:txBody>
      </p:sp>
      <p:cxnSp>
        <p:nvCxnSpPr>
          <p:cNvPr id="31" name="Connecteur droit 30"/>
          <p:cNvCxnSpPr/>
          <p:nvPr/>
        </p:nvCxnSpPr>
        <p:spPr>
          <a:xfrm>
            <a:off x="3767796" y="2198505"/>
            <a:ext cx="0" cy="1718884"/>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Connecteur droit 31"/>
          <p:cNvCxnSpPr/>
          <p:nvPr/>
        </p:nvCxnSpPr>
        <p:spPr>
          <a:xfrm>
            <a:off x="5515661" y="2206684"/>
            <a:ext cx="3290" cy="1718886"/>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Connecteur droit avec flèche 32"/>
          <p:cNvCxnSpPr/>
          <p:nvPr/>
        </p:nvCxnSpPr>
        <p:spPr>
          <a:xfrm>
            <a:off x="7308304" y="2204864"/>
            <a:ext cx="0" cy="2664296"/>
          </a:xfrm>
          <a:prstGeom prst="straightConnector1">
            <a:avLst/>
          </a:prstGeom>
          <a:ln w="38100">
            <a:tailEnd type="arrow"/>
          </a:ln>
        </p:spPr>
        <p:style>
          <a:lnRef idx="2">
            <a:schemeClr val="accent2"/>
          </a:lnRef>
          <a:fillRef idx="0">
            <a:schemeClr val="accent2"/>
          </a:fillRef>
          <a:effectRef idx="1">
            <a:schemeClr val="accent2"/>
          </a:effectRef>
          <a:fontRef idx="minor">
            <a:schemeClr val="tx1"/>
          </a:fontRef>
        </p:style>
      </p:cxnSp>
      <p:cxnSp>
        <p:nvCxnSpPr>
          <p:cNvPr id="34" name="Connecteur droit 33"/>
          <p:cNvCxnSpPr/>
          <p:nvPr/>
        </p:nvCxnSpPr>
        <p:spPr>
          <a:xfrm>
            <a:off x="7273395" y="2832205"/>
            <a:ext cx="2" cy="2869574"/>
          </a:xfrm>
          <a:prstGeom prst="line">
            <a:avLst/>
          </a:prstGeom>
          <a:ln w="38100" cmpd="sng">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35" name="Connecteur droit 34"/>
          <p:cNvCxnSpPr>
            <a:cxnSpLocks/>
          </p:cNvCxnSpPr>
          <p:nvPr/>
        </p:nvCxnSpPr>
        <p:spPr>
          <a:xfrm>
            <a:off x="5770667" y="2832205"/>
            <a:ext cx="2" cy="2869574"/>
          </a:xfrm>
          <a:prstGeom prst="line">
            <a:avLst/>
          </a:prstGeom>
          <a:ln w="38100" cmpd="sng">
            <a:solidFill>
              <a:srgbClr val="008000"/>
            </a:solidFill>
          </a:ln>
        </p:spPr>
        <p:style>
          <a:lnRef idx="1">
            <a:schemeClr val="accent1"/>
          </a:lnRef>
          <a:fillRef idx="0">
            <a:schemeClr val="accent1"/>
          </a:fillRef>
          <a:effectRef idx="0">
            <a:schemeClr val="accent1"/>
          </a:effectRef>
          <a:fontRef idx="minor">
            <a:schemeClr val="tx1"/>
          </a:fontRef>
        </p:style>
      </p:cxnSp>
      <p:sp>
        <p:nvSpPr>
          <p:cNvPr id="15" name="ZoneTexte 14"/>
          <p:cNvSpPr txBox="1"/>
          <p:nvPr/>
        </p:nvSpPr>
        <p:spPr>
          <a:xfrm>
            <a:off x="6372200" y="4869160"/>
            <a:ext cx="1872208" cy="523220"/>
          </a:xfrm>
          <a:prstGeom prst="rect">
            <a:avLst/>
          </a:prstGeom>
          <a:noFill/>
        </p:spPr>
        <p:txBody>
          <a:bodyPr wrap="square" rtlCol="0">
            <a:spAutoFit/>
          </a:bodyPr>
          <a:lstStyle/>
          <a:p>
            <a:pPr algn="ctr"/>
            <a:r>
              <a:rPr lang="fr-BE" sz="1400" b="1" dirty="0"/>
              <a:t>DA le 28.11.2022</a:t>
            </a:r>
          </a:p>
          <a:p>
            <a:pPr algn="ctr"/>
            <a:r>
              <a:rPr lang="fr-BE" sz="1400" b="1" dirty="0"/>
              <a:t>Agé de 34 ans</a:t>
            </a:r>
          </a:p>
        </p:txBody>
      </p:sp>
    </p:spTree>
    <p:extLst>
      <p:ext uri="{BB962C8B-B14F-4D97-AF65-F5344CB8AC3E}">
        <p14:creationId xmlns:p14="http://schemas.microsoft.com/office/powerpoint/2010/main" val="26318961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up)">
                                      <p:cBhvr>
                                        <p:cTn id="11" dur="1000"/>
                                        <p:tgtEl>
                                          <p:spTgt spid="3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1000"/>
                                        <p:tgtEl>
                                          <p:spTgt spid="25"/>
                                        </p:tgtEl>
                                      </p:cBhvr>
                                    </p:animEffect>
                                  </p:childTnLst>
                                </p:cTn>
                              </p:par>
                            </p:childTnLst>
                          </p:cTn>
                        </p:par>
                        <p:par>
                          <p:cTn id="15" fill="hold">
                            <p:stCondLst>
                              <p:cond delay="2000"/>
                            </p:stCondLst>
                            <p:childTnLst>
                              <p:par>
                                <p:cTn id="16" presetID="22" presetClass="entr" presetSubtype="2" fill="hold" grpId="0" nodeType="after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right)">
                                      <p:cBhvr>
                                        <p:cTn id="18" dur="1000"/>
                                        <p:tgtEl>
                                          <p:spTgt spid="24"/>
                                        </p:tgtEl>
                                      </p:cBhvr>
                                    </p:animEffect>
                                  </p:childTnLst>
                                </p:cTn>
                              </p:par>
                            </p:childTnLst>
                          </p:cTn>
                        </p:par>
                        <p:par>
                          <p:cTn id="19" fill="hold">
                            <p:stCondLst>
                              <p:cond delay="3000"/>
                            </p:stCondLst>
                            <p:childTnLst>
                              <p:par>
                                <p:cTn id="20" presetID="22" presetClass="entr" presetSubtype="4" fill="hold" nodeType="after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down)">
                                      <p:cBhvr>
                                        <p:cTn id="22" dur="1000"/>
                                        <p:tgtEl>
                                          <p:spTgt spid="3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10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4"/>
                                        </p:tgtEl>
                                        <p:attrNameLst>
                                          <p:attrName>style.visibility</p:attrName>
                                        </p:attrNameLst>
                                      </p:cBhvr>
                                      <p:to>
                                        <p:strVal val="visible"/>
                                      </p:to>
                                    </p:set>
                                    <p:animEffect transition="in" filter="fade">
                                      <p:cBhvr>
                                        <p:cTn id="30" dur="1000"/>
                                        <p:tgtEl>
                                          <p:spTgt spid="44"/>
                                        </p:tgtEl>
                                      </p:cBhvr>
                                    </p:animEffect>
                                  </p:childTnLst>
                                </p:cTn>
                              </p:par>
                            </p:childTnLst>
                          </p:cTn>
                        </p:par>
                        <p:par>
                          <p:cTn id="31" fill="hold">
                            <p:stCondLst>
                              <p:cond delay="1000"/>
                            </p:stCondLst>
                            <p:childTnLst>
                              <p:par>
                                <p:cTn id="32" presetID="10" presetClass="entr" presetSubtype="0" fill="hold" grpId="0" nodeType="after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10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1000"/>
                                        <p:tgtEl>
                                          <p:spTgt spid="28"/>
                                        </p:tgtEl>
                                      </p:cBhvr>
                                    </p:animEffect>
                                  </p:childTnLst>
                                </p:cTn>
                              </p:par>
                              <p:par>
                                <p:cTn id="38" presetID="10" presetClass="entr" presetSubtype="0" fill="hold"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1000"/>
                                        <p:tgtEl>
                                          <p:spTgt spid="31"/>
                                        </p:tgtEl>
                                      </p:cBhvr>
                                    </p:animEffect>
                                  </p:childTnLst>
                                </p:cTn>
                              </p:par>
                              <p:par>
                                <p:cTn id="41" presetID="10" presetClass="entr" presetSubtype="0"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1000"/>
                                        <p:tgtEl>
                                          <p:spTgt spid="3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wipe(left)">
                                      <p:cBhvr>
                                        <p:cTn id="48" dur="1000"/>
                                        <p:tgtEl>
                                          <p:spTgt spid="30"/>
                                        </p:tgtEl>
                                      </p:cBhvr>
                                    </p:animEffect>
                                  </p:childTnLst>
                                </p:cTn>
                              </p:par>
                            </p:childTnLst>
                          </p:cTn>
                        </p:par>
                        <p:par>
                          <p:cTn id="49" fill="hold">
                            <p:stCondLst>
                              <p:cond delay="1000"/>
                            </p:stCondLst>
                            <p:childTnLst>
                              <p:par>
                                <p:cTn id="50" presetID="10" presetClass="entr" presetSubtype="0" fill="hold" grpId="0" nodeType="after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animBg="1"/>
      <p:bldP spid="25" grpId="0"/>
      <p:bldP spid="26" grpId="0"/>
      <p:bldP spid="27" grpId="0"/>
      <p:bldP spid="28" grpId="0"/>
      <p:bldP spid="29" grpId="0"/>
      <p:bldP spid="44" grpId="0" animBg="1"/>
      <p:bldP spid="3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l"/>
            <a:r>
              <a:rPr lang="fr-BE" sz="4000" b="1" i="1" dirty="0"/>
              <a:t>4.2. Exemple 3 </a:t>
            </a:r>
          </a:p>
        </p:txBody>
      </p:sp>
      <p:sp>
        <p:nvSpPr>
          <p:cNvPr id="3" name="Espace réservé du contenu 2"/>
          <p:cNvSpPr>
            <a:spLocks noGrp="1"/>
          </p:cNvSpPr>
          <p:nvPr>
            <p:ph idx="1"/>
          </p:nvPr>
        </p:nvSpPr>
        <p:spPr/>
        <p:txBody>
          <a:bodyPr/>
          <a:lstStyle/>
          <a:p>
            <a:pPr marL="0" indent="0">
              <a:buNone/>
            </a:pPr>
            <a:endParaRPr lang="fr-BE" dirty="0"/>
          </a:p>
          <a:p>
            <a:pPr marL="0" indent="0">
              <a:buNone/>
            </a:pPr>
            <a:endParaRPr lang="fr-BE" dirty="0"/>
          </a:p>
          <a:p>
            <a:pPr marL="0" indent="0">
              <a:buNone/>
            </a:pPr>
            <a:endParaRPr lang="fr-BE" dirty="0"/>
          </a:p>
          <a:p>
            <a:pPr marL="0" indent="0">
              <a:buNone/>
            </a:pPr>
            <a:endParaRPr lang="fr-BE" dirty="0"/>
          </a:p>
        </p:txBody>
      </p:sp>
      <p:sp>
        <p:nvSpPr>
          <p:cNvPr id="23" name="ZoneTexte 22"/>
          <p:cNvSpPr txBox="1"/>
          <p:nvPr/>
        </p:nvSpPr>
        <p:spPr>
          <a:xfrm>
            <a:off x="3606622" y="4185320"/>
            <a:ext cx="3099954" cy="523220"/>
          </a:xfrm>
          <a:prstGeom prst="rect">
            <a:avLst/>
          </a:prstGeom>
          <a:noFill/>
        </p:spPr>
        <p:txBody>
          <a:bodyPr wrap="square" rtlCol="0">
            <a:spAutoFit/>
          </a:bodyPr>
          <a:lstStyle/>
          <a:p>
            <a:pPr algn="ctr"/>
            <a:r>
              <a:rPr lang="fr-BE" sz="1400" b="1" dirty="0"/>
              <a:t>Durée de l’évènement </a:t>
            </a:r>
          </a:p>
          <a:p>
            <a:pPr algn="ctr"/>
            <a:r>
              <a:rPr lang="fr-BE" sz="1400" b="1" dirty="0"/>
              <a:t>= 8 ans</a:t>
            </a:r>
          </a:p>
        </p:txBody>
      </p:sp>
      <p:sp>
        <p:nvSpPr>
          <p:cNvPr id="24" name="Accolade ouvrante 23"/>
          <p:cNvSpPr/>
          <p:nvPr/>
        </p:nvSpPr>
        <p:spPr>
          <a:xfrm rot="16200000">
            <a:off x="6344377" y="4977827"/>
            <a:ext cx="235898" cy="1622140"/>
          </a:xfrm>
          <a:prstGeom prst="leftBrace">
            <a:avLst/>
          </a:prstGeom>
          <a:ln>
            <a:solidFill>
              <a:srgbClr val="00800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fr-BE" dirty="0">
              <a:solidFill>
                <a:srgbClr val="008000"/>
              </a:solidFill>
            </a:endParaRPr>
          </a:p>
        </p:txBody>
      </p:sp>
      <p:sp>
        <p:nvSpPr>
          <p:cNvPr id="25" name="ZoneTexte 24"/>
          <p:cNvSpPr txBox="1"/>
          <p:nvPr/>
        </p:nvSpPr>
        <p:spPr>
          <a:xfrm>
            <a:off x="6569871" y="5837298"/>
            <a:ext cx="1407049" cy="307777"/>
          </a:xfrm>
          <a:prstGeom prst="rect">
            <a:avLst/>
          </a:prstGeom>
          <a:noFill/>
        </p:spPr>
        <p:txBody>
          <a:bodyPr wrap="square" rtlCol="0">
            <a:spAutoFit/>
          </a:bodyPr>
          <a:lstStyle/>
          <a:p>
            <a:pPr algn="ctr"/>
            <a:r>
              <a:rPr lang="fr-BE" sz="1400" b="1" dirty="0">
                <a:solidFill>
                  <a:srgbClr val="008000"/>
                </a:solidFill>
              </a:rPr>
              <a:t>27.11.2022</a:t>
            </a:r>
          </a:p>
        </p:txBody>
      </p:sp>
      <p:sp>
        <p:nvSpPr>
          <p:cNvPr id="26" name="ZoneTexte 25"/>
          <p:cNvSpPr txBox="1"/>
          <p:nvPr/>
        </p:nvSpPr>
        <p:spPr>
          <a:xfrm>
            <a:off x="5074356" y="5829034"/>
            <a:ext cx="1153799" cy="307777"/>
          </a:xfrm>
          <a:prstGeom prst="rect">
            <a:avLst/>
          </a:prstGeom>
          <a:noFill/>
        </p:spPr>
        <p:txBody>
          <a:bodyPr wrap="square" rtlCol="0">
            <a:spAutoFit/>
          </a:bodyPr>
          <a:lstStyle/>
          <a:p>
            <a:pPr algn="ctr"/>
            <a:r>
              <a:rPr lang="fr-BE" sz="1400" b="1" dirty="0">
                <a:solidFill>
                  <a:srgbClr val="008000"/>
                </a:solidFill>
              </a:rPr>
              <a:t>28.02.2021</a:t>
            </a:r>
            <a:endParaRPr lang="fr-BE" sz="1200" b="1" dirty="0">
              <a:solidFill>
                <a:srgbClr val="008000"/>
              </a:solidFill>
            </a:endParaRPr>
          </a:p>
        </p:txBody>
      </p:sp>
      <p:sp>
        <p:nvSpPr>
          <p:cNvPr id="27" name="ZoneTexte 26"/>
          <p:cNvSpPr txBox="1"/>
          <p:nvPr/>
        </p:nvSpPr>
        <p:spPr>
          <a:xfrm>
            <a:off x="5526222" y="5345073"/>
            <a:ext cx="1872208" cy="307777"/>
          </a:xfrm>
          <a:prstGeom prst="rect">
            <a:avLst/>
          </a:prstGeom>
          <a:noFill/>
        </p:spPr>
        <p:txBody>
          <a:bodyPr wrap="square" rtlCol="0">
            <a:spAutoFit/>
          </a:bodyPr>
          <a:lstStyle/>
          <a:p>
            <a:pPr algn="ctr"/>
            <a:r>
              <a:rPr lang="fr-BE" sz="1400" b="1" dirty="0">
                <a:solidFill>
                  <a:srgbClr val="008000"/>
                </a:solidFill>
              </a:rPr>
              <a:t>Période référence</a:t>
            </a:r>
          </a:p>
        </p:txBody>
      </p:sp>
      <p:sp>
        <p:nvSpPr>
          <p:cNvPr id="28" name="ZoneTexte 27"/>
          <p:cNvSpPr txBox="1"/>
          <p:nvPr/>
        </p:nvSpPr>
        <p:spPr>
          <a:xfrm>
            <a:off x="5526222" y="1952601"/>
            <a:ext cx="2338487" cy="307777"/>
          </a:xfrm>
          <a:prstGeom prst="rect">
            <a:avLst/>
          </a:prstGeom>
          <a:noFill/>
        </p:spPr>
        <p:txBody>
          <a:bodyPr wrap="square" rtlCol="0">
            <a:spAutoFit/>
          </a:bodyPr>
          <a:lstStyle/>
          <a:p>
            <a:pPr algn="ctr"/>
            <a:r>
              <a:rPr lang="fr-BE" sz="1400" b="1" dirty="0"/>
              <a:t>30.06.2022</a:t>
            </a:r>
          </a:p>
        </p:txBody>
      </p:sp>
      <p:sp>
        <p:nvSpPr>
          <p:cNvPr id="29" name="ZoneTexte 28"/>
          <p:cNvSpPr txBox="1"/>
          <p:nvPr/>
        </p:nvSpPr>
        <p:spPr>
          <a:xfrm>
            <a:off x="2830678" y="1890726"/>
            <a:ext cx="1872208" cy="307777"/>
          </a:xfrm>
          <a:prstGeom prst="rect">
            <a:avLst/>
          </a:prstGeom>
          <a:noFill/>
        </p:spPr>
        <p:txBody>
          <a:bodyPr wrap="square" rtlCol="0">
            <a:spAutoFit/>
          </a:bodyPr>
          <a:lstStyle/>
          <a:p>
            <a:pPr algn="ctr"/>
            <a:r>
              <a:rPr lang="fr-BE" sz="1400" b="1" dirty="0"/>
              <a:t>01.07.2014</a:t>
            </a:r>
          </a:p>
        </p:txBody>
      </p:sp>
      <p:sp>
        <p:nvSpPr>
          <p:cNvPr id="31" name="Accolade ouvrante 30"/>
          <p:cNvSpPr/>
          <p:nvPr/>
        </p:nvSpPr>
        <p:spPr>
          <a:xfrm rot="16200000">
            <a:off x="4929367" y="3862701"/>
            <a:ext cx="235816" cy="4522065"/>
          </a:xfrm>
          <a:prstGeom prst="leftBrace">
            <a:avLst/>
          </a:prstGeom>
          <a:ln>
            <a:solidFill>
              <a:srgbClr val="7030A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fr-BE" dirty="0">
              <a:solidFill>
                <a:srgbClr val="7030A0"/>
              </a:solidFill>
            </a:endParaRPr>
          </a:p>
        </p:txBody>
      </p:sp>
      <p:sp>
        <p:nvSpPr>
          <p:cNvPr id="34" name="ZoneTexte 33"/>
          <p:cNvSpPr txBox="1"/>
          <p:nvPr/>
        </p:nvSpPr>
        <p:spPr>
          <a:xfrm>
            <a:off x="1619672" y="6216289"/>
            <a:ext cx="2462714" cy="307777"/>
          </a:xfrm>
          <a:prstGeom prst="rect">
            <a:avLst/>
          </a:prstGeom>
          <a:noFill/>
        </p:spPr>
        <p:txBody>
          <a:bodyPr wrap="square" rtlCol="0">
            <a:spAutoFit/>
          </a:bodyPr>
          <a:lstStyle/>
          <a:p>
            <a:pPr algn="ctr"/>
            <a:r>
              <a:rPr lang="fr-BE" sz="1400" b="1" dirty="0">
                <a:solidFill>
                  <a:srgbClr val="7030A0"/>
                </a:solidFill>
              </a:rPr>
              <a:t>28.02.2013</a:t>
            </a:r>
            <a:endParaRPr lang="fr-BE" sz="1200" b="1" dirty="0">
              <a:solidFill>
                <a:srgbClr val="00B0F0"/>
              </a:solidFill>
            </a:endParaRPr>
          </a:p>
        </p:txBody>
      </p:sp>
      <p:sp>
        <p:nvSpPr>
          <p:cNvPr id="35" name="ZoneTexte 34"/>
          <p:cNvSpPr txBox="1"/>
          <p:nvPr/>
        </p:nvSpPr>
        <p:spPr>
          <a:xfrm>
            <a:off x="4208081" y="6356180"/>
            <a:ext cx="2326458" cy="307777"/>
          </a:xfrm>
          <a:prstGeom prst="rect">
            <a:avLst/>
          </a:prstGeom>
          <a:noFill/>
        </p:spPr>
        <p:txBody>
          <a:bodyPr wrap="square" rtlCol="0">
            <a:spAutoFit/>
          </a:bodyPr>
          <a:lstStyle/>
          <a:p>
            <a:pPr algn="ctr"/>
            <a:r>
              <a:rPr lang="fr-BE" sz="1400" b="1" dirty="0">
                <a:solidFill>
                  <a:srgbClr val="7030A0"/>
                </a:solidFill>
              </a:rPr>
              <a:t>Période référence prolongée</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26</a:t>
            </a:fld>
            <a:endParaRPr lang="fr-FR" dirty="0"/>
          </a:p>
        </p:txBody>
      </p:sp>
      <p:sp>
        <p:nvSpPr>
          <p:cNvPr id="17" name="Rectangle 16"/>
          <p:cNvSpPr/>
          <p:nvPr/>
        </p:nvSpPr>
        <p:spPr>
          <a:xfrm>
            <a:off x="755576" y="3318998"/>
            <a:ext cx="3011206" cy="614059"/>
          </a:xfrm>
          <a:prstGeom prst="rect">
            <a:avLst/>
          </a:prstGeom>
          <a:solidFill>
            <a:srgbClr val="FFC000"/>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1600" b="1" dirty="0">
                <a:solidFill>
                  <a:schemeClr val="tx1"/>
                </a:solidFill>
              </a:rPr>
              <a:t>Occupation temps plein 38/38</a:t>
            </a:r>
          </a:p>
          <a:p>
            <a:pPr algn="ctr"/>
            <a:r>
              <a:rPr lang="fr-BE" sz="1600" b="1" dirty="0">
                <a:solidFill>
                  <a:schemeClr val="tx1"/>
                </a:solidFill>
              </a:rPr>
              <a:t>Fin le 30.06.2014</a:t>
            </a:r>
          </a:p>
        </p:txBody>
      </p:sp>
      <p:sp>
        <p:nvSpPr>
          <p:cNvPr id="44" name="Rectangle 43"/>
          <p:cNvSpPr/>
          <p:nvPr/>
        </p:nvSpPr>
        <p:spPr>
          <a:xfrm>
            <a:off x="3766782" y="3318998"/>
            <a:ext cx="2834427" cy="595146"/>
          </a:xfrm>
          <a:prstGeom prst="rect">
            <a:avLst/>
          </a:prstGeom>
          <a:solidFill>
            <a:schemeClr val="bg2">
              <a:lumMod val="90000"/>
            </a:schemeClr>
          </a:solidFill>
          <a:ln w="3810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1600" b="1" dirty="0">
                <a:solidFill>
                  <a:schemeClr val="tx1"/>
                </a:solidFill>
              </a:rPr>
              <a:t>Activité Indépendante </a:t>
            </a:r>
          </a:p>
        </p:txBody>
      </p:sp>
      <p:cxnSp>
        <p:nvCxnSpPr>
          <p:cNvPr id="52" name="Connecteur droit avec flèche 51"/>
          <p:cNvCxnSpPr/>
          <p:nvPr/>
        </p:nvCxnSpPr>
        <p:spPr>
          <a:xfrm flipV="1">
            <a:off x="2786242" y="2887559"/>
            <a:ext cx="0" cy="3129987"/>
          </a:xfrm>
          <a:prstGeom prst="straightConnector1">
            <a:avLst/>
          </a:prstGeom>
          <a:ln w="38100">
            <a:solidFill>
              <a:srgbClr val="7030A0"/>
            </a:solidFill>
            <a:prstDash val="sysDash"/>
            <a:tailEnd type="arrow"/>
          </a:ln>
        </p:spPr>
        <p:style>
          <a:lnRef idx="2">
            <a:schemeClr val="accent2"/>
          </a:lnRef>
          <a:fillRef idx="0">
            <a:schemeClr val="accent2"/>
          </a:fillRef>
          <a:effectRef idx="1">
            <a:schemeClr val="accent2"/>
          </a:effectRef>
          <a:fontRef idx="minor">
            <a:schemeClr val="tx1"/>
          </a:fontRef>
        </p:style>
      </p:cxnSp>
      <p:cxnSp>
        <p:nvCxnSpPr>
          <p:cNvPr id="37" name="Connecteur droit avec flèche 36"/>
          <p:cNvCxnSpPr/>
          <p:nvPr/>
        </p:nvCxnSpPr>
        <p:spPr>
          <a:xfrm>
            <a:off x="755576" y="3933056"/>
            <a:ext cx="7416824"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Accolade ouvrante 40"/>
          <p:cNvSpPr/>
          <p:nvPr/>
        </p:nvSpPr>
        <p:spPr>
          <a:xfrm rot="16200000">
            <a:off x="5001993" y="2629425"/>
            <a:ext cx="364014" cy="2834423"/>
          </a:xfrm>
          <a:prstGeom prst="leftBrace">
            <a:avLst/>
          </a:prstGeom>
          <a:ln>
            <a:solidFill>
              <a:schemeClr val="bg2">
                <a:lumMod val="50000"/>
              </a:schemeClr>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fr-BE" dirty="0"/>
          </a:p>
        </p:txBody>
      </p:sp>
      <p:cxnSp>
        <p:nvCxnSpPr>
          <p:cNvPr id="33" name="Connecteur droit 32"/>
          <p:cNvCxnSpPr/>
          <p:nvPr/>
        </p:nvCxnSpPr>
        <p:spPr>
          <a:xfrm>
            <a:off x="3767796" y="2198505"/>
            <a:ext cx="0" cy="1718884"/>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Connecteur droit 37"/>
          <p:cNvCxnSpPr>
            <a:cxnSpLocks/>
          </p:cNvCxnSpPr>
          <p:nvPr/>
        </p:nvCxnSpPr>
        <p:spPr>
          <a:xfrm>
            <a:off x="6602225" y="2336535"/>
            <a:ext cx="3" cy="1584886"/>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Connecteur droit 41"/>
          <p:cNvCxnSpPr/>
          <p:nvPr/>
        </p:nvCxnSpPr>
        <p:spPr>
          <a:xfrm>
            <a:off x="7273393" y="2821835"/>
            <a:ext cx="2" cy="2869574"/>
          </a:xfrm>
          <a:prstGeom prst="line">
            <a:avLst/>
          </a:prstGeom>
          <a:ln w="38100" cmpd="sng">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43" name="Connecteur droit 42"/>
          <p:cNvCxnSpPr/>
          <p:nvPr/>
        </p:nvCxnSpPr>
        <p:spPr>
          <a:xfrm>
            <a:off x="5652120" y="2821835"/>
            <a:ext cx="2" cy="2869574"/>
          </a:xfrm>
          <a:prstGeom prst="line">
            <a:avLst/>
          </a:prstGeom>
          <a:ln w="38100" cmpd="sng">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45" name="Connecteur droit avec flèche 44"/>
          <p:cNvCxnSpPr/>
          <p:nvPr/>
        </p:nvCxnSpPr>
        <p:spPr>
          <a:xfrm>
            <a:off x="7308304" y="2204864"/>
            <a:ext cx="0" cy="2664296"/>
          </a:xfrm>
          <a:prstGeom prst="straightConnector1">
            <a:avLst/>
          </a:prstGeom>
          <a:ln w="38100">
            <a:tailEnd type="arrow"/>
          </a:ln>
        </p:spPr>
        <p:style>
          <a:lnRef idx="2">
            <a:schemeClr val="accent2"/>
          </a:lnRef>
          <a:fillRef idx="0">
            <a:schemeClr val="accent2"/>
          </a:fillRef>
          <a:effectRef idx="1">
            <a:schemeClr val="accent2"/>
          </a:effectRef>
          <a:fontRef idx="minor">
            <a:schemeClr val="tx1"/>
          </a:fontRef>
        </p:style>
      </p:cxnSp>
      <p:sp>
        <p:nvSpPr>
          <p:cNvPr id="50" name="ZoneTexte 49"/>
          <p:cNvSpPr txBox="1"/>
          <p:nvPr/>
        </p:nvSpPr>
        <p:spPr>
          <a:xfrm>
            <a:off x="6625326" y="6216289"/>
            <a:ext cx="1296144" cy="307777"/>
          </a:xfrm>
          <a:prstGeom prst="rect">
            <a:avLst/>
          </a:prstGeom>
          <a:noFill/>
        </p:spPr>
        <p:txBody>
          <a:bodyPr wrap="square" rtlCol="0">
            <a:spAutoFit/>
          </a:bodyPr>
          <a:lstStyle/>
          <a:p>
            <a:pPr algn="ctr"/>
            <a:r>
              <a:rPr lang="fr-BE" sz="1400" b="1" dirty="0">
                <a:solidFill>
                  <a:srgbClr val="7030A0"/>
                </a:solidFill>
              </a:rPr>
              <a:t>27.11.2022</a:t>
            </a:r>
            <a:endParaRPr lang="fr-BE" sz="1200" b="1" dirty="0">
              <a:solidFill>
                <a:srgbClr val="00B0F0"/>
              </a:solidFill>
            </a:endParaRPr>
          </a:p>
        </p:txBody>
      </p:sp>
      <p:sp>
        <p:nvSpPr>
          <p:cNvPr id="15" name="ZoneTexte 14"/>
          <p:cNvSpPr txBox="1"/>
          <p:nvPr/>
        </p:nvSpPr>
        <p:spPr>
          <a:xfrm>
            <a:off x="6372200" y="4869160"/>
            <a:ext cx="1872208" cy="523220"/>
          </a:xfrm>
          <a:prstGeom prst="rect">
            <a:avLst/>
          </a:prstGeom>
          <a:noFill/>
        </p:spPr>
        <p:txBody>
          <a:bodyPr wrap="square" rtlCol="0">
            <a:spAutoFit/>
          </a:bodyPr>
          <a:lstStyle/>
          <a:p>
            <a:pPr algn="ctr"/>
            <a:r>
              <a:rPr lang="fr-BE" sz="1400" b="1" dirty="0"/>
              <a:t>DA le 28.11.2022</a:t>
            </a:r>
          </a:p>
          <a:p>
            <a:pPr algn="ctr"/>
            <a:r>
              <a:rPr lang="fr-BE" sz="1400" b="1" dirty="0"/>
              <a:t>Agé de 34 ans</a:t>
            </a:r>
          </a:p>
        </p:txBody>
      </p:sp>
    </p:spTree>
    <p:extLst>
      <p:ext uri="{BB962C8B-B14F-4D97-AF65-F5344CB8AC3E}">
        <p14:creationId xmlns:p14="http://schemas.microsoft.com/office/powerpoint/2010/main" val="14177737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wipe(up)">
                                      <p:cBhvr>
                                        <p:cTn id="11" dur="1000"/>
                                        <p:tgtEl>
                                          <p:spTgt spid="4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1000"/>
                                        <p:tgtEl>
                                          <p:spTgt spid="25"/>
                                        </p:tgtEl>
                                      </p:cBhvr>
                                    </p:animEffect>
                                  </p:childTnLst>
                                </p:cTn>
                              </p:par>
                            </p:childTnLst>
                          </p:cTn>
                        </p:par>
                        <p:par>
                          <p:cTn id="15" fill="hold">
                            <p:stCondLst>
                              <p:cond delay="2000"/>
                            </p:stCondLst>
                            <p:childTnLst>
                              <p:par>
                                <p:cTn id="16" presetID="22" presetClass="entr" presetSubtype="2" fill="hold" grpId="0" nodeType="after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right)">
                                      <p:cBhvr>
                                        <p:cTn id="18" dur="1000"/>
                                        <p:tgtEl>
                                          <p:spTgt spid="24"/>
                                        </p:tgtEl>
                                      </p:cBhvr>
                                    </p:animEffect>
                                  </p:childTnLst>
                                </p:cTn>
                              </p:par>
                            </p:childTnLst>
                          </p:cTn>
                        </p:par>
                        <p:par>
                          <p:cTn id="19" fill="hold">
                            <p:stCondLst>
                              <p:cond delay="3000"/>
                            </p:stCondLst>
                            <p:childTnLst>
                              <p:par>
                                <p:cTn id="20" presetID="22" presetClass="entr" presetSubtype="4" fill="hold" nodeType="after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wipe(down)">
                                      <p:cBhvr>
                                        <p:cTn id="22" dur="1000"/>
                                        <p:tgtEl>
                                          <p:spTgt spid="4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10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wipe(left)">
                                      <p:cBhvr>
                                        <p:cTn id="30" dur="1000"/>
                                        <p:tgtEl>
                                          <p:spTgt spid="41"/>
                                        </p:tgtEl>
                                      </p:cBhvr>
                                    </p:animEffect>
                                  </p:childTnLst>
                                </p:cTn>
                              </p:par>
                            </p:childTnLst>
                          </p:cTn>
                        </p:par>
                        <p:par>
                          <p:cTn id="31" fill="hold">
                            <p:stCondLst>
                              <p:cond delay="1000"/>
                            </p:stCondLst>
                            <p:childTnLst>
                              <p:par>
                                <p:cTn id="32" presetID="10" presetClass="entr" presetSubtype="0" fill="hold" grpId="0" nodeType="after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10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wipe(right)">
                                      <p:cBhvr>
                                        <p:cTn id="39" dur="1000"/>
                                        <p:tgtEl>
                                          <p:spTgt spid="31"/>
                                        </p:tgtEl>
                                      </p:cBhvr>
                                    </p:animEffect>
                                  </p:childTnLst>
                                </p:cTn>
                              </p:par>
                            </p:childTnLst>
                          </p:cTn>
                        </p:par>
                        <p:par>
                          <p:cTn id="40" fill="hold">
                            <p:stCondLst>
                              <p:cond delay="1000"/>
                            </p:stCondLst>
                            <p:childTnLst>
                              <p:par>
                                <p:cTn id="41" presetID="22" presetClass="entr" presetSubtype="4" fill="hold" nodeType="afterEffect">
                                  <p:stCondLst>
                                    <p:cond delay="0"/>
                                  </p:stCondLst>
                                  <p:childTnLst>
                                    <p:set>
                                      <p:cBhvr>
                                        <p:cTn id="42" dur="1" fill="hold">
                                          <p:stCondLst>
                                            <p:cond delay="0"/>
                                          </p:stCondLst>
                                        </p:cTn>
                                        <p:tgtEl>
                                          <p:spTgt spid="52"/>
                                        </p:tgtEl>
                                        <p:attrNameLst>
                                          <p:attrName>style.visibility</p:attrName>
                                        </p:attrNameLst>
                                      </p:cBhvr>
                                      <p:to>
                                        <p:strVal val="visible"/>
                                      </p:to>
                                    </p:set>
                                    <p:animEffect transition="in" filter="wipe(down)">
                                      <p:cBhvr>
                                        <p:cTn id="43" dur="1000"/>
                                        <p:tgtEl>
                                          <p:spTgt spid="52"/>
                                        </p:tgtEl>
                                      </p:cBhvr>
                                    </p:animEffect>
                                  </p:childTnLst>
                                </p:cTn>
                              </p:par>
                            </p:childTnLst>
                          </p:cTn>
                        </p:par>
                        <p:par>
                          <p:cTn id="44" fill="hold">
                            <p:stCondLst>
                              <p:cond delay="2000"/>
                            </p:stCondLst>
                            <p:childTnLst>
                              <p:par>
                                <p:cTn id="45" presetID="10" presetClass="entr" presetSubtype="0" fill="hold" grpId="0" nodeType="after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1000"/>
                                        <p:tgtEl>
                                          <p:spTgt spid="3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1000"/>
                                        <p:tgtEl>
                                          <p:spTgt spid="3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0"/>
                                        </p:tgtEl>
                                        <p:attrNameLst>
                                          <p:attrName>style.visibility</p:attrName>
                                        </p:attrNameLst>
                                      </p:cBhvr>
                                      <p:to>
                                        <p:strVal val="visible"/>
                                      </p:to>
                                    </p:set>
                                    <p:animEffect transition="in" filter="fade">
                                      <p:cBhvr>
                                        <p:cTn id="53" dur="10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animBg="1"/>
      <p:bldP spid="25" grpId="0"/>
      <p:bldP spid="26" grpId="0"/>
      <p:bldP spid="27" grpId="0"/>
      <p:bldP spid="31" grpId="0" animBg="1"/>
      <p:bldP spid="34" grpId="0"/>
      <p:bldP spid="35" grpId="0"/>
      <p:bldP spid="41" grpId="0" animBg="1"/>
      <p:bldP spid="5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l"/>
            <a:r>
              <a:rPr lang="fr-BE" sz="4000" b="1" i="1" dirty="0"/>
              <a:t>4.2. Exemple 4 </a:t>
            </a:r>
          </a:p>
        </p:txBody>
      </p:sp>
      <p:sp>
        <p:nvSpPr>
          <p:cNvPr id="3" name="Espace réservé du contenu 2"/>
          <p:cNvSpPr>
            <a:spLocks noGrp="1"/>
          </p:cNvSpPr>
          <p:nvPr>
            <p:ph idx="1"/>
          </p:nvPr>
        </p:nvSpPr>
        <p:spPr/>
        <p:txBody>
          <a:bodyPr/>
          <a:lstStyle/>
          <a:p>
            <a:pPr marL="0" indent="0">
              <a:buNone/>
            </a:pPr>
            <a:endParaRPr lang="fr-BE" dirty="0"/>
          </a:p>
          <a:p>
            <a:pPr marL="0" indent="0">
              <a:buNone/>
            </a:pPr>
            <a:endParaRPr lang="fr-BE" dirty="0"/>
          </a:p>
          <a:p>
            <a:pPr marL="0" indent="0">
              <a:buNone/>
            </a:pPr>
            <a:endParaRPr lang="fr-BE" dirty="0"/>
          </a:p>
          <a:p>
            <a:pPr marL="0" indent="0">
              <a:buNone/>
            </a:pPr>
            <a:endParaRPr lang="fr-BE" dirty="0"/>
          </a:p>
        </p:txBody>
      </p:sp>
      <p:sp>
        <p:nvSpPr>
          <p:cNvPr id="23" name="ZoneTexte 22"/>
          <p:cNvSpPr txBox="1"/>
          <p:nvPr/>
        </p:nvSpPr>
        <p:spPr>
          <a:xfrm>
            <a:off x="2418779" y="4186909"/>
            <a:ext cx="3099954" cy="523220"/>
          </a:xfrm>
          <a:prstGeom prst="rect">
            <a:avLst/>
          </a:prstGeom>
          <a:noFill/>
        </p:spPr>
        <p:txBody>
          <a:bodyPr wrap="square" rtlCol="0">
            <a:spAutoFit/>
          </a:bodyPr>
          <a:lstStyle/>
          <a:p>
            <a:pPr algn="ctr"/>
            <a:r>
              <a:rPr lang="fr-BE" sz="1400" b="1" dirty="0"/>
              <a:t>Durée max de l’évènement </a:t>
            </a:r>
          </a:p>
          <a:p>
            <a:pPr algn="ctr"/>
            <a:r>
              <a:rPr lang="fr-BE" sz="1400" b="1" dirty="0"/>
              <a:t>= 15 ans</a:t>
            </a:r>
          </a:p>
        </p:txBody>
      </p:sp>
      <p:sp>
        <p:nvSpPr>
          <p:cNvPr id="24" name="Accolade ouvrante 23"/>
          <p:cNvSpPr/>
          <p:nvPr/>
        </p:nvSpPr>
        <p:spPr>
          <a:xfrm rot="16200000">
            <a:off x="6344377" y="4977827"/>
            <a:ext cx="235898" cy="1622140"/>
          </a:xfrm>
          <a:prstGeom prst="leftBrace">
            <a:avLst/>
          </a:prstGeom>
          <a:ln>
            <a:solidFill>
              <a:srgbClr val="00800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fr-BE" dirty="0">
              <a:solidFill>
                <a:srgbClr val="008000"/>
              </a:solidFill>
            </a:endParaRPr>
          </a:p>
        </p:txBody>
      </p:sp>
      <p:sp>
        <p:nvSpPr>
          <p:cNvPr id="25" name="ZoneTexte 24"/>
          <p:cNvSpPr txBox="1"/>
          <p:nvPr/>
        </p:nvSpPr>
        <p:spPr>
          <a:xfrm>
            <a:off x="6569871" y="5837298"/>
            <a:ext cx="1407049" cy="307777"/>
          </a:xfrm>
          <a:prstGeom prst="rect">
            <a:avLst/>
          </a:prstGeom>
          <a:noFill/>
        </p:spPr>
        <p:txBody>
          <a:bodyPr wrap="square" rtlCol="0">
            <a:spAutoFit/>
          </a:bodyPr>
          <a:lstStyle/>
          <a:p>
            <a:pPr algn="ctr"/>
            <a:r>
              <a:rPr lang="fr-BE" sz="1400" b="1" dirty="0">
                <a:solidFill>
                  <a:srgbClr val="008000"/>
                </a:solidFill>
              </a:rPr>
              <a:t>27.11.2022</a:t>
            </a:r>
          </a:p>
        </p:txBody>
      </p:sp>
      <p:sp>
        <p:nvSpPr>
          <p:cNvPr id="26" name="ZoneTexte 25"/>
          <p:cNvSpPr txBox="1"/>
          <p:nvPr/>
        </p:nvSpPr>
        <p:spPr>
          <a:xfrm>
            <a:off x="5074356" y="5829034"/>
            <a:ext cx="1153799" cy="307777"/>
          </a:xfrm>
          <a:prstGeom prst="rect">
            <a:avLst/>
          </a:prstGeom>
          <a:noFill/>
        </p:spPr>
        <p:txBody>
          <a:bodyPr wrap="square" rtlCol="0">
            <a:spAutoFit/>
          </a:bodyPr>
          <a:lstStyle/>
          <a:p>
            <a:pPr algn="ctr"/>
            <a:r>
              <a:rPr lang="fr-BE" sz="1400" b="1" dirty="0">
                <a:solidFill>
                  <a:srgbClr val="008000"/>
                </a:solidFill>
              </a:rPr>
              <a:t>27.02.2021</a:t>
            </a:r>
            <a:endParaRPr lang="fr-BE" sz="1200" b="1" dirty="0">
              <a:solidFill>
                <a:srgbClr val="008000"/>
              </a:solidFill>
            </a:endParaRPr>
          </a:p>
        </p:txBody>
      </p:sp>
      <p:sp>
        <p:nvSpPr>
          <p:cNvPr id="27" name="ZoneTexte 26"/>
          <p:cNvSpPr txBox="1"/>
          <p:nvPr/>
        </p:nvSpPr>
        <p:spPr>
          <a:xfrm>
            <a:off x="5526222" y="5345073"/>
            <a:ext cx="1872208" cy="307777"/>
          </a:xfrm>
          <a:prstGeom prst="rect">
            <a:avLst/>
          </a:prstGeom>
          <a:noFill/>
        </p:spPr>
        <p:txBody>
          <a:bodyPr wrap="square" rtlCol="0">
            <a:spAutoFit/>
          </a:bodyPr>
          <a:lstStyle/>
          <a:p>
            <a:pPr algn="ctr"/>
            <a:r>
              <a:rPr lang="fr-BE" sz="1400" b="1" dirty="0">
                <a:solidFill>
                  <a:srgbClr val="008000"/>
                </a:solidFill>
              </a:rPr>
              <a:t>Période référence</a:t>
            </a:r>
          </a:p>
        </p:txBody>
      </p:sp>
      <p:sp>
        <p:nvSpPr>
          <p:cNvPr id="28" name="ZoneTexte 27"/>
          <p:cNvSpPr txBox="1"/>
          <p:nvPr/>
        </p:nvSpPr>
        <p:spPr>
          <a:xfrm>
            <a:off x="5526222" y="1952601"/>
            <a:ext cx="2338487" cy="307777"/>
          </a:xfrm>
          <a:prstGeom prst="rect">
            <a:avLst/>
          </a:prstGeom>
          <a:noFill/>
        </p:spPr>
        <p:txBody>
          <a:bodyPr wrap="square" rtlCol="0">
            <a:spAutoFit/>
          </a:bodyPr>
          <a:lstStyle/>
          <a:p>
            <a:pPr algn="ctr"/>
            <a:r>
              <a:rPr lang="fr-BE" sz="1400" b="1" dirty="0"/>
              <a:t>30.06.2022</a:t>
            </a:r>
          </a:p>
        </p:txBody>
      </p:sp>
      <p:sp>
        <p:nvSpPr>
          <p:cNvPr id="29" name="ZoneTexte 28"/>
          <p:cNvSpPr txBox="1"/>
          <p:nvPr/>
        </p:nvSpPr>
        <p:spPr>
          <a:xfrm>
            <a:off x="1628269" y="1924857"/>
            <a:ext cx="1872208" cy="307777"/>
          </a:xfrm>
          <a:prstGeom prst="rect">
            <a:avLst/>
          </a:prstGeom>
          <a:noFill/>
        </p:spPr>
        <p:txBody>
          <a:bodyPr wrap="square" rtlCol="0">
            <a:spAutoFit/>
          </a:bodyPr>
          <a:lstStyle/>
          <a:p>
            <a:pPr algn="ctr"/>
            <a:r>
              <a:rPr lang="fr-BE" sz="1400" b="1" dirty="0"/>
              <a:t>01.07.2003</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27</a:t>
            </a:fld>
            <a:endParaRPr lang="fr-FR" dirty="0"/>
          </a:p>
        </p:txBody>
      </p:sp>
      <p:sp>
        <p:nvSpPr>
          <p:cNvPr id="17" name="Rectangle 16"/>
          <p:cNvSpPr/>
          <p:nvPr/>
        </p:nvSpPr>
        <p:spPr>
          <a:xfrm>
            <a:off x="755577" y="3318998"/>
            <a:ext cx="1800200" cy="614059"/>
          </a:xfrm>
          <a:prstGeom prst="rect">
            <a:avLst/>
          </a:prstGeom>
          <a:solidFill>
            <a:srgbClr val="FFC000"/>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1600" b="1" dirty="0">
                <a:solidFill>
                  <a:schemeClr val="tx1"/>
                </a:solidFill>
              </a:rPr>
              <a:t>temps plein 38/38</a:t>
            </a:r>
          </a:p>
          <a:p>
            <a:pPr algn="ctr"/>
            <a:r>
              <a:rPr lang="fr-BE" sz="1600" b="1" dirty="0">
                <a:solidFill>
                  <a:schemeClr val="tx1"/>
                </a:solidFill>
              </a:rPr>
              <a:t>Fin le 30.06.2003</a:t>
            </a:r>
          </a:p>
        </p:txBody>
      </p:sp>
      <p:sp>
        <p:nvSpPr>
          <p:cNvPr id="44" name="Rectangle 43"/>
          <p:cNvSpPr/>
          <p:nvPr/>
        </p:nvSpPr>
        <p:spPr>
          <a:xfrm>
            <a:off x="2572970" y="3318998"/>
            <a:ext cx="4028239" cy="595146"/>
          </a:xfrm>
          <a:prstGeom prst="rect">
            <a:avLst/>
          </a:prstGeom>
          <a:solidFill>
            <a:schemeClr val="bg2">
              <a:lumMod val="90000"/>
            </a:schemeClr>
          </a:solidFill>
          <a:ln w="3810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1600" b="1" dirty="0">
                <a:solidFill>
                  <a:schemeClr val="tx1"/>
                </a:solidFill>
              </a:rPr>
              <a:t>Activité Indépendante de 19 ans </a:t>
            </a:r>
          </a:p>
        </p:txBody>
      </p:sp>
      <p:cxnSp>
        <p:nvCxnSpPr>
          <p:cNvPr id="37" name="Connecteur droit avec flèche 36"/>
          <p:cNvCxnSpPr/>
          <p:nvPr/>
        </p:nvCxnSpPr>
        <p:spPr>
          <a:xfrm>
            <a:off x="755576" y="3933056"/>
            <a:ext cx="7416824"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Accolade ouvrante 40"/>
          <p:cNvSpPr/>
          <p:nvPr/>
        </p:nvSpPr>
        <p:spPr>
          <a:xfrm rot="16200000">
            <a:off x="3806367" y="2673116"/>
            <a:ext cx="364014" cy="2834423"/>
          </a:xfrm>
          <a:prstGeom prst="leftBrace">
            <a:avLst/>
          </a:prstGeom>
          <a:ln>
            <a:solidFill>
              <a:schemeClr val="bg2">
                <a:lumMod val="50000"/>
              </a:schemeClr>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fr-BE" dirty="0"/>
          </a:p>
        </p:txBody>
      </p:sp>
      <p:cxnSp>
        <p:nvCxnSpPr>
          <p:cNvPr id="33" name="Connecteur droit 32"/>
          <p:cNvCxnSpPr/>
          <p:nvPr/>
        </p:nvCxnSpPr>
        <p:spPr>
          <a:xfrm>
            <a:off x="2564373" y="2260378"/>
            <a:ext cx="0" cy="1718884"/>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Connecteur droit 37"/>
          <p:cNvCxnSpPr>
            <a:cxnSpLocks/>
          </p:cNvCxnSpPr>
          <p:nvPr/>
        </p:nvCxnSpPr>
        <p:spPr>
          <a:xfrm>
            <a:off x="6602225" y="2336535"/>
            <a:ext cx="3" cy="1584886"/>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Connecteur droit 41"/>
          <p:cNvCxnSpPr/>
          <p:nvPr/>
        </p:nvCxnSpPr>
        <p:spPr>
          <a:xfrm>
            <a:off x="7273393" y="2821835"/>
            <a:ext cx="2" cy="2869574"/>
          </a:xfrm>
          <a:prstGeom prst="line">
            <a:avLst/>
          </a:prstGeom>
          <a:ln w="38100" cmpd="sng">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43" name="Connecteur droit 42"/>
          <p:cNvCxnSpPr/>
          <p:nvPr/>
        </p:nvCxnSpPr>
        <p:spPr>
          <a:xfrm>
            <a:off x="5652120" y="2821835"/>
            <a:ext cx="2" cy="2869574"/>
          </a:xfrm>
          <a:prstGeom prst="line">
            <a:avLst/>
          </a:prstGeom>
          <a:ln w="38100" cmpd="sng">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45" name="Connecteur droit avec flèche 44"/>
          <p:cNvCxnSpPr/>
          <p:nvPr/>
        </p:nvCxnSpPr>
        <p:spPr>
          <a:xfrm>
            <a:off x="7308304" y="2204864"/>
            <a:ext cx="0" cy="2664296"/>
          </a:xfrm>
          <a:prstGeom prst="straightConnector1">
            <a:avLst/>
          </a:prstGeom>
          <a:ln w="38100">
            <a:tailEnd type="arrow"/>
          </a:ln>
        </p:spPr>
        <p:style>
          <a:lnRef idx="2">
            <a:schemeClr val="accent2"/>
          </a:lnRef>
          <a:fillRef idx="0">
            <a:schemeClr val="accent2"/>
          </a:fillRef>
          <a:effectRef idx="1">
            <a:schemeClr val="accent2"/>
          </a:effectRef>
          <a:fontRef idx="minor">
            <a:schemeClr val="tx1"/>
          </a:fontRef>
        </p:style>
      </p:cxnSp>
      <p:sp>
        <p:nvSpPr>
          <p:cNvPr id="15" name="ZoneTexte 14"/>
          <p:cNvSpPr txBox="1"/>
          <p:nvPr/>
        </p:nvSpPr>
        <p:spPr>
          <a:xfrm>
            <a:off x="6372200" y="4869160"/>
            <a:ext cx="1872208" cy="523220"/>
          </a:xfrm>
          <a:prstGeom prst="rect">
            <a:avLst/>
          </a:prstGeom>
          <a:noFill/>
        </p:spPr>
        <p:txBody>
          <a:bodyPr wrap="square" rtlCol="0">
            <a:spAutoFit/>
          </a:bodyPr>
          <a:lstStyle/>
          <a:p>
            <a:pPr algn="ctr"/>
            <a:r>
              <a:rPr lang="fr-BE" sz="1400" b="1" dirty="0"/>
              <a:t>DA le 28.11.2022</a:t>
            </a:r>
          </a:p>
          <a:p>
            <a:pPr algn="ctr"/>
            <a:r>
              <a:rPr lang="fr-BE" sz="1400" b="1" dirty="0"/>
              <a:t>Agé de 34 ans</a:t>
            </a:r>
          </a:p>
        </p:txBody>
      </p:sp>
      <p:cxnSp>
        <p:nvCxnSpPr>
          <p:cNvPr id="30" name="Connecteur droit 29">
            <a:extLst>
              <a:ext uri="{FF2B5EF4-FFF2-40B4-BE49-F238E27FC236}">
                <a16:creationId xmlns:a16="http://schemas.microsoft.com/office/drawing/2014/main" id="{36B1DA00-2120-4632-8446-5A04BC2B795D}"/>
              </a:ext>
            </a:extLst>
          </p:cNvPr>
          <p:cNvCxnSpPr/>
          <p:nvPr/>
        </p:nvCxnSpPr>
        <p:spPr>
          <a:xfrm>
            <a:off x="5405586" y="2232634"/>
            <a:ext cx="0" cy="1718884"/>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2" name="ZoneTexte 31">
            <a:extLst>
              <a:ext uri="{FF2B5EF4-FFF2-40B4-BE49-F238E27FC236}">
                <a16:creationId xmlns:a16="http://schemas.microsoft.com/office/drawing/2014/main" id="{4D083D0C-ACF0-4607-A31B-A3D5B5CBB3A6}"/>
              </a:ext>
            </a:extLst>
          </p:cNvPr>
          <p:cNvSpPr txBox="1"/>
          <p:nvPr/>
        </p:nvSpPr>
        <p:spPr>
          <a:xfrm>
            <a:off x="4520722" y="1941953"/>
            <a:ext cx="1872208" cy="307777"/>
          </a:xfrm>
          <a:prstGeom prst="rect">
            <a:avLst/>
          </a:prstGeom>
          <a:noFill/>
        </p:spPr>
        <p:txBody>
          <a:bodyPr wrap="square" rtlCol="0">
            <a:spAutoFit/>
          </a:bodyPr>
          <a:lstStyle/>
          <a:p>
            <a:pPr algn="ctr"/>
            <a:r>
              <a:rPr lang="fr-BE" sz="1400" b="1" dirty="0"/>
              <a:t>30.06.2018</a:t>
            </a:r>
          </a:p>
        </p:txBody>
      </p:sp>
    </p:spTree>
    <p:extLst>
      <p:ext uri="{BB962C8B-B14F-4D97-AF65-F5344CB8AC3E}">
        <p14:creationId xmlns:p14="http://schemas.microsoft.com/office/powerpoint/2010/main" val="1234211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wipe(up)">
                                      <p:cBhvr>
                                        <p:cTn id="11" dur="1000"/>
                                        <p:tgtEl>
                                          <p:spTgt spid="4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1000"/>
                                        <p:tgtEl>
                                          <p:spTgt spid="25"/>
                                        </p:tgtEl>
                                      </p:cBhvr>
                                    </p:animEffect>
                                  </p:childTnLst>
                                </p:cTn>
                              </p:par>
                            </p:childTnLst>
                          </p:cTn>
                        </p:par>
                        <p:par>
                          <p:cTn id="15" fill="hold">
                            <p:stCondLst>
                              <p:cond delay="2000"/>
                            </p:stCondLst>
                            <p:childTnLst>
                              <p:par>
                                <p:cTn id="16" presetID="22" presetClass="entr" presetSubtype="2" fill="hold" grpId="0" nodeType="after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right)">
                                      <p:cBhvr>
                                        <p:cTn id="18" dur="1000"/>
                                        <p:tgtEl>
                                          <p:spTgt spid="24"/>
                                        </p:tgtEl>
                                      </p:cBhvr>
                                    </p:animEffect>
                                  </p:childTnLst>
                                </p:cTn>
                              </p:par>
                            </p:childTnLst>
                          </p:cTn>
                        </p:par>
                        <p:par>
                          <p:cTn id="19" fill="hold">
                            <p:stCondLst>
                              <p:cond delay="3000"/>
                            </p:stCondLst>
                            <p:childTnLst>
                              <p:par>
                                <p:cTn id="20" presetID="22" presetClass="entr" presetSubtype="4" fill="hold" nodeType="after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wipe(down)">
                                      <p:cBhvr>
                                        <p:cTn id="22" dur="1000"/>
                                        <p:tgtEl>
                                          <p:spTgt spid="4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10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wipe(left)">
                                      <p:cBhvr>
                                        <p:cTn id="30" dur="1000"/>
                                        <p:tgtEl>
                                          <p:spTgt spid="41"/>
                                        </p:tgtEl>
                                      </p:cBhvr>
                                    </p:animEffect>
                                  </p:childTnLst>
                                </p:cTn>
                              </p:par>
                            </p:childTnLst>
                          </p:cTn>
                        </p:par>
                        <p:par>
                          <p:cTn id="31" fill="hold">
                            <p:stCondLst>
                              <p:cond delay="1000"/>
                            </p:stCondLst>
                            <p:childTnLst>
                              <p:par>
                                <p:cTn id="32" presetID="22" presetClass="entr" presetSubtype="4" fill="hold" nodeType="after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wipe(down)">
                                      <p:cBhvr>
                                        <p:cTn id="34" dur="1000"/>
                                        <p:tgtEl>
                                          <p:spTgt spid="30"/>
                                        </p:tgtEl>
                                      </p:cBhvr>
                                    </p:animEffect>
                                  </p:childTnLst>
                                </p:cTn>
                              </p:par>
                            </p:childTnLst>
                          </p:cTn>
                        </p:par>
                        <p:par>
                          <p:cTn id="35" fill="hold">
                            <p:stCondLst>
                              <p:cond delay="2000"/>
                            </p:stCondLst>
                            <p:childTnLst>
                              <p:par>
                                <p:cTn id="36" presetID="10" presetClass="entr" presetSubtype="0" fill="hold" grpId="0" nodeType="after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1000"/>
                                        <p:tgtEl>
                                          <p:spTgt spid="23"/>
                                        </p:tgtEl>
                                      </p:cBhvr>
                                    </p:animEffect>
                                  </p:childTnLst>
                                </p:cTn>
                              </p:par>
                            </p:childTnLst>
                          </p:cTn>
                        </p:par>
                        <p:par>
                          <p:cTn id="39" fill="hold">
                            <p:stCondLst>
                              <p:cond delay="3000"/>
                            </p:stCondLst>
                            <p:childTnLst>
                              <p:par>
                                <p:cTn id="40" presetID="22" presetClass="entr" presetSubtype="8" fill="hold" grpId="0" nodeType="afterEffect">
                                  <p:stCondLst>
                                    <p:cond delay="0"/>
                                  </p:stCondLst>
                                  <p:iterate type="wd">
                                    <p:tmPct val="10000"/>
                                  </p:iterate>
                                  <p:childTnLst>
                                    <p:set>
                                      <p:cBhvr>
                                        <p:cTn id="41" dur="1" fill="hold">
                                          <p:stCondLst>
                                            <p:cond delay="0"/>
                                          </p:stCondLst>
                                        </p:cTn>
                                        <p:tgtEl>
                                          <p:spTgt spid="32"/>
                                        </p:tgtEl>
                                        <p:attrNameLst>
                                          <p:attrName>style.visibility</p:attrName>
                                        </p:attrNameLst>
                                      </p:cBhvr>
                                      <p:to>
                                        <p:strVal val="visible"/>
                                      </p:to>
                                    </p:set>
                                    <p:animEffect transition="in" filter="wipe(left)">
                                      <p:cBhvr>
                                        <p:cTn id="42"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animBg="1"/>
      <p:bldP spid="25" grpId="0"/>
      <p:bldP spid="26" grpId="0"/>
      <p:bldP spid="27" grpId="0"/>
      <p:bldP spid="41" grpId="0" animBg="1"/>
      <p:bldP spid="3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pPr algn="l"/>
            <a:r>
              <a:rPr lang="fr-BE" sz="4000" b="1" i="1" dirty="0">
                <a:cs typeface="Times New Roman" pitchFamily="18" charset="0"/>
              </a:rPr>
              <a:t>4.2. Principes de prolongation</a:t>
            </a:r>
            <a:endParaRPr lang="fr-FR" sz="4000" i="1" dirty="0">
              <a:latin typeface="Times New Roman" pitchFamily="18" charset="0"/>
              <a:cs typeface="Times New Roman" pitchFamily="18" charset="0"/>
            </a:endParaRPr>
          </a:p>
        </p:txBody>
      </p:sp>
      <p:sp>
        <p:nvSpPr>
          <p:cNvPr id="8" name="Espace réservé du contenu 7"/>
          <p:cNvSpPr>
            <a:spLocks noGrp="1"/>
          </p:cNvSpPr>
          <p:nvPr>
            <p:ph idx="1"/>
          </p:nvPr>
        </p:nvSpPr>
        <p:spPr/>
        <p:txBody>
          <a:bodyPr>
            <a:normAutofit/>
          </a:bodyPr>
          <a:lstStyle/>
          <a:p>
            <a:pPr marL="0" indent="0">
              <a:spcBef>
                <a:spcPts val="0"/>
              </a:spcBef>
              <a:buSzPct val="100000"/>
              <a:buNone/>
            </a:pPr>
            <a:endParaRPr lang="fr-BE" dirty="0">
              <a:cs typeface="Times New Roman" pitchFamily="18" charset="0"/>
            </a:endParaRPr>
          </a:p>
          <a:p>
            <a:pPr>
              <a:spcBef>
                <a:spcPts val="0"/>
              </a:spcBef>
              <a:buSzPct val="100000"/>
              <a:buFont typeface="Wingdings" pitchFamily="2" charset="2"/>
              <a:buChar char="§"/>
            </a:pPr>
            <a:r>
              <a:rPr lang="fr-BE" dirty="0">
                <a:cs typeface="Times New Roman" pitchFamily="18" charset="0"/>
              </a:rPr>
              <a:t>La période de référence peut être prolongée par plusieurs événements.</a:t>
            </a:r>
          </a:p>
          <a:p>
            <a:pPr marL="0" indent="0">
              <a:spcBef>
                <a:spcPts val="0"/>
              </a:spcBef>
              <a:buSzPct val="100000"/>
              <a:buNone/>
            </a:pPr>
            <a:endParaRPr lang="fr-BE" dirty="0">
              <a:cs typeface="Times New Roman" pitchFamily="18" charset="0"/>
            </a:endParaRPr>
          </a:p>
          <a:p>
            <a:pPr>
              <a:spcBef>
                <a:spcPts val="0"/>
              </a:spcBef>
              <a:buSzPct val="100000"/>
              <a:buFont typeface="Wingdings" pitchFamily="2" charset="2"/>
              <a:buChar char="§"/>
            </a:pPr>
            <a:r>
              <a:rPr lang="fr-BE" dirty="0">
                <a:cs typeface="Times New Roman" pitchFamily="18" charset="0"/>
              </a:rPr>
              <a:t>La période de référence d’une « catégorie d’âge supérieure » peut également être prolongée.</a:t>
            </a:r>
            <a:br>
              <a:rPr lang="fr-BE" dirty="0">
                <a:cs typeface="Times New Roman" pitchFamily="18" charset="0"/>
              </a:rPr>
            </a:br>
            <a:endParaRPr lang="fr-BE" dirty="0">
              <a:cs typeface="Times New Roman" pitchFamily="18" charset="0"/>
            </a:endParaRPr>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28</a:t>
            </a:fld>
            <a:endParaRPr lang="fr-FR" dirty="0"/>
          </a:p>
        </p:txBody>
      </p:sp>
    </p:spTree>
    <p:extLst>
      <p:ext uri="{BB962C8B-B14F-4D97-AF65-F5344CB8AC3E}">
        <p14:creationId xmlns:p14="http://schemas.microsoft.com/office/powerpoint/2010/main" val="39452367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10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noFill/>
          </a:ln>
        </p:spPr>
        <p:txBody>
          <a:bodyPr>
            <a:normAutofit/>
          </a:bodyPr>
          <a:lstStyle/>
          <a:p>
            <a:pPr algn="l"/>
            <a:r>
              <a:rPr lang="fr-BE" sz="4000" b="1" i="1" dirty="0"/>
              <a:t>4.2. Exemple 5 </a:t>
            </a:r>
          </a:p>
        </p:txBody>
      </p:sp>
      <p:sp>
        <p:nvSpPr>
          <p:cNvPr id="3" name="Espace réservé du contenu 2"/>
          <p:cNvSpPr>
            <a:spLocks noGrp="1"/>
          </p:cNvSpPr>
          <p:nvPr>
            <p:ph idx="1"/>
          </p:nvPr>
        </p:nvSpPr>
        <p:spPr/>
        <p:txBody>
          <a:bodyPr/>
          <a:lstStyle/>
          <a:p>
            <a:pPr marL="0" indent="0">
              <a:buNone/>
            </a:pPr>
            <a:endParaRPr lang="fr-BE" dirty="0"/>
          </a:p>
          <a:p>
            <a:pPr marL="0" indent="0">
              <a:buNone/>
            </a:pPr>
            <a:endParaRPr lang="fr-BE" dirty="0"/>
          </a:p>
          <a:p>
            <a:pPr marL="0" indent="0">
              <a:buNone/>
            </a:pPr>
            <a:endParaRPr lang="fr-BE" dirty="0"/>
          </a:p>
          <a:p>
            <a:pPr marL="0" indent="0">
              <a:buNone/>
            </a:pPr>
            <a:endParaRPr lang="fr-BE" dirty="0"/>
          </a:p>
        </p:txBody>
      </p:sp>
      <p:sp>
        <p:nvSpPr>
          <p:cNvPr id="24" name="Accolade ouvrante 23"/>
          <p:cNvSpPr/>
          <p:nvPr/>
        </p:nvSpPr>
        <p:spPr>
          <a:xfrm rot="16200000">
            <a:off x="6795845" y="4507263"/>
            <a:ext cx="251703" cy="2539141"/>
          </a:xfrm>
          <a:prstGeom prst="leftBrace">
            <a:avLst/>
          </a:prstGeom>
          <a:ln>
            <a:solidFill>
              <a:srgbClr val="00800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fr-BE" dirty="0">
              <a:solidFill>
                <a:srgbClr val="008000"/>
              </a:solidFill>
            </a:endParaRPr>
          </a:p>
        </p:txBody>
      </p:sp>
      <p:sp>
        <p:nvSpPr>
          <p:cNvPr id="25" name="ZoneTexte 24"/>
          <p:cNvSpPr txBox="1"/>
          <p:nvPr/>
        </p:nvSpPr>
        <p:spPr>
          <a:xfrm>
            <a:off x="7594164" y="5868328"/>
            <a:ext cx="1376700" cy="307777"/>
          </a:xfrm>
          <a:prstGeom prst="rect">
            <a:avLst/>
          </a:prstGeom>
          <a:noFill/>
        </p:spPr>
        <p:txBody>
          <a:bodyPr wrap="square" rtlCol="0">
            <a:spAutoFit/>
          </a:bodyPr>
          <a:lstStyle/>
          <a:p>
            <a:pPr algn="ctr"/>
            <a:r>
              <a:rPr lang="fr-BE" sz="1400" b="1" dirty="0">
                <a:solidFill>
                  <a:srgbClr val="008000"/>
                </a:solidFill>
              </a:rPr>
              <a:t>27.11.2022</a:t>
            </a:r>
          </a:p>
        </p:txBody>
      </p:sp>
      <p:sp>
        <p:nvSpPr>
          <p:cNvPr id="26" name="ZoneTexte 25"/>
          <p:cNvSpPr txBox="1"/>
          <p:nvPr/>
        </p:nvSpPr>
        <p:spPr>
          <a:xfrm>
            <a:off x="5074356" y="5829034"/>
            <a:ext cx="1153799" cy="307777"/>
          </a:xfrm>
          <a:prstGeom prst="rect">
            <a:avLst/>
          </a:prstGeom>
          <a:noFill/>
        </p:spPr>
        <p:txBody>
          <a:bodyPr wrap="square" rtlCol="0">
            <a:spAutoFit/>
          </a:bodyPr>
          <a:lstStyle/>
          <a:p>
            <a:pPr algn="ctr"/>
            <a:r>
              <a:rPr lang="fr-BE" sz="1400" b="1" dirty="0">
                <a:solidFill>
                  <a:srgbClr val="008000"/>
                </a:solidFill>
              </a:rPr>
              <a:t>28.02.2021</a:t>
            </a:r>
            <a:endParaRPr lang="fr-BE" sz="1200" b="1" dirty="0">
              <a:solidFill>
                <a:srgbClr val="008000"/>
              </a:solidFill>
            </a:endParaRPr>
          </a:p>
        </p:txBody>
      </p:sp>
      <p:sp>
        <p:nvSpPr>
          <p:cNvPr id="27" name="ZoneTexte 26"/>
          <p:cNvSpPr txBox="1"/>
          <p:nvPr/>
        </p:nvSpPr>
        <p:spPr>
          <a:xfrm>
            <a:off x="5526222" y="5345073"/>
            <a:ext cx="1872208" cy="307777"/>
          </a:xfrm>
          <a:prstGeom prst="rect">
            <a:avLst/>
          </a:prstGeom>
          <a:noFill/>
        </p:spPr>
        <p:txBody>
          <a:bodyPr wrap="square" rtlCol="0">
            <a:spAutoFit/>
          </a:bodyPr>
          <a:lstStyle/>
          <a:p>
            <a:pPr algn="ctr"/>
            <a:r>
              <a:rPr lang="fr-BE" sz="1400" b="1" dirty="0">
                <a:solidFill>
                  <a:srgbClr val="008000"/>
                </a:solidFill>
              </a:rPr>
              <a:t>Période référence</a:t>
            </a:r>
          </a:p>
        </p:txBody>
      </p:sp>
      <p:sp>
        <p:nvSpPr>
          <p:cNvPr id="29" name="ZoneTexte 28"/>
          <p:cNvSpPr txBox="1"/>
          <p:nvPr/>
        </p:nvSpPr>
        <p:spPr>
          <a:xfrm>
            <a:off x="1405122" y="1918462"/>
            <a:ext cx="1779173" cy="523220"/>
          </a:xfrm>
          <a:prstGeom prst="rect">
            <a:avLst/>
          </a:prstGeom>
          <a:noFill/>
        </p:spPr>
        <p:txBody>
          <a:bodyPr wrap="square" rtlCol="0">
            <a:spAutoFit/>
          </a:bodyPr>
          <a:lstStyle/>
          <a:p>
            <a:pPr algn="ctr"/>
            <a:r>
              <a:rPr lang="fr-BE" sz="1400" b="1" dirty="0"/>
              <a:t>Arrêt de l’activité le 31.03.2013</a:t>
            </a:r>
          </a:p>
        </p:txBody>
      </p:sp>
      <p:sp>
        <p:nvSpPr>
          <p:cNvPr id="31" name="Accolade ouvrante 30"/>
          <p:cNvSpPr/>
          <p:nvPr/>
        </p:nvSpPr>
        <p:spPr>
          <a:xfrm rot="16200000">
            <a:off x="6030577" y="4209264"/>
            <a:ext cx="387256" cy="3934128"/>
          </a:xfrm>
          <a:prstGeom prst="leftBrace">
            <a:avLst/>
          </a:prstGeom>
          <a:ln>
            <a:solidFill>
              <a:srgbClr val="7030A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fr-BE" dirty="0">
              <a:solidFill>
                <a:srgbClr val="7030A0"/>
              </a:solidFill>
            </a:endParaRPr>
          </a:p>
        </p:txBody>
      </p:sp>
      <p:sp>
        <p:nvSpPr>
          <p:cNvPr id="34" name="ZoneTexte 33"/>
          <p:cNvSpPr txBox="1"/>
          <p:nvPr/>
        </p:nvSpPr>
        <p:spPr>
          <a:xfrm>
            <a:off x="3536998" y="6186674"/>
            <a:ext cx="1296144" cy="307777"/>
          </a:xfrm>
          <a:prstGeom prst="rect">
            <a:avLst/>
          </a:prstGeom>
          <a:noFill/>
        </p:spPr>
        <p:txBody>
          <a:bodyPr wrap="square" rtlCol="0">
            <a:spAutoFit/>
          </a:bodyPr>
          <a:lstStyle/>
          <a:p>
            <a:pPr algn="ctr"/>
            <a:r>
              <a:rPr lang="fr-BE" sz="1400" b="1" dirty="0">
                <a:solidFill>
                  <a:srgbClr val="7030A0"/>
                </a:solidFill>
              </a:rPr>
              <a:t>28.11.2018</a:t>
            </a:r>
            <a:endParaRPr lang="fr-BE" sz="1200" b="1" dirty="0">
              <a:solidFill>
                <a:srgbClr val="00B0F0"/>
              </a:solidFill>
            </a:endParaRPr>
          </a:p>
        </p:txBody>
      </p:sp>
      <p:sp>
        <p:nvSpPr>
          <p:cNvPr id="35" name="ZoneTexte 34"/>
          <p:cNvSpPr txBox="1"/>
          <p:nvPr/>
        </p:nvSpPr>
        <p:spPr>
          <a:xfrm>
            <a:off x="4649204" y="6301734"/>
            <a:ext cx="2326458" cy="307777"/>
          </a:xfrm>
          <a:prstGeom prst="rect">
            <a:avLst/>
          </a:prstGeom>
          <a:noFill/>
        </p:spPr>
        <p:txBody>
          <a:bodyPr wrap="square" rtlCol="0">
            <a:spAutoFit/>
          </a:bodyPr>
          <a:lstStyle/>
          <a:p>
            <a:pPr algn="ctr"/>
            <a:r>
              <a:rPr lang="fr-BE" sz="1400" b="1" dirty="0">
                <a:solidFill>
                  <a:srgbClr val="7030A0"/>
                </a:solidFill>
              </a:rPr>
              <a:t>Période référence prolongée</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29</a:t>
            </a:fld>
            <a:endParaRPr lang="fr-FR" dirty="0"/>
          </a:p>
        </p:txBody>
      </p:sp>
      <p:sp>
        <p:nvSpPr>
          <p:cNvPr id="17" name="Rectangle 16"/>
          <p:cNvSpPr/>
          <p:nvPr/>
        </p:nvSpPr>
        <p:spPr>
          <a:xfrm>
            <a:off x="282633" y="3275216"/>
            <a:ext cx="2735147" cy="657842"/>
          </a:xfrm>
          <a:prstGeom prst="rect">
            <a:avLst/>
          </a:prstGeom>
          <a:solidFill>
            <a:srgbClr val="FFC000"/>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1600" b="1" dirty="0">
                <a:solidFill>
                  <a:schemeClr val="tx1"/>
                </a:solidFill>
              </a:rPr>
              <a:t>Occupation temps plein 38/38</a:t>
            </a:r>
          </a:p>
          <a:p>
            <a:pPr algn="ctr"/>
            <a:r>
              <a:rPr lang="fr-BE" sz="1600" b="1" dirty="0">
                <a:solidFill>
                  <a:schemeClr val="tx1"/>
                </a:solidFill>
              </a:rPr>
              <a:t>Fin le 31.03.2013</a:t>
            </a:r>
          </a:p>
        </p:txBody>
      </p:sp>
      <p:cxnSp>
        <p:nvCxnSpPr>
          <p:cNvPr id="49" name="Connecteur droit avec flèche 48"/>
          <p:cNvCxnSpPr>
            <a:cxnSpLocks/>
          </p:cNvCxnSpPr>
          <p:nvPr/>
        </p:nvCxnSpPr>
        <p:spPr>
          <a:xfrm flipH="1" flipV="1">
            <a:off x="3012611" y="2721727"/>
            <a:ext cx="5170" cy="12113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Connecteur droit avec flèche 51"/>
          <p:cNvCxnSpPr/>
          <p:nvPr/>
        </p:nvCxnSpPr>
        <p:spPr>
          <a:xfrm flipV="1">
            <a:off x="4257140" y="2861199"/>
            <a:ext cx="0" cy="3129987"/>
          </a:xfrm>
          <a:prstGeom prst="straightConnector1">
            <a:avLst/>
          </a:prstGeom>
          <a:ln w="38100">
            <a:solidFill>
              <a:srgbClr val="7030A0"/>
            </a:solidFill>
            <a:prstDash val="sysDash"/>
            <a:tailEnd type="arrow"/>
          </a:ln>
        </p:spPr>
        <p:style>
          <a:lnRef idx="2">
            <a:schemeClr val="accent2"/>
          </a:lnRef>
          <a:fillRef idx="0">
            <a:schemeClr val="accent2"/>
          </a:fillRef>
          <a:effectRef idx="1">
            <a:schemeClr val="accent2"/>
          </a:effectRef>
          <a:fontRef idx="minor">
            <a:schemeClr val="tx1"/>
          </a:fontRef>
        </p:style>
      </p:cxnSp>
      <p:cxnSp>
        <p:nvCxnSpPr>
          <p:cNvPr id="6" name="Connecteur droit avec flèche 5"/>
          <p:cNvCxnSpPr>
            <a:cxnSpLocks/>
          </p:cNvCxnSpPr>
          <p:nvPr/>
        </p:nvCxnSpPr>
        <p:spPr>
          <a:xfrm>
            <a:off x="3191019" y="2420247"/>
            <a:ext cx="2002225" cy="4354"/>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sp>
        <p:nvSpPr>
          <p:cNvPr id="36" name="ZoneTexte 35"/>
          <p:cNvSpPr txBox="1"/>
          <p:nvPr/>
        </p:nvSpPr>
        <p:spPr>
          <a:xfrm>
            <a:off x="3061002" y="2447029"/>
            <a:ext cx="2357911" cy="307777"/>
          </a:xfrm>
          <a:prstGeom prst="rect">
            <a:avLst/>
          </a:prstGeom>
          <a:noFill/>
        </p:spPr>
        <p:txBody>
          <a:bodyPr wrap="square" rtlCol="0">
            <a:spAutoFit/>
          </a:bodyPr>
          <a:lstStyle/>
          <a:p>
            <a:pPr algn="ctr"/>
            <a:r>
              <a:rPr lang="fr-BE" sz="1400" b="1" dirty="0">
                <a:solidFill>
                  <a:srgbClr val="C00000"/>
                </a:solidFill>
              </a:rPr>
              <a:t>Activité indépendante</a:t>
            </a:r>
          </a:p>
        </p:txBody>
      </p:sp>
      <p:cxnSp>
        <p:nvCxnSpPr>
          <p:cNvPr id="37" name="Connecteur droit avec flèche 36"/>
          <p:cNvCxnSpPr>
            <a:cxnSpLocks/>
          </p:cNvCxnSpPr>
          <p:nvPr/>
        </p:nvCxnSpPr>
        <p:spPr>
          <a:xfrm>
            <a:off x="809493" y="3933056"/>
            <a:ext cx="7877307" cy="1713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Connecteur droit avec flèche 39"/>
          <p:cNvCxnSpPr>
            <a:cxnSpLocks/>
          </p:cNvCxnSpPr>
          <p:nvPr/>
        </p:nvCxnSpPr>
        <p:spPr>
          <a:xfrm flipV="1">
            <a:off x="5191395" y="1732843"/>
            <a:ext cx="6720" cy="2177984"/>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sp>
        <p:nvSpPr>
          <p:cNvPr id="48" name="ZoneTexte 47"/>
          <p:cNvSpPr txBox="1"/>
          <p:nvPr/>
        </p:nvSpPr>
        <p:spPr>
          <a:xfrm>
            <a:off x="5236253" y="2452767"/>
            <a:ext cx="2357911" cy="307777"/>
          </a:xfrm>
          <a:prstGeom prst="rect">
            <a:avLst/>
          </a:prstGeom>
          <a:noFill/>
        </p:spPr>
        <p:txBody>
          <a:bodyPr wrap="square" rtlCol="0">
            <a:spAutoFit/>
          </a:bodyPr>
          <a:lstStyle/>
          <a:p>
            <a:pPr algn="ctr"/>
            <a:r>
              <a:rPr lang="fr-BE" sz="1400" b="1" dirty="0">
                <a:solidFill>
                  <a:schemeClr val="accent4"/>
                </a:solidFill>
              </a:rPr>
              <a:t>Détention</a:t>
            </a:r>
          </a:p>
        </p:txBody>
      </p:sp>
      <p:sp>
        <p:nvSpPr>
          <p:cNvPr id="50" name="Accolade ouvrante 49"/>
          <p:cNvSpPr/>
          <p:nvPr/>
        </p:nvSpPr>
        <p:spPr>
          <a:xfrm rot="16200000">
            <a:off x="4798378" y="3435446"/>
            <a:ext cx="337716" cy="6263086"/>
          </a:xfrm>
          <a:prstGeom prst="leftBrace">
            <a:avLst>
              <a:gd name="adj1" fmla="val 0"/>
              <a:gd name="adj2" fmla="val 50000"/>
            </a:avLst>
          </a:prstGeom>
          <a:ln>
            <a:solidFill>
              <a:schemeClr val="accent4">
                <a:lumMod val="75000"/>
              </a:schemeClr>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fr-BE" dirty="0">
              <a:solidFill>
                <a:srgbClr val="7030A0"/>
              </a:solidFill>
            </a:endParaRPr>
          </a:p>
        </p:txBody>
      </p:sp>
      <p:sp>
        <p:nvSpPr>
          <p:cNvPr id="51" name="ZoneTexte 50"/>
          <p:cNvSpPr txBox="1"/>
          <p:nvPr/>
        </p:nvSpPr>
        <p:spPr>
          <a:xfrm>
            <a:off x="1558765" y="6533785"/>
            <a:ext cx="1296144" cy="307777"/>
          </a:xfrm>
          <a:prstGeom prst="rect">
            <a:avLst/>
          </a:prstGeom>
          <a:noFill/>
          <a:ln>
            <a:noFill/>
          </a:ln>
        </p:spPr>
        <p:txBody>
          <a:bodyPr wrap="square" rtlCol="0">
            <a:spAutoFit/>
          </a:bodyPr>
          <a:lstStyle/>
          <a:p>
            <a:pPr algn="ctr"/>
            <a:r>
              <a:rPr lang="fr-BE" sz="1400" b="1" dirty="0">
                <a:solidFill>
                  <a:schemeClr val="accent4">
                    <a:lumMod val="75000"/>
                  </a:schemeClr>
                </a:solidFill>
              </a:rPr>
              <a:t>28.11.2011</a:t>
            </a:r>
            <a:endParaRPr lang="fr-BE" sz="1200" b="1" dirty="0">
              <a:solidFill>
                <a:schemeClr val="accent4">
                  <a:lumMod val="75000"/>
                </a:schemeClr>
              </a:solidFill>
            </a:endParaRPr>
          </a:p>
        </p:txBody>
      </p:sp>
      <p:sp>
        <p:nvSpPr>
          <p:cNvPr id="53" name="ZoneTexte 52"/>
          <p:cNvSpPr txBox="1"/>
          <p:nvPr/>
        </p:nvSpPr>
        <p:spPr>
          <a:xfrm>
            <a:off x="3472001" y="6581554"/>
            <a:ext cx="2597153" cy="307777"/>
          </a:xfrm>
          <a:prstGeom prst="rect">
            <a:avLst/>
          </a:prstGeom>
          <a:noFill/>
        </p:spPr>
        <p:txBody>
          <a:bodyPr wrap="square" rtlCol="0">
            <a:spAutoFit/>
          </a:bodyPr>
          <a:lstStyle/>
          <a:p>
            <a:pPr algn="ctr"/>
            <a:r>
              <a:rPr lang="fr-BE" sz="1400" b="1" dirty="0">
                <a:solidFill>
                  <a:schemeClr val="accent4">
                    <a:lumMod val="75000"/>
                  </a:schemeClr>
                </a:solidFill>
              </a:rPr>
              <a:t>Période référence prolongée x 2</a:t>
            </a:r>
          </a:p>
        </p:txBody>
      </p:sp>
      <p:cxnSp>
        <p:nvCxnSpPr>
          <p:cNvPr id="54" name="Connecteur droit avec flèche 53"/>
          <p:cNvCxnSpPr>
            <a:cxnSpLocks/>
          </p:cNvCxnSpPr>
          <p:nvPr/>
        </p:nvCxnSpPr>
        <p:spPr>
          <a:xfrm flipV="1">
            <a:off x="1835696" y="2907781"/>
            <a:ext cx="0" cy="3393953"/>
          </a:xfrm>
          <a:prstGeom prst="straightConnector1">
            <a:avLst/>
          </a:prstGeom>
          <a:ln w="38100">
            <a:solidFill>
              <a:schemeClr val="accent4">
                <a:lumMod val="75000"/>
              </a:schemeClr>
            </a:solidFill>
            <a:prstDash val="sysDash"/>
            <a:tailEnd type="arrow"/>
          </a:ln>
        </p:spPr>
        <p:style>
          <a:lnRef idx="2">
            <a:schemeClr val="accent2"/>
          </a:lnRef>
          <a:fillRef idx="0">
            <a:schemeClr val="accent2"/>
          </a:fillRef>
          <a:effectRef idx="1">
            <a:schemeClr val="accent2"/>
          </a:effectRef>
          <a:fontRef idx="minor">
            <a:schemeClr val="tx1"/>
          </a:fontRef>
        </p:style>
      </p:cxnSp>
      <p:cxnSp>
        <p:nvCxnSpPr>
          <p:cNvPr id="57" name="Connecteur droit avec flèche 56"/>
          <p:cNvCxnSpPr/>
          <p:nvPr/>
        </p:nvCxnSpPr>
        <p:spPr>
          <a:xfrm>
            <a:off x="8218572" y="2204864"/>
            <a:ext cx="0" cy="2664296"/>
          </a:xfrm>
          <a:prstGeom prst="straightConnector1">
            <a:avLst/>
          </a:prstGeom>
          <a:ln w="38100">
            <a:solidFill>
              <a:srgbClr val="C00000"/>
            </a:solidFill>
            <a:tailEnd type="arrow"/>
          </a:ln>
        </p:spPr>
        <p:style>
          <a:lnRef idx="2">
            <a:schemeClr val="accent2"/>
          </a:lnRef>
          <a:fillRef idx="0">
            <a:schemeClr val="accent2"/>
          </a:fillRef>
          <a:effectRef idx="1">
            <a:schemeClr val="accent2"/>
          </a:effectRef>
          <a:fontRef idx="minor">
            <a:schemeClr val="tx1"/>
          </a:fontRef>
        </p:style>
      </p:cxnSp>
      <p:cxnSp>
        <p:nvCxnSpPr>
          <p:cNvPr id="58" name="Connecteur droit 57"/>
          <p:cNvCxnSpPr/>
          <p:nvPr/>
        </p:nvCxnSpPr>
        <p:spPr>
          <a:xfrm>
            <a:off x="8204920" y="2907781"/>
            <a:ext cx="2" cy="2869574"/>
          </a:xfrm>
          <a:prstGeom prst="line">
            <a:avLst/>
          </a:prstGeom>
          <a:ln w="38100" cmpd="sng">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59" name="Connecteur droit 58"/>
          <p:cNvCxnSpPr/>
          <p:nvPr/>
        </p:nvCxnSpPr>
        <p:spPr>
          <a:xfrm>
            <a:off x="5652120" y="2821835"/>
            <a:ext cx="2" cy="2869574"/>
          </a:xfrm>
          <a:prstGeom prst="line">
            <a:avLst/>
          </a:prstGeom>
          <a:ln w="38100" cmpd="sng">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60" name="Connecteur droit avec flèche 59"/>
          <p:cNvCxnSpPr>
            <a:cxnSpLocks/>
          </p:cNvCxnSpPr>
          <p:nvPr/>
        </p:nvCxnSpPr>
        <p:spPr>
          <a:xfrm>
            <a:off x="5198842" y="2431680"/>
            <a:ext cx="2123112" cy="2528"/>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sp>
        <p:nvSpPr>
          <p:cNvPr id="61" name="Accolade ouvrante 60"/>
          <p:cNvSpPr/>
          <p:nvPr/>
        </p:nvSpPr>
        <p:spPr>
          <a:xfrm rot="16200000">
            <a:off x="6143383" y="3018591"/>
            <a:ext cx="228227" cy="2101615"/>
          </a:xfrm>
          <a:prstGeom prst="leftBrace">
            <a:avLst/>
          </a:prstGeom>
          <a:ln/>
        </p:spPr>
        <p:style>
          <a:lnRef idx="2">
            <a:schemeClr val="accent4"/>
          </a:lnRef>
          <a:fillRef idx="0">
            <a:schemeClr val="accent4"/>
          </a:fillRef>
          <a:effectRef idx="1">
            <a:schemeClr val="accent4"/>
          </a:effectRef>
          <a:fontRef idx="minor">
            <a:schemeClr val="tx1"/>
          </a:fontRef>
        </p:style>
        <p:txBody>
          <a:bodyPr rtlCol="0" anchor="ctr"/>
          <a:lstStyle/>
          <a:p>
            <a:pPr algn="ctr"/>
            <a:endParaRPr lang="fr-BE" dirty="0">
              <a:solidFill>
                <a:schemeClr val="accent2">
                  <a:lumMod val="60000"/>
                  <a:lumOff val="40000"/>
                </a:schemeClr>
              </a:solidFill>
            </a:endParaRPr>
          </a:p>
        </p:txBody>
      </p:sp>
      <p:sp>
        <p:nvSpPr>
          <p:cNvPr id="62" name="ZoneTexte 61"/>
          <p:cNvSpPr txBox="1"/>
          <p:nvPr/>
        </p:nvSpPr>
        <p:spPr>
          <a:xfrm>
            <a:off x="7594164" y="6186674"/>
            <a:ext cx="1296144" cy="307777"/>
          </a:xfrm>
          <a:prstGeom prst="rect">
            <a:avLst/>
          </a:prstGeom>
          <a:noFill/>
        </p:spPr>
        <p:txBody>
          <a:bodyPr wrap="square" rtlCol="0">
            <a:spAutoFit/>
          </a:bodyPr>
          <a:lstStyle/>
          <a:p>
            <a:pPr algn="ctr"/>
            <a:r>
              <a:rPr lang="fr-BE" sz="1400" b="1" dirty="0">
                <a:solidFill>
                  <a:srgbClr val="7030A0"/>
                </a:solidFill>
              </a:rPr>
              <a:t>27.11.2022</a:t>
            </a:r>
            <a:endParaRPr lang="fr-BE" sz="1200" b="1" dirty="0">
              <a:solidFill>
                <a:srgbClr val="00B0F0"/>
              </a:solidFill>
            </a:endParaRPr>
          </a:p>
        </p:txBody>
      </p:sp>
      <p:sp>
        <p:nvSpPr>
          <p:cNvPr id="63" name="Accolade ouvrante 62"/>
          <p:cNvSpPr/>
          <p:nvPr/>
        </p:nvSpPr>
        <p:spPr>
          <a:xfrm rot="16200000">
            <a:off x="4055286" y="3085926"/>
            <a:ext cx="266672" cy="1995202"/>
          </a:xfrm>
          <a:prstGeom prst="leftBrace">
            <a:avLst/>
          </a:prstGeom>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fr-BE" dirty="0">
              <a:solidFill>
                <a:schemeClr val="accent2">
                  <a:lumMod val="60000"/>
                  <a:lumOff val="40000"/>
                </a:schemeClr>
              </a:solidFill>
            </a:endParaRPr>
          </a:p>
        </p:txBody>
      </p:sp>
      <p:sp>
        <p:nvSpPr>
          <p:cNvPr id="64" name="ZoneTexte 63"/>
          <p:cNvSpPr txBox="1"/>
          <p:nvPr/>
        </p:nvSpPr>
        <p:spPr>
          <a:xfrm>
            <a:off x="7645581" y="6533785"/>
            <a:ext cx="1296144" cy="307777"/>
          </a:xfrm>
          <a:prstGeom prst="rect">
            <a:avLst/>
          </a:prstGeom>
          <a:noFill/>
          <a:ln>
            <a:noFill/>
          </a:ln>
        </p:spPr>
        <p:txBody>
          <a:bodyPr wrap="square" rtlCol="0">
            <a:spAutoFit/>
          </a:bodyPr>
          <a:lstStyle/>
          <a:p>
            <a:pPr algn="ctr"/>
            <a:r>
              <a:rPr lang="fr-BE" sz="1400" b="1" dirty="0">
                <a:solidFill>
                  <a:schemeClr val="accent4">
                    <a:lumMod val="75000"/>
                  </a:schemeClr>
                </a:solidFill>
              </a:rPr>
              <a:t>27.11.2022</a:t>
            </a:r>
            <a:endParaRPr lang="fr-BE" sz="1200" b="1" dirty="0">
              <a:solidFill>
                <a:schemeClr val="accent4">
                  <a:lumMod val="75000"/>
                </a:schemeClr>
              </a:solidFill>
            </a:endParaRPr>
          </a:p>
        </p:txBody>
      </p:sp>
      <p:sp>
        <p:nvSpPr>
          <p:cNvPr id="15" name="ZoneTexte 14"/>
          <p:cNvSpPr txBox="1"/>
          <p:nvPr/>
        </p:nvSpPr>
        <p:spPr>
          <a:xfrm>
            <a:off x="7241090" y="4848050"/>
            <a:ext cx="1872208" cy="523220"/>
          </a:xfrm>
          <a:prstGeom prst="rect">
            <a:avLst/>
          </a:prstGeom>
          <a:noFill/>
        </p:spPr>
        <p:txBody>
          <a:bodyPr wrap="square" rtlCol="0">
            <a:spAutoFit/>
          </a:bodyPr>
          <a:lstStyle/>
          <a:p>
            <a:pPr algn="ctr"/>
            <a:r>
              <a:rPr lang="fr-BE" sz="1400" b="1" dirty="0"/>
              <a:t>DA le 28.11.2022</a:t>
            </a:r>
          </a:p>
          <a:p>
            <a:pPr algn="ctr"/>
            <a:r>
              <a:rPr lang="fr-BE" sz="1400" b="1" dirty="0"/>
              <a:t>Agée de 34 ans</a:t>
            </a:r>
          </a:p>
        </p:txBody>
      </p:sp>
      <p:sp>
        <p:nvSpPr>
          <p:cNvPr id="45" name="ZoneTexte 44"/>
          <p:cNvSpPr txBox="1"/>
          <p:nvPr/>
        </p:nvSpPr>
        <p:spPr>
          <a:xfrm>
            <a:off x="5225622" y="4236161"/>
            <a:ext cx="2060062" cy="523220"/>
          </a:xfrm>
          <a:prstGeom prst="rect">
            <a:avLst/>
          </a:prstGeom>
          <a:noFill/>
        </p:spPr>
        <p:txBody>
          <a:bodyPr wrap="square" rtlCol="0">
            <a:spAutoFit/>
          </a:bodyPr>
          <a:lstStyle/>
          <a:p>
            <a:pPr algn="ctr"/>
            <a:r>
              <a:rPr lang="fr-BE" sz="1400" b="1" dirty="0">
                <a:solidFill>
                  <a:schemeClr val="accent4"/>
                </a:solidFill>
              </a:rPr>
              <a:t>Durée de l’évènement </a:t>
            </a:r>
          </a:p>
          <a:p>
            <a:pPr algn="ctr"/>
            <a:r>
              <a:rPr lang="fr-BE" sz="1400" b="1" dirty="0">
                <a:solidFill>
                  <a:schemeClr val="accent4"/>
                </a:solidFill>
              </a:rPr>
              <a:t>= 2 ans, 3 mois </a:t>
            </a:r>
            <a:endParaRPr lang="fr-BE" sz="1400" b="1" dirty="0"/>
          </a:p>
        </p:txBody>
      </p:sp>
      <p:sp>
        <p:nvSpPr>
          <p:cNvPr id="23" name="ZoneTexte 22"/>
          <p:cNvSpPr txBox="1"/>
          <p:nvPr/>
        </p:nvSpPr>
        <p:spPr>
          <a:xfrm>
            <a:off x="3191019" y="4205025"/>
            <a:ext cx="2060062" cy="523220"/>
          </a:xfrm>
          <a:prstGeom prst="rect">
            <a:avLst/>
          </a:prstGeom>
          <a:noFill/>
        </p:spPr>
        <p:txBody>
          <a:bodyPr wrap="square" rtlCol="0">
            <a:spAutoFit/>
          </a:bodyPr>
          <a:lstStyle/>
          <a:p>
            <a:pPr algn="ctr"/>
            <a:r>
              <a:rPr lang="fr-BE" sz="1400" b="1" dirty="0">
                <a:solidFill>
                  <a:srgbClr val="C00000"/>
                </a:solidFill>
              </a:rPr>
              <a:t>Durée de l’évènement </a:t>
            </a:r>
          </a:p>
          <a:p>
            <a:pPr algn="ctr"/>
            <a:r>
              <a:rPr lang="fr-BE" sz="1400" b="1" dirty="0">
                <a:solidFill>
                  <a:srgbClr val="C00000"/>
                </a:solidFill>
              </a:rPr>
              <a:t>= 7 ans</a:t>
            </a:r>
          </a:p>
        </p:txBody>
      </p:sp>
      <p:cxnSp>
        <p:nvCxnSpPr>
          <p:cNvPr id="43" name="Connecteur droit avec flèche 42">
            <a:extLst>
              <a:ext uri="{FF2B5EF4-FFF2-40B4-BE49-F238E27FC236}">
                <a16:creationId xmlns:a16="http://schemas.microsoft.com/office/drawing/2014/main" id="{C1B3C99E-A3E2-42B8-8619-E29B6D7956A5}"/>
              </a:ext>
            </a:extLst>
          </p:cNvPr>
          <p:cNvCxnSpPr>
            <a:cxnSpLocks/>
          </p:cNvCxnSpPr>
          <p:nvPr/>
        </p:nvCxnSpPr>
        <p:spPr>
          <a:xfrm flipV="1">
            <a:off x="3191019" y="1589552"/>
            <a:ext cx="0" cy="2340762"/>
          </a:xfrm>
          <a:prstGeom prst="straightConnector1">
            <a:avLst/>
          </a:prstGeom>
          <a:ln w="38100">
            <a:solidFill>
              <a:schemeClr val="accent6">
                <a:lumMod val="75000"/>
              </a:schemeClr>
            </a:solidFill>
            <a:tailEnd type="arrow"/>
          </a:ln>
          <a:scene3d>
            <a:camera prst="orthographicFront">
              <a:rot lat="0" lon="0" rev="0"/>
            </a:camera>
            <a:lightRig rig="threePt" dir="t"/>
          </a:scene3d>
        </p:spPr>
        <p:style>
          <a:lnRef idx="2">
            <a:schemeClr val="accent2"/>
          </a:lnRef>
          <a:fillRef idx="0">
            <a:schemeClr val="accent2"/>
          </a:fillRef>
          <a:effectRef idx="1">
            <a:schemeClr val="accent2"/>
          </a:effectRef>
          <a:fontRef idx="minor">
            <a:schemeClr val="tx1"/>
          </a:fontRef>
        </p:style>
      </p:cxnSp>
      <p:sp>
        <p:nvSpPr>
          <p:cNvPr id="46" name="ZoneTexte 45">
            <a:extLst>
              <a:ext uri="{FF2B5EF4-FFF2-40B4-BE49-F238E27FC236}">
                <a16:creationId xmlns:a16="http://schemas.microsoft.com/office/drawing/2014/main" id="{89F19566-448D-49A9-96AA-8E7A2CEF71A3}"/>
              </a:ext>
            </a:extLst>
          </p:cNvPr>
          <p:cNvSpPr txBox="1"/>
          <p:nvPr/>
        </p:nvSpPr>
        <p:spPr>
          <a:xfrm>
            <a:off x="2155387" y="1327923"/>
            <a:ext cx="2180636" cy="307777"/>
          </a:xfrm>
          <a:prstGeom prst="rect">
            <a:avLst/>
          </a:prstGeom>
          <a:noFill/>
        </p:spPr>
        <p:txBody>
          <a:bodyPr wrap="square" rtlCol="0">
            <a:spAutoFit/>
          </a:bodyPr>
          <a:lstStyle/>
          <a:p>
            <a:pPr algn="ctr"/>
            <a:r>
              <a:rPr lang="fr-BE" sz="1400" b="1" dirty="0"/>
              <a:t> 01.04.2013</a:t>
            </a:r>
          </a:p>
        </p:txBody>
      </p:sp>
      <p:sp>
        <p:nvSpPr>
          <p:cNvPr id="55" name="ZoneTexte 54">
            <a:extLst>
              <a:ext uri="{FF2B5EF4-FFF2-40B4-BE49-F238E27FC236}">
                <a16:creationId xmlns:a16="http://schemas.microsoft.com/office/drawing/2014/main" id="{E55067C9-C1CA-4FC8-B7F7-3BA724A5B42E}"/>
              </a:ext>
            </a:extLst>
          </p:cNvPr>
          <p:cNvSpPr txBox="1"/>
          <p:nvPr/>
        </p:nvSpPr>
        <p:spPr>
          <a:xfrm>
            <a:off x="4118897" y="1471527"/>
            <a:ext cx="2180636" cy="307777"/>
          </a:xfrm>
          <a:prstGeom prst="rect">
            <a:avLst/>
          </a:prstGeom>
          <a:noFill/>
        </p:spPr>
        <p:txBody>
          <a:bodyPr wrap="square" rtlCol="0">
            <a:spAutoFit/>
          </a:bodyPr>
          <a:lstStyle/>
          <a:p>
            <a:pPr algn="ctr"/>
            <a:r>
              <a:rPr lang="fr-BE" sz="1400" b="1" dirty="0"/>
              <a:t> 01.04.2020</a:t>
            </a:r>
          </a:p>
        </p:txBody>
      </p:sp>
      <p:cxnSp>
        <p:nvCxnSpPr>
          <p:cNvPr id="65" name="Connecteur droit avec flèche 64">
            <a:extLst>
              <a:ext uri="{FF2B5EF4-FFF2-40B4-BE49-F238E27FC236}">
                <a16:creationId xmlns:a16="http://schemas.microsoft.com/office/drawing/2014/main" id="{10E8FA33-2625-41E8-815F-CBABCCADC18A}"/>
              </a:ext>
            </a:extLst>
          </p:cNvPr>
          <p:cNvCxnSpPr>
            <a:cxnSpLocks/>
          </p:cNvCxnSpPr>
          <p:nvPr/>
        </p:nvCxnSpPr>
        <p:spPr>
          <a:xfrm flipV="1">
            <a:off x="7315234" y="1772207"/>
            <a:ext cx="6720" cy="2177984"/>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sp>
        <p:nvSpPr>
          <p:cNvPr id="66" name="ZoneTexte 65">
            <a:extLst>
              <a:ext uri="{FF2B5EF4-FFF2-40B4-BE49-F238E27FC236}">
                <a16:creationId xmlns:a16="http://schemas.microsoft.com/office/drawing/2014/main" id="{5B11DABA-6736-4E16-B0F0-EE0F589A7BCA}"/>
              </a:ext>
            </a:extLst>
          </p:cNvPr>
          <p:cNvSpPr txBox="1"/>
          <p:nvPr/>
        </p:nvSpPr>
        <p:spPr>
          <a:xfrm>
            <a:off x="6531690" y="1472456"/>
            <a:ext cx="1567087" cy="307777"/>
          </a:xfrm>
          <a:prstGeom prst="rect">
            <a:avLst/>
          </a:prstGeom>
          <a:noFill/>
        </p:spPr>
        <p:txBody>
          <a:bodyPr wrap="square" rtlCol="0">
            <a:spAutoFit/>
          </a:bodyPr>
          <a:lstStyle/>
          <a:p>
            <a:pPr algn="ctr"/>
            <a:r>
              <a:rPr lang="fr-BE" sz="1400" b="1" dirty="0"/>
              <a:t> 30.06.2022</a:t>
            </a:r>
          </a:p>
        </p:txBody>
      </p:sp>
    </p:spTree>
    <p:extLst>
      <p:ext uri="{BB962C8B-B14F-4D97-AF65-F5344CB8AC3E}">
        <p14:creationId xmlns:p14="http://schemas.microsoft.com/office/powerpoint/2010/main" val="34664083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wipe(up)">
                                      <p:cBhvr>
                                        <p:cTn id="11" dur="1000"/>
                                        <p:tgtEl>
                                          <p:spTgt spid="58"/>
                                        </p:tgtEl>
                                      </p:cBhvr>
                                    </p:animEffect>
                                  </p:childTnLst>
                                </p:cTn>
                              </p:par>
                            </p:childTnLst>
                          </p:cTn>
                        </p:par>
                        <p:par>
                          <p:cTn id="12" fill="hold">
                            <p:stCondLst>
                              <p:cond delay="2000"/>
                            </p:stCondLst>
                            <p:childTnLst>
                              <p:par>
                                <p:cTn id="13" presetID="22" presetClass="entr" presetSubtype="2"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right)">
                                      <p:cBhvr>
                                        <p:cTn id="15" dur="1000"/>
                                        <p:tgtEl>
                                          <p:spTgt spid="2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1000"/>
                                        <p:tgtEl>
                                          <p:spTgt spid="25"/>
                                        </p:tgtEl>
                                      </p:cBhvr>
                                    </p:animEffect>
                                  </p:childTnLst>
                                </p:cTn>
                              </p:par>
                            </p:childTnLst>
                          </p:cTn>
                        </p:par>
                        <p:par>
                          <p:cTn id="19" fill="hold">
                            <p:stCondLst>
                              <p:cond delay="3000"/>
                            </p:stCondLst>
                            <p:childTnLst>
                              <p:par>
                                <p:cTn id="20" presetID="22" presetClass="entr" presetSubtype="4" fill="hold" nodeType="afterEffect">
                                  <p:stCondLst>
                                    <p:cond delay="0"/>
                                  </p:stCondLst>
                                  <p:childTnLst>
                                    <p:set>
                                      <p:cBhvr>
                                        <p:cTn id="21" dur="1" fill="hold">
                                          <p:stCondLst>
                                            <p:cond delay="0"/>
                                          </p:stCondLst>
                                        </p:cTn>
                                        <p:tgtEl>
                                          <p:spTgt spid="59"/>
                                        </p:tgtEl>
                                        <p:attrNameLst>
                                          <p:attrName>style.visibility</p:attrName>
                                        </p:attrNameLst>
                                      </p:cBhvr>
                                      <p:to>
                                        <p:strVal val="visible"/>
                                      </p:to>
                                    </p:set>
                                    <p:animEffect transition="in" filter="wipe(down)">
                                      <p:cBhvr>
                                        <p:cTn id="22" dur="1000"/>
                                        <p:tgtEl>
                                          <p:spTgt spid="5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10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40"/>
                                        </p:tgtEl>
                                        <p:attrNameLst>
                                          <p:attrName>style.visibility</p:attrName>
                                        </p:attrNameLst>
                                      </p:cBhvr>
                                      <p:to>
                                        <p:strVal val="visible"/>
                                      </p:to>
                                    </p:set>
                                    <p:animEffect transition="in" filter="wipe(up)">
                                      <p:cBhvr>
                                        <p:cTn id="30" dur="1000"/>
                                        <p:tgtEl>
                                          <p:spTgt spid="4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animEffect transition="in" filter="fade">
                                      <p:cBhvr>
                                        <p:cTn id="33" dur="1000"/>
                                        <p:tgtEl>
                                          <p:spTgt spid="5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60"/>
                                        </p:tgtEl>
                                        <p:attrNameLst>
                                          <p:attrName>style.visibility</p:attrName>
                                        </p:attrNameLst>
                                      </p:cBhvr>
                                      <p:to>
                                        <p:strVal val="visible"/>
                                      </p:to>
                                    </p:set>
                                    <p:animEffect transition="in" filter="wipe(left)">
                                      <p:cBhvr>
                                        <p:cTn id="38" dur="1000"/>
                                        <p:tgtEl>
                                          <p:spTgt spid="6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fade">
                                      <p:cBhvr>
                                        <p:cTn id="41" dur="1000"/>
                                        <p:tgtEl>
                                          <p:spTgt spid="48"/>
                                        </p:tgtEl>
                                      </p:cBhvr>
                                    </p:animEffect>
                                  </p:childTnLst>
                                </p:cTn>
                              </p:par>
                            </p:childTnLst>
                          </p:cTn>
                        </p:par>
                        <p:par>
                          <p:cTn id="42" fill="hold">
                            <p:stCondLst>
                              <p:cond delay="1000"/>
                            </p:stCondLst>
                            <p:childTnLst>
                              <p:par>
                                <p:cTn id="43" presetID="22" presetClass="entr" presetSubtype="1" fill="hold" nodeType="afterEffect">
                                  <p:stCondLst>
                                    <p:cond delay="0"/>
                                  </p:stCondLst>
                                  <p:childTnLst>
                                    <p:set>
                                      <p:cBhvr>
                                        <p:cTn id="44" dur="1" fill="hold">
                                          <p:stCondLst>
                                            <p:cond delay="0"/>
                                          </p:stCondLst>
                                        </p:cTn>
                                        <p:tgtEl>
                                          <p:spTgt spid="65"/>
                                        </p:tgtEl>
                                        <p:attrNameLst>
                                          <p:attrName>style.visibility</p:attrName>
                                        </p:attrNameLst>
                                      </p:cBhvr>
                                      <p:to>
                                        <p:strVal val="visible"/>
                                      </p:to>
                                    </p:set>
                                    <p:animEffect transition="in" filter="wipe(up)">
                                      <p:cBhvr>
                                        <p:cTn id="45" dur="1000"/>
                                        <p:tgtEl>
                                          <p:spTgt spid="6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6"/>
                                        </p:tgtEl>
                                        <p:attrNameLst>
                                          <p:attrName>style.visibility</p:attrName>
                                        </p:attrNameLst>
                                      </p:cBhvr>
                                      <p:to>
                                        <p:strVal val="visible"/>
                                      </p:to>
                                    </p:set>
                                    <p:animEffect transition="in" filter="fade">
                                      <p:cBhvr>
                                        <p:cTn id="48" dur="1000"/>
                                        <p:tgtEl>
                                          <p:spTgt spid="6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61"/>
                                        </p:tgtEl>
                                        <p:attrNameLst>
                                          <p:attrName>style.visibility</p:attrName>
                                        </p:attrNameLst>
                                      </p:cBhvr>
                                      <p:to>
                                        <p:strVal val="visible"/>
                                      </p:to>
                                    </p:set>
                                    <p:animEffect transition="in" filter="wipe(left)">
                                      <p:cBhvr>
                                        <p:cTn id="53" dur="1000"/>
                                        <p:tgtEl>
                                          <p:spTgt spid="61"/>
                                        </p:tgtEl>
                                      </p:cBhvr>
                                    </p:animEffect>
                                  </p:childTnLst>
                                </p:cTn>
                              </p:par>
                            </p:childTnLst>
                          </p:cTn>
                        </p:par>
                        <p:par>
                          <p:cTn id="54" fill="hold">
                            <p:stCondLst>
                              <p:cond delay="1000"/>
                            </p:stCondLst>
                            <p:childTnLst>
                              <p:par>
                                <p:cTn id="55" presetID="10" presetClass="entr" presetSubtype="0" fill="hold" grpId="0" nodeType="after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fade">
                                      <p:cBhvr>
                                        <p:cTn id="57" dur="1000"/>
                                        <p:tgtEl>
                                          <p:spTgt spid="4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2" fill="hold" grpId="0" nodeType="click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wipe(right)">
                                      <p:cBhvr>
                                        <p:cTn id="62" dur="1000"/>
                                        <p:tgtEl>
                                          <p:spTgt spid="31"/>
                                        </p:tgtEl>
                                      </p:cBhvr>
                                    </p:animEffect>
                                  </p:childTnLst>
                                </p:cTn>
                              </p:par>
                            </p:childTnLst>
                          </p:cTn>
                        </p:par>
                        <p:par>
                          <p:cTn id="63" fill="hold">
                            <p:stCondLst>
                              <p:cond delay="1000"/>
                            </p:stCondLst>
                            <p:childTnLst>
                              <p:par>
                                <p:cTn id="64" presetID="22" presetClass="entr" presetSubtype="4" fill="hold" nodeType="afterEffect">
                                  <p:stCondLst>
                                    <p:cond delay="0"/>
                                  </p:stCondLst>
                                  <p:childTnLst>
                                    <p:set>
                                      <p:cBhvr>
                                        <p:cTn id="65" dur="1" fill="hold">
                                          <p:stCondLst>
                                            <p:cond delay="0"/>
                                          </p:stCondLst>
                                        </p:cTn>
                                        <p:tgtEl>
                                          <p:spTgt spid="52"/>
                                        </p:tgtEl>
                                        <p:attrNameLst>
                                          <p:attrName>style.visibility</p:attrName>
                                        </p:attrNameLst>
                                      </p:cBhvr>
                                      <p:to>
                                        <p:strVal val="visible"/>
                                      </p:to>
                                    </p:set>
                                    <p:animEffect transition="in" filter="wipe(down)">
                                      <p:cBhvr>
                                        <p:cTn id="66" dur="1000"/>
                                        <p:tgtEl>
                                          <p:spTgt spid="52"/>
                                        </p:tgtEl>
                                      </p:cBhvr>
                                    </p:animEffect>
                                  </p:childTnLst>
                                </p:cTn>
                              </p:par>
                            </p:childTnLst>
                          </p:cTn>
                        </p:par>
                        <p:par>
                          <p:cTn id="67" fill="hold">
                            <p:stCondLst>
                              <p:cond delay="2000"/>
                            </p:stCondLst>
                            <p:childTnLst>
                              <p:par>
                                <p:cTn id="68" presetID="10" presetClass="entr" presetSubtype="0" fill="hold" grpId="0" nodeType="after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1000"/>
                                        <p:tgtEl>
                                          <p:spTgt spid="3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fade">
                                      <p:cBhvr>
                                        <p:cTn id="73" dur="1000"/>
                                        <p:tgtEl>
                                          <p:spTgt spid="3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62"/>
                                        </p:tgtEl>
                                        <p:attrNameLst>
                                          <p:attrName>style.visibility</p:attrName>
                                        </p:attrNameLst>
                                      </p:cBhvr>
                                      <p:to>
                                        <p:strVal val="visible"/>
                                      </p:to>
                                    </p:set>
                                    <p:animEffect transition="in" filter="fade">
                                      <p:cBhvr>
                                        <p:cTn id="76" dur="1000"/>
                                        <p:tgtEl>
                                          <p:spTgt spid="62"/>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wipe(left)">
                                      <p:cBhvr>
                                        <p:cTn id="81" dur="1000"/>
                                        <p:tgtEl>
                                          <p:spTgt spid="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1000"/>
                                        <p:tgtEl>
                                          <p:spTgt spid="36"/>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63"/>
                                        </p:tgtEl>
                                        <p:attrNameLst>
                                          <p:attrName>style.visibility</p:attrName>
                                        </p:attrNameLst>
                                      </p:cBhvr>
                                      <p:to>
                                        <p:strVal val="visible"/>
                                      </p:to>
                                    </p:set>
                                    <p:animEffect transition="in" filter="wipe(left)">
                                      <p:cBhvr>
                                        <p:cTn id="89" dur="1000"/>
                                        <p:tgtEl>
                                          <p:spTgt spid="63"/>
                                        </p:tgtEl>
                                      </p:cBhvr>
                                    </p:animEffect>
                                  </p:childTnLst>
                                </p:cTn>
                              </p:par>
                            </p:childTnLst>
                          </p:cTn>
                        </p:par>
                        <p:par>
                          <p:cTn id="90" fill="hold">
                            <p:stCondLst>
                              <p:cond delay="1000"/>
                            </p:stCondLst>
                            <p:childTnLst>
                              <p:par>
                                <p:cTn id="91" presetID="10" presetClass="entr" presetSubtype="0" fill="hold" grpId="0" nodeType="afterEffect">
                                  <p:stCondLst>
                                    <p:cond delay="0"/>
                                  </p:stCondLst>
                                  <p:childTnLst>
                                    <p:set>
                                      <p:cBhvr>
                                        <p:cTn id="92" dur="1" fill="hold">
                                          <p:stCondLst>
                                            <p:cond delay="0"/>
                                          </p:stCondLst>
                                        </p:cTn>
                                        <p:tgtEl>
                                          <p:spTgt spid="23"/>
                                        </p:tgtEl>
                                        <p:attrNameLst>
                                          <p:attrName>style.visibility</p:attrName>
                                        </p:attrNameLst>
                                      </p:cBhvr>
                                      <p:to>
                                        <p:strVal val="visible"/>
                                      </p:to>
                                    </p:set>
                                    <p:animEffect transition="in" filter="fade">
                                      <p:cBhvr>
                                        <p:cTn id="93" dur="1000"/>
                                        <p:tgtEl>
                                          <p:spTgt spid="23"/>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2" fill="hold" grpId="0" nodeType="click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wipe(right)">
                                      <p:cBhvr>
                                        <p:cTn id="98" dur="1000"/>
                                        <p:tgtEl>
                                          <p:spTgt spid="50"/>
                                        </p:tgtEl>
                                      </p:cBhvr>
                                    </p:animEffect>
                                  </p:childTnLst>
                                </p:cTn>
                              </p:par>
                            </p:childTnLst>
                          </p:cTn>
                        </p:par>
                        <p:par>
                          <p:cTn id="99" fill="hold">
                            <p:stCondLst>
                              <p:cond delay="1000"/>
                            </p:stCondLst>
                            <p:childTnLst>
                              <p:par>
                                <p:cTn id="100" presetID="22" presetClass="entr" presetSubtype="4" fill="hold" nodeType="afterEffect">
                                  <p:stCondLst>
                                    <p:cond delay="0"/>
                                  </p:stCondLst>
                                  <p:childTnLst>
                                    <p:set>
                                      <p:cBhvr>
                                        <p:cTn id="101" dur="1" fill="hold">
                                          <p:stCondLst>
                                            <p:cond delay="0"/>
                                          </p:stCondLst>
                                        </p:cTn>
                                        <p:tgtEl>
                                          <p:spTgt spid="54"/>
                                        </p:tgtEl>
                                        <p:attrNameLst>
                                          <p:attrName>style.visibility</p:attrName>
                                        </p:attrNameLst>
                                      </p:cBhvr>
                                      <p:to>
                                        <p:strVal val="visible"/>
                                      </p:to>
                                    </p:set>
                                    <p:animEffect transition="in" filter="wipe(down)">
                                      <p:cBhvr>
                                        <p:cTn id="102" dur="1000"/>
                                        <p:tgtEl>
                                          <p:spTgt spid="54"/>
                                        </p:tgtEl>
                                      </p:cBhvr>
                                    </p:animEffect>
                                  </p:childTnLst>
                                </p:cTn>
                              </p:par>
                            </p:childTnLst>
                          </p:cTn>
                        </p:par>
                        <p:par>
                          <p:cTn id="103" fill="hold">
                            <p:stCondLst>
                              <p:cond delay="2000"/>
                            </p:stCondLst>
                            <p:childTnLst>
                              <p:par>
                                <p:cTn id="104" presetID="10" presetClass="entr" presetSubtype="0" fill="hold" grpId="0" nodeType="afterEffect">
                                  <p:stCondLst>
                                    <p:cond delay="0"/>
                                  </p:stCondLst>
                                  <p:childTnLst>
                                    <p:set>
                                      <p:cBhvr>
                                        <p:cTn id="105" dur="1" fill="hold">
                                          <p:stCondLst>
                                            <p:cond delay="0"/>
                                          </p:stCondLst>
                                        </p:cTn>
                                        <p:tgtEl>
                                          <p:spTgt spid="51"/>
                                        </p:tgtEl>
                                        <p:attrNameLst>
                                          <p:attrName>style.visibility</p:attrName>
                                        </p:attrNameLst>
                                      </p:cBhvr>
                                      <p:to>
                                        <p:strVal val="visible"/>
                                      </p:to>
                                    </p:set>
                                    <p:animEffect transition="in" filter="fade">
                                      <p:cBhvr>
                                        <p:cTn id="106" dur="1000"/>
                                        <p:tgtEl>
                                          <p:spTgt spid="51"/>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53"/>
                                        </p:tgtEl>
                                        <p:attrNameLst>
                                          <p:attrName>style.visibility</p:attrName>
                                        </p:attrNameLst>
                                      </p:cBhvr>
                                      <p:to>
                                        <p:strVal val="visible"/>
                                      </p:to>
                                    </p:set>
                                    <p:animEffect transition="in" filter="fade">
                                      <p:cBhvr>
                                        <p:cTn id="109" dur="1000"/>
                                        <p:tgtEl>
                                          <p:spTgt spid="53"/>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64"/>
                                        </p:tgtEl>
                                        <p:attrNameLst>
                                          <p:attrName>style.visibility</p:attrName>
                                        </p:attrNameLst>
                                      </p:cBhvr>
                                      <p:to>
                                        <p:strVal val="visible"/>
                                      </p:to>
                                    </p:set>
                                    <p:animEffect transition="in" filter="fade">
                                      <p:cBhvr>
                                        <p:cTn id="112" dur="10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P spid="26" grpId="0"/>
      <p:bldP spid="27" grpId="0"/>
      <p:bldP spid="31" grpId="0" animBg="1"/>
      <p:bldP spid="34" grpId="0"/>
      <p:bldP spid="35" grpId="0"/>
      <p:bldP spid="36" grpId="0"/>
      <p:bldP spid="48" grpId="0"/>
      <p:bldP spid="50" grpId="0" animBg="1"/>
      <p:bldP spid="51" grpId="0"/>
      <p:bldP spid="53" grpId="0"/>
      <p:bldP spid="61" grpId="0" animBg="1"/>
      <p:bldP spid="62" grpId="0"/>
      <p:bldP spid="63" grpId="0" animBg="1"/>
      <p:bldP spid="64" grpId="0"/>
      <p:bldP spid="45" grpId="0"/>
      <p:bldP spid="23" grpId="0"/>
      <p:bldP spid="55" grpId="0"/>
      <p:bldP spid="6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pPr algn="l"/>
            <a:r>
              <a:rPr lang="fr-BE" sz="4000" b="1" i="1" dirty="0">
                <a:latin typeface="+mn-lt"/>
                <a:cs typeface="Times New Roman" pitchFamily="18" charset="0"/>
              </a:rPr>
              <a:t>5. Méthode de travail</a:t>
            </a:r>
            <a:endParaRPr lang="fr-FR" sz="4000" i="1" dirty="0">
              <a:latin typeface="+mn-lt"/>
              <a:cs typeface="Times New Roman" pitchFamily="18" charset="0"/>
            </a:endParaRPr>
          </a:p>
        </p:txBody>
      </p:sp>
      <p:sp>
        <p:nvSpPr>
          <p:cNvPr id="8" name="Espace réservé du contenu 7"/>
          <p:cNvSpPr>
            <a:spLocks noGrp="1"/>
          </p:cNvSpPr>
          <p:nvPr>
            <p:ph idx="1"/>
          </p:nvPr>
        </p:nvSpPr>
        <p:spPr/>
        <p:txBody>
          <a:bodyPr>
            <a:noAutofit/>
          </a:bodyPr>
          <a:lstStyle/>
          <a:p>
            <a:pPr marL="609600" indent="-609600">
              <a:spcBef>
                <a:spcPts val="0"/>
              </a:spcBef>
              <a:buAutoNum type="arabicPeriod"/>
            </a:pPr>
            <a:endParaRPr lang="fr-BE" sz="3000" dirty="0">
              <a:cs typeface="Times New Roman" pitchFamily="18" charset="0"/>
            </a:endParaRPr>
          </a:p>
          <a:p>
            <a:pPr marL="609600" indent="-609600">
              <a:spcBef>
                <a:spcPts val="0"/>
              </a:spcBef>
              <a:buAutoNum type="arabicPeriod"/>
            </a:pPr>
            <a:endParaRPr lang="fr-BE" sz="3000" dirty="0">
              <a:cs typeface="Times New Roman" pitchFamily="18" charset="0"/>
            </a:endParaRPr>
          </a:p>
          <a:p>
            <a:pPr marL="609600" indent="-609600">
              <a:spcBef>
                <a:spcPts val="0"/>
              </a:spcBef>
              <a:buAutoNum type="arabicPeriod"/>
            </a:pPr>
            <a:r>
              <a:rPr lang="fr-BE" sz="3000" dirty="0">
                <a:cs typeface="Times New Roman" pitchFamily="18" charset="0"/>
              </a:rPr>
              <a:t>Application de la </a:t>
            </a:r>
            <a:r>
              <a:rPr lang="fr-BE" sz="3000" b="1" dirty="0">
                <a:cs typeface="Times New Roman" pitchFamily="18" charset="0"/>
              </a:rPr>
              <a:t>règle générale</a:t>
            </a:r>
            <a:r>
              <a:rPr lang="fr-BE" sz="3000" dirty="0">
                <a:cs typeface="Times New Roman" pitchFamily="18" charset="0"/>
              </a:rPr>
              <a:t>.</a:t>
            </a:r>
          </a:p>
          <a:p>
            <a:pPr marL="0" indent="0">
              <a:spcBef>
                <a:spcPts val="0"/>
              </a:spcBef>
              <a:buNone/>
            </a:pPr>
            <a:endParaRPr lang="fr-BE" sz="1400" dirty="0">
              <a:cs typeface="Times New Roman" pitchFamily="18" charset="0"/>
            </a:endParaRPr>
          </a:p>
          <a:p>
            <a:pPr marL="609600" indent="-609600">
              <a:spcBef>
                <a:spcPts val="0"/>
              </a:spcBef>
              <a:buFont typeface="+mj-lt"/>
              <a:buAutoNum type="arabicPeriod" startAt="2"/>
            </a:pPr>
            <a:r>
              <a:rPr lang="fr-BE" sz="3000" dirty="0">
                <a:cs typeface="Times New Roman" pitchFamily="18" charset="0"/>
              </a:rPr>
              <a:t>Envisager une admissibilité sur base d’une </a:t>
            </a:r>
            <a:r>
              <a:rPr lang="fr-BE" sz="3000" b="1" dirty="0">
                <a:cs typeface="Times New Roman" pitchFamily="18" charset="0"/>
              </a:rPr>
              <a:t>catégorie d’âge supérieure</a:t>
            </a:r>
            <a:r>
              <a:rPr lang="fr-BE" sz="3000" dirty="0">
                <a:cs typeface="Times New Roman" pitchFamily="18" charset="0"/>
              </a:rPr>
              <a:t>.</a:t>
            </a:r>
          </a:p>
          <a:p>
            <a:pPr marL="0" indent="0">
              <a:spcBef>
                <a:spcPts val="0"/>
              </a:spcBef>
              <a:buNone/>
            </a:pPr>
            <a:endParaRPr lang="fr-BE" sz="1400" dirty="0">
              <a:cs typeface="Times New Roman" pitchFamily="18" charset="0"/>
            </a:endParaRPr>
          </a:p>
          <a:p>
            <a:pPr marL="609600" indent="-609600">
              <a:spcBef>
                <a:spcPts val="0"/>
              </a:spcBef>
              <a:buFont typeface="+mj-lt"/>
              <a:buAutoNum type="arabicPeriod" startAt="3"/>
            </a:pPr>
            <a:r>
              <a:rPr lang="fr-BE" sz="3000" dirty="0">
                <a:cs typeface="Times New Roman" pitchFamily="18" charset="0"/>
              </a:rPr>
              <a:t>Envisager la </a:t>
            </a:r>
            <a:r>
              <a:rPr lang="fr-BE" sz="3000" b="1" dirty="0">
                <a:cs typeface="Times New Roman" pitchFamily="18" charset="0"/>
              </a:rPr>
              <a:t>prolongation</a:t>
            </a:r>
            <a:r>
              <a:rPr lang="fr-BE" sz="3000" dirty="0">
                <a:cs typeface="Times New Roman" pitchFamily="18" charset="0"/>
              </a:rPr>
              <a:t> de la période de référence.</a:t>
            </a:r>
          </a:p>
          <a:p>
            <a:pPr marL="0" indent="0">
              <a:spcBef>
                <a:spcPts val="0"/>
              </a:spcBef>
              <a:buNone/>
            </a:pPr>
            <a:endParaRPr lang="fr-BE" sz="1400" dirty="0">
              <a:cs typeface="Times New Roman" pitchFamily="18" charset="0"/>
            </a:endParaRPr>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30</a:t>
            </a:fld>
            <a:endParaRPr lang="fr-FR" dirty="0"/>
          </a:p>
        </p:txBody>
      </p:sp>
    </p:spTree>
    <p:extLst>
      <p:ext uri="{BB962C8B-B14F-4D97-AF65-F5344CB8AC3E}">
        <p14:creationId xmlns:p14="http://schemas.microsoft.com/office/powerpoint/2010/main" val="40011161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1000"/>
                                        <p:tgtEl>
                                          <p:spTgt spid="8">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6" end="6"/>
                                            </p:txEl>
                                          </p:spTgt>
                                        </p:tgtEl>
                                        <p:attrNameLst>
                                          <p:attrName>style.visibility</p:attrName>
                                        </p:attrNameLst>
                                      </p:cBhvr>
                                      <p:to>
                                        <p:strVal val="visible"/>
                                      </p:to>
                                    </p:set>
                                    <p:animEffect transition="in" filter="fade">
                                      <p:cBhvr>
                                        <p:cTn id="17" dur="10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pPr algn="l"/>
            <a:r>
              <a:rPr lang="fr-BE" sz="4000" b="1" i="1" dirty="0">
                <a:latin typeface="+mn-lt"/>
                <a:cs typeface="Times New Roman" pitchFamily="18" charset="0"/>
              </a:rPr>
              <a:t>6. Jours de travail – </a:t>
            </a:r>
            <a:r>
              <a:rPr lang="fr-BE" sz="4000" b="1" i="1" dirty="0">
                <a:solidFill>
                  <a:srgbClr val="C00000"/>
                </a:solidFill>
                <a:latin typeface="+mn-lt"/>
                <a:cs typeface="Times New Roman" pitchFamily="18" charset="0"/>
              </a:rPr>
              <a:t>Art. 37</a:t>
            </a:r>
            <a:endParaRPr lang="fr-FR" sz="4000" dirty="0">
              <a:solidFill>
                <a:srgbClr val="C00000"/>
              </a:solidFill>
              <a:latin typeface="+mn-lt"/>
              <a:cs typeface="Times New Roman" pitchFamily="18" charset="0"/>
            </a:endParaRPr>
          </a:p>
        </p:txBody>
      </p:sp>
      <p:sp>
        <p:nvSpPr>
          <p:cNvPr id="8" name="Espace réservé du contenu 7"/>
          <p:cNvSpPr>
            <a:spLocks noGrp="1"/>
          </p:cNvSpPr>
          <p:nvPr>
            <p:ph idx="1"/>
          </p:nvPr>
        </p:nvSpPr>
        <p:spPr/>
        <p:txBody>
          <a:bodyPr>
            <a:noAutofit/>
          </a:bodyPr>
          <a:lstStyle/>
          <a:p>
            <a:pPr marL="0" indent="0">
              <a:spcBef>
                <a:spcPts val="0"/>
              </a:spcBef>
              <a:buSzPct val="80000"/>
              <a:buNone/>
            </a:pPr>
            <a:r>
              <a:rPr lang="fr-BE" b="1" dirty="0">
                <a:solidFill>
                  <a:srgbClr val="C00000"/>
                </a:solidFill>
                <a:cs typeface="Times New Roman" pitchFamily="18" charset="0"/>
              </a:rPr>
              <a:t>Le travail effectif</a:t>
            </a:r>
            <a:r>
              <a:rPr lang="fr-BE" b="1" dirty="0">
                <a:cs typeface="Times New Roman" pitchFamily="18" charset="0"/>
              </a:rPr>
              <a:t> </a:t>
            </a:r>
            <a:r>
              <a:rPr lang="fr-BE" sz="2400" dirty="0">
                <a:cs typeface="Times New Roman" pitchFamily="18" charset="0"/>
              </a:rPr>
              <a:t>(et les heures supplémentaires sans repos compensatoire) </a:t>
            </a:r>
            <a:r>
              <a:rPr lang="fr-BE" dirty="0">
                <a:cs typeface="Times New Roman" pitchFamily="18" charset="0"/>
              </a:rPr>
              <a:t>dans une profession ou une entreprise assujettie à la sécurité sociale, secteur chômage pour lequel :</a:t>
            </a:r>
          </a:p>
          <a:p>
            <a:pPr marL="0" indent="0">
              <a:spcBef>
                <a:spcPts val="0"/>
              </a:spcBef>
              <a:buSzPct val="80000"/>
              <a:buNone/>
            </a:pPr>
            <a:endParaRPr lang="fr-BE" sz="1200" dirty="0">
              <a:cs typeface="Times New Roman" pitchFamily="18" charset="0"/>
            </a:endParaRPr>
          </a:p>
          <a:p>
            <a:pPr>
              <a:spcBef>
                <a:spcPts val="0"/>
              </a:spcBef>
              <a:buSzPct val="100000"/>
              <a:buFont typeface="Wingdings" pitchFamily="2" charset="2"/>
              <a:buChar char="§"/>
            </a:pPr>
            <a:r>
              <a:rPr lang="fr-BE" dirty="0">
                <a:cs typeface="Times New Roman" pitchFamily="18" charset="0"/>
              </a:rPr>
              <a:t>L’intéressé a perçu une </a:t>
            </a:r>
            <a:r>
              <a:rPr lang="fr-BE" b="1" dirty="0">
                <a:solidFill>
                  <a:srgbClr val="C00000"/>
                </a:solidFill>
                <a:cs typeface="Times New Roman" pitchFamily="18" charset="0"/>
              </a:rPr>
              <a:t>rémunération suffisante</a:t>
            </a:r>
            <a:r>
              <a:rPr lang="fr-BE" dirty="0">
                <a:cs typeface="Times New Roman" pitchFamily="18" charset="0"/>
              </a:rPr>
              <a:t>.</a:t>
            </a:r>
          </a:p>
          <a:p>
            <a:pPr>
              <a:spcBef>
                <a:spcPts val="0"/>
              </a:spcBef>
              <a:buSzPct val="100000"/>
              <a:buFont typeface="Wingdings" pitchFamily="2" charset="2"/>
              <a:buChar char="§"/>
            </a:pPr>
            <a:endParaRPr lang="fr-BE" sz="1200" dirty="0">
              <a:cs typeface="Times New Roman" pitchFamily="18" charset="0"/>
            </a:endParaRPr>
          </a:p>
          <a:p>
            <a:pPr>
              <a:spcBef>
                <a:spcPts val="0"/>
              </a:spcBef>
              <a:buSzPct val="100000"/>
              <a:buFont typeface="Wingdings" pitchFamily="2" charset="2"/>
              <a:buChar char="§"/>
            </a:pPr>
            <a:r>
              <a:rPr lang="fr-BE" dirty="0">
                <a:cs typeface="Times New Roman" pitchFamily="18" charset="0"/>
              </a:rPr>
              <a:t>Des </a:t>
            </a:r>
            <a:r>
              <a:rPr lang="fr-BE" b="1" dirty="0">
                <a:solidFill>
                  <a:srgbClr val="C00000"/>
                </a:solidFill>
                <a:cs typeface="Times New Roman" pitchFamily="18" charset="0"/>
              </a:rPr>
              <a:t>cotisations ONSS secteur chômage </a:t>
            </a:r>
            <a:r>
              <a:rPr lang="fr-BE" b="1" dirty="0">
                <a:cs typeface="Times New Roman" pitchFamily="18" charset="0"/>
              </a:rPr>
              <a:t>ont été prélevées</a:t>
            </a:r>
            <a:r>
              <a:rPr lang="fr-BE" dirty="0">
                <a:cs typeface="Times New Roman" pitchFamily="18" charset="0"/>
              </a:rPr>
              <a:t>.</a:t>
            </a:r>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31</a:t>
            </a:fld>
            <a:endParaRPr lang="fr-FR" dirty="0"/>
          </a:p>
        </p:txBody>
      </p:sp>
    </p:spTree>
    <p:extLst>
      <p:ext uri="{BB962C8B-B14F-4D97-AF65-F5344CB8AC3E}">
        <p14:creationId xmlns:p14="http://schemas.microsoft.com/office/powerpoint/2010/main" val="21811954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10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pPr algn="l"/>
            <a:r>
              <a:rPr lang="fr-BE" sz="4000" b="1" i="1" dirty="0">
                <a:cs typeface="Times New Roman" pitchFamily="18" charset="0"/>
              </a:rPr>
              <a:t>7. Jours assimilés – </a:t>
            </a:r>
            <a:r>
              <a:rPr lang="fr-BE" sz="4000" b="1" i="1" dirty="0">
                <a:solidFill>
                  <a:srgbClr val="C00000"/>
                </a:solidFill>
                <a:cs typeface="Times New Roman" pitchFamily="18" charset="0"/>
              </a:rPr>
              <a:t>Art. 38</a:t>
            </a:r>
            <a:endParaRPr lang="fr-FR" sz="4000" b="1" i="1" dirty="0">
              <a:solidFill>
                <a:srgbClr val="C00000"/>
              </a:solidFill>
              <a:latin typeface="Times New Roman" pitchFamily="18" charset="0"/>
              <a:cs typeface="Times New Roman" pitchFamily="18" charset="0"/>
            </a:endParaRPr>
          </a:p>
        </p:txBody>
      </p:sp>
      <p:sp>
        <p:nvSpPr>
          <p:cNvPr id="8" name="Espace réservé du contenu 7"/>
          <p:cNvSpPr>
            <a:spLocks noGrp="1"/>
          </p:cNvSpPr>
          <p:nvPr>
            <p:ph idx="1"/>
          </p:nvPr>
        </p:nvSpPr>
        <p:spPr/>
        <p:txBody>
          <a:bodyPr>
            <a:noAutofit/>
          </a:bodyPr>
          <a:lstStyle/>
          <a:p>
            <a:pPr marL="0" lvl="1" indent="0">
              <a:spcBef>
                <a:spcPts val="0"/>
              </a:spcBef>
              <a:buSzPct val="100000"/>
              <a:buNone/>
            </a:pPr>
            <a:endParaRPr lang="fr-BE" sz="3000" dirty="0">
              <a:cs typeface="Times New Roman" pitchFamily="18" charset="0"/>
            </a:endParaRPr>
          </a:p>
          <a:p>
            <a:pPr marL="0" lvl="1" indent="0">
              <a:spcBef>
                <a:spcPts val="0"/>
              </a:spcBef>
              <a:buSzPct val="100000"/>
              <a:buNone/>
            </a:pPr>
            <a:r>
              <a:rPr lang="fr-BE" sz="3000" dirty="0">
                <a:cs typeface="Times New Roman" pitchFamily="18" charset="0"/>
              </a:rPr>
              <a:t>Sont </a:t>
            </a:r>
            <a:r>
              <a:rPr lang="fr-BE" sz="3000" u="sng" dirty="0">
                <a:cs typeface="Times New Roman" pitchFamily="18" charset="0"/>
              </a:rPr>
              <a:t>assimilés</a:t>
            </a:r>
            <a:r>
              <a:rPr lang="fr-BE" sz="3000" dirty="0">
                <a:cs typeface="Times New Roman" pitchFamily="18" charset="0"/>
              </a:rPr>
              <a:t>, les jours : </a:t>
            </a:r>
          </a:p>
          <a:p>
            <a:pPr marL="0" lvl="1" indent="0">
              <a:spcBef>
                <a:spcPts val="0"/>
              </a:spcBef>
              <a:buSzPct val="100000"/>
              <a:buNone/>
            </a:pPr>
            <a:endParaRPr lang="fr-BE" sz="400" dirty="0">
              <a:cs typeface="Times New Roman" pitchFamily="18" charset="0"/>
            </a:endParaRPr>
          </a:p>
          <a:p>
            <a:pPr marL="0" lvl="1" indent="0">
              <a:spcBef>
                <a:spcPts val="0"/>
              </a:spcBef>
              <a:buSzPct val="100000"/>
              <a:buNone/>
            </a:pPr>
            <a:endParaRPr lang="fr-BE" sz="400" dirty="0">
              <a:cs typeface="Times New Roman" pitchFamily="18" charset="0"/>
            </a:endParaRPr>
          </a:p>
          <a:p>
            <a:pPr marL="0" lvl="1" indent="0">
              <a:spcBef>
                <a:spcPts val="0"/>
              </a:spcBef>
              <a:buSzPct val="100000"/>
              <a:buNone/>
            </a:pPr>
            <a:endParaRPr lang="fr-BE" sz="400" dirty="0">
              <a:cs typeface="Times New Roman" pitchFamily="18" charset="0"/>
            </a:endParaRPr>
          </a:p>
          <a:p>
            <a:pPr marL="0" lvl="1" indent="0">
              <a:spcBef>
                <a:spcPts val="0"/>
              </a:spcBef>
              <a:buSzPct val="100000"/>
              <a:buNone/>
            </a:pPr>
            <a:endParaRPr lang="fr-BE" sz="400" dirty="0">
              <a:cs typeface="Times New Roman" pitchFamily="18" charset="0"/>
            </a:endParaRPr>
          </a:p>
          <a:p>
            <a:pPr marL="0" lvl="1" indent="0">
              <a:spcBef>
                <a:spcPts val="0"/>
              </a:spcBef>
              <a:buSzPct val="100000"/>
              <a:buNone/>
            </a:pPr>
            <a:endParaRPr lang="fr-BE" sz="400" dirty="0">
              <a:cs typeface="Times New Roman" pitchFamily="18" charset="0"/>
            </a:endParaRPr>
          </a:p>
          <a:p>
            <a:pPr marL="0" lvl="1" indent="0">
              <a:spcBef>
                <a:spcPts val="0"/>
              </a:spcBef>
              <a:buSzPct val="100000"/>
              <a:buNone/>
            </a:pPr>
            <a:endParaRPr lang="fr-BE" sz="400" dirty="0">
              <a:cs typeface="Times New Roman" pitchFamily="18" charset="0"/>
            </a:endParaRPr>
          </a:p>
          <a:p>
            <a:pPr marL="0" lvl="1" indent="0">
              <a:spcBef>
                <a:spcPts val="0"/>
              </a:spcBef>
              <a:buSzPct val="100000"/>
              <a:buNone/>
            </a:pPr>
            <a:endParaRPr lang="fr-BE" sz="400" dirty="0">
              <a:cs typeface="Times New Roman" pitchFamily="18" charset="0"/>
            </a:endParaRPr>
          </a:p>
          <a:p>
            <a:pPr marL="342900" lvl="1" indent="-342900">
              <a:spcBef>
                <a:spcPts val="0"/>
              </a:spcBef>
              <a:buSzPct val="100000"/>
              <a:buFont typeface="Wingdings" pitchFamily="2" charset="2"/>
              <a:buChar char="§"/>
            </a:pPr>
            <a:r>
              <a:rPr lang="fr-BE" sz="3000" dirty="0">
                <a:cs typeface="Times New Roman" pitchFamily="18" charset="0"/>
              </a:rPr>
              <a:t>De </a:t>
            </a:r>
            <a:r>
              <a:rPr lang="fr-BE" sz="3000" b="1" dirty="0">
                <a:cs typeface="Times New Roman" pitchFamily="18" charset="0"/>
              </a:rPr>
              <a:t>vacances légales (code 2)</a:t>
            </a:r>
            <a:endParaRPr lang="fr-BE" sz="3000" dirty="0">
              <a:cs typeface="Times New Roman" pitchFamily="18" charset="0"/>
            </a:endParaRPr>
          </a:p>
          <a:p>
            <a:pPr marL="0" lvl="1" indent="0">
              <a:spcBef>
                <a:spcPts val="0"/>
              </a:spcBef>
              <a:buSzPct val="100000"/>
              <a:buNone/>
            </a:pPr>
            <a:endParaRPr lang="fr-BE" sz="400" dirty="0">
              <a:cs typeface="Times New Roman" pitchFamily="18" charset="0"/>
            </a:endParaRPr>
          </a:p>
          <a:p>
            <a:pPr marL="342900" lvl="1" indent="-342900">
              <a:spcBef>
                <a:spcPts val="0"/>
              </a:spcBef>
              <a:buSzPct val="100000"/>
              <a:buFont typeface="Wingdings" pitchFamily="2" charset="2"/>
              <a:buChar char="§"/>
            </a:pPr>
            <a:r>
              <a:rPr lang="fr-BE" sz="3000" dirty="0">
                <a:cs typeface="Times New Roman" pitchFamily="18" charset="0"/>
              </a:rPr>
              <a:t>Indemnisés en </a:t>
            </a:r>
            <a:r>
              <a:rPr lang="fr-BE" sz="3000" b="1" dirty="0">
                <a:cs typeface="Times New Roman" pitchFamily="18" charset="0"/>
              </a:rPr>
              <a:t>chômage temporaire (code 70, 71, 72, 76, 77)</a:t>
            </a:r>
          </a:p>
          <a:p>
            <a:pPr marL="342900" lvl="1" indent="-342900">
              <a:spcBef>
                <a:spcPts val="0"/>
              </a:spcBef>
              <a:buSzPct val="100000"/>
              <a:buFont typeface="Wingdings" pitchFamily="2" charset="2"/>
              <a:buChar char="§"/>
            </a:pPr>
            <a:r>
              <a:rPr lang="fr-BE" sz="3000" b="1" dirty="0">
                <a:solidFill>
                  <a:prstClr val="black"/>
                </a:solidFill>
                <a:cs typeface="Times New Roman" pitchFamily="18" charset="0"/>
              </a:rPr>
              <a:t>D’absences du travail sans maintien de la rémunération (code 30)</a:t>
            </a:r>
            <a:r>
              <a:rPr lang="fr-BE" sz="3000" dirty="0">
                <a:solidFill>
                  <a:prstClr val="black"/>
                </a:solidFill>
                <a:cs typeface="Times New Roman" pitchFamily="18" charset="0"/>
              </a:rPr>
              <a:t> : </a:t>
            </a:r>
            <a:r>
              <a:rPr lang="fr-BE" sz="3000" b="1" dirty="0">
                <a:solidFill>
                  <a:srgbClr val="C00000"/>
                </a:solidFill>
                <a:cs typeface="Times New Roman" pitchFamily="18" charset="0"/>
              </a:rPr>
              <a:t>Max. 12 jours R6 / année civile</a:t>
            </a:r>
            <a:endParaRPr lang="fr-BE" sz="3000" dirty="0">
              <a:solidFill>
                <a:prstClr val="black"/>
              </a:solidFill>
              <a:cs typeface="Times New Roman" pitchFamily="18" charset="0"/>
            </a:endParaRPr>
          </a:p>
          <a:p>
            <a:pPr marL="342900" lvl="1" indent="-342900">
              <a:spcBef>
                <a:spcPts val="0"/>
              </a:spcBef>
              <a:buSzPct val="100000"/>
              <a:buFont typeface="Wingdings" pitchFamily="2" charset="2"/>
              <a:buChar char="§"/>
            </a:pPr>
            <a:endParaRPr lang="fr-BE" sz="3000" dirty="0">
              <a:cs typeface="Times New Roman" pitchFamily="18" charset="0"/>
            </a:endParaRPr>
          </a:p>
          <a:p>
            <a:pPr marL="342900" lvl="1" indent="-342900">
              <a:spcBef>
                <a:spcPts val="0"/>
              </a:spcBef>
              <a:buSzPct val="100000"/>
              <a:buFont typeface="Wingdings" pitchFamily="2" charset="2"/>
              <a:buChar char="§"/>
            </a:pPr>
            <a:endParaRPr lang="fr-BE" sz="3000" dirty="0">
              <a:cs typeface="Times New Roman" pitchFamily="18" charset="0"/>
            </a:endParaRPr>
          </a:p>
          <a:p>
            <a:pPr marL="0" lvl="1" indent="0">
              <a:spcBef>
                <a:spcPts val="0"/>
              </a:spcBef>
              <a:buSzPct val="100000"/>
              <a:buNone/>
            </a:pPr>
            <a:endParaRPr lang="fr-BE" sz="400" dirty="0">
              <a:cs typeface="Times New Roman" pitchFamily="18" charset="0"/>
            </a:endParaRP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32</a:t>
            </a:fld>
            <a:endParaRPr lang="fr-FR" dirty="0"/>
          </a:p>
        </p:txBody>
      </p:sp>
    </p:spTree>
    <p:extLst>
      <p:ext uri="{BB962C8B-B14F-4D97-AF65-F5344CB8AC3E}">
        <p14:creationId xmlns:p14="http://schemas.microsoft.com/office/powerpoint/2010/main" val="3417342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9" end="9"/>
                                            </p:txEl>
                                          </p:spTgt>
                                        </p:tgtEl>
                                        <p:attrNameLst>
                                          <p:attrName>style.visibility</p:attrName>
                                        </p:attrNameLst>
                                      </p:cBhvr>
                                      <p:to>
                                        <p:strVal val="visible"/>
                                      </p:to>
                                    </p:set>
                                    <p:animEffect transition="in" filter="fade">
                                      <p:cBhvr>
                                        <p:cTn id="12" dur="1000"/>
                                        <p:tgtEl>
                                          <p:spTgt spid="8">
                                            <p:txEl>
                                              <p:pRg st="9" end="9"/>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xEl>
                                              <p:pRg st="11" end="11"/>
                                            </p:txEl>
                                          </p:spTgt>
                                        </p:tgtEl>
                                        <p:attrNameLst>
                                          <p:attrName>style.visibility</p:attrName>
                                        </p:attrNameLst>
                                      </p:cBhvr>
                                      <p:to>
                                        <p:strVal val="visible"/>
                                      </p:to>
                                    </p:set>
                                    <p:animEffect transition="in" filter="fade">
                                      <p:cBhvr>
                                        <p:cTn id="15" dur="1000"/>
                                        <p:tgtEl>
                                          <p:spTgt spid="8">
                                            <p:txEl>
                                              <p:pRg st="11" end="1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xEl>
                                              <p:pRg st="12" end="12"/>
                                            </p:txEl>
                                          </p:spTgt>
                                        </p:tgtEl>
                                        <p:attrNameLst>
                                          <p:attrName>style.visibility</p:attrName>
                                        </p:attrNameLst>
                                      </p:cBhvr>
                                      <p:to>
                                        <p:strVal val="visible"/>
                                      </p:to>
                                    </p:set>
                                    <p:animEffect transition="in" filter="fade">
                                      <p:cBhvr>
                                        <p:cTn id="18" dur="1000"/>
                                        <p:tgtEl>
                                          <p:spTgt spid="8">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73B91D48-4E5B-4ED5-9289-5AE95FA0C7B4}"/>
              </a:ext>
            </a:extLst>
          </p:cNvPr>
          <p:cNvSpPr>
            <a:spLocks noGrp="1"/>
          </p:cNvSpPr>
          <p:nvPr>
            <p:ph type="sldNum" sz="quarter" idx="12"/>
          </p:nvPr>
        </p:nvSpPr>
        <p:spPr/>
        <p:txBody>
          <a:bodyPr/>
          <a:lstStyle/>
          <a:p>
            <a:fld id="{55E9056B-6A30-4F99-BDE9-C450E66AE125}" type="slidenum">
              <a:rPr lang="fr-FR" smtClean="0"/>
              <a:pPr/>
              <a:t>33</a:t>
            </a:fld>
            <a:endParaRPr lang="fr-FR" dirty="0"/>
          </a:p>
        </p:txBody>
      </p:sp>
      <p:pic>
        <p:nvPicPr>
          <p:cNvPr id="5" name="Image 4">
            <a:extLst>
              <a:ext uri="{FF2B5EF4-FFF2-40B4-BE49-F238E27FC236}">
                <a16:creationId xmlns:a16="http://schemas.microsoft.com/office/drawing/2014/main" id="{349AFB72-A42C-412C-A8B7-13E6B8874DB1}"/>
              </a:ext>
            </a:extLst>
          </p:cNvPr>
          <p:cNvPicPr>
            <a:picLocks noChangeAspect="1"/>
          </p:cNvPicPr>
          <p:nvPr/>
        </p:nvPicPr>
        <p:blipFill rotWithShape="1">
          <a:blip r:embed="rId2"/>
          <a:srcRect l="23226" t="22001" r="24013" b="10800"/>
          <a:stretch/>
        </p:blipFill>
        <p:spPr>
          <a:xfrm>
            <a:off x="21997" y="0"/>
            <a:ext cx="9073006" cy="6769099"/>
          </a:xfrm>
          <a:prstGeom prst="rect">
            <a:avLst/>
          </a:prstGeom>
        </p:spPr>
      </p:pic>
    </p:spTree>
    <p:extLst>
      <p:ext uri="{BB962C8B-B14F-4D97-AF65-F5344CB8AC3E}">
        <p14:creationId xmlns:p14="http://schemas.microsoft.com/office/powerpoint/2010/main" val="1322648263"/>
      </p:ext>
    </p:extLst>
  </p:cSld>
  <p:clrMapOvr>
    <a:masterClrMapping/>
  </p:clrMapOvr>
  <p:transition>
    <p:dissolv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549FD354-DFD4-4713-AB47-41069311D335}"/>
              </a:ext>
            </a:extLst>
          </p:cNvPr>
          <p:cNvSpPr>
            <a:spLocks noGrp="1"/>
          </p:cNvSpPr>
          <p:nvPr>
            <p:ph type="sldNum" sz="quarter" idx="12"/>
          </p:nvPr>
        </p:nvSpPr>
        <p:spPr/>
        <p:txBody>
          <a:bodyPr/>
          <a:lstStyle/>
          <a:p>
            <a:fld id="{55E9056B-6A30-4F99-BDE9-C450E66AE125}" type="slidenum">
              <a:rPr lang="fr-FR" smtClean="0"/>
              <a:pPr/>
              <a:t>34</a:t>
            </a:fld>
            <a:endParaRPr lang="fr-FR" dirty="0"/>
          </a:p>
        </p:txBody>
      </p:sp>
      <p:pic>
        <p:nvPicPr>
          <p:cNvPr id="3" name="Image 2">
            <a:extLst>
              <a:ext uri="{FF2B5EF4-FFF2-40B4-BE49-F238E27FC236}">
                <a16:creationId xmlns:a16="http://schemas.microsoft.com/office/drawing/2014/main" id="{1E00BEB5-E963-49B5-B3E5-C3E897690889}"/>
              </a:ext>
            </a:extLst>
          </p:cNvPr>
          <p:cNvPicPr>
            <a:picLocks noChangeAspect="1"/>
          </p:cNvPicPr>
          <p:nvPr/>
        </p:nvPicPr>
        <p:blipFill rotWithShape="1">
          <a:blip r:embed="rId2"/>
          <a:srcRect l="24013" t="22001" r="24800" b="10800"/>
          <a:stretch/>
        </p:blipFill>
        <p:spPr>
          <a:xfrm>
            <a:off x="0" y="0"/>
            <a:ext cx="9144000" cy="6782241"/>
          </a:xfrm>
          <a:prstGeom prst="rect">
            <a:avLst/>
          </a:prstGeom>
        </p:spPr>
      </p:pic>
    </p:spTree>
    <p:extLst>
      <p:ext uri="{BB962C8B-B14F-4D97-AF65-F5344CB8AC3E}">
        <p14:creationId xmlns:p14="http://schemas.microsoft.com/office/powerpoint/2010/main" val="3635928019"/>
      </p:ext>
    </p:extLst>
  </p:cSld>
  <p:clrMapOvr>
    <a:masterClrMapping/>
  </p:clrMapOvr>
  <p:transition>
    <p:dissolv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pPr algn="l"/>
            <a:r>
              <a:rPr lang="fr-BE" sz="4000" b="1" i="1" dirty="0">
                <a:cs typeface="Times New Roman" pitchFamily="18" charset="0"/>
              </a:rPr>
              <a:t>8. La DMFA</a:t>
            </a:r>
            <a:endParaRPr lang="fr-FR" sz="4800" b="1" i="1" dirty="0">
              <a:cs typeface="Times New Roman" pitchFamily="18" charset="0"/>
            </a:endParaRPr>
          </a:p>
        </p:txBody>
      </p:sp>
      <p:sp>
        <p:nvSpPr>
          <p:cNvPr id="8" name="Espace réservé du contenu 7"/>
          <p:cNvSpPr>
            <a:spLocks noGrp="1"/>
          </p:cNvSpPr>
          <p:nvPr>
            <p:ph idx="1"/>
          </p:nvPr>
        </p:nvSpPr>
        <p:spPr/>
        <p:txBody>
          <a:bodyPr>
            <a:normAutofit fontScale="92500" lnSpcReduction="10000"/>
          </a:bodyPr>
          <a:lstStyle/>
          <a:p>
            <a:pPr>
              <a:lnSpc>
                <a:spcPct val="110000"/>
              </a:lnSpc>
              <a:spcBef>
                <a:spcPts val="0"/>
              </a:spcBef>
              <a:buSzPct val="100000"/>
              <a:buFont typeface="Wingdings" pitchFamily="2" charset="2"/>
              <a:buChar char="§"/>
            </a:pPr>
            <a:r>
              <a:rPr lang="fr-BE" dirty="0">
                <a:cs typeface="Times New Roman" pitchFamily="18" charset="0"/>
              </a:rPr>
              <a:t>Les journées de travail et assimilées sont déclarées par l’employeur via la </a:t>
            </a:r>
            <a:r>
              <a:rPr lang="fr-BE" b="1" dirty="0">
                <a:solidFill>
                  <a:srgbClr val="C00000"/>
                </a:solidFill>
                <a:cs typeface="Times New Roman" pitchFamily="18" charset="0"/>
              </a:rPr>
              <a:t>DMFA </a:t>
            </a:r>
            <a:r>
              <a:rPr lang="fr-BE" dirty="0">
                <a:cs typeface="Times New Roman" pitchFamily="18" charset="0"/>
              </a:rPr>
              <a:t>cf.</a:t>
            </a:r>
            <a:r>
              <a:rPr lang="fr-BE" dirty="0">
                <a:solidFill>
                  <a:srgbClr val="C00000"/>
                </a:solidFill>
                <a:cs typeface="Times New Roman" pitchFamily="18" charset="0"/>
              </a:rPr>
              <a:t> </a:t>
            </a:r>
            <a:r>
              <a:rPr lang="fr-BE" b="1" dirty="0">
                <a:solidFill>
                  <a:srgbClr val="C00000"/>
                </a:solidFill>
                <a:cs typeface="Times New Roman" pitchFamily="18" charset="0"/>
              </a:rPr>
              <a:t>flux A820</a:t>
            </a:r>
            <a:r>
              <a:rPr lang="fr-BE" dirty="0">
                <a:cs typeface="Times New Roman" pitchFamily="18" charset="0"/>
              </a:rPr>
              <a:t>.</a:t>
            </a:r>
            <a:r>
              <a:rPr lang="fr-BE" dirty="0">
                <a:cs typeface="Times New Roman" pitchFamily="18" charset="0"/>
                <a:sym typeface="Wingdings" pitchFamily="2" charset="2"/>
              </a:rPr>
              <a:t> </a:t>
            </a:r>
            <a:r>
              <a:rPr lang="fr-BE" sz="2600" dirty="0">
                <a:cs typeface="Times New Roman" pitchFamily="18" charset="0"/>
                <a:sym typeface="Wingdings" pitchFamily="2" charset="2"/>
              </a:rPr>
              <a:t></a:t>
            </a:r>
            <a:r>
              <a:rPr lang="fr-BE" dirty="0">
                <a:cs typeface="Times New Roman" pitchFamily="18" charset="0"/>
                <a:sym typeface="Wingdings" pitchFamily="2" charset="2"/>
              </a:rPr>
              <a:t> </a:t>
            </a:r>
            <a:r>
              <a:rPr lang="fr-BE" dirty="0">
                <a:cs typeface="Times New Roman" pitchFamily="18" charset="0"/>
              </a:rPr>
              <a:t>C’est le « point d’échange » entre les employeurs et la sécurité sociale !</a:t>
            </a:r>
          </a:p>
          <a:p>
            <a:pPr marL="352425" indent="0">
              <a:lnSpc>
                <a:spcPct val="110000"/>
              </a:lnSpc>
              <a:spcBef>
                <a:spcPts val="0"/>
              </a:spcBef>
              <a:buSzPct val="100000"/>
              <a:buNone/>
            </a:pPr>
            <a:r>
              <a:rPr lang="fr-BE" b="1" dirty="0">
                <a:solidFill>
                  <a:srgbClr val="C00000"/>
                </a:solidFill>
                <a:cs typeface="Times New Roman" pitchFamily="18" charset="0"/>
              </a:rPr>
              <a:t>DMFA</a:t>
            </a:r>
            <a:r>
              <a:rPr lang="fr-BE" b="1" dirty="0">
                <a:solidFill>
                  <a:srgbClr val="FF0000"/>
                </a:solidFill>
                <a:cs typeface="Times New Roman" pitchFamily="18" charset="0"/>
              </a:rPr>
              <a:t> </a:t>
            </a:r>
            <a:r>
              <a:rPr lang="fr-BE" b="1" dirty="0">
                <a:cs typeface="Times New Roman" pitchFamily="18" charset="0"/>
              </a:rPr>
              <a:t>=</a:t>
            </a:r>
            <a:r>
              <a:rPr lang="fr-BE" b="1" dirty="0">
                <a:solidFill>
                  <a:srgbClr val="FF0000"/>
                </a:solidFill>
                <a:cs typeface="Times New Roman" pitchFamily="18" charset="0"/>
              </a:rPr>
              <a:t> </a:t>
            </a:r>
            <a:r>
              <a:rPr lang="fr-BE" b="1" dirty="0">
                <a:solidFill>
                  <a:srgbClr val="C00000"/>
                </a:solidFill>
                <a:cs typeface="Times New Roman" pitchFamily="18" charset="0"/>
              </a:rPr>
              <a:t>D</a:t>
            </a:r>
            <a:r>
              <a:rPr lang="fr-BE" dirty="0">
                <a:cs typeface="Times New Roman" pitchFamily="18" charset="0"/>
              </a:rPr>
              <a:t>éclaration </a:t>
            </a:r>
            <a:r>
              <a:rPr lang="fr-BE" b="1" dirty="0">
                <a:solidFill>
                  <a:srgbClr val="C00000"/>
                </a:solidFill>
                <a:cs typeface="Times New Roman" pitchFamily="18" charset="0"/>
              </a:rPr>
              <a:t>M</a:t>
            </a:r>
            <a:r>
              <a:rPr lang="fr-BE" dirty="0">
                <a:cs typeface="Times New Roman" pitchFamily="18" charset="0"/>
              </a:rPr>
              <a:t>ulti </a:t>
            </a:r>
            <a:r>
              <a:rPr lang="fr-BE" b="1" dirty="0">
                <a:solidFill>
                  <a:srgbClr val="C00000"/>
                </a:solidFill>
                <a:cs typeface="Times New Roman" pitchFamily="18" charset="0"/>
              </a:rPr>
              <a:t>F</a:t>
            </a:r>
            <a:r>
              <a:rPr lang="fr-BE" dirty="0">
                <a:cs typeface="Times New Roman" pitchFamily="18" charset="0"/>
              </a:rPr>
              <a:t>onctionnelle – </a:t>
            </a:r>
            <a:r>
              <a:rPr lang="fr-BE" b="1" dirty="0">
                <a:solidFill>
                  <a:srgbClr val="C00000"/>
                </a:solidFill>
                <a:cs typeface="Times New Roman" pitchFamily="18" charset="0"/>
              </a:rPr>
              <a:t>M</a:t>
            </a:r>
            <a:r>
              <a:rPr lang="fr-BE" dirty="0">
                <a:cs typeface="Times New Roman" pitchFamily="18" charset="0"/>
              </a:rPr>
              <a:t>ulti </a:t>
            </a:r>
            <a:r>
              <a:rPr lang="fr-BE" b="1" dirty="0">
                <a:solidFill>
                  <a:srgbClr val="C00000"/>
                </a:solidFill>
                <a:cs typeface="Times New Roman" pitchFamily="18" charset="0"/>
              </a:rPr>
              <a:t>F</a:t>
            </a:r>
            <a:r>
              <a:rPr lang="fr-BE" dirty="0">
                <a:cs typeface="Times New Roman" pitchFamily="18" charset="0"/>
              </a:rPr>
              <a:t>unctionele </a:t>
            </a:r>
            <a:r>
              <a:rPr lang="fr-BE" b="1" dirty="0">
                <a:solidFill>
                  <a:srgbClr val="C00000"/>
                </a:solidFill>
                <a:cs typeface="Times New Roman" pitchFamily="18" charset="0"/>
              </a:rPr>
              <a:t>A</a:t>
            </a:r>
            <a:r>
              <a:rPr lang="fr-BE" dirty="0">
                <a:cs typeface="Times New Roman" pitchFamily="18" charset="0"/>
              </a:rPr>
              <a:t>angifte.</a:t>
            </a:r>
          </a:p>
          <a:p>
            <a:pPr marL="352425" indent="0">
              <a:lnSpc>
                <a:spcPct val="110000"/>
              </a:lnSpc>
              <a:spcBef>
                <a:spcPts val="0"/>
              </a:spcBef>
              <a:buSzPct val="100000"/>
              <a:buNone/>
            </a:pPr>
            <a:endParaRPr lang="fr-BE" sz="1300" dirty="0">
              <a:cs typeface="Times New Roman" pitchFamily="18" charset="0"/>
            </a:endParaRPr>
          </a:p>
          <a:p>
            <a:pPr>
              <a:lnSpc>
                <a:spcPct val="110000"/>
              </a:lnSpc>
              <a:spcBef>
                <a:spcPts val="0"/>
              </a:spcBef>
              <a:buSzPct val="100000"/>
              <a:buFont typeface="Wingdings" pitchFamily="2" charset="2"/>
              <a:buChar char="§"/>
            </a:pPr>
            <a:r>
              <a:rPr lang="fr-BE" dirty="0">
                <a:cs typeface="Times New Roman" pitchFamily="18" charset="0"/>
              </a:rPr>
              <a:t>Il s’agit d’une déclaration électronique obligatoire depuis le 01.01.2003. Celle-ci est effectuée chaque trimestre par l’employeur à l’ONSS.</a:t>
            </a:r>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35</a:t>
            </a:fld>
            <a:endParaRPr lang="fr-FR" dirty="0"/>
          </a:p>
        </p:txBody>
      </p:sp>
    </p:spTree>
    <p:extLst>
      <p:ext uri="{BB962C8B-B14F-4D97-AF65-F5344CB8AC3E}">
        <p14:creationId xmlns:p14="http://schemas.microsoft.com/office/powerpoint/2010/main" val="24822092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10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10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B42B2C47-FC99-40D2-B1DA-3449FDC51906}"/>
              </a:ext>
            </a:extLst>
          </p:cNvPr>
          <p:cNvSpPr>
            <a:spLocks noGrp="1"/>
          </p:cNvSpPr>
          <p:nvPr>
            <p:ph type="sldNum" sz="quarter" idx="12"/>
          </p:nvPr>
        </p:nvSpPr>
        <p:spPr/>
        <p:txBody>
          <a:bodyPr/>
          <a:lstStyle/>
          <a:p>
            <a:fld id="{55E9056B-6A30-4F99-BDE9-C450E66AE125}" type="slidenum">
              <a:rPr lang="fr-FR" smtClean="0"/>
              <a:pPr/>
              <a:t>36</a:t>
            </a:fld>
            <a:endParaRPr lang="fr-FR" dirty="0"/>
          </a:p>
        </p:txBody>
      </p:sp>
      <p:pic>
        <p:nvPicPr>
          <p:cNvPr id="5" name="Image 4">
            <a:extLst>
              <a:ext uri="{FF2B5EF4-FFF2-40B4-BE49-F238E27FC236}">
                <a16:creationId xmlns:a16="http://schemas.microsoft.com/office/drawing/2014/main" id="{C0FC93D8-CDBF-47D5-9DD7-DDEA4336CDC3}"/>
              </a:ext>
            </a:extLst>
          </p:cNvPr>
          <p:cNvPicPr>
            <a:picLocks noChangeAspect="1"/>
          </p:cNvPicPr>
          <p:nvPr/>
        </p:nvPicPr>
        <p:blipFill rotWithShape="1">
          <a:blip r:embed="rId3"/>
          <a:srcRect t="11313" b="9496"/>
          <a:stretch/>
        </p:blipFill>
        <p:spPr>
          <a:xfrm>
            <a:off x="-17904" y="0"/>
            <a:ext cx="9144000" cy="6858000"/>
          </a:xfrm>
          <a:prstGeom prst="rect">
            <a:avLst/>
          </a:prstGeom>
        </p:spPr>
      </p:pic>
      <p:sp>
        <p:nvSpPr>
          <p:cNvPr id="6" name="Rectangle 5">
            <a:extLst>
              <a:ext uri="{FF2B5EF4-FFF2-40B4-BE49-F238E27FC236}">
                <a16:creationId xmlns:a16="http://schemas.microsoft.com/office/drawing/2014/main" id="{1EF5D8C5-7480-4AA8-980D-3665E731B49B}"/>
              </a:ext>
            </a:extLst>
          </p:cNvPr>
          <p:cNvSpPr/>
          <p:nvPr/>
        </p:nvSpPr>
        <p:spPr>
          <a:xfrm>
            <a:off x="4644008" y="0"/>
            <a:ext cx="216024" cy="18864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7" name="Rectangle 6">
            <a:extLst>
              <a:ext uri="{FF2B5EF4-FFF2-40B4-BE49-F238E27FC236}">
                <a16:creationId xmlns:a16="http://schemas.microsoft.com/office/drawing/2014/main" id="{99F405F2-2142-4C7F-993E-4329C620CE90}"/>
              </a:ext>
            </a:extLst>
          </p:cNvPr>
          <p:cNvSpPr/>
          <p:nvPr/>
        </p:nvSpPr>
        <p:spPr>
          <a:xfrm>
            <a:off x="35496" y="476672"/>
            <a:ext cx="1080120" cy="8640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8" name="Rectangle 7">
            <a:extLst>
              <a:ext uri="{FF2B5EF4-FFF2-40B4-BE49-F238E27FC236}">
                <a16:creationId xmlns:a16="http://schemas.microsoft.com/office/drawing/2014/main" id="{FC7863A8-6D93-4265-B984-2CBC0E2F7A83}"/>
              </a:ext>
            </a:extLst>
          </p:cNvPr>
          <p:cNvSpPr/>
          <p:nvPr/>
        </p:nvSpPr>
        <p:spPr>
          <a:xfrm>
            <a:off x="1331640" y="548680"/>
            <a:ext cx="7704856" cy="8640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9" name="Rectangle 8">
            <a:extLst>
              <a:ext uri="{FF2B5EF4-FFF2-40B4-BE49-F238E27FC236}">
                <a16:creationId xmlns:a16="http://schemas.microsoft.com/office/drawing/2014/main" id="{8B89024E-B172-468B-B52A-11876410CD9A}"/>
              </a:ext>
            </a:extLst>
          </p:cNvPr>
          <p:cNvSpPr/>
          <p:nvPr/>
        </p:nvSpPr>
        <p:spPr>
          <a:xfrm>
            <a:off x="1259632" y="2060848"/>
            <a:ext cx="7776864" cy="28803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0" name="Flèche : bas 9">
            <a:extLst>
              <a:ext uri="{FF2B5EF4-FFF2-40B4-BE49-F238E27FC236}">
                <a16:creationId xmlns:a16="http://schemas.microsoft.com/office/drawing/2014/main" id="{C398B316-02C4-4E8A-B57B-39ADF45541F9}"/>
              </a:ext>
            </a:extLst>
          </p:cNvPr>
          <p:cNvSpPr/>
          <p:nvPr/>
        </p:nvSpPr>
        <p:spPr>
          <a:xfrm>
            <a:off x="4644008" y="1412776"/>
            <a:ext cx="432048" cy="648072"/>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1" name="ZoneTexte 10">
            <a:extLst>
              <a:ext uri="{FF2B5EF4-FFF2-40B4-BE49-F238E27FC236}">
                <a16:creationId xmlns:a16="http://schemas.microsoft.com/office/drawing/2014/main" id="{83E0A55A-2D81-4A44-A792-601E1DE3C881}"/>
              </a:ext>
            </a:extLst>
          </p:cNvPr>
          <p:cNvSpPr txBox="1"/>
          <p:nvPr/>
        </p:nvSpPr>
        <p:spPr>
          <a:xfrm>
            <a:off x="5148064" y="1550266"/>
            <a:ext cx="1080120" cy="369332"/>
          </a:xfrm>
          <a:prstGeom prst="rect">
            <a:avLst/>
          </a:prstGeom>
          <a:noFill/>
        </p:spPr>
        <p:txBody>
          <a:bodyPr wrap="square" rtlCol="0">
            <a:spAutoFit/>
          </a:bodyPr>
          <a:lstStyle/>
          <a:p>
            <a:r>
              <a:rPr lang="fr-BE" dirty="0">
                <a:solidFill>
                  <a:srgbClr val="FF0000"/>
                </a:solidFill>
              </a:rPr>
              <a:t>RÉSUMÉ</a:t>
            </a:r>
            <a:r>
              <a:rPr lang="fr-BE" dirty="0"/>
              <a:t> </a:t>
            </a:r>
          </a:p>
        </p:txBody>
      </p:sp>
      <p:sp>
        <p:nvSpPr>
          <p:cNvPr id="12" name="Rectangle 11">
            <a:extLst>
              <a:ext uri="{FF2B5EF4-FFF2-40B4-BE49-F238E27FC236}">
                <a16:creationId xmlns:a16="http://schemas.microsoft.com/office/drawing/2014/main" id="{7FAD5516-E859-4B87-B58E-7C4772D48933}"/>
              </a:ext>
            </a:extLst>
          </p:cNvPr>
          <p:cNvSpPr/>
          <p:nvPr/>
        </p:nvSpPr>
        <p:spPr>
          <a:xfrm>
            <a:off x="1331640" y="548680"/>
            <a:ext cx="1512168" cy="43204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3" name="Rectangle 12">
            <a:extLst>
              <a:ext uri="{FF2B5EF4-FFF2-40B4-BE49-F238E27FC236}">
                <a16:creationId xmlns:a16="http://schemas.microsoft.com/office/drawing/2014/main" id="{934D0548-8A38-4861-9EE0-0E2AFBA7CF20}"/>
              </a:ext>
            </a:extLst>
          </p:cNvPr>
          <p:cNvSpPr/>
          <p:nvPr/>
        </p:nvSpPr>
        <p:spPr>
          <a:xfrm>
            <a:off x="2843808" y="548680"/>
            <a:ext cx="1152128" cy="43204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4" name="Rectangle 13">
            <a:extLst>
              <a:ext uri="{FF2B5EF4-FFF2-40B4-BE49-F238E27FC236}">
                <a16:creationId xmlns:a16="http://schemas.microsoft.com/office/drawing/2014/main" id="{A716351F-91AA-4FDE-8873-EE7C0F81CC80}"/>
              </a:ext>
            </a:extLst>
          </p:cNvPr>
          <p:cNvSpPr/>
          <p:nvPr/>
        </p:nvSpPr>
        <p:spPr>
          <a:xfrm>
            <a:off x="4019654" y="548680"/>
            <a:ext cx="2280538" cy="43204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5" name="Rectangle 14">
            <a:extLst>
              <a:ext uri="{FF2B5EF4-FFF2-40B4-BE49-F238E27FC236}">
                <a16:creationId xmlns:a16="http://schemas.microsoft.com/office/drawing/2014/main" id="{F3F9A7AA-6DED-471D-9F5F-0E9E1F6EBD02}"/>
              </a:ext>
            </a:extLst>
          </p:cNvPr>
          <p:cNvSpPr/>
          <p:nvPr/>
        </p:nvSpPr>
        <p:spPr>
          <a:xfrm>
            <a:off x="6323801" y="548680"/>
            <a:ext cx="1128519" cy="43204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6" name="Rectangle 15">
            <a:extLst>
              <a:ext uri="{FF2B5EF4-FFF2-40B4-BE49-F238E27FC236}">
                <a16:creationId xmlns:a16="http://schemas.microsoft.com/office/drawing/2014/main" id="{868DA957-BAAC-46F4-A9D2-8297177C5A26}"/>
              </a:ext>
            </a:extLst>
          </p:cNvPr>
          <p:cNvSpPr/>
          <p:nvPr/>
        </p:nvSpPr>
        <p:spPr>
          <a:xfrm>
            <a:off x="7475929" y="548680"/>
            <a:ext cx="1535886" cy="43204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3" name="Rectangle 2">
            <a:extLst>
              <a:ext uri="{FF2B5EF4-FFF2-40B4-BE49-F238E27FC236}">
                <a16:creationId xmlns:a16="http://schemas.microsoft.com/office/drawing/2014/main" id="{EFF917F9-DE44-4C91-B2DE-332265A279F9}"/>
              </a:ext>
            </a:extLst>
          </p:cNvPr>
          <p:cNvSpPr/>
          <p:nvPr/>
        </p:nvSpPr>
        <p:spPr>
          <a:xfrm>
            <a:off x="2411760" y="2060848"/>
            <a:ext cx="1080120" cy="287656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7" name="Rectangle 16">
            <a:extLst>
              <a:ext uri="{FF2B5EF4-FFF2-40B4-BE49-F238E27FC236}">
                <a16:creationId xmlns:a16="http://schemas.microsoft.com/office/drawing/2014/main" id="{96146A29-F734-49FC-A895-15267234518C}"/>
              </a:ext>
            </a:extLst>
          </p:cNvPr>
          <p:cNvSpPr/>
          <p:nvPr/>
        </p:nvSpPr>
        <p:spPr>
          <a:xfrm>
            <a:off x="3491880" y="2094086"/>
            <a:ext cx="1152128" cy="285084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8" name="Rectangle 17">
            <a:extLst>
              <a:ext uri="{FF2B5EF4-FFF2-40B4-BE49-F238E27FC236}">
                <a16:creationId xmlns:a16="http://schemas.microsoft.com/office/drawing/2014/main" id="{B468894C-1581-4E33-8942-CE1526193D45}"/>
              </a:ext>
            </a:extLst>
          </p:cNvPr>
          <p:cNvSpPr/>
          <p:nvPr/>
        </p:nvSpPr>
        <p:spPr>
          <a:xfrm>
            <a:off x="4644008" y="2060848"/>
            <a:ext cx="1080120" cy="287656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9" name="Rectangle 18">
            <a:extLst>
              <a:ext uri="{FF2B5EF4-FFF2-40B4-BE49-F238E27FC236}">
                <a16:creationId xmlns:a16="http://schemas.microsoft.com/office/drawing/2014/main" id="{0012FB76-8FC3-4569-A67F-F401C7B194A0}"/>
              </a:ext>
            </a:extLst>
          </p:cNvPr>
          <p:cNvSpPr/>
          <p:nvPr/>
        </p:nvSpPr>
        <p:spPr>
          <a:xfrm>
            <a:off x="5724128" y="2057088"/>
            <a:ext cx="1080120" cy="288408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20" name="Rectangle 19">
            <a:extLst>
              <a:ext uri="{FF2B5EF4-FFF2-40B4-BE49-F238E27FC236}">
                <a16:creationId xmlns:a16="http://schemas.microsoft.com/office/drawing/2014/main" id="{B9E69E33-78D9-4ED4-BEB4-E2CEABD8F1DC}"/>
              </a:ext>
            </a:extLst>
          </p:cNvPr>
          <p:cNvSpPr/>
          <p:nvPr/>
        </p:nvSpPr>
        <p:spPr>
          <a:xfrm>
            <a:off x="6804248" y="2057088"/>
            <a:ext cx="2207567" cy="28803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21" name="Rectangle 20">
            <a:extLst>
              <a:ext uri="{FF2B5EF4-FFF2-40B4-BE49-F238E27FC236}">
                <a16:creationId xmlns:a16="http://schemas.microsoft.com/office/drawing/2014/main" id="{3C7F7CF2-F973-4E86-A6B0-81DC0E0BF8B1}"/>
              </a:ext>
            </a:extLst>
          </p:cNvPr>
          <p:cNvSpPr/>
          <p:nvPr/>
        </p:nvSpPr>
        <p:spPr>
          <a:xfrm>
            <a:off x="1284313" y="2057088"/>
            <a:ext cx="1127447" cy="28803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Tree>
    <p:extLst>
      <p:ext uri="{BB962C8B-B14F-4D97-AF65-F5344CB8AC3E}">
        <p14:creationId xmlns:p14="http://schemas.microsoft.com/office/powerpoint/2010/main" val="639106772"/>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up)">
                                      <p:cBhvr>
                                        <p:cTn id="13" dur="1000"/>
                                        <p:tgtEl>
                                          <p:spTgt spid="8"/>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10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par>
                                <p:cTn id="18" presetID="22" presetClass="entr" presetSubtype="8" fill="hold" grpId="0" nodeType="withEffect">
                                  <p:stCondLst>
                                    <p:cond delay="0"/>
                                  </p:stCondLst>
                                  <p:iterate type="lt">
                                    <p:tmPct val="10000"/>
                                  </p:iterate>
                                  <p:childTnLst>
                                    <p:set>
                                      <p:cBhvr>
                                        <p:cTn id="19" dur="1" fill="hold">
                                          <p:stCondLst>
                                            <p:cond delay="0"/>
                                          </p:stCondLst>
                                        </p:cTn>
                                        <p:tgtEl>
                                          <p:spTgt spid="11"/>
                                        </p:tgtEl>
                                        <p:attrNameLst>
                                          <p:attrName>style.visibility</p:attrName>
                                        </p:attrNameLst>
                                      </p:cBhvr>
                                      <p:to>
                                        <p:strVal val="visible"/>
                                      </p:to>
                                    </p:set>
                                    <p:animEffect transition="in" filter="wipe(left)">
                                      <p:cBhvr>
                                        <p:cTn id="20" dur="10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par>
                                <p:cTn id="21" presetID="22" presetClass="entr" presetSubtype="1"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up)">
                                      <p:cBhvr>
                                        <p:cTn id="23" dur="10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p:bldP spid="12" grpId="0" animBg="1"/>
      <p:bldP spid="13" grpId="0" animBg="1"/>
      <p:bldP spid="14" grpId="0" animBg="1"/>
      <p:bldP spid="15" grpId="0" animBg="1"/>
      <p:bldP spid="16" grpId="0" animBg="1"/>
      <p:bldP spid="3" grpId="0" animBg="1"/>
      <p:bldP spid="17" grpId="0" animBg="1"/>
      <p:bldP spid="18" grpId="0" animBg="1"/>
      <p:bldP spid="19" grpId="0" animBg="1"/>
      <p:bldP spid="20" grpId="0" animBg="1"/>
      <p:bldP spid="2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C0E1F4CD-ECE2-4D39-95D3-9C672E740362}"/>
              </a:ext>
            </a:extLst>
          </p:cNvPr>
          <p:cNvSpPr>
            <a:spLocks noGrp="1"/>
          </p:cNvSpPr>
          <p:nvPr>
            <p:ph type="title"/>
          </p:nvPr>
        </p:nvSpPr>
        <p:spPr/>
        <p:txBody>
          <a:bodyPr>
            <a:normAutofit/>
          </a:bodyPr>
          <a:lstStyle/>
          <a:p>
            <a:r>
              <a:rPr lang="fr-BE" sz="4000" dirty="0"/>
              <a:t>DMFA</a:t>
            </a:r>
          </a:p>
        </p:txBody>
      </p:sp>
      <p:sp>
        <p:nvSpPr>
          <p:cNvPr id="2" name="Espace réservé du numéro de diapositive 1">
            <a:extLst>
              <a:ext uri="{FF2B5EF4-FFF2-40B4-BE49-F238E27FC236}">
                <a16:creationId xmlns:a16="http://schemas.microsoft.com/office/drawing/2014/main" id="{475313EF-42B1-4DF6-AD86-357411D98A91}"/>
              </a:ext>
            </a:extLst>
          </p:cNvPr>
          <p:cNvSpPr>
            <a:spLocks noGrp="1"/>
          </p:cNvSpPr>
          <p:nvPr>
            <p:ph type="sldNum" sz="quarter" idx="12"/>
          </p:nvPr>
        </p:nvSpPr>
        <p:spPr/>
        <p:txBody>
          <a:bodyPr/>
          <a:lstStyle/>
          <a:p>
            <a:fld id="{55E9056B-6A30-4F99-BDE9-C450E66AE125}" type="slidenum">
              <a:rPr lang="fr-FR" smtClean="0"/>
              <a:pPr/>
              <a:t>37</a:t>
            </a:fld>
            <a:endParaRPr lang="fr-FR" dirty="0"/>
          </a:p>
        </p:txBody>
      </p:sp>
      <p:sp>
        <p:nvSpPr>
          <p:cNvPr id="5" name="Rectangle 4">
            <a:extLst>
              <a:ext uri="{FF2B5EF4-FFF2-40B4-BE49-F238E27FC236}">
                <a16:creationId xmlns:a16="http://schemas.microsoft.com/office/drawing/2014/main" id="{4519A5D7-FC54-4ED7-A520-AB2F29F95CBA}"/>
              </a:ext>
            </a:extLst>
          </p:cNvPr>
          <p:cNvSpPr/>
          <p:nvPr/>
        </p:nvSpPr>
        <p:spPr>
          <a:xfrm>
            <a:off x="683568" y="3501008"/>
            <a:ext cx="1224136" cy="720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Statut du flux</a:t>
            </a:r>
          </a:p>
        </p:txBody>
      </p:sp>
      <p:cxnSp>
        <p:nvCxnSpPr>
          <p:cNvPr id="7" name="Connecteur droit avec flèche 6">
            <a:extLst>
              <a:ext uri="{FF2B5EF4-FFF2-40B4-BE49-F238E27FC236}">
                <a16:creationId xmlns:a16="http://schemas.microsoft.com/office/drawing/2014/main" id="{11756995-58C6-4F3A-8646-9B7081A95E2B}"/>
              </a:ext>
            </a:extLst>
          </p:cNvPr>
          <p:cNvCxnSpPr>
            <a:cxnSpLocks/>
          </p:cNvCxnSpPr>
          <p:nvPr/>
        </p:nvCxnSpPr>
        <p:spPr>
          <a:xfrm>
            <a:off x="1907704" y="3839344"/>
            <a:ext cx="914400" cy="117383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8373AEF7-92C5-492B-A6BF-700FB350E7EF}"/>
              </a:ext>
            </a:extLst>
          </p:cNvPr>
          <p:cNvCxnSpPr>
            <a:cxnSpLocks/>
          </p:cNvCxnSpPr>
          <p:nvPr/>
        </p:nvCxnSpPr>
        <p:spPr>
          <a:xfrm flipV="1">
            <a:off x="1907352" y="2708920"/>
            <a:ext cx="914752" cy="114560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D9C2241-0005-4AB4-B57C-2747590340D4}"/>
              </a:ext>
            </a:extLst>
          </p:cNvPr>
          <p:cNvSpPr/>
          <p:nvPr/>
        </p:nvSpPr>
        <p:spPr>
          <a:xfrm>
            <a:off x="2915816" y="2492896"/>
            <a:ext cx="1080120" cy="4320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MOT</a:t>
            </a:r>
          </a:p>
        </p:txBody>
      </p:sp>
      <p:sp>
        <p:nvSpPr>
          <p:cNvPr id="19" name="Rectangle 18">
            <a:extLst>
              <a:ext uri="{FF2B5EF4-FFF2-40B4-BE49-F238E27FC236}">
                <a16:creationId xmlns:a16="http://schemas.microsoft.com/office/drawing/2014/main" id="{EBDB0D48-D6E6-48B3-A0FC-E785ECA9C988}"/>
              </a:ext>
            </a:extLst>
          </p:cNvPr>
          <p:cNvSpPr/>
          <p:nvPr/>
        </p:nvSpPr>
        <p:spPr>
          <a:xfrm>
            <a:off x="2915816" y="4797152"/>
            <a:ext cx="1080120" cy="4320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COULEUR</a:t>
            </a:r>
          </a:p>
        </p:txBody>
      </p:sp>
      <p:sp>
        <p:nvSpPr>
          <p:cNvPr id="20" name="Accolade ouvrante 19">
            <a:extLst>
              <a:ext uri="{FF2B5EF4-FFF2-40B4-BE49-F238E27FC236}">
                <a16:creationId xmlns:a16="http://schemas.microsoft.com/office/drawing/2014/main" id="{094CF9E5-689A-4A56-8A48-C8146CDF2B21}"/>
              </a:ext>
            </a:extLst>
          </p:cNvPr>
          <p:cNvSpPr/>
          <p:nvPr/>
        </p:nvSpPr>
        <p:spPr>
          <a:xfrm>
            <a:off x="4078288" y="1268759"/>
            <a:ext cx="288032" cy="2434855"/>
          </a:xfrm>
          <a:prstGeom prst="leftBrace">
            <a:avLst>
              <a:gd name="adj1" fmla="val 15874"/>
              <a:gd name="adj2" fmla="val 5845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BE" dirty="0"/>
          </a:p>
        </p:txBody>
      </p:sp>
      <p:sp>
        <p:nvSpPr>
          <p:cNvPr id="21" name="Accolade ouvrante 20">
            <a:extLst>
              <a:ext uri="{FF2B5EF4-FFF2-40B4-BE49-F238E27FC236}">
                <a16:creationId xmlns:a16="http://schemas.microsoft.com/office/drawing/2014/main" id="{24A4240E-64D4-44E7-851C-A5F9E9598E5B}"/>
              </a:ext>
            </a:extLst>
          </p:cNvPr>
          <p:cNvSpPr/>
          <p:nvPr/>
        </p:nvSpPr>
        <p:spPr>
          <a:xfrm>
            <a:off x="4055408" y="3933056"/>
            <a:ext cx="288032" cy="1944216"/>
          </a:xfrm>
          <a:prstGeom prst="leftBrace">
            <a:avLst>
              <a:gd name="adj1" fmla="val 8333"/>
              <a:gd name="adj2" fmla="val 55095"/>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BE" dirty="0"/>
          </a:p>
        </p:txBody>
      </p:sp>
      <p:sp>
        <p:nvSpPr>
          <p:cNvPr id="23" name="Rectangle 22">
            <a:extLst>
              <a:ext uri="{FF2B5EF4-FFF2-40B4-BE49-F238E27FC236}">
                <a16:creationId xmlns:a16="http://schemas.microsoft.com/office/drawing/2014/main" id="{74AE6126-0590-4202-B450-ECA1A1C84FB8}"/>
              </a:ext>
            </a:extLst>
          </p:cNvPr>
          <p:cNvSpPr/>
          <p:nvPr/>
        </p:nvSpPr>
        <p:spPr>
          <a:xfrm>
            <a:off x="4351824" y="1322114"/>
            <a:ext cx="1596712" cy="383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INCOMPLETE</a:t>
            </a:r>
          </a:p>
        </p:txBody>
      </p:sp>
      <p:sp>
        <p:nvSpPr>
          <p:cNvPr id="24" name="Rectangle 23">
            <a:extLst>
              <a:ext uri="{FF2B5EF4-FFF2-40B4-BE49-F238E27FC236}">
                <a16:creationId xmlns:a16="http://schemas.microsoft.com/office/drawing/2014/main" id="{6A433A09-16AC-4543-A46E-CA49E394ECD3}"/>
              </a:ext>
            </a:extLst>
          </p:cNvPr>
          <p:cNvSpPr/>
          <p:nvPr/>
        </p:nvSpPr>
        <p:spPr>
          <a:xfrm>
            <a:off x="4343440" y="1780765"/>
            <a:ext cx="1596712" cy="383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OK</a:t>
            </a:r>
          </a:p>
        </p:txBody>
      </p:sp>
      <p:sp>
        <p:nvSpPr>
          <p:cNvPr id="25" name="Rectangle 24">
            <a:extLst>
              <a:ext uri="{FF2B5EF4-FFF2-40B4-BE49-F238E27FC236}">
                <a16:creationId xmlns:a16="http://schemas.microsoft.com/office/drawing/2014/main" id="{93DB25C8-1B0C-4880-9475-F2DDCD80E01A}"/>
              </a:ext>
            </a:extLst>
          </p:cNvPr>
          <p:cNvSpPr/>
          <p:nvPr/>
        </p:nvSpPr>
        <p:spPr>
          <a:xfrm>
            <a:off x="4343440" y="2287320"/>
            <a:ext cx="1596712" cy="383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ERROR</a:t>
            </a:r>
          </a:p>
        </p:txBody>
      </p:sp>
      <p:sp>
        <p:nvSpPr>
          <p:cNvPr id="26" name="Rectangle 25">
            <a:extLst>
              <a:ext uri="{FF2B5EF4-FFF2-40B4-BE49-F238E27FC236}">
                <a16:creationId xmlns:a16="http://schemas.microsoft.com/office/drawing/2014/main" id="{CCF8DAD6-C17A-4B7F-8B3C-0F1E64F6C1C2}"/>
              </a:ext>
            </a:extLst>
          </p:cNvPr>
          <p:cNvSpPr/>
          <p:nvPr/>
        </p:nvSpPr>
        <p:spPr>
          <a:xfrm>
            <a:off x="4343440" y="2770831"/>
            <a:ext cx="1596712" cy="383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INCONSISTENT</a:t>
            </a:r>
          </a:p>
        </p:txBody>
      </p:sp>
      <p:sp>
        <p:nvSpPr>
          <p:cNvPr id="27" name="Rectangle 26">
            <a:extLst>
              <a:ext uri="{FF2B5EF4-FFF2-40B4-BE49-F238E27FC236}">
                <a16:creationId xmlns:a16="http://schemas.microsoft.com/office/drawing/2014/main" id="{6084DD72-4C8C-4A43-9DAF-09CA7026F039}"/>
              </a:ext>
            </a:extLst>
          </p:cNvPr>
          <p:cNvSpPr/>
          <p:nvPr/>
        </p:nvSpPr>
        <p:spPr>
          <a:xfrm>
            <a:off x="4368220" y="3254342"/>
            <a:ext cx="1596712" cy="383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TIMEOUT</a:t>
            </a:r>
          </a:p>
        </p:txBody>
      </p:sp>
      <p:sp>
        <p:nvSpPr>
          <p:cNvPr id="28" name="Rectangle 27">
            <a:extLst>
              <a:ext uri="{FF2B5EF4-FFF2-40B4-BE49-F238E27FC236}">
                <a16:creationId xmlns:a16="http://schemas.microsoft.com/office/drawing/2014/main" id="{1A105617-98A7-46AF-BBC2-A65984A7F541}"/>
              </a:ext>
            </a:extLst>
          </p:cNvPr>
          <p:cNvSpPr/>
          <p:nvPr/>
        </p:nvSpPr>
        <p:spPr>
          <a:xfrm>
            <a:off x="4376604" y="3976038"/>
            <a:ext cx="1563548" cy="383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ROUGE</a:t>
            </a:r>
          </a:p>
        </p:txBody>
      </p:sp>
      <p:sp>
        <p:nvSpPr>
          <p:cNvPr id="29" name="Rectangle 28">
            <a:extLst>
              <a:ext uri="{FF2B5EF4-FFF2-40B4-BE49-F238E27FC236}">
                <a16:creationId xmlns:a16="http://schemas.microsoft.com/office/drawing/2014/main" id="{01646D75-ED35-4BDE-B068-C73BC15D9203}"/>
              </a:ext>
            </a:extLst>
          </p:cNvPr>
          <p:cNvSpPr/>
          <p:nvPr/>
        </p:nvSpPr>
        <p:spPr>
          <a:xfrm>
            <a:off x="4366320" y="4455243"/>
            <a:ext cx="1563548" cy="383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VERT</a:t>
            </a:r>
          </a:p>
        </p:txBody>
      </p:sp>
      <p:sp>
        <p:nvSpPr>
          <p:cNvPr id="30" name="Rectangle 29">
            <a:extLst>
              <a:ext uri="{FF2B5EF4-FFF2-40B4-BE49-F238E27FC236}">
                <a16:creationId xmlns:a16="http://schemas.microsoft.com/office/drawing/2014/main" id="{87FCCFB9-C234-4508-8C8E-0E498AF3807B}"/>
              </a:ext>
            </a:extLst>
          </p:cNvPr>
          <p:cNvSpPr/>
          <p:nvPr/>
        </p:nvSpPr>
        <p:spPr>
          <a:xfrm>
            <a:off x="4366320" y="4934448"/>
            <a:ext cx="1573832" cy="383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JAUNE</a:t>
            </a:r>
          </a:p>
        </p:txBody>
      </p:sp>
      <p:sp>
        <p:nvSpPr>
          <p:cNvPr id="31" name="Rectangle 30">
            <a:extLst>
              <a:ext uri="{FF2B5EF4-FFF2-40B4-BE49-F238E27FC236}">
                <a16:creationId xmlns:a16="http://schemas.microsoft.com/office/drawing/2014/main" id="{4A373DEF-40FC-4044-8797-169B6FEA02F5}"/>
              </a:ext>
            </a:extLst>
          </p:cNvPr>
          <p:cNvSpPr/>
          <p:nvPr/>
        </p:nvSpPr>
        <p:spPr>
          <a:xfrm>
            <a:off x="4376604" y="5413653"/>
            <a:ext cx="1571932" cy="383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BLANC</a:t>
            </a:r>
          </a:p>
        </p:txBody>
      </p:sp>
      <p:sp>
        <p:nvSpPr>
          <p:cNvPr id="32" name="Rectangle 31">
            <a:extLst>
              <a:ext uri="{FF2B5EF4-FFF2-40B4-BE49-F238E27FC236}">
                <a16:creationId xmlns:a16="http://schemas.microsoft.com/office/drawing/2014/main" id="{7B042A06-900A-430F-A461-B473FE39593A}"/>
              </a:ext>
            </a:extLst>
          </p:cNvPr>
          <p:cNvSpPr/>
          <p:nvPr/>
        </p:nvSpPr>
        <p:spPr>
          <a:xfrm>
            <a:off x="3203848" y="3573016"/>
            <a:ext cx="504056" cy="4271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ET</a:t>
            </a:r>
          </a:p>
        </p:txBody>
      </p:sp>
    </p:spTree>
    <p:extLst>
      <p:ext uri="{BB962C8B-B14F-4D97-AF65-F5344CB8AC3E}">
        <p14:creationId xmlns:p14="http://schemas.microsoft.com/office/powerpoint/2010/main" val="3530800011"/>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1000"/>
                                        <p:tgtEl>
                                          <p:spTgt spid="9"/>
                                        </p:tgtEl>
                                      </p:cBhvr>
                                    </p:animEffect>
                                  </p:childTnLst>
                                </p:cTn>
                              </p:par>
                              <p:par>
                                <p:cTn id="8" presetID="22" presetClass="entr" presetSubtype="1"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up)">
                                      <p:cBhvr>
                                        <p:cTn id="10" dur="1000"/>
                                        <p:tgtEl>
                                          <p:spTgt spid="7"/>
                                        </p:tgtEl>
                                      </p:cBhvr>
                                    </p:animEffect>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left)">
                                      <p:cBhvr>
                                        <p:cTn id="14" dur="1000"/>
                                        <p:tgtEl>
                                          <p:spTgt spid="15"/>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1000"/>
                                        <p:tgtEl>
                                          <p:spTgt spid="19"/>
                                        </p:tgtEl>
                                      </p:cBhvr>
                                    </p:animEffect>
                                  </p:childTnLst>
                                </p:cTn>
                              </p:par>
                            </p:childTnLst>
                          </p:cTn>
                        </p:par>
                        <p:par>
                          <p:cTn id="18" fill="hold">
                            <p:stCondLst>
                              <p:cond delay="2000"/>
                            </p:stCondLst>
                            <p:childTnLst>
                              <p:par>
                                <p:cTn id="19" presetID="22" presetClass="entr" presetSubtype="8" fill="hold" grpId="0" nodeType="after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wipe(left)">
                                      <p:cBhvr>
                                        <p:cTn id="21" dur="1000"/>
                                        <p:tgtEl>
                                          <p:spTgt spid="3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wipe(left)">
                                      <p:cBhvr>
                                        <p:cTn id="26" dur="1000"/>
                                        <p:tgtEl>
                                          <p:spTgt spid="20"/>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wipe(left)">
                                      <p:cBhvr>
                                        <p:cTn id="30" dur="10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left)">
                                      <p:cBhvr>
                                        <p:cTn id="35" dur="1000"/>
                                        <p:tgtEl>
                                          <p:spTgt spid="2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wipe(left)">
                                      <p:cBhvr>
                                        <p:cTn id="40" dur="1000"/>
                                        <p:tgtEl>
                                          <p:spTgt spid="2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wipe(left)">
                                      <p:cBhvr>
                                        <p:cTn id="45" dur="1000"/>
                                        <p:tgtEl>
                                          <p:spTgt spid="2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wipe(left)">
                                      <p:cBhvr>
                                        <p:cTn id="50" dur="1000"/>
                                        <p:tgtEl>
                                          <p:spTgt spid="2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wipe(left)">
                                      <p:cBhvr>
                                        <p:cTn id="55" dur="1000"/>
                                        <p:tgtEl>
                                          <p:spTgt spid="21"/>
                                        </p:tgtEl>
                                      </p:cBhvr>
                                    </p:animEffect>
                                  </p:childTnLst>
                                </p:cTn>
                              </p:par>
                            </p:childTnLst>
                          </p:cTn>
                        </p:par>
                        <p:par>
                          <p:cTn id="56" fill="hold">
                            <p:stCondLst>
                              <p:cond delay="1000"/>
                            </p:stCondLst>
                            <p:childTnLst>
                              <p:par>
                                <p:cTn id="57" presetID="22" presetClass="entr" presetSubtype="8" fill="hold" grpId="0" nodeType="after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wipe(left)">
                                      <p:cBhvr>
                                        <p:cTn id="59" dur="1000"/>
                                        <p:tgtEl>
                                          <p:spTgt spid="2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wipe(left)">
                                      <p:cBhvr>
                                        <p:cTn id="64" dur="1000"/>
                                        <p:tgtEl>
                                          <p:spTgt spid="29"/>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wipe(left)">
                                      <p:cBhvr>
                                        <p:cTn id="69" dur="1000"/>
                                        <p:tgtEl>
                                          <p:spTgt spid="30"/>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wipe(left)">
                                      <p:cBhvr>
                                        <p:cTn id="74"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9" grpId="0" animBg="1"/>
      <p:bldP spid="20" grpId="0" animBg="1"/>
      <p:bldP spid="21" grpId="0" animBg="1"/>
      <p:bldP spid="23" grpId="0" animBg="1"/>
      <p:bldP spid="24" grpId="0" animBg="1"/>
      <p:bldP spid="25" grpId="0" animBg="1"/>
      <p:bldP spid="26" grpId="0" animBg="1"/>
      <p:bldP spid="27" grpId="0" animBg="1"/>
      <p:bldP spid="28" grpId="0"/>
      <p:bldP spid="29" grpId="0"/>
      <p:bldP spid="30" grpId="0"/>
      <p:bldP spid="31" grpId="0"/>
      <p:bldP spid="3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54340FF-4859-4C50-B4F4-5D00A0E9C8D3}"/>
              </a:ext>
            </a:extLst>
          </p:cNvPr>
          <p:cNvSpPr>
            <a:spLocks noGrp="1"/>
          </p:cNvSpPr>
          <p:nvPr>
            <p:ph type="sldNum" sz="quarter" idx="12"/>
          </p:nvPr>
        </p:nvSpPr>
        <p:spPr/>
        <p:txBody>
          <a:bodyPr/>
          <a:lstStyle/>
          <a:p>
            <a:fld id="{55E9056B-6A30-4F99-BDE9-C450E66AE125}" type="slidenum">
              <a:rPr lang="fr-FR" smtClean="0"/>
              <a:pPr/>
              <a:t>38</a:t>
            </a:fld>
            <a:endParaRPr lang="fr-FR" dirty="0"/>
          </a:p>
        </p:txBody>
      </p:sp>
      <p:pic>
        <p:nvPicPr>
          <p:cNvPr id="5" name="Image 4">
            <a:extLst>
              <a:ext uri="{FF2B5EF4-FFF2-40B4-BE49-F238E27FC236}">
                <a16:creationId xmlns:a16="http://schemas.microsoft.com/office/drawing/2014/main" id="{11608FE7-AC6F-41D1-BDCF-D6602B8EF56F}"/>
              </a:ext>
            </a:extLst>
          </p:cNvPr>
          <p:cNvPicPr>
            <a:picLocks noChangeAspect="1"/>
          </p:cNvPicPr>
          <p:nvPr/>
        </p:nvPicPr>
        <p:blipFill rotWithShape="1">
          <a:blip r:embed="rId2"/>
          <a:srcRect t="11313" b="9496"/>
          <a:stretch/>
        </p:blipFill>
        <p:spPr>
          <a:xfrm>
            <a:off x="-17904" y="0"/>
            <a:ext cx="9144000" cy="6858000"/>
          </a:xfrm>
          <a:prstGeom prst="rect">
            <a:avLst/>
          </a:prstGeom>
        </p:spPr>
      </p:pic>
      <p:sp>
        <p:nvSpPr>
          <p:cNvPr id="6" name="Flèche : droite 5">
            <a:extLst>
              <a:ext uri="{FF2B5EF4-FFF2-40B4-BE49-F238E27FC236}">
                <a16:creationId xmlns:a16="http://schemas.microsoft.com/office/drawing/2014/main" id="{66173592-DC47-41C4-AF0E-98BEBDEAEA2C}"/>
              </a:ext>
            </a:extLst>
          </p:cNvPr>
          <p:cNvSpPr/>
          <p:nvPr/>
        </p:nvSpPr>
        <p:spPr>
          <a:xfrm>
            <a:off x="899592" y="2708920"/>
            <a:ext cx="432048" cy="28803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7" name="Rectangle 6">
            <a:extLst>
              <a:ext uri="{FF2B5EF4-FFF2-40B4-BE49-F238E27FC236}">
                <a16:creationId xmlns:a16="http://schemas.microsoft.com/office/drawing/2014/main" id="{C2A69F57-67E8-49D5-A9E8-692F42C15811}"/>
              </a:ext>
            </a:extLst>
          </p:cNvPr>
          <p:cNvSpPr/>
          <p:nvPr/>
        </p:nvSpPr>
        <p:spPr>
          <a:xfrm>
            <a:off x="1331640" y="6525344"/>
            <a:ext cx="576064" cy="19613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pic>
        <p:nvPicPr>
          <p:cNvPr id="8" name="Image 7">
            <a:extLst>
              <a:ext uri="{FF2B5EF4-FFF2-40B4-BE49-F238E27FC236}">
                <a16:creationId xmlns:a16="http://schemas.microsoft.com/office/drawing/2014/main" id="{F66A4A69-8D06-489B-B90F-64E22C26001A}"/>
              </a:ext>
            </a:extLst>
          </p:cNvPr>
          <p:cNvPicPr>
            <a:picLocks noChangeAspect="1"/>
          </p:cNvPicPr>
          <p:nvPr/>
        </p:nvPicPr>
        <p:blipFill rotWithShape="1">
          <a:blip r:embed="rId3"/>
          <a:srcRect l="25986" t="8400" r="25978" b="13601"/>
          <a:stretch/>
        </p:blipFill>
        <p:spPr>
          <a:xfrm>
            <a:off x="3032624" y="1484784"/>
            <a:ext cx="4392488" cy="4011910"/>
          </a:xfrm>
          <a:prstGeom prst="rect">
            <a:avLst/>
          </a:prstGeom>
        </p:spPr>
      </p:pic>
      <p:sp>
        <p:nvSpPr>
          <p:cNvPr id="9" name="Rectangle 8">
            <a:extLst>
              <a:ext uri="{FF2B5EF4-FFF2-40B4-BE49-F238E27FC236}">
                <a16:creationId xmlns:a16="http://schemas.microsoft.com/office/drawing/2014/main" id="{601DE94C-8F18-4E0E-A384-430B38A1CFC1}"/>
              </a:ext>
            </a:extLst>
          </p:cNvPr>
          <p:cNvSpPr/>
          <p:nvPr/>
        </p:nvSpPr>
        <p:spPr>
          <a:xfrm>
            <a:off x="3032624" y="4221088"/>
            <a:ext cx="2475480" cy="50405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Tree>
    <p:extLst>
      <p:ext uri="{BB962C8B-B14F-4D97-AF65-F5344CB8AC3E}">
        <p14:creationId xmlns:p14="http://schemas.microsoft.com/office/powerpoint/2010/main" val="1803265585"/>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0-#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53" presetClass="entr" presetSubtype="16" repeatCount="400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ppt_w</p:attrName>
                                        </p:attrNameLst>
                                      </p:cBhvr>
                                      <p:tavLst>
                                        <p:tav tm="0">
                                          <p:val>
                                            <p:fltVal val="0"/>
                                          </p:val>
                                        </p:tav>
                                        <p:tav tm="100000">
                                          <p:val>
                                            <p:strVal val="#ppt_w"/>
                                          </p:val>
                                        </p:tav>
                                      </p:tavLst>
                                    </p:anim>
                                    <p:anim calcmode="lin" valueType="num">
                                      <p:cBhvr>
                                        <p:cTn id="13" dur="1000" fill="hold"/>
                                        <p:tgtEl>
                                          <p:spTgt spid="7"/>
                                        </p:tgtEl>
                                        <p:attrNameLst>
                                          <p:attrName>ppt_h</p:attrName>
                                        </p:attrNameLst>
                                      </p:cBhvr>
                                      <p:tavLst>
                                        <p:tav tm="0">
                                          <p:val>
                                            <p:fltVal val="0"/>
                                          </p:val>
                                        </p:tav>
                                        <p:tav tm="100000">
                                          <p:val>
                                            <p:strVal val="#ppt_h"/>
                                          </p:val>
                                        </p:tav>
                                      </p:tavLst>
                                    </p:anim>
                                    <p:animEffect transition="in" filter="fade">
                                      <p:cBhvr>
                                        <p:cTn id="14" dur="10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55E9056B-6A30-4F99-BDE9-C450E66AE125}" type="slidenum">
              <a:rPr lang="fr-FR" smtClean="0"/>
              <a:pPr/>
              <a:t>39</a:t>
            </a:fld>
            <a:endParaRPr lang="fr-FR" dirty="0"/>
          </a:p>
        </p:txBody>
      </p:sp>
      <p:pic>
        <p:nvPicPr>
          <p:cNvPr id="6" name="Espace réservé du contenu 5">
            <a:extLst>
              <a:ext uri="{FF2B5EF4-FFF2-40B4-BE49-F238E27FC236}">
                <a16:creationId xmlns:a16="http://schemas.microsoft.com/office/drawing/2014/main" id="{DD1AECB4-A6B1-49D8-8C01-D83454D74D57}"/>
              </a:ext>
            </a:extLst>
          </p:cNvPr>
          <p:cNvPicPr>
            <a:picLocks noGrp="1" noChangeAspect="1"/>
          </p:cNvPicPr>
          <p:nvPr>
            <p:ph idx="4294967295"/>
          </p:nvPr>
        </p:nvPicPr>
        <p:blipFill rotWithShape="1">
          <a:blip r:embed="rId3"/>
          <a:srcRect b="8681"/>
          <a:stretch/>
        </p:blipFill>
        <p:spPr>
          <a:xfrm>
            <a:off x="0" y="136525"/>
            <a:ext cx="8956678" cy="6584950"/>
          </a:xfrm>
          <a:prstGeom prst="rect">
            <a:avLst/>
          </a:prstGeom>
        </p:spPr>
      </p:pic>
      <p:sp>
        <p:nvSpPr>
          <p:cNvPr id="10" name="Rectangle 9">
            <a:extLst>
              <a:ext uri="{FF2B5EF4-FFF2-40B4-BE49-F238E27FC236}">
                <a16:creationId xmlns:a16="http://schemas.microsoft.com/office/drawing/2014/main" id="{1A363464-8330-4248-9B40-EA5AB01D7799}"/>
              </a:ext>
            </a:extLst>
          </p:cNvPr>
          <p:cNvSpPr/>
          <p:nvPr/>
        </p:nvSpPr>
        <p:spPr>
          <a:xfrm>
            <a:off x="1763688" y="5373216"/>
            <a:ext cx="864096"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1" name="Rectangle 10">
            <a:extLst>
              <a:ext uri="{FF2B5EF4-FFF2-40B4-BE49-F238E27FC236}">
                <a16:creationId xmlns:a16="http://schemas.microsoft.com/office/drawing/2014/main" id="{B797215F-3996-4BAC-B3F3-987F65750910}"/>
              </a:ext>
            </a:extLst>
          </p:cNvPr>
          <p:cNvSpPr/>
          <p:nvPr/>
        </p:nvSpPr>
        <p:spPr>
          <a:xfrm>
            <a:off x="1259632" y="5621606"/>
            <a:ext cx="1368152" cy="39968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2" name="Flèche : gauche 11">
            <a:extLst>
              <a:ext uri="{FF2B5EF4-FFF2-40B4-BE49-F238E27FC236}">
                <a16:creationId xmlns:a16="http://schemas.microsoft.com/office/drawing/2014/main" id="{5BE56309-54E7-4176-B07F-1882533700D6}"/>
              </a:ext>
            </a:extLst>
          </p:cNvPr>
          <p:cNvSpPr/>
          <p:nvPr/>
        </p:nvSpPr>
        <p:spPr>
          <a:xfrm>
            <a:off x="5940152" y="5677430"/>
            <a:ext cx="720080" cy="2880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2" name="Rectangle 1">
            <a:extLst>
              <a:ext uri="{FF2B5EF4-FFF2-40B4-BE49-F238E27FC236}">
                <a16:creationId xmlns:a16="http://schemas.microsoft.com/office/drawing/2014/main" id="{84DC7C1F-C952-45CF-8652-5A234D7308A7}"/>
              </a:ext>
            </a:extLst>
          </p:cNvPr>
          <p:cNvSpPr/>
          <p:nvPr/>
        </p:nvSpPr>
        <p:spPr>
          <a:xfrm>
            <a:off x="187322" y="764704"/>
            <a:ext cx="1864398" cy="144016"/>
          </a:xfrm>
          <a:prstGeom prst="rect">
            <a:avLst/>
          </a:prstGeom>
          <a:solidFill>
            <a:srgbClr val="FFCC0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BE" dirty="0"/>
          </a:p>
        </p:txBody>
      </p:sp>
    </p:spTree>
    <p:extLst>
      <p:ext uri="{BB962C8B-B14F-4D97-AF65-F5344CB8AC3E}">
        <p14:creationId xmlns:p14="http://schemas.microsoft.com/office/powerpoint/2010/main" val="3870192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childTnLst>
                                </p:cTn>
                              </p:par>
                              <p:par>
                                <p:cTn id="13" presetID="42" presetClass="path" presetSubtype="0" accel="50000" decel="50000" fill="hold" grpId="0" nodeType="withEffect">
                                  <p:stCondLst>
                                    <p:cond delay="0"/>
                                  </p:stCondLst>
                                  <p:childTnLst>
                                    <p:animMotion origin="layout" path="M 1.11111E-6 -2.59259E-6 L -0.39375 0.00023 " pathEditMode="relative" rAng="0" ptsTypes="AA">
                                      <p:cBhvr>
                                        <p:cTn id="14" dur="2000" fill="hold"/>
                                        <p:tgtEl>
                                          <p:spTgt spid="12"/>
                                        </p:tgtEl>
                                        <p:attrNameLst>
                                          <p:attrName>ppt_x</p:attrName>
                                          <p:attrName>ppt_y</p:attrName>
                                        </p:attrNameLst>
                                      </p:cBhvr>
                                      <p:rCtr x="-1968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2"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C4E6D53D-2D44-413A-A319-96CB7B4C1F6E}"/>
              </a:ext>
            </a:extLst>
          </p:cNvPr>
          <p:cNvSpPr>
            <a:spLocks noGrp="1"/>
          </p:cNvSpPr>
          <p:nvPr>
            <p:ph type="sldNum" sz="quarter" idx="12"/>
          </p:nvPr>
        </p:nvSpPr>
        <p:spPr/>
        <p:txBody>
          <a:bodyPr/>
          <a:lstStyle/>
          <a:p>
            <a:fld id="{55E9056B-6A30-4F99-BDE9-C450E66AE125}" type="slidenum">
              <a:rPr lang="fr-FR" smtClean="0"/>
              <a:pPr/>
              <a:t>40</a:t>
            </a:fld>
            <a:endParaRPr lang="fr-FR" dirty="0"/>
          </a:p>
        </p:txBody>
      </p:sp>
      <p:pic>
        <p:nvPicPr>
          <p:cNvPr id="3" name="Image 2">
            <a:extLst>
              <a:ext uri="{FF2B5EF4-FFF2-40B4-BE49-F238E27FC236}">
                <a16:creationId xmlns:a16="http://schemas.microsoft.com/office/drawing/2014/main" id="{D7401BC3-F656-449E-B817-F014B2E1CA4D}"/>
              </a:ext>
            </a:extLst>
          </p:cNvPr>
          <p:cNvPicPr>
            <a:picLocks noChangeAspect="1"/>
          </p:cNvPicPr>
          <p:nvPr/>
        </p:nvPicPr>
        <p:blipFill rotWithShape="1">
          <a:blip r:embed="rId3"/>
          <a:srcRect b="23755"/>
          <a:stretch/>
        </p:blipFill>
        <p:spPr>
          <a:xfrm>
            <a:off x="0" y="140270"/>
            <a:ext cx="9144000" cy="6721475"/>
          </a:xfrm>
          <a:prstGeom prst="rect">
            <a:avLst/>
          </a:prstGeom>
        </p:spPr>
      </p:pic>
      <p:sp>
        <p:nvSpPr>
          <p:cNvPr id="10" name="Rectangle 9">
            <a:extLst>
              <a:ext uri="{FF2B5EF4-FFF2-40B4-BE49-F238E27FC236}">
                <a16:creationId xmlns:a16="http://schemas.microsoft.com/office/drawing/2014/main" id="{B0A3884B-DF46-4E57-80BE-3967FEB36F7D}"/>
              </a:ext>
            </a:extLst>
          </p:cNvPr>
          <p:cNvSpPr/>
          <p:nvPr/>
        </p:nvSpPr>
        <p:spPr>
          <a:xfrm>
            <a:off x="0" y="404664"/>
            <a:ext cx="7236296" cy="144016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
        <p:nvSpPr>
          <p:cNvPr id="11" name="Rectangle 10">
            <a:extLst>
              <a:ext uri="{FF2B5EF4-FFF2-40B4-BE49-F238E27FC236}">
                <a16:creationId xmlns:a16="http://schemas.microsoft.com/office/drawing/2014/main" id="{7313C38A-5E94-48EA-B64F-7174E59FDB6B}"/>
              </a:ext>
            </a:extLst>
          </p:cNvPr>
          <p:cNvSpPr/>
          <p:nvPr/>
        </p:nvSpPr>
        <p:spPr>
          <a:xfrm>
            <a:off x="0" y="1988840"/>
            <a:ext cx="7308304" cy="46805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spTree>
    <p:extLst>
      <p:ext uri="{BB962C8B-B14F-4D97-AF65-F5344CB8AC3E}">
        <p14:creationId xmlns:p14="http://schemas.microsoft.com/office/powerpoint/2010/main" val="4069978143"/>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pPr algn="l"/>
            <a:r>
              <a:rPr lang="fr-BE" sz="4000" b="1" i="1" dirty="0"/>
              <a:t>8.1. </a:t>
            </a:r>
            <a:r>
              <a:rPr lang="fr-BE" sz="4000" b="1" i="1" dirty="0">
                <a:cs typeface="Times New Roman" pitchFamily="18" charset="0"/>
              </a:rPr>
              <a:t>Calcul DMFA</a:t>
            </a:r>
            <a:endParaRPr lang="fr-FR" sz="4000" b="1" i="1" dirty="0">
              <a:cs typeface="Times New Roman" pitchFamily="18" charset="0"/>
            </a:endParaRPr>
          </a:p>
        </p:txBody>
      </p:sp>
      <p:sp>
        <p:nvSpPr>
          <p:cNvPr id="8" name="Espace réservé du contenu 7"/>
          <p:cNvSpPr>
            <a:spLocks noGrp="1"/>
          </p:cNvSpPr>
          <p:nvPr>
            <p:ph idx="1"/>
          </p:nvPr>
        </p:nvSpPr>
        <p:spPr/>
        <p:txBody>
          <a:bodyPr>
            <a:normAutofit/>
          </a:bodyPr>
          <a:lstStyle/>
          <a:p>
            <a:pPr marL="0" lvl="2" indent="0">
              <a:spcBef>
                <a:spcPts val="0"/>
              </a:spcBef>
              <a:buSzPct val="80000"/>
              <a:buNone/>
            </a:pPr>
            <a:r>
              <a:rPr lang="fr-BE" sz="3200" b="1" u="sng" dirty="0">
                <a:cs typeface="Times New Roman" pitchFamily="18" charset="0"/>
              </a:rPr>
              <a:t>Pour une occupation à temps plein</a:t>
            </a:r>
            <a:r>
              <a:rPr lang="fr-BE" sz="3200" dirty="0">
                <a:cs typeface="Times New Roman" pitchFamily="18" charset="0"/>
              </a:rPr>
              <a:t> </a:t>
            </a:r>
            <a:r>
              <a:rPr lang="fr-BE" sz="3200" b="1" dirty="0">
                <a:cs typeface="Times New Roman" pitchFamily="18" charset="0"/>
              </a:rPr>
              <a:t>: Q/S = 1</a:t>
            </a:r>
          </a:p>
          <a:p>
            <a:pPr marL="0" lvl="2" indent="0" algn="ctr">
              <a:spcBef>
                <a:spcPts val="0"/>
              </a:spcBef>
              <a:buSzPct val="80000"/>
              <a:buNone/>
            </a:pPr>
            <a:endParaRPr lang="fr-BE" sz="2000" b="1" dirty="0">
              <a:cs typeface="Times New Roman" pitchFamily="18" charset="0"/>
              <a:sym typeface="Wingdings" pitchFamily="2" charset="2"/>
            </a:endParaRPr>
          </a:p>
          <a:p>
            <a:pPr marL="0" lvl="2" indent="0" algn="ctr">
              <a:spcBef>
                <a:spcPts val="0"/>
              </a:spcBef>
              <a:buSzPct val="80000"/>
              <a:buNone/>
            </a:pPr>
            <a:r>
              <a:rPr lang="fr-BE" sz="3200" b="1" dirty="0">
                <a:cs typeface="Times New Roman" pitchFamily="18" charset="0"/>
                <a:sym typeface="Wingdings" pitchFamily="2" charset="2"/>
              </a:rPr>
              <a:t>Nombre de jours</a:t>
            </a:r>
            <a:r>
              <a:rPr lang="fr-BE" sz="3200" b="1" dirty="0">
                <a:cs typeface="Times New Roman" pitchFamily="18" charset="0"/>
              </a:rPr>
              <a:t> </a:t>
            </a:r>
            <a:r>
              <a:rPr lang="fr-BE" sz="3200" dirty="0">
                <a:cs typeface="Times New Roman" pitchFamily="18" charset="0"/>
              </a:rPr>
              <a:t>= </a:t>
            </a:r>
            <a:r>
              <a:rPr lang="fr-BE" sz="3600" b="1" dirty="0">
                <a:solidFill>
                  <a:srgbClr val="C00000"/>
                </a:solidFill>
                <a:cs typeface="Times New Roman" pitchFamily="18" charset="0"/>
              </a:rPr>
              <a:t>A x 6/R</a:t>
            </a:r>
          </a:p>
          <a:p>
            <a:pPr marL="457200" lvl="3" indent="-457200">
              <a:spcBef>
                <a:spcPts val="0"/>
              </a:spcBef>
              <a:buSzPct val="100000"/>
              <a:buFont typeface="Wingdings" pitchFamily="2" charset="2"/>
              <a:buChar char="§"/>
            </a:pPr>
            <a:endParaRPr lang="fr-BE" b="1" dirty="0">
              <a:cs typeface="Times New Roman" pitchFamily="18" charset="0"/>
            </a:endParaRPr>
          </a:p>
          <a:p>
            <a:pPr marL="457200" lvl="3" indent="-457200">
              <a:spcBef>
                <a:spcPts val="0"/>
              </a:spcBef>
              <a:buSzPct val="100000"/>
              <a:buFont typeface="Wingdings" pitchFamily="2" charset="2"/>
              <a:buChar char="§"/>
            </a:pPr>
            <a:r>
              <a:rPr lang="fr-BE" sz="3200" b="1" dirty="0">
                <a:cs typeface="Times New Roman" pitchFamily="18" charset="0"/>
              </a:rPr>
              <a:t>A</a:t>
            </a:r>
            <a:r>
              <a:rPr lang="fr-BE" sz="3200" dirty="0">
                <a:cs typeface="Times New Roman" pitchFamily="18" charset="0"/>
              </a:rPr>
              <a:t> = jours de travail effectifs ou indemnisés dans le trimestre.</a:t>
            </a:r>
          </a:p>
          <a:p>
            <a:pPr marL="457200" lvl="3" indent="-457200">
              <a:spcBef>
                <a:spcPts val="0"/>
              </a:spcBef>
              <a:buSzPct val="100000"/>
              <a:buFont typeface="Wingdings" pitchFamily="2" charset="2"/>
              <a:buChar char="§"/>
            </a:pPr>
            <a:r>
              <a:rPr lang="fr-BE" sz="3200" b="1" dirty="0">
                <a:cs typeface="Times New Roman" pitchFamily="18" charset="0"/>
              </a:rPr>
              <a:t>R</a:t>
            </a:r>
            <a:r>
              <a:rPr lang="fr-BE" sz="3200" dirty="0">
                <a:cs typeface="Times New Roman" pitchFamily="18" charset="0"/>
              </a:rPr>
              <a:t> = Régime de travail.</a:t>
            </a:r>
          </a:p>
          <a:p>
            <a:pPr marL="0" lvl="2" indent="0">
              <a:spcBef>
                <a:spcPts val="0"/>
              </a:spcBef>
              <a:buSzPct val="100000"/>
              <a:buNone/>
            </a:pPr>
            <a:endParaRPr lang="fr-FR" sz="2000" b="1" dirty="0">
              <a:solidFill>
                <a:srgbClr val="C00000"/>
              </a:solidFill>
              <a:cs typeface="Times New Roman" pitchFamily="18" charset="0"/>
            </a:endParaRPr>
          </a:p>
          <a:p>
            <a:pPr marL="0" lvl="2" indent="0">
              <a:spcBef>
                <a:spcPts val="0"/>
              </a:spcBef>
              <a:buSzPct val="100000"/>
              <a:buNone/>
            </a:pPr>
            <a:r>
              <a:rPr lang="fr-FR" sz="3200" b="1" dirty="0">
                <a:solidFill>
                  <a:srgbClr val="C00000"/>
                </a:solidFill>
                <a:cs typeface="Times New Roman" pitchFamily="18" charset="0"/>
              </a:rPr>
              <a:t>Maximum 78 jours en régime 6 par trimestre</a:t>
            </a:r>
            <a:r>
              <a:rPr lang="fr-FR" sz="3200" dirty="0">
                <a:solidFill>
                  <a:srgbClr val="C00000"/>
                </a:solidFill>
                <a:cs typeface="Times New Roman" pitchFamily="18" charset="0"/>
              </a:rPr>
              <a:t>.</a:t>
            </a:r>
            <a:endParaRPr lang="fr-BE" sz="3200" dirty="0">
              <a:solidFill>
                <a:srgbClr val="C00000"/>
              </a:solidFill>
              <a:cs typeface="Times New Roman" pitchFamily="18" charset="0"/>
            </a:endParaRPr>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41</a:t>
            </a:fld>
            <a:endParaRPr lang="fr-FR" dirty="0"/>
          </a:p>
        </p:txBody>
      </p:sp>
    </p:spTree>
    <p:extLst>
      <p:ext uri="{BB962C8B-B14F-4D97-AF65-F5344CB8AC3E}">
        <p14:creationId xmlns:p14="http://schemas.microsoft.com/office/powerpoint/2010/main" val="34401374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animEffect transition="in" filter="fade">
                                      <p:cBhvr>
                                        <p:cTn id="15" dur="1000"/>
                                        <p:tgtEl>
                                          <p:spTgt spid="8">
                                            <p:txEl>
                                              <p:pRg st="4" end="4"/>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xEl>
                                              <p:pRg st="5" end="5"/>
                                            </p:txEl>
                                          </p:spTgt>
                                        </p:tgtEl>
                                        <p:attrNameLst>
                                          <p:attrName>style.visibility</p:attrName>
                                        </p:attrNameLst>
                                      </p:cBhvr>
                                      <p:to>
                                        <p:strVal val="visible"/>
                                      </p:to>
                                    </p:set>
                                    <p:animEffect transition="in" filter="fade">
                                      <p:cBhvr>
                                        <p:cTn id="18" dur="1000"/>
                                        <p:tgtEl>
                                          <p:spTgt spid="8">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7" end="7"/>
                                            </p:txEl>
                                          </p:spTgt>
                                        </p:tgtEl>
                                        <p:attrNameLst>
                                          <p:attrName>style.visibility</p:attrName>
                                        </p:attrNameLst>
                                      </p:cBhvr>
                                      <p:to>
                                        <p:strVal val="visible"/>
                                      </p:to>
                                    </p:set>
                                    <p:animEffect transition="in" filter="fade">
                                      <p:cBhvr>
                                        <p:cTn id="23" dur="10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pPr algn="l"/>
            <a:r>
              <a:rPr lang="fr-BE" sz="4000" b="1" i="1" dirty="0">
                <a:cs typeface="Times New Roman" pitchFamily="18" charset="0"/>
              </a:rPr>
              <a:t>8.1. Calcul DMFA</a:t>
            </a:r>
            <a:endParaRPr lang="fr-FR" sz="4000" b="1" i="1" dirty="0">
              <a:cs typeface="Times New Roman" pitchFamily="18" charset="0"/>
            </a:endParaRPr>
          </a:p>
        </p:txBody>
      </p:sp>
      <p:sp>
        <p:nvSpPr>
          <p:cNvPr id="8" name="Espace réservé du contenu 7"/>
          <p:cNvSpPr>
            <a:spLocks noGrp="1"/>
          </p:cNvSpPr>
          <p:nvPr>
            <p:ph idx="1"/>
          </p:nvPr>
        </p:nvSpPr>
        <p:spPr/>
        <p:txBody>
          <a:bodyPr>
            <a:normAutofit/>
          </a:bodyPr>
          <a:lstStyle/>
          <a:p>
            <a:pPr marL="0" lvl="2" indent="0">
              <a:spcBef>
                <a:spcPts val="0"/>
              </a:spcBef>
              <a:buSzPct val="80000"/>
              <a:buNone/>
            </a:pPr>
            <a:r>
              <a:rPr lang="fr-BE" sz="3200" b="1" u="sng" dirty="0">
                <a:cs typeface="Times New Roman" pitchFamily="18" charset="0"/>
              </a:rPr>
              <a:t>Pour une occupation à temps partiel</a:t>
            </a:r>
            <a:r>
              <a:rPr lang="fr-BE" sz="3200" b="1" dirty="0">
                <a:cs typeface="Times New Roman" pitchFamily="18" charset="0"/>
              </a:rPr>
              <a:t> : Q/S &lt; 1</a:t>
            </a:r>
          </a:p>
          <a:p>
            <a:pPr marL="0" lvl="2" indent="0" algn="ctr">
              <a:spcBef>
                <a:spcPts val="0"/>
              </a:spcBef>
              <a:buSzPct val="80000"/>
              <a:buNone/>
            </a:pPr>
            <a:endParaRPr lang="fr-BE" sz="2000" b="1" dirty="0">
              <a:cs typeface="Times New Roman" pitchFamily="18" charset="0"/>
            </a:endParaRPr>
          </a:p>
          <a:p>
            <a:pPr marL="0" lvl="2" indent="0" algn="ctr">
              <a:spcBef>
                <a:spcPts val="0"/>
              </a:spcBef>
              <a:buSzPct val="80000"/>
              <a:buNone/>
            </a:pPr>
            <a:r>
              <a:rPr lang="fr-BE" sz="3200" b="1" dirty="0">
                <a:cs typeface="Times New Roman" pitchFamily="18" charset="0"/>
              </a:rPr>
              <a:t>Nombre de jours =</a:t>
            </a:r>
            <a:r>
              <a:rPr lang="fr-BE" sz="3200" b="1" dirty="0">
                <a:solidFill>
                  <a:srgbClr val="C00000"/>
                </a:solidFill>
                <a:cs typeface="Times New Roman" pitchFamily="18" charset="0"/>
              </a:rPr>
              <a:t> </a:t>
            </a:r>
            <a:r>
              <a:rPr lang="fr-BE" sz="3600" b="1" dirty="0">
                <a:solidFill>
                  <a:srgbClr val="C00000"/>
                </a:solidFill>
                <a:cs typeface="Times New Roman" pitchFamily="18" charset="0"/>
              </a:rPr>
              <a:t>a x 6/S</a:t>
            </a:r>
          </a:p>
          <a:p>
            <a:pPr marL="457200" lvl="3" indent="-457200">
              <a:spcBef>
                <a:spcPts val="0"/>
              </a:spcBef>
              <a:buSzPct val="100000"/>
              <a:buFont typeface="Wingdings" pitchFamily="2" charset="2"/>
              <a:buChar char="§"/>
            </a:pPr>
            <a:endParaRPr lang="fr-BE" b="1" dirty="0">
              <a:cs typeface="Times New Roman" pitchFamily="18" charset="0"/>
            </a:endParaRPr>
          </a:p>
          <a:p>
            <a:pPr marL="457200" lvl="3" indent="-457200">
              <a:spcBef>
                <a:spcPts val="0"/>
              </a:spcBef>
              <a:buSzPct val="100000"/>
              <a:buFont typeface="Wingdings" pitchFamily="2" charset="2"/>
              <a:buChar char="§"/>
            </a:pPr>
            <a:r>
              <a:rPr lang="fr-BE" sz="3200" b="1" dirty="0">
                <a:cs typeface="Times New Roman" pitchFamily="18" charset="0"/>
              </a:rPr>
              <a:t>a = </a:t>
            </a:r>
            <a:r>
              <a:rPr lang="fr-BE" sz="3200" dirty="0">
                <a:cs typeface="Times New Roman" pitchFamily="18" charset="0"/>
              </a:rPr>
              <a:t>heures de travail ou indemnisées dans le trimestre</a:t>
            </a:r>
          </a:p>
          <a:p>
            <a:pPr marL="457200" lvl="3" indent="-457200">
              <a:spcBef>
                <a:spcPts val="0"/>
              </a:spcBef>
              <a:buSzPct val="100000"/>
              <a:buFont typeface="Wingdings" pitchFamily="2" charset="2"/>
              <a:buChar char="§"/>
            </a:pPr>
            <a:r>
              <a:rPr lang="fr-BE" sz="3200" b="1" dirty="0">
                <a:cs typeface="Times New Roman" pitchFamily="18" charset="0"/>
              </a:rPr>
              <a:t>S = </a:t>
            </a:r>
            <a:r>
              <a:rPr lang="fr-BE" sz="3200" dirty="0">
                <a:cs typeface="Times New Roman" pitchFamily="18" charset="0"/>
              </a:rPr>
              <a:t>durée de travail hebdomadaire moyenne de la personne de référence à temps plein</a:t>
            </a:r>
          </a:p>
          <a:p>
            <a:pPr marL="0" lvl="3" indent="0">
              <a:spcBef>
                <a:spcPts val="0"/>
              </a:spcBef>
              <a:buSzPct val="100000"/>
              <a:buNone/>
            </a:pPr>
            <a:endParaRPr lang="fr-BE" dirty="0">
              <a:cs typeface="Times New Roman" pitchFamily="18" charset="0"/>
            </a:endParaRPr>
          </a:p>
          <a:p>
            <a:pPr marL="0" lvl="2" indent="0">
              <a:spcBef>
                <a:spcPts val="0"/>
              </a:spcBef>
              <a:buSzPct val="100000"/>
              <a:buNone/>
            </a:pPr>
            <a:r>
              <a:rPr lang="fr-FR" sz="3200" b="1" dirty="0">
                <a:solidFill>
                  <a:srgbClr val="C00000"/>
                </a:solidFill>
                <a:cs typeface="Times New Roman" pitchFamily="18" charset="0"/>
              </a:rPr>
              <a:t>Maximum 78 jours en régime 6 par trimestre.</a:t>
            </a:r>
            <a:endParaRPr lang="fr-BE" sz="3200" b="1" dirty="0">
              <a:solidFill>
                <a:srgbClr val="C00000"/>
              </a:solidFill>
              <a:cs typeface="Times New Roman" pitchFamily="18" charset="0"/>
            </a:endParaRPr>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42</a:t>
            </a:fld>
            <a:endParaRPr lang="fr-FR" dirty="0"/>
          </a:p>
        </p:txBody>
      </p:sp>
    </p:spTree>
    <p:extLst>
      <p:ext uri="{BB962C8B-B14F-4D97-AF65-F5344CB8AC3E}">
        <p14:creationId xmlns:p14="http://schemas.microsoft.com/office/powerpoint/2010/main" val="34079357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animEffect transition="in" filter="fade">
                                      <p:cBhvr>
                                        <p:cTn id="15" dur="1000"/>
                                        <p:tgtEl>
                                          <p:spTgt spid="8">
                                            <p:txEl>
                                              <p:pRg st="4" end="4"/>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xEl>
                                              <p:pRg st="5" end="5"/>
                                            </p:txEl>
                                          </p:spTgt>
                                        </p:tgtEl>
                                        <p:attrNameLst>
                                          <p:attrName>style.visibility</p:attrName>
                                        </p:attrNameLst>
                                      </p:cBhvr>
                                      <p:to>
                                        <p:strVal val="visible"/>
                                      </p:to>
                                    </p:set>
                                    <p:animEffect transition="in" filter="fade">
                                      <p:cBhvr>
                                        <p:cTn id="18" dur="1000"/>
                                        <p:tgtEl>
                                          <p:spTgt spid="8">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7" end="7"/>
                                            </p:txEl>
                                          </p:spTgt>
                                        </p:tgtEl>
                                        <p:attrNameLst>
                                          <p:attrName>style.visibility</p:attrName>
                                        </p:attrNameLst>
                                      </p:cBhvr>
                                      <p:to>
                                        <p:strVal val="visible"/>
                                      </p:to>
                                    </p:set>
                                    <p:animEffect transition="in" filter="fade">
                                      <p:cBhvr>
                                        <p:cTn id="23" dur="10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fontScale="90000"/>
          </a:bodyPr>
          <a:lstStyle/>
          <a:p>
            <a:pPr algn="l"/>
            <a:r>
              <a:rPr lang="fr-BE" sz="4000" b="1" i="1" dirty="0">
                <a:cs typeface="Times New Roman" pitchFamily="18" charset="0"/>
              </a:rPr>
              <a:t>8.2. Période de référence débutant dans le trimestre ONSS:</a:t>
            </a:r>
            <a:endParaRPr lang="fr-FR" sz="4000" b="1" i="1" dirty="0">
              <a:cs typeface="Times New Roman" pitchFamily="18" charset="0"/>
            </a:endParaRPr>
          </a:p>
        </p:txBody>
      </p:sp>
      <p:sp>
        <p:nvSpPr>
          <p:cNvPr id="8" name="Espace réservé du contenu 7"/>
          <p:cNvSpPr>
            <a:spLocks noGrp="1"/>
          </p:cNvSpPr>
          <p:nvPr>
            <p:ph idx="1"/>
          </p:nvPr>
        </p:nvSpPr>
        <p:spPr/>
        <p:txBody>
          <a:bodyPr>
            <a:noAutofit/>
          </a:bodyPr>
          <a:lstStyle/>
          <a:p>
            <a:pPr>
              <a:spcBef>
                <a:spcPts val="0"/>
              </a:spcBef>
              <a:buFont typeface="Wingdings" pitchFamily="2" charset="2"/>
              <a:buChar char="§"/>
            </a:pPr>
            <a:r>
              <a:rPr lang="fr-BE" b="1" dirty="0">
                <a:solidFill>
                  <a:srgbClr val="C00000"/>
                </a:solidFill>
              </a:rPr>
              <a:t>Principe de la situation utile des prestations</a:t>
            </a:r>
            <a:r>
              <a:rPr lang="fr-BE" dirty="0"/>
              <a:t>: Si les données reçues par flux A820 ne peuvent pas être situées comme étant en dehors ou dans la période de référence …</a:t>
            </a:r>
          </a:p>
          <a:p>
            <a:pPr>
              <a:spcBef>
                <a:spcPts val="0"/>
              </a:spcBef>
              <a:buFont typeface="Wingdings" pitchFamily="2" charset="2"/>
              <a:buChar char="§"/>
            </a:pPr>
            <a:endParaRPr lang="fr-BE" dirty="0"/>
          </a:p>
          <a:p>
            <a:pPr marL="809625" indent="-457200">
              <a:spcBef>
                <a:spcPts val="0"/>
              </a:spcBef>
              <a:buFont typeface="Wingdings" panose="05000000000000000000" pitchFamily="2" charset="2"/>
              <a:buChar char="è"/>
            </a:pPr>
            <a:r>
              <a:rPr lang="fr-BE" dirty="0">
                <a:sym typeface="Wingdings" pitchFamily="2" charset="2"/>
              </a:rPr>
              <a:t>Les données relatives à cette occupation </a:t>
            </a:r>
            <a:r>
              <a:rPr lang="fr-BE" dirty="0"/>
              <a:t>sont considérées comme étant situées dans la période de référence.</a:t>
            </a:r>
          </a:p>
          <a:p>
            <a:pPr marL="0" indent="0">
              <a:spcBef>
                <a:spcPts val="0"/>
              </a:spcBef>
              <a:buNone/>
            </a:pPr>
            <a:endParaRPr lang="fr-BE" sz="1400" dirty="0"/>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43</a:t>
            </a:fld>
            <a:endParaRPr lang="fr-FR" dirty="0"/>
          </a:p>
        </p:txBody>
      </p:sp>
    </p:spTree>
    <p:extLst>
      <p:ext uri="{BB962C8B-B14F-4D97-AF65-F5344CB8AC3E}">
        <p14:creationId xmlns:p14="http://schemas.microsoft.com/office/powerpoint/2010/main" val="2633046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fontScale="90000"/>
          </a:bodyPr>
          <a:lstStyle/>
          <a:p>
            <a:pPr algn="l"/>
            <a:r>
              <a:rPr lang="fr-BE" sz="4000" b="1" i="1" dirty="0">
                <a:cs typeface="Times New Roman" pitchFamily="18" charset="0"/>
              </a:rPr>
              <a:t>8.2. Période de référence débute dans le trimestre ONSS: </a:t>
            </a:r>
            <a:endParaRPr lang="fr-FR" sz="4000" b="1" i="1" dirty="0">
              <a:cs typeface="Times New Roman" pitchFamily="18" charset="0"/>
            </a:endParaRPr>
          </a:p>
        </p:txBody>
      </p:sp>
      <p:sp>
        <p:nvSpPr>
          <p:cNvPr id="8" name="Espace réservé du contenu 7"/>
          <p:cNvSpPr>
            <a:spLocks noGrp="1"/>
          </p:cNvSpPr>
          <p:nvPr>
            <p:ph idx="1"/>
          </p:nvPr>
        </p:nvSpPr>
        <p:spPr/>
        <p:txBody>
          <a:bodyPr>
            <a:noAutofit/>
          </a:bodyPr>
          <a:lstStyle/>
          <a:p>
            <a:pPr marL="0" indent="0">
              <a:spcBef>
                <a:spcPts val="0"/>
              </a:spcBef>
              <a:buNone/>
            </a:pPr>
            <a:endParaRPr lang="fr-BE" dirty="0"/>
          </a:p>
          <a:p>
            <a:pPr>
              <a:spcBef>
                <a:spcPts val="0"/>
              </a:spcBef>
              <a:buFont typeface="Wingdings" pitchFamily="2" charset="2"/>
              <a:buChar char="§"/>
            </a:pPr>
            <a:r>
              <a:rPr lang="fr-BE" b="1" dirty="0">
                <a:solidFill>
                  <a:srgbClr val="C00000"/>
                </a:solidFill>
              </a:rPr>
              <a:t>Limitation: </a:t>
            </a:r>
            <a:r>
              <a:rPr lang="fr-BE" dirty="0"/>
              <a:t>Le nombre de jours pris en considération pour le trimestre pendant lequel la période de référence prend cours est limité au nombre de jours R6 du début de la période de référence au dernier jour du trimestre concerné.</a:t>
            </a:r>
          </a:p>
          <a:p>
            <a:pPr marL="0" indent="0">
              <a:spcBef>
                <a:spcPts val="0"/>
              </a:spcBef>
              <a:buNone/>
            </a:pPr>
            <a:endParaRPr lang="fr-BE" sz="2000" dirty="0"/>
          </a:p>
          <a:p>
            <a:pPr marL="0" indent="0">
              <a:spcBef>
                <a:spcPts val="0"/>
              </a:spcBef>
              <a:buNone/>
            </a:pPr>
            <a:endParaRPr lang="fr-BE" sz="1400" dirty="0"/>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44</a:t>
            </a:fld>
            <a:endParaRPr lang="fr-FR" dirty="0"/>
          </a:p>
        </p:txBody>
      </p:sp>
    </p:spTree>
    <p:extLst>
      <p:ext uri="{BB962C8B-B14F-4D97-AF65-F5344CB8AC3E}">
        <p14:creationId xmlns:p14="http://schemas.microsoft.com/office/powerpoint/2010/main" val="20179870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64CF5B-6E36-4284-BDB1-EEBF2FF5B63C}"/>
              </a:ext>
            </a:extLst>
          </p:cNvPr>
          <p:cNvSpPr>
            <a:spLocks noGrp="1"/>
          </p:cNvSpPr>
          <p:nvPr>
            <p:ph type="title"/>
          </p:nvPr>
        </p:nvSpPr>
        <p:spPr/>
        <p:txBody>
          <a:bodyPr>
            <a:normAutofit fontScale="90000"/>
          </a:bodyPr>
          <a:lstStyle/>
          <a:p>
            <a:pPr algn="l"/>
            <a:r>
              <a:rPr lang="fr-BE" b="1" i="1" dirty="0">
                <a:cs typeface="Times New Roman" pitchFamily="18" charset="0"/>
              </a:rPr>
              <a:t>8.2. Période de référence débute dans le trimestre ONSS: </a:t>
            </a:r>
            <a:endParaRPr lang="fr-BE" dirty="0"/>
          </a:p>
        </p:txBody>
      </p:sp>
      <p:sp>
        <p:nvSpPr>
          <p:cNvPr id="3" name="Espace réservé du contenu 2">
            <a:extLst>
              <a:ext uri="{FF2B5EF4-FFF2-40B4-BE49-F238E27FC236}">
                <a16:creationId xmlns:a16="http://schemas.microsoft.com/office/drawing/2014/main" id="{231CCB57-A380-4C5D-AA75-12AE5738F3D0}"/>
              </a:ext>
            </a:extLst>
          </p:cNvPr>
          <p:cNvSpPr>
            <a:spLocks noGrp="1"/>
          </p:cNvSpPr>
          <p:nvPr>
            <p:ph idx="1"/>
          </p:nvPr>
        </p:nvSpPr>
        <p:spPr/>
        <p:txBody>
          <a:bodyPr>
            <a:normAutofit/>
          </a:bodyPr>
          <a:lstStyle/>
          <a:p>
            <a:pPr marL="0" indent="0">
              <a:buNone/>
            </a:pPr>
            <a:r>
              <a:rPr lang="fr-BE" sz="2000" u="sng" dirty="0"/>
              <a:t>Exemple:</a:t>
            </a:r>
            <a:r>
              <a:rPr lang="fr-BE" sz="2000" dirty="0"/>
              <a:t> Q/S : 19/38</a:t>
            </a:r>
          </a:p>
          <a:p>
            <a:pPr marL="0" indent="0">
              <a:buNone/>
            </a:pPr>
            <a:r>
              <a:rPr lang="fr-BE" sz="2000" dirty="0"/>
              <a:t>Pér. de référence débute le 10/12/2020</a:t>
            </a:r>
          </a:p>
          <a:p>
            <a:pPr marL="0" indent="0">
              <a:buNone/>
            </a:pPr>
            <a:r>
              <a:rPr lang="fr-BE" sz="2000" dirty="0"/>
              <a:t>DMFA: 247h dans le 4</a:t>
            </a:r>
            <a:r>
              <a:rPr lang="fr-BE" sz="2000" baseline="30000" dirty="0"/>
              <a:t>ème</a:t>
            </a:r>
            <a:r>
              <a:rPr lang="fr-BE" sz="2000" dirty="0"/>
              <a:t> trimestre 2020</a:t>
            </a:r>
          </a:p>
          <a:p>
            <a:pPr marL="0" indent="0">
              <a:buNone/>
            </a:pPr>
            <a:r>
              <a:rPr lang="fr-BE" sz="2000" dirty="0">
                <a:solidFill>
                  <a:srgbClr val="C00000"/>
                </a:solidFill>
              </a:rPr>
              <a:t>Principe de la situation utile des prestations: </a:t>
            </a:r>
            <a:r>
              <a:rPr lang="fr-BE" sz="2000" dirty="0"/>
              <a:t>247*6/38 = </a:t>
            </a:r>
            <a:r>
              <a:rPr lang="fr-BE" sz="2000" b="1" dirty="0"/>
              <a:t>39</a:t>
            </a:r>
            <a:r>
              <a:rPr lang="fr-BE" sz="2000" dirty="0"/>
              <a:t> jours R6</a:t>
            </a:r>
          </a:p>
          <a:p>
            <a:pPr marL="0" indent="0">
              <a:buNone/>
            </a:pPr>
            <a:r>
              <a:rPr lang="fr-BE" sz="2000" dirty="0">
                <a:solidFill>
                  <a:srgbClr val="C00000"/>
                </a:solidFill>
              </a:rPr>
              <a:t>Limitation: </a:t>
            </a:r>
            <a:r>
              <a:rPr lang="fr-BE" sz="2000" b="1" dirty="0"/>
              <a:t>19</a:t>
            </a:r>
            <a:r>
              <a:rPr lang="fr-BE" sz="2000" dirty="0"/>
              <a:t> jours R6 du 10/12/2020 au 31/12/2020</a:t>
            </a:r>
            <a:endParaRPr lang="fr-BE" sz="2000" dirty="0">
              <a:solidFill>
                <a:srgbClr val="C00000"/>
              </a:solidFill>
            </a:endParaRPr>
          </a:p>
        </p:txBody>
      </p:sp>
      <p:sp>
        <p:nvSpPr>
          <p:cNvPr id="4" name="Espace réservé du numéro de diapositive 3">
            <a:extLst>
              <a:ext uri="{FF2B5EF4-FFF2-40B4-BE49-F238E27FC236}">
                <a16:creationId xmlns:a16="http://schemas.microsoft.com/office/drawing/2014/main" id="{AB3A9E15-1E3B-48D4-8C02-895BA7138119}"/>
              </a:ext>
            </a:extLst>
          </p:cNvPr>
          <p:cNvSpPr>
            <a:spLocks noGrp="1"/>
          </p:cNvSpPr>
          <p:nvPr>
            <p:ph type="sldNum" sz="quarter" idx="12"/>
          </p:nvPr>
        </p:nvSpPr>
        <p:spPr/>
        <p:txBody>
          <a:bodyPr/>
          <a:lstStyle/>
          <a:p>
            <a:fld id="{55E9056B-6A30-4F99-BDE9-C450E66AE125}" type="slidenum">
              <a:rPr lang="fr-FR" smtClean="0"/>
              <a:pPr/>
              <a:t>45</a:t>
            </a:fld>
            <a:endParaRPr lang="fr-FR" dirty="0"/>
          </a:p>
        </p:txBody>
      </p:sp>
      <p:pic>
        <p:nvPicPr>
          <p:cNvPr id="11" name="Image 10">
            <a:extLst>
              <a:ext uri="{FF2B5EF4-FFF2-40B4-BE49-F238E27FC236}">
                <a16:creationId xmlns:a16="http://schemas.microsoft.com/office/drawing/2014/main" id="{87D70910-5309-4980-A517-FC4C081B9EA0}"/>
              </a:ext>
            </a:extLst>
          </p:cNvPr>
          <p:cNvPicPr>
            <a:picLocks noChangeAspect="1"/>
          </p:cNvPicPr>
          <p:nvPr/>
        </p:nvPicPr>
        <p:blipFill>
          <a:blip r:embed="rId2"/>
          <a:stretch>
            <a:fillRect/>
          </a:stretch>
        </p:blipFill>
        <p:spPr>
          <a:xfrm>
            <a:off x="338137" y="3645024"/>
            <a:ext cx="8467725" cy="2305050"/>
          </a:xfrm>
          <a:prstGeom prst="rect">
            <a:avLst/>
          </a:prstGeom>
        </p:spPr>
      </p:pic>
    </p:spTree>
    <p:extLst>
      <p:ext uri="{BB962C8B-B14F-4D97-AF65-F5344CB8AC3E}">
        <p14:creationId xmlns:p14="http://schemas.microsoft.com/office/powerpoint/2010/main" val="474013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145CCF4B-2AB3-464F-ACDA-69FCCD46B0CC}"/>
              </a:ext>
            </a:extLst>
          </p:cNvPr>
          <p:cNvSpPr>
            <a:spLocks noGrp="1"/>
          </p:cNvSpPr>
          <p:nvPr>
            <p:ph type="title"/>
          </p:nvPr>
        </p:nvSpPr>
        <p:spPr/>
        <p:txBody>
          <a:bodyPr>
            <a:normAutofit fontScale="90000"/>
          </a:bodyPr>
          <a:lstStyle/>
          <a:p>
            <a:pPr algn="l"/>
            <a:br>
              <a:rPr lang="fr-BE" dirty="0"/>
            </a:br>
            <a:r>
              <a:rPr lang="fr-BE" dirty="0"/>
              <a:t>8.3. Période de référence dans le dernier trimestre ONSS</a:t>
            </a:r>
            <a:br>
              <a:rPr lang="fr-BE" dirty="0"/>
            </a:br>
            <a:endParaRPr lang="fr-BE" dirty="0"/>
          </a:p>
        </p:txBody>
      </p:sp>
      <p:sp>
        <p:nvSpPr>
          <p:cNvPr id="6" name="Espace réservé du contenu 5">
            <a:extLst>
              <a:ext uri="{FF2B5EF4-FFF2-40B4-BE49-F238E27FC236}">
                <a16:creationId xmlns:a16="http://schemas.microsoft.com/office/drawing/2014/main" id="{61D7781A-BC7A-4E51-AC2A-19DA415DC217}"/>
              </a:ext>
            </a:extLst>
          </p:cNvPr>
          <p:cNvSpPr>
            <a:spLocks noGrp="1"/>
          </p:cNvSpPr>
          <p:nvPr>
            <p:ph idx="1"/>
          </p:nvPr>
        </p:nvSpPr>
        <p:spPr>
          <a:xfrm>
            <a:off x="457200" y="1600200"/>
            <a:ext cx="8229600" cy="5121275"/>
          </a:xfrm>
        </p:spPr>
        <p:txBody>
          <a:bodyPr>
            <a:normAutofit/>
          </a:bodyPr>
          <a:lstStyle/>
          <a:p>
            <a:r>
              <a:rPr lang="fr-BE" sz="2800" dirty="0"/>
              <a:t>Si interruption </a:t>
            </a:r>
            <a:r>
              <a:rPr lang="fr-BE" sz="2800" dirty="0">
                <a:solidFill>
                  <a:srgbClr val="C00000"/>
                </a:solidFill>
              </a:rPr>
              <a:t>ET</a:t>
            </a:r>
            <a:r>
              <a:rPr lang="fr-BE" sz="2800" dirty="0"/>
              <a:t> les flux A820 sont indisponibles pour le trimestre ONSS</a:t>
            </a:r>
          </a:p>
          <a:p>
            <a:pPr marL="0" indent="0">
              <a:buNone/>
            </a:pPr>
            <a:r>
              <a:rPr lang="fr-BE" sz="2800" dirty="0">
                <a:sym typeface="Wingdings 3" panose="05040102010807070707" pitchFamily="18" charset="2"/>
              </a:rPr>
              <a:t>	 Annexe C4- Certificat de travail</a:t>
            </a:r>
            <a:endParaRPr lang="fr-BE" sz="2800" dirty="0"/>
          </a:p>
          <a:p>
            <a:r>
              <a:rPr lang="fr-BE" sz="2800" dirty="0"/>
              <a:t>Si pas d’interruption </a:t>
            </a:r>
            <a:r>
              <a:rPr lang="fr-BE" sz="2800" dirty="0">
                <a:solidFill>
                  <a:srgbClr val="C00000"/>
                </a:solidFill>
              </a:rPr>
              <a:t>ET</a:t>
            </a:r>
            <a:r>
              <a:rPr lang="fr-BE" sz="2800" dirty="0"/>
              <a:t> les flux A820 sont  indisponibles pour le dernier trimestre ONSS:</a:t>
            </a:r>
          </a:p>
          <a:p>
            <a:pPr marL="0" indent="0">
              <a:buNone/>
            </a:pPr>
            <a:endParaRPr lang="fr-BE" sz="2800" b="1" dirty="0"/>
          </a:p>
          <a:p>
            <a:r>
              <a:rPr lang="fr-BE" sz="2800" b="1" dirty="0"/>
              <a:t>Temps plein:</a:t>
            </a:r>
            <a:endParaRPr lang="fr-BE" sz="2400" b="1" dirty="0">
              <a:solidFill>
                <a:srgbClr val="C00000"/>
              </a:solidFill>
            </a:endParaRPr>
          </a:p>
          <a:p>
            <a:pPr marL="0" indent="0">
              <a:buNone/>
            </a:pPr>
            <a:endParaRPr lang="fr-BE" sz="2800" b="1" dirty="0"/>
          </a:p>
          <a:p>
            <a:r>
              <a:rPr lang="fr-BE" sz="2800" b="1" dirty="0"/>
              <a:t>Temps partiel:</a:t>
            </a:r>
            <a:endParaRPr lang="fr-BE" sz="2000" b="1" dirty="0">
              <a:solidFill>
                <a:srgbClr val="C00000"/>
              </a:solidFill>
            </a:endParaRPr>
          </a:p>
        </p:txBody>
      </p:sp>
      <p:sp>
        <p:nvSpPr>
          <p:cNvPr id="4" name="Espace réservé du numéro de diapositive 3">
            <a:extLst>
              <a:ext uri="{FF2B5EF4-FFF2-40B4-BE49-F238E27FC236}">
                <a16:creationId xmlns:a16="http://schemas.microsoft.com/office/drawing/2014/main" id="{283A8F76-95E7-4BB5-94E8-43DD9C1BD505}"/>
              </a:ext>
            </a:extLst>
          </p:cNvPr>
          <p:cNvSpPr>
            <a:spLocks noGrp="1"/>
          </p:cNvSpPr>
          <p:nvPr>
            <p:ph type="sldNum" sz="quarter" idx="12"/>
          </p:nvPr>
        </p:nvSpPr>
        <p:spPr/>
        <p:txBody>
          <a:bodyPr/>
          <a:lstStyle/>
          <a:p>
            <a:fld id="{55E9056B-6A30-4F99-BDE9-C450E66AE125}" type="slidenum">
              <a:rPr lang="fr-FR" smtClean="0"/>
              <a:pPr/>
              <a:t>46</a:t>
            </a:fld>
            <a:endParaRPr lang="fr-FR" dirty="0"/>
          </a:p>
        </p:txBody>
      </p:sp>
      <p:sp>
        <p:nvSpPr>
          <p:cNvPr id="16" name="Rectangle 15">
            <a:extLst>
              <a:ext uri="{FF2B5EF4-FFF2-40B4-BE49-F238E27FC236}">
                <a16:creationId xmlns:a16="http://schemas.microsoft.com/office/drawing/2014/main" id="{7BB36971-A49E-4731-B7E8-EC9E2FBEF04D}"/>
              </a:ext>
            </a:extLst>
          </p:cNvPr>
          <p:cNvSpPr/>
          <p:nvPr/>
        </p:nvSpPr>
        <p:spPr>
          <a:xfrm>
            <a:off x="3074616" y="4485100"/>
            <a:ext cx="5616624" cy="720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BE" dirty="0">
                <a:solidFill>
                  <a:srgbClr val="C00000"/>
                </a:solidFill>
              </a:rPr>
              <a:t>Nbre. Jours calendriers (régime 6) entre le début du trimestre et la fin de l’occupation</a:t>
            </a:r>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AA334846-4223-409F-A5FD-3A75A68A7166}"/>
                  </a:ext>
                </a:extLst>
              </p:cNvPr>
              <p:cNvSpPr/>
              <p:nvPr/>
            </p:nvSpPr>
            <p:spPr>
              <a:xfrm>
                <a:off x="3070176" y="5387710"/>
                <a:ext cx="5400600" cy="14702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left"/>
                    </m:oMathParaPr>
                    <m:oMath xmlns:m="http://schemas.openxmlformats.org/officeDocument/2006/math">
                      <m:f>
                        <m:fPr>
                          <m:ctrlPr>
                            <a:rPr lang="fr-BE" i="1" dirty="0" smtClean="0">
                              <a:solidFill>
                                <a:srgbClr val="C00000"/>
                              </a:solidFill>
                              <a:latin typeface="Cambria Math" panose="02040503050406030204" pitchFamily="18" charset="0"/>
                            </a:rPr>
                          </m:ctrlPr>
                        </m:fPr>
                        <m:num>
                          <m:r>
                            <a:rPr lang="fr-BE" i="1" dirty="0">
                              <a:solidFill>
                                <a:srgbClr val="C00000"/>
                              </a:solidFill>
                              <a:latin typeface="Cambria Math" panose="02040503050406030204" pitchFamily="18" charset="0"/>
                            </a:rPr>
                            <m:t>𝑁𝑏𝑟</m:t>
                          </m:r>
                          <m:r>
                            <m:rPr>
                              <m:sty m:val="p"/>
                            </m:rPr>
                            <a:rPr lang="fr-BE" b="0" i="0" dirty="0" smtClean="0">
                              <a:solidFill>
                                <a:srgbClr val="C00000"/>
                              </a:solidFill>
                              <a:latin typeface="Cambria Math" panose="02040503050406030204" pitchFamily="18" charset="0"/>
                            </a:rPr>
                            <m:t>e</m:t>
                          </m:r>
                          <m:r>
                            <a:rPr lang="fr-BE" b="0" i="1" dirty="0" smtClean="0">
                              <a:solidFill>
                                <a:srgbClr val="C00000"/>
                              </a:solidFill>
                              <a:latin typeface="Cambria Math" panose="02040503050406030204" pitchFamily="18" charset="0"/>
                            </a:rPr>
                            <m:t>.  </m:t>
                          </m:r>
                          <m:r>
                            <a:rPr lang="fr-BE" b="0" i="1" dirty="0" smtClean="0">
                              <a:solidFill>
                                <a:srgbClr val="C00000"/>
                              </a:solidFill>
                              <a:latin typeface="Cambria Math" panose="02040503050406030204" pitchFamily="18" charset="0"/>
                            </a:rPr>
                            <m:t>𝑗𝑜𝑢𝑟𝑠</m:t>
                          </m:r>
                          <m:r>
                            <a:rPr lang="fr-BE" b="0" i="1" dirty="0" smtClean="0">
                              <a:solidFill>
                                <a:srgbClr val="C00000"/>
                              </a:solidFill>
                              <a:latin typeface="Cambria Math" panose="02040503050406030204" pitchFamily="18" charset="0"/>
                            </a:rPr>
                            <m:t> </m:t>
                          </m:r>
                          <m:r>
                            <a:rPr lang="fr-BE" b="0" i="1" dirty="0" smtClean="0">
                              <a:solidFill>
                                <a:srgbClr val="C00000"/>
                              </a:solidFill>
                              <a:latin typeface="Cambria Math" panose="02040503050406030204" pitchFamily="18" charset="0"/>
                            </a:rPr>
                            <m:t>𝑐𝑎𝑙𝑒𝑛𝑑𝑟𝑖𝑒𝑟𝑠</m:t>
                          </m:r>
                          <m:r>
                            <a:rPr lang="fr-BE" b="0" i="1" dirty="0" smtClean="0">
                              <a:solidFill>
                                <a:srgbClr val="C00000"/>
                              </a:solidFill>
                              <a:latin typeface="Cambria Math" panose="02040503050406030204" pitchFamily="18" charset="0"/>
                            </a:rPr>
                            <m:t> </m:t>
                          </m:r>
                          <m:r>
                            <a:rPr lang="fr-BE" i="1" dirty="0">
                              <a:solidFill>
                                <a:srgbClr val="C00000"/>
                              </a:solidFill>
                              <a:latin typeface="Cambria Math" panose="02040503050406030204" pitchFamily="18" charset="0"/>
                            </a:rPr>
                            <m:t>𝑋</m:t>
                          </m:r>
                          <m:r>
                            <a:rPr lang="fr-BE" b="0" i="1" dirty="0" smtClean="0">
                              <a:solidFill>
                                <a:srgbClr val="C00000"/>
                              </a:solidFill>
                              <a:latin typeface="Cambria Math" panose="02040503050406030204" pitchFamily="18" charset="0"/>
                            </a:rPr>
                            <m:t> </m:t>
                          </m:r>
                          <m:r>
                            <a:rPr lang="fr-BE" i="1" dirty="0">
                              <a:solidFill>
                                <a:srgbClr val="C00000"/>
                              </a:solidFill>
                              <a:latin typeface="Cambria Math" panose="02040503050406030204" pitchFamily="18" charset="0"/>
                            </a:rPr>
                            <m:t>𝑄</m:t>
                          </m:r>
                        </m:num>
                        <m:den>
                          <m:r>
                            <a:rPr lang="fr-BE" i="0" dirty="0">
                              <a:solidFill>
                                <a:srgbClr val="C00000"/>
                              </a:solidFill>
                              <a:latin typeface="Cambria Math" panose="02040503050406030204" pitchFamily="18" charset="0"/>
                            </a:rPr>
                            <m:t>7</m:t>
                          </m:r>
                        </m:den>
                      </m:f>
                      <m:r>
                        <a:rPr lang="fr-BE" b="0" i="0" dirty="0" smtClean="0">
                          <a:solidFill>
                            <a:srgbClr val="C00000"/>
                          </a:solidFill>
                          <a:latin typeface="Cambria Math" panose="02040503050406030204" pitchFamily="18" charset="0"/>
                        </a:rPr>
                        <m:t>=</m:t>
                      </m:r>
                      <m:r>
                        <m:rPr>
                          <m:sty m:val="p"/>
                        </m:rPr>
                        <a:rPr lang="fr-BE" b="0" i="0" dirty="0" smtClean="0">
                          <a:solidFill>
                            <a:srgbClr val="C00000"/>
                          </a:solidFill>
                          <a:latin typeface="Cambria Math" panose="02040503050406030204" pitchFamily="18" charset="0"/>
                        </a:rPr>
                        <m:t>Nbre</m:t>
                      </m:r>
                      <m:r>
                        <a:rPr lang="fr-BE" b="0" i="0" dirty="0" smtClean="0">
                          <a:solidFill>
                            <a:srgbClr val="C00000"/>
                          </a:solidFill>
                          <a:latin typeface="Cambria Math" panose="02040503050406030204" pitchFamily="18" charset="0"/>
                        </a:rPr>
                        <m:t>. </m:t>
                      </m:r>
                      <m:r>
                        <m:rPr>
                          <m:sty m:val="p"/>
                        </m:rPr>
                        <a:rPr lang="fr-BE" b="0" i="1" dirty="0" smtClean="0">
                          <a:solidFill>
                            <a:srgbClr val="C00000"/>
                          </a:solidFill>
                          <a:latin typeface="Cambria Math" panose="02040503050406030204" pitchFamily="18" charset="0"/>
                        </a:rPr>
                        <m:t>H</m:t>
                      </m:r>
                      <m:r>
                        <m:rPr>
                          <m:sty m:val="p"/>
                        </m:rPr>
                        <a:rPr lang="fr-BE" b="0" i="0" dirty="0" smtClean="0">
                          <a:solidFill>
                            <a:srgbClr val="C00000"/>
                          </a:solidFill>
                          <a:latin typeface="Cambria Math" panose="02040503050406030204" pitchFamily="18" charset="0"/>
                        </a:rPr>
                        <m:t>eures</m:t>
                      </m:r>
                    </m:oMath>
                  </m:oMathPara>
                </a14:m>
                <a:endParaRPr lang="fr-BE" b="0" dirty="0">
                  <a:solidFill>
                    <a:srgbClr val="C00000"/>
                  </a:solidFill>
                </a:endParaRPr>
              </a:p>
              <a:p>
                <a:pPr algn="ctr"/>
                <a14:m>
                  <m:oMathPara xmlns:m="http://schemas.openxmlformats.org/officeDocument/2006/math">
                    <m:oMathParaPr>
                      <m:jc m:val="left"/>
                    </m:oMathParaPr>
                    <m:oMath xmlns:m="http://schemas.openxmlformats.org/officeDocument/2006/math">
                      <m:f>
                        <m:fPr>
                          <m:ctrlPr>
                            <a:rPr lang="fr-BE" i="1" dirty="0" smtClean="0">
                              <a:solidFill>
                                <a:srgbClr val="C00000"/>
                              </a:solidFill>
                              <a:latin typeface="Cambria Math" panose="02040503050406030204" pitchFamily="18" charset="0"/>
                            </a:rPr>
                          </m:ctrlPr>
                        </m:fPr>
                        <m:num>
                          <m:eqArr>
                            <m:eqArrPr>
                              <m:ctrlPr>
                                <a:rPr lang="fr-BE" b="0" i="1" dirty="0" smtClean="0">
                                  <a:solidFill>
                                    <a:srgbClr val="C00000"/>
                                  </a:solidFill>
                                  <a:latin typeface="Cambria Math" panose="02040503050406030204" pitchFamily="18" charset="0"/>
                                </a:rPr>
                              </m:ctrlPr>
                            </m:eqArrPr>
                            <m:e/>
                            <m:e>
                              <m:r>
                                <a:rPr lang="fr-BE" b="0" i="1" dirty="0" smtClean="0">
                                  <a:solidFill>
                                    <a:srgbClr val="C00000"/>
                                  </a:solidFill>
                                  <a:latin typeface="Cambria Math" panose="02040503050406030204" pitchFamily="18" charset="0"/>
                                </a:rPr>
                                <m:t>𝑁𝑏𝑟𝑒</m:t>
                              </m:r>
                              <m:r>
                                <a:rPr lang="fr-BE" b="0" i="1" dirty="0" smtClean="0">
                                  <a:solidFill>
                                    <a:srgbClr val="C00000"/>
                                  </a:solidFill>
                                  <a:latin typeface="Cambria Math" panose="02040503050406030204" pitchFamily="18" charset="0"/>
                                </a:rPr>
                                <m:t>.  </m:t>
                              </m:r>
                              <m:r>
                                <a:rPr lang="fr-BE" b="0" i="1" dirty="0" smtClean="0">
                                  <a:solidFill>
                                    <a:srgbClr val="C00000"/>
                                  </a:solidFill>
                                  <a:latin typeface="Cambria Math" panose="02040503050406030204" pitchFamily="18" charset="0"/>
                                </a:rPr>
                                <m:t>h𝑒𝑢𝑟𝑒𝑠</m:t>
                              </m:r>
                              <m:r>
                                <a:rPr lang="fr-BE" i="0" dirty="0">
                                  <a:solidFill>
                                    <a:srgbClr val="C00000"/>
                                  </a:solidFill>
                                  <a:latin typeface="Cambria Math" panose="02040503050406030204" pitchFamily="18" charset="0"/>
                                </a:rPr>
                                <m:t>×6</m:t>
                              </m:r>
                            </m:e>
                          </m:eqArr>
                        </m:num>
                        <m:den>
                          <m:r>
                            <a:rPr lang="fr-BE" i="1" dirty="0">
                              <a:solidFill>
                                <a:srgbClr val="C00000"/>
                              </a:solidFill>
                              <a:latin typeface="Cambria Math" panose="02040503050406030204" pitchFamily="18" charset="0"/>
                            </a:rPr>
                            <m:t>𝑠</m:t>
                          </m:r>
                        </m:den>
                      </m:f>
                      <m:r>
                        <a:rPr lang="fr-BE" i="1" dirty="0" smtClean="0">
                          <a:solidFill>
                            <a:srgbClr val="C00000"/>
                          </a:solidFill>
                          <a:latin typeface="Cambria Math" panose="02040503050406030204" pitchFamily="18" charset="0"/>
                          <a:ea typeface="Cambria Math" panose="02040503050406030204" pitchFamily="18" charset="0"/>
                        </a:rPr>
                        <m:t>=</m:t>
                      </m:r>
                      <m:r>
                        <a:rPr lang="fr-BE" b="0" i="1" dirty="0" smtClean="0">
                          <a:solidFill>
                            <a:srgbClr val="C00000"/>
                          </a:solidFill>
                          <a:latin typeface="Cambria Math" panose="02040503050406030204" pitchFamily="18" charset="0"/>
                          <a:ea typeface="Cambria Math" panose="02040503050406030204" pitchFamily="18" charset="0"/>
                        </a:rPr>
                        <m:t>𝑁𝑏𝑟𝑒</m:t>
                      </m:r>
                      <m:r>
                        <a:rPr lang="fr-BE" b="0" i="1" dirty="0" smtClean="0">
                          <a:solidFill>
                            <a:srgbClr val="C00000"/>
                          </a:solidFill>
                          <a:latin typeface="Cambria Math" panose="02040503050406030204" pitchFamily="18" charset="0"/>
                          <a:ea typeface="Cambria Math" panose="02040503050406030204" pitchFamily="18" charset="0"/>
                        </a:rPr>
                        <m:t> </m:t>
                      </m:r>
                      <m:r>
                        <a:rPr lang="fr-BE" b="0" i="1" dirty="0" smtClean="0">
                          <a:solidFill>
                            <a:srgbClr val="C00000"/>
                          </a:solidFill>
                          <a:latin typeface="Cambria Math" panose="02040503050406030204" pitchFamily="18" charset="0"/>
                          <a:ea typeface="Cambria Math" panose="02040503050406030204" pitchFamily="18" charset="0"/>
                        </a:rPr>
                        <m:t>𝑗𝑜𝑢𝑟𝑠</m:t>
                      </m:r>
                      <m:r>
                        <a:rPr lang="fr-BE" b="0" i="1" dirty="0" smtClean="0">
                          <a:solidFill>
                            <a:srgbClr val="C00000"/>
                          </a:solidFill>
                          <a:latin typeface="Cambria Math" panose="02040503050406030204" pitchFamily="18" charset="0"/>
                          <a:ea typeface="Cambria Math" panose="02040503050406030204" pitchFamily="18" charset="0"/>
                        </a:rPr>
                        <m:t> (</m:t>
                      </m:r>
                      <m:r>
                        <a:rPr lang="fr-BE" b="0" i="1" dirty="0" smtClean="0">
                          <a:solidFill>
                            <a:srgbClr val="C00000"/>
                          </a:solidFill>
                          <a:latin typeface="Cambria Math" panose="02040503050406030204" pitchFamily="18" charset="0"/>
                          <a:ea typeface="Cambria Math" panose="02040503050406030204" pitchFamily="18" charset="0"/>
                        </a:rPr>
                        <m:t>𝑅</m:t>
                      </m:r>
                      <m:r>
                        <a:rPr lang="fr-BE" b="0" i="1" dirty="0" smtClean="0">
                          <a:solidFill>
                            <a:srgbClr val="C00000"/>
                          </a:solidFill>
                          <a:latin typeface="Cambria Math" panose="02040503050406030204" pitchFamily="18" charset="0"/>
                          <a:ea typeface="Cambria Math" panose="02040503050406030204" pitchFamily="18" charset="0"/>
                        </a:rPr>
                        <m:t>6)</m:t>
                      </m:r>
                    </m:oMath>
                  </m:oMathPara>
                </a14:m>
                <a:endParaRPr lang="fr-BE" dirty="0"/>
              </a:p>
            </p:txBody>
          </p:sp>
        </mc:Choice>
        <mc:Fallback xmlns="">
          <p:sp>
            <p:nvSpPr>
              <p:cNvPr id="17" name="Rectangle 16">
                <a:extLst>
                  <a:ext uri="{FF2B5EF4-FFF2-40B4-BE49-F238E27FC236}">
                    <a16:creationId xmlns:a16="http://schemas.microsoft.com/office/drawing/2014/main" id="{AA334846-4223-409F-A5FD-3A75A68A7166}"/>
                  </a:ext>
                </a:extLst>
              </p:cNvPr>
              <p:cNvSpPr>
                <a:spLocks noRot="1" noChangeAspect="1" noMove="1" noResize="1" noEditPoints="1" noAdjustHandles="1" noChangeArrowheads="1" noChangeShapeType="1" noTextEdit="1"/>
              </p:cNvSpPr>
              <p:nvPr/>
            </p:nvSpPr>
            <p:spPr>
              <a:xfrm>
                <a:off x="3070176" y="5387710"/>
                <a:ext cx="5400600" cy="1470290"/>
              </a:xfrm>
              <a:prstGeom prst="rect">
                <a:avLst/>
              </a:prstGeom>
              <a:blipFill>
                <a:blip r:embed="rId2"/>
                <a:stretch>
                  <a:fillRect/>
                </a:stretch>
              </a:blipFill>
              <a:ln>
                <a:noFill/>
              </a:ln>
            </p:spPr>
            <p:txBody>
              <a:bodyPr/>
              <a:lstStyle/>
              <a:p>
                <a:r>
                  <a:rPr lang="fr-BE">
                    <a:noFill/>
                  </a:rPr>
                  <a:t> </a:t>
                </a:r>
              </a:p>
            </p:txBody>
          </p:sp>
        </mc:Fallback>
      </mc:AlternateContent>
    </p:spTree>
    <p:extLst>
      <p:ext uri="{BB962C8B-B14F-4D97-AF65-F5344CB8AC3E}">
        <p14:creationId xmlns:p14="http://schemas.microsoft.com/office/powerpoint/2010/main" val="2919255863"/>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par>
                          <p:cTn id="17" fill="hold">
                            <p:stCondLst>
                              <p:cond delay="0"/>
                            </p:stCondLst>
                            <p:childTnLst>
                              <p:par>
                                <p:cTn id="18" presetID="10" presetClass="entr" presetSubtype="0" fill="hold" grpId="0" nodeType="afterEffect">
                                  <p:stCondLst>
                                    <p:cond delay="0"/>
                                  </p:stCondLst>
                                  <p:iterate type="wd">
                                    <p:tmPct val="10000"/>
                                  </p:iterate>
                                  <p:childTnLst>
                                    <p:set>
                                      <p:cBhvr>
                                        <p:cTn id="19" dur="1" fill="hold">
                                          <p:stCondLst>
                                            <p:cond delay="0"/>
                                          </p:stCondLst>
                                        </p:cTn>
                                        <p:tgtEl>
                                          <p:spTgt spid="16"/>
                                        </p:tgtEl>
                                        <p:attrNameLst>
                                          <p:attrName>style.visibility</p:attrName>
                                        </p:attrNameLst>
                                      </p:cBhvr>
                                      <p:to>
                                        <p:strVal val="visible"/>
                                      </p:to>
                                    </p:set>
                                    <p:animEffect transition="in" filter="fade">
                                      <p:cBhvr>
                                        <p:cTn id="20" dur="10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par>
                          <p:cTn id="25" fill="hold">
                            <p:stCondLst>
                              <p:cond delay="0"/>
                            </p:stCondLst>
                            <p:childTnLst>
                              <p:par>
                                <p:cTn id="26" presetID="10" presetClass="entr" presetSubtype="0" fill="hold" grpId="0" nodeType="afterEffect">
                                  <p:stCondLst>
                                    <p:cond delay="0"/>
                                  </p:stCondLst>
                                  <p:iterate type="wd">
                                    <p:tmPct val="10000"/>
                                  </p:iterate>
                                  <p:childTnLst>
                                    <p:set>
                                      <p:cBhvr>
                                        <p:cTn id="27" dur="1" fill="hold">
                                          <p:stCondLst>
                                            <p:cond delay="0"/>
                                          </p:stCondLst>
                                        </p:cTn>
                                        <p:tgtEl>
                                          <p:spTgt spid="17"/>
                                        </p:tgtEl>
                                        <p:attrNameLst>
                                          <p:attrName>style.visibility</p:attrName>
                                        </p:attrNameLst>
                                      </p:cBhvr>
                                      <p:to>
                                        <p:strVal val="visible"/>
                                      </p:to>
                                    </p:set>
                                    <p:animEffect transition="in" filter="fade">
                                      <p:cBhvr>
                                        <p:cTn id="28"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35265B-B646-448B-8C00-25B247F426D3}"/>
              </a:ext>
            </a:extLst>
          </p:cNvPr>
          <p:cNvSpPr>
            <a:spLocks noGrp="1"/>
          </p:cNvSpPr>
          <p:nvPr>
            <p:ph type="title"/>
          </p:nvPr>
        </p:nvSpPr>
        <p:spPr/>
        <p:txBody>
          <a:bodyPr>
            <a:normAutofit fontScale="90000"/>
          </a:bodyPr>
          <a:lstStyle/>
          <a:p>
            <a:pPr algn="l"/>
            <a:r>
              <a:rPr lang="fr-BE" dirty="0"/>
              <a:t>8.3. Période de référence dans le dernier trimestre ONSS</a:t>
            </a:r>
          </a:p>
        </p:txBody>
      </p:sp>
      <p:sp>
        <p:nvSpPr>
          <p:cNvPr id="3" name="Espace réservé du contenu 2">
            <a:extLst>
              <a:ext uri="{FF2B5EF4-FFF2-40B4-BE49-F238E27FC236}">
                <a16:creationId xmlns:a16="http://schemas.microsoft.com/office/drawing/2014/main" id="{566BE3B3-EA91-45A0-B10E-0904075491A2}"/>
              </a:ext>
            </a:extLst>
          </p:cNvPr>
          <p:cNvSpPr>
            <a:spLocks noGrp="1"/>
          </p:cNvSpPr>
          <p:nvPr>
            <p:ph idx="1"/>
          </p:nvPr>
        </p:nvSpPr>
        <p:spPr/>
        <p:txBody>
          <a:bodyPr/>
          <a:lstStyle/>
          <a:p>
            <a:pPr marL="0" indent="0">
              <a:buNone/>
            </a:pPr>
            <a:r>
              <a:rPr lang="fr-BE" sz="2400" u="sng" dirty="0"/>
              <a:t>Exemple:</a:t>
            </a:r>
            <a:r>
              <a:rPr lang="fr-BE" sz="2400" dirty="0"/>
              <a:t> Occupation du 17/01/2020 jusqu’au 27/11/2022 inclus à raison de 24/38 et nous ne connaissons pas le 4</a:t>
            </a:r>
            <a:r>
              <a:rPr lang="fr-BE" sz="2400" baseline="30000" dirty="0"/>
              <a:t>ème</a:t>
            </a:r>
            <a:r>
              <a:rPr lang="fr-BE" sz="2400" dirty="0"/>
              <a:t> trimestre ONSS de 2022 mais l’employeur a indiqué sur le C4 qu’il n’y avait pas d’interruption:</a:t>
            </a:r>
          </a:p>
          <a:p>
            <a:pPr marL="0" indent="0">
              <a:buNone/>
            </a:pPr>
            <a:endParaRPr lang="fr-BE" sz="2400" dirty="0"/>
          </a:p>
        </p:txBody>
      </p:sp>
      <p:sp>
        <p:nvSpPr>
          <p:cNvPr id="4" name="Espace réservé du numéro de diapositive 3">
            <a:extLst>
              <a:ext uri="{FF2B5EF4-FFF2-40B4-BE49-F238E27FC236}">
                <a16:creationId xmlns:a16="http://schemas.microsoft.com/office/drawing/2014/main" id="{F73CDABC-6547-4568-8420-C8BD1DC76281}"/>
              </a:ext>
            </a:extLst>
          </p:cNvPr>
          <p:cNvSpPr>
            <a:spLocks noGrp="1"/>
          </p:cNvSpPr>
          <p:nvPr>
            <p:ph type="sldNum" sz="quarter" idx="12"/>
          </p:nvPr>
        </p:nvSpPr>
        <p:spPr/>
        <p:txBody>
          <a:bodyPr/>
          <a:lstStyle/>
          <a:p>
            <a:fld id="{55E9056B-6A30-4F99-BDE9-C450E66AE125}" type="slidenum">
              <a:rPr lang="fr-FR" smtClean="0"/>
              <a:pPr/>
              <a:t>47</a:t>
            </a:fld>
            <a:endParaRPr lang="fr-FR" dirty="0"/>
          </a:p>
        </p:txBody>
      </p:sp>
    </p:spTree>
    <p:extLst>
      <p:ext uri="{BB962C8B-B14F-4D97-AF65-F5344CB8AC3E}">
        <p14:creationId xmlns:p14="http://schemas.microsoft.com/office/powerpoint/2010/main" val="19146530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pPr algn="l"/>
            <a:r>
              <a:rPr lang="fr-BE" sz="4000" b="1" i="1" dirty="0"/>
              <a:t>8.4. Arrondi</a:t>
            </a:r>
            <a:endParaRPr lang="fr-FR" sz="4000" b="1" i="1" dirty="0">
              <a:cs typeface="Times New Roman" pitchFamily="18" charset="0"/>
            </a:endParaRPr>
          </a:p>
        </p:txBody>
      </p:sp>
      <p:sp>
        <p:nvSpPr>
          <p:cNvPr id="8" name="Espace réservé du contenu 7"/>
          <p:cNvSpPr>
            <a:spLocks noGrp="1"/>
          </p:cNvSpPr>
          <p:nvPr>
            <p:ph idx="1"/>
          </p:nvPr>
        </p:nvSpPr>
        <p:spPr/>
        <p:txBody>
          <a:bodyPr>
            <a:normAutofit/>
          </a:bodyPr>
          <a:lstStyle/>
          <a:p>
            <a:pPr>
              <a:spcBef>
                <a:spcPts val="0"/>
              </a:spcBef>
              <a:buSzPct val="100000"/>
              <a:buFont typeface="Wingdings" pitchFamily="2" charset="2"/>
              <a:buChar char="§"/>
            </a:pPr>
            <a:r>
              <a:rPr lang="fr-BE" sz="3000" dirty="0">
                <a:cs typeface="Times New Roman" pitchFamily="18" charset="0"/>
              </a:rPr>
              <a:t>Pour les </a:t>
            </a:r>
            <a:r>
              <a:rPr lang="fr-BE" sz="3000" b="1" dirty="0">
                <a:solidFill>
                  <a:srgbClr val="C00000"/>
                </a:solidFill>
                <a:cs typeface="Times New Roman" pitchFamily="18" charset="0"/>
              </a:rPr>
              <a:t>calculs intermédiaires</a:t>
            </a:r>
            <a:r>
              <a:rPr lang="fr-BE" sz="3000" dirty="0">
                <a:cs typeface="Times New Roman" pitchFamily="18" charset="0"/>
              </a:rPr>
              <a:t>, nous conservons </a:t>
            </a:r>
            <a:r>
              <a:rPr lang="fr-BE" sz="3000" b="1" dirty="0">
                <a:cs typeface="Times New Roman" pitchFamily="18" charset="0"/>
              </a:rPr>
              <a:t>toujours 4 chiffres après la virgule </a:t>
            </a:r>
            <a:r>
              <a:rPr lang="fr-BE" sz="3000" dirty="0">
                <a:cs typeface="Times New Roman" pitchFamily="18" charset="0"/>
              </a:rPr>
              <a:t>:</a:t>
            </a:r>
          </a:p>
          <a:p>
            <a:pPr marL="0" indent="0">
              <a:spcBef>
                <a:spcPts val="0"/>
              </a:spcBef>
              <a:buSzPct val="100000"/>
              <a:buNone/>
            </a:pPr>
            <a:endParaRPr lang="fr-BE" sz="800" dirty="0">
              <a:cs typeface="Times New Roman" pitchFamily="18" charset="0"/>
            </a:endParaRPr>
          </a:p>
          <a:p>
            <a:pPr marL="357188" indent="0">
              <a:spcBef>
                <a:spcPts val="0"/>
              </a:spcBef>
              <a:buSzPct val="80000"/>
              <a:buNone/>
            </a:pPr>
            <a:r>
              <a:rPr lang="fr-BE" sz="2800" dirty="0">
                <a:cs typeface="Times New Roman" pitchFamily="18" charset="0"/>
              </a:rPr>
              <a:t>2022/2 : 149 x 6/38 = 23,526</a:t>
            </a:r>
            <a:r>
              <a:rPr lang="fr-BE" sz="2800" b="1" u="sng" dirty="0">
                <a:cs typeface="Times New Roman" pitchFamily="18" charset="0"/>
              </a:rPr>
              <a:t>3</a:t>
            </a:r>
            <a:r>
              <a:rPr lang="fr-BE" sz="2800" b="1" u="sng" dirty="0">
                <a:solidFill>
                  <a:srgbClr val="C00000"/>
                </a:solidFill>
                <a:cs typeface="Times New Roman" pitchFamily="18" charset="0"/>
              </a:rPr>
              <a:t>1</a:t>
            </a:r>
            <a:r>
              <a:rPr lang="fr-BE" sz="2800" dirty="0">
                <a:cs typeface="Times New Roman" pitchFamily="18" charset="0"/>
              </a:rPr>
              <a:t>578947368 = 23,526</a:t>
            </a:r>
            <a:r>
              <a:rPr lang="fr-BE" sz="2800" b="1" u="sng" dirty="0">
                <a:cs typeface="Times New Roman" pitchFamily="18" charset="0"/>
              </a:rPr>
              <a:t>3</a:t>
            </a:r>
          </a:p>
          <a:p>
            <a:pPr marL="357188" indent="0">
              <a:spcBef>
                <a:spcPts val="0"/>
              </a:spcBef>
              <a:buSzPct val="80000"/>
              <a:buNone/>
            </a:pPr>
            <a:r>
              <a:rPr lang="fr-BE" sz="2800" dirty="0">
                <a:cs typeface="Times New Roman" pitchFamily="18" charset="0"/>
              </a:rPr>
              <a:t>2022/3 : 154 x 6/38 = 24,315</a:t>
            </a:r>
            <a:r>
              <a:rPr lang="fr-BE" sz="2800" b="1" u="sng" dirty="0">
                <a:cs typeface="Times New Roman" pitchFamily="18" charset="0"/>
              </a:rPr>
              <a:t>7</a:t>
            </a:r>
            <a:r>
              <a:rPr lang="fr-BE" sz="2800" b="1" u="sng" dirty="0">
                <a:solidFill>
                  <a:srgbClr val="C00000"/>
                </a:solidFill>
                <a:cs typeface="Times New Roman" pitchFamily="18" charset="0"/>
              </a:rPr>
              <a:t>8</a:t>
            </a:r>
            <a:r>
              <a:rPr lang="fr-BE" sz="2800" dirty="0">
                <a:cs typeface="Times New Roman" pitchFamily="18" charset="0"/>
              </a:rPr>
              <a:t>947368421 = 24,315</a:t>
            </a:r>
            <a:r>
              <a:rPr lang="fr-BE" sz="2800" b="1" u="sng" dirty="0">
                <a:cs typeface="Times New Roman" pitchFamily="18" charset="0"/>
              </a:rPr>
              <a:t>8</a:t>
            </a:r>
          </a:p>
          <a:p>
            <a:pPr marL="0" indent="0">
              <a:spcBef>
                <a:spcPts val="0"/>
              </a:spcBef>
              <a:buSzPct val="80000"/>
              <a:buNone/>
            </a:pPr>
            <a:endParaRPr lang="fr-BE" sz="2000" b="1" u="sng" dirty="0">
              <a:cs typeface="Times New Roman" pitchFamily="18" charset="0"/>
            </a:endParaRPr>
          </a:p>
          <a:p>
            <a:pPr>
              <a:spcBef>
                <a:spcPts val="0"/>
              </a:spcBef>
              <a:buSzPct val="100000"/>
              <a:buFont typeface="Wingdings" pitchFamily="2" charset="2"/>
              <a:buChar char="§"/>
            </a:pPr>
            <a:r>
              <a:rPr lang="fr-BE" sz="3000" dirty="0">
                <a:cs typeface="Times New Roman" pitchFamily="18" charset="0"/>
              </a:rPr>
              <a:t>Les différents résultats obtenus par trimestre sont additionnés et </a:t>
            </a:r>
            <a:r>
              <a:rPr lang="fr-BE" sz="3000" b="1" dirty="0">
                <a:solidFill>
                  <a:srgbClr val="C00000"/>
                </a:solidFill>
                <a:cs typeface="Times New Roman" pitchFamily="18" charset="0"/>
              </a:rPr>
              <a:t>arrondis à l’unité supérieure en fin d’addition</a:t>
            </a:r>
            <a:r>
              <a:rPr lang="fr-BE" sz="3000" dirty="0">
                <a:cs typeface="Times New Roman" pitchFamily="18" charset="0"/>
              </a:rPr>
              <a:t> :</a:t>
            </a:r>
          </a:p>
          <a:p>
            <a:pPr marL="0" indent="0">
              <a:spcBef>
                <a:spcPts val="0"/>
              </a:spcBef>
              <a:buSzPct val="100000"/>
              <a:buNone/>
            </a:pPr>
            <a:endParaRPr lang="fr-BE" sz="800" dirty="0">
              <a:cs typeface="Times New Roman" pitchFamily="18" charset="0"/>
            </a:endParaRPr>
          </a:p>
          <a:p>
            <a:pPr marL="357188" indent="0">
              <a:spcBef>
                <a:spcPts val="0"/>
              </a:spcBef>
              <a:buSzPct val="80000"/>
              <a:buNone/>
            </a:pPr>
            <a:r>
              <a:rPr lang="fr-BE" sz="2800" dirty="0">
                <a:cs typeface="Times New Roman" pitchFamily="18" charset="0"/>
              </a:rPr>
              <a:t>23,5263 + 24,3158 = 47,8421 </a:t>
            </a:r>
            <a:r>
              <a:rPr lang="fr-BE" sz="2400" dirty="0">
                <a:cs typeface="Times New Roman" pitchFamily="18" charset="0"/>
                <a:sym typeface="Wingdings" pitchFamily="2" charset="2"/>
              </a:rPr>
              <a:t></a:t>
            </a:r>
            <a:r>
              <a:rPr lang="fr-BE" sz="2800" dirty="0">
                <a:cs typeface="Times New Roman" pitchFamily="18" charset="0"/>
              </a:rPr>
              <a:t> 48 jours.</a:t>
            </a:r>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48</a:t>
            </a:fld>
            <a:endParaRPr lang="fr-FR" dirty="0"/>
          </a:p>
        </p:txBody>
      </p:sp>
    </p:spTree>
    <p:extLst>
      <p:ext uri="{BB962C8B-B14F-4D97-AF65-F5344CB8AC3E}">
        <p14:creationId xmlns:p14="http://schemas.microsoft.com/office/powerpoint/2010/main" val="17287009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10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fade">
                                      <p:cBhvr>
                                        <p:cTn id="22" dur="1000"/>
                                        <p:tgtEl>
                                          <p:spTgt spid="8">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7" end="7"/>
                                            </p:txEl>
                                          </p:spTgt>
                                        </p:tgtEl>
                                        <p:attrNameLst>
                                          <p:attrName>style.visibility</p:attrName>
                                        </p:attrNameLst>
                                      </p:cBhvr>
                                      <p:to>
                                        <p:strVal val="visible"/>
                                      </p:to>
                                    </p:set>
                                    <p:animEffect transition="in" filter="fade">
                                      <p:cBhvr>
                                        <p:cTn id="27" dur="10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re 13">
            <a:extLst>
              <a:ext uri="{FF2B5EF4-FFF2-40B4-BE49-F238E27FC236}">
                <a16:creationId xmlns:a16="http://schemas.microsoft.com/office/drawing/2014/main" id="{58CC7B12-4266-41C2-8448-783E7DD50481}"/>
              </a:ext>
            </a:extLst>
          </p:cNvPr>
          <p:cNvSpPr>
            <a:spLocks noGrp="1"/>
          </p:cNvSpPr>
          <p:nvPr>
            <p:ph type="title"/>
          </p:nvPr>
        </p:nvSpPr>
        <p:spPr>
          <a:xfrm>
            <a:off x="457200" y="274638"/>
            <a:ext cx="8229600" cy="418058"/>
          </a:xfrm>
        </p:spPr>
        <p:txBody>
          <a:bodyPr>
            <a:normAutofit fontScale="90000"/>
          </a:bodyPr>
          <a:lstStyle/>
          <a:p>
            <a:pPr algn="l"/>
            <a:r>
              <a:rPr lang="fr-BE" sz="4000" b="1" dirty="0"/>
              <a:t>9. Horizon &amp; DMFA</a:t>
            </a:r>
          </a:p>
        </p:txBody>
      </p:sp>
      <p:sp>
        <p:nvSpPr>
          <p:cNvPr id="4" name="Espace réservé du numéro de diapositive 3">
            <a:extLst>
              <a:ext uri="{FF2B5EF4-FFF2-40B4-BE49-F238E27FC236}">
                <a16:creationId xmlns:a16="http://schemas.microsoft.com/office/drawing/2014/main" id="{9C2C86AE-7CF5-4B95-BCA4-87E83D744A8E}"/>
              </a:ext>
            </a:extLst>
          </p:cNvPr>
          <p:cNvSpPr>
            <a:spLocks noGrp="1"/>
          </p:cNvSpPr>
          <p:nvPr>
            <p:ph type="sldNum" sz="quarter" idx="12"/>
          </p:nvPr>
        </p:nvSpPr>
        <p:spPr/>
        <p:txBody>
          <a:bodyPr/>
          <a:lstStyle/>
          <a:p>
            <a:fld id="{55E9056B-6A30-4F99-BDE9-C450E66AE125}" type="slidenum">
              <a:rPr lang="fr-FR" smtClean="0"/>
              <a:pPr/>
              <a:t>49</a:t>
            </a:fld>
            <a:endParaRPr lang="fr-FR" dirty="0"/>
          </a:p>
        </p:txBody>
      </p:sp>
      <p:pic>
        <p:nvPicPr>
          <p:cNvPr id="5" name="Image 4">
            <a:extLst>
              <a:ext uri="{FF2B5EF4-FFF2-40B4-BE49-F238E27FC236}">
                <a16:creationId xmlns:a16="http://schemas.microsoft.com/office/drawing/2014/main" id="{5BC7D121-01DD-4ABD-A927-ACE3477D2452}"/>
              </a:ext>
            </a:extLst>
          </p:cNvPr>
          <p:cNvPicPr>
            <a:picLocks noChangeAspect="1"/>
          </p:cNvPicPr>
          <p:nvPr/>
        </p:nvPicPr>
        <p:blipFill rotWithShape="1">
          <a:blip r:embed="rId3"/>
          <a:srcRect t="9068" r="19288" b="31800"/>
          <a:stretch/>
        </p:blipFill>
        <p:spPr>
          <a:xfrm>
            <a:off x="0" y="764704"/>
            <a:ext cx="9144000" cy="6032085"/>
          </a:xfrm>
          <a:prstGeom prst="rect">
            <a:avLst/>
          </a:prstGeom>
        </p:spPr>
      </p:pic>
      <p:sp>
        <p:nvSpPr>
          <p:cNvPr id="6" name="Rectangle 5">
            <a:extLst>
              <a:ext uri="{FF2B5EF4-FFF2-40B4-BE49-F238E27FC236}">
                <a16:creationId xmlns:a16="http://schemas.microsoft.com/office/drawing/2014/main" id="{0546B8E6-6F54-49F0-BCF4-E179B251632D}"/>
              </a:ext>
            </a:extLst>
          </p:cNvPr>
          <p:cNvSpPr/>
          <p:nvPr/>
        </p:nvSpPr>
        <p:spPr>
          <a:xfrm>
            <a:off x="2392680" y="5301208"/>
            <a:ext cx="235104" cy="36004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fr-BE" dirty="0"/>
          </a:p>
        </p:txBody>
      </p:sp>
      <p:sp>
        <p:nvSpPr>
          <p:cNvPr id="7" name="Rectangle 6">
            <a:extLst>
              <a:ext uri="{FF2B5EF4-FFF2-40B4-BE49-F238E27FC236}">
                <a16:creationId xmlns:a16="http://schemas.microsoft.com/office/drawing/2014/main" id="{D94C5B13-F30D-4137-99F5-7362AF0AF798}"/>
              </a:ext>
            </a:extLst>
          </p:cNvPr>
          <p:cNvSpPr/>
          <p:nvPr/>
        </p:nvSpPr>
        <p:spPr>
          <a:xfrm>
            <a:off x="2385556" y="4466828"/>
            <a:ext cx="1099200" cy="55226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BE" dirty="0"/>
          </a:p>
        </p:txBody>
      </p:sp>
      <p:sp>
        <p:nvSpPr>
          <p:cNvPr id="8" name="Rectangle 7">
            <a:extLst>
              <a:ext uri="{FF2B5EF4-FFF2-40B4-BE49-F238E27FC236}">
                <a16:creationId xmlns:a16="http://schemas.microsoft.com/office/drawing/2014/main" id="{0EDCC050-B72E-4B58-997B-DDD624F0BEB8}"/>
              </a:ext>
            </a:extLst>
          </p:cNvPr>
          <p:cNvSpPr/>
          <p:nvPr/>
        </p:nvSpPr>
        <p:spPr>
          <a:xfrm>
            <a:off x="2392680" y="3924300"/>
            <a:ext cx="1099200" cy="18458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BE" dirty="0"/>
          </a:p>
        </p:txBody>
      </p:sp>
      <p:sp>
        <p:nvSpPr>
          <p:cNvPr id="9" name="Rectangle 8">
            <a:extLst>
              <a:ext uri="{FF2B5EF4-FFF2-40B4-BE49-F238E27FC236}">
                <a16:creationId xmlns:a16="http://schemas.microsoft.com/office/drawing/2014/main" id="{484073CE-0B28-4A72-97A9-5982C2924009}"/>
              </a:ext>
            </a:extLst>
          </p:cNvPr>
          <p:cNvSpPr/>
          <p:nvPr/>
        </p:nvSpPr>
        <p:spPr>
          <a:xfrm>
            <a:off x="4355976" y="1484784"/>
            <a:ext cx="3816424" cy="18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Calculez-moi le nombre de jours de travail et assimilés en R6 dans le 2</a:t>
            </a:r>
            <a:r>
              <a:rPr lang="fr-BE" baseline="30000" dirty="0">
                <a:solidFill>
                  <a:schemeClr val="tx1"/>
                </a:solidFill>
              </a:rPr>
              <a:t>ème</a:t>
            </a:r>
            <a:r>
              <a:rPr lang="fr-BE" dirty="0">
                <a:solidFill>
                  <a:schemeClr val="tx1"/>
                </a:solidFill>
              </a:rPr>
              <a:t> trimestre 2020? </a:t>
            </a:r>
          </a:p>
        </p:txBody>
      </p:sp>
      <p:sp>
        <p:nvSpPr>
          <p:cNvPr id="13" name="ZoneTexte 12">
            <a:extLst>
              <a:ext uri="{FF2B5EF4-FFF2-40B4-BE49-F238E27FC236}">
                <a16:creationId xmlns:a16="http://schemas.microsoft.com/office/drawing/2014/main" id="{E80BAFE3-D9CB-495C-993D-056A0F3EA911}"/>
              </a:ext>
            </a:extLst>
          </p:cNvPr>
          <p:cNvSpPr txBox="1"/>
          <p:nvPr/>
        </p:nvSpPr>
        <p:spPr>
          <a:xfrm>
            <a:off x="4355976" y="5033953"/>
            <a:ext cx="3816424" cy="1200329"/>
          </a:xfrm>
          <a:prstGeom prst="rect">
            <a:avLst/>
          </a:prstGeom>
          <a:noFill/>
        </p:spPr>
        <p:txBody>
          <a:bodyPr wrap="square" rtlCol="0">
            <a:spAutoFit/>
          </a:bodyPr>
          <a:lstStyle/>
          <a:p>
            <a:r>
              <a:rPr lang="fr-BE" dirty="0"/>
              <a:t>Nos résultats sont-ils semblables à ceux indiqués dans Horizon?</a:t>
            </a:r>
          </a:p>
          <a:p>
            <a:endParaRPr lang="fr-BE" dirty="0"/>
          </a:p>
          <a:p>
            <a:r>
              <a:rPr lang="fr-BE" dirty="0"/>
              <a:t>Pourquoi?</a:t>
            </a:r>
          </a:p>
        </p:txBody>
      </p:sp>
    </p:spTree>
    <p:extLst>
      <p:ext uri="{BB962C8B-B14F-4D97-AF65-F5344CB8AC3E}">
        <p14:creationId xmlns:p14="http://schemas.microsoft.com/office/powerpoint/2010/main" val="1489533179"/>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1000"/>
                                        <p:tgtEl>
                                          <p:spTgt spid="8"/>
                                        </p:tgtEl>
                                      </p:cBhvr>
                                    </p:animEffect>
                                    <p:set>
                                      <p:cBhvr>
                                        <p:cTn id="7" dur="1" fill="hold">
                                          <p:stCondLst>
                                            <p:cond delay="999"/>
                                          </p:stCondLst>
                                        </p:cTn>
                                        <p:tgtEl>
                                          <p:spTgt spid="8"/>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1000"/>
                                        <p:tgtEl>
                                          <p:spTgt spid="7"/>
                                        </p:tgtEl>
                                      </p:cBhvr>
                                    </p:animEffect>
                                    <p:set>
                                      <p:cBhvr>
                                        <p:cTn id="10" dur="1" fill="hold">
                                          <p:stCondLst>
                                            <p:cond delay="999"/>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a:bodyPr>
          <a:lstStyle/>
          <a:p>
            <a:pPr algn="l"/>
            <a:r>
              <a:rPr lang="fr-BE" sz="4000" b="1" i="1" dirty="0"/>
              <a:t>10. Composition du dossier</a:t>
            </a:r>
            <a:endParaRPr lang="en-US" sz="4000" b="1" i="1" dirty="0"/>
          </a:p>
        </p:txBody>
      </p:sp>
      <p:sp>
        <p:nvSpPr>
          <p:cNvPr id="4" name="Espace réservé du contenu 3"/>
          <p:cNvSpPr>
            <a:spLocks noGrp="1"/>
          </p:cNvSpPr>
          <p:nvPr>
            <p:ph idx="1"/>
          </p:nvPr>
        </p:nvSpPr>
        <p:spPr/>
        <p:txBody>
          <a:bodyPr>
            <a:noAutofit/>
          </a:bodyPr>
          <a:lstStyle/>
          <a:p>
            <a:pPr marL="0" indent="0">
              <a:spcBef>
                <a:spcPts val="0"/>
              </a:spcBef>
              <a:buClrTx/>
              <a:buNone/>
            </a:pPr>
            <a:r>
              <a:rPr lang="fr-BE" sz="3000" i="1" u="sng" dirty="0"/>
              <a:t>Pour introduire une </a:t>
            </a:r>
            <a:r>
              <a:rPr lang="fr-BE" sz="3000" b="1" i="1" u="sng" dirty="0"/>
              <a:t>DA en CC</a:t>
            </a:r>
            <a:r>
              <a:rPr lang="fr-BE" sz="3000" i="1" u="sng" dirty="0"/>
              <a:t> (admission </a:t>
            </a:r>
            <a:r>
              <a:rPr lang="fr-BE" sz="3000" b="1" i="1" u="sng" dirty="0"/>
              <a:t>art. 30</a:t>
            </a:r>
            <a:r>
              <a:rPr lang="fr-BE" sz="3000" i="1" u="sng" dirty="0"/>
              <a:t>)</a:t>
            </a:r>
            <a:r>
              <a:rPr lang="fr-BE" sz="3000" b="1" i="1" dirty="0"/>
              <a:t> </a:t>
            </a:r>
            <a:r>
              <a:rPr lang="fr-BE" sz="3000" i="1" dirty="0"/>
              <a:t>:</a:t>
            </a:r>
          </a:p>
          <a:p>
            <a:pPr>
              <a:spcBef>
                <a:spcPts val="0"/>
              </a:spcBef>
              <a:buClrTx/>
              <a:buFont typeface="Wingdings" pitchFamily="2" charset="2"/>
              <a:buChar char="§"/>
            </a:pPr>
            <a:r>
              <a:rPr lang="fr-BE" sz="3000" b="1" dirty="0"/>
              <a:t>DRS WECH 501 + C4 DRS</a:t>
            </a:r>
          </a:p>
          <a:p>
            <a:pPr marL="363538" indent="0">
              <a:spcBef>
                <a:spcPts val="0"/>
              </a:spcBef>
              <a:buNone/>
            </a:pPr>
            <a:r>
              <a:rPr lang="fr-BE" sz="3000" i="1" u="sng" dirty="0"/>
              <a:t>ou</a:t>
            </a:r>
            <a:r>
              <a:rPr lang="fr-BE" sz="3000" dirty="0"/>
              <a:t> formulaire C4 – Certificat de chômage </a:t>
            </a:r>
          </a:p>
          <a:p>
            <a:pPr>
              <a:spcBef>
                <a:spcPts val="0"/>
              </a:spcBef>
              <a:buFont typeface="Wingdings" pitchFamily="2" charset="2"/>
              <a:buChar char="§"/>
            </a:pPr>
            <a:r>
              <a:rPr lang="fr-BE" sz="3000" b="1" dirty="0"/>
              <a:t>Flux </a:t>
            </a:r>
            <a:r>
              <a:rPr lang="fr-BE" sz="3000" b="1" dirty="0">
                <a:solidFill>
                  <a:srgbClr val="C00000"/>
                </a:solidFill>
              </a:rPr>
              <a:t>A820</a:t>
            </a:r>
          </a:p>
          <a:p>
            <a:pPr>
              <a:spcBef>
                <a:spcPts val="0"/>
              </a:spcBef>
              <a:buFont typeface="Wingdings" pitchFamily="2" charset="2"/>
              <a:buChar char="§"/>
            </a:pPr>
            <a:r>
              <a:rPr lang="fr-BE" sz="3000" b="1" dirty="0">
                <a:solidFill>
                  <a:srgbClr val="C00000"/>
                </a:solidFill>
              </a:rPr>
              <a:t>C1 </a:t>
            </a:r>
            <a:r>
              <a:rPr lang="fr-BE" sz="3000" b="1" dirty="0"/>
              <a:t>+ </a:t>
            </a:r>
            <a:r>
              <a:rPr lang="fr-BE" sz="3000" b="1" dirty="0">
                <a:solidFill>
                  <a:srgbClr val="C00000"/>
                </a:solidFill>
              </a:rPr>
              <a:t>R-ELEC</a:t>
            </a:r>
          </a:p>
          <a:p>
            <a:pPr marL="0" indent="0">
              <a:spcBef>
                <a:spcPts val="0"/>
              </a:spcBef>
              <a:buNone/>
            </a:pPr>
            <a:endParaRPr lang="fr-BE" sz="1400" b="1" dirty="0">
              <a:solidFill>
                <a:srgbClr val="C00000"/>
              </a:solidFill>
            </a:endParaRPr>
          </a:p>
          <a:p>
            <a:pPr marL="0" indent="0">
              <a:spcBef>
                <a:spcPts val="0"/>
              </a:spcBef>
              <a:buClrTx/>
              <a:buNone/>
            </a:pPr>
            <a:r>
              <a:rPr lang="fr-BE" sz="3000" i="1" u="sng" dirty="0"/>
              <a:t>Si nécessaire</a:t>
            </a:r>
            <a:r>
              <a:rPr lang="fr-BE" sz="3000" i="1" dirty="0"/>
              <a:t> :</a:t>
            </a:r>
          </a:p>
          <a:p>
            <a:pPr>
              <a:spcBef>
                <a:spcPts val="0"/>
              </a:spcBef>
              <a:buClrTx/>
              <a:buFont typeface="Wingdings" pitchFamily="2" charset="2"/>
              <a:buChar char="§"/>
            </a:pPr>
            <a:r>
              <a:rPr lang="fr-BE" sz="3000" dirty="0"/>
              <a:t>Annexe C4 – certificat de travail</a:t>
            </a:r>
          </a:p>
          <a:p>
            <a:pPr>
              <a:spcBef>
                <a:spcPts val="0"/>
              </a:spcBef>
              <a:buFont typeface="Wingdings" pitchFamily="2" charset="2"/>
              <a:buChar char="§"/>
            </a:pPr>
            <a:r>
              <a:rPr lang="fr-BE" sz="3000" dirty="0"/>
              <a:t>L302, Attestation de détention etc. …</a:t>
            </a:r>
          </a:p>
          <a:p>
            <a:pPr>
              <a:spcBef>
                <a:spcPts val="0"/>
              </a:spcBef>
              <a:buClrTx/>
              <a:buFont typeface="Wingdings" pitchFamily="2" charset="2"/>
              <a:buChar char="§"/>
            </a:pPr>
            <a:r>
              <a:rPr lang="fr-BE" sz="3000" dirty="0"/>
              <a:t>C1A, etc. … </a:t>
            </a: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50</a:t>
            </a:fld>
            <a:endParaRPr lang="fr-FR" dirty="0"/>
          </a:p>
        </p:txBody>
      </p:sp>
    </p:spTree>
    <p:extLst>
      <p:ext uri="{BB962C8B-B14F-4D97-AF65-F5344CB8AC3E}">
        <p14:creationId xmlns:p14="http://schemas.microsoft.com/office/powerpoint/2010/main" val="9782924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1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10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1000"/>
                                        <p:tgtEl>
                                          <p:spTgt spid="4">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1000"/>
                                        <p:tgtEl>
                                          <p:spTgt spid="4">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
                                            <p:txEl>
                                              <p:pRg st="6" end="6"/>
                                            </p:txEl>
                                          </p:spTgt>
                                        </p:tgtEl>
                                        <p:attrNameLst>
                                          <p:attrName>style.visibility</p:attrName>
                                        </p:attrNameLst>
                                      </p:cBhvr>
                                      <p:to>
                                        <p:strVal val="visible"/>
                                      </p:to>
                                    </p:set>
                                    <p:animEffect transition="in" filter="fade">
                                      <p:cBhvr>
                                        <p:cTn id="24" dur="1000"/>
                                        <p:tgtEl>
                                          <p:spTgt spid="4">
                                            <p:txEl>
                                              <p:pRg st="6" end="6"/>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1000"/>
                                        <p:tgtEl>
                                          <p:spTgt spid="4">
                                            <p:txEl>
                                              <p:pRg st="7" end="7"/>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xEl>
                                              <p:pRg st="8" end="8"/>
                                            </p:txEl>
                                          </p:spTgt>
                                        </p:tgtEl>
                                        <p:attrNameLst>
                                          <p:attrName>style.visibility</p:attrName>
                                        </p:attrNameLst>
                                      </p:cBhvr>
                                      <p:to>
                                        <p:strVal val="visible"/>
                                      </p:to>
                                    </p:set>
                                    <p:animEffect transition="in" filter="fade">
                                      <p:cBhvr>
                                        <p:cTn id="30" dur="1000"/>
                                        <p:tgtEl>
                                          <p:spTgt spid="4">
                                            <p:txEl>
                                              <p:pRg st="8" end="8"/>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animEffect transition="in" filter="fade">
                                      <p:cBhvr>
                                        <p:cTn id="33" dur="10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a:bodyPr>
          <a:lstStyle/>
          <a:p>
            <a:pPr algn="l"/>
            <a:r>
              <a:rPr lang="fr-BE" sz="4000" b="1" i="1" dirty="0"/>
              <a:t>11. Types C9</a:t>
            </a:r>
            <a:endParaRPr lang="en-US" sz="4000" b="1" i="1" dirty="0"/>
          </a:p>
        </p:txBody>
      </p:sp>
      <p:sp>
        <p:nvSpPr>
          <p:cNvPr id="4" name="Espace réservé du contenu 3"/>
          <p:cNvSpPr>
            <a:spLocks noGrp="1"/>
          </p:cNvSpPr>
          <p:nvPr>
            <p:ph idx="1"/>
          </p:nvPr>
        </p:nvSpPr>
        <p:spPr/>
        <p:txBody>
          <a:bodyPr>
            <a:noAutofit/>
          </a:bodyPr>
          <a:lstStyle/>
          <a:p>
            <a:pPr>
              <a:spcBef>
                <a:spcPts val="0"/>
              </a:spcBef>
              <a:buFont typeface="Wingdings" pitchFamily="2" charset="2"/>
              <a:buChar char="§"/>
            </a:pPr>
            <a:r>
              <a:rPr lang="fr-BE" b="1" dirty="0">
                <a:solidFill>
                  <a:srgbClr val="C00000"/>
                </a:solidFill>
              </a:rPr>
              <a:t>700</a:t>
            </a:r>
            <a:r>
              <a:rPr lang="fr-BE" dirty="0"/>
              <a:t> : 1</a:t>
            </a:r>
            <a:r>
              <a:rPr lang="fr-BE" baseline="30000" dirty="0"/>
              <a:t>ière</a:t>
            </a:r>
            <a:r>
              <a:rPr lang="fr-BE" dirty="0"/>
              <a:t> DA de chômage ordinaire (CC).</a:t>
            </a:r>
          </a:p>
          <a:p>
            <a:pPr marL="0" indent="0">
              <a:spcBef>
                <a:spcPts val="0"/>
              </a:spcBef>
              <a:buNone/>
            </a:pPr>
            <a:endParaRPr lang="fr-BE" dirty="0"/>
          </a:p>
          <a:p>
            <a:pPr>
              <a:spcBef>
                <a:spcPts val="0"/>
              </a:spcBef>
              <a:buFont typeface="Wingdings" pitchFamily="2" charset="2"/>
              <a:buChar char="§"/>
            </a:pPr>
            <a:r>
              <a:rPr lang="fr-BE" b="1" dirty="0"/>
              <a:t>770</a:t>
            </a:r>
            <a:r>
              <a:rPr lang="fr-BE" dirty="0"/>
              <a:t> : DA en CC sans incidence sur le code.</a:t>
            </a:r>
          </a:p>
          <a:p>
            <a:pPr marL="0" indent="0">
              <a:spcBef>
                <a:spcPts val="0"/>
              </a:spcBef>
              <a:buNone/>
            </a:pPr>
            <a:endParaRPr lang="fr-BE" dirty="0"/>
          </a:p>
          <a:p>
            <a:pPr>
              <a:spcBef>
                <a:spcPts val="0"/>
              </a:spcBef>
              <a:buFont typeface="Wingdings" pitchFamily="2" charset="2"/>
              <a:buChar char="§"/>
            </a:pPr>
            <a:r>
              <a:rPr lang="fr-BE" b="1" dirty="0"/>
              <a:t>780</a:t>
            </a:r>
            <a:r>
              <a:rPr lang="fr-BE" dirty="0"/>
              <a:t> : DA en CC avec incidence sur le code.</a:t>
            </a:r>
          </a:p>
          <a:p>
            <a:pPr marL="0" indent="0">
              <a:spcBef>
                <a:spcPts val="0"/>
              </a:spcBef>
              <a:buNone/>
            </a:pPr>
            <a:endParaRPr lang="fr-BE" dirty="0"/>
          </a:p>
          <a:p>
            <a:pPr>
              <a:spcBef>
                <a:spcPts val="0"/>
              </a:spcBef>
              <a:buFont typeface="Wingdings" pitchFamily="2" charset="2"/>
              <a:buChar char="§"/>
            </a:pPr>
            <a:r>
              <a:rPr lang="fr-BE" b="1" dirty="0"/>
              <a:t>790 </a:t>
            </a:r>
            <a:r>
              <a:rPr lang="fr-BE" dirty="0"/>
              <a:t>: Autre introduction CC.</a:t>
            </a: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51</a:t>
            </a:fld>
            <a:endParaRPr lang="fr-FR" dirty="0"/>
          </a:p>
        </p:txBody>
      </p:sp>
    </p:spTree>
    <p:extLst>
      <p:ext uri="{BB962C8B-B14F-4D97-AF65-F5344CB8AC3E}">
        <p14:creationId xmlns:p14="http://schemas.microsoft.com/office/powerpoint/2010/main" val="34879528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1000"/>
                                        <p:tgtEl>
                                          <p:spTgt spid="4">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Effect transition="in" filter="fade">
                                      <p:cBhvr>
                                        <p:cTn id="13" dur="1000"/>
                                        <p:tgtEl>
                                          <p:spTgt spid="4">
                                            <p:txEl>
                                              <p:pRg st="4" end="4"/>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6" end="6"/>
                                            </p:txEl>
                                          </p:spTgt>
                                        </p:tgtEl>
                                        <p:attrNameLst>
                                          <p:attrName>style.visibility</p:attrName>
                                        </p:attrNameLst>
                                      </p:cBhvr>
                                      <p:to>
                                        <p:strVal val="visible"/>
                                      </p:to>
                                    </p:set>
                                    <p:animEffect transition="in" filter="fade">
                                      <p:cBhvr>
                                        <p:cTn id="16" dur="1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pPr algn="l"/>
            <a:r>
              <a:rPr lang="fr-BE" sz="4000" b="1" i="1" dirty="0"/>
              <a:t>12. </a:t>
            </a:r>
            <a:r>
              <a:rPr lang="fr-BE" sz="4000" b="1" i="1" dirty="0">
                <a:cs typeface="Times New Roman" pitchFamily="18" charset="0"/>
              </a:rPr>
              <a:t>Délai d’introduction</a:t>
            </a:r>
            <a:endParaRPr lang="fr-FR" sz="3200" b="1" i="1" dirty="0">
              <a:cs typeface="Times New Roman" pitchFamily="18" charset="0"/>
            </a:endParaRPr>
          </a:p>
        </p:txBody>
      </p:sp>
      <p:sp>
        <p:nvSpPr>
          <p:cNvPr id="8" name="Espace réservé du contenu 7"/>
          <p:cNvSpPr>
            <a:spLocks noGrp="1"/>
          </p:cNvSpPr>
          <p:nvPr>
            <p:ph idx="1"/>
          </p:nvPr>
        </p:nvSpPr>
        <p:spPr/>
        <p:txBody>
          <a:bodyPr>
            <a:noAutofit/>
          </a:bodyPr>
          <a:lstStyle/>
          <a:p>
            <a:pPr>
              <a:spcBef>
                <a:spcPts val="0"/>
              </a:spcBef>
              <a:buSzPct val="100000"/>
              <a:buFont typeface="Wingdings" pitchFamily="2" charset="2"/>
              <a:buChar char="§"/>
            </a:pPr>
            <a:r>
              <a:rPr lang="fr-BE" dirty="0"/>
              <a:t>L’envoi des dossiers à l’ONEm est soumis à des délais réglementaires qui doivent être impérativement respectés.</a:t>
            </a:r>
          </a:p>
          <a:p>
            <a:pPr marL="0" indent="0">
              <a:spcBef>
                <a:spcPts val="0"/>
              </a:spcBef>
              <a:buSzPct val="100000"/>
              <a:buNone/>
            </a:pPr>
            <a:endParaRPr lang="fr-BE" sz="1200" dirty="0"/>
          </a:p>
          <a:p>
            <a:pPr>
              <a:spcBef>
                <a:spcPts val="0"/>
              </a:spcBef>
              <a:buSzPct val="100000"/>
              <a:buFont typeface="Wingdings" pitchFamily="2" charset="2"/>
              <a:buChar char="§"/>
            </a:pPr>
            <a:r>
              <a:rPr lang="fr-BE" b="1" dirty="0"/>
              <a:t>La demande de CC </a:t>
            </a:r>
            <a:r>
              <a:rPr lang="fr-BE" sz="2800" b="1" dirty="0"/>
              <a:t>(chômage complet) </a:t>
            </a:r>
            <a:r>
              <a:rPr lang="fr-BE" b="1" dirty="0"/>
              <a:t>doit parvenir à l’ONEm dans les </a:t>
            </a:r>
            <a:r>
              <a:rPr lang="fr-BE" b="1" dirty="0">
                <a:solidFill>
                  <a:srgbClr val="C00000"/>
                </a:solidFill>
              </a:rPr>
              <a:t>2 mois à dater du lendemain de la DA </a:t>
            </a:r>
            <a:r>
              <a:rPr lang="fr-BE" sz="2800" b="1" dirty="0"/>
              <a:t>(demande d’allocation).</a:t>
            </a:r>
          </a:p>
          <a:p>
            <a:pPr marL="0" indent="0">
              <a:spcBef>
                <a:spcPts val="0"/>
              </a:spcBef>
              <a:buSzPct val="100000"/>
              <a:buNone/>
            </a:pPr>
            <a:endParaRPr lang="fr-BE" sz="1200" b="1" dirty="0"/>
          </a:p>
          <a:p>
            <a:pPr marL="363538" indent="0">
              <a:spcBef>
                <a:spcPts val="0"/>
              </a:spcBef>
              <a:buSzPct val="100000"/>
              <a:buNone/>
            </a:pPr>
            <a:r>
              <a:rPr lang="fr-BE" sz="2800" b="1" i="1" u="sng" dirty="0"/>
              <a:t>Rmq</a:t>
            </a:r>
            <a:r>
              <a:rPr lang="fr-BE" sz="2800" b="1" i="1" dirty="0"/>
              <a:t> : Possibilité de prolonger le délai d’un mois, en application de l’art. 92§5 de l’AM du 26.11.1991.</a:t>
            </a:r>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52</a:t>
            </a:fld>
            <a:endParaRPr lang="fr-FR" dirty="0"/>
          </a:p>
        </p:txBody>
      </p:sp>
    </p:spTree>
    <p:extLst>
      <p:ext uri="{BB962C8B-B14F-4D97-AF65-F5344CB8AC3E}">
        <p14:creationId xmlns:p14="http://schemas.microsoft.com/office/powerpoint/2010/main" val="32390620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10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pPr algn="l"/>
            <a:r>
              <a:rPr lang="fr-BE" sz="4000" b="1" i="1" dirty="0"/>
              <a:t>12. </a:t>
            </a:r>
            <a:r>
              <a:rPr lang="fr-BE" sz="4000" b="1" i="1" dirty="0">
                <a:cs typeface="Times New Roman" pitchFamily="18" charset="0"/>
              </a:rPr>
              <a:t>Délai d’introduction</a:t>
            </a:r>
            <a:endParaRPr lang="fr-FR" sz="3200" b="1" i="1" dirty="0">
              <a:cs typeface="Times New Roman" pitchFamily="18" charset="0"/>
            </a:endParaRPr>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53</a:t>
            </a:fld>
            <a:endParaRPr lang="fr-FR" dirty="0"/>
          </a:p>
        </p:txBody>
      </p:sp>
      <p:pic>
        <p:nvPicPr>
          <p:cNvPr id="12" name="Espace réservé du contenu 11">
            <a:extLst>
              <a:ext uri="{FF2B5EF4-FFF2-40B4-BE49-F238E27FC236}">
                <a16:creationId xmlns:a16="http://schemas.microsoft.com/office/drawing/2014/main" id="{DDCBC116-131C-4AE1-B6CD-7065BFE28644}"/>
              </a:ext>
            </a:extLst>
          </p:cNvPr>
          <p:cNvPicPr>
            <a:picLocks noGrp="1" noChangeAspect="1"/>
          </p:cNvPicPr>
          <p:nvPr>
            <p:ph idx="1"/>
          </p:nvPr>
        </p:nvPicPr>
        <p:blipFill>
          <a:blip r:embed="rId3"/>
          <a:stretch>
            <a:fillRect/>
          </a:stretch>
        </p:blipFill>
        <p:spPr>
          <a:xfrm>
            <a:off x="539552" y="1196752"/>
            <a:ext cx="8147248" cy="4929411"/>
          </a:xfrm>
        </p:spPr>
      </p:pic>
    </p:spTree>
    <p:extLst>
      <p:ext uri="{BB962C8B-B14F-4D97-AF65-F5344CB8AC3E}">
        <p14:creationId xmlns:p14="http://schemas.microsoft.com/office/powerpoint/2010/main" val="34090966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pPr algn="l"/>
            <a:r>
              <a:rPr lang="fr-BE" sz="4000" b="1" i="1" dirty="0"/>
              <a:t>13. </a:t>
            </a:r>
            <a:r>
              <a:rPr lang="fr-BE" sz="4000" b="1" i="1" dirty="0">
                <a:cs typeface="Times New Roman" pitchFamily="18" charset="0"/>
              </a:rPr>
              <a:t>Délai de préavis</a:t>
            </a:r>
            <a:endParaRPr lang="fr-FR" sz="3200" b="1" i="1" dirty="0">
              <a:cs typeface="Times New Roman" pitchFamily="18" charset="0"/>
            </a:endParaRPr>
          </a:p>
        </p:txBody>
      </p:sp>
      <p:sp>
        <p:nvSpPr>
          <p:cNvPr id="8" name="Espace réservé du contenu 7"/>
          <p:cNvSpPr>
            <a:spLocks noGrp="1"/>
          </p:cNvSpPr>
          <p:nvPr>
            <p:ph idx="1"/>
          </p:nvPr>
        </p:nvSpPr>
        <p:spPr/>
        <p:txBody>
          <a:bodyPr>
            <a:noAutofit/>
          </a:bodyPr>
          <a:lstStyle/>
          <a:p>
            <a:pPr>
              <a:spcBef>
                <a:spcPts val="0"/>
              </a:spcBef>
              <a:buSzPct val="100000"/>
              <a:buFont typeface="Wingdings" pitchFamily="2" charset="2"/>
              <a:buChar char="§"/>
            </a:pPr>
            <a:r>
              <a:rPr lang="fr-BE" dirty="0"/>
              <a:t>Nous devons aussi vérifier la période de préavis indiquée sur les formulaires C4.</a:t>
            </a:r>
          </a:p>
          <a:p>
            <a:pPr>
              <a:spcBef>
                <a:spcPts val="0"/>
              </a:spcBef>
              <a:buSzPct val="100000"/>
              <a:buFont typeface="Wingdings" pitchFamily="2" charset="2"/>
              <a:buChar char="§"/>
            </a:pPr>
            <a:endParaRPr lang="fr-BE" dirty="0"/>
          </a:p>
          <a:p>
            <a:pPr>
              <a:spcBef>
                <a:spcPts val="0"/>
              </a:spcBef>
              <a:buSzPct val="100000"/>
              <a:buFont typeface="Wingdings" pitchFamily="2" charset="2"/>
              <a:buChar char="§"/>
            </a:pPr>
            <a:r>
              <a:rPr lang="fr-BE" dirty="0"/>
              <a:t>Cela se fait via le programme de calcul des préavis dans notre Intranet.</a:t>
            </a:r>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54</a:t>
            </a:fld>
            <a:endParaRPr lang="fr-FR" dirty="0"/>
          </a:p>
        </p:txBody>
      </p:sp>
      <p:pic>
        <p:nvPicPr>
          <p:cNvPr id="4" name="Image 3">
            <a:extLst>
              <a:ext uri="{FF2B5EF4-FFF2-40B4-BE49-F238E27FC236}">
                <a16:creationId xmlns:a16="http://schemas.microsoft.com/office/drawing/2014/main" id="{B2DFCA1E-7342-4D84-8914-F6FDBA73232B}"/>
              </a:ext>
            </a:extLst>
          </p:cNvPr>
          <p:cNvPicPr>
            <a:picLocks noChangeAspect="1"/>
          </p:cNvPicPr>
          <p:nvPr/>
        </p:nvPicPr>
        <p:blipFill>
          <a:blip r:embed="rId3"/>
          <a:stretch>
            <a:fillRect/>
          </a:stretch>
        </p:blipFill>
        <p:spPr>
          <a:xfrm>
            <a:off x="971600" y="4869160"/>
            <a:ext cx="2009775" cy="533400"/>
          </a:xfrm>
          <a:prstGeom prst="rect">
            <a:avLst/>
          </a:prstGeom>
        </p:spPr>
      </p:pic>
      <p:sp>
        <p:nvSpPr>
          <p:cNvPr id="9" name="ZoneTexte 8">
            <a:extLst>
              <a:ext uri="{FF2B5EF4-FFF2-40B4-BE49-F238E27FC236}">
                <a16:creationId xmlns:a16="http://schemas.microsoft.com/office/drawing/2014/main" id="{8B2A6D8F-2544-471D-8786-ADB550327C96}"/>
              </a:ext>
            </a:extLst>
          </p:cNvPr>
          <p:cNvSpPr txBox="1"/>
          <p:nvPr/>
        </p:nvSpPr>
        <p:spPr>
          <a:xfrm>
            <a:off x="3347864" y="4674195"/>
            <a:ext cx="4572000" cy="923330"/>
          </a:xfrm>
          <a:prstGeom prst="rect">
            <a:avLst/>
          </a:prstGeom>
          <a:noFill/>
        </p:spPr>
        <p:txBody>
          <a:bodyPr wrap="square">
            <a:spAutoFit/>
          </a:bodyPr>
          <a:lstStyle/>
          <a:p>
            <a:pPr algn="l">
              <a:buFont typeface="Arial" panose="020B0604020202020204" pitchFamily="34" charset="0"/>
              <a:buChar char="•"/>
            </a:pPr>
            <a:r>
              <a:rPr lang="fr-BE" b="0" i="0" u="none" strike="noStrike" dirty="0">
                <a:solidFill>
                  <a:srgbClr val="80C342"/>
                </a:solidFill>
                <a:effectLst/>
                <a:latin typeface="Fira Sans" panose="020B0503050000020004" pitchFamily="34" charset="0"/>
                <a:hlinkClick r:id="rId4"/>
              </a:rPr>
              <a:t>Calcul délais de préavis (statut unique) et indemnité/allocation (de compensation) licenciement</a:t>
            </a:r>
            <a:r>
              <a:rPr lang="fr-BE" b="0" i="0" u="none" strike="noStrike" dirty="0">
                <a:solidFill>
                  <a:srgbClr val="80C342"/>
                </a:solidFill>
                <a:effectLst/>
                <a:latin typeface="Fira Sans" panose="020B0503050000020004" pitchFamily="34" charset="0"/>
              </a:rPr>
              <a:t> </a:t>
            </a:r>
            <a:endParaRPr lang="fr-BE" b="0" i="0" dirty="0">
              <a:solidFill>
                <a:srgbClr val="333333"/>
              </a:solidFill>
              <a:effectLst/>
              <a:latin typeface="Fira Sans" panose="020B0503050000020004" pitchFamily="34" charset="0"/>
            </a:endParaRPr>
          </a:p>
        </p:txBody>
      </p:sp>
    </p:spTree>
    <p:extLst>
      <p:ext uri="{BB962C8B-B14F-4D97-AF65-F5344CB8AC3E}">
        <p14:creationId xmlns:p14="http://schemas.microsoft.com/office/powerpoint/2010/main" val="28298398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35D32BFEA545C4385104AB5091D3485" ma:contentTypeVersion="4" ma:contentTypeDescription="Crée un document." ma:contentTypeScope="" ma:versionID="0bb1294de808c5098690370d06029b9e">
  <xsd:schema xmlns:xsd="http://www.w3.org/2001/XMLSchema" xmlns:xs="http://www.w3.org/2001/XMLSchema" xmlns:p="http://schemas.microsoft.com/office/2006/metadata/properties" xmlns:ns2="447dc5be-6c5f-4788-b00f-a02e84403ceb" xmlns:ns3="41daa35d-0841-4078-8e3c-042c746e8d98" targetNamespace="http://schemas.microsoft.com/office/2006/metadata/properties" ma:root="true" ma:fieldsID="76ec0f4aec764fe0c01f4239d0947e3c" ns2:_="" ns3:_="">
    <xsd:import namespace="447dc5be-6c5f-4788-b00f-a02e84403ceb"/>
    <xsd:import namespace="41daa35d-0841-4078-8e3c-042c746e8d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7dc5be-6c5f-4788-b00f-a02e84403ce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1daa35d-0841-4078-8e3c-042c746e8d98"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FDDDDD-9746-46AA-98F1-753C1F477D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7dc5be-6c5f-4788-b00f-a02e84403ceb"/>
    <ds:schemaRef ds:uri="41daa35d-0841-4078-8e3c-042c746e8d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5F2E68E-E222-496D-8EBA-6D4758AB9728}">
  <ds:schemaRefs>
    <ds:schemaRef ds:uri="http://purl.org/dc/terms/"/>
    <ds:schemaRef ds:uri="http://purl.org/dc/dcmitype/"/>
    <ds:schemaRef ds:uri="7d2a3af0-b854-4018-b3fb-98bf2b75e19a"/>
    <ds:schemaRef ds:uri="bdec1399-7c99-4025-bfb6-e1e799e6630a"/>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1e832426-6819-49af-b751-404cdfce1567"/>
    <ds:schemaRef ds:uri="http://www.w3.org/XML/1998/namespace"/>
  </ds:schemaRefs>
</ds:datastoreItem>
</file>

<file path=customXml/itemProps3.xml><?xml version="1.0" encoding="utf-8"?>
<ds:datastoreItem xmlns:ds="http://schemas.openxmlformats.org/officeDocument/2006/customXml" ds:itemID="{89357B76-7DF4-43B7-89FF-792BE0DEE25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13081</TotalTime>
  <Words>2620</Words>
  <Application>Microsoft Office PowerPoint</Application>
  <PresentationFormat>Affichage à l'écran (4:3)</PresentationFormat>
  <Paragraphs>490</Paragraphs>
  <Slides>54</Slides>
  <Notes>36</Notes>
  <HiddenSlides>0</HiddenSlides>
  <MMClips>0</MMClips>
  <ScaleCrop>false</ScaleCrop>
  <HeadingPairs>
    <vt:vector size="4" baseType="variant">
      <vt:variant>
        <vt:lpstr>Thème</vt:lpstr>
      </vt:variant>
      <vt:variant>
        <vt:i4>1</vt:i4>
      </vt:variant>
      <vt:variant>
        <vt:lpstr>Titres des diapositives</vt:lpstr>
      </vt:variant>
      <vt:variant>
        <vt:i4>54</vt:i4>
      </vt:variant>
    </vt:vector>
  </HeadingPairs>
  <TitlesOfParts>
    <vt:vector size="55" baseType="lpstr">
      <vt:lpstr>Thème Office</vt:lpstr>
      <vt:lpstr>Admission en chômage complet sur base d’un travail salarié  « temps plein »</vt:lpstr>
      <vt:lpstr>Table des matières</vt:lpstr>
      <vt:lpstr>Table des matières</vt:lpstr>
      <vt:lpstr>Table des matières</vt:lpstr>
      <vt:lpstr>1. Définitions</vt:lpstr>
      <vt:lpstr>1. Définitions</vt:lpstr>
      <vt:lpstr>1. Définitions</vt:lpstr>
      <vt:lpstr>2. Fixer le statut du travailleur</vt:lpstr>
      <vt:lpstr>- Le travailleur à temps plein</vt:lpstr>
      <vt:lpstr>- Le travailleur à temps plein</vt:lpstr>
      <vt:lpstr>- Le travailleur assimilé à un travailleur à temps plein</vt:lpstr>
      <vt:lpstr>- Exemples</vt:lpstr>
      <vt:lpstr>- Exemples</vt:lpstr>
      <vt:lpstr> 3. Règle générale</vt:lpstr>
      <vt:lpstr>3. Règle générale</vt:lpstr>
      <vt:lpstr>Fixation de la période de référence: DA au 28/11/2022</vt:lpstr>
      <vt:lpstr>Fixation de la période de référence: DA au 28/11/2022</vt:lpstr>
      <vt:lpstr> Exemple: Pour une DA le 28/11/2022</vt:lpstr>
      <vt:lpstr>4. Assouplissements</vt:lpstr>
      <vt:lpstr>4.1. Evènements prolongateurs de la période de référence</vt:lpstr>
      <vt:lpstr>4.1. Evènements prolongateurs de la période de référence</vt:lpstr>
      <vt:lpstr>4.1. Evènements prolongateurs de la période de référence</vt:lpstr>
      <vt:lpstr>4.2. Principes de prolongation</vt:lpstr>
      <vt:lpstr>4.2. Exemple 1 </vt:lpstr>
      <vt:lpstr>4.2. Exemple 2 </vt:lpstr>
      <vt:lpstr>4.2. Exemple 3 </vt:lpstr>
      <vt:lpstr>4.2. Exemple 4 </vt:lpstr>
      <vt:lpstr>4.2. Principes de prolongation</vt:lpstr>
      <vt:lpstr>4.2. Exemple 5 </vt:lpstr>
      <vt:lpstr>5. Méthode de travail</vt:lpstr>
      <vt:lpstr>6. Jours de travail – Art. 37</vt:lpstr>
      <vt:lpstr>7. Jours assimilés – Art. 38</vt:lpstr>
      <vt:lpstr>Présentation PowerPoint</vt:lpstr>
      <vt:lpstr>Présentation PowerPoint</vt:lpstr>
      <vt:lpstr>8. La DMFA</vt:lpstr>
      <vt:lpstr>Présentation PowerPoint</vt:lpstr>
      <vt:lpstr>DMFA</vt:lpstr>
      <vt:lpstr>Présentation PowerPoint</vt:lpstr>
      <vt:lpstr>Présentation PowerPoint</vt:lpstr>
      <vt:lpstr>Présentation PowerPoint</vt:lpstr>
      <vt:lpstr>8.1. Calcul DMFA</vt:lpstr>
      <vt:lpstr>8.1. Calcul DMFA</vt:lpstr>
      <vt:lpstr>8.2. Période de référence débutant dans le trimestre ONSS:</vt:lpstr>
      <vt:lpstr>8.2. Période de référence débute dans le trimestre ONSS: </vt:lpstr>
      <vt:lpstr>8.2. Période de référence débute dans le trimestre ONSS: </vt:lpstr>
      <vt:lpstr> 8.3. Période de référence dans le dernier trimestre ONSS </vt:lpstr>
      <vt:lpstr>8.3. Période de référence dans le dernier trimestre ONSS</vt:lpstr>
      <vt:lpstr>8.4. Arrondi</vt:lpstr>
      <vt:lpstr>9. Horizon &amp; DMFA</vt:lpstr>
      <vt:lpstr>10. Composition du dossier</vt:lpstr>
      <vt:lpstr>11. Types C9</vt:lpstr>
      <vt:lpstr>12. Délai d’introduction</vt:lpstr>
      <vt:lpstr>12. Délai d’introduction</vt:lpstr>
      <vt:lpstr>13. Délai de préavis</vt:lpstr>
    </vt:vector>
  </TitlesOfParts>
  <Company>ACV-CSC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FCJ-M04-Admis. CC sur base d'un trav. sal. (niv. 1)-Participants</dc:title>
  <dc:creator>u69lcr</dc:creator>
  <cp:lastModifiedBy>Philippe Barbier</cp:lastModifiedBy>
  <cp:revision>827</cp:revision>
  <cp:lastPrinted>2021-01-14T14:33:31Z</cp:lastPrinted>
  <dcterms:created xsi:type="dcterms:W3CDTF">2010-09-22T12:12:06Z</dcterms:created>
  <dcterms:modified xsi:type="dcterms:W3CDTF">2022-11-17T14:28:07Z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0x010100735D32BFEA545C4385104AB5091D3485</vt:lpwstr>
  </property>
  <property fmtid="{D5CDD505-2E9C-101B-9397-08002B2CF9AE}" pid="3" name="Type formation">
    <vt:lpwstr>42;#FCJ formation junior|010f76d4-1162-4810-b874-62b7f270a9bc</vt:lpwstr>
  </property>
  <property fmtid="{D5CDD505-2E9C-101B-9397-08002B2CF9AE}" pid="4" name="Type document">
    <vt:lpwstr>29;#Présentation|66a9a075-20e6-47e0-8483-85d2e9240401</vt:lpwstr>
  </property>
  <property fmtid="{D5CDD505-2E9C-101B-9397-08002B2CF9AE}" pid="5" name="Public Cible">
    <vt:lpwstr>12;#FLT|f342c2bc-e504-4fe0-8d5d-34c04f2f783f</vt:lpwstr>
  </property>
  <property fmtid="{D5CDD505-2E9C-101B-9397-08002B2CF9AE}" pid="6" name="Domaine">
    <vt:lpwstr>17;#Admissibilité|d1ac0b1f-1e4c-4aa8-9a97-5b01e61985ba</vt:lpwstr>
  </property>
  <property fmtid="{D5CDD505-2E9C-101B-9397-08002B2CF9AE}" pid="7" name="Thème">
    <vt:lpwstr>60;#Admis. CC sur base d'un trav. sal. (AR30-AR32) - Base|5e483229-1371-4bf6-bb30-789d46ec0992</vt:lpwstr>
  </property>
  <property fmtid="{D5CDD505-2E9C-101B-9397-08002B2CF9AE}" pid="8" name="Order">
    <vt:r8>242000</vt:r8>
  </property>
  <property fmtid="{D5CDD505-2E9C-101B-9397-08002B2CF9AE}" pid="9" name="_dlc_DocIdItemGuid">
    <vt:lpwstr>42f2e951-c6f5-4cb3-973e-2934a84cb061</vt:lpwstr>
  </property>
</Properties>
</file>