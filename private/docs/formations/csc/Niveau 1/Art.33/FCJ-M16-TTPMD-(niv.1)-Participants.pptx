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86" r:id="rId5"/>
    <p:sldId id="412" r:id="rId6"/>
    <p:sldId id="359" r:id="rId7"/>
    <p:sldId id="414" r:id="rId8"/>
    <p:sldId id="289" r:id="rId9"/>
    <p:sldId id="288" r:id="rId10"/>
    <p:sldId id="292" r:id="rId11"/>
    <p:sldId id="425" r:id="rId12"/>
    <p:sldId id="413" r:id="rId13"/>
    <p:sldId id="407" r:id="rId14"/>
    <p:sldId id="367" r:id="rId15"/>
    <p:sldId id="368" r:id="rId16"/>
    <p:sldId id="369" r:id="rId17"/>
    <p:sldId id="415" r:id="rId18"/>
    <p:sldId id="426" r:id="rId19"/>
    <p:sldId id="374" r:id="rId20"/>
    <p:sldId id="375" r:id="rId21"/>
    <p:sldId id="416" r:id="rId22"/>
    <p:sldId id="300" r:id="rId23"/>
    <p:sldId id="408" r:id="rId24"/>
    <p:sldId id="423" r:id="rId25"/>
    <p:sldId id="420" r:id="rId26"/>
    <p:sldId id="419" r:id="rId27"/>
    <p:sldId id="424" r:id="rId28"/>
    <p:sldId id="422" r:id="rId29"/>
    <p:sldId id="421" r:id="rId30"/>
  </p:sldIdLst>
  <p:sldSz cx="9144000" cy="6858000" type="screen4x3"/>
  <p:notesSz cx="6797675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66FF66"/>
    <a:srgbClr val="FF9933"/>
    <a:srgbClr val="003399"/>
    <a:srgbClr val="669900"/>
    <a:srgbClr val="00FF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864394-2621-405D-992D-0CB013D886F3}" v="1" dt="2023-08-17T13:47:37.4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88111" autoAdjust="0"/>
  </p:normalViewPr>
  <p:slideViewPr>
    <p:cSldViewPr>
      <p:cViewPr varScale="1">
        <p:scale>
          <a:sx n="75" d="100"/>
          <a:sy n="75" d="100"/>
        </p:scale>
        <p:origin x="163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94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217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06/11/2023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443" y="9377317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2661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06/11/2023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7" rIns="91815" bIns="45907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689516"/>
            <a:ext cx="5438140" cy="4442699"/>
          </a:xfrm>
          <a:prstGeom prst="rect">
            <a:avLst/>
          </a:prstGeom>
        </p:spPr>
        <p:txBody>
          <a:bodyPr vert="horz" lIns="91815" tIns="45907" rIns="91815" bIns="45907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3634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945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7644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9148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5078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8149">
              <a:defRPr/>
            </a:pPr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8891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8233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1777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3714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8149">
              <a:defRPr/>
            </a:pPr>
            <a:endParaRPr lang="fr-FR" sz="1100" dirty="0">
              <a:latin typeface="+mj-lt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3914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3502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3273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3273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sz="1100" dirty="0"/>
              <a:t>	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2714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8149">
              <a:defRPr/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4685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89106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9653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2ABE-B5E6-4FF1-9754-27D504D020F1}" type="datetime1">
              <a:rPr lang="fr-FR" smtClean="0"/>
              <a:t>06/11/2023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FNO E1-M11- version du 25.11.2015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AF793-7DD1-4B3B-B274-F3E3DC0BC9A0}" type="datetime1">
              <a:rPr lang="fr-FR" smtClean="0"/>
              <a:t>06/11/2023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FNO E1-M11- version du 25.11.2015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3EA6F-B12C-4672-918C-3174F12C7E7F}" type="datetime1">
              <a:rPr lang="fr-FR" smtClean="0"/>
              <a:t>06/11/2023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FNO E1-M11- version du 25.11.2015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FFEFF-774A-45E2-9411-D1406155C253}" type="datetime1">
              <a:rPr lang="fr-FR" smtClean="0"/>
              <a:t>06/11/2023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FNO E1-M11- version du 25.11.2015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E63F5-0200-41D7-AA15-DA4E194C5538}" type="datetime1">
              <a:rPr lang="fr-FR" smtClean="0"/>
              <a:t>06/11/2023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FNO E1-M11- version du 25.11.2015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92176-13ED-4981-A208-9EA77346A035}" type="datetime1">
              <a:rPr lang="fr-FR" smtClean="0"/>
              <a:t>06/11/2023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FNO E1-M11- version du 25.11.2015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9772-46D1-4C06-8C83-B709F0EDDF7E}" type="datetime1">
              <a:rPr lang="fr-FR" smtClean="0"/>
              <a:t>06/11/2023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FNO E1-M11- version du 25.11.2015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7F0-0B90-4510-88CC-D9098B589051}" type="datetime1">
              <a:rPr lang="fr-FR" smtClean="0"/>
              <a:t>06/11/2023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FNO E1-M11- version du 25.11.2015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A90D-61E5-402A-9A12-F3C844389EEE}" type="datetime1">
              <a:rPr lang="fr-FR" smtClean="0"/>
              <a:t>06/11/2023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FNO E1-M11- version du 25.11.2015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1706-054C-4955-B8EA-97BCC2C3ACB4}" type="datetime1">
              <a:rPr lang="fr-FR" smtClean="0"/>
              <a:t>06/11/2023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FNO E1-M11- version du 25.11.2015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8E8E-1170-4B15-B199-A1815D06C4B5}" type="datetime1">
              <a:rPr lang="fr-FR" smtClean="0"/>
              <a:t>06/11/2023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FNO E1-M11- version du 25.11.2015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re. Texte et image de la bibliothè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838200" y="1809750"/>
            <a:ext cx="3810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'image de la bibliothèque 3"/>
          <p:cNvSpPr>
            <a:spLocks noGrp="1"/>
          </p:cNvSpPr>
          <p:nvPr>
            <p:ph type="clipArt" sz="half" idx="2"/>
          </p:nvPr>
        </p:nvSpPr>
        <p:spPr>
          <a:xfrm>
            <a:off x="4800600" y="1809750"/>
            <a:ext cx="3810000" cy="4114800"/>
          </a:xfrm>
        </p:spPr>
        <p:txBody>
          <a:bodyPr/>
          <a:lstStyle/>
          <a:p>
            <a:pPr lvl="0"/>
            <a:endParaRPr lang="fr-FR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17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23517-0022-49CC-9FD0-6E71C767C267}" type="datetime1">
              <a:rPr lang="fr-FR" smtClean="0"/>
              <a:t>06/11/2023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dirty="0"/>
              <a:t>FNO E1-M11- version du 25.11.2015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br>
              <a:rPr lang="fr-FR" sz="4400" b="1" i="1" dirty="0">
                <a:solidFill>
                  <a:schemeClr val="tx1"/>
                </a:solidFill>
              </a:rPr>
            </a:br>
            <a:r>
              <a:rPr lang="fr-FR" sz="4400" b="1" i="1" dirty="0">
                <a:solidFill>
                  <a:schemeClr val="tx1"/>
                </a:solidFill>
              </a:rPr>
              <a:t>Le </a:t>
            </a:r>
            <a:r>
              <a:rPr lang="fr-FR" sz="4400" b="1" i="1" u="sng" dirty="0">
                <a:solidFill>
                  <a:schemeClr val="tx1"/>
                </a:solidFill>
              </a:rPr>
              <a:t>T</a:t>
            </a:r>
            <a:r>
              <a:rPr lang="fr-FR" sz="4400" b="1" i="1" dirty="0">
                <a:solidFill>
                  <a:schemeClr val="tx1"/>
                </a:solidFill>
              </a:rPr>
              <a:t>ravail à </a:t>
            </a:r>
            <a:r>
              <a:rPr lang="fr-FR" sz="4400" b="1" i="1" u="sng" dirty="0">
                <a:solidFill>
                  <a:schemeClr val="tx1"/>
                </a:solidFill>
              </a:rPr>
              <a:t>T</a:t>
            </a:r>
            <a:r>
              <a:rPr lang="fr-FR" sz="4400" b="1" i="1" dirty="0">
                <a:solidFill>
                  <a:schemeClr val="tx1"/>
                </a:solidFill>
              </a:rPr>
              <a:t>emps </a:t>
            </a:r>
            <a:r>
              <a:rPr lang="fr-FR" sz="4400" b="1" i="1" u="sng" dirty="0">
                <a:solidFill>
                  <a:schemeClr val="tx1"/>
                </a:solidFill>
              </a:rPr>
              <a:t>P</a:t>
            </a:r>
            <a:r>
              <a:rPr lang="fr-FR" sz="4400" b="1" i="1" dirty="0">
                <a:solidFill>
                  <a:schemeClr val="tx1"/>
                </a:solidFill>
              </a:rPr>
              <a:t>artiel avec </a:t>
            </a:r>
            <a:r>
              <a:rPr lang="fr-FR" sz="4400" b="1" i="1" u="sng" dirty="0">
                <a:solidFill>
                  <a:schemeClr val="tx1"/>
                </a:solidFill>
              </a:rPr>
              <a:t>M</a:t>
            </a:r>
            <a:r>
              <a:rPr lang="fr-FR" sz="4400" b="1" i="1" dirty="0">
                <a:solidFill>
                  <a:schemeClr val="tx1"/>
                </a:solidFill>
              </a:rPr>
              <a:t>aintien des </a:t>
            </a:r>
            <a:r>
              <a:rPr lang="fr-FR" sz="4400" b="1" i="1" u="sng" dirty="0">
                <a:solidFill>
                  <a:schemeClr val="tx1"/>
                </a:solidFill>
              </a:rPr>
              <a:t>D</a:t>
            </a:r>
            <a:r>
              <a:rPr lang="fr-FR" sz="4400" b="1" i="1" dirty="0">
                <a:solidFill>
                  <a:schemeClr val="tx1"/>
                </a:solidFill>
              </a:rPr>
              <a:t>roits </a:t>
            </a:r>
            <a:br>
              <a:rPr lang="fr-FR" sz="4400" b="1" i="1" dirty="0">
                <a:solidFill>
                  <a:schemeClr val="tx1"/>
                </a:solidFill>
              </a:rPr>
            </a:br>
            <a:r>
              <a:rPr lang="fr-FR" sz="4400" b="1" i="1" dirty="0">
                <a:solidFill>
                  <a:schemeClr val="tx1"/>
                </a:solidFill>
              </a:rPr>
              <a:t>- TTPMD - </a:t>
            </a:r>
            <a:br>
              <a:rPr lang="fr-FR" sz="6000" b="1" i="1" dirty="0"/>
            </a:br>
            <a:br>
              <a:rPr lang="fr-BE" sz="1600" dirty="0"/>
            </a:br>
            <a:endParaRPr lang="fr-BE" sz="6000" b="1" i="1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251520" y="6093296"/>
            <a:ext cx="1152128" cy="2630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 dirty="0">
                <a:solidFill>
                  <a:schemeClr val="tx1"/>
                </a:solidFill>
              </a:rPr>
              <a:t>20/10/2023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09355865-5A7B-43E6-97E7-849B722B9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596" y="4340696"/>
            <a:ext cx="7272808" cy="1752600"/>
          </a:xfrm>
        </p:spPr>
        <p:txBody>
          <a:bodyPr>
            <a:normAutofit/>
          </a:bodyPr>
          <a:lstStyle/>
          <a:p>
            <a:r>
              <a:rPr lang="fr-BE" sz="4000" b="1" dirty="0">
                <a:solidFill>
                  <a:srgbClr val="C00000"/>
                </a:solidFill>
              </a:rPr>
              <a:t>Art 131 bis </a:t>
            </a:r>
            <a:r>
              <a:rPr lang="fr-BE" sz="4000" dirty="0">
                <a:solidFill>
                  <a:schemeClr val="tx1"/>
                </a:solidFill>
              </a:rPr>
              <a:t>de l’</a:t>
            </a:r>
            <a:r>
              <a:rPr lang="fr-BE" sz="4000" dirty="0">
                <a:solidFill>
                  <a:srgbClr val="C00000"/>
                </a:solidFill>
              </a:rPr>
              <a:t>AR</a:t>
            </a:r>
            <a:r>
              <a:rPr lang="fr-BE" sz="4000" dirty="0"/>
              <a:t> </a:t>
            </a:r>
            <a:r>
              <a:rPr lang="fr-BE" sz="4000" dirty="0">
                <a:solidFill>
                  <a:schemeClr val="tx1"/>
                </a:solidFill>
              </a:rPr>
              <a:t>du 25.11.1991</a:t>
            </a:r>
          </a:p>
          <a:p>
            <a:r>
              <a:rPr lang="fr-BE" sz="4000" b="1" dirty="0">
                <a:solidFill>
                  <a:srgbClr val="C00000"/>
                </a:solidFill>
              </a:rPr>
              <a:t>Art 29 </a:t>
            </a:r>
            <a:r>
              <a:rPr lang="fr-BE" sz="4000" dirty="0">
                <a:solidFill>
                  <a:schemeClr val="tx1"/>
                </a:solidFill>
              </a:rPr>
              <a:t>de l’</a:t>
            </a:r>
            <a:r>
              <a:rPr lang="fr-BE" sz="4000" dirty="0">
                <a:solidFill>
                  <a:srgbClr val="C00000"/>
                </a:solidFill>
              </a:rPr>
              <a:t>AR </a:t>
            </a:r>
            <a:r>
              <a:rPr lang="fr-BE" sz="4000">
                <a:solidFill>
                  <a:schemeClr val="tx1"/>
                </a:solidFill>
              </a:rPr>
              <a:t>du 25.11.1991  </a:t>
            </a:r>
            <a:endParaRPr lang="fr-BE" sz="4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fr-BE" b="1" i="1" dirty="0"/>
              <a:t>Table des matières</a:t>
            </a:r>
            <a:endParaRPr lang="fr-FR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82911BC-87CC-45F3-AF68-84EB6A26C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92500" lnSpcReduction="10000"/>
          </a:bodyPr>
          <a:lstStyle/>
          <a:p>
            <a:r>
              <a:rPr lang="fr-BE" dirty="0"/>
              <a:t>Définition</a:t>
            </a:r>
          </a:p>
          <a:p>
            <a:r>
              <a:rPr lang="fr-BE" dirty="0"/>
              <a:t>Conditions </a:t>
            </a:r>
          </a:p>
          <a:p>
            <a:r>
              <a:rPr lang="fr-BE" dirty="0"/>
              <a:t>TTPMD avec AGR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BE" dirty="0"/>
              <a:t> Formalités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BE" dirty="0"/>
              <a:t> Principes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BE" dirty="0"/>
              <a:t> Allocation de référence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BE" dirty="0"/>
              <a:t> JF &amp; fin d’occupation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BE" dirty="0"/>
              <a:t> Simulation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BE" dirty="0"/>
              <a:t> Période de carence</a:t>
            </a:r>
          </a:p>
          <a:p>
            <a:r>
              <a:rPr lang="fr-BE" dirty="0"/>
              <a:t>Tâches et méthode de travail</a:t>
            </a:r>
          </a:p>
        </p:txBody>
      </p:sp>
    </p:spTree>
    <p:extLst>
      <p:ext uri="{BB962C8B-B14F-4D97-AF65-F5344CB8AC3E}">
        <p14:creationId xmlns:p14="http://schemas.microsoft.com/office/powerpoint/2010/main" val="195748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fr-BE" b="1" i="1" dirty="0"/>
              <a:t>TTPMD – Définition </a:t>
            </a:r>
            <a:endParaRPr lang="fr-FR" b="1" i="1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Font typeface="Monotype Sorts" pitchFamily="2" charset="2"/>
              <a:buNone/>
            </a:pPr>
            <a:r>
              <a:rPr lang="fr-BE" dirty="0"/>
              <a:t>Un travailleur à temps partiel </a:t>
            </a:r>
            <a:r>
              <a:rPr lang="fr-BE" b="1" dirty="0">
                <a:solidFill>
                  <a:srgbClr val="C00000"/>
                </a:solidFill>
              </a:rPr>
              <a:t>involontaire</a:t>
            </a:r>
            <a:r>
              <a:rPr lang="fr-BE" dirty="0"/>
              <a:t> est un travailleur qui :</a:t>
            </a:r>
          </a:p>
          <a:p>
            <a:pPr marL="457200" lvl="1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fr-BE" sz="3200" dirty="0"/>
              <a:t>n’est pas travailleur à temps plein </a:t>
            </a:r>
            <a:r>
              <a:rPr lang="fr-BE" sz="2400" dirty="0"/>
              <a:t>(au sens de l’AR 28§1 ou §3) ;</a:t>
            </a:r>
          </a:p>
          <a:p>
            <a:pPr marL="457200" lvl="1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fr-BE" sz="3200" dirty="0"/>
              <a:t>est admissible comme travailleur à temps plein </a:t>
            </a:r>
            <a:r>
              <a:rPr lang="fr-BE" sz="2600" dirty="0"/>
              <a:t>(AR 30 ou AR 36);</a:t>
            </a:r>
          </a:p>
          <a:p>
            <a:pPr marL="457200" lvl="1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fr-BE" sz="3200" dirty="0"/>
              <a:t>remplit les conditions d’octroi comme travailleur à temps plein</a:t>
            </a:r>
            <a:r>
              <a:rPr lang="fr-BE" sz="2600" dirty="0"/>
              <a:t>;</a:t>
            </a:r>
          </a:p>
          <a:p>
            <a:pPr marL="457200" lvl="1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fr-BE" sz="3200" dirty="0"/>
              <a:t>qui a demandé le statut de travailleur à temps partiel avec maintien des droits . 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129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3ED89F-1941-44C0-92F4-7C935F4D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TTPMD - Conditions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1E262E-D5DE-4A6C-9484-BAE7BDC86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sz="4000" dirty="0"/>
              <a:t>Être </a:t>
            </a:r>
            <a:r>
              <a:rPr lang="fr-BE" sz="4000" b="1" dirty="0">
                <a:solidFill>
                  <a:srgbClr val="C00000"/>
                </a:solidFill>
              </a:rPr>
              <a:t>admissible à temps plein </a:t>
            </a:r>
            <a:r>
              <a:rPr lang="fr-BE" sz="4000" dirty="0"/>
              <a:t>:</a:t>
            </a:r>
            <a:endParaRPr lang="fr-BE" sz="3200" dirty="0"/>
          </a:p>
          <a:p>
            <a:pPr marL="628650" indent="-571500">
              <a:buFont typeface="Wingdings" panose="05000000000000000000" pitchFamily="2" charset="2"/>
              <a:buChar char="Ø"/>
            </a:pPr>
            <a:r>
              <a:rPr lang="fr-BE" sz="3300" dirty="0"/>
              <a:t>Au </a:t>
            </a:r>
            <a:r>
              <a:rPr lang="fr-BE" sz="3300" b="1" dirty="0"/>
              <a:t>début</a:t>
            </a:r>
            <a:r>
              <a:rPr lang="fr-BE" sz="3300" dirty="0"/>
              <a:t> de son occupation à temps partiel</a:t>
            </a:r>
          </a:p>
          <a:p>
            <a:pPr marL="628650" indent="-571500">
              <a:buFont typeface="Wingdings" panose="05000000000000000000" pitchFamily="2" charset="2"/>
              <a:buChar char="Ø"/>
            </a:pPr>
            <a:r>
              <a:rPr lang="fr-BE" sz="3300" dirty="0"/>
              <a:t>Au </a:t>
            </a:r>
            <a:r>
              <a:rPr lang="fr-BE" sz="3300" b="1" dirty="0"/>
              <a:t>moment de la DA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fr-BE" sz="2900" dirty="0"/>
              <a:t>À la </a:t>
            </a:r>
            <a:r>
              <a:rPr lang="fr-BE" sz="2900" b="1" dirty="0"/>
              <a:t>fin </a:t>
            </a:r>
            <a:r>
              <a:rPr lang="fr-BE" sz="2900" dirty="0"/>
              <a:t>du </a:t>
            </a:r>
            <a:r>
              <a:rPr lang="fr-BE" sz="2900" u="sng" dirty="0"/>
              <a:t>S</a:t>
            </a:r>
            <a:r>
              <a:rPr lang="fr-BE" sz="2900" dirty="0"/>
              <a:t>tage d’</a:t>
            </a:r>
            <a:r>
              <a:rPr lang="fr-BE" sz="2900" u="sng" dirty="0"/>
              <a:t>I</a:t>
            </a:r>
            <a:r>
              <a:rPr lang="fr-BE" sz="2900" dirty="0"/>
              <a:t>nsertion </a:t>
            </a:r>
            <a:r>
              <a:rPr lang="fr-BE" sz="2900" u="sng" dirty="0"/>
              <a:t>P</a:t>
            </a:r>
            <a:r>
              <a:rPr lang="fr-BE" sz="2900" dirty="0"/>
              <a:t>rofessionnel </a:t>
            </a:r>
          </a:p>
          <a:p>
            <a:pPr marL="1028700" lvl="1" indent="-571500">
              <a:buFont typeface="Wingdings" panose="05000000000000000000" pitchFamily="2" charset="2"/>
              <a:buChar char="v"/>
            </a:pPr>
            <a:r>
              <a:rPr lang="fr-BE" sz="2900" dirty="0"/>
              <a:t>Au </a:t>
            </a:r>
            <a:r>
              <a:rPr lang="fr-BE" sz="2900" b="1" dirty="0"/>
              <a:t>terme</a:t>
            </a:r>
            <a:r>
              <a:rPr lang="fr-BE" sz="2900" dirty="0"/>
              <a:t> de la période couverte par le       préavis ou l’indemnité de congé</a:t>
            </a:r>
          </a:p>
          <a:p>
            <a:pPr marL="57150" indent="0">
              <a:buNone/>
            </a:pPr>
            <a:endParaRPr lang="fr-BE" sz="33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5C24C0-68B1-4F3B-B34A-D1177288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064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fr-BE" b="1" i="1" dirty="0"/>
              <a:t>TTPMD – Conditions</a:t>
            </a:r>
            <a:endParaRPr lang="fr-FR" b="1" i="1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768"/>
              </a:spcBef>
              <a:buNone/>
            </a:pPr>
            <a:r>
              <a:rPr lang="fr-BE" sz="4000" dirty="0"/>
              <a:t>Le régime de travail à temps partiel doit être au moins d’un </a:t>
            </a:r>
            <a:r>
              <a:rPr lang="fr-BE" sz="4000" b="1" dirty="0"/>
              <a:t>tiers temps </a:t>
            </a:r>
            <a:r>
              <a:rPr lang="fr-BE" sz="4000" dirty="0"/>
              <a:t>soit </a:t>
            </a:r>
            <a:r>
              <a:rPr lang="fr-BE" sz="4000" b="1" dirty="0">
                <a:solidFill>
                  <a:srgbClr val="C00000"/>
                </a:solidFill>
              </a:rPr>
              <a:t>Q ≥ S/3.</a:t>
            </a:r>
            <a:endParaRPr lang="fr-BE" sz="4000" dirty="0">
              <a:solidFill>
                <a:srgbClr val="C00000"/>
              </a:solidFill>
            </a:endParaRPr>
          </a:p>
          <a:p>
            <a:pPr marL="0" indent="0">
              <a:spcBef>
                <a:spcPts val="768"/>
              </a:spcBef>
              <a:buNone/>
            </a:pPr>
            <a:endParaRPr lang="fr-BE" u="sng" dirty="0"/>
          </a:p>
          <a:p>
            <a:pPr marL="0" indent="0">
              <a:spcBef>
                <a:spcPts val="768"/>
              </a:spcBef>
              <a:buNone/>
            </a:pPr>
            <a:r>
              <a:rPr lang="fr-BE" i="1" u="sng" dirty="0"/>
              <a:t>Exceptions:</a:t>
            </a:r>
          </a:p>
          <a:p>
            <a:pPr marL="0" indent="0">
              <a:spcBef>
                <a:spcPts val="768"/>
              </a:spcBef>
              <a:buNone/>
            </a:pPr>
            <a:r>
              <a:rPr lang="fr-BE" i="1" dirty="0"/>
              <a:t>Secteur Horeca, Nettoyage, Enseignement, secteur Public, …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fr-FR" b="1" i="1" dirty="0"/>
              <a:t> TTPMD – 2 catégories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229600" cy="5971802"/>
          </a:xfrm>
          <a:noFill/>
        </p:spPr>
        <p:txBody>
          <a:bodyPr>
            <a:noAutofit/>
          </a:bodyPr>
          <a:lstStyle/>
          <a:p>
            <a:pPr marL="714375" indent="-514350">
              <a:spcBef>
                <a:spcPts val="768"/>
              </a:spcBef>
              <a:buAutoNum type="arabicPeriod"/>
            </a:pPr>
            <a:r>
              <a:rPr lang="fr-BE" b="1" i="1" dirty="0">
                <a:solidFill>
                  <a:srgbClr val="C00000"/>
                </a:solidFill>
              </a:rPr>
              <a:t>TTPMD sans AGR </a:t>
            </a:r>
            <a:r>
              <a:rPr lang="fr-BE" b="1" i="1" dirty="0">
                <a:sym typeface="Wingdings" pitchFamily="2" charset="2"/>
              </a:rPr>
              <a:t> préfixe 99</a:t>
            </a:r>
            <a:endParaRPr lang="fr-BE" b="1" i="1" dirty="0">
              <a:solidFill>
                <a:srgbClr val="C00000"/>
              </a:solidFill>
            </a:endParaRPr>
          </a:p>
          <a:p>
            <a:pPr marL="0" indent="0">
              <a:spcBef>
                <a:spcPts val="768"/>
              </a:spcBef>
              <a:buNone/>
            </a:pPr>
            <a:r>
              <a:rPr lang="fr-BE" dirty="0"/>
              <a:t>Travailleur à temps partiel avec maintien des droits </a:t>
            </a:r>
            <a:r>
              <a:rPr lang="fr-BE" u="sng" dirty="0"/>
              <a:t>sans</a:t>
            </a:r>
            <a:r>
              <a:rPr lang="fr-BE" dirty="0"/>
              <a:t> </a:t>
            </a:r>
            <a:r>
              <a:rPr lang="fr-BE" b="1" dirty="0"/>
              <a:t>A</a:t>
            </a:r>
            <a:r>
              <a:rPr lang="fr-BE" dirty="0"/>
              <a:t>llocations de </a:t>
            </a:r>
            <a:r>
              <a:rPr lang="fr-BE" b="1" dirty="0"/>
              <a:t>G</a:t>
            </a:r>
            <a:r>
              <a:rPr lang="fr-BE" dirty="0"/>
              <a:t>arantie de </a:t>
            </a:r>
            <a:r>
              <a:rPr lang="fr-BE" b="1" dirty="0"/>
              <a:t>R</a:t>
            </a:r>
            <a:r>
              <a:rPr lang="fr-BE" dirty="0"/>
              <a:t>evenus. </a:t>
            </a:r>
          </a:p>
          <a:p>
            <a:pPr marL="0" indent="0">
              <a:spcBef>
                <a:spcPts val="768"/>
              </a:spcBef>
              <a:buNone/>
            </a:pPr>
            <a:r>
              <a:rPr lang="fr-BE" sz="2800" b="1" i="1" dirty="0"/>
              <a:t>Ne satisfait pas aux conditions pour pouvoir prétendre à l’AGR ou choisit de ne pas la demander</a:t>
            </a:r>
          </a:p>
          <a:p>
            <a:pPr marL="714375" indent="-514350">
              <a:spcBef>
                <a:spcPts val="768"/>
              </a:spcBef>
              <a:buFont typeface="+mj-lt"/>
              <a:buAutoNum type="arabicPeriod" startAt="2"/>
            </a:pPr>
            <a:r>
              <a:rPr lang="fr-BE" b="1" i="1" dirty="0">
                <a:solidFill>
                  <a:srgbClr val="C00000"/>
                </a:solidFill>
              </a:rPr>
              <a:t>TTPMD avec AGR </a:t>
            </a:r>
            <a:r>
              <a:rPr lang="fr-BE" b="1" i="1" dirty="0">
                <a:sym typeface="Wingdings" pitchFamily="2" charset="2"/>
              </a:rPr>
              <a:t> préfixe 57 (ou 05)</a:t>
            </a:r>
            <a:endParaRPr lang="fr-BE" b="1" i="1" dirty="0"/>
          </a:p>
          <a:p>
            <a:pPr marL="0" indent="0">
              <a:spcBef>
                <a:spcPts val="768"/>
              </a:spcBef>
              <a:buNone/>
            </a:pPr>
            <a:r>
              <a:rPr lang="fr-BE" dirty="0"/>
              <a:t>Travailleur à temps partiel avec maintien des droits </a:t>
            </a:r>
            <a:r>
              <a:rPr lang="fr-BE" u="sng" dirty="0"/>
              <a:t>avec</a:t>
            </a:r>
            <a:r>
              <a:rPr lang="fr-BE" dirty="0"/>
              <a:t> </a:t>
            </a:r>
            <a:r>
              <a:rPr lang="fr-BE" b="1" dirty="0"/>
              <a:t>A</a:t>
            </a:r>
            <a:r>
              <a:rPr lang="fr-BE" dirty="0"/>
              <a:t>llocations de </a:t>
            </a:r>
            <a:r>
              <a:rPr lang="fr-BE" b="1" dirty="0"/>
              <a:t>G</a:t>
            </a:r>
            <a:r>
              <a:rPr lang="fr-BE" dirty="0"/>
              <a:t>arantie de </a:t>
            </a:r>
            <a:r>
              <a:rPr lang="fr-BE" b="1" dirty="0"/>
              <a:t>R</a:t>
            </a:r>
            <a:r>
              <a:rPr lang="fr-BE" dirty="0"/>
              <a:t>evenus.</a:t>
            </a:r>
          </a:p>
          <a:p>
            <a:pPr marL="0" indent="0">
              <a:spcBef>
                <a:spcPts val="768"/>
              </a:spcBef>
              <a:buNone/>
            </a:pPr>
            <a:endParaRPr lang="fr-BE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>
              <a:defRPr/>
            </a:pPr>
            <a:r>
              <a:rPr lang="fr-FR" b="1" i="1" dirty="0"/>
              <a:t>TTPMD sans AGR – Formalités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BE" dirty="0"/>
              <a:t>Pour la demande de TTPMD sans AGR (99/), le dossier sera constitué : </a:t>
            </a:r>
          </a:p>
          <a:p>
            <a:pPr marL="0" indent="0">
              <a:lnSpc>
                <a:spcPct val="90000"/>
              </a:lnSpc>
              <a:buNone/>
            </a:pPr>
            <a:endParaRPr lang="fr-FR" sz="2000" dirty="0">
              <a:solidFill>
                <a:srgbClr val="C00000"/>
              </a:solidFill>
            </a:endParaRPr>
          </a:p>
          <a:p>
            <a:pPr marL="458788" lvl="1" indent="-457200">
              <a:lnSpc>
                <a:spcPct val="90000"/>
              </a:lnSpc>
              <a:buFont typeface="Wingdings" pitchFamily="2" charset="2"/>
              <a:buChar char="§"/>
            </a:pPr>
            <a:r>
              <a:rPr lang="fr-BE" sz="3200" b="1" dirty="0">
                <a:solidFill>
                  <a:srgbClr val="C00000"/>
                </a:solidFill>
              </a:rPr>
              <a:t>un C131A employeur DRS (WECH 503) </a:t>
            </a:r>
            <a:r>
              <a:rPr lang="fr-BE" sz="3200" dirty="0"/>
              <a:t>;</a:t>
            </a:r>
            <a:r>
              <a:rPr lang="fr-BE" sz="2000" b="1" dirty="0"/>
              <a:t>	</a:t>
            </a:r>
          </a:p>
          <a:p>
            <a:pPr marL="1588" lvl="1" indent="0">
              <a:lnSpc>
                <a:spcPct val="90000"/>
              </a:lnSpc>
              <a:buNone/>
            </a:pPr>
            <a:r>
              <a:rPr lang="fr-BE" sz="3200" b="1" dirty="0"/>
              <a:t>ET</a:t>
            </a:r>
          </a:p>
          <a:p>
            <a:pPr marL="458788" lvl="1" indent="-457200">
              <a:lnSpc>
                <a:spcPct val="90000"/>
              </a:lnSpc>
              <a:buFont typeface="Wingdings" pitchFamily="2" charset="2"/>
              <a:buChar char="§"/>
            </a:pPr>
            <a:r>
              <a:rPr lang="fr-BE" sz="3200" b="1" dirty="0">
                <a:solidFill>
                  <a:srgbClr val="C00000"/>
                </a:solidFill>
              </a:rPr>
              <a:t>un C131A travailleur </a:t>
            </a:r>
            <a:r>
              <a:rPr lang="fr-BE" sz="3200" dirty="0"/>
              <a:t>signé par l’intéressé.</a:t>
            </a:r>
          </a:p>
          <a:p>
            <a:pPr marL="1588" lvl="1" indent="0">
              <a:lnSpc>
                <a:spcPct val="90000"/>
              </a:lnSpc>
              <a:buNone/>
            </a:pPr>
            <a:endParaRPr lang="fr-BE" sz="3200" b="1" dirty="0">
              <a:solidFill>
                <a:srgbClr val="C00000"/>
              </a:solidFill>
            </a:endParaRPr>
          </a:p>
          <a:p>
            <a:pPr marL="458788" lvl="1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BE" sz="3200" dirty="0"/>
              <a:t>Type C9 </a:t>
            </a:r>
            <a:r>
              <a:rPr lang="fr-BE" sz="3200" b="1" dirty="0">
                <a:solidFill>
                  <a:srgbClr val="C00000"/>
                </a:solidFill>
              </a:rPr>
              <a:t>760</a:t>
            </a:r>
          </a:p>
          <a:p>
            <a:pPr marL="458788" lvl="1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BE" sz="3200" dirty="0"/>
              <a:t>Délai de </a:t>
            </a:r>
            <a:r>
              <a:rPr lang="fr-BE" sz="3200" b="1" dirty="0"/>
              <a:t>2 mois </a:t>
            </a:r>
            <a:r>
              <a:rPr lang="fr-BE" sz="3200" dirty="0"/>
              <a:t>à partir du lendemain du début de l’occupation à temps partiel</a:t>
            </a:r>
          </a:p>
          <a:p>
            <a:pPr marL="458788" lvl="1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BE" sz="3200" dirty="0"/>
              <a:t>Script </a:t>
            </a:r>
            <a:r>
              <a:rPr lang="fr-BE" sz="3200" b="1" dirty="0"/>
              <a:t>3.1</a:t>
            </a:r>
            <a:r>
              <a:rPr lang="fr-BE" sz="3200" dirty="0"/>
              <a:t> ou </a:t>
            </a:r>
            <a:r>
              <a:rPr lang="fr-BE" sz="3200" b="1" dirty="0"/>
              <a:t>12.6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>
              <a:defRPr/>
            </a:pPr>
            <a:r>
              <a:rPr lang="fr-FR" b="1" i="1" dirty="0"/>
              <a:t>TTPMD avec AGR – Formalités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BE" sz="3800" dirty="0"/>
              <a:t>Pour la demande de TTPMD avec AGR (57/), le dossier sera constitué:</a:t>
            </a:r>
          </a:p>
          <a:p>
            <a:pPr marL="0" indent="0">
              <a:lnSpc>
                <a:spcPct val="90000"/>
              </a:lnSpc>
              <a:buNone/>
            </a:pPr>
            <a:endParaRPr lang="fr-BE" dirty="0"/>
          </a:p>
          <a:p>
            <a:pPr marL="458788" lvl="1" indent="-457200">
              <a:lnSpc>
                <a:spcPct val="90000"/>
              </a:lnSpc>
              <a:buFont typeface="Wingdings" pitchFamily="2" charset="2"/>
              <a:buChar char="§"/>
            </a:pPr>
            <a:r>
              <a:rPr lang="fr-BE" sz="3800" b="1" dirty="0">
                <a:solidFill>
                  <a:srgbClr val="C00000"/>
                </a:solidFill>
              </a:rPr>
              <a:t>un C131A employeur DRS (WECH 503) </a:t>
            </a:r>
            <a:r>
              <a:rPr lang="fr-BE" sz="3800" dirty="0"/>
              <a:t>;</a:t>
            </a:r>
          </a:p>
          <a:p>
            <a:pPr marL="1588" lvl="1" indent="0">
              <a:lnSpc>
                <a:spcPct val="90000"/>
              </a:lnSpc>
              <a:buNone/>
            </a:pPr>
            <a:r>
              <a:rPr lang="fr-BE" sz="3800" b="1" dirty="0"/>
              <a:t>ET</a:t>
            </a:r>
          </a:p>
          <a:p>
            <a:pPr marL="458788" lvl="1" indent="-457200">
              <a:lnSpc>
                <a:spcPct val="90000"/>
              </a:lnSpc>
              <a:buFont typeface="Wingdings" pitchFamily="2" charset="2"/>
              <a:buChar char="§"/>
            </a:pPr>
            <a:r>
              <a:rPr lang="fr-BE" sz="3800" b="1" dirty="0">
                <a:solidFill>
                  <a:srgbClr val="C00000"/>
                </a:solidFill>
              </a:rPr>
              <a:t>un C131A travailleur </a:t>
            </a:r>
            <a:r>
              <a:rPr lang="fr-BE" sz="3800" dirty="0"/>
              <a:t>signé par l’intéressé &amp; complété par le FOREM (ou attestation A234)/ ACTIRIS (</a:t>
            </a:r>
            <a:r>
              <a:rPr lang="fr-BE" sz="3800" b="1" dirty="0"/>
              <a:t>et</a:t>
            </a:r>
            <a:r>
              <a:rPr lang="fr-BE" sz="3800" dirty="0"/>
              <a:t> attestation A15)/ ADG / VDAB pour justifier l’inscription à temps plein. </a:t>
            </a:r>
          </a:p>
          <a:p>
            <a:pPr marL="1588" lvl="1" indent="0">
              <a:lnSpc>
                <a:spcPct val="90000"/>
              </a:lnSpc>
              <a:buNone/>
            </a:pPr>
            <a:endParaRPr lang="fr-BE" sz="3200" dirty="0"/>
          </a:p>
          <a:p>
            <a:pPr marL="458788" lvl="1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BE" sz="3800" dirty="0"/>
              <a:t>Type C9 </a:t>
            </a:r>
            <a:r>
              <a:rPr lang="fr-BE" sz="3800" b="1" dirty="0">
                <a:solidFill>
                  <a:srgbClr val="C00000"/>
                </a:solidFill>
              </a:rPr>
              <a:t>730</a:t>
            </a:r>
          </a:p>
          <a:p>
            <a:pPr marL="458788" lvl="1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BE" sz="4300" dirty="0">
                <a:solidFill>
                  <a:prstClr val="black"/>
                </a:solidFill>
              </a:rPr>
              <a:t>Délai de </a:t>
            </a:r>
            <a:r>
              <a:rPr lang="fr-BE" sz="4300" b="1" dirty="0">
                <a:solidFill>
                  <a:prstClr val="black"/>
                </a:solidFill>
              </a:rPr>
              <a:t>2 mois </a:t>
            </a:r>
            <a:r>
              <a:rPr lang="fr-BE" sz="4300" dirty="0">
                <a:solidFill>
                  <a:prstClr val="black"/>
                </a:solidFill>
              </a:rPr>
              <a:t>à partir du lendemain du début de l’occupation à temps partiel</a:t>
            </a:r>
          </a:p>
          <a:p>
            <a:pPr marL="458788" lvl="1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BE" sz="3800" dirty="0"/>
              <a:t>Script </a:t>
            </a:r>
            <a:r>
              <a:rPr lang="fr-BE" sz="3800" b="1" dirty="0"/>
              <a:t>3.1</a:t>
            </a:r>
            <a:r>
              <a:rPr lang="fr-BE" sz="3800" dirty="0"/>
              <a:t> ou </a:t>
            </a:r>
            <a:r>
              <a:rPr lang="fr-BE" sz="3800" b="1" dirty="0"/>
              <a:t>12.6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71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616754-98BA-42A7-BA1E-DCAA2B49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TTPMD avec AGR - Formalités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8FABDE-5C38-400B-A2B4-7FB466919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00200"/>
            <a:ext cx="8496944" cy="452596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fr-BE" dirty="0">
                <a:solidFill>
                  <a:prstClr val="black"/>
                </a:solidFill>
              </a:rPr>
              <a:t>Pour les occupations débutées </a:t>
            </a:r>
            <a:r>
              <a:rPr lang="fr-BE" b="1" dirty="0">
                <a:solidFill>
                  <a:prstClr val="black"/>
                </a:solidFill>
              </a:rPr>
              <a:t>à partir du 01.04.2020</a:t>
            </a:r>
          </a:p>
          <a:p>
            <a:pPr marL="0" lvl="0" indent="0">
              <a:buNone/>
            </a:pPr>
            <a:endParaRPr lang="fr-BE" b="1" dirty="0">
              <a:solidFill>
                <a:prstClr val="black"/>
              </a:solidFill>
            </a:endParaRPr>
          </a:p>
          <a:p>
            <a:pPr lvl="0"/>
            <a:r>
              <a:rPr lang="fr-BE" dirty="0">
                <a:solidFill>
                  <a:prstClr val="black"/>
                </a:solidFill>
              </a:rPr>
              <a:t>Le </a:t>
            </a:r>
            <a:r>
              <a:rPr lang="fr-BE" u="sng" dirty="0">
                <a:solidFill>
                  <a:prstClr val="black"/>
                </a:solidFill>
              </a:rPr>
              <a:t>travailleur</a:t>
            </a:r>
            <a:r>
              <a:rPr lang="fr-BE" dirty="0">
                <a:solidFill>
                  <a:prstClr val="black"/>
                </a:solidFill>
              </a:rPr>
              <a:t> doit déclarer - </a:t>
            </a:r>
            <a:r>
              <a:rPr lang="fr-BE" i="1" dirty="0">
                <a:solidFill>
                  <a:srgbClr val="C00000"/>
                </a:solidFill>
              </a:rPr>
              <a:t>via le C131A</a:t>
            </a:r>
            <a:r>
              <a:rPr lang="fr-BE" b="1" i="1" dirty="0">
                <a:solidFill>
                  <a:srgbClr val="C00000"/>
                </a:solidFill>
              </a:rPr>
              <a:t> </a:t>
            </a:r>
            <a:r>
              <a:rPr lang="fr-BE" i="1" dirty="0">
                <a:solidFill>
                  <a:srgbClr val="C00000"/>
                </a:solidFill>
              </a:rPr>
              <a:t>Travailleur</a:t>
            </a:r>
            <a:r>
              <a:rPr lang="fr-BE" i="1" dirty="0">
                <a:solidFill>
                  <a:prstClr val="black"/>
                </a:solidFill>
              </a:rPr>
              <a:t> </a:t>
            </a:r>
            <a:r>
              <a:rPr lang="fr-BE" dirty="0">
                <a:solidFill>
                  <a:prstClr val="black"/>
                </a:solidFill>
              </a:rPr>
              <a:t>- s’il a introduit une demande d’emploi temps plein et/ou d’heures complémentaires</a:t>
            </a:r>
            <a:endParaRPr lang="fr-BE" dirty="0"/>
          </a:p>
          <a:p>
            <a:r>
              <a:rPr lang="fr-BE" dirty="0"/>
              <a:t>L’</a:t>
            </a:r>
            <a:r>
              <a:rPr lang="fr-BE" u="sng" dirty="0"/>
              <a:t>employeur</a:t>
            </a:r>
            <a:r>
              <a:rPr lang="fr-BE" dirty="0"/>
              <a:t> doit déclarer – </a:t>
            </a:r>
            <a:r>
              <a:rPr lang="fr-BE" i="1" dirty="0">
                <a:solidFill>
                  <a:srgbClr val="C00000"/>
                </a:solidFill>
              </a:rPr>
              <a:t>via la WECH503 </a:t>
            </a:r>
            <a:r>
              <a:rPr lang="fr-BE" dirty="0"/>
              <a:t>- s’il a reçu une demande d’emploi temps plein de la part du travailleur et chaque mois si le travailleur a refusé un temps plein/heures supplémentaires (</a:t>
            </a:r>
            <a:r>
              <a:rPr lang="fr-BE" i="1" dirty="0">
                <a:solidFill>
                  <a:srgbClr val="C00000"/>
                </a:solidFill>
              </a:rPr>
              <a:t>WECH506</a:t>
            </a:r>
            <a:r>
              <a:rPr lang="fr-BE" dirty="0"/>
              <a:t>)</a:t>
            </a:r>
          </a:p>
          <a:p>
            <a:endParaRPr lang="fr-BE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B4DEDE-4D88-4833-B118-FF4816BB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401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825"/>
            <a:ext cx="8291264" cy="1008112"/>
          </a:xfrm>
        </p:spPr>
        <p:txBody>
          <a:bodyPr>
            <a:normAutofit/>
          </a:bodyPr>
          <a:lstStyle/>
          <a:p>
            <a:pPr algn="r">
              <a:defRPr/>
            </a:pPr>
            <a:r>
              <a:rPr lang="fr-BE" b="1" i="1" dirty="0"/>
              <a:t>TTPMD avec AGR – Formalités </a:t>
            </a:r>
            <a:endParaRPr lang="fr-FR" b="1" i="1" dirty="0"/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041937"/>
            <a:ext cx="8003232" cy="52673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BE" b="1" dirty="0"/>
              <a:t>Chaque mois</a:t>
            </a:r>
            <a:r>
              <a:rPr lang="fr-BE" dirty="0"/>
              <a:t>, pour le paiement de l’allocation de garantie de revenus: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 le </a:t>
            </a:r>
            <a:r>
              <a:rPr lang="fr-BE" u="sng" dirty="0"/>
              <a:t>travailleur</a:t>
            </a:r>
            <a:r>
              <a:rPr lang="fr-BE" dirty="0"/>
              <a:t> doit remettre </a:t>
            </a:r>
            <a:r>
              <a:rPr lang="fr-BE" b="1" dirty="0"/>
              <a:t>:</a:t>
            </a:r>
          </a:p>
          <a:p>
            <a:pPr marL="857250" lvl="2" indent="-457200">
              <a:buFont typeface="Wingdings" pitchFamily="2" charset="2"/>
              <a:buChar char="§"/>
            </a:pPr>
            <a:r>
              <a:rPr lang="fr-BE" sz="2800" dirty="0"/>
              <a:t>un formulaire </a:t>
            </a:r>
            <a:r>
              <a:rPr lang="fr-BE" sz="2800" b="1" dirty="0">
                <a:solidFill>
                  <a:srgbClr val="C00000"/>
                </a:solidFill>
              </a:rPr>
              <a:t>C3 temps partiel </a:t>
            </a:r>
            <a:r>
              <a:rPr lang="fr-BE" sz="2800" dirty="0"/>
              <a:t>signé et complété « </a:t>
            </a:r>
            <a:r>
              <a:rPr lang="fr-BE" sz="2800" i="1" dirty="0"/>
              <a:t>au jour le jour »</a:t>
            </a:r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fr-BE" sz="3200" dirty="0"/>
              <a:t>L’</a:t>
            </a:r>
            <a:r>
              <a:rPr lang="fr-BE" sz="3200" u="sng" dirty="0"/>
              <a:t>employeur</a:t>
            </a:r>
            <a:r>
              <a:rPr lang="fr-BE" sz="3200" dirty="0"/>
              <a:t> doit établir</a:t>
            </a:r>
            <a:r>
              <a:rPr lang="fr-BE" sz="3200" i="1" dirty="0"/>
              <a:t>:</a:t>
            </a:r>
            <a:endParaRPr lang="fr-BE" sz="3200" dirty="0"/>
          </a:p>
          <a:p>
            <a:pPr marL="857250" lvl="2" indent="-457200">
              <a:buFont typeface="Wingdings" pitchFamily="2" charset="2"/>
              <a:buChar char="§"/>
            </a:pPr>
            <a:r>
              <a:rPr lang="fr-BE" sz="2800" dirty="0"/>
              <a:t>un </a:t>
            </a:r>
            <a:r>
              <a:rPr lang="fr-BE" sz="2800" b="1" dirty="0">
                <a:solidFill>
                  <a:srgbClr val="C00000"/>
                </a:solidFill>
              </a:rPr>
              <a:t>C131B DRS (WECH 506) </a:t>
            </a:r>
            <a:r>
              <a:rPr lang="fr-BE" sz="2800" dirty="0">
                <a:sym typeface="Wingdings" pitchFamily="2" charset="2"/>
              </a:rPr>
              <a:t>reprenant </a:t>
            </a:r>
            <a:r>
              <a:rPr lang="fr-BE" sz="2800" dirty="0"/>
              <a:t>les heures prestées et le salaire perçus pour le mois en question.</a:t>
            </a:r>
          </a:p>
          <a:p>
            <a:pPr marL="0" lvl="1" indent="0">
              <a:buNone/>
            </a:pPr>
            <a:endParaRPr lang="fr-BE" sz="3000" dirty="0"/>
          </a:p>
        </p:txBody>
      </p:sp>
    </p:spTree>
    <p:extLst>
      <p:ext uri="{BB962C8B-B14F-4D97-AF65-F5344CB8AC3E}">
        <p14:creationId xmlns:p14="http://schemas.microsoft.com/office/powerpoint/2010/main" val="42991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 TTPMD avec AGR – Principe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</a:rPr>
              <a:t>Le calcul de l’AGR se base sur l’allocation de chômage complet à laquelle le chômeur aurait droit s’il était en chômage complet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b="1" dirty="0">
                <a:solidFill>
                  <a:prstClr val="black"/>
                </a:solidFill>
                <a:highlight>
                  <a:srgbClr val="FF9933"/>
                </a:highlight>
              </a:rPr>
              <a:t>Allocation de référence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</a:rPr>
              <a:t>Et pendant toute la durée de l’occupation à temps partiel avec AGR, </a:t>
            </a:r>
            <a:r>
              <a:rPr lang="fr-BE" b="1" dirty="0"/>
              <a:t>la cascade d’indemnisation suit son cours.</a:t>
            </a:r>
            <a:endParaRPr lang="fr-BE" sz="36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5774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 Allocation de référence – A/N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3000" dirty="0"/>
              <a:t>Pour les travailleurs ayant charge de famille </a:t>
            </a:r>
            <a:r>
              <a:rPr lang="fr-BE" sz="3000" b="1" dirty="0"/>
              <a:t>(A) </a:t>
            </a:r>
            <a:r>
              <a:rPr lang="fr-BE" sz="3000" dirty="0"/>
              <a:t>ou les travailleurs isolés</a:t>
            </a:r>
            <a:r>
              <a:rPr lang="fr-BE" sz="3000" b="1" dirty="0"/>
              <a:t> (N) </a:t>
            </a:r>
            <a:r>
              <a:rPr lang="fr-BE" sz="3000" dirty="0"/>
              <a:t>qui ont droit au montant journalier :</a:t>
            </a:r>
          </a:p>
          <a:p>
            <a:pPr>
              <a:buFont typeface="Wingdings" pitchFamily="2" charset="2"/>
              <a:buChar char="§"/>
            </a:pPr>
            <a:r>
              <a:rPr lang="fr-BE" sz="3000" dirty="0"/>
              <a:t>d’une des phases de la 2</a:t>
            </a:r>
            <a:r>
              <a:rPr lang="fr-BE" sz="3000" baseline="30000" dirty="0"/>
              <a:t>ème</a:t>
            </a:r>
            <a:r>
              <a:rPr lang="fr-BE" sz="3000" dirty="0"/>
              <a:t> période (2A, 2B, 21, 22, 23 ou 24), OU</a:t>
            </a:r>
          </a:p>
          <a:p>
            <a:pPr>
              <a:buFont typeface="Wingdings" pitchFamily="2" charset="2"/>
              <a:buChar char="§"/>
            </a:pPr>
            <a:r>
              <a:rPr lang="fr-BE" sz="3000" dirty="0"/>
              <a:t>de la 3</a:t>
            </a:r>
            <a:r>
              <a:rPr lang="fr-BE" sz="3000" baseline="30000" dirty="0"/>
              <a:t>ème</a:t>
            </a:r>
            <a:r>
              <a:rPr lang="fr-BE" sz="3000" dirty="0"/>
              <a:t> période (F),</a:t>
            </a:r>
          </a:p>
          <a:p>
            <a:pPr marL="0" indent="0">
              <a:buNone/>
            </a:pPr>
            <a:r>
              <a:rPr lang="fr-BE" sz="2400" b="1" dirty="0">
                <a:sym typeface="Wingdings" pitchFamily="2" charset="2"/>
              </a:rPr>
              <a:t></a:t>
            </a:r>
            <a:r>
              <a:rPr lang="fr-BE" sz="3000" b="1" dirty="0">
                <a:sym typeface="Wingdings" pitchFamily="2" charset="2"/>
              </a:rPr>
              <a:t> L’</a:t>
            </a:r>
            <a:r>
              <a:rPr lang="fr-BE" sz="3000" b="1" dirty="0"/>
              <a:t>allocation de référence pour la calcul de l’AGR est le montant de la phase </a:t>
            </a:r>
            <a:r>
              <a:rPr lang="fr-BE" sz="3000" b="1" dirty="0">
                <a:solidFill>
                  <a:srgbClr val="C00000"/>
                </a:solidFill>
              </a:rPr>
              <a:t>2A</a:t>
            </a:r>
            <a:endParaRPr lang="fr-BE" b="1" dirty="0">
              <a:solidFill>
                <a:srgbClr val="C00000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196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5.6. Allocation de référence – B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BE" sz="3000" dirty="0"/>
              <a:t>Pour les travailleurs cohabitants </a:t>
            </a:r>
            <a:r>
              <a:rPr lang="fr-BE" sz="3000" b="1" dirty="0"/>
              <a:t>(B)</a:t>
            </a:r>
            <a:r>
              <a:rPr lang="fr-BE" sz="3000" dirty="0"/>
              <a:t> qui ont droit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dirty="0"/>
              <a:t>au montant journalier d’une des phases de la 2</a:t>
            </a:r>
            <a:r>
              <a:rPr lang="fr-BE" sz="3000" baseline="30000" dirty="0"/>
              <a:t>ème</a:t>
            </a:r>
            <a:r>
              <a:rPr lang="fr-BE" sz="3000" dirty="0"/>
              <a:t> période (2A, 2B, 21, 22, 23 ou 24) :</a:t>
            </a:r>
          </a:p>
          <a:p>
            <a:pPr marL="857250" lvl="1" indent="-457200">
              <a:buFont typeface="Wingdings" panose="05000000000000000000" pitchFamily="2" charset="2"/>
              <a:buChar char="è"/>
            </a:pPr>
            <a:r>
              <a:rPr lang="fr-BE" b="1" dirty="0">
                <a:sym typeface="Wingdings" pitchFamily="2" charset="2"/>
              </a:rPr>
              <a:t>L’</a:t>
            </a:r>
            <a:r>
              <a:rPr lang="fr-BE" b="1" dirty="0"/>
              <a:t>allocation de référence pour la calcul de l’AGR est le montant de la phase </a:t>
            </a:r>
            <a:r>
              <a:rPr lang="fr-BE" b="1" dirty="0">
                <a:solidFill>
                  <a:srgbClr val="C00000"/>
                </a:solidFill>
              </a:rPr>
              <a:t>2A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dirty="0"/>
              <a:t>au montant journalier de la 3</a:t>
            </a:r>
            <a:r>
              <a:rPr lang="fr-BE" sz="3000" baseline="30000" dirty="0"/>
              <a:t>ème</a:t>
            </a:r>
            <a:r>
              <a:rPr lang="fr-BE" sz="3000" dirty="0"/>
              <a:t> période (F)</a:t>
            </a:r>
          </a:p>
          <a:p>
            <a:pPr marL="857250" lvl="1" indent="-457200">
              <a:buFont typeface="Wingdings" panose="05000000000000000000" pitchFamily="2" charset="2"/>
              <a:buChar char="è"/>
            </a:pPr>
            <a:r>
              <a:rPr lang="fr-BE" b="1" dirty="0">
                <a:solidFill>
                  <a:prstClr val="black"/>
                </a:solidFill>
                <a:sym typeface="Wingdings" pitchFamily="2" charset="2"/>
              </a:rPr>
              <a:t>L’</a:t>
            </a:r>
            <a:r>
              <a:rPr lang="fr-BE" b="1" dirty="0">
                <a:solidFill>
                  <a:prstClr val="black"/>
                </a:solidFill>
              </a:rPr>
              <a:t>allocation de référence pour la calcul de l’AGR est le montant de la phase </a:t>
            </a:r>
            <a:r>
              <a:rPr lang="fr-BE" b="1" dirty="0">
                <a:solidFill>
                  <a:srgbClr val="C00000"/>
                </a:solidFill>
              </a:rPr>
              <a:t>BF</a:t>
            </a:r>
          </a:p>
          <a:p>
            <a:pPr marL="0" indent="0">
              <a:buNone/>
            </a:pPr>
            <a:endParaRPr lang="fr-BE" sz="3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933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8E60C1-A220-42C7-93FD-FBCBE01BC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En résumé</a:t>
            </a: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21592638-0FBF-48DA-89B9-9002AB6A5A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698317"/>
              </p:ext>
            </p:extLst>
          </p:nvPr>
        </p:nvGraphicFramePr>
        <p:xfrm>
          <a:off x="457200" y="1600200"/>
          <a:ext cx="8229600" cy="418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69366672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9798859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92430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Situation familiale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Droit à l’AGR pendant la phase …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Allocation de référence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805021"/>
                  </a:ext>
                </a:extLst>
              </a:tr>
              <a:tr h="123613">
                <a:tc rowSpan="3">
                  <a:txBody>
                    <a:bodyPr/>
                    <a:lstStyle/>
                    <a:p>
                      <a:pPr algn="ctr"/>
                      <a:r>
                        <a:rPr lang="fr-BE" sz="2400" b="1" spc="600" dirty="0"/>
                        <a:t>A/N/B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/>
                        <a:t>11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1751"/>
                  </a:ext>
                </a:extLst>
              </a:tr>
              <a:tr h="242147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8377"/>
                  </a:ext>
                </a:extLst>
              </a:tr>
              <a:tr h="123613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/>
                        <a:t>13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4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400" b="1" spc="600" dirty="0"/>
                        <a:t>A/N/B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/>
                        <a:t>2A, 2B, 21, 22, 23 ou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rgbClr val="C00000"/>
                          </a:solidFill>
                        </a:rPr>
                        <a:t>2A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954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400" b="1" spc="600" dirty="0"/>
                        <a:t>A/N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/>
                        <a:t>F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rgbClr val="C00000"/>
                          </a:solidFill>
                        </a:rPr>
                        <a:t>2A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9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rgbClr val="C00000"/>
                          </a:solidFill>
                        </a:rPr>
                        <a:t>BF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414157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081104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2A57C5-52F6-42C2-9FC4-A520FD38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6038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r"/>
            <a:r>
              <a:rPr lang="fr-BE" b="1" i="1" dirty="0"/>
              <a:t> TTPMD avec AGR: Plafond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" indent="0">
              <a:buClr>
                <a:schemeClr val="tx1"/>
              </a:buClr>
              <a:buNone/>
            </a:pPr>
            <a:r>
              <a:rPr lang="fr-BE" sz="3800" dirty="0"/>
              <a:t>Droit à l’AGR si :</a:t>
            </a:r>
          </a:p>
          <a:p>
            <a:pPr marL="1284732" lvl="2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BE" sz="3800" dirty="0"/>
              <a:t>Q/S </a:t>
            </a:r>
            <a:r>
              <a:rPr lang="fr-BE" sz="3800" b="1" dirty="0">
                <a:solidFill>
                  <a:srgbClr val="C00000"/>
                </a:solidFill>
              </a:rPr>
              <a:t>≤ </a:t>
            </a:r>
            <a:r>
              <a:rPr lang="fr-BE" sz="3800" dirty="0"/>
              <a:t>4/5 </a:t>
            </a:r>
          </a:p>
          <a:p>
            <a:pPr marL="827532" lvl="2" indent="0">
              <a:buClr>
                <a:schemeClr val="tx1"/>
              </a:buClr>
              <a:buNone/>
            </a:pPr>
            <a:r>
              <a:rPr lang="fr-BE" sz="3200" b="1" dirty="0"/>
              <a:t>ET</a:t>
            </a:r>
          </a:p>
          <a:p>
            <a:pPr marL="1284732" lvl="2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BE" sz="3800" dirty="0"/>
              <a:t>Salaire </a:t>
            </a:r>
            <a:r>
              <a:rPr lang="fr-BE" sz="3800" b="1" dirty="0">
                <a:solidFill>
                  <a:srgbClr val="C00000"/>
                </a:solidFill>
              </a:rPr>
              <a:t>&lt;</a:t>
            </a:r>
            <a:r>
              <a:rPr lang="fr-BE" sz="3800" dirty="0"/>
              <a:t> Salaire de référence </a:t>
            </a:r>
          </a:p>
          <a:p>
            <a:pPr marL="827532" lvl="2" indent="0">
              <a:buClr>
                <a:schemeClr val="tx1"/>
              </a:buClr>
              <a:buNone/>
            </a:pPr>
            <a:r>
              <a:rPr lang="fr-BE" sz="3200" b="1" dirty="0"/>
              <a:t>ET</a:t>
            </a:r>
          </a:p>
          <a:p>
            <a:pPr marL="1284732" lvl="2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BE" sz="3800" dirty="0"/>
              <a:t>AGR </a:t>
            </a:r>
            <a:r>
              <a:rPr lang="fr-BE" sz="3800" b="1" dirty="0">
                <a:solidFill>
                  <a:srgbClr val="C00000"/>
                </a:solidFill>
              </a:rPr>
              <a:t>≥</a:t>
            </a:r>
            <a:r>
              <a:rPr lang="fr-BE" sz="3800" dirty="0"/>
              <a:t> BF/2</a:t>
            </a:r>
          </a:p>
          <a:p>
            <a:pPr marL="27432" indent="0">
              <a:buClr>
                <a:schemeClr val="tx1"/>
              </a:buClr>
              <a:buNone/>
            </a:pPr>
            <a:endParaRPr lang="fr-BE" sz="2800" i="1" dirty="0"/>
          </a:p>
          <a:p>
            <a:pPr marL="27432" indent="0">
              <a:buClr>
                <a:schemeClr val="tx1"/>
              </a:buClr>
              <a:buNone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420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FR" b="1" i="1" dirty="0">
                <a:cs typeface="Times New Roman" pitchFamily="18" charset="0"/>
              </a:rPr>
              <a:t>TTPMD avec AGR &amp; JF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628800"/>
            <a:ext cx="8712968" cy="4525963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lang="fr-BE" dirty="0">
                <a:cs typeface="Times New Roman" pitchFamily="18" charset="0"/>
              </a:rPr>
              <a:t>L’obligation d’indemnisation du JF par l’employeur est dépendante de l’horaire contractuel de travail:</a:t>
            </a:r>
          </a:p>
          <a:p>
            <a:pPr>
              <a:buSzPct val="100000"/>
              <a:buFont typeface="Wingdings" pitchFamily="2" charset="2"/>
              <a:buChar char="§"/>
            </a:pPr>
            <a:r>
              <a:rPr lang="fr-BE" b="1" dirty="0">
                <a:cs typeface="Times New Roman" pitchFamily="18" charset="0"/>
              </a:rPr>
              <a:t>Horaire Fixe </a:t>
            </a:r>
          </a:p>
          <a:p>
            <a:pPr marL="400050" lvl="1" indent="0">
              <a:buSzPct val="100000"/>
              <a:buNone/>
            </a:pPr>
            <a:r>
              <a:rPr lang="fr-BE" sz="2000" b="1" dirty="0">
                <a:cs typeface="Times New Roman" pitchFamily="18" charset="0"/>
                <a:sym typeface="Wingdings" pitchFamily="2" charset="2"/>
              </a:rPr>
              <a:t></a:t>
            </a:r>
            <a:r>
              <a:rPr lang="fr-BE" b="1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fr-BE" sz="3000" dirty="0">
                <a:cs typeface="Times New Roman" pitchFamily="18" charset="0"/>
              </a:rPr>
              <a:t>Le JF qui coïncide avec un jour habituel d’inactivité n’est pas à charge de l’employeur.</a:t>
            </a:r>
          </a:p>
          <a:p>
            <a:pPr>
              <a:buSzPct val="100000"/>
              <a:buFont typeface="Wingdings" pitchFamily="2" charset="2"/>
              <a:buChar char="§"/>
            </a:pPr>
            <a:r>
              <a:rPr lang="fr-BE" b="1" dirty="0">
                <a:cs typeface="Times New Roman" pitchFamily="18" charset="0"/>
              </a:rPr>
              <a:t>Horaire Variable </a:t>
            </a:r>
          </a:p>
          <a:p>
            <a:pPr marL="400050" lvl="1" indent="0">
              <a:buSzPct val="100000"/>
              <a:buNone/>
            </a:pPr>
            <a:r>
              <a:rPr lang="fr-BE" sz="2000" b="1" dirty="0">
                <a:cs typeface="Times New Roman" pitchFamily="18" charset="0"/>
                <a:sym typeface="Wingdings" pitchFamily="2" charset="2"/>
              </a:rPr>
              <a:t></a:t>
            </a:r>
            <a:r>
              <a:rPr lang="fr-BE" b="1" dirty="0">
                <a:cs typeface="Times New Roman" pitchFamily="18" charset="0"/>
                <a:sym typeface="Wingdings" pitchFamily="2" charset="2"/>
              </a:rPr>
              <a:t> </a:t>
            </a:r>
            <a:r>
              <a:rPr lang="fr-BE" sz="3000" dirty="0">
                <a:cs typeface="Times New Roman" pitchFamily="18" charset="0"/>
              </a:rPr>
              <a:t>Le JF  est toujours à charge de l’employeur </a:t>
            </a:r>
            <a:r>
              <a:rPr lang="fr-BE" dirty="0">
                <a:cs typeface="Times New Roman" pitchFamily="18" charset="0"/>
              </a:rPr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225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TTPMD &amp; fin d’occupation</a:t>
            </a:r>
            <a:endParaRPr lang="fr-FR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768"/>
              </a:spcBef>
              <a:buNone/>
            </a:pPr>
            <a:r>
              <a:rPr lang="fr-BE" dirty="0">
                <a:cs typeface="Times New Roman" pitchFamily="18" charset="0"/>
              </a:rPr>
              <a:t>Pour une occupation TTPMD sans AGR &amp; s</a:t>
            </a:r>
            <a:r>
              <a:rPr lang="fr-BE" dirty="0">
                <a:solidFill>
                  <a:prstClr val="black"/>
                </a:solidFill>
                <a:cs typeface="Times New Roman" pitchFamily="18" charset="0"/>
              </a:rPr>
              <a:t>i la date de </a:t>
            </a:r>
            <a:r>
              <a:rPr lang="fr-BE" b="1" dirty="0">
                <a:solidFill>
                  <a:prstClr val="black"/>
                </a:solidFill>
                <a:cs typeface="Times New Roman" pitchFamily="18" charset="0"/>
              </a:rPr>
              <a:t>fin d’occupation sur le C4 est un vendredi</a:t>
            </a:r>
            <a:r>
              <a:rPr lang="fr-BE" dirty="0">
                <a:cs typeface="Times New Roman" pitchFamily="18" charset="0"/>
              </a:rPr>
              <a:t> :</a:t>
            </a:r>
          </a:p>
          <a:p>
            <a:pPr marL="400050" lvl="1" indent="0">
              <a:spcBef>
                <a:spcPts val="768"/>
              </a:spcBef>
              <a:buNone/>
            </a:pPr>
            <a:r>
              <a:rPr lang="fr-BE" dirty="0">
                <a:cs typeface="Times New Roman" pitchFamily="18" charset="0"/>
                <a:sym typeface="Wingdings" pitchFamily="2" charset="2"/>
              </a:rPr>
              <a:t> </a:t>
            </a:r>
            <a:r>
              <a:rPr lang="fr-BE" sz="3200" dirty="0">
                <a:solidFill>
                  <a:srgbClr val="C00000"/>
                </a:solidFill>
                <a:cs typeface="Times New Roman" pitchFamily="18" charset="0"/>
                <a:sym typeface="Wingdings" pitchFamily="2" charset="2"/>
              </a:rPr>
              <a:t>DA le </a:t>
            </a:r>
            <a:r>
              <a:rPr lang="fr-BE" sz="3200" b="1" dirty="0">
                <a:solidFill>
                  <a:srgbClr val="C00000"/>
                </a:solidFill>
                <a:cs typeface="Times New Roman" pitchFamily="18" charset="0"/>
                <a:sym typeface="Wingdings" pitchFamily="2" charset="2"/>
              </a:rPr>
              <a:t>lundi</a:t>
            </a:r>
            <a:r>
              <a:rPr lang="fr-BE" sz="3200" dirty="0">
                <a:solidFill>
                  <a:srgbClr val="C00000"/>
                </a:solidFill>
                <a:cs typeface="Times New Roman" pitchFamily="18" charset="0"/>
                <a:sym typeface="Wingdings" pitchFamily="2" charset="2"/>
              </a:rPr>
              <a:t> </a:t>
            </a:r>
            <a:r>
              <a:rPr lang="fr-BE" sz="3200" dirty="0">
                <a:cs typeface="Times New Roman" pitchFamily="18" charset="0"/>
                <a:sym typeface="Wingdings" pitchFamily="2" charset="2"/>
              </a:rPr>
              <a:t>car le samedi qui suit la fin de l’occupation n’est pas indemnisable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935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63AC05-EF90-4CD6-B6E7-8633B4024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TTPMD &amp; Fin d’occupation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826F51-CE47-4A30-92E8-A8C881EBD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768"/>
              </a:spcBef>
              <a:buNone/>
            </a:pPr>
            <a:r>
              <a:rPr lang="fr-BE" dirty="0">
                <a:solidFill>
                  <a:prstClr val="black"/>
                </a:solidFill>
                <a:cs typeface="Times New Roman" pitchFamily="18" charset="0"/>
              </a:rPr>
              <a:t>Pour une occupation TTPMD avec AGR &amp; si la date de </a:t>
            </a:r>
            <a:r>
              <a:rPr lang="fr-BE" b="1" dirty="0">
                <a:solidFill>
                  <a:prstClr val="black"/>
                </a:solidFill>
                <a:cs typeface="Times New Roman" pitchFamily="18" charset="0"/>
              </a:rPr>
              <a:t>fin d’occupation sur le C4 est un vendredi</a:t>
            </a:r>
            <a:r>
              <a:rPr lang="fr-BE" dirty="0">
                <a:solidFill>
                  <a:prstClr val="black"/>
                </a:solidFill>
                <a:cs typeface="Times New Roman" pitchFamily="18" charset="0"/>
              </a:rPr>
              <a:t>, l’OP a le choix pour la DA en CC </a:t>
            </a:r>
            <a:r>
              <a:rPr lang="fr-BE" sz="3000" dirty="0">
                <a:solidFill>
                  <a:prstClr val="black"/>
                </a:solidFill>
                <a:cs typeface="Times New Roman" pitchFamily="18" charset="0"/>
              </a:rPr>
              <a:t>:</a:t>
            </a:r>
          </a:p>
          <a:p>
            <a:pPr lvl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fr-BE" sz="3100" dirty="0">
                <a:solidFill>
                  <a:srgbClr val="C00000"/>
                </a:solidFill>
                <a:cs typeface="Times New Roman" pitchFamily="18" charset="0"/>
                <a:sym typeface="Wingdings" pitchFamily="2" charset="2"/>
              </a:rPr>
              <a:t>Soit le samedi </a:t>
            </a:r>
            <a:r>
              <a:rPr lang="fr-BE" sz="3100" dirty="0">
                <a:solidFill>
                  <a:prstClr val="black"/>
                </a:solidFill>
                <a:cs typeface="Times New Roman" pitchFamily="18" charset="0"/>
                <a:sym typeface="Wingdings" pitchFamily="2" charset="2"/>
              </a:rPr>
              <a:t>et celui-ci est entièrement indemnisable en chômage complet.</a:t>
            </a:r>
            <a:endParaRPr lang="fr-BE" sz="3100" b="1" i="1" dirty="0">
              <a:solidFill>
                <a:prstClr val="black"/>
              </a:solidFill>
              <a:cs typeface="Times New Roman" pitchFamily="18" charset="0"/>
              <a:sym typeface="Wingdings" pitchFamily="2" charset="2"/>
            </a:endParaRPr>
          </a:p>
          <a:p>
            <a:pPr lvl="1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fr-BE" sz="3100" dirty="0">
                <a:solidFill>
                  <a:srgbClr val="C00000"/>
                </a:solidFill>
                <a:cs typeface="Times New Roman" pitchFamily="18" charset="0"/>
                <a:sym typeface="Wingdings" pitchFamily="2" charset="2"/>
              </a:rPr>
              <a:t>Soit le lundi </a:t>
            </a:r>
            <a:r>
              <a:rPr lang="fr-BE" sz="3100" dirty="0">
                <a:solidFill>
                  <a:prstClr val="black"/>
                </a:solidFill>
                <a:cs typeface="Times New Roman" pitchFamily="18" charset="0"/>
                <a:sym typeface="Wingdings" pitchFamily="2" charset="2"/>
              </a:rPr>
              <a:t>et le samedi est indemnisable en </a:t>
            </a:r>
            <a:r>
              <a:rPr lang="fr-BE" sz="3100" dirty="0">
                <a:solidFill>
                  <a:srgbClr val="C00000"/>
                </a:solidFill>
                <a:cs typeface="Times New Roman" pitchFamily="18" charset="0"/>
                <a:sym typeface="Wingdings" pitchFamily="2" charset="2"/>
              </a:rPr>
              <a:t>AGR.</a:t>
            </a:r>
          </a:p>
          <a:p>
            <a:pPr marL="0" lvl="0" indent="0">
              <a:buSzPct val="80000"/>
              <a:buNone/>
            </a:pPr>
            <a:r>
              <a:rPr lang="fr-BE" sz="2800" i="1" u="sng" dirty="0">
                <a:solidFill>
                  <a:prstClr val="black"/>
                </a:solidFill>
                <a:cs typeface="Times New Roman" pitchFamily="18" charset="0"/>
              </a:rPr>
              <a:t>Exception</a:t>
            </a:r>
            <a:r>
              <a:rPr lang="fr-BE" sz="2800" i="1" dirty="0">
                <a:solidFill>
                  <a:prstClr val="black"/>
                </a:solidFill>
                <a:cs typeface="Times New Roman" pitchFamily="18" charset="0"/>
              </a:rPr>
              <a:t> : </a:t>
            </a:r>
          </a:p>
          <a:p>
            <a:pPr marL="0" lvl="0" indent="0">
              <a:buSzPct val="80000"/>
              <a:buNone/>
            </a:pPr>
            <a:r>
              <a:rPr lang="fr-BE" sz="2800" i="1" dirty="0">
                <a:solidFill>
                  <a:prstClr val="black"/>
                </a:solidFill>
                <a:cs typeface="Times New Roman" pitchFamily="18" charset="0"/>
              </a:rPr>
              <a:t>Si le vendredi est le dernier jour du mois </a:t>
            </a:r>
            <a:r>
              <a:rPr lang="fr-BE" sz="2200" i="1" dirty="0">
                <a:solidFill>
                  <a:prstClr val="black"/>
                </a:solidFill>
                <a:cs typeface="Times New Roman" pitchFamily="18" charset="0"/>
                <a:sym typeface="Wingdings" pitchFamily="2" charset="2"/>
              </a:rPr>
              <a:t></a:t>
            </a:r>
            <a:r>
              <a:rPr lang="fr-BE" sz="2800" i="1" dirty="0">
                <a:solidFill>
                  <a:prstClr val="black"/>
                </a:solidFill>
                <a:cs typeface="Times New Roman" pitchFamily="18" charset="0"/>
                <a:sym typeface="Wingdings" pitchFamily="2" charset="2"/>
              </a:rPr>
              <a:t> Obligation d’introduire la DA en CC </a:t>
            </a:r>
            <a:r>
              <a:rPr lang="fr-BE" sz="2800" i="1">
                <a:solidFill>
                  <a:prstClr val="black"/>
                </a:solidFill>
                <a:cs typeface="Times New Roman" pitchFamily="18" charset="0"/>
                <a:sym typeface="Wingdings" pitchFamily="2" charset="2"/>
              </a:rPr>
              <a:t>le samedi</a:t>
            </a:r>
            <a:r>
              <a:rPr lang="fr-BE" sz="2800">
                <a:solidFill>
                  <a:prstClr val="black"/>
                </a:solidFill>
                <a:cs typeface="Times New Roman" pitchFamily="18" charset="0"/>
                <a:sym typeface="Wingdings" pitchFamily="2" charset="2"/>
              </a:rPr>
              <a:t>.</a:t>
            </a:r>
            <a:endParaRPr lang="fr-BE" sz="2800" dirty="0">
              <a:solidFill>
                <a:prstClr val="black"/>
              </a:solidFill>
              <a:cs typeface="Times New Roman" pitchFamily="18" charset="0"/>
            </a:endParaRPr>
          </a:p>
          <a:p>
            <a:pPr marL="457200" lvl="1" indent="0">
              <a:spcBef>
                <a:spcPts val="768"/>
              </a:spcBef>
              <a:buNone/>
            </a:pPr>
            <a:endParaRPr lang="fr-BE" sz="3200" dirty="0">
              <a:solidFill>
                <a:srgbClr val="C00000"/>
              </a:solidFill>
              <a:cs typeface="Times New Roman" pitchFamily="18" charset="0"/>
              <a:sym typeface="Wingdings" pitchFamily="2" charset="2"/>
            </a:endParaRPr>
          </a:p>
          <a:p>
            <a:endParaRPr lang="fr-BE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A00B04-2CAF-448C-B6FA-A144FE752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750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fr-BE" b="1" i="1" dirty="0"/>
              <a:t> Simulation</a:t>
            </a:r>
            <a:endParaRPr lang="fr-FR" b="1" i="1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Clr>
                <a:schemeClr val="tx1"/>
              </a:buClr>
              <a:buNone/>
            </a:pPr>
            <a:r>
              <a:rPr lang="fr-BE" dirty="0"/>
              <a:t>Afin de proposer à notre affilié le statut le plus adéquat (avec ou sans AGR), nous effectuerons, à l’aide du </a:t>
            </a:r>
            <a:r>
              <a:rPr lang="fr-BE" b="1" dirty="0"/>
              <a:t>programme de simulation</a:t>
            </a:r>
            <a:r>
              <a:rPr lang="fr-BE" dirty="0"/>
              <a:t>, un calcul de l’AGR qui pourrait être accordée via: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None/>
            </a:pPr>
            <a:endParaRPr lang="fr-BE" sz="1200" dirty="0"/>
          </a:p>
          <a:p>
            <a:pPr marL="971550" lvl="3" indent="-51435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3200" dirty="0"/>
              <a:t>Soit feuille Excel (intranet)</a:t>
            </a:r>
          </a:p>
          <a:p>
            <a:pPr marL="971550" lvl="3" indent="-51435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fr-FR" sz="3200" dirty="0"/>
              <a:t>Soit lien sur le site de l’Onem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fr-BE" b="1" i="1" dirty="0"/>
              <a:t> Période de carence</a:t>
            </a:r>
            <a:endParaRPr lang="fr-FR" b="1" i="1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BE" dirty="0"/>
              <a:t>Le travailleur ne peut pas bénéficier de l’AGR pendant une période de </a:t>
            </a:r>
            <a:r>
              <a:rPr lang="fr-BE" b="1" dirty="0">
                <a:solidFill>
                  <a:srgbClr val="C00000"/>
                </a:solidFill>
              </a:rPr>
              <a:t>3 mois </a:t>
            </a:r>
            <a:r>
              <a:rPr lang="fr-BE" sz="2800" dirty="0"/>
              <a:t>(débutant le jour qui suit la période de préavis ou la période couverte par une indemnité de congé) :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fr-BE" dirty="0"/>
              <a:t>si à la suite d’une occupation à temps plein </a:t>
            </a:r>
            <a:r>
              <a:rPr lang="fr-BE" sz="2400" dirty="0"/>
              <a:t>(au sens de l’AR 28), </a:t>
            </a:r>
            <a:r>
              <a:rPr lang="fr-BE" dirty="0"/>
              <a:t>il reprend un temps partiel chez le même employeur.</a:t>
            </a:r>
          </a:p>
          <a:p>
            <a:pPr marL="0" indent="0">
              <a:lnSpc>
                <a:spcPct val="90000"/>
              </a:lnSpc>
              <a:buNone/>
            </a:pPr>
            <a:endParaRPr lang="fr-BE" sz="1200" dirty="0"/>
          </a:p>
          <a:p>
            <a:pPr marL="0" indent="0">
              <a:lnSpc>
                <a:spcPct val="90000"/>
              </a:lnSpc>
              <a:buNone/>
            </a:pPr>
            <a:r>
              <a:rPr lang="fr-BE" sz="2800" b="1" i="1" u="sng" dirty="0"/>
              <a:t>Rmq</a:t>
            </a:r>
            <a:r>
              <a:rPr lang="fr-BE" sz="2800" dirty="0"/>
              <a:t> : La période de carence </a:t>
            </a:r>
            <a:r>
              <a:rPr lang="fr-BE" sz="2800" u="sng" dirty="0"/>
              <a:t>ne s'applique pas</a:t>
            </a:r>
            <a:r>
              <a:rPr lang="fr-BE" sz="2800" dirty="0"/>
              <a:t> lorsqu’il s’agit d’une fin de CDD.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28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BCF24C-DC8C-4974-9C24-55AF0964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Quelques Tâches en lien avec le TTPMD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A7B3B8-BE2C-44FD-A00C-B06DA7AC0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C00000"/>
                </a:solidFill>
              </a:rPr>
              <a:t>« </a:t>
            </a:r>
            <a:r>
              <a:rPr lang="fr-FR" sz="2800" b="1" i="1" dirty="0">
                <a:solidFill>
                  <a:srgbClr val="C00000"/>
                </a:solidFill>
              </a:rPr>
              <a:t>Flux indemn sans admissibilité </a:t>
            </a:r>
            <a:r>
              <a:rPr lang="fr-FR" sz="2800" b="1" dirty="0">
                <a:solidFill>
                  <a:srgbClr val="C00000"/>
                </a:solidFill>
              </a:rPr>
              <a:t>»:</a:t>
            </a:r>
            <a:r>
              <a:rPr lang="fr-FR" sz="2800" dirty="0">
                <a:solidFill>
                  <a:prstClr val="black"/>
                </a:solidFill>
              </a:rPr>
              <a:t> Réception Wech 506 et pas de préfixe TTPMD en S04</a:t>
            </a:r>
          </a:p>
          <a:p>
            <a:pPr lvl="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C00000"/>
                </a:solidFill>
              </a:rPr>
              <a:t>« </a:t>
            </a:r>
            <a:r>
              <a:rPr lang="fr-FR" sz="2800" b="1" i="1" dirty="0">
                <a:solidFill>
                  <a:srgbClr val="C00000"/>
                </a:solidFill>
              </a:rPr>
              <a:t>Contradiction dans le flux </a:t>
            </a:r>
            <a:r>
              <a:rPr lang="fr-FR" sz="2800" b="1" dirty="0">
                <a:solidFill>
                  <a:srgbClr val="C00000"/>
                </a:solidFill>
              </a:rPr>
              <a:t>»:</a:t>
            </a:r>
            <a:r>
              <a:rPr lang="fr-FR" sz="2800" dirty="0">
                <a:solidFill>
                  <a:prstClr val="black"/>
                </a:solidFill>
              </a:rPr>
              <a:t> Réception Wech 506 et au moins un élément discordant avec le S07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fr-FR" sz="2800" i="1" dirty="0">
                <a:solidFill>
                  <a:prstClr val="black"/>
                </a:solidFill>
              </a:rPr>
              <a:t>Méthode de travail:</a:t>
            </a:r>
          </a:p>
          <a:p>
            <a:pPr marL="0" lvl="0" indent="0">
              <a:spcBef>
                <a:spcPts val="0"/>
              </a:spcBef>
              <a:buNone/>
            </a:pPr>
            <a:endParaRPr lang="fr-FR" sz="2800" b="1" u="sng" dirty="0">
              <a:solidFill>
                <a:prstClr val="black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A41895-0C19-43B8-A77F-6E02BD20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 dirty="0"/>
          </a:p>
        </p:txBody>
      </p:sp>
      <p:graphicFrame>
        <p:nvGraphicFramePr>
          <p:cNvPr id="4" name="Tableau 6">
            <a:extLst>
              <a:ext uri="{FF2B5EF4-FFF2-40B4-BE49-F238E27FC236}">
                <a16:creationId xmlns:a16="http://schemas.microsoft.com/office/drawing/2014/main" id="{27CFBD60-51EA-457D-8B00-952F7BC06A4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855010"/>
          <a:ext cx="8507288" cy="2712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26822">
                  <a:extLst>
                    <a:ext uri="{9D8B030D-6E8A-4147-A177-3AD203B41FA5}">
                      <a16:colId xmlns:a16="http://schemas.microsoft.com/office/drawing/2014/main" val="2313818150"/>
                    </a:ext>
                  </a:extLst>
                </a:gridCol>
                <a:gridCol w="2348018">
                  <a:extLst>
                    <a:ext uri="{9D8B030D-6E8A-4147-A177-3AD203B41FA5}">
                      <a16:colId xmlns:a16="http://schemas.microsoft.com/office/drawing/2014/main" val="4008415863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435105079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150633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Téléphonie sortante + E-mail (courrier) à l’affilié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Création d’une farde en suspens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Statut de la tâche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85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WECH506 &amp; DA requise et délai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fr-BE" sz="3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fr-BE" sz="3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« traitée »</a:t>
                      </a:r>
                    </a:p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46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WECH506 &amp; DA requise MAIS </a:t>
                      </a:r>
                    </a:p>
                    <a:p>
                      <a:r>
                        <a:rPr lang="fr-BE" dirty="0"/>
                        <a:t>hors délai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kumimoji="0" lang="fr-BE" sz="3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4400" dirty="0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fr-BE" sz="4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>
                          <a:solidFill>
                            <a:srgbClr val="008000"/>
                          </a:solidFill>
                        </a:rPr>
                        <a:t>« en cours »</a:t>
                      </a:r>
                    </a:p>
                    <a:p>
                      <a:pPr algn="ctr"/>
                      <a:r>
                        <a:rPr lang="fr-BE" dirty="0"/>
                        <a:t>A revoir </a:t>
                      </a:r>
                    </a:p>
                    <a:p>
                      <a:pPr algn="ctr"/>
                      <a:r>
                        <a:rPr lang="fr-BE" dirty="0"/>
                        <a:t>+ 5 semaines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34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00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BCF24C-DC8C-4974-9C24-55AF0964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Tâches : Point d’attention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A7B3B8-BE2C-44FD-A00C-B06DA7AC0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38712"/>
          </a:xfrm>
        </p:spPr>
        <p:txBody>
          <a:bodyPr>
            <a:normAutofit lnSpcReduction="10000"/>
          </a:bodyPr>
          <a:lstStyle/>
          <a:p>
            <a:pPr lvl="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600" b="1" i="1" u="sng" dirty="0">
                <a:solidFill>
                  <a:prstClr val="black"/>
                </a:solidFill>
              </a:rPr>
              <a:t>SI </a:t>
            </a:r>
            <a:r>
              <a:rPr lang="fr-FR" sz="2600" i="1" dirty="0">
                <a:solidFill>
                  <a:prstClr val="black"/>
                </a:solidFill>
              </a:rPr>
              <a:t>la tâche «</a:t>
            </a:r>
            <a:r>
              <a:rPr lang="fr-FR" sz="2600" b="1" i="1" dirty="0">
                <a:solidFill>
                  <a:prstClr val="black"/>
                </a:solidFill>
              </a:rPr>
              <a:t> contradiction dans le flux </a:t>
            </a:r>
            <a:r>
              <a:rPr lang="fr-FR" sz="2600" i="1" dirty="0">
                <a:solidFill>
                  <a:prstClr val="black"/>
                </a:solidFill>
              </a:rPr>
              <a:t>» se déclenche à la suite d’un changement ONSS, BCE ou facteur S: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fr-BE" sz="2800" dirty="0">
                <a:solidFill>
                  <a:srgbClr val="C00000"/>
                </a:solidFill>
                <a:cs typeface="Times New Roman" pitchFamily="18" charset="0"/>
                <a:sym typeface="Wingdings" pitchFamily="2" charset="2"/>
              </a:rPr>
              <a:t> </a:t>
            </a:r>
            <a:r>
              <a:rPr lang="fr-BE" sz="2600" b="1" i="1" dirty="0">
                <a:solidFill>
                  <a:srgbClr val="C00000"/>
                </a:solidFill>
                <a:cs typeface="Times New Roman" pitchFamily="18" charset="0"/>
                <a:sym typeface="Wingdings" pitchFamily="2" charset="2"/>
              </a:rPr>
              <a:t>DA obligatoire</a:t>
            </a:r>
            <a:endParaRPr lang="fr-FR" sz="2600" b="1" i="1" dirty="0">
              <a:solidFill>
                <a:srgbClr val="C00000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endParaRPr lang="fr-FR" sz="2400" i="1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600" b="1" i="1" u="sng" dirty="0">
                <a:solidFill>
                  <a:prstClr val="black"/>
                </a:solidFill>
              </a:rPr>
              <a:t>SI</a:t>
            </a:r>
            <a:r>
              <a:rPr lang="fr-FR" sz="2600" i="1" dirty="0">
                <a:solidFill>
                  <a:prstClr val="black"/>
                </a:solidFill>
              </a:rPr>
              <a:t> la tâche « </a:t>
            </a:r>
            <a:r>
              <a:rPr lang="fr-FR" sz="2600" b="1" i="1" dirty="0">
                <a:solidFill>
                  <a:prstClr val="black"/>
                </a:solidFill>
              </a:rPr>
              <a:t>contradiction dans le flux </a:t>
            </a:r>
            <a:r>
              <a:rPr lang="fr-FR" sz="2600" i="1" dirty="0">
                <a:solidFill>
                  <a:prstClr val="black"/>
                </a:solidFill>
              </a:rPr>
              <a:t>» se déclenche à la suite d’un changement de cat. employeur, cat. Travailleur ou C.P.</a:t>
            </a:r>
          </a:p>
          <a:p>
            <a:pPr lvl="0">
              <a:spcBef>
                <a:spcPts val="0"/>
              </a:spcBef>
              <a:buFont typeface="Wingdings" panose="05000000000000000000" pitchFamily="2" charset="2"/>
              <a:buChar char="è"/>
            </a:pPr>
            <a:r>
              <a:rPr lang="fr-FR" sz="2600" b="1" i="1" dirty="0">
                <a:solidFill>
                  <a:srgbClr val="C00000"/>
                </a:solidFill>
              </a:rPr>
              <a:t>Pas de DA requise &amp; Adaptation du S07:</a:t>
            </a:r>
          </a:p>
          <a:p>
            <a:pPr lvl="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400" i="1" dirty="0">
                <a:solidFill>
                  <a:prstClr val="black"/>
                </a:solidFill>
              </a:rPr>
              <a:t>indiquer comme date « de fin validité » et « fin d’occupation » la veille du changement</a:t>
            </a:r>
          </a:p>
          <a:p>
            <a:pPr lvl="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400" i="1" dirty="0">
                <a:solidFill>
                  <a:prstClr val="black"/>
                </a:solidFill>
              </a:rPr>
              <a:t>Créer une nouvelle ligne avec le changement et mentionner comme « date de début de validité » et « début d’occupation » la date d’application du changement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A41895-0C19-43B8-A77F-6E02BD20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389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BCF24C-DC8C-4974-9C24-55AF0964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Tâches : Point d’attention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A7B3B8-BE2C-44FD-A00C-B06DA7AC0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fr-FR" sz="2800" b="1" dirty="0">
                <a:solidFill>
                  <a:prstClr val="black"/>
                </a:solidFill>
              </a:rPr>
              <a:t>Lors du traitement de ces 2 tâches &amp; lorsqu’il s’agit de  bénéficiaires </a:t>
            </a:r>
            <a:r>
              <a:rPr lang="fr-FR" sz="2800" b="1" dirty="0">
                <a:solidFill>
                  <a:srgbClr val="C00000"/>
                </a:solidFill>
              </a:rPr>
              <a:t>d’allocations d’insertion </a:t>
            </a:r>
            <a:r>
              <a:rPr lang="fr-FR" sz="2800" b="1" dirty="0">
                <a:solidFill>
                  <a:prstClr val="black"/>
                </a:solidFill>
              </a:rPr>
              <a:t>(W):</a:t>
            </a:r>
          </a:p>
          <a:p>
            <a:pPr marL="0" lvl="0" indent="0">
              <a:spcBef>
                <a:spcPts val="0"/>
              </a:spcBef>
              <a:buNone/>
            </a:pPr>
            <a:endParaRPr lang="fr-FR" sz="2800" b="1" u="sng" dirty="0">
              <a:solidFill>
                <a:prstClr val="black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fr-FR" sz="2800" dirty="0">
                <a:solidFill>
                  <a:prstClr val="black"/>
                </a:solidFill>
              </a:rPr>
              <a:t>Un </a:t>
            </a:r>
            <a:r>
              <a:rPr lang="fr-FR" sz="2800" b="1" dirty="0">
                <a:solidFill>
                  <a:prstClr val="black"/>
                </a:solidFill>
              </a:rPr>
              <a:t>courrier type </a:t>
            </a:r>
            <a:r>
              <a:rPr lang="fr-FR" sz="2800" dirty="0">
                <a:solidFill>
                  <a:prstClr val="black"/>
                </a:solidFill>
              </a:rPr>
              <a:t>et une </a:t>
            </a:r>
            <a:r>
              <a:rPr lang="fr-FR" sz="2800" b="1" dirty="0">
                <a:solidFill>
                  <a:prstClr val="black"/>
                </a:solidFill>
              </a:rPr>
              <a:t>attestation sur l’honneur </a:t>
            </a:r>
            <a:r>
              <a:rPr lang="fr-FR" sz="2800" dirty="0">
                <a:solidFill>
                  <a:prstClr val="black"/>
                </a:solidFill>
              </a:rPr>
              <a:t>doivent être envoyés à l’assuré social afin d’acter son choix pour le statut ou non du TTPMD.</a:t>
            </a:r>
          </a:p>
          <a:p>
            <a:pPr marL="0" lvl="0" indent="0">
              <a:spcBef>
                <a:spcPts val="0"/>
              </a:spcBef>
              <a:buNone/>
            </a:pPr>
            <a:endParaRPr lang="fr-FR" sz="2800" dirty="0">
              <a:solidFill>
                <a:prstClr val="black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fr-FR" sz="2800" dirty="0">
                <a:solidFill>
                  <a:prstClr val="black"/>
                </a:solidFill>
              </a:rPr>
              <a:t>L’attestation doit être </a:t>
            </a:r>
            <a:r>
              <a:rPr lang="fr-FR" sz="2800" b="1" dirty="0">
                <a:solidFill>
                  <a:prstClr val="black"/>
                </a:solidFill>
              </a:rPr>
              <a:t>conservée</a:t>
            </a:r>
            <a:r>
              <a:rPr lang="fr-FR" sz="2800" dirty="0">
                <a:solidFill>
                  <a:prstClr val="black"/>
                </a:solidFill>
              </a:rPr>
              <a:t> par l’OP wallon </a:t>
            </a:r>
            <a:r>
              <a:rPr lang="fr-FR" sz="2800" i="1" dirty="0">
                <a:solidFill>
                  <a:prstClr val="black"/>
                </a:solidFill>
              </a:rPr>
              <a:t>(scan du document sur le N: répertoire « csc op wallon /scanning/Année/choix TTPMD-TTRV »)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A41895-0C19-43B8-A77F-6E02BD20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02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7E357A-E4FF-4735-8CB4-FBDD940B5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Tâches &amp; méthode de travail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682F2C-28BB-45FE-ADB8-FFCA4BB7D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 lvl="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rgbClr val="C00000"/>
                </a:solidFill>
              </a:rPr>
              <a:t>« </a:t>
            </a:r>
            <a:r>
              <a:rPr lang="fr-FR" sz="2800" b="1" i="1" dirty="0">
                <a:solidFill>
                  <a:srgbClr val="C00000"/>
                </a:solidFill>
              </a:rPr>
              <a:t>AGR-Bis Salaire brut trop élevé </a:t>
            </a:r>
            <a:r>
              <a:rPr lang="fr-FR" sz="2800" dirty="0">
                <a:solidFill>
                  <a:srgbClr val="C00000"/>
                </a:solidFill>
              </a:rPr>
              <a:t>»</a:t>
            </a:r>
            <a:r>
              <a:rPr lang="fr-FR" sz="2800" dirty="0"/>
              <a:t>: la rémunération mentionnée dans la WECH 506 est ≥ sal. de référence</a:t>
            </a:r>
            <a:endParaRPr lang="fr-FR" sz="2800" dirty="0">
              <a:solidFill>
                <a:srgbClr val="C00000"/>
              </a:solidFill>
            </a:endParaRPr>
          </a:p>
          <a:p>
            <a:pPr lvl="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rgbClr val="C00000"/>
                </a:solidFill>
              </a:rPr>
              <a:t>« </a:t>
            </a:r>
            <a:r>
              <a:rPr lang="fr-FR" sz="2800" b="1" i="1" dirty="0">
                <a:solidFill>
                  <a:srgbClr val="C00000"/>
                </a:solidFill>
              </a:rPr>
              <a:t>AGR-Bis Q/S trop élevé </a:t>
            </a:r>
            <a:r>
              <a:rPr lang="fr-FR" sz="2800" dirty="0">
                <a:solidFill>
                  <a:srgbClr val="C00000"/>
                </a:solidFill>
              </a:rPr>
              <a:t>»: </a:t>
            </a:r>
            <a:r>
              <a:rPr lang="fr-FR" sz="2800" dirty="0"/>
              <a:t>la fraction horaire reprise dans la WECH506 est &gt; 4/5</a:t>
            </a:r>
          </a:p>
          <a:p>
            <a:pPr lvl="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rgbClr val="C00000"/>
                </a:solidFill>
              </a:rPr>
              <a:t>« </a:t>
            </a:r>
            <a:r>
              <a:rPr lang="fr-FR" sz="2800" b="1" i="1" dirty="0">
                <a:solidFill>
                  <a:srgbClr val="C00000"/>
                </a:solidFill>
              </a:rPr>
              <a:t>AGR-Bis moins que ½ P  </a:t>
            </a:r>
            <a:r>
              <a:rPr lang="fr-FR" sz="2800" dirty="0">
                <a:solidFill>
                  <a:srgbClr val="C00000"/>
                </a:solidFill>
              </a:rPr>
              <a:t>» </a:t>
            </a:r>
            <a:r>
              <a:rPr lang="fr-FR" sz="2800" dirty="0">
                <a:solidFill>
                  <a:prstClr val="black"/>
                </a:solidFill>
              </a:rPr>
              <a:t>: le montant de l’AGR calculé est </a:t>
            </a:r>
            <a:r>
              <a:rPr lang="fr-BE" sz="2800" dirty="0">
                <a:solidFill>
                  <a:prstClr val="black"/>
                </a:solidFill>
              </a:rPr>
              <a:t>inférieure à une demi allocation forfaitaire</a:t>
            </a:r>
            <a:endParaRPr lang="fr-BE" dirty="0">
              <a:solidFill>
                <a:srgbClr val="C00000"/>
              </a:solidFill>
            </a:endParaRPr>
          </a:p>
          <a:p>
            <a:pPr lvl="0"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fr-FR" sz="2800" dirty="0"/>
          </a:p>
          <a:p>
            <a:pPr marL="0" lvl="0" indent="0">
              <a:spcBef>
                <a:spcPts val="0"/>
              </a:spcBef>
              <a:buNone/>
            </a:pPr>
            <a:endParaRPr lang="fr-FR" sz="2800" i="1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480012-B097-4508-9CA5-5A57BD30F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 dirty="0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04595A7D-4D79-455C-B995-F18ABEA42650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860307"/>
          <a:ext cx="8229600" cy="28611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397367511"/>
                    </a:ext>
                  </a:extLst>
                </a:gridCol>
              </a:tblGrid>
              <a:tr h="319538">
                <a:tc>
                  <a:txBody>
                    <a:bodyPr/>
                    <a:lstStyle/>
                    <a:p>
                      <a:pPr algn="ctr"/>
                      <a:r>
                        <a:rPr lang="fr-BE" sz="2400" dirty="0"/>
                        <a:t>Méthode de travail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919389"/>
                  </a:ext>
                </a:extLst>
              </a:tr>
              <a:tr h="319538">
                <a:tc>
                  <a:txBody>
                    <a:bodyPr/>
                    <a:lstStyle/>
                    <a:p>
                      <a:r>
                        <a:rPr lang="fr-BE" sz="2400" dirty="0"/>
                        <a:t>1.  Téléphonie sortante &amp; envoi d’un </a:t>
                      </a:r>
                      <a:r>
                        <a:rPr lang="fr-BE" sz="2400" b="1" dirty="0"/>
                        <a:t>e-mail</a:t>
                      </a:r>
                      <a:r>
                        <a:rPr lang="fr-BE" sz="2400" dirty="0"/>
                        <a:t> (courrier) à l’affilié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194660"/>
                  </a:ext>
                </a:extLst>
              </a:tr>
              <a:tr h="319538">
                <a:tc>
                  <a:txBody>
                    <a:bodyPr/>
                    <a:lstStyle/>
                    <a:p>
                      <a:r>
                        <a:rPr lang="fr-BE" sz="2400" dirty="0"/>
                        <a:t>2</a:t>
                      </a:r>
                      <a:r>
                        <a:rPr lang="fr-BE" sz="2400" b="1" dirty="0"/>
                        <a:t>.  Aucune farde </a:t>
                      </a:r>
                      <a:r>
                        <a:rPr lang="fr-BE" sz="2400" dirty="0"/>
                        <a:t>n’est créée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162076"/>
                  </a:ext>
                </a:extLst>
              </a:tr>
              <a:tr h="575168">
                <a:tc>
                  <a:txBody>
                    <a:bodyPr/>
                    <a:lstStyle/>
                    <a:p>
                      <a:r>
                        <a:rPr lang="fr-BE" sz="2400" dirty="0"/>
                        <a:t>3.  Ajouter une </a:t>
                      </a:r>
                      <a:r>
                        <a:rPr lang="fr-BE" sz="2400" b="1" dirty="0"/>
                        <a:t>remarque</a:t>
                      </a:r>
                      <a:r>
                        <a:rPr lang="fr-BE" sz="2400" dirty="0"/>
                        <a:t> « indemnisabilité » relative au courrier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756906"/>
                  </a:ext>
                </a:extLst>
              </a:tr>
              <a:tr h="319538">
                <a:tc>
                  <a:txBody>
                    <a:bodyPr/>
                    <a:lstStyle/>
                    <a:p>
                      <a:r>
                        <a:rPr lang="fr-BE" sz="2400" dirty="0"/>
                        <a:t>4.  </a:t>
                      </a:r>
                      <a:r>
                        <a:rPr lang="fr-BE" sz="2400" b="1" dirty="0"/>
                        <a:t>Valider </a:t>
                      </a:r>
                      <a:r>
                        <a:rPr lang="fr-BE" sz="2400" dirty="0"/>
                        <a:t>le paiement  (par le parrain/marraine)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686384"/>
                  </a:ext>
                </a:extLst>
              </a:tr>
              <a:tr h="319538">
                <a:tc>
                  <a:txBody>
                    <a:bodyPr/>
                    <a:lstStyle/>
                    <a:p>
                      <a:r>
                        <a:rPr lang="fr-BE" sz="2400" dirty="0"/>
                        <a:t>5.  Indiquer la tâche comme étant « </a:t>
                      </a:r>
                      <a:r>
                        <a:rPr lang="fr-BE" sz="2400" b="1" dirty="0"/>
                        <a:t>traitée</a:t>
                      </a:r>
                      <a:r>
                        <a:rPr lang="fr-BE" sz="2400" dirty="0"/>
                        <a:t> 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26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641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50BC8E-37C9-403E-9748-489E10D7F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Tâche &amp; méthode de travail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7AED14-2892-4250-85C6-45BAFEFFE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« </a:t>
            </a:r>
            <a:r>
              <a:rPr lang="fr-BE" b="1" i="1" dirty="0">
                <a:solidFill>
                  <a:srgbClr val="C00000"/>
                </a:solidFill>
              </a:rPr>
              <a:t>indemnisabilité pas en ordre </a:t>
            </a:r>
            <a:r>
              <a:rPr lang="fr-BE" dirty="0"/>
              <a:t>»: un ou plusieurs flux (papier/électronique) sont manquants. </a:t>
            </a:r>
            <a:endParaRPr lang="fr-BE" b="1" i="1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8408CBB-F931-4C09-92DF-FE93B42B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 dirty="0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A505D913-5188-4B0F-8A36-D37C5BA5E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986842"/>
              </p:ext>
            </p:extLst>
          </p:nvPr>
        </p:nvGraphicFramePr>
        <p:xfrm>
          <a:off x="539552" y="3505199"/>
          <a:ext cx="7992888" cy="26209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992888">
                  <a:extLst>
                    <a:ext uri="{9D8B030D-6E8A-4147-A177-3AD203B41FA5}">
                      <a16:colId xmlns:a16="http://schemas.microsoft.com/office/drawing/2014/main" val="2459088995"/>
                    </a:ext>
                  </a:extLst>
                </a:gridCol>
              </a:tblGrid>
              <a:tr h="554580"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/>
                        <a:t>Méthode de travail </a:t>
                      </a:r>
                      <a:r>
                        <a:rPr lang="fr-BE" sz="2400" b="1" u="sng" dirty="0"/>
                        <a:t>uniquement</a:t>
                      </a:r>
                      <a:r>
                        <a:rPr lang="fr-BE" sz="2400" b="1" dirty="0"/>
                        <a:t> s’il manque la WECH506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321732"/>
                  </a:ext>
                </a:extLst>
              </a:tr>
              <a:tr h="554580">
                <a:tc>
                  <a:txBody>
                    <a:bodyPr/>
                    <a:lstStyle/>
                    <a:p>
                      <a:r>
                        <a:rPr lang="fr-BE" sz="2400" dirty="0"/>
                        <a:t>1.  Vérifier si la </a:t>
                      </a:r>
                      <a:r>
                        <a:rPr lang="fr-BE" sz="2400" b="1" dirty="0"/>
                        <a:t>DRS est présente </a:t>
                      </a:r>
                      <a:r>
                        <a:rPr lang="fr-BE" sz="2400" dirty="0"/>
                        <a:t>dans Hz + plateforme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834556"/>
                  </a:ext>
                </a:extLst>
              </a:tr>
              <a:tr h="554580">
                <a:tc>
                  <a:txBody>
                    <a:bodyPr/>
                    <a:lstStyle/>
                    <a:p>
                      <a:pPr marL="342900" indent="-342900">
                        <a:buAutoNum type="arabicPeriod" startAt="2"/>
                      </a:pPr>
                      <a:r>
                        <a:rPr lang="fr-BE" sz="2400" b="1" dirty="0"/>
                        <a:t>Aucun</a:t>
                      </a:r>
                      <a:r>
                        <a:rPr lang="fr-BE" sz="2400" dirty="0"/>
                        <a:t> courrier n’est envoyé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137382"/>
                  </a:ext>
                </a:extLst>
              </a:tr>
              <a:tr h="957222">
                <a:tc>
                  <a:txBody>
                    <a:bodyPr/>
                    <a:lstStyle/>
                    <a:p>
                      <a:r>
                        <a:rPr lang="fr-BE" sz="2400" dirty="0"/>
                        <a:t>3.  Tâche « </a:t>
                      </a:r>
                      <a:r>
                        <a:rPr lang="fr-BE" sz="2400" b="1" dirty="0"/>
                        <a:t>en cours </a:t>
                      </a:r>
                      <a:r>
                        <a:rPr lang="fr-BE" sz="2400" dirty="0"/>
                        <a:t>» et date « à revoir le » située le </a:t>
                      </a:r>
                      <a:r>
                        <a:rPr lang="fr-BE" sz="2400" b="1" dirty="0"/>
                        <a:t>15 du mois suivant </a:t>
                      </a:r>
                      <a:r>
                        <a:rPr lang="fr-BE" sz="2400" dirty="0"/>
                        <a:t>le mois d’émargement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78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51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7E357A-E4FF-4735-8CB4-FBDD940B5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Tâches &amp; méthode de travail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682F2C-28BB-45FE-ADB8-FFCA4BB7D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lvl="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rgbClr val="C00000"/>
                </a:solidFill>
              </a:rPr>
              <a:t>« </a:t>
            </a:r>
            <a:r>
              <a:rPr lang="fr-FR" sz="2800" b="1" i="1" dirty="0">
                <a:solidFill>
                  <a:srgbClr val="C00000"/>
                </a:solidFill>
              </a:rPr>
              <a:t>AGR-Bis Y brut = 0€ </a:t>
            </a:r>
            <a:r>
              <a:rPr lang="fr-FR" sz="2800" dirty="0">
                <a:solidFill>
                  <a:srgbClr val="C00000"/>
                </a:solidFill>
              </a:rPr>
              <a:t>»</a:t>
            </a:r>
            <a:r>
              <a:rPr lang="fr-FR" sz="2800" dirty="0">
                <a:solidFill>
                  <a:prstClr val="black"/>
                </a:solidFill>
              </a:rPr>
              <a:t> : la rémunération indiquée dans la WECH506 = 0€</a:t>
            </a:r>
          </a:p>
          <a:p>
            <a:pPr marL="0" indent="0">
              <a:buNone/>
            </a:pPr>
            <a:r>
              <a:rPr lang="fr-BE" sz="2800" i="1" u="sng" dirty="0"/>
              <a:t>Remarque</a:t>
            </a:r>
            <a:r>
              <a:rPr lang="fr-BE" sz="2800" i="1" dirty="0"/>
              <a:t>: Souvent cette DRS mentionne des « M » pour tout le mois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480012-B097-4508-9CA5-5A57BD30F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au 5">
            <a:extLst>
              <a:ext uri="{FF2B5EF4-FFF2-40B4-BE49-F238E27FC236}">
                <a16:creationId xmlns:a16="http://schemas.microsoft.com/office/drawing/2014/main" id="{E1480463-3769-43AF-AFF2-3125B4483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720623"/>
              </p:ext>
            </p:extLst>
          </p:nvPr>
        </p:nvGraphicFramePr>
        <p:xfrm>
          <a:off x="471344" y="3771900"/>
          <a:ext cx="8215456" cy="199483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215456">
                  <a:extLst>
                    <a:ext uri="{9D8B030D-6E8A-4147-A177-3AD203B41FA5}">
                      <a16:colId xmlns:a16="http://schemas.microsoft.com/office/drawing/2014/main" val="73428922"/>
                    </a:ext>
                  </a:extLst>
                </a:gridCol>
              </a:tblGrid>
              <a:tr h="623235">
                <a:tc>
                  <a:txBody>
                    <a:bodyPr/>
                    <a:lstStyle/>
                    <a:p>
                      <a:pPr algn="ctr"/>
                      <a:r>
                        <a:rPr lang="fr-BE" sz="2400" dirty="0"/>
                        <a:t>Méthode de travail si « M » tout le mois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753"/>
                  </a:ext>
                </a:extLst>
              </a:tr>
              <a:tr h="446040">
                <a:tc>
                  <a:txBody>
                    <a:bodyPr/>
                    <a:lstStyle/>
                    <a:p>
                      <a:r>
                        <a:rPr lang="fr-BE" sz="2400" dirty="0"/>
                        <a:t>1.  </a:t>
                      </a:r>
                      <a:r>
                        <a:rPr lang="fr-BE" sz="2400" b="1" dirty="0"/>
                        <a:t>Vérifier</a:t>
                      </a:r>
                      <a:r>
                        <a:rPr lang="fr-BE" sz="2400" dirty="0"/>
                        <a:t> la DRS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784905"/>
                  </a:ext>
                </a:extLst>
              </a:tr>
              <a:tr h="446040">
                <a:tc>
                  <a:txBody>
                    <a:bodyPr/>
                    <a:lstStyle/>
                    <a:p>
                      <a:r>
                        <a:rPr lang="fr-BE" sz="2400" dirty="0"/>
                        <a:t>2.  </a:t>
                      </a:r>
                      <a:r>
                        <a:rPr lang="fr-BE" sz="2400" b="1" dirty="0"/>
                        <a:t>Valider</a:t>
                      </a:r>
                      <a:r>
                        <a:rPr lang="fr-BE" sz="2400" dirty="0"/>
                        <a:t> le paiement de 0 €  (par le parrain/marraine)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090558"/>
                  </a:ext>
                </a:extLst>
              </a:tr>
              <a:tr h="446040">
                <a:tc>
                  <a:txBody>
                    <a:bodyPr/>
                    <a:lstStyle/>
                    <a:p>
                      <a:r>
                        <a:rPr lang="fr-BE" sz="2400" dirty="0"/>
                        <a:t>3.  Indiquer la tâche comme « </a:t>
                      </a:r>
                      <a:r>
                        <a:rPr lang="fr-BE" sz="2400" b="1" dirty="0"/>
                        <a:t>traitée</a:t>
                      </a:r>
                      <a:r>
                        <a:rPr lang="fr-BE" sz="2400" dirty="0"/>
                        <a:t> 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693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54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1D4D5C3D776247A0B00D9B67B18301" ma:contentTypeVersion="5" ma:contentTypeDescription="Crée un document." ma:contentTypeScope="" ma:versionID="7a3aaf4a5e491451268d7041ab422b5e">
  <xsd:schema xmlns:xsd="http://www.w3.org/2001/XMLSchema" xmlns:xs="http://www.w3.org/2001/XMLSchema" xmlns:p="http://schemas.microsoft.com/office/2006/metadata/properties" xmlns:ns2="70ec8308-a2f0-4163-8d73-ffca7c913578" xmlns:ns3="594ba5a2-1908-49bb-836f-9f7e6dbdc18e" targetNamespace="http://schemas.microsoft.com/office/2006/metadata/properties" ma:root="true" ma:fieldsID="eac2541f887c14507833b58d07aebfe8" ns2:_="" ns3:_="">
    <xsd:import namespace="70ec8308-a2f0-4163-8d73-ffca7c913578"/>
    <xsd:import namespace="594ba5a2-1908-49bb-836f-9f7e6dbdc18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c8308-a2f0-4163-8d73-ffca7c9135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4ba5a2-1908-49bb-836f-9f7e6dbdc1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0168A5D-1149-42C2-8887-567AB44ECD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c8308-a2f0-4163-8d73-ffca7c913578"/>
    <ds:schemaRef ds:uri="594ba5a2-1908-49bb-836f-9f7e6dbdc1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9C6B77-6F22-4F0C-900F-2D4FFAEF89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4A7197-0E12-4FD5-82C2-1E0E457E49D3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594ba5a2-1908-49bb-836f-9f7e6dbdc18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70ec8308-a2f0-4163-8d73-ffca7c91357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9322</TotalTime>
  <Words>1732</Words>
  <Application>Microsoft Office PowerPoint</Application>
  <PresentationFormat>Affichage à l'écran (4:3)</PresentationFormat>
  <Paragraphs>233</Paragraphs>
  <Slides>26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1" baseType="lpstr">
      <vt:lpstr>Arial</vt:lpstr>
      <vt:lpstr>Calibri</vt:lpstr>
      <vt:lpstr>Monotype Sorts</vt:lpstr>
      <vt:lpstr>Wingdings</vt:lpstr>
      <vt:lpstr>Thème Office</vt:lpstr>
      <vt:lpstr> Le Travail à Temps Partiel avec Maintien des Droits  - TTPMD -   </vt:lpstr>
      <vt:lpstr>Table des matières</vt:lpstr>
      <vt:lpstr>TTPMD – Définition </vt:lpstr>
      <vt:lpstr>TTPMD - Conditions</vt:lpstr>
      <vt:lpstr>TTPMD – Conditions</vt:lpstr>
      <vt:lpstr> TTPMD – 2 catégories</vt:lpstr>
      <vt:lpstr>TTPMD sans AGR – Formalités</vt:lpstr>
      <vt:lpstr>TTPMD avec AGR – Formalités</vt:lpstr>
      <vt:lpstr>TTPMD avec AGR - Formalités</vt:lpstr>
      <vt:lpstr>TTPMD avec AGR – Formalités </vt:lpstr>
      <vt:lpstr> TTPMD avec AGR – Principe </vt:lpstr>
      <vt:lpstr> Allocation de référence – A/N</vt:lpstr>
      <vt:lpstr>5.6. Allocation de référence – B</vt:lpstr>
      <vt:lpstr>En résumé</vt:lpstr>
      <vt:lpstr> TTPMD avec AGR: Plafond</vt:lpstr>
      <vt:lpstr>TTPMD avec AGR &amp; JF</vt:lpstr>
      <vt:lpstr>TTPMD &amp; fin d’occupation</vt:lpstr>
      <vt:lpstr>TTPMD &amp; Fin d’occupation</vt:lpstr>
      <vt:lpstr> Simulation</vt:lpstr>
      <vt:lpstr> Période de carence</vt:lpstr>
      <vt:lpstr>Quelques Tâches en lien avec le TTPMD</vt:lpstr>
      <vt:lpstr>Tâches : Point d’attention</vt:lpstr>
      <vt:lpstr>Tâches : Point d’attention</vt:lpstr>
      <vt:lpstr>Tâches &amp; méthode de travail</vt:lpstr>
      <vt:lpstr>Tâche &amp; méthode de travail</vt:lpstr>
      <vt:lpstr>Tâches &amp; méthode de travail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FCJ-M16-TTPMD-(niv.1)-Participants</dc:title>
  <dc:creator>u99lge</dc:creator>
  <cp:lastModifiedBy>Ali Bakhouch</cp:lastModifiedBy>
  <cp:revision>544</cp:revision>
  <cp:lastPrinted>2018-04-16T09:45:48Z</cp:lastPrinted>
  <dcterms:created xsi:type="dcterms:W3CDTF">2010-09-22T12:12:06Z</dcterms:created>
  <dcterms:modified xsi:type="dcterms:W3CDTF">2023-11-06T13:33:55Z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44;#Identification|c878f2ee-3955-448a-86fc-10f3fe74a7ef;#17;#Admissibilité|d1ac0b1f-1e4c-4aa8-9a97-5b01e61985ba;#18;#Vérités|91331765-02c2-47c0-8605-37a5a3e877f2;#36;#Vacances|ab505a86-c61c-48a5-b361-99af8670ba5a;#22;#Indemnisabilité|b5f95997-28b8-41b1-bbb7-1a3d8a5995b4</vt:lpwstr>
  </property>
  <property fmtid="{D5CDD505-2E9C-101B-9397-08002B2CF9AE}" pid="7" name="Thème">
    <vt:lpwstr>51;#TTPMD - Base|41fc0eb5-7e50-4a89-b058-3224693aa54d</vt:lpwstr>
  </property>
  <property fmtid="{D5CDD505-2E9C-101B-9397-08002B2CF9AE}" pid="8" name="Order">
    <vt:r8>33900</vt:r8>
  </property>
  <property fmtid="{D5CDD505-2E9C-101B-9397-08002B2CF9AE}" pid="9" name="_dlc_DocIdItemGuid">
    <vt:lpwstr>9318f6f0-6d2c-47c0-9922-d693327aad98</vt:lpwstr>
  </property>
  <property fmtid="{D5CDD505-2E9C-101B-9397-08002B2CF9AE}" pid="10" name="AuthorIds_UIVersion_2048">
    <vt:lpwstr>18</vt:lpwstr>
  </property>
</Properties>
</file>