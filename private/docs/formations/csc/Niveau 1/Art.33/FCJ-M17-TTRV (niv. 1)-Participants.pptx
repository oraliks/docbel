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258" r:id="rId5"/>
    <p:sldId id="739" r:id="rId6"/>
    <p:sldId id="259" r:id="rId7"/>
    <p:sldId id="260" r:id="rId8"/>
    <p:sldId id="261" r:id="rId9"/>
    <p:sldId id="760" r:id="rId10"/>
    <p:sldId id="732" r:id="rId11"/>
    <p:sldId id="267" r:id="rId12"/>
    <p:sldId id="268" r:id="rId13"/>
    <p:sldId id="269" r:id="rId14"/>
    <p:sldId id="332" r:id="rId15"/>
    <p:sldId id="344" r:id="rId16"/>
    <p:sldId id="346" r:id="rId17"/>
    <p:sldId id="271" r:id="rId18"/>
    <p:sldId id="348" r:id="rId19"/>
    <p:sldId id="349" r:id="rId20"/>
    <p:sldId id="272" r:id="rId21"/>
    <p:sldId id="350" r:id="rId22"/>
    <p:sldId id="273" r:id="rId23"/>
    <p:sldId id="761" r:id="rId24"/>
    <p:sldId id="276" r:id="rId25"/>
    <p:sldId id="354" r:id="rId26"/>
    <p:sldId id="277" r:id="rId27"/>
    <p:sldId id="278" r:id="rId28"/>
    <p:sldId id="283" r:id="rId29"/>
    <p:sldId id="356" r:id="rId30"/>
    <p:sldId id="288" r:id="rId31"/>
    <p:sldId id="290" r:id="rId32"/>
    <p:sldId id="291" r:id="rId33"/>
    <p:sldId id="293" r:id="rId34"/>
    <p:sldId id="357" r:id="rId35"/>
    <p:sldId id="296" r:id="rId36"/>
    <p:sldId id="297" r:id="rId37"/>
    <p:sldId id="738" r:id="rId38"/>
    <p:sldId id="737" r:id="rId39"/>
    <p:sldId id="300" r:id="rId40"/>
    <p:sldId id="301" r:id="rId41"/>
    <p:sldId id="302" r:id="rId42"/>
    <p:sldId id="304" r:id="rId43"/>
    <p:sldId id="334" r:id="rId44"/>
    <p:sldId id="358" r:id="rId45"/>
    <p:sldId id="359" r:id="rId46"/>
    <p:sldId id="360" r:id="rId47"/>
    <p:sldId id="361" r:id="rId48"/>
    <p:sldId id="309" r:id="rId49"/>
    <p:sldId id="311" r:id="rId50"/>
    <p:sldId id="316" r:id="rId51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33CC"/>
    <a:srgbClr val="FF9933"/>
    <a:srgbClr val="669900"/>
    <a:srgbClr val="00FF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87812B-4C26-43A1-86F6-0DB5646E3C05}" v="11" dt="2023-11-06T12:54:49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1023" autoAdjust="0"/>
  </p:normalViewPr>
  <p:slideViewPr>
    <p:cSldViewPr>
      <p:cViewPr varScale="1">
        <p:scale>
          <a:sx n="78" d="100"/>
          <a:sy n="78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71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07/11/2023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887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07/11/2023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502"/>
            <a:ext cx="5388610" cy="4439841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26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20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999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65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874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108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371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87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777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863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853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401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21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879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fr-BE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01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6911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65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61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83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999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7078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478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25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427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42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260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432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7708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aseline="0" dirty="0"/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1608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0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6478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17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40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0975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5588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8897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endParaRPr lang="en-US" sz="11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45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67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46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5026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47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64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7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07/11/2023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685800" y="1571612"/>
            <a:ext cx="7772400" cy="2786083"/>
          </a:xfrm>
        </p:spPr>
        <p:txBody>
          <a:bodyPr>
            <a:noAutofit/>
          </a:bodyPr>
          <a:lstStyle/>
          <a:p>
            <a:pPr marL="609600" indent="-609600"/>
            <a:r>
              <a:rPr lang="fr-BE" sz="5400" b="1" i="1" dirty="0"/>
              <a:t>Admission sur base d’un travail salarié à temps partiel volontaire </a:t>
            </a:r>
            <a:br>
              <a:rPr lang="fr-BE" sz="4800" b="1" i="1" dirty="0"/>
            </a:br>
            <a:r>
              <a:rPr lang="fr-BE" sz="3500" b="1" i="1" dirty="0"/>
              <a:t>(</a:t>
            </a:r>
            <a:r>
              <a:rPr lang="fr-BE" sz="3500" b="1" i="1" dirty="0" err="1"/>
              <a:t>niv</a:t>
            </a:r>
            <a:r>
              <a:rPr lang="fr-BE" sz="3500" b="1" i="1" dirty="0"/>
              <a:t>. 1)</a:t>
            </a:r>
            <a:endParaRPr lang="fr-FR" sz="35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685800" y="4681554"/>
            <a:ext cx="7772400" cy="1066792"/>
          </a:xfrm>
        </p:spPr>
        <p:txBody>
          <a:bodyPr>
            <a:normAutofit/>
          </a:bodyPr>
          <a:lstStyle/>
          <a:p>
            <a:pPr lvl="0"/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Art. 33 </a:t>
            </a:r>
            <a:r>
              <a:rPr lang="fr-BE" sz="4800" b="1" i="1" dirty="0">
                <a:solidFill>
                  <a:prstClr val="black"/>
                </a:solidFill>
              </a:rPr>
              <a:t>de l’</a:t>
            </a:r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</a:t>
            </a:r>
            <a:r>
              <a:rPr lang="fr-BE" sz="4800" b="1" i="1" dirty="0">
                <a:solidFill>
                  <a:prstClr val="black"/>
                </a:solidFill>
              </a:rPr>
              <a:t> du 25.11.1991</a:t>
            </a:r>
          </a:p>
          <a:p>
            <a:endParaRPr lang="fr-FR" sz="33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fr-BE" sz="2400" dirty="0"/>
              <a:t>1. Définition 							</a:t>
            </a:r>
            <a:r>
              <a:rPr lang="fr-BE" sz="2000" dirty="0" err="1"/>
              <a:t>pg</a:t>
            </a:r>
            <a:r>
              <a:rPr lang="fr-BE" sz="2000" dirty="0"/>
              <a:t>. 4</a:t>
            </a:r>
          </a:p>
          <a:p>
            <a:pPr>
              <a:buNone/>
            </a:pPr>
            <a:r>
              <a:rPr lang="fr-BE" sz="2400" dirty="0"/>
              <a:t>2. Statut travailleur à temps partiel volontaire		</a:t>
            </a:r>
            <a:r>
              <a:rPr lang="fr-BE" sz="2000" dirty="0" err="1"/>
              <a:t>pg</a:t>
            </a:r>
            <a:r>
              <a:rPr lang="fr-BE" sz="2000" dirty="0"/>
              <a:t>. 7</a:t>
            </a:r>
          </a:p>
          <a:p>
            <a:pPr>
              <a:buNone/>
            </a:pPr>
            <a:r>
              <a:rPr lang="fr-BE" sz="2400" dirty="0"/>
              <a:t>3. Admission: Règle générale AR 33				</a:t>
            </a:r>
            <a:r>
              <a:rPr lang="fr-BE" sz="2000" dirty="0" err="1"/>
              <a:t>pg</a:t>
            </a:r>
            <a:r>
              <a:rPr lang="fr-BE" sz="2000" dirty="0"/>
              <a:t>. 8</a:t>
            </a:r>
          </a:p>
          <a:p>
            <a:pPr>
              <a:buNone/>
            </a:pPr>
            <a:r>
              <a:rPr lang="fr-BE" sz="2400" dirty="0"/>
              <a:t>4. Assouplissement						</a:t>
            </a:r>
            <a:r>
              <a:rPr lang="fr-BE" sz="2000" dirty="0" err="1"/>
              <a:t>pg</a:t>
            </a:r>
            <a:r>
              <a:rPr lang="fr-BE" sz="2000" dirty="0"/>
              <a:t>. 11</a:t>
            </a:r>
          </a:p>
          <a:p>
            <a:pPr>
              <a:buNone/>
            </a:pPr>
            <a:r>
              <a:rPr lang="fr-BE" sz="2400" dirty="0"/>
              <a:t>5. Méthode de travail						</a:t>
            </a:r>
          </a:p>
          <a:p>
            <a:pPr>
              <a:buNone/>
            </a:pPr>
            <a:r>
              <a:rPr lang="fr-BE" sz="2400" dirty="0"/>
              <a:t>	5.1. Sélection de l’occupation à temps partiel		</a:t>
            </a:r>
            <a:r>
              <a:rPr lang="fr-BE" sz="2000" dirty="0" err="1"/>
              <a:t>pg</a:t>
            </a:r>
            <a:r>
              <a:rPr lang="fr-BE" sz="2000" dirty="0"/>
              <a:t>. 14</a:t>
            </a:r>
            <a:endParaRPr lang="fr-BE" sz="2400" dirty="0"/>
          </a:p>
          <a:p>
            <a:pPr>
              <a:buNone/>
            </a:pPr>
            <a:r>
              <a:rPr lang="fr-BE" sz="2400" dirty="0"/>
              <a:t>	5.2. Stage à accomplir					</a:t>
            </a:r>
            <a:r>
              <a:rPr lang="fr-BE" sz="2000" dirty="0" err="1"/>
              <a:t>pg</a:t>
            </a:r>
            <a:r>
              <a:rPr lang="fr-BE" sz="2000" dirty="0"/>
              <a:t>. 21</a:t>
            </a:r>
          </a:p>
          <a:p>
            <a:pPr>
              <a:buNone/>
            </a:pPr>
            <a:r>
              <a:rPr lang="fr-BE" sz="2400" dirty="0"/>
              <a:t>	5.3. Calcul </a:t>
            </a:r>
            <a:r>
              <a:rPr lang="fr-BE" sz="2400" dirty="0" err="1"/>
              <a:t>Dmfa</a:t>
            </a:r>
            <a:r>
              <a:rPr lang="fr-BE" sz="2400" dirty="0"/>
              <a:t>						</a:t>
            </a:r>
            <a:r>
              <a:rPr lang="fr-BE" sz="2000" dirty="0" err="1"/>
              <a:t>pg</a:t>
            </a:r>
            <a:r>
              <a:rPr lang="fr-BE" sz="2000" dirty="0"/>
              <a:t>. 23</a:t>
            </a:r>
            <a:endParaRPr lang="fr-BE" sz="2400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fr-BE" dirty="0">
              <a:solidFill>
                <a:prstClr val="black">
                  <a:tint val="75000"/>
                </a:prstClr>
              </a:solidFill>
            </a:endParaRPr>
          </a:p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790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fr-BE" sz="2400" dirty="0"/>
              <a:t>6. TTRV: Application art. 42					</a:t>
            </a:r>
            <a:r>
              <a:rPr lang="fr-BE" sz="2000" dirty="0" err="1"/>
              <a:t>pg</a:t>
            </a:r>
            <a:r>
              <a:rPr lang="fr-BE" sz="2000" dirty="0"/>
              <a:t>. 28</a:t>
            </a:r>
          </a:p>
          <a:p>
            <a:pPr>
              <a:buNone/>
            </a:pPr>
            <a:r>
              <a:rPr lang="fr-BE" sz="2400" dirty="0"/>
              <a:t>7. Code chiffré 						</a:t>
            </a:r>
            <a:r>
              <a:rPr lang="fr-BE" sz="2000" dirty="0" err="1"/>
              <a:t>pg</a:t>
            </a:r>
            <a:r>
              <a:rPr lang="fr-BE" sz="2000" dirty="0"/>
              <a:t>. 29</a:t>
            </a:r>
          </a:p>
          <a:p>
            <a:pPr>
              <a:buNone/>
            </a:pPr>
            <a:r>
              <a:rPr lang="fr-BE" sz="2400" dirty="0"/>
              <a:t>	7.1. Formules						</a:t>
            </a:r>
            <a:r>
              <a:rPr lang="fr-BE" sz="2000" dirty="0" err="1"/>
              <a:t>pg</a:t>
            </a:r>
            <a:r>
              <a:rPr lang="fr-BE" sz="2000" dirty="0"/>
              <a:t>. 30</a:t>
            </a:r>
          </a:p>
          <a:p>
            <a:pPr>
              <a:buNone/>
            </a:pPr>
            <a:r>
              <a:rPr lang="fr-BE" sz="2000" dirty="0"/>
              <a:t>	</a:t>
            </a:r>
            <a:r>
              <a:rPr lang="fr-BE" sz="2400" dirty="0"/>
              <a:t>7.2. Exemples						</a:t>
            </a:r>
            <a:r>
              <a:rPr lang="fr-BE" sz="2000" dirty="0" err="1"/>
              <a:t>pg</a:t>
            </a:r>
            <a:r>
              <a:rPr lang="fr-BE" sz="2000" dirty="0"/>
              <a:t>. 31</a:t>
            </a:r>
          </a:p>
          <a:p>
            <a:pPr>
              <a:buNone/>
            </a:pPr>
            <a:r>
              <a:rPr lang="fr-BE" sz="2000" dirty="0"/>
              <a:t>	</a:t>
            </a:r>
            <a:r>
              <a:rPr lang="fr-BE" sz="2400" dirty="0"/>
              <a:t>7.3. Révision du code chiffré				</a:t>
            </a:r>
            <a:r>
              <a:rPr lang="fr-BE" sz="2000" dirty="0" err="1"/>
              <a:t>pg</a:t>
            </a:r>
            <a:r>
              <a:rPr lang="fr-BE" sz="2000" dirty="0"/>
              <a:t>. 33</a:t>
            </a:r>
          </a:p>
          <a:p>
            <a:pPr>
              <a:buNone/>
            </a:pPr>
            <a:r>
              <a:rPr lang="fr-BE" sz="2400" dirty="0"/>
              <a:t>8. Régime d’indemnisation: Facteur N			</a:t>
            </a:r>
            <a:r>
              <a:rPr lang="fr-BE" sz="2000" dirty="0" err="1"/>
              <a:t>pg</a:t>
            </a:r>
            <a:r>
              <a:rPr lang="fr-BE" sz="2000" dirty="0"/>
              <a:t>. 34</a:t>
            </a:r>
          </a:p>
          <a:p>
            <a:pPr>
              <a:buNone/>
            </a:pPr>
            <a:r>
              <a:rPr lang="fr-BE" sz="2400" dirty="0"/>
              <a:t>9. Introduction du dossier et délais				</a:t>
            </a:r>
            <a:r>
              <a:rPr lang="fr-BE" sz="2000" dirty="0" err="1"/>
              <a:t>pg</a:t>
            </a:r>
            <a:r>
              <a:rPr lang="fr-BE" sz="2000" dirty="0"/>
              <a:t>. 38</a:t>
            </a:r>
            <a:endParaRPr lang="fr-BE" sz="2400" dirty="0"/>
          </a:p>
          <a:p>
            <a:pPr>
              <a:buNone/>
            </a:pPr>
            <a:r>
              <a:rPr lang="fr-BE" sz="2400" dirty="0"/>
              <a:t>10. Statut TTPV et reprise de Travail				</a:t>
            </a:r>
            <a:r>
              <a:rPr lang="fr-BE" sz="2000" dirty="0" err="1"/>
              <a:t>pg</a:t>
            </a:r>
            <a:r>
              <a:rPr lang="fr-BE" sz="2000" dirty="0"/>
              <a:t>. 39</a:t>
            </a:r>
          </a:p>
          <a:p>
            <a:pPr>
              <a:buNone/>
            </a:pPr>
            <a:r>
              <a:rPr lang="fr-BE" sz="2400" dirty="0"/>
              <a:t>	10.1. Reprise de travail avec C3A/EC3			</a:t>
            </a:r>
            <a:r>
              <a:rPr lang="fr-BE" sz="2000" dirty="0" err="1"/>
              <a:t>pg</a:t>
            </a:r>
            <a:r>
              <a:rPr lang="fr-BE" sz="2000" dirty="0"/>
              <a:t>. 40</a:t>
            </a:r>
          </a:p>
          <a:p>
            <a:pPr>
              <a:buNone/>
            </a:pPr>
            <a:r>
              <a:rPr lang="fr-BE" sz="2000" dirty="0"/>
              <a:t>	</a:t>
            </a:r>
            <a:r>
              <a:rPr lang="fr-BE" sz="2400" dirty="0"/>
              <a:t>10.2. Reprise de travail avec AGR				</a:t>
            </a:r>
            <a:r>
              <a:rPr lang="fr-BE" sz="2000" dirty="0" err="1"/>
              <a:t>pg</a:t>
            </a:r>
            <a:r>
              <a:rPr lang="fr-BE" sz="2000" dirty="0"/>
              <a:t>. </a:t>
            </a:r>
            <a:r>
              <a:rPr lang="fr-BE" sz="2000"/>
              <a:t>48</a:t>
            </a:r>
            <a:endParaRPr lang="fr-BE" sz="2400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fr-BE" dirty="0">
              <a:solidFill>
                <a:prstClr val="black">
                  <a:tint val="75000"/>
                </a:prstClr>
              </a:solidFill>
            </a:endParaRPr>
          </a:p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1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 Définition</a:t>
            </a:r>
            <a:endParaRPr lang="fr-FR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sq-AL" sz="3000" dirty="0"/>
              <a:t>Il s'agit d'un travailleur qui</a:t>
            </a:r>
            <a:r>
              <a:rPr lang="fr-FR" sz="3000" dirty="0"/>
              <a:t> ne </a:t>
            </a:r>
            <a:r>
              <a:rPr lang="fr-FR" sz="3000" b="1" dirty="0"/>
              <a:t>répond pas aux conditions </a:t>
            </a:r>
            <a:r>
              <a:rPr lang="fr-FR" sz="3000" dirty="0"/>
              <a:t>pour être un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travailleur à temps plein</a:t>
            </a:r>
            <a:r>
              <a:rPr lang="fr-FR" sz="3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3000" dirty="0"/>
              <a:t>au sens de l’article 28§1 ni à un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travailleur assimilé à un travailleur à temps plein</a:t>
            </a:r>
            <a:r>
              <a:rPr lang="fr-FR" sz="3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3000" dirty="0"/>
              <a:t>au sens de l’article 28§2</a:t>
            </a:r>
            <a:endParaRPr lang="fr-FR" sz="3000" b="1" i="1" dirty="0"/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itchFamily="2" charset="2"/>
              <a:buChar char="§"/>
            </a:pPr>
            <a:r>
              <a:rPr lang="fr-FR" sz="3000" dirty="0"/>
              <a:t>Un </a:t>
            </a:r>
            <a:r>
              <a:rPr lang="fr-FR" sz="3000" b="1" dirty="0"/>
              <a:t>travail est à temps partiel</a:t>
            </a:r>
            <a:r>
              <a:rPr lang="fr-FR" sz="3000" dirty="0"/>
              <a:t> lorsque: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/>
              <a:t>Il comporte moins d’heures de travail par semaine que la durée de travail maximale en vigueur dans l'entreprise </a:t>
            </a:r>
          </a:p>
          <a:p>
            <a:pPr marL="457200" lvl="1" indent="0">
              <a:buNone/>
            </a:pPr>
            <a:r>
              <a:rPr lang="fr-FR" sz="2600" u="sng" dirty="0"/>
              <a:t>ET</a:t>
            </a:r>
            <a:r>
              <a:rPr lang="fr-FR" sz="2600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/>
              <a:t>la rémunération ne correspond pas à la rémunération due pour une semaine complète de travail. </a:t>
            </a:r>
            <a:endParaRPr lang="en-US" sz="2600" dirty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21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 Définition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3000" dirty="0">
                <a:latin typeface="+mj-lt"/>
              </a:rPr>
              <a:t>Est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considéré comme TTRV</a:t>
            </a:r>
            <a:r>
              <a:rPr lang="fr-BE" sz="3000" dirty="0">
                <a:latin typeface="+mj-lt"/>
              </a:rPr>
              <a:t>, le travailleur qui :</a:t>
            </a:r>
          </a:p>
          <a:p>
            <a:pPr>
              <a:buNone/>
            </a:pPr>
            <a:endParaRPr lang="fr-BE" sz="3000" dirty="0">
              <a:latin typeface="+mj-lt"/>
            </a:endParaRPr>
          </a:p>
          <a:p>
            <a:pPr lvl="1">
              <a:buFont typeface="Wingdings" pitchFamily="2" charset="2"/>
              <a:buChar char="§"/>
            </a:pPr>
            <a:r>
              <a:rPr lang="fr-BE" sz="3000" dirty="0">
                <a:latin typeface="+mj-lt"/>
              </a:rPr>
              <a:t>N’est pas à un travailleur à temps plein ou assimilé,</a:t>
            </a:r>
          </a:p>
          <a:p>
            <a:pPr marL="457200" lvl="1" indent="0">
              <a:buNone/>
            </a:pP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ET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fr-BE" sz="3000" dirty="0">
                <a:latin typeface="+mj-lt"/>
              </a:rPr>
              <a:t>Ne remplit pas les conditions pour obtenir le statut de TTPMD, même après tentative de régularisation. </a:t>
            </a:r>
            <a:r>
              <a:rPr lang="fr-BE" sz="2600" dirty="0">
                <a:latin typeface="+mj-lt"/>
              </a:rPr>
              <a:t>(</a:t>
            </a:r>
            <a:r>
              <a:rPr lang="fr-FR" sz="2600" b="1" i="1" dirty="0"/>
              <a:t>Voir  AR 29 § 4)</a:t>
            </a:r>
            <a:endParaRPr lang="fr-BE" sz="2600" dirty="0">
              <a:latin typeface="+mj-lt"/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76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CC311-0E45-488E-B3E7-AE263233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A7FFE5-2AB4-4DE3-A362-ED064A7C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i="1" u="sng" dirty="0"/>
              <a:t>Exemple</a:t>
            </a:r>
            <a:endParaRPr lang="fr-BE" dirty="0"/>
          </a:p>
          <a:p>
            <a:pPr marL="0" indent="0">
              <a:buNone/>
            </a:pPr>
            <a:r>
              <a:rPr lang="fr-BE" sz="3000" dirty="0"/>
              <a:t>Un travailleur occupé dans le cadre d’un contrat de travail 21/38 et qui dispose d’une rémunération brute de 1487,26€.</a:t>
            </a:r>
          </a:p>
          <a:p>
            <a:pPr marL="0" indent="0">
              <a:buNone/>
            </a:pPr>
            <a:r>
              <a:rPr lang="fr-BE" sz="3000" dirty="0"/>
              <a:t>C’est effectivement un travailleur à temps partiel volontaire vu qu’il ne satisfait pas aux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2 conditions cumulatives</a:t>
            </a:r>
            <a:r>
              <a:rPr lang="fr-BE" sz="3000" dirty="0"/>
              <a:t> pour être considéré comme travailleur à temps plein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700" i="1" dirty="0">
                <a:solidFill>
                  <a:prstClr val="black"/>
                </a:solidFill>
              </a:rPr>
              <a:t>Q = S  ou Q/S &lt; 1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700" i="1" dirty="0">
                <a:solidFill>
                  <a:prstClr val="black"/>
                </a:solidFill>
              </a:rPr>
              <a:t>La rémunération mensuelle brut n’atteint pas le salaire de référence c.à.d.: </a:t>
            </a:r>
            <a:r>
              <a:rPr lang="en-US" sz="2700" b="1" i="1" dirty="0">
                <a:solidFill>
                  <a:prstClr val="black"/>
                </a:solidFill>
              </a:rPr>
              <a:t>1.994,18€</a:t>
            </a:r>
            <a:r>
              <a:rPr lang="en-US" sz="2700" dirty="0">
                <a:solidFill>
                  <a:prstClr val="black"/>
                </a:solidFill>
              </a:rPr>
              <a:t> </a:t>
            </a:r>
            <a:r>
              <a:rPr lang="fr-BE" sz="2700" i="1" dirty="0">
                <a:solidFill>
                  <a:prstClr val="black"/>
                </a:solidFill>
              </a:rPr>
              <a:t> brut / mois (barème au 01.11.2023)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E5399E-7485-46D6-BD30-729C1CC9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18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656CC3-B9E8-40F3-9FBA-25BA0EBA9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2. Statut travailleur à temps partiel volontaire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2E364-CB65-498E-8DB7-7DF0D5380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600"/>
              </a:spcBef>
              <a:buNone/>
              <a:tabLst>
                <a:tab pos="1863090" algn="l"/>
              </a:tabLst>
            </a:pPr>
            <a:r>
              <a:rPr lang="fr-BE" b="1" u="sng" dirty="0">
                <a:latin typeface="Arial" panose="020B0604020202020204" pitchFamily="34" charset="0"/>
                <a:ea typeface="Calibri" panose="020F0502020204030204" pitchFamily="34" charset="0"/>
              </a:rPr>
              <a:t>Préfixe TTPV</a:t>
            </a:r>
            <a:r>
              <a:rPr lang="fr-BE" b="1" dirty="0"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endParaRPr lang="fr-BE" b="1" u="sng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200"/>
              </a:spcBef>
              <a:buFont typeface="Wingdings" panose="05000000000000000000" pitchFamily="2" charset="2"/>
              <a:buChar char="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03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 = Chômage complet pour une admission à temps partiel volontaire </a:t>
            </a:r>
            <a:r>
              <a:rPr lang="fr-BE" b="1" dirty="0">
                <a:latin typeface="Arial" panose="020B0604020202020204" pitchFamily="34" charset="0"/>
                <a:ea typeface="Calibri" panose="020F0502020204030204" pitchFamily="34" charset="0"/>
              </a:rPr>
              <a:t>(TTPV).</a:t>
            </a:r>
          </a:p>
          <a:p>
            <a:pPr marL="0" lvl="0" indent="0">
              <a:spcBef>
                <a:spcPts val="600"/>
              </a:spcBef>
              <a:buNone/>
              <a:tabLst>
                <a:tab pos="1863090" algn="l"/>
              </a:tabLst>
            </a:pPr>
            <a:endParaRPr lang="fr-BE" sz="17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04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= Chômage temporaire pour une occupation à temps partiel volontaire (</a:t>
            </a:r>
            <a:r>
              <a:rPr lang="fr-BE" b="1" dirty="0">
                <a:latin typeface="Arial" panose="020B0604020202020204" pitchFamily="34" charset="0"/>
                <a:ea typeface="Calibri" panose="020F0502020204030204" pitchFamily="34" charset="0"/>
              </a:rPr>
              <a:t>TTPV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).</a:t>
            </a:r>
          </a:p>
          <a:p>
            <a:pPr marL="0" lvl="0" indent="0">
              <a:spcBef>
                <a:spcPts val="600"/>
              </a:spcBef>
              <a:buNone/>
              <a:tabLst>
                <a:tab pos="1863090" algn="l"/>
              </a:tabLst>
            </a:pPr>
            <a:endParaRPr lang="fr-BE" sz="17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58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 = Travail à temps partiel volontaire (</a:t>
            </a:r>
            <a:r>
              <a:rPr lang="fr-BE" b="1" dirty="0">
                <a:latin typeface="Arial" panose="020B0604020202020204" pitchFamily="34" charset="0"/>
                <a:ea typeface="Calibri" panose="020F0502020204030204" pitchFamily="34" charset="0"/>
              </a:rPr>
              <a:t>TTPV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  <a:r>
              <a:rPr lang="fr-BE" b="1" i="1" u="sng" dirty="0">
                <a:latin typeface="Arial" panose="020B0604020202020204" pitchFamily="34" charset="0"/>
                <a:ea typeface="Calibri" panose="020F0502020204030204" pitchFamily="34" charset="0"/>
              </a:rPr>
              <a:t>avec</a:t>
            </a:r>
            <a:r>
              <a:rPr lang="fr-BE" dirty="0">
                <a:latin typeface="Arial" panose="020B0604020202020204" pitchFamily="34" charset="0"/>
                <a:ea typeface="Calibri" panose="020F0502020204030204" pitchFamily="34" charset="0"/>
              </a:rPr>
              <a:t> allocation de garantie de revenu (</a:t>
            </a:r>
            <a:r>
              <a:rPr lang="fr-BE" b="1" dirty="0">
                <a:latin typeface="Arial" panose="020B0604020202020204" pitchFamily="34" charset="0"/>
                <a:ea typeface="Calibri" panose="020F0502020204030204" pitchFamily="34" charset="0"/>
              </a:rPr>
              <a:t>AGR</a:t>
            </a:r>
            <a:r>
              <a:rPr lang="fr-BE" sz="4000" dirty="0">
                <a:latin typeface="Arial" panose="020B0604020202020204" pitchFamily="34" charset="0"/>
                <a:ea typeface="Calibri" panose="020F0502020204030204" pitchFamily="34" charset="0"/>
              </a:rPr>
              <a:t>).</a:t>
            </a:r>
            <a:endParaRPr lang="fr-BE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BE" b="1" u="sng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0D2F2C-1A29-46C5-B92B-534069CE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92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dirty="0"/>
              <a:t>3. </a:t>
            </a:r>
            <a:r>
              <a:rPr lang="fr-BE" b="1" i="1" dirty="0">
                <a:cs typeface="Times New Roman" pitchFamily="18" charset="0"/>
              </a:rPr>
              <a:t>Admission : Règle générale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1969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BE" sz="3500" b="1" u="sng" dirty="0">
                <a:cs typeface="Times New Roman" pitchFamily="18" charset="0"/>
              </a:rPr>
              <a:t>2 conditions cumulatives pour une admission 03/</a:t>
            </a:r>
            <a:r>
              <a:rPr lang="fr-BE" sz="3500" b="1" dirty="0">
                <a:cs typeface="Times New Roman" pitchFamily="18" charset="0"/>
              </a:rPr>
              <a:t>:</a:t>
            </a:r>
            <a:endParaRPr lang="fr-BE" sz="3500" b="1" u="sng" dirty="0">
              <a:cs typeface="Times New Roman" pitchFamily="18" charset="0"/>
            </a:endParaRPr>
          </a:p>
          <a:p>
            <a:pPr marL="514350" indent="-514350">
              <a:lnSpc>
                <a:spcPct val="110000"/>
              </a:lnSpc>
              <a:spcBef>
                <a:spcPts val="1200"/>
              </a:spcBef>
              <a:buAutoNum type="arabicPeriod"/>
            </a:pPr>
            <a:r>
              <a:rPr lang="fr-BE" sz="3300" dirty="0">
                <a:cs typeface="Times New Roman" pitchFamily="18" charset="0"/>
              </a:rPr>
              <a:t>Avoir été occupé dans un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régime de travail à temps </a:t>
            </a:r>
            <a:r>
              <a:rPr lang="fr-BE" sz="3300" dirty="0">
                <a:cs typeface="Times New Roman" pitchFamily="18" charset="0"/>
              </a:rPr>
              <a:t>partiel comportant normalement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en moyenne au moins </a:t>
            </a:r>
            <a:r>
              <a:rPr lang="fr-BE" sz="3300" b="1" u="sng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12 heures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de travail par semaine ou un tiers au moins</a:t>
            </a:r>
            <a:r>
              <a:rPr lang="fr-BE" sz="3300" b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3300" dirty="0">
                <a:cs typeface="Times New Roman" pitchFamily="18" charset="0"/>
              </a:rPr>
              <a:t>du nombre d’heures de travail hebdomadaire prestées par la personne de référence.</a:t>
            </a:r>
            <a:br>
              <a:rPr lang="fr-BE" sz="3000" dirty="0">
                <a:cs typeface="Times New Roman" pitchFamily="18" charset="0"/>
              </a:rPr>
            </a:br>
            <a:endParaRPr lang="fr-BE" sz="30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514350" indent="-514350">
              <a:lnSpc>
                <a:spcPct val="110000"/>
              </a:lnSpc>
              <a:spcBef>
                <a:spcPts val="1200"/>
              </a:spcBef>
              <a:buAutoNum type="arabicPeriod"/>
            </a:pP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Prouver un certain </a:t>
            </a:r>
            <a:r>
              <a:rPr lang="fr-BE" sz="3300" b="1" u="sng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nombre de demi journées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de travail ou assimilées</a:t>
            </a:r>
            <a:r>
              <a:rPr lang="fr-BE" sz="3300" b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3300" dirty="0">
                <a:cs typeface="Times New Roman" pitchFamily="18" charset="0"/>
              </a:rPr>
              <a:t>au cours d’une certaine période de référence précédant immédiatement la demande d’allocations (DA).</a:t>
            </a:r>
          </a:p>
          <a:p>
            <a:pPr lvl="1">
              <a:lnSpc>
                <a:spcPct val="110000"/>
              </a:lnSpc>
              <a:buSzPct val="80000"/>
              <a:buNone/>
            </a:pPr>
            <a:endParaRPr lang="fr-BE" sz="2600" dirty="0">
              <a:cs typeface="Times New Roman" pitchFamily="18" charset="0"/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7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3.</a:t>
            </a:r>
            <a:r>
              <a:rPr lang="fr-BE" b="1" dirty="0"/>
              <a:t> </a:t>
            </a:r>
            <a:r>
              <a:rPr lang="fr-BE" b="1" i="1" dirty="0">
                <a:cs typeface="Times New Roman" pitchFamily="18" charset="0"/>
              </a:rPr>
              <a:t>Admission : Règle générale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AR 33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2B91054B-02AD-443E-9440-F9B0D4BDE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330499"/>
              </p:ext>
            </p:extLst>
          </p:nvPr>
        </p:nvGraphicFramePr>
        <p:xfrm>
          <a:off x="457200" y="1700808"/>
          <a:ext cx="8229600" cy="45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1531543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132829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34864959"/>
                    </a:ext>
                  </a:extLst>
                </a:gridCol>
              </a:tblGrid>
              <a:tr h="1092850">
                <a:tc>
                  <a:txBody>
                    <a:bodyPr/>
                    <a:lstStyle/>
                    <a:p>
                      <a:pPr algn="ctr"/>
                      <a:r>
                        <a:rPr lang="fr-BE" sz="2600" dirty="0"/>
                        <a:t>Age de l’assuré sociale à la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600" dirty="0"/>
                        <a:t>Il doit justifier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600" dirty="0"/>
                        <a:t>Au cours d’une période de référence de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748648"/>
                  </a:ext>
                </a:extLst>
              </a:tr>
              <a:tr h="109285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&lt;</a:t>
                      </a:r>
                      <a:r>
                        <a:rPr lang="fr-BE" sz="2200" dirty="0"/>
                        <a:t> 36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/>
                        <a:t>312</a:t>
                      </a:r>
                      <a:r>
                        <a:rPr lang="fr-BE" sz="2200" dirty="0"/>
                        <a:t> demi-jours de travail et/ou assimilés 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27</a:t>
                      </a:r>
                      <a:r>
                        <a:rPr lang="fr-BE" sz="2200" dirty="0"/>
                        <a:t> mois qui précèdent </a:t>
                      </a:r>
                      <a:r>
                        <a:rPr lang="fr-BE" sz="2200" b="1" dirty="0"/>
                        <a:t>immédiatement</a:t>
                      </a:r>
                      <a:r>
                        <a:rPr lang="fr-BE" sz="2200" dirty="0"/>
                        <a:t> la 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48589"/>
                  </a:ext>
                </a:extLst>
              </a:tr>
              <a:tr h="109285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</a:t>
                      </a:r>
                      <a:r>
                        <a:rPr lang="fr-BE" sz="2200" dirty="0"/>
                        <a:t> 36 ans et </a:t>
                      </a: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&lt;</a:t>
                      </a:r>
                      <a:r>
                        <a:rPr lang="fr-BE" sz="2200" dirty="0"/>
                        <a:t> 50 ans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/>
                        <a:t>468</a:t>
                      </a:r>
                      <a:r>
                        <a:rPr lang="fr-BE" sz="2200" dirty="0"/>
                        <a:t> demi-jours de travail et/ou assimilés 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39</a:t>
                      </a:r>
                      <a:r>
                        <a:rPr lang="fr-BE" sz="2200" dirty="0"/>
                        <a:t> mois qui précèdent </a:t>
                      </a:r>
                      <a:r>
                        <a:rPr lang="fr-BE" sz="2200" b="1" dirty="0"/>
                        <a:t>immédiatement</a:t>
                      </a:r>
                      <a:r>
                        <a:rPr lang="fr-BE" sz="2200" dirty="0"/>
                        <a:t> la 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11661"/>
                  </a:ext>
                </a:extLst>
              </a:tr>
              <a:tr h="109285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</a:t>
                      </a:r>
                      <a:r>
                        <a:rPr lang="fr-BE" sz="2200" dirty="0"/>
                        <a:t> 50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/>
                        <a:t>624</a:t>
                      </a:r>
                      <a:r>
                        <a:rPr lang="fr-BE" sz="2200" dirty="0"/>
                        <a:t> demi-jours de travail et/ou assimilés 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48</a:t>
                      </a:r>
                      <a:r>
                        <a:rPr lang="fr-BE" sz="2200" dirty="0"/>
                        <a:t> mois qui précèdent </a:t>
                      </a:r>
                      <a:r>
                        <a:rPr lang="fr-BE" sz="2200" b="1" dirty="0"/>
                        <a:t>immédiatement</a:t>
                      </a:r>
                      <a:r>
                        <a:rPr lang="fr-BE" sz="2200" dirty="0"/>
                        <a:t> la 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6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10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dirty="0"/>
              <a:t>	</a:t>
            </a:r>
            <a:r>
              <a:rPr lang="fr-BE" sz="4000" b="1" i="1" dirty="0">
                <a:cs typeface="Times New Roman" pitchFamily="18" charset="0"/>
              </a:rPr>
              <a:t> </a:t>
            </a:r>
            <a:r>
              <a:rPr lang="fr-BE" b="1" i="1" dirty="0">
                <a:cs typeface="Times New Roman" pitchFamily="18" charset="0"/>
              </a:rPr>
              <a:t>3. Admission : Règle générale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AR 33 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BE" b="1" u="sng" dirty="0"/>
              <a:t>Exemple</a:t>
            </a:r>
            <a:r>
              <a:rPr lang="fr-BE" b="1" dirty="0"/>
              <a:t>: </a:t>
            </a:r>
            <a:endParaRPr lang="fr-BE" b="1" u="sng" dirty="0"/>
          </a:p>
          <a:p>
            <a:pPr>
              <a:buNone/>
            </a:pPr>
            <a:r>
              <a:rPr lang="fr-BE" sz="2400" dirty="0"/>
              <a:t>Si au moment de la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DA au 08.11.2023 </a:t>
            </a:r>
            <a:r>
              <a:rPr lang="fr-BE" sz="2400" dirty="0"/>
              <a:t>l’intéressé a :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400" b="1" dirty="0"/>
              <a:t>&lt; de 36 ans  </a:t>
            </a:r>
            <a:r>
              <a:rPr lang="fr-BE" sz="2400" b="1" dirty="0">
                <a:sym typeface="Wingdings" pitchFamily="2" charset="2"/>
              </a:rPr>
              <a:t>→ doit justifier 312 demi jours/27 mois</a:t>
            </a:r>
            <a:endParaRPr lang="fr-BE" sz="2400" b="1" dirty="0"/>
          </a:p>
          <a:p>
            <a:pPr>
              <a:buSzPct val="80000"/>
              <a:buNone/>
            </a:pPr>
            <a:r>
              <a:rPr lang="fr-BE" sz="2400" dirty="0">
                <a:sym typeface="Wingdings" pitchFamily="2" charset="2"/>
              </a:rPr>
              <a:t>	</a:t>
            </a:r>
            <a:r>
              <a:rPr lang="fr-BE" sz="2400" i="1" dirty="0">
                <a:sym typeface="Wingdings" pitchFamily="2" charset="2"/>
              </a:rPr>
              <a:t>La période de référence se situe du                   au</a:t>
            </a:r>
          </a:p>
          <a:p>
            <a:pPr>
              <a:buSzPct val="80000"/>
              <a:buNone/>
            </a:pPr>
            <a:endParaRPr lang="fr-BE" sz="2400" i="1" dirty="0"/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400" b="1" dirty="0"/>
              <a:t>Entre 36 ans et &lt; de 50 ans </a:t>
            </a:r>
            <a:r>
              <a:rPr lang="fr-BE" sz="2400" b="1" dirty="0">
                <a:sym typeface="Wingdings" pitchFamily="2" charset="2"/>
              </a:rPr>
              <a:t>→ doit justifier 468 demi jours/39 mois</a:t>
            </a:r>
            <a:endParaRPr lang="fr-BE" sz="2400" b="1" u="sng" dirty="0"/>
          </a:p>
          <a:p>
            <a:pPr>
              <a:buSzPct val="80000"/>
              <a:buNone/>
            </a:pPr>
            <a:r>
              <a:rPr lang="fr-BE" sz="2400" dirty="0">
                <a:sym typeface="Wingdings" pitchFamily="2" charset="2"/>
              </a:rPr>
              <a:t>	</a:t>
            </a:r>
            <a:r>
              <a:rPr lang="fr-BE" sz="2400" i="1" dirty="0">
                <a:sym typeface="Wingdings" pitchFamily="2" charset="2"/>
              </a:rPr>
              <a:t>La période de référence se situe du                  au</a:t>
            </a:r>
          </a:p>
          <a:p>
            <a:pPr>
              <a:buSzPct val="80000"/>
              <a:buNone/>
            </a:pPr>
            <a:endParaRPr lang="fr-BE" sz="2400" i="1" dirty="0"/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400" b="1" dirty="0"/>
              <a:t>50 ans ou + </a:t>
            </a:r>
            <a:r>
              <a:rPr lang="fr-BE" sz="2400" b="1" dirty="0">
                <a:sym typeface="Wingdings" pitchFamily="2" charset="2"/>
              </a:rPr>
              <a:t>→ doit justifier 624 demi jours/48 mois</a:t>
            </a:r>
            <a:endParaRPr lang="fr-BE" sz="2400" dirty="0"/>
          </a:p>
          <a:p>
            <a:pPr>
              <a:buSzPct val="80000"/>
              <a:buNone/>
            </a:pPr>
            <a:r>
              <a:rPr lang="fr-BE" sz="2400" dirty="0">
                <a:sym typeface="Wingdings" pitchFamily="2" charset="2"/>
              </a:rPr>
              <a:t>	</a:t>
            </a:r>
            <a:r>
              <a:rPr lang="fr-BE" sz="2400" i="1" dirty="0">
                <a:sym typeface="Wingdings" pitchFamily="2" charset="2"/>
              </a:rPr>
              <a:t>La période de référence se situe du                  au</a:t>
            </a:r>
            <a:endParaRPr lang="fr-FR" sz="2400" i="1" dirty="0"/>
          </a:p>
        </p:txBody>
      </p:sp>
      <p:sp>
        <p:nvSpPr>
          <p:cNvPr id="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68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 Assouplissements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pPr marL="609600" indent="-609600">
              <a:spcBef>
                <a:spcPts val="0"/>
              </a:spcBef>
              <a:buSzPct val="80000"/>
              <a:buNone/>
            </a:pPr>
            <a:r>
              <a:rPr lang="fr-BE" sz="3400" dirty="0">
                <a:cs typeface="Times New Roman" pitchFamily="18" charset="0"/>
              </a:rPr>
              <a:t>1. 	</a:t>
            </a:r>
            <a:r>
              <a:rPr lang="fr-BE" sz="4000" dirty="0">
                <a:cs typeface="Times New Roman" pitchFamily="18" charset="0"/>
              </a:rPr>
              <a:t>Satisfaire aux conditions </a:t>
            </a:r>
            <a:r>
              <a:rPr lang="fr-BE" sz="4000" b="1" u="sng" dirty="0">
                <a:cs typeface="Times New Roman" pitchFamily="18" charset="0"/>
              </a:rPr>
              <a:t>d’une</a:t>
            </a:r>
            <a:r>
              <a:rPr lang="fr-BE" sz="4000" dirty="0">
                <a:cs typeface="Times New Roman" pitchFamily="18" charset="0"/>
              </a:rPr>
              <a:t> </a:t>
            </a:r>
            <a:r>
              <a:rPr lang="fr-BE" sz="4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catégorie d’âge supérieure</a:t>
            </a:r>
            <a:r>
              <a:rPr lang="fr-BE" sz="4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.</a:t>
            </a:r>
          </a:p>
          <a:p>
            <a:pPr marL="609600" indent="-609600">
              <a:spcBef>
                <a:spcPts val="0"/>
              </a:spcBef>
              <a:buSzPct val="80000"/>
              <a:buNone/>
            </a:pPr>
            <a:endParaRPr lang="fr-BE" sz="40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609600" indent="-609600">
              <a:spcBef>
                <a:spcPts val="0"/>
              </a:spcBef>
              <a:buSzPct val="80000"/>
              <a:buNone/>
            </a:pPr>
            <a:r>
              <a:rPr lang="fr-BE" sz="4000" dirty="0">
                <a:cs typeface="Times New Roman" pitchFamily="18" charset="0"/>
              </a:rPr>
              <a:t>2. 	Possibilité de </a:t>
            </a:r>
            <a:r>
              <a:rPr lang="fr-BE" sz="4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prolonger la période de référence</a:t>
            </a:r>
            <a:r>
              <a:rPr lang="fr-BE" sz="4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17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38" y="1628959"/>
            <a:ext cx="8205927" cy="469829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9036" y="404664"/>
            <a:ext cx="8205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Assouplissements</a:t>
            </a:r>
          </a:p>
        </p:txBody>
      </p:sp>
    </p:spTree>
    <p:extLst>
      <p:ext uri="{BB962C8B-B14F-4D97-AF65-F5344CB8AC3E}">
        <p14:creationId xmlns:p14="http://schemas.microsoft.com/office/powerpoint/2010/main" val="353573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36" y="1268759"/>
            <a:ext cx="8205927" cy="496855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9036" y="188640"/>
            <a:ext cx="8135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Assouplissements </a:t>
            </a:r>
          </a:p>
        </p:txBody>
      </p:sp>
    </p:spTree>
    <p:extLst>
      <p:ext uri="{BB962C8B-B14F-4D97-AF65-F5344CB8AC3E}">
        <p14:creationId xmlns:p14="http://schemas.microsoft.com/office/powerpoint/2010/main" val="4267681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Méthode de travail: Sélection de l’occupation à temps partiel</a:t>
            </a:r>
            <a:endParaRPr lang="fr-FR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93443" y="2060848"/>
            <a:ext cx="8784976" cy="4011358"/>
          </a:xfrm>
        </p:spPr>
        <p:txBody>
          <a:bodyPr>
            <a:noAutofit/>
          </a:bodyPr>
          <a:lstStyle/>
          <a:p>
            <a:pPr marL="609600" indent="-609600">
              <a:lnSpc>
                <a:spcPct val="110000"/>
              </a:lnSpc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1) Calculer la durée hebdomadaire moyenne de travail (Q)</a:t>
            </a:r>
          </a:p>
          <a:p>
            <a:pPr>
              <a:buFont typeface="Wingdings" pitchFamily="2" charset="2"/>
              <a:buChar char="§"/>
            </a:pPr>
            <a:r>
              <a:rPr lang="fr-FR" sz="3000" dirty="0"/>
              <a:t>On tient compte de la </a:t>
            </a:r>
            <a:r>
              <a:rPr lang="fr-FR" sz="3000" b="1" dirty="0"/>
              <a:t>dernière</a:t>
            </a:r>
            <a:r>
              <a:rPr lang="fr-FR" sz="3000" dirty="0"/>
              <a:t> occupation à temps partiel d’au moins </a:t>
            </a:r>
            <a:r>
              <a:rPr lang="fr-FR" sz="3000" b="1" dirty="0"/>
              <a:t>4 semaines consécutives chez le même employeur</a:t>
            </a:r>
            <a:r>
              <a:rPr lang="fr-FR" sz="3000" dirty="0"/>
              <a:t> ( sans remonter à + de 12 mois)</a:t>
            </a:r>
          </a:p>
          <a:p>
            <a:pPr>
              <a:buFont typeface="Wingdings" pitchFamily="2" charset="2"/>
              <a:buChar char="§"/>
            </a:pPr>
            <a:r>
              <a:rPr lang="fr-FR" sz="3000" dirty="0"/>
              <a:t>On ne tient pas compte d’une occupation à temps plein</a:t>
            </a:r>
          </a:p>
          <a:p>
            <a:pPr marL="0" indent="0">
              <a:buNone/>
            </a:pPr>
            <a:endParaRPr lang="fr-FR" sz="2200" b="1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§"/>
            </a:pPr>
            <a:endParaRPr lang="fr-FR" sz="2200" dirty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Méthode de travail: Sélection de l’occupation à temps partiel</a:t>
            </a:r>
            <a:endParaRPr lang="en-US" sz="4000" b="1" i="1" dirty="0"/>
          </a:p>
        </p:txBody>
      </p:sp>
      <p:graphicFrame>
        <p:nvGraphicFramePr>
          <p:cNvPr id="17" name="Espace réservé du contenu 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152435"/>
              </p:ext>
            </p:extLst>
          </p:nvPr>
        </p:nvGraphicFramePr>
        <p:xfrm>
          <a:off x="457200" y="1921470"/>
          <a:ext cx="8229600" cy="8206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688"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</a:t>
                      </a:r>
                      <a:r>
                        <a:rPr lang="fr-BE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fr-BE" baseline="0" dirty="0"/>
                        <a:t>8 mois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2</a:t>
                      </a:r>
                    </a:p>
                    <a:p>
                      <a:pPr algn="ctr"/>
                      <a:r>
                        <a:rPr lang="fr-BE" dirty="0"/>
                        <a:t>4 mois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33097" y="2924944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L’occupation chez l’employeur 2 est sélectionnée</a:t>
            </a:r>
            <a:endParaRPr lang="en-US" sz="2800" b="1" dirty="0"/>
          </a:p>
        </p:txBody>
      </p:sp>
      <p:graphicFrame>
        <p:nvGraphicFramePr>
          <p:cNvPr id="20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527083"/>
              </p:ext>
            </p:extLst>
          </p:nvPr>
        </p:nvGraphicFramePr>
        <p:xfrm>
          <a:off x="457200" y="4142648"/>
          <a:ext cx="8229600" cy="9714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1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1402"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1</a:t>
                      </a:r>
                    </a:p>
                    <a:p>
                      <a:pPr algn="ctr"/>
                      <a:r>
                        <a:rPr lang="fr-BE" dirty="0"/>
                        <a:t>2 mois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2</a:t>
                      </a:r>
                    </a:p>
                    <a:p>
                      <a:pPr algn="ctr"/>
                      <a:r>
                        <a:rPr lang="fr-BE" dirty="0"/>
                        <a:t>3 semaines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3</a:t>
                      </a:r>
                    </a:p>
                    <a:p>
                      <a:pPr algn="ctr"/>
                      <a:r>
                        <a:rPr lang="fr-BE" dirty="0"/>
                        <a:t>2 semaines temps</a:t>
                      </a:r>
                      <a:r>
                        <a:rPr lang="fr-BE" baseline="0" dirty="0"/>
                        <a:t>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ZoneTexte 20"/>
          <p:cNvSpPr txBox="1"/>
          <p:nvPr/>
        </p:nvSpPr>
        <p:spPr>
          <a:xfrm>
            <a:off x="457200" y="5301208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L’occupation chez l’employeur 1 est sélectionnée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9401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Méthode de travail: Sélection de l’occupation à temps partiel</a:t>
            </a:r>
            <a:endParaRPr lang="en-US" sz="4000" b="1" i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89568"/>
              </p:ext>
            </p:extLst>
          </p:nvPr>
        </p:nvGraphicFramePr>
        <p:xfrm>
          <a:off x="457200" y="2888940"/>
          <a:ext cx="8229600" cy="1080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Employeur 1</a:t>
                      </a:r>
                    </a:p>
                    <a:p>
                      <a:pPr algn="ctr"/>
                      <a:r>
                        <a:rPr lang="fr-BE" b="1" dirty="0"/>
                        <a:t>10 mois temps</a:t>
                      </a:r>
                      <a:r>
                        <a:rPr lang="fr-BE" b="1" baseline="0" dirty="0"/>
                        <a:t> partiel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2</a:t>
                      </a:r>
                    </a:p>
                    <a:p>
                      <a:pPr algn="ctr"/>
                      <a:r>
                        <a:rPr lang="fr-BE" dirty="0"/>
                        <a:t>4 mois temps plein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Employeur 3</a:t>
                      </a:r>
                    </a:p>
                    <a:p>
                      <a:pPr algn="ctr"/>
                      <a:r>
                        <a:rPr lang="fr-BE" dirty="0"/>
                        <a:t>2 semaines temps partiel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457200" y="450912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L’occupation chez l’employeur 1 est sélectionnée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8043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Méthode de travail: Sélection de l’occupation à temps partiel</a:t>
            </a:r>
            <a:endParaRPr lang="fr-FR" sz="4000" i="1" dirty="0"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386043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fr-FR" sz="4000" dirty="0"/>
              <a:t>A défaut d’une occupation à temps partiel d’au moins 4 semaines  chez le même employeur, on tient compte de tous les emplois à temps partiel chez les différents employeurs ayant débuté au cours des 12 derniers mois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59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Méthode de travail: Sélection de l’occupation à temps partiel</a:t>
            </a:r>
            <a:endParaRPr lang="en-US" sz="4000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24822" y="4130752"/>
            <a:ext cx="8075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/>
              <a:t>Les occupations chez les employeurs 2 et 3 sont sélectionnées</a:t>
            </a:r>
          </a:p>
          <a:p>
            <a:r>
              <a:rPr lang="fr-BE" sz="2400" b="1" dirty="0"/>
              <a:t>(</a:t>
            </a:r>
            <a:r>
              <a:rPr lang="fr-BE" sz="2000" b="1" dirty="0"/>
              <a:t>on se limite aux 12 derniers mois qui précèdent la DA</a:t>
            </a:r>
            <a:r>
              <a:rPr lang="fr-BE" sz="2400" b="1" dirty="0"/>
              <a:t>)</a:t>
            </a:r>
            <a:endParaRPr lang="en-US" sz="2400" b="1" dirty="0"/>
          </a:p>
        </p:txBody>
      </p:sp>
      <p:graphicFrame>
        <p:nvGraphicFramePr>
          <p:cNvPr id="8" name="Espace réservé du contenu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603206"/>
              </p:ext>
            </p:extLst>
          </p:nvPr>
        </p:nvGraphicFramePr>
        <p:xfrm>
          <a:off x="247642" y="2570771"/>
          <a:ext cx="8229600" cy="9963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637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Employeur  1</a:t>
                      </a:r>
                    </a:p>
                    <a:p>
                      <a:pPr algn="ctr"/>
                      <a:r>
                        <a:rPr lang="fr-BE" dirty="0"/>
                        <a:t>3 semaines à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Employeur 2</a:t>
                      </a:r>
                    </a:p>
                    <a:p>
                      <a:pPr algn="ctr"/>
                      <a:r>
                        <a:rPr lang="fr-BE" dirty="0"/>
                        <a:t>2 semaines à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Inactivité</a:t>
                      </a:r>
                    </a:p>
                    <a:p>
                      <a:pPr algn="ctr"/>
                      <a:r>
                        <a:rPr lang="fr-BE" dirty="0"/>
                        <a:t>47 semaines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Employeur 3</a:t>
                      </a:r>
                    </a:p>
                    <a:p>
                      <a:pPr algn="ctr"/>
                      <a:r>
                        <a:rPr lang="fr-BE" dirty="0"/>
                        <a:t>3 semaines à</a:t>
                      </a:r>
                      <a:r>
                        <a:rPr lang="fr-BE" baseline="0" dirty="0"/>
                        <a:t> temps partiel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78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5.1. Méthode de travail: Sélection de l’occupation à temps partiel</a:t>
            </a:r>
            <a:endParaRPr lang="fr-FR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Sur la base de l’occupation sélectionnée ou des occupations sélectionnées:</a:t>
            </a:r>
          </a:p>
          <a:p>
            <a:pPr>
              <a:buNone/>
            </a:pPr>
            <a:endParaRPr lang="fr-FR" sz="2400" dirty="0"/>
          </a:p>
          <a:p>
            <a:r>
              <a:rPr lang="fr-FR" sz="2800" b="1" u="sng" dirty="0">
                <a:solidFill>
                  <a:schemeClr val="accent2">
                    <a:lumMod val="75000"/>
                  </a:schemeClr>
                </a:solidFill>
              </a:rPr>
              <a:t>Totaliser</a:t>
            </a:r>
            <a:r>
              <a:rPr lang="fr-FR" sz="2800" dirty="0"/>
              <a:t> les heures de travail et les heures assimilées situées dans la période de travail limitée aux 12 derniers mois</a:t>
            </a:r>
          </a:p>
          <a:p>
            <a:r>
              <a:rPr lang="fr-FR" sz="2800" dirty="0"/>
              <a:t>Et </a:t>
            </a:r>
            <a:r>
              <a:rPr lang="fr-FR" sz="2800" b="1" u="sng" dirty="0">
                <a:solidFill>
                  <a:schemeClr val="accent2">
                    <a:lumMod val="75000"/>
                  </a:schemeClr>
                </a:solidFill>
              </a:rPr>
              <a:t>diviser</a:t>
            </a:r>
            <a:r>
              <a:rPr lang="fr-FR" sz="2800" dirty="0"/>
              <a:t> le résultat obtenu par le nombre de semaines situées dans la période d’occupation (max 52 semaines)</a:t>
            </a:r>
          </a:p>
          <a:p>
            <a:pPr>
              <a:buNone/>
            </a:pPr>
            <a:endParaRPr lang="fr-FR" sz="3600" dirty="0"/>
          </a:p>
          <a:p>
            <a:pPr marL="609600" indent="-609600">
              <a:lnSpc>
                <a:spcPct val="110000"/>
              </a:lnSpc>
              <a:buAutoNum type="arabicPeriod"/>
            </a:pPr>
            <a:endParaRPr lang="fr-BE" sz="3600" dirty="0">
              <a:cs typeface="Times New Roman" pitchFamily="18" charset="0"/>
            </a:endParaRPr>
          </a:p>
          <a:p>
            <a:pPr marL="609600" indent="-609600">
              <a:lnSpc>
                <a:spcPct val="110000"/>
              </a:lnSpc>
              <a:buAutoNum type="arabicPeriod"/>
            </a:pPr>
            <a:endParaRPr lang="fr-BE" sz="3600" dirty="0">
              <a:cs typeface="Times New Roman" pitchFamily="18" charset="0"/>
            </a:endParaRP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55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5.1. Méthode de travail: Sélection de l’occupation à temps partiel</a:t>
            </a:r>
            <a:endParaRPr lang="en-US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" name="Espace réservé du contenu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361354"/>
              </p:ext>
            </p:extLst>
          </p:nvPr>
        </p:nvGraphicFramePr>
        <p:xfrm>
          <a:off x="457200" y="2421449"/>
          <a:ext cx="8229600" cy="23314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768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Employeur 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Employeur 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Employeur 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Employeur 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DA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349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Travail </a:t>
                      </a:r>
                    </a:p>
                    <a:p>
                      <a:pPr algn="ctr"/>
                      <a:r>
                        <a:rPr lang="fr-BE" sz="1400" dirty="0"/>
                        <a:t>du 02/01/20</a:t>
                      </a:r>
                      <a:r>
                        <a:rPr lang="fr-BE" sz="1400" baseline="0" dirty="0"/>
                        <a:t> </a:t>
                      </a:r>
                    </a:p>
                    <a:p>
                      <a:pPr algn="ctr"/>
                      <a:r>
                        <a:rPr lang="fr-BE" sz="1400" baseline="0" dirty="0"/>
                        <a:t>au 09/07/23</a:t>
                      </a:r>
                    </a:p>
                    <a:p>
                      <a:pPr algn="ctr"/>
                      <a:endParaRPr lang="fr-BE" sz="1400" b="1" baseline="0" dirty="0"/>
                    </a:p>
                    <a:p>
                      <a:pPr algn="ctr"/>
                      <a:r>
                        <a:rPr lang="fr-BE" sz="1400" b="1" baseline="0" dirty="0"/>
                        <a:t>24/38</a:t>
                      </a:r>
                      <a:endParaRPr lang="en-US" sz="14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baseline="0" dirty="0"/>
                        <a:t>10/07/23 au 06/08/23</a:t>
                      </a:r>
                    </a:p>
                    <a:p>
                      <a:pPr algn="ctr"/>
                      <a:r>
                        <a:rPr lang="fr-BE" sz="1400" b="1" baseline="0" dirty="0"/>
                        <a:t>17/38</a:t>
                      </a:r>
                    </a:p>
                    <a:p>
                      <a:pPr algn="ctr"/>
                      <a:r>
                        <a:rPr lang="fr-BE" sz="1400" b="0" baseline="0" dirty="0"/>
                        <a:t>07/08/23 au 20/08/23</a:t>
                      </a:r>
                    </a:p>
                    <a:p>
                      <a:pPr algn="ctr"/>
                      <a:r>
                        <a:rPr lang="fr-BE" sz="1400" b="1" baseline="0" dirty="0"/>
                        <a:t>38/38</a:t>
                      </a:r>
                    </a:p>
                    <a:p>
                      <a:pPr algn="ctr"/>
                      <a:r>
                        <a:rPr lang="fr-BE" sz="1400" b="0" baseline="0" dirty="0"/>
                        <a:t>21/08/23 au 17/09/23</a:t>
                      </a:r>
                    </a:p>
                    <a:p>
                      <a:pPr algn="ctr"/>
                      <a:r>
                        <a:rPr lang="fr-BE" sz="1400" b="1" baseline="0" dirty="0"/>
                        <a:t>20/38</a:t>
                      </a:r>
                      <a:endParaRPr lang="en-US" sz="14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Travail </a:t>
                      </a:r>
                    </a:p>
                    <a:p>
                      <a:pPr algn="ctr"/>
                      <a:r>
                        <a:rPr lang="fr-BE" sz="1400" dirty="0"/>
                        <a:t>Du 18/09/23 au</a:t>
                      </a:r>
                      <a:r>
                        <a:rPr lang="fr-BE" sz="1400" baseline="0" dirty="0"/>
                        <a:t> 15/10/23</a:t>
                      </a:r>
                    </a:p>
                    <a:p>
                      <a:pPr algn="ctr"/>
                      <a:r>
                        <a:rPr lang="fr-BE" sz="1400" b="1" baseline="0" dirty="0"/>
                        <a:t>38/38</a:t>
                      </a:r>
                      <a:endParaRPr lang="en-US" sz="14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Travail </a:t>
                      </a:r>
                    </a:p>
                    <a:p>
                      <a:pPr algn="ctr"/>
                      <a:r>
                        <a:rPr lang="fr-BE" sz="1400" dirty="0"/>
                        <a:t>Du 16/10/23</a:t>
                      </a:r>
                    </a:p>
                    <a:p>
                      <a:pPr algn="ctr"/>
                      <a:r>
                        <a:rPr lang="fr-BE" sz="1400" dirty="0"/>
                        <a:t>Au 07/11/23</a:t>
                      </a:r>
                    </a:p>
                    <a:p>
                      <a:pPr algn="ctr"/>
                      <a:r>
                        <a:rPr lang="fr-BE" sz="1400" b="1" dirty="0"/>
                        <a:t>15/38</a:t>
                      </a:r>
                      <a:endParaRPr lang="en-US" sz="14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b="1" dirty="0"/>
                        <a:t>08/11/2023</a:t>
                      </a:r>
                      <a:endParaRPr lang="en-US" sz="14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453883" y="4762425"/>
            <a:ext cx="72144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Sélection de l’employeur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Durée hebdomadaire moyenne de travail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 = </a:t>
            </a: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(17h x 4 </a:t>
            </a:r>
            <a:r>
              <a:rPr kumimoji="0" lang="fr-FR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+ (38h x 2 </a:t>
            </a:r>
            <a:r>
              <a:rPr kumimoji="0" lang="fr-FR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+ (20h x 4 </a:t>
            </a:r>
            <a:r>
              <a:rPr kumimoji="0" lang="fr-FR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22,40</a:t>
            </a: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		             10 sem.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A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 moins 12h ou 1/3 temps = On peut poursuivre l’examen de l’admissibilité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29F7541-AF03-4D9C-9FF3-065C93AAA900}"/>
              </a:ext>
            </a:extLst>
          </p:cNvPr>
          <p:cNvSpPr txBox="1"/>
          <p:nvPr/>
        </p:nvSpPr>
        <p:spPr>
          <a:xfrm>
            <a:off x="611560" y="1844824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Exemple</a:t>
            </a:r>
            <a:r>
              <a:rPr kumimoji="0" lang="fr-B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endParaRPr kumimoji="0" lang="fr-BE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54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>
                <a:cs typeface="Times New Roman" pitchFamily="18" charset="0"/>
              </a:rPr>
              <a:t>5.2. </a:t>
            </a:r>
            <a:r>
              <a:rPr lang="fr-BE" b="1" i="1" dirty="0">
                <a:cs typeface="Times New Roman" pitchFamily="18" charset="0"/>
              </a:rPr>
              <a:t>Méthode de travail: Stage à accomplir</a:t>
            </a:r>
            <a:endParaRPr lang="fr-FR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457200" y="1769396"/>
            <a:ext cx="8229600" cy="4302810"/>
          </a:xfrm>
        </p:spPr>
        <p:txBody>
          <a:bodyPr>
            <a:noAutofit/>
          </a:bodyPr>
          <a:lstStyle/>
          <a:p>
            <a:pPr marL="609600" indent="-609600">
              <a:lnSpc>
                <a:spcPct val="110000"/>
              </a:lnSpc>
              <a:buNone/>
            </a:pP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2) Accomplir un stage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BE" dirty="0"/>
              <a:t>Accomplir un stage constitué du même nombre de demi-journées de travail que le nombre de jours de travail requis à l’article 30;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BE" dirty="0"/>
              <a:t>La période de référence visée à l’article 30 est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prolongée de 6 mois</a:t>
            </a:r>
            <a:endParaRPr lang="fr-BE" sz="2000" b="1" dirty="0">
              <a:solidFill>
                <a:schemeClr val="accent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8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>
                <a:cs typeface="Times New Roman" pitchFamily="18" charset="0"/>
              </a:rPr>
              <a:t>5.2. </a:t>
            </a:r>
            <a:r>
              <a:rPr lang="fr-BE" b="1" i="1" dirty="0">
                <a:cs typeface="Times New Roman" pitchFamily="18" charset="0"/>
              </a:rPr>
              <a:t>Méthode de travail: Stage à accomplir</a:t>
            </a:r>
            <a:endParaRPr lang="en-US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Pour le calcul du nombre de demi-jours, on tient compte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toutes les prestations situées dans la période de référence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2000" dirty="0"/>
              <a:t>(éventuellement prolongée)</a:t>
            </a:r>
          </a:p>
          <a:p>
            <a:pPr marL="0" indent="0">
              <a:buNone/>
            </a:pPr>
            <a:endParaRPr lang="fr-BE" sz="1800" dirty="0"/>
          </a:p>
          <a:p>
            <a:pPr marL="0" indent="0">
              <a:buNone/>
            </a:pPr>
            <a:r>
              <a:rPr lang="fr-BE" dirty="0"/>
              <a:t>	- travail à temps partiel </a:t>
            </a:r>
            <a:r>
              <a:rPr lang="fr-BE" u="sng" dirty="0"/>
              <a:t>&gt;</a:t>
            </a:r>
            <a:r>
              <a:rPr lang="fr-BE" dirty="0"/>
              <a:t> 12h/</a:t>
            </a:r>
            <a:r>
              <a:rPr lang="fr-BE" dirty="0" err="1"/>
              <a:t>sem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	- travail à temps partiel &lt; 12h/</a:t>
            </a:r>
            <a:r>
              <a:rPr lang="fr-BE" dirty="0" err="1"/>
              <a:t>sem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	- travail temps plein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383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24037" y="224640"/>
            <a:ext cx="8229600" cy="1014394"/>
          </a:xfrm>
        </p:spPr>
        <p:txBody>
          <a:bodyPr>
            <a:normAutofit fontScale="90000"/>
          </a:bodyPr>
          <a:lstStyle/>
          <a:p>
            <a:pPr algn="r"/>
            <a:r>
              <a:rPr lang="fr-BE" b="1" dirty="0">
                <a:cs typeface="Times New Roman" pitchFamily="18" charset="0"/>
              </a:rPr>
              <a:t>5.3. </a:t>
            </a:r>
            <a:r>
              <a:rPr lang="fr-BE" b="1" i="1" dirty="0">
                <a:cs typeface="Times New Roman" pitchFamily="18" charset="0"/>
              </a:rPr>
              <a:t>Méthode de travail: Calcul </a:t>
            </a:r>
            <a:r>
              <a:rPr lang="fr-BE" b="1" i="1" dirty="0" err="1">
                <a:cs typeface="Times New Roman" pitchFamily="18" charset="0"/>
              </a:rPr>
              <a:t>Dmfa</a:t>
            </a:r>
            <a:endParaRPr lang="fr-FR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Les prestations à </a:t>
            </a:r>
            <a:r>
              <a:rPr lang="fr-BE" sz="3000" b="1" u="sng" dirty="0"/>
              <a:t>temps partiel </a:t>
            </a:r>
            <a:r>
              <a:rPr lang="fr-BE" sz="3000" dirty="0"/>
              <a:t>sont calculées sur base de la formule         </a:t>
            </a:r>
          </a:p>
          <a:p>
            <a:pPr lvl="1">
              <a:buNone/>
            </a:pP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                        </a:t>
            </a:r>
            <a:r>
              <a:rPr lang="en-GB" sz="3800" b="1" u="sng" dirty="0">
                <a:solidFill>
                  <a:schemeClr val="accent2">
                    <a:lumMod val="75000"/>
                  </a:schemeClr>
                </a:solidFill>
              </a:rPr>
              <a:t>(a x 6) x 2</a:t>
            </a:r>
            <a:r>
              <a:rPr lang="en-GB" sz="3800" b="1" dirty="0">
                <a:solidFill>
                  <a:schemeClr val="accent2">
                    <a:lumMod val="75000"/>
                  </a:schemeClr>
                </a:solidFill>
              </a:rPr>
              <a:t>                      </a:t>
            </a:r>
            <a:r>
              <a:rPr lang="en-GB" sz="38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3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fr-FR" sz="3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None/>
            </a:pPr>
            <a:r>
              <a:rPr lang="en-GB" sz="3800" b="1" dirty="0">
                <a:solidFill>
                  <a:schemeClr val="accent2">
                    <a:lumMod val="75000"/>
                  </a:schemeClr>
                </a:solidFill>
              </a:rPr>
              <a:t>			        	         S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None/>
            </a:pPr>
            <a:endParaRPr lang="en-GB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a = nombre d’heures de travail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S = le nombre normal moyen d’heures de travail par semaine de la personne de référence </a:t>
            </a:r>
          </a:p>
          <a:p>
            <a:pPr algn="ctr">
              <a:buSzPct val="80000"/>
              <a:buNone/>
            </a:pPr>
            <a:r>
              <a:rPr lang="fr-FR" sz="3000" b="1" i="1" dirty="0">
                <a:solidFill>
                  <a:schemeClr val="accent2">
                    <a:lumMod val="75000"/>
                  </a:schemeClr>
                </a:solidFill>
              </a:rPr>
              <a:t>Limitation à 78 ½ jours par trimestre </a:t>
            </a:r>
            <a:endParaRPr lang="fr-BE" sz="3000" b="1" i="1" dirty="0">
              <a:solidFill>
                <a:schemeClr val="accent2">
                  <a:lumMod val="75000"/>
                </a:schemeClr>
              </a:solidFill>
              <a:cs typeface="Times New Roman" pitchFamily="18" charset="0"/>
            </a:endParaRPr>
          </a:p>
          <a:p>
            <a:pPr marL="609600" indent="-609600">
              <a:lnSpc>
                <a:spcPct val="110000"/>
              </a:lnSpc>
              <a:buAutoNum type="arabicPeriod"/>
            </a:pPr>
            <a:endParaRPr lang="fr-BE" sz="2000" dirty="0">
              <a:cs typeface="Times New Roman" pitchFamily="18" charset="0"/>
            </a:endParaRPr>
          </a:p>
          <a:p>
            <a:pPr marL="609600" indent="-609600">
              <a:lnSpc>
                <a:spcPct val="110000"/>
              </a:lnSpc>
              <a:buAutoNum type="arabicPeriod"/>
            </a:pPr>
            <a:endParaRPr lang="fr-BE" sz="2000" dirty="0">
              <a:cs typeface="Times New Roman" pitchFamily="18" charset="0"/>
            </a:endParaRP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9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>
                <a:cs typeface="Times New Roman" pitchFamily="18" charset="0"/>
              </a:rPr>
              <a:t>5.3. </a:t>
            </a:r>
            <a:r>
              <a:rPr lang="fr-BE" b="1" i="1" dirty="0">
                <a:cs typeface="Times New Roman" pitchFamily="18" charset="0"/>
              </a:rPr>
              <a:t>Méthode de travail: Calcul </a:t>
            </a:r>
            <a:r>
              <a:rPr lang="fr-BE" b="1" i="1" dirty="0" err="1">
                <a:cs typeface="Times New Roman" pitchFamily="18" charset="0"/>
              </a:rPr>
              <a:t>Dmfa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/>
              <a:t>S’il s’agit de jours de travail d’un emploi à </a:t>
            </a:r>
            <a:r>
              <a:rPr lang="fr-FR" b="1" u="sng" dirty="0"/>
              <a:t>temps plein</a:t>
            </a:r>
            <a:r>
              <a:rPr lang="fr-FR" dirty="0"/>
              <a:t>, ceux-ci sont calculés de la même manière que pour le travailleur à temps plein :          </a:t>
            </a:r>
          </a:p>
          <a:p>
            <a:pPr>
              <a:buNone/>
            </a:pPr>
            <a:endParaRPr lang="fr-FR" sz="2800" dirty="0"/>
          </a:p>
          <a:p>
            <a:pPr>
              <a:buNone/>
            </a:pPr>
            <a:r>
              <a:rPr lang="fr-FR" sz="2800" dirty="0"/>
              <a:t>			                </a:t>
            </a:r>
            <a:r>
              <a:rPr lang="fr-FR" sz="3800" b="1" dirty="0">
                <a:solidFill>
                  <a:schemeClr val="accent2">
                    <a:lumMod val="75000"/>
                  </a:schemeClr>
                </a:solidFill>
              </a:rPr>
              <a:t>A X 6/R</a:t>
            </a:r>
          </a:p>
          <a:p>
            <a:pPr>
              <a:buNone/>
            </a:pPr>
            <a:endParaRPr lang="fr-FR" sz="2800" dirty="0"/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A = le nombre de jours de travail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R = le nombre de jours par semaine du régime du travail</a:t>
            </a:r>
            <a:endParaRPr lang="en-US" sz="2800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92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6. TTRV: application AR42 </a:t>
            </a:r>
            <a:endParaRPr lang="en-US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2" indent="-342900">
              <a:lnSpc>
                <a:spcPct val="90000"/>
              </a:lnSpc>
              <a:buSzPct val="80000"/>
              <a:buNone/>
            </a:pPr>
            <a:r>
              <a:rPr lang="fr-BE" sz="2600" b="1" i="1" dirty="0">
                <a:cs typeface="Times New Roman" pitchFamily="18" charset="0"/>
              </a:rPr>
              <a:t>Dispense de stage – AR 42 :</a:t>
            </a:r>
            <a:endParaRPr lang="fr-FR" sz="2600" b="1" i="1" dirty="0">
              <a:cs typeface="Times New Roman" pitchFamily="18" charset="0"/>
            </a:endParaRPr>
          </a:p>
          <a:p>
            <a:pPr marL="342900" lvl="2" indent="-342900">
              <a:lnSpc>
                <a:spcPct val="90000"/>
              </a:lnSpc>
              <a:buSzPct val="80000"/>
              <a:buFont typeface="Wingdings" pitchFamily="2" charset="2"/>
              <a:buChar char="§"/>
            </a:pPr>
            <a:r>
              <a:rPr lang="fr-FR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L’article 42 de l’AR s’applique intégralement </a:t>
            </a:r>
            <a:r>
              <a:rPr lang="fr-FR" dirty="0">
                <a:cs typeface="Times New Roman" pitchFamily="18" charset="0"/>
              </a:rPr>
              <a:t>au travailleur admis dans le régime du travailleur à temps partiel volontaire qui reprend le travail dans une nouvelle occupation à temps partiel. Cela implique que ce travailleur est </a:t>
            </a:r>
            <a:r>
              <a:rPr lang="fr-FR" b="1" dirty="0">
                <a:cs typeface="Times New Roman" pitchFamily="18" charset="0"/>
              </a:rPr>
              <a:t>automatiquement réadmis dans ce régime</a:t>
            </a:r>
            <a:r>
              <a:rPr lang="fr-FR" dirty="0">
                <a:cs typeface="Times New Roman" pitchFamily="18" charset="0"/>
              </a:rPr>
              <a:t>, qu’il ait ou non travaillé au moins 12 heures ou au moins 1/3 temps d’une occupation à temps plein   </a:t>
            </a:r>
          </a:p>
          <a:p>
            <a:pPr marL="342900" lvl="2" indent="-342900">
              <a:lnSpc>
                <a:spcPct val="90000"/>
              </a:lnSpc>
              <a:buSzPct val="80000"/>
              <a:buFont typeface="Wingdings" pitchFamily="2" charset="2"/>
              <a:buChar char="§"/>
            </a:pPr>
            <a:r>
              <a:rPr lang="fr-FR" dirty="0">
                <a:cs typeface="Times New Roman" pitchFamily="18" charset="0"/>
              </a:rPr>
              <a:t>Cela implique aussi qu’un chômeur qui, </a:t>
            </a:r>
            <a:r>
              <a:rPr lang="fr-FR" b="1" dirty="0">
                <a:cs typeface="Times New Roman" pitchFamily="18" charset="0"/>
              </a:rPr>
              <a:t>après une occupation à temps plein, n’est pas encore admissible</a:t>
            </a:r>
            <a:r>
              <a:rPr lang="fr-FR" dirty="0">
                <a:cs typeface="Times New Roman" pitchFamily="18" charset="0"/>
              </a:rPr>
              <a:t> en tant que travailleur à temps plein, </a:t>
            </a:r>
            <a:r>
              <a:rPr lang="fr-FR" b="1" dirty="0">
                <a:cs typeface="Times New Roman" pitchFamily="18" charset="0"/>
              </a:rPr>
              <a:t>conserve ses droits</a:t>
            </a:r>
            <a:r>
              <a:rPr lang="fr-FR" dirty="0">
                <a:cs typeface="Times New Roman" pitchFamily="18" charset="0"/>
              </a:rPr>
              <a:t> en tant que chômeur à temps partiel volontaire. </a:t>
            </a: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47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7. Code chiffré TTRV</a:t>
            </a:r>
            <a:endParaRPr lang="en-US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On tient compte de la rémunération moyenne perçue au cours de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dernière période ininterrompue d’au moins 4 semaines </a:t>
            </a:r>
            <a:r>
              <a:rPr lang="fr-BE" dirty="0"/>
              <a:t>d’occupation auprès du même employeur,</a:t>
            </a: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 défaut </a:t>
            </a:r>
            <a:r>
              <a:rPr lang="fr-BE" dirty="0"/>
              <a:t>d’une occupation ininterrompue d’au moins 4 semaines chez le même employeur, le code chiffré est </a:t>
            </a:r>
            <a:r>
              <a:rPr lang="fr-BE" b="1" dirty="0"/>
              <a:t>calculé sur base du salaire de référence.</a:t>
            </a: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66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7.1. Formules 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68551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fr-BE" sz="11200" b="1" dirty="0"/>
              <a:t>Si salaire horaire :</a:t>
            </a:r>
            <a:endParaRPr lang="fr-BE" sz="11200" dirty="0"/>
          </a:p>
          <a:p>
            <a:pPr lvl="1">
              <a:buNone/>
            </a:pPr>
            <a:r>
              <a:rPr lang="fr-BE" sz="11200" dirty="0"/>
              <a:t>Salaire journalier moyen  </a:t>
            </a:r>
            <a:r>
              <a:rPr lang="fr-BE" sz="11200" dirty="0">
                <a:solidFill>
                  <a:schemeClr val="accent2">
                    <a:lumMod val="75000"/>
                  </a:schemeClr>
                </a:solidFill>
              </a:rPr>
              <a:t>=  </a:t>
            </a:r>
            <a:r>
              <a:rPr lang="fr-BE" sz="11200" b="1" u="sng" dirty="0">
                <a:solidFill>
                  <a:schemeClr val="accent2">
                    <a:lumMod val="75000"/>
                  </a:schemeClr>
                </a:solidFill>
              </a:rPr>
              <a:t>Salaire horaire x S</a:t>
            </a:r>
            <a:r>
              <a:rPr lang="fr-BE" sz="11200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  <a:p>
            <a:pPr lvl="4">
              <a:buNone/>
            </a:pPr>
            <a:r>
              <a:rPr lang="fr-BE" sz="11200" b="1" dirty="0">
                <a:solidFill>
                  <a:schemeClr val="accent2">
                    <a:lumMod val="75000"/>
                  </a:schemeClr>
                </a:solidFill>
              </a:rPr>
              <a:t>    	                                    6</a:t>
            </a:r>
          </a:p>
          <a:p>
            <a:pPr lvl="4">
              <a:buNone/>
            </a:pPr>
            <a:endParaRPr lang="fr-BE" sz="5600" dirty="0"/>
          </a:p>
          <a:p>
            <a:pPr>
              <a:buFont typeface="Wingdings" pitchFamily="2" charset="2"/>
              <a:buChar char="§"/>
            </a:pPr>
            <a:r>
              <a:rPr lang="fr-BE" sz="11200" b="1" dirty="0"/>
              <a:t>Si salaire mensuel</a:t>
            </a:r>
            <a:r>
              <a:rPr lang="fr-BE" sz="11200" dirty="0"/>
              <a:t>:</a:t>
            </a:r>
          </a:p>
          <a:p>
            <a:pPr>
              <a:buNone/>
            </a:pPr>
            <a:r>
              <a:rPr lang="fr-BE" sz="11200" dirty="0"/>
              <a:t>   </a:t>
            </a:r>
            <a:r>
              <a:rPr lang="fr-BE" sz="11200" i="1" dirty="0"/>
              <a:t>Première étape </a:t>
            </a:r>
            <a:r>
              <a:rPr lang="fr-BE" sz="11200" dirty="0"/>
              <a:t>:  </a:t>
            </a:r>
          </a:p>
          <a:p>
            <a:pPr>
              <a:buNone/>
            </a:pPr>
            <a:r>
              <a:rPr lang="fr-BE" sz="11200" dirty="0"/>
              <a:t>	</a:t>
            </a:r>
            <a:r>
              <a:rPr lang="fr-BE" sz="9600" dirty="0"/>
              <a:t>Salaire horaire moyen = </a:t>
            </a:r>
          </a:p>
          <a:p>
            <a:pPr algn="ctr">
              <a:buNone/>
            </a:pPr>
            <a:r>
              <a:rPr lang="fr-BE" sz="9600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fr-BE" sz="11200" b="1" u="sng" dirty="0">
                <a:solidFill>
                  <a:schemeClr val="accent2">
                    <a:lumMod val="75000"/>
                  </a:schemeClr>
                </a:solidFill>
              </a:rPr>
              <a:t>salaire mensuel x 3</a:t>
            </a:r>
            <a:endParaRPr lang="fr-BE" sz="112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buNone/>
            </a:pPr>
            <a:r>
              <a:rPr lang="fr-BE" sz="11200" b="1" dirty="0">
                <a:solidFill>
                  <a:schemeClr val="accent2">
                    <a:lumMod val="75000"/>
                  </a:schemeClr>
                </a:solidFill>
              </a:rPr>
              <a:t> 13 x Q</a:t>
            </a:r>
            <a:endParaRPr lang="fr-BE" sz="112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BE" sz="11200" dirty="0"/>
              <a:t> </a:t>
            </a:r>
            <a:r>
              <a:rPr lang="fr-BE" sz="11200" i="1" dirty="0"/>
              <a:t>Deuxième étape </a:t>
            </a:r>
            <a:r>
              <a:rPr lang="fr-BE" sz="11200" dirty="0"/>
              <a:t>:   </a:t>
            </a:r>
          </a:p>
          <a:p>
            <a:pPr>
              <a:buNone/>
            </a:pPr>
            <a:r>
              <a:rPr lang="fr-BE" sz="11200" dirty="0"/>
              <a:t>	Salaire journalier moyen = </a:t>
            </a:r>
            <a:r>
              <a:rPr lang="fr-BE" sz="11200" b="1" u="sng" dirty="0">
                <a:solidFill>
                  <a:schemeClr val="accent2">
                    <a:lumMod val="75000"/>
                  </a:schemeClr>
                </a:solidFill>
              </a:rPr>
              <a:t>Salaire horaire x S </a:t>
            </a:r>
          </a:p>
          <a:p>
            <a:pPr>
              <a:buNone/>
            </a:pPr>
            <a:r>
              <a:rPr lang="fr-BE" sz="11200" b="1" dirty="0">
                <a:solidFill>
                  <a:schemeClr val="accent2">
                    <a:lumMod val="75000"/>
                  </a:schemeClr>
                </a:solidFill>
              </a:rPr>
              <a:t>			                                  	6           </a:t>
            </a:r>
            <a:r>
              <a:rPr lang="fr-BE" sz="8800" b="1" dirty="0">
                <a:solidFill>
                  <a:srgbClr val="C00000"/>
                </a:solidFill>
              </a:rPr>
              <a:t>	</a:t>
            </a:r>
          </a:p>
          <a:p>
            <a:pPr lvl="4">
              <a:buNone/>
            </a:pPr>
            <a:endParaRPr lang="fr-BE" dirty="0"/>
          </a:p>
          <a:p>
            <a:pPr lvl="4">
              <a:buNone/>
            </a:pPr>
            <a:endParaRPr lang="en-US" dirty="0"/>
          </a:p>
          <a:p>
            <a:pPr lvl="4">
              <a:buNone/>
            </a:pPr>
            <a:endParaRPr lang="en-US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89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7.2. Exemples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600" b="1" i="1" dirty="0"/>
              <a:t>Exemple 1 :</a:t>
            </a:r>
          </a:p>
          <a:p>
            <a:pPr>
              <a:buFont typeface="Wingdings" pitchFamily="2" charset="2"/>
              <a:buChar char="§"/>
            </a:pPr>
            <a:r>
              <a:rPr lang="fr-FR" sz="2600" i="1" dirty="0"/>
              <a:t>Une travailleuse demande des allocations le 08.11.2023. Elle a été licenciée le 07.11.2023 dans un emploi à temps partiel avec une fraction d'occupation de 25/38 et une rémunération horaire brute de 13,4654 €. </a:t>
            </a:r>
          </a:p>
          <a:p>
            <a:pPr>
              <a:buFont typeface="Wingdings" pitchFamily="2" charset="2"/>
              <a:buChar char="§"/>
            </a:pPr>
            <a:r>
              <a:rPr lang="fr-FR" sz="2600" i="1" dirty="0"/>
              <a:t>rémunération journalière moyenne </a:t>
            </a:r>
          </a:p>
          <a:p>
            <a:pPr lvl="1">
              <a:buNone/>
            </a:pPr>
            <a:r>
              <a:rPr lang="fr-FR" sz="2600" i="1" dirty="0"/>
              <a:t>  = salaire horaire x S/6 </a:t>
            </a:r>
          </a:p>
          <a:p>
            <a:pPr lvl="1">
              <a:buNone/>
            </a:pPr>
            <a:r>
              <a:rPr lang="fr-FR" sz="2600" i="1" dirty="0"/>
              <a:t>  = 13,4654 x 38/6 =  85,2809</a:t>
            </a:r>
            <a:r>
              <a:rPr lang="fr-FR" sz="2600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 </a:t>
            </a:r>
            <a:r>
              <a:rPr lang="fr-FR" sz="2600" b="1" i="1" dirty="0">
                <a:solidFill>
                  <a:schemeClr val="accent2">
                    <a:lumMod val="75000"/>
                  </a:schemeClr>
                </a:solidFill>
              </a:rPr>
              <a:t>code chiffré 47</a:t>
            </a:r>
            <a:endParaRPr lang="en-US" sz="2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1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7.2. Exemples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b="1" i="1" dirty="0"/>
              <a:t>Exemple 2 :</a:t>
            </a:r>
          </a:p>
          <a:p>
            <a:pPr>
              <a:buFont typeface="Wingdings" pitchFamily="2" charset="2"/>
              <a:buChar char="§"/>
            </a:pPr>
            <a:r>
              <a:rPr lang="fr-FR" i="1" dirty="0"/>
              <a:t>Un travailleur est occupé dans le cadre d’un régime de travail à temps partiel (Q/S = 18/38). Il reçoit un salaire mensuel brut de 1288,46€/mois . </a:t>
            </a:r>
          </a:p>
          <a:p>
            <a:pPr>
              <a:buFont typeface="Wingdings" pitchFamily="2" charset="2"/>
              <a:buChar char="§"/>
            </a:pPr>
            <a:r>
              <a:rPr lang="fr-FR" i="1" dirty="0"/>
              <a:t>Il introduit une demande d’allocations le 08.11.2023 </a:t>
            </a:r>
          </a:p>
          <a:p>
            <a:pPr>
              <a:buNone/>
            </a:pPr>
            <a:r>
              <a:rPr lang="fr-FR" i="1" dirty="0"/>
              <a:t>	 </a:t>
            </a:r>
            <a:r>
              <a:rPr lang="fr-FR" sz="3100" i="1" dirty="0"/>
              <a:t>1</a:t>
            </a:r>
            <a:r>
              <a:rPr lang="fr-FR" sz="3100" i="1" baseline="30000" dirty="0"/>
              <a:t>ère</a:t>
            </a:r>
            <a:r>
              <a:rPr lang="fr-FR" sz="3100" i="1" dirty="0"/>
              <a:t> étape : salaire horaire :</a:t>
            </a:r>
          </a:p>
          <a:p>
            <a:pPr>
              <a:buNone/>
            </a:pPr>
            <a:r>
              <a:rPr lang="fr-FR" sz="3100" i="1" dirty="0"/>
              <a:t>	                    </a:t>
            </a:r>
            <a:r>
              <a:rPr lang="fr-FR" sz="3100" i="1" u="sng" dirty="0"/>
              <a:t>1288,46 x 3 </a:t>
            </a:r>
            <a:r>
              <a:rPr lang="fr-FR" sz="3100" i="1" dirty="0"/>
              <a:t> = 16,5187</a:t>
            </a:r>
          </a:p>
          <a:p>
            <a:pPr>
              <a:buNone/>
            </a:pPr>
            <a:r>
              <a:rPr lang="fr-FR" sz="3100" i="1" dirty="0"/>
              <a:t>                               13 x 18</a:t>
            </a:r>
          </a:p>
          <a:p>
            <a:pPr>
              <a:buNone/>
            </a:pPr>
            <a:endParaRPr lang="fr-FR" sz="2400" i="1" dirty="0"/>
          </a:p>
          <a:p>
            <a:pPr>
              <a:buNone/>
            </a:pPr>
            <a:r>
              <a:rPr lang="fr-FR" sz="2400" i="1" dirty="0"/>
              <a:t>	</a:t>
            </a:r>
            <a:r>
              <a:rPr lang="fr-FR" sz="3100" i="1" dirty="0"/>
              <a:t>2</a:t>
            </a:r>
            <a:r>
              <a:rPr lang="fr-FR" sz="3100" i="1" baseline="30000" dirty="0"/>
              <a:t>ème</a:t>
            </a:r>
            <a:r>
              <a:rPr lang="fr-FR" sz="3100" i="1" dirty="0"/>
              <a:t> étape : salaire journalier:</a:t>
            </a:r>
          </a:p>
          <a:p>
            <a:pPr>
              <a:buNone/>
            </a:pPr>
            <a:r>
              <a:rPr lang="fr-FR" sz="3100" i="1" dirty="0"/>
              <a:t>                        </a:t>
            </a:r>
            <a:r>
              <a:rPr lang="fr-FR" sz="3100" i="1" u="sng" dirty="0"/>
              <a:t>16,5187 x 38</a:t>
            </a:r>
            <a:r>
              <a:rPr lang="fr-FR" sz="3100" i="1" dirty="0"/>
              <a:t> = 104,6184</a:t>
            </a:r>
            <a:endParaRPr lang="fr-FR" sz="3100" i="1" u="sng" dirty="0"/>
          </a:p>
          <a:p>
            <a:pPr marL="0" indent="0">
              <a:buNone/>
            </a:pPr>
            <a:r>
              <a:rPr lang="fr-BE" sz="3100" i="1" dirty="0"/>
              <a:t>	                     6 </a:t>
            </a:r>
          </a:p>
          <a:p>
            <a:pPr marL="0" indent="0">
              <a:buNone/>
            </a:pPr>
            <a:r>
              <a:rPr lang="fr-BE" sz="31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fr-BE" sz="3100" b="1" i="1" dirty="0">
                <a:solidFill>
                  <a:schemeClr val="accent2">
                    <a:lumMod val="75000"/>
                  </a:schemeClr>
                </a:solidFill>
              </a:rPr>
              <a:t> Code chiffré 61</a:t>
            </a:r>
            <a:endParaRPr lang="en-US" sz="31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50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7.3. Révision du code chiffré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FR" sz="2800" dirty="0"/>
              <a:t>Les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mêmes principes que pour le travailleur à temps plein</a:t>
            </a:r>
            <a:r>
              <a:rPr lang="fr-FR" sz="2800" dirty="0"/>
              <a:t> sont ici d'application : </a:t>
            </a:r>
          </a:p>
          <a:p>
            <a:pPr marL="357188" indent="0">
              <a:buNone/>
            </a:pPr>
            <a:r>
              <a:rPr lang="fr-FR" sz="2800" u="sng" dirty="0"/>
              <a:t>Principe général</a:t>
            </a:r>
            <a:r>
              <a:rPr lang="fr-FR" sz="2800" dirty="0"/>
              <a:t>: En cas de chômage complet, le code chiffré reste</a:t>
            </a:r>
            <a:r>
              <a:rPr lang="fr-FR" sz="2800" b="1" dirty="0"/>
              <a:t> </a:t>
            </a:r>
            <a:r>
              <a:rPr lang="fr-FR" sz="2800" dirty="0"/>
              <a:t>maintenu pendant toute la durée du chômage. </a:t>
            </a:r>
          </a:p>
          <a:p>
            <a:pPr marL="357188" indent="0">
              <a:buNone/>
            </a:pPr>
            <a:r>
              <a:rPr lang="fr-FR" sz="2800" u="sng" dirty="0"/>
              <a:t>Exception</a:t>
            </a:r>
            <a:r>
              <a:rPr lang="fr-FR" sz="2800" dirty="0"/>
              <a:t>: Il est toutefois révisé après une interruption du chômage de 24 mois au moins avec une reprise de travail d’au moins 4 semaines consécutives chez le même employeur (sauf si 45 ans ou plus à la date d’entrée en service)</a:t>
            </a:r>
          </a:p>
          <a:p>
            <a:endParaRPr lang="en-US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70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8. Régime d’indemnisation: facteur N </a:t>
            </a:r>
            <a:endParaRPr lang="en-US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En chômage complet, le TTRV bénéficie de ½ allocation: ce nombre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½ allocation « n » </a:t>
            </a:r>
            <a:r>
              <a:rPr lang="fr-BE" dirty="0"/>
              <a:t>est obtenu suivant la formule:</a:t>
            </a:r>
          </a:p>
          <a:p>
            <a:pPr marL="0" indent="0" algn="ctr">
              <a:buNone/>
            </a:pPr>
            <a:r>
              <a:rPr lang="fr-BE" sz="4800" b="1" u="sng" dirty="0">
                <a:solidFill>
                  <a:schemeClr val="accent2">
                    <a:lumMod val="75000"/>
                  </a:schemeClr>
                </a:solidFill>
              </a:rPr>
              <a:t>Q x 12</a:t>
            </a:r>
          </a:p>
          <a:p>
            <a:pPr marL="0" indent="0" algn="ctr">
              <a:buNone/>
            </a:pPr>
            <a:r>
              <a:rPr lang="fr-BE" sz="48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  <a:p>
            <a:pPr marL="0" indent="0">
              <a:buNone/>
            </a:pPr>
            <a:r>
              <a:rPr lang="fr-BE" sz="2400" dirty="0"/>
              <a:t>Le résultat obtenu est arrondi comme suit :</a:t>
            </a:r>
          </a:p>
          <a:p>
            <a:pPr marL="0" indent="0">
              <a:buNone/>
            </a:pPr>
            <a:r>
              <a:rPr lang="fr-BE" sz="2400" dirty="0"/>
              <a:t>De 0,01 à 0,49 = 0</a:t>
            </a:r>
          </a:p>
          <a:p>
            <a:pPr marL="0" indent="0">
              <a:buNone/>
            </a:pPr>
            <a:r>
              <a:rPr lang="fr-BE" sz="2400" dirty="0"/>
              <a:t>De 0,50 à 0,99 = 1</a:t>
            </a:r>
          </a:p>
          <a:p>
            <a:pPr marL="0" indent="0">
              <a:buNone/>
            </a:pPr>
            <a:endParaRPr lang="fr-BE" sz="2000" dirty="0"/>
          </a:p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848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8. Régime d’indemnisation : facteur N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FR" sz="2800" dirty="0"/>
              <a:t>Le nombre de demi-allocations obtenu est réparti comme suit sur les jours de la semaine: </a:t>
            </a:r>
          </a:p>
          <a:p>
            <a:pPr>
              <a:buNone/>
            </a:pPr>
            <a:endParaRPr lang="fr-FR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En </a:t>
            </a:r>
            <a:r>
              <a:rPr lang="fr-FR" b="1" dirty="0"/>
              <a:t>commençant par le lundi</a:t>
            </a:r>
            <a:r>
              <a:rPr lang="fr-FR" dirty="0"/>
              <a:t>, on octroie une demi-allocation pour chaque jour, hormis le dimanche;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Si « n » &gt; 6</a:t>
            </a:r>
            <a:r>
              <a:rPr lang="fr-FR" dirty="0"/>
              <a:t>, les demi-allocations restantes sont </a:t>
            </a:r>
            <a:r>
              <a:rPr lang="fr-FR" b="1" dirty="0"/>
              <a:t>à nouveau redistribuées à partir du lundi </a:t>
            </a:r>
            <a:r>
              <a:rPr lang="fr-FR" dirty="0"/>
              <a:t>de la même semaine. </a:t>
            </a:r>
          </a:p>
          <a:p>
            <a:endParaRPr lang="en-US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1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8. Régime d’indemnisation : facteur N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endParaRPr lang="fr-FR" sz="3300" dirty="0"/>
          </a:p>
          <a:p>
            <a:pPr>
              <a:buFont typeface="Wingdings" pitchFamily="2" charset="2"/>
              <a:buChar char="§"/>
            </a:pPr>
            <a:r>
              <a:rPr lang="fr-FR" sz="3300" dirty="0"/>
              <a:t>Un travailleur a droit à 8 demi-allocations :  </a:t>
            </a:r>
          </a:p>
          <a:p>
            <a:pPr>
              <a:buNone/>
            </a:pPr>
            <a:r>
              <a:rPr lang="fr-FR" sz="3300" dirty="0"/>
              <a:t>	Sur la C2 ONEm, le régime d’indemnisation apparaît comme suit : </a:t>
            </a:r>
          </a:p>
          <a:p>
            <a:pPr>
              <a:buNone/>
            </a:pPr>
            <a:r>
              <a:rPr lang="fr-FR" sz="3300" dirty="0"/>
              <a:t>	</a:t>
            </a:r>
            <a:r>
              <a:rPr lang="fr-FR" sz="3300" u="sng" dirty="0"/>
              <a:t>D  L M  M  J  V  S </a:t>
            </a:r>
            <a:endParaRPr lang="fr-FR" sz="3300" dirty="0"/>
          </a:p>
          <a:p>
            <a:pPr>
              <a:buNone/>
            </a:pPr>
            <a:r>
              <a:rPr lang="fr-FR" sz="3300" dirty="0"/>
              <a:t>         2  2  1   1  1  1 </a:t>
            </a:r>
          </a:p>
          <a:p>
            <a:pPr>
              <a:buNone/>
            </a:pPr>
            <a:endParaRPr lang="fr-FR" sz="3300" dirty="0"/>
          </a:p>
          <a:p>
            <a:pPr>
              <a:buFont typeface="Wingdings" pitchFamily="2" charset="2"/>
              <a:buChar char="§"/>
            </a:pPr>
            <a:r>
              <a:rPr lang="fr-FR" sz="3300" dirty="0"/>
              <a:t>Celui-ci devra être encodé dans la zone prévue du S13.</a:t>
            </a:r>
          </a:p>
          <a:p>
            <a:pPr marL="457200" lvl="1" indent="0">
              <a:buNone/>
            </a:pPr>
            <a:r>
              <a:rPr lang="fr-FR" sz="2900" dirty="0">
                <a:sym typeface="Wingdings" panose="05000000000000000000" pitchFamily="2" charset="2"/>
              </a:rPr>
              <a:t></a:t>
            </a:r>
            <a:r>
              <a:rPr lang="fr-FR" sz="2900" dirty="0"/>
              <a:t> Dans HZ </a:t>
            </a:r>
            <a:r>
              <a:rPr lang="fr-FR" sz="2900" dirty="0" err="1"/>
              <a:t>cfr</a:t>
            </a:r>
            <a:r>
              <a:rPr lang="fr-FR" sz="2900" dirty="0"/>
              <a:t> vérité : </a:t>
            </a:r>
            <a:r>
              <a:rPr lang="fr-FR" sz="2900" b="1" dirty="0"/>
              <a:t>admissibilité (barèmes)</a:t>
            </a:r>
            <a:br>
              <a:rPr lang="fr-FR" b="1" u="sng" dirty="0"/>
            </a:br>
            <a:endParaRPr lang="en-US" b="1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4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8. Régime d’indemnisation : facteur N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5100" b="1" i="1" u="sng" dirty="0">
                <a:latin typeface="Arial" panose="020B0604020202020204" pitchFamily="34" charset="0"/>
                <a:ea typeface="Times New Roman" panose="02020603050405020304" pitchFamily="18" charset="0"/>
              </a:rPr>
              <a:t>Exemples</a:t>
            </a:r>
            <a:r>
              <a:rPr lang="fr-FR" sz="51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endParaRPr lang="fr-BE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4200" i="1" dirty="0">
                <a:latin typeface="Arial" panose="020B0604020202020204" pitchFamily="34" charset="0"/>
                <a:ea typeface="Times New Roman" panose="02020603050405020304" pitchFamily="18" charset="0"/>
              </a:rPr>
              <a:t>Fraction d’occupation Q/S = 24/38</a:t>
            </a:r>
            <a:endParaRPr lang="fr-BE" sz="4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3400" i="1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FR" sz="3400" i="1" dirty="0">
                <a:latin typeface="Arial" panose="020B0604020202020204" pitchFamily="34" charset="0"/>
                <a:ea typeface="Times New Roman" panose="02020603050405020304" pitchFamily="18" charset="0"/>
              </a:rPr>
              <a:t>Nombre de ½ allocations = 12*24/38 = 7,5789	 =&gt; </a:t>
            </a:r>
            <a:r>
              <a:rPr lang="fr-FR" sz="42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facteur N = 8</a:t>
            </a:r>
            <a:endParaRPr lang="fr-BE" sz="5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spcBef>
                <a:spcPts val="600"/>
              </a:spcBef>
              <a:buNone/>
            </a:pPr>
            <a:r>
              <a:rPr lang="fr-FR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fr-FR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Régime d’indemnisation :  </a:t>
            </a:r>
            <a:r>
              <a:rPr lang="fr-FR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  L  M  </a:t>
            </a:r>
            <a:r>
              <a:rPr lang="fr-FR" sz="3400" i="1" u="sng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FR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J  V  S  </a:t>
            </a:r>
          </a:p>
          <a:p>
            <a:pPr marL="0" lvl="0" indent="0" algn="just" defTabSz="955675">
              <a:spcBef>
                <a:spcPts val="600"/>
              </a:spcBef>
              <a:buNone/>
            </a:pPr>
            <a:r>
              <a:rPr lang="fr-FR" sz="34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			</a:t>
            </a:r>
            <a:r>
              <a:rPr lang="fr-FR" sz="34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2   2   1  1   1  1</a:t>
            </a:r>
            <a:endParaRPr lang="fr-BE" sz="5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endParaRPr lang="fr-BE" sz="1800" i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BE" sz="4200" i="1" dirty="0">
                <a:latin typeface="Arial" panose="020B0604020202020204" pitchFamily="34" charset="0"/>
                <a:ea typeface="Times New Roman" panose="02020603050405020304" pitchFamily="18" charset="0"/>
              </a:rPr>
              <a:t>Fraction d’occupation Q/S = 15/36</a:t>
            </a:r>
            <a:endParaRPr lang="fr-BE" sz="4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5100" i="1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</a:rPr>
              <a:t>Nombre de ½ allocations = 12*15/36 = 5 	=&gt; </a:t>
            </a:r>
            <a:r>
              <a:rPr lang="fr-BE" sz="42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facteur N = 5</a:t>
            </a:r>
            <a:endParaRPr lang="fr-BE" sz="4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spcBef>
                <a:spcPts val="600"/>
              </a:spcBef>
              <a:buNone/>
            </a:pP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Régime d’indemnisation : </a:t>
            </a:r>
            <a:r>
              <a:rPr lang="fr-BE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  L  M  </a:t>
            </a:r>
            <a:r>
              <a:rPr lang="fr-BE" sz="3400" i="1" u="sng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BE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J  V  S</a:t>
            </a:r>
            <a:endParaRPr lang="fr-BE" sz="51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>
              <a:spcBef>
                <a:spcPts val="600"/>
              </a:spcBef>
              <a:buNone/>
            </a:pPr>
            <a:r>
              <a:rPr lang="fr-BE" sz="51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			</a:t>
            </a:r>
            <a:r>
              <a:rPr lang="fr-BE" sz="51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BE" sz="34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1  1   1   1  1  0</a:t>
            </a:r>
            <a:endParaRPr lang="fr-BE" sz="5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endParaRPr lang="fr-BE" sz="1500" i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BE" sz="4200" i="1" dirty="0">
                <a:latin typeface="Arial" panose="020B0604020202020204" pitchFamily="34" charset="0"/>
                <a:ea typeface="Times New Roman" panose="02020603050405020304" pitchFamily="18" charset="0"/>
              </a:rPr>
              <a:t>Fraction d’occupation Q/S = 24/39</a:t>
            </a:r>
            <a:endParaRPr lang="fr-BE" sz="4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</a:rPr>
              <a:t>Nombre de ½ allocations = 12*24/39 =7,3846 	=&gt; </a:t>
            </a:r>
            <a:r>
              <a:rPr lang="fr-BE" sz="42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facteur N = 7 </a:t>
            </a:r>
            <a:endParaRPr lang="fr-BE" sz="5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Régime d’indemnisation  </a:t>
            </a:r>
            <a:r>
              <a:rPr lang="fr-BE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  L  M  </a:t>
            </a:r>
            <a:r>
              <a:rPr lang="fr-BE" sz="3400" i="1" u="sng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BE" sz="3400" i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J  V  S</a:t>
            </a: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BE" sz="51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1430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fr-BE" sz="3400" i="1" dirty="0"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	</a:t>
            </a:r>
            <a:r>
              <a:rPr lang="fr-BE" sz="3400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fr-BE" sz="34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2  1   1   1  1  1 </a:t>
            </a:r>
            <a:endParaRPr lang="fr-BE" sz="4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55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dirty="0"/>
              <a:t>9. </a:t>
            </a:r>
            <a:r>
              <a:rPr lang="fr-BE" b="1" i="1" dirty="0">
                <a:cs typeface="Times New Roman" pitchFamily="18" charset="0"/>
              </a:rPr>
              <a:t>Introduction du dossier et délais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72"/>
              </a:spcBef>
              <a:buSzPct val="80000"/>
              <a:buFont typeface="Wingdings" panose="05000000000000000000" pitchFamily="2" charset="2"/>
              <a:buChar char="§"/>
            </a:pPr>
            <a:r>
              <a:rPr lang="fr-BE" sz="3500" dirty="0"/>
              <a:t>Le dossier est introduit via un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script 1.1</a:t>
            </a:r>
          </a:p>
          <a:p>
            <a:pPr marL="0" indent="0">
              <a:spcBef>
                <a:spcPts val="672"/>
              </a:spcBef>
              <a:buSzPct val="80000"/>
              <a:buNone/>
            </a:pPr>
            <a:endParaRPr lang="fr-BE" b="1" dirty="0">
              <a:solidFill>
                <a:srgbClr val="C00000"/>
              </a:solidFill>
            </a:endParaRPr>
          </a:p>
          <a:p>
            <a:pPr>
              <a:spcBef>
                <a:spcPts val="672"/>
              </a:spcBef>
              <a:buSzPct val="80000"/>
              <a:buFont typeface="Wingdings" panose="05000000000000000000" pitchFamily="2" charset="2"/>
              <a:buChar char="§"/>
            </a:pPr>
            <a:r>
              <a:rPr lang="fr-BE" sz="3500" dirty="0"/>
              <a:t>Le dossier CC doit être à l’ONEm </a:t>
            </a:r>
            <a:r>
              <a:rPr lang="fr-BE" sz="3500" b="1" i="1" dirty="0">
                <a:solidFill>
                  <a:schemeClr val="accent2">
                    <a:lumMod val="75000"/>
                  </a:schemeClr>
                </a:solidFill>
              </a:rPr>
              <a:t>dans les 2 mois à dater du lendemain de la D.A</a:t>
            </a:r>
            <a:endParaRPr lang="fr-BE" sz="35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spcBef>
                <a:spcPts val="672"/>
              </a:spcBef>
              <a:buSzPct val="80000"/>
              <a:buNone/>
            </a:pPr>
            <a:endParaRPr lang="fr-BE" sz="3500" dirty="0">
              <a:sym typeface="Wingdings" panose="05000000000000000000" pitchFamily="2" charset="2"/>
            </a:endParaRPr>
          </a:p>
          <a:p>
            <a:pPr>
              <a:spcBef>
                <a:spcPts val="672"/>
              </a:spcBef>
              <a:buSzPct val="80000"/>
              <a:buFont typeface="Wingdings" panose="05000000000000000000" pitchFamily="2" charset="2"/>
              <a:buChar char="§"/>
            </a:pP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Art 92§5 applicable</a:t>
            </a:r>
            <a:r>
              <a:rPr lang="fr-BE" sz="3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500" dirty="0"/>
              <a:t>pour prolongation du délai</a:t>
            </a:r>
          </a:p>
          <a:p>
            <a:pPr marL="0" indent="0">
              <a:spcBef>
                <a:spcPts val="672"/>
              </a:spcBef>
              <a:buSzPct val="80000"/>
              <a:buNone/>
            </a:pPr>
            <a:endParaRPr lang="fr-BE" sz="3500" dirty="0"/>
          </a:p>
          <a:p>
            <a:pPr>
              <a:spcBef>
                <a:spcPts val="672"/>
              </a:spcBef>
              <a:buSzPct val="80000"/>
              <a:buNone/>
            </a:pPr>
            <a:r>
              <a:rPr lang="fr-BE" sz="3000" dirty="0"/>
              <a:t>	</a:t>
            </a:r>
            <a:endParaRPr lang="fr-FR" sz="2800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33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FR" b="1" i="1" dirty="0"/>
              <a:t>10. Statut TTPV et reprise de travail</a:t>
            </a:r>
            <a:endParaRPr lang="en-US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FR" sz="2800" dirty="0"/>
              <a:t>Un travailleur à temps partiel volontaire </a:t>
            </a:r>
            <a:r>
              <a:rPr lang="fr-FR" sz="2800" b="1" u="sng" dirty="0"/>
              <a:t>peut continuer à bénéficier d’allocations de chômage </a:t>
            </a:r>
            <a:r>
              <a:rPr lang="fr-FR" sz="2800" dirty="0"/>
              <a:t>pendant toute la période de la reprise du travail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Le travailleur peut choisir entre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2 hypothèses</a:t>
            </a:r>
            <a:r>
              <a:rPr lang="fr-FR" sz="2800" dirty="0"/>
              <a:t>:  </a:t>
            </a:r>
          </a:p>
          <a:p>
            <a:pPr marL="0" indent="0">
              <a:buNone/>
            </a:pPr>
            <a:endParaRPr lang="fr-FR" sz="1500" dirty="0"/>
          </a:p>
          <a:p>
            <a:pPr marL="0" indent="0">
              <a:buNone/>
            </a:pPr>
            <a:r>
              <a:rPr lang="fr-FR" sz="2800" dirty="0">
                <a:sym typeface="Wingdings" panose="05000000000000000000" pitchFamily="2" charset="2"/>
              </a:rPr>
              <a:t> </a:t>
            </a:r>
            <a:r>
              <a:rPr lang="fr-FR" sz="2800" dirty="0"/>
              <a:t> maintenir son indemnisation via sa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carte C3 ou EC3</a:t>
            </a:r>
          </a:p>
          <a:p>
            <a:pPr marL="0" indent="0">
              <a:buNone/>
            </a:pPr>
            <a:r>
              <a:rPr lang="fr-FR" sz="2800" dirty="0"/>
              <a:t>	ou</a:t>
            </a:r>
          </a:p>
          <a:p>
            <a:pPr marL="0" indent="0">
              <a:buNone/>
            </a:pPr>
            <a:r>
              <a:rPr lang="fr-FR" sz="2800" dirty="0">
                <a:sym typeface="Wingdings" panose="05000000000000000000" pitchFamily="2" charset="2"/>
              </a:rPr>
              <a:t>  demander l’ </a:t>
            </a:r>
            <a:r>
              <a:rPr lang="fr-FR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llocation de </a:t>
            </a:r>
            <a:r>
              <a:rPr lang="fr-FR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G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arantie de </a:t>
            </a:r>
            <a:r>
              <a:rPr lang="fr-FR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R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evenus</a:t>
            </a:r>
          </a:p>
          <a:p>
            <a:pPr marL="0" indent="0">
              <a:buNone/>
            </a:pPr>
            <a:endParaRPr lang="fr-FR" sz="15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sz="2800" dirty="0">
                <a:sym typeface="Wingdings" panose="05000000000000000000" pitchFamily="2" charset="2"/>
              </a:rPr>
              <a:t>Ce choix est valable au début de l’occupation ou au cours d’occupation mais le passage de l’un à l’autre est possible uniquement au 1</a:t>
            </a:r>
            <a:r>
              <a:rPr lang="fr-FR" sz="2800" baseline="30000" dirty="0">
                <a:sym typeface="Wingdings" panose="05000000000000000000" pitchFamily="2" charset="2"/>
              </a:rPr>
              <a:t>er </a:t>
            </a:r>
            <a:r>
              <a:rPr lang="fr-FR" sz="2800" dirty="0">
                <a:sym typeface="Wingdings" panose="05000000000000000000" pitchFamily="2" charset="2"/>
              </a:rPr>
              <a:t>jour du mois  </a:t>
            </a:r>
            <a:endParaRPr lang="fr-FR" sz="2800" dirty="0"/>
          </a:p>
          <a:p>
            <a:pPr>
              <a:buNone/>
            </a:pPr>
            <a:r>
              <a:rPr lang="fr-FR" sz="2800" b="1" i="1" dirty="0">
                <a:solidFill>
                  <a:srgbClr val="C00000"/>
                </a:solidFill>
              </a:rPr>
              <a:t>	</a:t>
            </a: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8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400" u="sng" dirty="0"/>
              <a:t>1</a:t>
            </a:r>
            <a:r>
              <a:rPr lang="fr-FR" sz="2400" u="sng" baseline="30000" dirty="0"/>
              <a:t>er</a:t>
            </a:r>
            <a:r>
              <a:rPr lang="fr-FR" sz="2400" u="sng" dirty="0"/>
              <a:t> hypothèse</a:t>
            </a:r>
            <a:r>
              <a:rPr lang="fr-FR" sz="2400" dirty="0"/>
              <a:t>:  Choix C3A ou EC3 </a:t>
            </a:r>
            <a:r>
              <a:rPr lang="fr-FR" sz="2400" dirty="0">
                <a:sym typeface="Wingdings" panose="05000000000000000000" pitchFamily="2" charset="2"/>
              </a:rPr>
              <a:t> dans ce cas</a:t>
            </a:r>
            <a:r>
              <a:rPr lang="fr-FR" sz="2400" dirty="0"/>
              <a:t>, le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nombre de demi-allocations</a:t>
            </a:r>
            <a:r>
              <a:rPr lang="fr-FR" sz="2400" b="1" dirty="0">
                <a:solidFill>
                  <a:srgbClr val="C00000"/>
                </a:solidFill>
              </a:rPr>
              <a:t> </a:t>
            </a:r>
            <a:r>
              <a:rPr lang="fr-FR" sz="2400" dirty="0"/>
              <a:t>auquel le travailleur aurait normalement droit pour le mois considéré est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diminué de </a:t>
            </a:r>
            <a:r>
              <a:rPr lang="fr-FR" sz="2400" dirty="0">
                <a:solidFill>
                  <a:srgbClr val="C00000"/>
                </a:solidFill>
              </a:rPr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400" b="1" u="sng" dirty="0">
                <a:solidFill>
                  <a:schemeClr val="accent2">
                    <a:lumMod val="75000"/>
                  </a:schemeClr>
                </a:solidFill>
              </a:rPr>
              <a:t>2 demi-allocations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dirty="0"/>
              <a:t>pour: </a:t>
            </a:r>
          </a:p>
          <a:p>
            <a:pPr lvl="1">
              <a:buFont typeface="Wingdings" pitchFamily="2" charset="2"/>
              <a:buChar char="§"/>
            </a:pPr>
            <a:r>
              <a:rPr lang="fr-FR" sz="2400" dirty="0"/>
              <a:t>Chaque jour de travail salarié, travail occasionnel pour son propre compte ou pour le compte de tiers.</a:t>
            </a:r>
          </a:p>
          <a:p>
            <a:pPr lvl="1">
              <a:buFont typeface="Wingdings" pitchFamily="2" charset="2"/>
              <a:buChar char="§"/>
            </a:pPr>
            <a:r>
              <a:rPr lang="fr-FR" sz="2400" dirty="0"/>
              <a:t>Les jours fériés payés par l’employeur, situés ou non pendant une occupation. </a:t>
            </a:r>
          </a:p>
          <a:p>
            <a:pPr lvl="1">
              <a:buFont typeface="Wingdings" pitchFamily="2" charset="2"/>
              <a:buChar char="§"/>
            </a:pPr>
            <a:r>
              <a:rPr lang="fr-FR" sz="2400" dirty="0"/>
              <a:t>Tous les samedis qui sont assimilé à </a:t>
            </a:r>
            <a:r>
              <a:rPr lang="fr-FR" sz="2400" b="1" dirty="0"/>
              <a:t>une journée </a:t>
            </a:r>
            <a:r>
              <a:rPr lang="fr-FR" sz="2400" dirty="0"/>
              <a:t>non indemnisable. </a:t>
            </a:r>
            <a:r>
              <a:rPr lang="fr-FR" sz="2400" b="1" i="1" dirty="0"/>
              <a:t>( cf. AM21)</a:t>
            </a:r>
          </a:p>
          <a:p>
            <a:pPr>
              <a:buFont typeface="Wingdings" pitchFamily="2" charset="2"/>
              <a:buChar char="§"/>
            </a:pPr>
            <a:r>
              <a:rPr lang="fr-FR" sz="2400" b="1" u="sng" dirty="0">
                <a:solidFill>
                  <a:schemeClr val="accent2">
                    <a:lumMod val="75000"/>
                  </a:schemeClr>
                </a:solidFill>
              </a:rPr>
              <a:t>1 demi-allocation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dirty="0"/>
              <a:t>pour tous les samedis qui sont assimilés à </a:t>
            </a:r>
            <a:r>
              <a:rPr lang="fr-FR" sz="2400" b="1" dirty="0"/>
              <a:t>une demi-journée </a:t>
            </a:r>
            <a:r>
              <a:rPr lang="fr-FR" sz="2400" dirty="0"/>
              <a:t>non indemnisable. 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3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FR" sz="4000" b="1" i="1" dirty="0"/>
              <a:t>10.1. Reprise de travail avec C3A/EC3</a:t>
            </a:r>
            <a:endParaRPr lang="en-US" sz="4000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dirty="0"/>
              <a:t>	</a:t>
            </a:r>
          </a:p>
          <a:p>
            <a:pPr>
              <a:buNone/>
            </a:pPr>
            <a:r>
              <a:rPr lang="fr-BE" dirty="0"/>
              <a:t>	Si le chômeur n’a pas reçu d’allocations pour le mois précédent en tant que chômeur complet, on ne tient pas compte des jours de reprise du travail ou des samedis situés </a:t>
            </a:r>
            <a:r>
              <a:rPr lang="fr-BE" b="1" dirty="0"/>
              <a:t>avant</a:t>
            </a:r>
            <a:r>
              <a:rPr lang="fr-BE" dirty="0"/>
              <a:t> </a:t>
            </a:r>
            <a:r>
              <a:rPr lang="fr-BE" b="1" dirty="0"/>
              <a:t>le premier jour indemnisable</a:t>
            </a:r>
            <a:r>
              <a:rPr lang="fr-BE" dirty="0"/>
              <a:t> du mois considéré. </a:t>
            </a:r>
            <a:endParaRPr lang="fr-FR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8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Méthode pour le calcul du nombre de ½ allocations</a:t>
            </a:r>
          </a:p>
          <a:p>
            <a:pPr>
              <a:buNone/>
            </a:pPr>
            <a:r>
              <a:rPr lang="fr-FR" sz="2800" dirty="0"/>
              <a:t>	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1.</a:t>
            </a:r>
            <a:r>
              <a:rPr lang="fr-FR" sz="2800" dirty="0"/>
              <a:t> On calcule le </a:t>
            </a:r>
            <a:r>
              <a:rPr lang="fr-FR" sz="2800" b="1" dirty="0"/>
              <a:t>nombre de demi-allocations </a:t>
            </a:r>
            <a:r>
              <a:rPr lang="fr-FR" sz="2800" dirty="0"/>
              <a:t>dues pour le </a:t>
            </a:r>
            <a:r>
              <a:rPr lang="fr-FR" sz="2800" b="1" dirty="0"/>
              <a:t>mois complet </a:t>
            </a:r>
            <a:r>
              <a:rPr lang="fr-FR" sz="2800" dirty="0"/>
              <a:t>sans aucune déduction ;</a:t>
            </a:r>
          </a:p>
          <a:p>
            <a:pPr>
              <a:buNone/>
            </a:pPr>
            <a:r>
              <a:rPr lang="fr-FR" sz="2800" dirty="0"/>
              <a:t>	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2.</a:t>
            </a:r>
            <a:r>
              <a:rPr lang="fr-FR" sz="2800" dirty="0"/>
              <a:t> On déduit </a:t>
            </a:r>
            <a:r>
              <a:rPr lang="fr-FR" sz="2800" b="1" dirty="0"/>
              <a:t>deux demi-allocations par journée noircie</a:t>
            </a:r>
            <a:r>
              <a:rPr lang="fr-FR" sz="2800" dirty="0"/>
              <a:t>, peu importe le nombre de demi-allocation prévu dans le régime d’indemnisation(facteur N) ;</a:t>
            </a:r>
          </a:p>
          <a:p>
            <a:pPr>
              <a:buNone/>
            </a:pPr>
            <a:r>
              <a:rPr lang="fr-FR" sz="2800" dirty="0"/>
              <a:t>	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3.</a:t>
            </a:r>
            <a:r>
              <a:rPr lang="fr-FR" sz="2800" dirty="0"/>
              <a:t> Pour les </a:t>
            </a:r>
            <a:r>
              <a:rPr lang="fr-FR" sz="2800" b="1" dirty="0"/>
              <a:t>autres journées non indemnisables </a:t>
            </a:r>
            <a:r>
              <a:rPr lang="fr-FR" sz="2800" dirty="0"/>
              <a:t>(</a:t>
            </a:r>
            <a:r>
              <a:rPr lang="fr-FR" sz="2800" dirty="0" err="1"/>
              <a:t>p.e</a:t>
            </a:r>
            <a:r>
              <a:rPr lang="fr-FR" sz="2800" dirty="0"/>
              <a:t>. maladie, inactivité, absence, VP...), on déduit le </a:t>
            </a:r>
            <a:r>
              <a:rPr lang="fr-FR" sz="2800" b="1" dirty="0"/>
              <a:t>nombre de demi-allocations  prévu </a:t>
            </a:r>
            <a:r>
              <a:rPr lang="fr-FR" sz="2800" dirty="0"/>
              <a:t>pour cette journée conformément au régime d'indemnisation :</a:t>
            </a:r>
            <a:r>
              <a:rPr lang="fr-FR" sz="2800" i="1" dirty="0"/>
              <a:t> </a:t>
            </a: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60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Calcul du nombre de demi-allocations</a:t>
            </a:r>
          </a:p>
          <a:p>
            <a:pPr>
              <a:buNone/>
            </a:pPr>
            <a:r>
              <a:rPr lang="fr-FR" sz="2800" dirty="0"/>
              <a:t>	lors de la reprise d’un</a:t>
            </a:r>
            <a:r>
              <a:rPr lang="fr-BE" sz="2800" dirty="0"/>
              <a:t> travail à temps partiel, suite à la déduction des jours , il se peut que le travailleur ne perçoive plus d'allocations pour le mois considéré et qu‘il connaisse donc une </a:t>
            </a:r>
            <a:r>
              <a:rPr lang="fr-BE" sz="2800" b="1" dirty="0"/>
              <a:t>interruption d'au moins 4 semaines dans l'indemnisation</a:t>
            </a:r>
            <a:r>
              <a:rPr lang="fr-BE" sz="2800" dirty="0"/>
              <a:t>. </a:t>
            </a:r>
          </a:p>
          <a:p>
            <a:pPr indent="12700">
              <a:buNone/>
            </a:pPr>
            <a:r>
              <a:rPr lang="fr-BE" sz="2800" b="1" dirty="0"/>
              <a:t>Dans ce cas le travailleur est dispensé de l'introduction d’une DA pour autant qu’/que</a:t>
            </a:r>
            <a:r>
              <a:rPr lang="fr-BE" sz="2800" dirty="0"/>
              <a:t>: </a:t>
            </a:r>
          </a:p>
          <a:p>
            <a:pPr>
              <a:buFontTx/>
              <a:buChar char="-"/>
            </a:pPr>
            <a:r>
              <a:rPr lang="fr-BE" sz="2800" dirty="0"/>
              <a:t>il n'y a pas une période </a:t>
            </a:r>
            <a:r>
              <a:rPr lang="fr-BE" sz="2800" b="1" dirty="0"/>
              <a:t>ininterrompue</a:t>
            </a:r>
            <a:r>
              <a:rPr lang="fr-BE" sz="2800" dirty="0"/>
              <a:t> de travail ou de maladie ou de “lettre A” d'au moins 4 semaines consécutives.</a:t>
            </a:r>
          </a:p>
          <a:p>
            <a:pPr>
              <a:buFontTx/>
              <a:buChar char="-"/>
            </a:pPr>
            <a:r>
              <a:rPr lang="fr-BE" sz="2800" dirty="0"/>
              <a:t>l'OP </a:t>
            </a:r>
            <a:r>
              <a:rPr lang="fr-BE" sz="2800" b="1" dirty="0"/>
              <a:t>joint les cartes C3 / EC3 non indemnisables </a:t>
            </a:r>
            <a:r>
              <a:rPr lang="fr-BE" sz="2800" dirty="0"/>
              <a:t>au dossier paiement relatif au premier mois indemnisable qui suit.</a:t>
            </a:r>
            <a:endParaRPr lang="fr-FR" sz="2800" i="1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47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9443" y="37677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635894" y="1600200"/>
          <a:ext cx="5050906" cy="42770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1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45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51520" y="1519778"/>
            <a:ext cx="2962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Calculez le nombre de ½ allocations à indemniser sur base du régime d’indemnisation?</a:t>
            </a:r>
          </a:p>
          <a:p>
            <a:endParaRPr lang="fr-BE" b="1" dirty="0">
              <a:solidFill>
                <a:srgbClr val="C00000"/>
              </a:solidFill>
            </a:endParaRP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 = 8</a:t>
            </a:r>
          </a:p>
          <a:p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3528310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5838" y="402027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5838" y="1786421"/>
            <a:ext cx="2962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Calculez le nombre de ½ allocations à indemniser sur base du régime d’indemnisation?</a:t>
            </a:r>
          </a:p>
          <a:p>
            <a:endParaRPr lang="fr-BE" b="1" dirty="0">
              <a:solidFill>
                <a:srgbClr val="C00000"/>
              </a:solidFill>
            </a:endParaRP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N= 5</a:t>
            </a:r>
          </a:p>
          <a:p>
            <a:endParaRPr lang="fr-BE" b="1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F7B841E0-71AA-4370-8DA9-FE62305E4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837" y="1786421"/>
            <a:ext cx="5090601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3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FR" b="1" i="1" dirty="0"/>
              <a:t>10.1. Reprise de travail avec C3A/EC3</a:t>
            </a:r>
            <a:endParaRPr lang="en-US" b="1" i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635893" y="1600200"/>
          <a:ext cx="5050906" cy="42770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1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15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45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45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81269" y="1600200"/>
            <a:ext cx="28186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Calculez le nombre de ½ allocations à indemniser sur base du régime d’indemnisation ?</a:t>
            </a:r>
          </a:p>
          <a:p>
            <a:endParaRPr lang="fr-BE" b="1" dirty="0"/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 = 7</a:t>
            </a:r>
          </a:p>
          <a:p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2182829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kumimoji="0" lang="fr-FR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10.1. </a:t>
            </a:r>
            <a:r>
              <a:rPr kumimoji="0" lang="fr-FR" sz="4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Reprise de travail avec C3A/EC3</a:t>
            </a:r>
            <a:endParaRPr lang="en-US" b="1" i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779911" y="1600200"/>
          <a:ext cx="4906888" cy="44930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8849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8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849">
                <a:tc>
                  <a:txBody>
                    <a:bodyPr/>
                    <a:lstStyle/>
                    <a:p>
                      <a:r>
                        <a:rPr lang="fr-BE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849">
                <a:tc>
                  <a:txBody>
                    <a:bodyPr/>
                    <a:lstStyle/>
                    <a:p>
                      <a:r>
                        <a:rPr lang="fr-BE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849">
                <a:tc>
                  <a:txBody>
                    <a:bodyPr/>
                    <a:lstStyle/>
                    <a:p>
                      <a:r>
                        <a:rPr lang="fr-BE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849">
                <a:tc>
                  <a:txBody>
                    <a:bodyPr/>
                    <a:lstStyle/>
                    <a:p>
                      <a:r>
                        <a:rPr lang="fr-BE" dirty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57200" y="1568979"/>
            <a:ext cx="3106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Calculez le nombre de ½ allocations à indemniser sur base du régime d’indemnisation?</a:t>
            </a:r>
          </a:p>
          <a:p>
            <a:endParaRPr lang="fr-BE" b="1" dirty="0"/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Mois précédent non indemnisable </a:t>
            </a:r>
          </a:p>
          <a:p>
            <a:endParaRPr lang="fr-BE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 en CC au 18</a:t>
            </a:r>
          </a:p>
          <a:p>
            <a:endParaRPr lang="fr-BE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 = 9</a:t>
            </a:r>
          </a:p>
          <a:p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40622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sz="3600" b="1" i="1" dirty="0"/>
              <a:t>10.2. Reprise de travail avec AGR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u="sng" dirty="0"/>
              <a:t>2</a:t>
            </a:r>
            <a:r>
              <a:rPr lang="fr-FR" u="sng" baseline="30000" dirty="0"/>
              <a:t>ème</a:t>
            </a:r>
            <a:r>
              <a:rPr lang="fr-FR" u="sng" dirty="0"/>
              <a:t> hypothèse</a:t>
            </a:r>
            <a:r>
              <a:rPr lang="fr-FR" dirty="0"/>
              <a:t>:  </a:t>
            </a:r>
          </a:p>
          <a:p>
            <a:pPr>
              <a:buNone/>
            </a:pPr>
            <a:r>
              <a:rPr lang="fr-FR" dirty="0"/>
              <a:t>Le travailleur choisit l’AGR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Conditions cumulatives à remplir:</a:t>
            </a:r>
          </a:p>
          <a:p>
            <a:pPr lvl="1">
              <a:buFont typeface="Wingdings" pitchFamily="2" charset="2"/>
              <a:buChar char="§"/>
            </a:pPr>
            <a:r>
              <a:rPr lang="fr-FR" sz="3000" dirty="0"/>
              <a:t>Occupation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≥ 1/3 </a:t>
            </a:r>
            <a:r>
              <a:rPr lang="fr-FR" sz="3000" dirty="0"/>
              <a:t>du temps plein (sauf dérogation)</a:t>
            </a:r>
          </a:p>
          <a:p>
            <a:pPr lvl="1">
              <a:buFont typeface="Wingdings" pitchFamily="2" charset="2"/>
              <a:buChar char="§"/>
            </a:pPr>
            <a:r>
              <a:rPr lang="fr-FR" sz="3000" dirty="0"/>
              <a:t>Occupation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≤ 4/5 </a:t>
            </a:r>
            <a:r>
              <a:rPr lang="fr-FR" sz="3000" dirty="0"/>
              <a:t>du temps plein  </a:t>
            </a:r>
          </a:p>
          <a:p>
            <a:pPr lvl="1">
              <a:buFont typeface="Wingdings" pitchFamily="2" charset="2"/>
              <a:buChar char="§"/>
            </a:pPr>
            <a:r>
              <a:rPr lang="fr-FR" sz="3000" dirty="0"/>
              <a:t>Avoir droit à une rémunération mensuelle brute inférieure au salaire de référence </a:t>
            </a:r>
            <a:r>
              <a:rPr lang="fr-FR" sz="3000" b="1" dirty="0"/>
              <a:t>AR 131bis </a:t>
            </a:r>
            <a:r>
              <a:rPr lang="fr-FR" sz="3000" dirty="0"/>
              <a:t>: 1.994,18€ (barème au 01.11.2023</a:t>
            </a:r>
            <a:r>
              <a:rPr lang="fr-FR" dirty="0"/>
              <a:t>)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66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sz="3600" b="1" i="1" dirty="0"/>
              <a:t>10.2. Reprise de travail avec AGR</a:t>
            </a:r>
            <a:endParaRPr lang="fr-BE" sz="36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BE" sz="3200" dirty="0"/>
              <a:t>L’AGR est calculé à partir du montant </a:t>
            </a:r>
            <a:r>
              <a:rPr lang="fr-BE" sz="3200" b="1" dirty="0"/>
              <a:t>mensuel</a:t>
            </a:r>
            <a:r>
              <a:rPr lang="fr-BE" sz="3200" dirty="0"/>
              <a:t> de l’allocation de chômage à laquelle le chômeur peut théoriquement prétendre en cas de chômage complet TTPV</a:t>
            </a:r>
          </a:p>
          <a:p>
            <a:pPr marL="274638" indent="0">
              <a:buNone/>
            </a:pP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= Allocation de référence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fr-BE" sz="3200" dirty="0"/>
              <a:t>Pendant toute la durée de l’occupation en tant que TTPV avec AGR,</a:t>
            </a:r>
            <a:r>
              <a:rPr lang="fr-BE" sz="3200" b="1" dirty="0"/>
              <a:t>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la cascade d’indemnisation suit son cours.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21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sz="3600" b="1" i="1" dirty="0"/>
              <a:t>10.2. Reprise de travail avec AGR</a:t>
            </a:r>
            <a:endParaRPr lang="fr-BE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b="1" u="sng" dirty="0"/>
              <a:t>L'allocation journalière</a:t>
            </a:r>
            <a:r>
              <a:rPr lang="fr-BE" b="1" dirty="0"/>
              <a:t> </a:t>
            </a:r>
            <a:r>
              <a:rPr lang="fr-BE" dirty="0"/>
              <a:t>= (la demi-allocation journalière(de référence) x le nombre de demi-allocations hebdomadaire auquel le travailleur à temps partiel volontaire a droit comme chômeur complet)/6</a:t>
            </a:r>
          </a:p>
          <a:p>
            <a:r>
              <a:rPr lang="fr-BE" dirty="0"/>
              <a:t>Exemple: </a:t>
            </a:r>
          </a:p>
          <a:p>
            <a:pPr lvl="1"/>
            <a:r>
              <a:rPr lang="fr-BE" dirty="0"/>
              <a:t>Allocation journalière pour 03/75A2A =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33,16€</a:t>
            </a:r>
          </a:p>
          <a:p>
            <a:pPr lvl="1"/>
            <a:r>
              <a:rPr lang="fr-BE" dirty="0"/>
              <a:t>Régime d’indemnisation : droit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8 ½</a:t>
            </a:r>
            <a:r>
              <a:rPr lang="fr-BE" dirty="0"/>
              <a:t> allocations par semaine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fr-BE" dirty="0">
                <a:sym typeface="Wingdings" panose="05000000000000000000" pitchFamily="2" charset="2"/>
              </a:rPr>
              <a:t>32,15 X 8/6 </a:t>
            </a:r>
            <a:r>
              <a:rPr lang="fr-BE">
                <a:sym typeface="Wingdings" panose="05000000000000000000" pitchFamily="2" charset="2"/>
              </a:rPr>
              <a:t>= </a:t>
            </a:r>
            <a:r>
              <a:rPr lang="fr-BE" b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44,21€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*</a:t>
            </a:r>
          </a:p>
          <a:p>
            <a:pPr marL="457200" lvl="1" indent="0">
              <a:buNone/>
            </a:pPr>
            <a:r>
              <a:rPr lang="fr-BE" sz="2200" dirty="0">
                <a:sym typeface="Wingdings" panose="05000000000000000000" pitchFamily="2" charset="2"/>
              </a:rPr>
              <a:t>* arrondissement se fait au cent supérieur si le 3</a:t>
            </a:r>
            <a:r>
              <a:rPr lang="fr-BE" sz="2200" baseline="30000" dirty="0">
                <a:sym typeface="Wingdings" panose="05000000000000000000" pitchFamily="2" charset="2"/>
              </a:rPr>
              <a:t>ème</a:t>
            </a:r>
            <a:r>
              <a:rPr lang="fr-BE" sz="2200" dirty="0">
                <a:sym typeface="Wingdings" panose="05000000000000000000" pitchFamily="2" charset="2"/>
              </a:rPr>
              <a:t> chiffre après la virgule atteint 5.</a:t>
            </a:r>
            <a:endParaRPr lang="fr-BE" sz="2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823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762757-8EBD-4662-9885-57867D47B97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94ba5a2-1908-49bb-836f-9f7e6dbdc18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70ec8308-a2f0-4163-8d73-ffca7c91357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76DAAF-0C46-43B3-911D-00AF15FB5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648ED1-5E70-4F6A-801C-F3EC97D0CC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19625</TotalTime>
  <Words>3323</Words>
  <Application>Microsoft Office PowerPoint</Application>
  <PresentationFormat>Affichage à l'écran (4:3)</PresentationFormat>
  <Paragraphs>538</Paragraphs>
  <Slides>47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Comic Sans MS</vt:lpstr>
      <vt:lpstr>Courier New</vt:lpstr>
      <vt:lpstr>Times New Roman</vt:lpstr>
      <vt:lpstr>Wingdings</vt:lpstr>
      <vt:lpstr>Thème Office</vt:lpstr>
      <vt:lpstr>Admission sur base d’un travail salarié à temps partiel volontaire  (niv. 1)</vt:lpstr>
      <vt:lpstr>Table des matières</vt:lpstr>
      <vt:lpstr>Table des matières</vt:lpstr>
      <vt:lpstr>1. Définition</vt:lpstr>
      <vt:lpstr>1. Définition</vt:lpstr>
      <vt:lpstr>1. Définition</vt:lpstr>
      <vt:lpstr>2. Statut travailleur à temps partiel volontaire</vt:lpstr>
      <vt:lpstr>3. Admission : Règle générale</vt:lpstr>
      <vt:lpstr>3. Admission : Règle générale AR 33</vt:lpstr>
      <vt:lpstr>  3. Admission : Règle générale AR 33 </vt:lpstr>
      <vt:lpstr>4. Assouplissements</vt:lpstr>
      <vt:lpstr>Présentation PowerPoint</vt:lpstr>
      <vt:lpstr>Présentation PowerPoint</vt:lpstr>
      <vt:lpstr>5.1. Méthode de travail: Sélection de l’occupation à temps partiel</vt:lpstr>
      <vt:lpstr>5.1. Méthode de travail: Sélection de l’occupation à temps partiel</vt:lpstr>
      <vt:lpstr>5.1. Méthode de travail: Sélection de l’occupation à temps partiel</vt:lpstr>
      <vt:lpstr>5.1. Méthode de travail: Sélection de l’occupation à temps partiel</vt:lpstr>
      <vt:lpstr>5.1. Méthode de travail: Sélection de l’occupation à temps partiel</vt:lpstr>
      <vt:lpstr>5.1. Méthode de travail: Sélection de l’occupation à temps partiel</vt:lpstr>
      <vt:lpstr>5.1. Méthode de travail: Sélection de l’occupation à temps partiel</vt:lpstr>
      <vt:lpstr>5.2. Méthode de travail: Stage à accomplir</vt:lpstr>
      <vt:lpstr>5.2. Méthode de travail: Stage à accomplir</vt:lpstr>
      <vt:lpstr>5.3. Méthode de travail: Calcul Dmfa</vt:lpstr>
      <vt:lpstr>5.3. Méthode de travail: Calcul Dmfa</vt:lpstr>
      <vt:lpstr>6. TTRV: application AR42 </vt:lpstr>
      <vt:lpstr>7. Code chiffré TTRV</vt:lpstr>
      <vt:lpstr>7.1. Formules </vt:lpstr>
      <vt:lpstr>7.2. Exemples</vt:lpstr>
      <vt:lpstr>7.2. Exemples</vt:lpstr>
      <vt:lpstr>7.3. Révision du code chiffré</vt:lpstr>
      <vt:lpstr>8. Régime d’indemnisation: facteur N </vt:lpstr>
      <vt:lpstr>8. Régime d’indemnisation : facteur N</vt:lpstr>
      <vt:lpstr>8. Régime d’indemnisation : facteur N</vt:lpstr>
      <vt:lpstr>8. Régime d’indemnisation : facteur N</vt:lpstr>
      <vt:lpstr>9. Introduction du dossier et délais</vt:lpstr>
      <vt:lpstr>10. Statut TTPV et reprise de travail</vt:lpstr>
      <vt:lpstr>10.1. Reprise de travail avec C3A/EC3</vt:lpstr>
      <vt:lpstr>10.1. Reprise de travail avec C3A/EC3</vt:lpstr>
      <vt:lpstr>10.1. Reprise de travail avec C3A/EC3</vt:lpstr>
      <vt:lpstr>10.1. Reprise de travail avec C3A/EC3</vt:lpstr>
      <vt:lpstr>10.1. Reprise de travail avec C3A/EC3</vt:lpstr>
      <vt:lpstr>10.1. Reprise de travail avec C3A/EC3</vt:lpstr>
      <vt:lpstr>10.1. Reprise de travail avec C3A/EC3</vt:lpstr>
      <vt:lpstr>10.1. Reprise de travail avec C3A/EC3</vt:lpstr>
      <vt:lpstr>10.2. Reprise de travail avec AGR</vt:lpstr>
      <vt:lpstr>10.2. Reprise de travail avec AGR</vt:lpstr>
      <vt:lpstr>10.2. Reprise de travail avec AGR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FCJ-M17-TTRV (niv. 1)-FLT</dc:title>
  <dc:creator>u99lge</dc:creator>
  <cp:lastModifiedBy>Ali Bakhouch</cp:lastModifiedBy>
  <cp:revision>923</cp:revision>
  <cp:lastPrinted>2016-11-29T13:55:28Z</cp:lastPrinted>
  <dcterms:created xsi:type="dcterms:W3CDTF">2010-09-22T12:12:06Z</dcterms:created>
  <dcterms:modified xsi:type="dcterms:W3CDTF">2023-11-07T11:57:51Z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0x010100771D4D5C3D776247A0B00D9B67B18301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17;#Admissibilité|d1ac0b1f-1e4c-4aa8-9a97-5b01e61985ba;#18;#Vérités|91331765-02c2-47c0-8605-37a5a3e877f2</vt:lpwstr>
  </property>
  <property fmtid="{D5CDD505-2E9C-101B-9397-08002B2CF9AE}" pid="7" name="Thème">
    <vt:lpwstr>101;#TTRV|df9221b6-637d-4751-a613-5fe4593ec07f</vt:lpwstr>
  </property>
  <property fmtid="{D5CDD505-2E9C-101B-9397-08002B2CF9AE}" pid="8" name="Order">
    <vt:r8>38900</vt:r8>
  </property>
  <property fmtid="{D5CDD505-2E9C-101B-9397-08002B2CF9AE}" pid="9" name="_dlc_DocIdItemGuid">
    <vt:lpwstr>0295d5f4-8791-45b0-97d4-899e015999f1</vt:lpwstr>
  </property>
  <property fmtid="{D5CDD505-2E9C-101B-9397-08002B2CF9AE}" pid="10" name="AuthorIds_UIVersion_2048">
    <vt:lpwstr>23</vt:lpwstr>
  </property>
</Properties>
</file>