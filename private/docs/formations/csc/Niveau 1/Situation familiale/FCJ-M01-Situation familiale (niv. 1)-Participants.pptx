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403" r:id="rId5"/>
    <p:sldId id="321" r:id="rId6"/>
    <p:sldId id="323" r:id="rId7"/>
    <p:sldId id="414" r:id="rId8"/>
    <p:sldId id="325" r:id="rId9"/>
    <p:sldId id="415" r:id="rId10"/>
    <p:sldId id="328" r:id="rId11"/>
    <p:sldId id="329" r:id="rId12"/>
    <p:sldId id="332" r:id="rId13"/>
    <p:sldId id="335" r:id="rId14"/>
    <p:sldId id="336" r:id="rId15"/>
    <p:sldId id="338" r:id="rId16"/>
    <p:sldId id="341" r:id="rId17"/>
    <p:sldId id="418" r:id="rId18"/>
    <p:sldId id="354" r:id="rId19"/>
    <p:sldId id="362" r:id="rId20"/>
    <p:sldId id="364" r:id="rId21"/>
    <p:sldId id="365" r:id="rId22"/>
    <p:sldId id="420" r:id="rId23"/>
    <p:sldId id="372" r:id="rId24"/>
    <p:sldId id="318" r:id="rId25"/>
    <p:sldId id="395" r:id="rId26"/>
    <p:sldId id="404" r:id="rId27"/>
    <p:sldId id="411" r:id="rId28"/>
    <p:sldId id="408" r:id="rId29"/>
    <p:sldId id="410" r:id="rId30"/>
    <p:sldId id="407" r:id="rId31"/>
    <p:sldId id="413" r:id="rId32"/>
    <p:sldId id="412" r:id="rId33"/>
    <p:sldId id="406" r:id="rId34"/>
    <p:sldId id="421" r:id="rId35"/>
    <p:sldId id="422" r:id="rId3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00FF00"/>
    <a:srgbClr val="CCECFF"/>
    <a:srgbClr val="CCFFCC"/>
    <a:srgbClr val="FFFFCC"/>
    <a:srgbClr val="000000"/>
    <a:srgbClr val="CCFFFF"/>
    <a:srgbClr val="FF9933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FA353-CC41-4F62-85B5-4D41E2F0D9B8}" v="8" dt="2023-07-04T07:58:16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18" autoAdjust="0"/>
    <p:restoredTop sz="94249" autoAdjust="0"/>
  </p:normalViewPr>
  <p:slideViewPr>
    <p:cSldViewPr>
      <p:cViewPr varScale="1">
        <p:scale>
          <a:sx n="86" d="100"/>
          <a:sy n="86" d="100"/>
        </p:scale>
        <p:origin x="108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8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13/10/2023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13/10/2023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188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01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157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1335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250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888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535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291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8435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523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8166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794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624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771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57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967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>
                <a:solidFill>
                  <a:prstClr val="black"/>
                </a:solidFill>
              </a:rPr>
              <a:pPr/>
              <a:t>22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95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74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0365B-844C-4E6C-A567-0751D29BB189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B77FE-8153-44BA-9E15-5BADDA766782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0973-E8F5-4CFD-A26B-2C66F812D8DB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1270-1B05-413E-A98D-53DC38F0BEF9}" type="datetime1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8A84C-8B98-4608-A5F1-8B681C2A5EBD}" type="datetime1">
              <a:rPr lang="fr-FR" smtClean="0"/>
              <a:t>13/10/2023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AEF7B-5639-43ED-A895-064FDC61A77D}" type="datetime1">
              <a:rPr lang="fr-FR" smtClean="0"/>
              <a:t>13/10/2023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E7BDE-E721-4A43-ADE0-A1D5BAEB1EA7}" type="datetime1">
              <a:rPr lang="fr-FR" smtClean="0"/>
              <a:t>13/10/2023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E4DE7-765B-4E39-B7EC-8A28A04710AC}" type="datetime1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677D9-443F-4404-961A-3E31E07B2291}" type="datetime1">
              <a:rPr lang="fr-FR" smtClean="0"/>
              <a:t>13/10/2023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E7E5-0A58-40AD-8A3F-4414085FFCFC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A94B-72D7-4FC7-B6A2-E5C70EA83B08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7C06-4800-4681-9E6F-8F91168A13D9}" type="datetime1">
              <a:rPr lang="fr-FR" smtClean="0"/>
              <a:t>13/10/2023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0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6600" b="1" i="1" dirty="0"/>
              <a:t>La situation familiale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838944"/>
          </a:xfrm>
        </p:spPr>
        <p:txBody>
          <a:bodyPr>
            <a:noAutofit/>
          </a:bodyPr>
          <a:lstStyle/>
          <a:p>
            <a:r>
              <a:rPr lang="fr-BE" b="1" i="1" dirty="0">
                <a:solidFill>
                  <a:srgbClr val="C00000"/>
                </a:solidFill>
              </a:rPr>
              <a:t>Art. 110 de l’AR </a:t>
            </a:r>
            <a:r>
              <a:rPr lang="fr-BE" b="1" i="1" dirty="0">
                <a:solidFill>
                  <a:schemeClr val="tx1"/>
                </a:solidFill>
              </a:rPr>
              <a:t>du 25.11.1991</a:t>
            </a:r>
          </a:p>
          <a:p>
            <a:r>
              <a:rPr lang="fr-BE" b="1" i="1" dirty="0">
                <a:solidFill>
                  <a:srgbClr val="C00000"/>
                </a:solidFill>
              </a:rPr>
              <a:t>Art. 59 à 64 de l’AM </a:t>
            </a:r>
            <a:r>
              <a:rPr lang="fr-BE" b="1" i="1" dirty="0">
                <a:solidFill>
                  <a:schemeClr val="tx1"/>
                </a:solidFill>
              </a:rPr>
              <a:t>du 26.11.1991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683568" y="613394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14.11.2022</a:t>
            </a:r>
          </a:p>
        </p:txBody>
      </p:sp>
    </p:spTree>
    <p:extLst>
      <p:ext uri="{BB962C8B-B14F-4D97-AF65-F5344CB8AC3E}">
        <p14:creationId xmlns:p14="http://schemas.microsoft.com/office/powerpoint/2010/main" val="176713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  <a:endParaRPr lang="fr-FR" sz="4000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BE" sz="2400" dirty="0"/>
              <a:t>Préambule							</a:t>
            </a:r>
            <a:r>
              <a:rPr lang="fr-BE" sz="1800" dirty="0" err="1"/>
              <a:t>pg</a:t>
            </a:r>
            <a:r>
              <a:rPr lang="fr-BE" sz="1800" dirty="0"/>
              <a:t>. 3</a:t>
            </a:r>
          </a:p>
          <a:p>
            <a:pPr>
              <a:buNone/>
            </a:pPr>
            <a:r>
              <a:rPr lang="fr-BE" sz="2400" dirty="0"/>
              <a:t>Le chômeur isolé 						</a:t>
            </a:r>
            <a:r>
              <a:rPr lang="fr-BE" sz="1800" dirty="0" err="1"/>
              <a:t>pg</a:t>
            </a:r>
            <a:r>
              <a:rPr lang="fr-BE" sz="1800" dirty="0"/>
              <a:t>. 5</a:t>
            </a:r>
          </a:p>
          <a:p>
            <a:pPr>
              <a:buNone/>
            </a:pPr>
            <a:r>
              <a:rPr lang="fr-BE" sz="2400" dirty="0"/>
              <a:t>Le chômeur ayant charge de famille</a:t>
            </a:r>
            <a:r>
              <a:rPr lang="fr-BE" sz="1800" dirty="0"/>
              <a:t>				pg. 6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000" dirty="0"/>
              <a:t>Vit seul et paie pension alimentaire 		  		</a:t>
            </a:r>
            <a:r>
              <a:rPr lang="fr-BE" sz="1800" dirty="0" err="1"/>
              <a:t>pg</a:t>
            </a:r>
            <a:r>
              <a:rPr lang="fr-BE" sz="1800" dirty="0"/>
              <a:t>. 7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000" dirty="0"/>
              <a:t>Vit avec conjoint ou partenaire sans revenus	  		</a:t>
            </a:r>
            <a:r>
              <a:rPr lang="fr-BE" sz="1800" dirty="0"/>
              <a:t>pg. 10</a:t>
            </a:r>
          </a:p>
          <a:p>
            <a:pPr lvl="1">
              <a:buSzPct val="80000"/>
              <a:buFont typeface="Wingdings" pitchFamily="2" charset="2"/>
              <a:buChar char="§"/>
            </a:pPr>
            <a:r>
              <a:rPr lang="fr-BE" sz="2000" dirty="0"/>
              <a:t>Vit sans conjoint (ou partenaire) et avec d’autres personnes </a:t>
            </a:r>
            <a:r>
              <a:rPr lang="fr-BE" sz="1800" dirty="0"/>
              <a:t>	pg. 14</a:t>
            </a:r>
          </a:p>
          <a:p>
            <a:pPr lvl="2">
              <a:buSzPct val="80000"/>
              <a:buFont typeface="Wingdings" panose="05000000000000000000" pitchFamily="2" charset="2"/>
              <a:buChar char="v"/>
            </a:pPr>
            <a:r>
              <a:rPr lang="fr-BE" sz="1800" dirty="0"/>
              <a:t>avec enfants						pg. 15</a:t>
            </a:r>
          </a:p>
          <a:p>
            <a:pPr lvl="2">
              <a:buSzPct val="80000"/>
              <a:buFont typeface="Wingdings" panose="05000000000000000000" pitchFamily="2" charset="2"/>
              <a:buChar char="v"/>
            </a:pPr>
            <a:r>
              <a:rPr lang="fr-BE" sz="1800" dirty="0"/>
              <a:t>avec enfants + parents ou alliés jusqu’au 3</a:t>
            </a:r>
            <a:r>
              <a:rPr lang="fr-BE" sz="1800" baseline="30000" dirty="0"/>
              <a:t>ème</a:t>
            </a:r>
            <a:r>
              <a:rPr lang="fr-BE" sz="1800" dirty="0"/>
              <a:t> degré     		pg. 16</a:t>
            </a:r>
          </a:p>
          <a:p>
            <a:pPr lvl="2">
              <a:buSzPct val="80000"/>
              <a:buFont typeface="Wingdings" panose="05000000000000000000" pitchFamily="2" charset="2"/>
              <a:buChar char="v"/>
            </a:pPr>
            <a:r>
              <a:rPr lang="fr-BE" sz="1800" dirty="0"/>
              <a:t>avec parents ou alliés jusqu’au 3</a:t>
            </a:r>
            <a:r>
              <a:rPr lang="fr-BE" sz="1800" baseline="30000" dirty="0"/>
              <a:t>ème</a:t>
            </a:r>
            <a:r>
              <a:rPr lang="fr-BE" sz="1800" dirty="0"/>
              <a:t> degré     			pg. 18</a:t>
            </a:r>
          </a:p>
          <a:p>
            <a:pPr>
              <a:buNone/>
            </a:pPr>
            <a:r>
              <a:rPr lang="fr-BE" sz="2400" dirty="0"/>
              <a:t>Le chômeur cohabitant		   		  	</a:t>
            </a:r>
            <a:r>
              <a:rPr lang="fr-BE" sz="1800" dirty="0"/>
              <a:t>pg. 19</a:t>
            </a:r>
          </a:p>
          <a:p>
            <a:pPr>
              <a:buNone/>
            </a:pPr>
            <a:r>
              <a:rPr lang="fr-BE" sz="2400" dirty="0"/>
              <a:t>Déterminer la situation familiale			 	</a:t>
            </a:r>
            <a:r>
              <a:rPr lang="fr-BE" sz="1800" dirty="0"/>
              <a:t>pg. 22</a:t>
            </a:r>
          </a:p>
          <a:p>
            <a:pPr>
              <a:buNone/>
            </a:pPr>
            <a:r>
              <a:rPr lang="fr-BE" sz="2400" dirty="0"/>
              <a:t>Exemples	</a:t>
            </a:r>
            <a:r>
              <a:rPr lang="fr-BE" sz="1800" dirty="0"/>
              <a:t>						pg. 23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53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Préambule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La </a:t>
            </a:r>
            <a:r>
              <a:rPr lang="fr-BE" b="1" dirty="0">
                <a:solidFill>
                  <a:srgbClr val="C00000"/>
                </a:solidFill>
              </a:rPr>
              <a:t>catégorie familiale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à laquelle appartient le chômeur est un élément capital pour </a:t>
            </a:r>
            <a:r>
              <a:rPr lang="fr-BE" b="1" dirty="0"/>
              <a:t>déterminer le montant journalier</a:t>
            </a:r>
            <a:r>
              <a:rPr lang="fr-BE" dirty="0"/>
              <a:t> auquel l’intéressé peut prétendre.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fr-BE" sz="2800" dirty="0">
              <a:sym typeface="Wingdings" pitchFamily="2" charset="2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>
                <a:sym typeface="Wingdings" pitchFamily="2" charset="2"/>
              </a:rPr>
              <a:t></a:t>
            </a:r>
            <a:r>
              <a:rPr lang="fr-BE" dirty="0">
                <a:sym typeface="Wingdings" pitchFamily="2" charset="2"/>
              </a:rPr>
              <a:t> La </a:t>
            </a:r>
            <a:r>
              <a:rPr lang="fr-BE" dirty="0"/>
              <a:t>déterminer avec précision est primordial afin </a:t>
            </a:r>
            <a:r>
              <a:rPr lang="fr-BE" b="1" u="sng" dirty="0"/>
              <a:t>d’octroyer le droit maximal</a:t>
            </a:r>
            <a:r>
              <a:rPr lang="fr-BE" b="1" dirty="0"/>
              <a:t> </a:t>
            </a:r>
            <a:r>
              <a:rPr lang="fr-BE" dirty="0"/>
              <a:t>à notre assuré social !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619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CA23F-7605-42AE-ACDD-EE9E21CA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 catégories</a:t>
            </a:r>
          </a:p>
        </p:txBody>
      </p:sp>
      <p:pic>
        <p:nvPicPr>
          <p:cNvPr id="6" name="Espace réservé du contenu 5" descr="Homme">
            <a:extLst>
              <a:ext uri="{FF2B5EF4-FFF2-40B4-BE49-F238E27FC236}">
                <a16:creationId xmlns:a16="http://schemas.microsoft.com/office/drawing/2014/main" id="{815E770C-B1BF-44CD-B370-FFA23A4A8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0" y="1526486"/>
            <a:ext cx="914400" cy="914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82FDB-5B63-44A1-A51F-840E497C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71020-F2C4-4FC2-995E-BE4A8200930D}"/>
              </a:ext>
            </a:extLst>
          </p:cNvPr>
          <p:cNvSpPr/>
          <p:nvPr/>
        </p:nvSpPr>
        <p:spPr>
          <a:xfrm>
            <a:off x="3322299" y="2271717"/>
            <a:ext cx="249940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Chômeur</a:t>
            </a:r>
          </a:p>
        </p:txBody>
      </p:sp>
      <p:sp>
        <p:nvSpPr>
          <p:cNvPr id="8" name="Rectangle : coins arrondis 7">
            <a:hlinkClick r:id="rId4" action="ppaction://hlinksldjump"/>
            <a:extLst>
              <a:ext uri="{FF2B5EF4-FFF2-40B4-BE49-F238E27FC236}">
                <a16:creationId xmlns:a16="http://schemas.microsoft.com/office/drawing/2014/main" id="{166BF9BB-9F85-4CAC-A70A-3A6706A3848A}"/>
              </a:ext>
            </a:extLst>
          </p:cNvPr>
          <p:cNvSpPr/>
          <p:nvPr/>
        </p:nvSpPr>
        <p:spPr>
          <a:xfrm>
            <a:off x="611560" y="3861048"/>
            <a:ext cx="2160240" cy="136815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Isolé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 </a:t>
            </a:r>
            <a:r>
              <a:rPr lang="fr-BE" sz="2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 »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Art. 110§2</a:t>
            </a:r>
          </a:p>
        </p:txBody>
      </p:sp>
      <p:sp>
        <p:nvSpPr>
          <p:cNvPr id="9" name="Rectangle : coins arrondis 8">
            <a:hlinkClick r:id="rId5" action="ppaction://hlinksldjump"/>
            <a:extLst>
              <a:ext uri="{FF2B5EF4-FFF2-40B4-BE49-F238E27FC236}">
                <a16:creationId xmlns:a16="http://schemas.microsoft.com/office/drawing/2014/main" id="{97E0840E-6A0E-4D04-9D9F-1D30CA149B35}"/>
              </a:ext>
            </a:extLst>
          </p:cNvPr>
          <p:cNvSpPr/>
          <p:nvPr/>
        </p:nvSpPr>
        <p:spPr>
          <a:xfrm>
            <a:off x="3563888" y="3861048"/>
            <a:ext cx="2066941" cy="136815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Chef de ménage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 </a:t>
            </a:r>
            <a:r>
              <a:rPr lang="fr-BE" sz="2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 »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Art. 110§1</a:t>
            </a:r>
          </a:p>
        </p:txBody>
      </p:sp>
      <p:sp>
        <p:nvSpPr>
          <p:cNvPr id="10" name="Rectangle : coins arrondis 9">
            <a:hlinkClick r:id="rId6" action="ppaction://hlinksldjump"/>
            <a:extLst>
              <a:ext uri="{FF2B5EF4-FFF2-40B4-BE49-F238E27FC236}">
                <a16:creationId xmlns:a16="http://schemas.microsoft.com/office/drawing/2014/main" id="{3E0A3BF3-58EA-474D-9B2C-B6E98B44E0F1}"/>
              </a:ext>
            </a:extLst>
          </p:cNvPr>
          <p:cNvSpPr/>
          <p:nvPr/>
        </p:nvSpPr>
        <p:spPr>
          <a:xfrm>
            <a:off x="6372200" y="3861048"/>
            <a:ext cx="2066941" cy="136815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Cohabitant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« </a:t>
            </a:r>
            <a:r>
              <a:rPr lang="fr-BE" sz="2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 »</a:t>
            </a:r>
          </a:p>
          <a:p>
            <a:pPr algn="ctr"/>
            <a:r>
              <a:rPr lang="fr-BE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Art. 110§3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4037733-BD76-4720-9005-2E036C3B9FD7}"/>
              </a:ext>
            </a:extLst>
          </p:cNvPr>
          <p:cNvCxnSpPr/>
          <p:nvPr/>
        </p:nvCxnSpPr>
        <p:spPr>
          <a:xfrm flipV="1">
            <a:off x="169168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34C5E9F-B72C-48E9-8C28-5991A5FF9087}"/>
              </a:ext>
            </a:extLst>
          </p:cNvPr>
          <p:cNvCxnSpPr/>
          <p:nvPr/>
        </p:nvCxnSpPr>
        <p:spPr>
          <a:xfrm flipV="1">
            <a:off x="457200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13A8514-150D-43F0-AF39-F9A9ED31ED4C}"/>
              </a:ext>
            </a:extLst>
          </p:cNvPr>
          <p:cNvCxnSpPr/>
          <p:nvPr/>
        </p:nvCxnSpPr>
        <p:spPr>
          <a:xfrm flipV="1">
            <a:off x="7380312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CF556D3-422C-4EBA-9153-C5A9A3662F2E}"/>
              </a:ext>
            </a:extLst>
          </p:cNvPr>
          <p:cNvCxnSpPr/>
          <p:nvPr/>
        </p:nvCxnSpPr>
        <p:spPr>
          <a:xfrm>
            <a:off x="1691680" y="342900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69E8D1F-B888-4D5E-BA51-68163FB7B40F}"/>
              </a:ext>
            </a:extLst>
          </p:cNvPr>
          <p:cNvCxnSpPr>
            <a:endCxn id="7" idx="2"/>
          </p:cNvCxnSpPr>
          <p:nvPr/>
        </p:nvCxnSpPr>
        <p:spPr>
          <a:xfrm flipV="1">
            <a:off x="4572000" y="3102714"/>
            <a:ext cx="0" cy="326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88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Isolé - </a:t>
            </a:r>
            <a:r>
              <a:rPr lang="fr-BE" sz="4000" b="1" i="1" dirty="0">
                <a:solidFill>
                  <a:srgbClr val="C00000"/>
                </a:solidFill>
              </a:rPr>
              <a:t>N</a:t>
            </a:r>
            <a:endParaRPr lang="en-US" sz="4000" b="1" i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61503F-0AF8-4C66-9173-FA558200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862332"/>
            <a:ext cx="6552728" cy="4452817"/>
          </a:xfrm>
          <a:prstGeom prst="rect">
            <a:avLst/>
          </a:prstGeom>
        </p:spPr>
      </p:pic>
      <p:sp>
        <p:nvSpPr>
          <p:cNvPr id="8" name="Nuage 7">
            <a:extLst>
              <a:ext uri="{FF2B5EF4-FFF2-40B4-BE49-F238E27FC236}">
                <a16:creationId xmlns:a16="http://schemas.microsoft.com/office/drawing/2014/main" id="{13E79949-42C6-46DE-AB2C-0786C43B60AF}"/>
              </a:ext>
            </a:extLst>
          </p:cNvPr>
          <p:cNvSpPr/>
          <p:nvPr/>
        </p:nvSpPr>
        <p:spPr>
          <a:xfrm>
            <a:off x="683568" y="1052736"/>
            <a:ext cx="3492388" cy="223224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400" dirty="0"/>
              <a:t>Le travailleur qui</a:t>
            </a:r>
          </a:p>
          <a:p>
            <a:pPr algn="ctr"/>
            <a:r>
              <a:rPr lang="fr-BE" sz="2400" dirty="0"/>
              <a:t>habite seul</a:t>
            </a:r>
          </a:p>
        </p:txBody>
      </p:sp>
      <p:pic>
        <p:nvPicPr>
          <p:cNvPr id="5" name="Image 4">
            <a:hlinkClick r:id="rId4" action="ppaction://hlinksldjump"/>
            <a:extLst>
              <a:ext uri="{FF2B5EF4-FFF2-40B4-BE49-F238E27FC236}">
                <a16:creationId xmlns:a16="http://schemas.microsoft.com/office/drawing/2014/main" id="{BB9804EF-42A6-4EFF-976B-1E30FD6AE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865" y="5857909"/>
            <a:ext cx="816935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4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CA23F-7605-42AE-ACDD-EE9E21CA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Chef de ménage - </a:t>
            </a:r>
            <a:r>
              <a:rPr lang="fr-BE" b="1" i="1" dirty="0">
                <a:solidFill>
                  <a:srgbClr val="C00000"/>
                </a:solidFill>
              </a:rPr>
              <a:t>A</a:t>
            </a:r>
          </a:p>
        </p:txBody>
      </p:sp>
      <p:pic>
        <p:nvPicPr>
          <p:cNvPr id="6" name="Espace réservé du contenu 5" descr="Homme">
            <a:extLst>
              <a:ext uri="{FF2B5EF4-FFF2-40B4-BE49-F238E27FC236}">
                <a16:creationId xmlns:a16="http://schemas.microsoft.com/office/drawing/2014/main" id="{815E770C-B1BF-44CD-B370-FFA23A4A8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0" y="1526486"/>
            <a:ext cx="914400" cy="914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82FDB-5B63-44A1-A51F-840E497C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71020-F2C4-4FC2-995E-BE4A8200930D}"/>
              </a:ext>
            </a:extLst>
          </p:cNvPr>
          <p:cNvSpPr/>
          <p:nvPr/>
        </p:nvSpPr>
        <p:spPr>
          <a:xfrm>
            <a:off x="3322299" y="2271717"/>
            <a:ext cx="249940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Chômeur</a:t>
            </a:r>
          </a:p>
        </p:txBody>
      </p:sp>
      <p:sp>
        <p:nvSpPr>
          <p:cNvPr id="8" name="Rectangle : coins arrondis 7">
            <a:hlinkClick r:id="rId4" action="ppaction://hlinksldjump"/>
            <a:extLst>
              <a:ext uri="{FF2B5EF4-FFF2-40B4-BE49-F238E27FC236}">
                <a16:creationId xmlns:a16="http://schemas.microsoft.com/office/drawing/2014/main" id="{166BF9BB-9F85-4CAC-A70A-3A6706A3848A}"/>
              </a:ext>
            </a:extLst>
          </p:cNvPr>
          <p:cNvSpPr/>
          <p:nvPr/>
        </p:nvSpPr>
        <p:spPr>
          <a:xfrm>
            <a:off x="457201" y="3861048"/>
            <a:ext cx="2468952" cy="1368152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seul et paie une pension alimentaire</a:t>
            </a:r>
          </a:p>
        </p:txBody>
      </p:sp>
      <p:sp>
        <p:nvSpPr>
          <p:cNvPr id="9" name="Rectangle : coins arrondis 8">
            <a:hlinkClick r:id="rId5" action="ppaction://hlinksldjump"/>
            <a:extLst>
              <a:ext uri="{FF2B5EF4-FFF2-40B4-BE49-F238E27FC236}">
                <a16:creationId xmlns:a16="http://schemas.microsoft.com/office/drawing/2014/main" id="{97E0840E-6A0E-4D04-9D9F-1D30CA149B35}"/>
              </a:ext>
            </a:extLst>
          </p:cNvPr>
          <p:cNvSpPr/>
          <p:nvPr/>
        </p:nvSpPr>
        <p:spPr>
          <a:xfrm>
            <a:off x="3409532" y="3861048"/>
            <a:ext cx="2468952" cy="1368152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avec conjoint ou partenaire  sans revenus</a:t>
            </a:r>
          </a:p>
        </p:txBody>
      </p:sp>
      <p:sp>
        <p:nvSpPr>
          <p:cNvPr id="10" name="Rectangle : coins arrondis 9">
            <a:hlinkClick r:id="rId6" action="ppaction://hlinksldjump"/>
            <a:extLst>
              <a:ext uri="{FF2B5EF4-FFF2-40B4-BE49-F238E27FC236}">
                <a16:creationId xmlns:a16="http://schemas.microsoft.com/office/drawing/2014/main" id="{3E0A3BF3-58EA-474D-9B2C-B6E98B44E0F1}"/>
              </a:ext>
            </a:extLst>
          </p:cNvPr>
          <p:cNvSpPr/>
          <p:nvPr/>
        </p:nvSpPr>
        <p:spPr>
          <a:xfrm>
            <a:off x="6372200" y="3861048"/>
            <a:ext cx="2592288" cy="1368152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sans conjoint mais avec d’autres personnes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4037733-BD76-4720-9005-2E036C3B9FD7}"/>
              </a:ext>
            </a:extLst>
          </p:cNvPr>
          <p:cNvCxnSpPr/>
          <p:nvPr/>
        </p:nvCxnSpPr>
        <p:spPr>
          <a:xfrm flipV="1">
            <a:off x="169168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34C5E9F-B72C-48E9-8C28-5991A5FF9087}"/>
              </a:ext>
            </a:extLst>
          </p:cNvPr>
          <p:cNvCxnSpPr/>
          <p:nvPr/>
        </p:nvCxnSpPr>
        <p:spPr>
          <a:xfrm flipV="1">
            <a:off x="457200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13A8514-150D-43F0-AF39-F9A9ED31ED4C}"/>
              </a:ext>
            </a:extLst>
          </p:cNvPr>
          <p:cNvCxnSpPr/>
          <p:nvPr/>
        </p:nvCxnSpPr>
        <p:spPr>
          <a:xfrm flipV="1">
            <a:off x="7380312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CF556D3-422C-4EBA-9153-C5A9A3662F2E}"/>
              </a:ext>
            </a:extLst>
          </p:cNvPr>
          <p:cNvCxnSpPr/>
          <p:nvPr/>
        </p:nvCxnSpPr>
        <p:spPr>
          <a:xfrm>
            <a:off x="1691680" y="342900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69E8D1F-B888-4D5E-BA51-68163FB7B40F}"/>
              </a:ext>
            </a:extLst>
          </p:cNvPr>
          <p:cNvCxnSpPr>
            <a:endCxn id="7" idx="2"/>
          </p:cNvCxnSpPr>
          <p:nvPr/>
        </p:nvCxnSpPr>
        <p:spPr>
          <a:xfrm flipV="1">
            <a:off x="4572000" y="3102714"/>
            <a:ext cx="0" cy="326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36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Vivre seul et payer une PA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Vivre seul et être redevable d’une </a:t>
            </a:r>
            <a:r>
              <a:rPr lang="fr-BE" b="1" dirty="0"/>
              <a:t>pension alimentaire, sur base </a:t>
            </a:r>
            <a:r>
              <a:rPr lang="fr-BE" dirty="0"/>
              <a:t>: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fr-BE" sz="1400" dirty="0"/>
          </a:p>
          <a:p>
            <a:pPr marL="457200" lvl="1" indent="-457200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D’une décision judiciaire </a:t>
            </a:r>
            <a:r>
              <a:rPr lang="fr-BE" sz="3200" b="1" dirty="0"/>
              <a:t>avec </a:t>
            </a:r>
            <a:r>
              <a:rPr lang="fr-BE" sz="3200" b="1" dirty="0">
                <a:solidFill>
                  <a:srgbClr val="C00000"/>
                </a:solidFill>
              </a:rPr>
              <a:t>jugement</a:t>
            </a:r>
            <a:r>
              <a:rPr lang="fr-BE" sz="3200" dirty="0">
                <a:solidFill>
                  <a:srgbClr val="C00000"/>
                </a:solidFill>
              </a:rPr>
              <a:t>,</a:t>
            </a:r>
            <a:r>
              <a:rPr lang="fr-BE" sz="3200" dirty="0"/>
              <a:t> </a:t>
            </a:r>
          </a:p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1400" dirty="0"/>
          </a:p>
          <a:p>
            <a:pPr marL="536575" lvl="1" indent="0">
              <a:spcBef>
                <a:spcPts val="0"/>
              </a:spcBef>
              <a:buSzPct val="100000"/>
              <a:buNone/>
            </a:pPr>
            <a:r>
              <a:rPr lang="fr-BE" sz="3200" b="1" i="1" u="sng" dirty="0">
                <a:solidFill>
                  <a:srgbClr val="C00000"/>
                </a:solidFill>
              </a:rPr>
              <a:t>OU</a:t>
            </a:r>
          </a:p>
          <a:p>
            <a:pPr marL="0" lvl="1" indent="0">
              <a:spcBef>
                <a:spcPts val="0"/>
              </a:spcBef>
              <a:buSzPct val="100000"/>
              <a:buNone/>
            </a:pPr>
            <a:endParaRPr lang="fr-BE" sz="1400" b="1" i="1" u="sng" dirty="0"/>
          </a:p>
          <a:p>
            <a:pPr marL="457200" lvl="1" indent="-457200">
              <a:spcBef>
                <a:spcPts val="0"/>
              </a:spcBef>
              <a:buSzPct val="100000"/>
              <a:buFont typeface="Wingdings" pitchFamily="2" charset="2"/>
              <a:buChar char="§"/>
            </a:pPr>
            <a:r>
              <a:rPr lang="fr-BE" sz="3200" dirty="0"/>
              <a:t>D’un </a:t>
            </a:r>
            <a:r>
              <a:rPr lang="fr-BE" sz="3200" b="1" dirty="0">
                <a:solidFill>
                  <a:srgbClr val="C00000"/>
                </a:solidFill>
              </a:rPr>
              <a:t>acte notarié</a:t>
            </a:r>
            <a:r>
              <a:rPr lang="fr-BE" sz="3200" dirty="0"/>
              <a:t> dans le cadre d’une procédure en divorce ou de séparation de corps par consentement mutuel.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6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Etre redevable d’une PA ?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983162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Il ne suffit pas d’être redevable d’une PA.</a:t>
            </a:r>
          </a:p>
          <a:p>
            <a:pPr marL="0" indent="0">
              <a:spcBef>
                <a:spcPts val="0"/>
              </a:spcBef>
              <a:buNone/>
            </a:pPr>
            <a:endParaRPr lang="fr-BE" sz="1400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Le chômeur ne conserve le statut de cohabitant ayant charge de famille (</a:t>
            </a:r>
            <a:r>
              <a:rPr lang="fr-BE" b="1" dirty="0">
                <a:solidFill>
                  <a:srgbClr val="C00000"/>
                </a:solidFill>
              </a:rPr>
              <a:t>A</a:t>
            </a:r>
            <a:r>
              <a:rPr lang="fr-BE" dirty="0"/>
              <a:t>)</a:t>
            </a:r>
            <a:r>
              <a:rPr lang="fr-BE" b="1" dirty="0"/>
              <a:t> </a:t>
            </a:r>
            <a:r>
              <a:rPr lang="fr-BE" dirty="0"/>
              <a:t>que s’il </a:t>
            </a:r>
            <a:r>
              <a:rPr lang="fr-BE" b="1" i="1" dirty="0">
                <a:solidFill>
                  <a:srgbClr val="C00000"/>
                </a:solidFill>
              </a:rPr>
              <a:t>paie effectivement</a:t>
            </a:r>
            <a:r>
              <a:rPr lang="fr-BE" dirty="0"/>
              <a:t> une pension alimentaire (peu importe le montant).</a:t>
            </a:r>
          </a:p>
          <a:p>
            <a:pPr marL="0" indent="0">
              <a:spcBef>
                <a:spcPts val="0"/>
              </a:spcBef>
              <a:buNone/>
            </a:pPr>
            <a:endParaRPr lang="fr-BE" sz="1400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i="1" u="sng" dirty="0"/>
              <a:t>Déclaration sur l’honneur</a:t>
            </a:r>
            <a:r>
              <a:rPr lang="fr-BE" dirty="0"/>
              <a:t>, à charge pour l’ONEM de contrôler la situation.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2600" dirty="0"/>
              <a:t>S’il ne paie pas de PA, le code « A » est perdu </a:t>
            </a:r>
            <a:r>
              <a:rPr lang="fr-BE" sz="2600" b="1" dirty="0"/>
              <a:t>ET</a:t>
            </a:r>
            <a:r>
              <a:rPr lang="fr-BE" sz="2600" dirty="0"/>
              <a:t> une sanction peut être prise pour cause de fausse déclaration.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26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Procédure pratique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3600" dirty="0"/>
              <a:t>La déclaration de </a:t>
            </a:r>
            <a:r>
              <a:rPr lang="fr-BE" sz="3600" b="1" dirty="0">
                <a:solidFill>
                  <a:srgbClr val="C00000"/>
                </a:solidFill>
              </a:rPr>
              <a:t>situation familiale « C1 » </a:t>
            </a:r>
            <a:r>
              <a:rPr lang="fr-BE" sz="3600" dirty="0"/>
              <a:t>doit être introduite avec la copie de l’acte notarié ou du jugement.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sz="3600" dirty="0"/>
          </a:p>
          <a:p>
            <a:pPr marL="0" indent="0">
              <a:spcBef>
                <a:spcPts val="0"/>
              </a:spcBef>
              <a:buNone/>
            </a:pPr>
            <a:r>
              <a:rPr lang="fr-BE" sz="3600" dirty="0"/>
              <a:t>Si le jugement </a:t>
            </a:r>
            <a:r>
              <a:rPr lang="fr-BE" dirty="0"/>
              <a:t>(ou l’acte notarié) </a:t>
            </a:r>
            <a:r>
              <a:rPr lang="fr-BE" sz="3600" dirty="0"/>
              <a:t>n’est pas encore disponible à la DA. Il est nécessaire de mentionner </a:t>
            </a:r>
            <a:r>
              <a:rPr lang="fr-BE" sz="3600" i="1" dirty="0"/>
              <a:t>« </a:t>
            </a:r>
            <a:r>
              <a:rPr lang="fr-BE" sz="3600" b="1" i="1" dirty="0"/>
              <a:t>en attente de la copie du jugement pour la PA </a:t>
            </a:r>
            <a:r>
              <a:rPr lang="fr-BE" sz="3600" i="1" dirty="0"/>
              <a:t>» </a:t>
            </a:r>
            <a:r>
              <a:rPr lang="fr-BE" sz="3600" dirty="0"/>
              <a:t>sur le formulaire C1.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5" name="Image 4">
            <a:hlinkClick r:id="rId3" action="ppaction://hlinksldjump"/>
            <a:extLst>
              <a:ext uri="{FF2B5EF4-FFF2-40B4-BE49-F238E27FC236}">
                <a16:creationId xmlns:a16="http://schemas.microsoft.com/office/drawing/2014/main" id="{9D533563-AFE4-4B3C-8B35-347CE0639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532" y="6175859"/>
            <a:ext cx="816935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12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Conjoint ou Partenaire </a:t>
            </a:r>
            <a:br>
              <a:rPr lang="fr-BE" sz="4000" b="1" i="1" dirty="0"/>
            </a:br>
            <a:r>
              <a:rPr lang="fr-BE" sz="4000" b="1" i="1" dirty="0"/>
              <a:t>sans revenu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fr-BE" sz="1800" b="1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b="1" dirty="0"/>
              <a:t>Cohabiter avec un conjoint ou un partenaire, </a:t>
            </a:r>
            <a:r>
              <a:rPr lang="fr-BE" sz="3600" b="1" dirty="0">
                <a:solidFill>
                  <a:srgbClr val="C00000"/>
                </a:solidFill>
              </a:rPr>
              <a:t>sans revenu professionnel et sans revenu de remplacement</a:t>
            </a:r>
            <a:r>
              <a:rPr lang="fr-BE" sz="36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BE" sz="3600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600" dirty="0"/>
              <a:t>Il n’est pas tenu compte de la présence d’autres personnes dans le ménage. </a:t>
            </a:r>
            <a:endParaRPr lang="en-GB" sz="36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96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Cohabiter ?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Le fait pour 2 personnes de </a:t>
            </a:r>
            <a:r>
              <a:rPr lang="fr-BE" b="1" dirty="0"/>
              <a:t>vivre ensemble </a:t>
            </a:r>
            <a:r>
              <a:rPr lang="fr-BE" dirty="0"/>
              <a:t>sous le même toit et assurer une </a:t>
            </a:r>
            <a:r>
              <a:rPr lang="fr-BE" b="1" dirty="0">
                <a:solidFill>
                  <a:srgbClr val="C00000"/>
                </a:solidFill>
              </a:rPr>
              <a:t>gestion commune du ménage</a:t>
            </a:r>
            <a:r>
              <a:rPr lang="fr-BE" dirty="0"/>
              <a:t>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Il n’est pas requis de mettre en commun entièrement les ressources du ménage. </a:t>
            </a:r>
          </a:p>
          <a:p>
            <a:pPr marL="358775" indent="0">
              <a:spcBef>
                <a:spcPts val="0"/>
              </a:spcBef>
              <a:buNone/>
            </a:pPr>
            <a:r>
              <a:rPr lang="fr-BE" dirty="0"/>
              <a:t>Seule la </a:t>
            </a:r>
            <a:r>
              <a:rPr lang="fr-BE" b="1" dirty="0"/>
              <a:t>gestion des principaux problèmes ménagers</a:t>
            </a:r>
            <a:r>
              <a:rPr lang="fr-BE" dirty="0"/>
              <a:t> est requise.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04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Notion de partenaire 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fr-BE" dirty="0"/>
              <a:t>La personne avec laquelle le travailleur forme un ménage de fait </a:t>
            </a:r>
            <a:r>
              <a:rPr lang="fr-BE" sz="2800" dirty="0"/>
              <a:t>(= synonyme de cohabiter) </a:t>
            </a:r>
            <a:r>
              <a:rPr lang="fr-BE" dirty="0"/>
              <a:t>et qui est à sa charge financièrement :</a:t>
            </a:r>
          </a:p>
          <a:p>
            <a:pPr marL="0" indent="0">
              <a:spcBef>
                <a:spcPts val="0"/>
              </a:spcBef>
              <a:buNone/>
            </a:pPr>
            <a:endParaRPr lang="fr-BE" sz="1200" dirty="0"/>
          </a:p>
          <a:p>
            <a:pPr marL="457200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dirty="0"/>
              <a:t>Le travailleur et la personne à sa charge doivent </a:t>
            </a:r>
            <a:r>
              <a:rPr lang="fr-BE" sz="3200" b="1" dirty="0"/>
              <a:t>en faire la déclaration</a:t>
            </a:r>
            <a:r>
              <a:rPr lang="fr-BE" sz="3200" dirty="0"/>
              <a:t>.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1200" dirty="0"/>
          </a:p>
          <a:p>
            <a:pPr marL="457200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Pas de lien</a:t>
            </a:r>
            <a:r>
              <a:rPr lang="fr-BE" sz="3200" dirty="0"/>
              <a:t> de parenté jusqu’au 3</a:t>
            </a:r>
            <a:r>
              <a:rPr lang="fr-BE" sz="3200" baseline="30000" dirty="0"/>
              <a:t>ème</a:t>
            </a:r>
            <a:r>
              <a:rPr lang="fr-BE" sz="3200" dirty="0"/>
              <a:t> degré.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1200" dirty="0"/>
          </a:p>
          <a:p>
            <a:pPr marL="457200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Pas de RIS </a:t>
            </a:r>
            <a:r>
              <a:rPr lang="fr-BE" sz="3200" dirty="0"/>
              <a:t>pour le partenaire.</a:t>
            </a:r>
            <a:endParaRPr lang="fr-FR" sz="32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0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Procédure pratique</a:t>
            </a:r>
            <a:endParaRPr lang="en-US" sz="40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dirty="0"/>
              <a:t>La déclaration de situation familiale </a:t>
            </a:r>
            <a:r>
              <a:rPr lang="fr-BE" b="1" dirty="0"/>
              <a:t>« </a:t>
            </a:r>
            <a:r>
              <a:rPr lang="fr-BE" b="1" dirty="0">
                <a:solidFill>
                  <a:srgbClr val="C00000"/>
                </a:solidFill>
              </a:rPr>
              <a:t>C1</a:t>
            </a:r>
            <a:r>
              <a:rPr lang="fr-BE" b="1" dirty="0"/>
              <a:t> » </a:t>
            </a:r>
            <a:r>
              <a:rPr lang="fr-BE" dirty="0"/>
              <a:t>doit être introduite avec :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La </a:t>
            </a:r>
            <a:r>
              <a:rPr lang="fr-BE" b="1" dirty="0">
                <a:solidFill>
                  <a:srgbClr val="C00000"/>
                </a:solidFill>
              </a:rPr>
              <a:t>signature </a:t>
            </a:r>
            <a:r>
              <a:rPr lang="fr-BE" b="1" dirty="0"/>
              <a:t>du </a:t>
            </a:r>
            <a:r>
              <a:rPr lang="fr-BE" b="1" dirty="0">
                <a:solidFill>
                  <a:srgbClr val="C00000"/>
                </a:solidFill>
              </a:rPr>
              <a:t>partenaire </a:t>
            </a:r>
            <a:r>
              <a:rPr lang="fr-BE" dirty="0"/>
              <a:t>si celui-ci (ou celle-ci) est à la charge du demandeur.</a:t>
            </a:r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dirty="0"/>
              <a:t>La </a:t>
            </a:r>
            <a:r>
              <a:rPr lang="fr-BE" b="1" dirty="0">
                <a:solidFill>
                  <a:srgbClr val="C00000"/>
                </a:solidFill>
              </a:rPr>
              <a:t>signature </a:t>
            </a:r>
            <a:r>
              <a:rPr lang="fr-BE" b="1" u="sng" dirty="0">
                <a:solidFill>
                  <a:srgbClr val="C00000"/>
                </a:solidFill>
              </a:rPr>
              <a:t>n’est pas requise </a:t>
            </a:r>
            <a:r>
              <a:rPr lang="fr-BE" b="1" dirty="0"/>
              <a:t>lorsqu’il s’agit du </a:t>
            </a:r>
            <a:r>
              <a:rPr lang="fr-BE" b="1" dirty="0">
                <a:solidFill>
                  <a:srgbClr val="C00000"/>
                </a:solidFill>
              </a:rPr>
              <a:t>conjoint</a:t>
            </a:r>
            <a:r>
              <a:rPr lang="fr-BE" b="1" dirty="0"/>
              <a:t> </a:t>
            </a:r>
            <a:r>
              <a:rPr lang="fr-BE" dirty="0"/>
              <a:t>(époux ou épouse).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pic>
        <p:nvPicPr>
          <p:cNvPr id="5" name="Image 4">
            <a:hlinkClick r:id="rId3" action="ppaction://hlinksldjump"/>
            <a:extLst>
              <a:ext uri="{FF2B5EF4-FFF2-40B4-BE49-F238E27FC236}">
                <a16:creationId xmlns:a16="http://schemas.microsoft.com/office/drawing/2014/main" id="{F810AB08-ADC5-4105-AD4E-2A167EFDD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312" y="5851485"/>
            <a:ext cx="816935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4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CA23F-7605-42AE-ACDD-EE9E21CA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Vit sans conjoint mais avec d’autres personnes</a:t>
            </a:r>
          </a:p>
        </p:txBody>
      </p:sp>
      <p:pic>
        <p:nvPicPr>
          <p:cNvPr id="6" name="Espace réservé du contenu 5" descr="Homme">
            <a:extLst>
              <a:ext uri="{FF2B5EF4-FFF2-40B4-BE49-F238E27FC236}">
                <a16:creationId xmlns:a16="http://schemas.microsoft.com/office/drawing/2014/main" id="{815E770C-B1BF-44CD-B370-FFA23A4A8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0" y="1526486"/>
            <a:ext cx="914400" cy="914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82FDB-5B63-44A1-A51F-840E497C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71020-F2C4-4FC2-995E-BE4A8200930D}"/>
              </a:ext>
            </a:extLst>
          </p:cNvPr>
          <p:cNvSpPr/>
          <p:nvPr/>
        </p:nvSpPr>
        <p:spPr>
          <a:xfrm>
            <a:off x="3322299" y="2271717"/>
            <a:ext cx="249940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Chômeur</a:t>
            </a:r>
          </a:p>
        </p:txBody>
      </p:sp>
      <p:sp>
        <p:nvSpPr>
          <p:cNvPr id="8" name="Rectangle : coins arrondis 7">
            <a:hlinkClick r:id="rId4" action="ppaction://hlinksldjump"/>
            <a:extLst>
              <a:ext uri="{FF2B5EF4-FFF2-40B4-BE49-F238E27FC236}">
                <a16:creationId xmlns:a16="http://schemas.microsoft.com/office/drawing/2014/main" id="{166BF9BB-9F85-4CAC-A70A-3A6706A3848A}"/>
              </a:ext>
            </a:extLst>
          </p:cNvPr>
          <p:cNvSpPr/>
          <p:nvPr/>
        </p:nvSpPr>
        <p:spPr>
          <a:xfrm>
            <a:off x="457201" y="3861047"/>
            <a:ext cx="2468952" cy="2495267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avec des enfants</a:t>
            </a:r>
          </a:p>
        </p:txBody>
      </p:sp>
      <p:sp>
        <p:nvSpPr>
          <p:cNvPr id="9" name="Rectangle : coins arrondis 8">
            <a:hlinkClick r:id="rId5" action="ppaction://hlinksldjump"/>
            <a:extLst>
              <a:ext uri="{FF2B5EF4-FFF2-40B4-BE49-F238E27FC236}">
                <a16:creationId xmlns:a16="http://schemas.microsoft.com/office/drawing/2014/main" id="{97E0840E-6A0E-4D04-9D9F-1D30CA149B35}"/>
              </a:ext>
            </a:extLst>
          </p:cNvPr>
          <p:cNvSpPr/>
          <p:nvPr/>
        </p:nvSpPr>
        <p:spPr>
          <a:xfrm>
            <a:off x="3322299" y="3861047"/>
            <a:ext cx="2556185" cy="2495283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avec des enfants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parents ou alliés jusqu’au 3</a:t>
            </a:r>
            <a:r>
              <a:rPr kumimoji="0" lang="fr-BE" sz="2400" b="0" i="0" u="none" strike="noStrike" kern="1200" cap="none" spc="0" normalizeH="0" baseline="3000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sp>
        <p:nvSpPr>
          <p:cNvPr id="10" name="Rectangle : coins arrondis 9">
            <a:hlinkClick r:id="rId6" action="ppaction://hlinksldjump"/>
            <a:extLst>
              <a:ext uri="{FF2B5EF4-FFF2-40B4-BE49-F238E27FC236}">
                <a16:creationId xmlns:a16="http://schemas.microsoft.com/office/drawing/2014/main" id="{3E0A3BF3-58EA-474D-9B2C-B6E98B44E0F1}"/>
              </a:ext>
            </a:extLst>
          </p:cNvPr>
          <p:cNvSpPr/>
          <p:nvPr/>
        </p:nvSpPr>
        <p:spPr>
          <a:xfrm>
            <a:off x="6372200" y="3861047"/>
            <a:ext cx="2592288" cy="2495263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 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avec des parents ou alliés jusqu’au 3</a:t>
            </a:r>
            <a:r>
              <a:rPr kumimoji="0" lang="fr-BE" sz="2400" b="0" i="0" u="none" strike="noStrike" kern="1200" cap="none" spc="0" normalizeH="0" baseline="3000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4037733-BD76-4720-9005-2E036C3B9FD7}"/>
              </a:ext>
            </a:extLst>
          </p:cNvPr>
          <p:cNvCxnSpPr/>
          <p:nvPr/>
        </p:nvCxnSpPr>
        <p:spPr>
          <a:xfrm flipV="1">
            <a:off x="169168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34C5E9F-B72C-48E9-8C28-5991A5FF9087}"/>
              </a:ext>
            </a:extLst>
          </p:cNvPr>
          <p:cNvCxnSpPr/>
          <p:nvPr/>
        </p:nvCxnSpPr>
        <p:spPr>
          <a:xfrm flipV="1">
            <a:off x="4572000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13A8514-150D-43F0-AF39-F9A9ED31ED4C}"/>
              </a:ext>
            </a:extLst>
          </p:cNvPr>
          <p:cNvCxnSpPr/>
          <p:nvPr/>
        </p:nvCxnSpPr>
        <p:spPr>
          <a:xfrm flipV="1">
            <a:off x="7380312" y="342900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CF556D3-422C-4EBA-9153-C5A9A3662F2E}"/>
              </a:ext>
            </a:extLst>
          </p:cNvPr>
          <p:cNvCxnSpPr/>
          <p:nvPr/>
        </p:nvCxnSpPr>
        <p:spPr>
          <a:xfrm>
            <a:off x="1691680" y="3429000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69E8D1F-B888-4D5E-BA51-68163FB7B40F}"/>
              </a:ext>
            </a:extLst>
          </p:cNvPr>
          <p:cNvCxnSpPr>
            <a:endCxn id="7" idx="2"/>
          </p:cNvCxnSpPr>
          <p:nvPr/>
        </p:nvCxnSpPr>
        <p:spPr>
          <a:xfrm flipV="1">
            <a:off x="4572000" y="3102714"/>
            <a:ext cx="0" cy="326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34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Vit exclusivement avec des enfants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i="1" dirty="0"/>
              <a:t>« </a:t>
            </a:r>
            <a:r>
              <a:rPr lang="fr-BE" i="1" u="sng" dirty="0"/>
              <a:t>Chef de ménage </a:t>
            </a:r>
            <a:r>
              <a:rPr lang="fr-BE" i="1" dirty="0"/>
              <a:t>» si :</a:t>
            </a:r>
          </a:p>
          <a:p>
            <a:pPr marL="0" indent="0">
              <a:spcBef>
                <a:spcPts val="0"/>
              </a:spcBef>
              <a:buNone/>
            </a:pPr>
            <a:endParaRPr lang="fr-BE" sz="1600" i="1" dirty="0"/>
          </a:p>
          <a:p>
            <a:pPr marL="457200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Peut prétendre aux AF pour au moins 1 des enfants. </a:t>
            </a:r>
            <a:r>
              <a:rPr lang="fr-BE" sz="3200" dirty="0"/>
              <a:t>Dans ce cas, les revenus des autres enfants n’entrent pas en considération.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1200" dirty="0"/>
          </a:p>
          <a:p>
            <a:pPr marL="441325" lvl="1" indent="0">
              <a:spcBef>
                <a:spcPts val="0"/>
              </a:spcBef>
              <a:buNone/>
            </a:pPr>
            <a:r>
              <a:rPr lang="fr-BE" sz="3200" b="1" i="1" u="sng" dirty="0">
                <a:solidFill>
                  <a:srgbClr val="C00000"/>
                </a:solidFill>
              </a:rPr>
              <a:t>OU</a:t>
            </a:r>
          </a:p>
          <a:p>
            <a:pPr marL="441325" lvl="1" indent="0">
              <a:spcBef>
                <a:spcPts val="0"/>
              </a:spcBef>
              <a:buNone/>
            </a:pPr>
            <a:endParaRPr lang="fr-BE" sz="1200" b="1" i="1" u="sng" dirty="0">
              <a:solidFill>
                <a:srgbClr val="FF0000"/>
              </a:solidFill>
            </a:endParaRPr>
          </a:p>
          <a:p>
            <a:pPr marL="457200" lvl="1" indent="-457200"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Aucun des enfants ne dispose d’un revenu professionnel ou de remplacement.</a:t>
            </a:r>
            <a:endParaRPr lang="fr-FR" sz="3200" b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7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3600" b="1" i="1" dirty="0"/>
              <a:t>Vit exclusivement avec enfant(s) et parent(s) ou allié(s) jusqu’au 3</a:t>
            </a:r>
            <a:r>
              <a:rPr lang="fr-BE" sz="3600" b="1" i="1" baseline="30000" dirty="0"/>
              <a:t>ème</a:t>
            </a:r>
            <a:r>
              <a:rPr lang="fr-BE" sz="3600" b="1" i="1" dirty="0"/>
              <a:t> degré</a:t>
            </a:r>
            <a:endParaRPr lang="en-US" sz="36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fr-BE" i="1" dirty="0"/>
              <a:t>« </a:t>
            </a:r>
            <a:r>
              <a:rPr lang="fr-BE" i="1" u="sng" dirty="0"/>
              <a:t>Chef de ménage</a:t>
            </a:r>
            <a:r>
              <a:rPr lang="fr-BE" i="1" dirty="0"/>
              <a:t> » si :</a:t>
            </a:r>
          </a:p>
          <a:p>
            <a:pPr>
              <a:spcBef>
                <a:spcPts val="0"/>
              </a:spcBef>
              <a:buNone/>
            </a:pPr>
            <a:endParaRPr lang="fr-BE" sz="1200" i="1" u="sng" dirty="0"/>
          </a:p>
          <a:p>
            <a:pPr marL="457200" lvl="1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Peut prétendre aux AF pour au moins 1 des enfants,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1000" b="1" dirty="0"/>
          </a:p>
          <a:p>
            <a:pPr marL="441325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BE" b="1" i="1" u="sng" dirty="0">
                <a:solidFill>
                  <a:srgbClr val="C00000"/>
                </a:solidFill>
              </a:rPr>
              <a:t>ET</a:t>
            </a:r>
          </a:p>
          <a:p>
            <a:pPr marL="441325" lvl="1" indent="0">
              <a:spcBef>
                <a:spcPts val="0"/>
              </a:spcBef>
              <a:buNone/>
            </a:pPr>
            <a:endParaRPr lang="fr-BE" sz="1050" b="1" dirty="0">
              <a:solidFill>
                <a:srgbClr val="C00000"/>
              </a:solidFill>
            </a:endParaRPr>
          </a:p>
          <a:p>
            <a:pPr marL="457200" lvl="1" indent="-457200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fr-BE" sz="3200" b="1" dirty="0"/>
              <a:t>Les autres parents ou alliés jusqu’au 3</a:t>
            </a:r>
            <a:r>
              <a:rPr lang="fr-BE" sz="3200" b="1" baseline="30000" dirty="0"/>
              <a:t>ème</a:t>
            </a:r>
            <a:r>
              <a:rPr lang="fr-BE" sz="3200" b="1" dirty="0"/>
              <a:t> degré ne disposent ni de revenu professionnel, ni de revenu de remplacement</a:t>
            </a:r>
            <a:r>
              <a:rPr lang="fr-BE" sz="3200" dirty="0"/>
              <a:t>.</a:t>
            </a:r>
            <a:endParaRPr lang="fr-FR" sz="32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267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Parent(s) ou allié(s) </a:t>
            </a:r>
            <a:br>
              <a:rPr lang="fr-BE" b="1" i="1" dirty="0"/>
            </a:br>
            <a:r>
              <a:rPr lang="fr-BE" b="1" i="1" dirty="0"/>
              <a:t>jusqu’au 3</a:t>
            </a:r>
            <a:r>
              <a:rPr lang="fr-BE" b="1" i="1" baseline="30000" dirty="0"/>
              <a:t>ème</a:t>
            </a:r>
            <a:r>
              <a:rPr lang="fr-BE" b="1" i="1" dirty="0"/>
              <a:t> degré</a:t>
            </a:r>
            <a:endParaRPr lang="en-US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5124" name="Picture 4"/>
          <p:cNvPicPr preferRelativeResize="0">
            <a:picLocks noGrp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556792"/>
            <a:ext cx="5760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382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Vit exclusivement avec parent(s) ou allié(s) jusqu’au 3</a:t>
            </a:r>
            <a:r>
              <a:rPr lang="fr-BE" sz="4000" b="1" i="1" baseline="30000" dirty="0"/>
              <a:t>ème</a:t>
            </a:r>
            <a:r>
              <a:rPr lang="fr-BE" sz="4000" b="1" i="1" dirty="0"/>
              <a:t> degré</a:t>
            </a:r>
            <a:endParaRPr lang="en-US" sz="40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fr-BE" i="1" dirty="0"/>
              <a:t>« </a:t>
            </a:r>
            <a:r>
              <a:rPr lang="fr-BE" i="1" u="sng" dirty="0"/>
              <a:t>Chef de ménage</a:t>
            </a:r>
            <a:r>
              <a:rPr lang="fr-BE" i="1" dirty="0"/>
              <a:t> » si :</a:t>
            </a:r>
          </a:p>
          <a:p>
            <a:pPr>
              <a:spcBef>
                <a:spcPts val="0"/>
              </a:spcBef>
              <a:buNone/>
            </a:pPr>
            <a:endParaRPr lang="fr-BE" dirty="0"/>
          </a:p>
          <a:p>
            <a:pPr marL="0" indent="0">
              <a:spcBef>
                <a:spcPts val="0"/>
              </a:spcBef>
              <a:buNone/>
            </a:pPr>
            <a:r>
              <a:rPr lang="fr-BE" b="1" dirty="0"/>
              <a:t>Les parents ou alliés jusqu’au 3</a:t>
            </a:r>
            <a:r>
              <a:rPr lang="fr-BE" b="1" baseline="30000" dirty="0"/>
              <a:t>ème</a:t>
            </a:r>
            <a:r>
              <a:rPr lang="fr-BE" b="1" dirty="0"/>
              <a:t> degré ne disposent d’aucun revenu professionnel, et d’aucun revenu de remplacement.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0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Homme">
            <a:extLst>
              <a:ext uri="{FF2B5EF4-FFF2-40B4-BE49-F238E27FC236}">
                <a16:creationId xmlns:a16="http://schemas.microsoft.com/office/drawing/2014/main" id="{815E770C-B1BF-44CD-B370-FFA23A4A8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0" y="149613"/>
            <a:ext cx="914400" cy="9144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682FDB-5B63-44A1-A51F-840E497C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71020-F2C4-4FC2-995E-BE4A8200930D}"/>
              </a:ext>
            </a:extLst>
          </p:cNvPr>
          <p:cNvSpPr/>
          <p:nvPr/>
        </p:nvSpPr>
        <p:spPr>
          <a:xfrm>
            <a:off x="3305050" y="1180587"/>
            <a:ext cx="249940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Chômeur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66BF9BB-9F85-4CAC-A70A-3A6706A3848A}"/>
              </a:ext>
            </a:extLst>
          </p:cNvPr>
          <p:cNvSpPr/>
          <p:nvPr/>
        </p:nvSpPr>
        <p:spPr>
          <a:xfrm>
            <a:off x="490334" y="2672291"/>
            <a:ext cx="2468952" cy="2495267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avec des enfants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7E0840E-6A0E-4D04-9D9F-1D30CA149B35}"/>
              </a:ext>
            </a:extLst>
          </p:cNvPr>
          <p:cNvSpPr/>
          <p:nvPr/>
        </p:nvSpPr>
        <p:spPr>
          <a:xfrm>
            <a:off x="3322299" y="2664156"/>
            <a:ext cx="2556185" cy="2495283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avec des enfants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&amp;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parents ou alliés jusqu’au 3</a:t>
            </a:r>
            <a:r>
              <a:rPr kumimoji="0" lang="fr-BE" sz="2400" b="0" i="0" u="none" strike="noStrike" kern="1200" cap="none" spc="0" normalizeH="0" baseline="3000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E0A3BF3-58EA-474D-9B2C-B6E98B44E0F1}"/>
              </a:ext>
            </a:extLst>
          </p:cNvPr>
          <p:cNvSpPr/>
          <p:nvPr/>
        </p:nvSpPr>
        <p:spPr>
          <a:xfrm>
            <a:off x="6201620" y="2672295"/>
            <a:ext cx="2592288" cy="2495263"/>
          </a:xfrm>
          <a:prstGeom prst="roundRect">
            <a:avLst/>
          </a:prstGeom>
          <a:gradFill>
            <a:gsLst>
              <a:gs pos="0">
                <a:srgbClr val="FFFFCC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Vit </a:t>
            </a:r>
            <a:r>
              <a:rPr kumimoji="0" lang="fr-BE" sz="24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exclusivement 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avec des parents ou alliés jusqu’au 3</a:t>
            </a:r>
            <a:r>
              <a:rPr kumimoji="0" lang="fr-BE" sz="2400" b="0" i="0" u="none" strike="noStrike" kern="1200" cap="none" spc="0" normalizeH="0" baseline="3000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2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4037733-BD76-4720-9005-2E036C3B9FD7}"/>
              </a:ext>
            </a:extLst>
          </p:cNvPr>
          <p:cNvCxnSpPr/>
          <p:nvPr/>
        </p:nvCxnSpPr>
        <p:spPr>
          <a:xfrm flipV="1">
            <a:off x="1710435" y="233787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34C5E9F-B72C-48E9-8C28-5991A5FF9087}"/>
              </a:ext>
            </a:extLst>
          </p:cNvPr>
          <p:cNvCxnSpPr/>
          <p:nvPr/>
        </p:nvCxnSpPr>
        <p:spPr>
          <a:xfrm flipV="1">
            <a:off x="4554751" y="233787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813A8514-150D-43F0-AF39-F9A9ED31ED4C}"/>
              </a:ext>
            </a:extLst>
          </p:cNvPr>
          <p:cNvCxnSpPr/>
          <p:nvPr/>
        </p:nvCxnSpPr>
        <p:spPr>
          <a:xfrm flipV="1">
            <a:off x="7399067" y="2337870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CF556D3-422C-4EBA-9153-C5A9A3662F2E}"/>
              </a:ext>
            </a:extLst>
          </p:cNvPr>
          <p:cNvCxnSpPr/>
          <p:nvPr/>
        </p:nvCxnSpPr>
        <p:spPr>
          <a:xfrm>
            <a:off x="1710435" y="2341937"/>
            <a:ext cx="5688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169E8D1F-B888-4D5E-BA51-68163FB7B40F}"/>
              </a:ext>
            </a:extLst>
          </p:cNvPr>
          <p:cNvCxnSpPr>
            <a:endCxn id="7" idx="2"/>
          </p:cNvCxnSpPr>
          <p:nvPr/>
        </p:nvCxnSpPr>
        <p:spPr>
          <a:xfrm flipV="1">
            <a:off x="4554751" y="2011584"/>
            <a:ext cx="0" cy="326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108D74DE-FF3D-4FC5-9638-9759B068B494}"/>
              </a:ext>
            </a:extLst>
          </p:cNvPr>
          <p:cNvSpPr txBox="1"/>
          <p:nvPr/>
        </p:nvSpPr>
        <p:spPr>
          <a:xfrm>
            <a:off x="395536" y="5373216"/>
            <a:ext cx="8398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b="1" dirty="0">
                <a:solidFill>
                  <a:srgbClr val="C00000"/>
                </a:solidFill>
              </a:rPr>
              <a:t>Neutralisation d’une tierce personne sans revenus professionnels ni revenus de remplacement </a:t>
            </a:r>
          </a:p>
        </p:txBody>
      </p:sp>
      <p:pic>
        <p:nvPicPr>
          <p:cNvPr id="12" name="Image 11">
            <a:hlinkClick r:id="rId4" action="ppaction://hlinksldjump"/>
            <a:extLst>
              <a:ext uri="{FF2B5EF4-FFF2-40B4-BE49-F238E27FC236}">
                <a16:creationId xmlns:a16="http://schemas.microsoft.com/office/drawing/2014/main" id="{906A3833-D17B-47FA-8484-448E3D643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67" y="6327323"/>
            <a:ext cx="816935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2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Cohabitant – </a:t>
            </a:r>
            <a:r>
              <a:rPr lang="fr-BE" sz="4000" b="1" i="1" dirty="0">
                <a:solidFill>
                  <a:srgbClr val="C00000"/>
                </a:solidFill>
              </a:rPr>
              <a:t>B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857224" y="1600200"/>
            <a:ext cx="3929090" cy="4525963"/>
          </a:xfrm>
        </p:spPr>
        <p:txBody>
          <a:bodyPr/>
          <a:lstStyle/>
          <a:p>
            <a:pPr marL="0" indent="0">
              <a:buNone/>
            </a:pPr>
            <a:endParaRPr lang="fr-BE" sz="3600" dirty="0"/>
          </a:p>
          <a:p>
            <a:pPr marL="0" indent="0">
              <a:buNone/>
            </a:pPr>
            <a:r>
              <a:rPr lang="fr-BE" sz="3600" dirty="0"/>
              <a:t>Le travailleur qui n’est ni chef de ménage, ni isolé …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29BEF0-0296-4EB0-8C1F-29403612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13" y="1886371"/>
            <a:ext cx="4217791" cy="39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394600" y="6591087"/>
            <a:ext cx="40002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133" y="780045"/>
            <a:ext cx="594462" cy="36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Vit Seul?</a:t>
            </a:r>
          </a:p>
        </p:txBody>
      </p:sp>
      <p:cxnSp>
        <p:nvCxnSpPr>
          <p:cNvPr id="20" name="Connecteur droit avec flèche 19"/>
          <p:cNvCxnSpPr>
            <a:stCxn id="15" idx="2"/>
            <a:endCxn id="36" idx="0"/>
          </p:cNvCxnSpPr>
          <p:nvPr/>
        </p:nvCxnSpPr>
        <p:spPr>
          <a:xfrm>
            <a:off x="665364" y="1140085"/>
            <a:ext cx="5172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596032" y="1175951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cxnSp>
        <p:nvCxnSpPr>
          <p:cNvPr id="33" name="Connecteur droit avec flèche 32"/>
          <p:cNvCxnSpPr>
            <a:endCxn id="26" idx="2"/>
          </p:cNvCxnSpPr>
          <p:nvPr/>
        </p:nvCxnSpPr>
        <p:spPr>
          <a:xfrm flipV="1">
            <a:off x="962594" y="967036"/>
            <a:ext cx="441054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78477" y="1946951"/>
            <a:ext cx="584117" cy="5612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Paie une PA?</a:t>
            </a:r>
          </a:p>
        </p:txBody>
      </p:sp>
      <p:cxnSp>
        <p:nvCxnSpPr>
          <p:cNvPr id="38" name="Connecteur droit avec flèche 37"/>
          <p:cNvCxnSpPr/>
          <p:nvPr/>
        </p:nvCxnSpPr>
        <p:spPr>
          <a:xfrm flipH="1">
            <a:off x="378477" y="2508237"/>
            <a:ext cx="167982" cy="8068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844721" y="2498102"/>
            <a:ext cx="155909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 rot="-900000">
            <a:off x="822664" y="2489619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45" name="Octogone 44"/>
          <p:cNvSpPr/>
          <p:nvPr/>
        </p:nvSpPr>
        <p:spPr>
          <a:xfrm>
            <a:off x="170833" y="3324948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</p:txBody>
      </p:sp>
      <p:sp>
        <p:nvSpPr>
          <p:cNvPr id="46" name="ZoneTexte 45"/>
          <p:cNvSpPr txBox="1"/>
          <p:nvPr/>
        </p:nvSpPr>
        <p:spPr>
          <a:xfrm rot="900000">
            <a:off x="243683" y="2470627"/>
            <a:ext cx="338554" cy="725970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26" name="Ellipse 25"/>
          <p:cNvSpPr/>
          <p:nvPr/>
        </p:nvSpPr>
        <p:spPr>
          <a:xfrm>
            <a:off x="1403648" y="548680"/>
            <a:ext cx="1139770" cy="836712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Vit avec conjoint/ partenaire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</p:txBody>
      </p:sp>
      <p:sp>
        <p:nvSpPr>
          <p:cNvPr id="48" name="ZoneTexte 47"/>
          <p:cNvSpPr txBox="1"/>
          <p:nvPr/>
        </p:nvSpPr>
        <p:spPr>
          <a:xfrm>
            <a:off x="790755" y="780045"/>
            <a:ext cx="736293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52" name="Octogone 51"/>
          <p:cNvSpPr/>
          <p:nvPr/>
        </p:nvSpPr>
        <p:spPr>
          <a:xfrm>
            <a:off x="799446" y="3315102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58" name="ZoneTexte 57"/>
          <p:cNvSpPr txBox="1"/>
          <p:nvPr/>
        </p:nvSpPr>
        <p:spPr>
          <a:xfrm>
            <a:off x="1880415" y="1349892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59" name="Ellipse 58"/>
          <p:cNvSpPr/>
          <p:nvPr/>
        </p:nvSpPr>
        <p:spPr>
          <a:xfrm>
            <a:off x="1253034" y="2196230"/>
            <a:ext cx="1486481" cy="94738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Conjoint dispose de revenus professionnels ou de remplacement ?</a:t>
            </a:r>
          </a:p>
        </p:txBody>
      </p:sp>
      <p:cxnSp>
        <p:nvCxnSpPr>
          <p:cNvPr id="60" name="Connecteur droit avec flèche 59"/>
          <p:cNvCxnSpPr/>
          <p:nvPr/>
        </p:nvCxnSpPr>
        <p:spPr>
          <a:xfrm flipH="1">
            <a:off x="1527048" y="3101516"/>
            <a:ext cx="167982" cy="8068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 rot="900000">
            <a:off x="1365550" y="3145425"/>
            <a:ext cx="338554" cy="725970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cxnSp>
        <p:nvCxnSpPr>
          <p:cNvPr id="62" name="Connecteur droit avec flèche 61"/>
          <p:cNvCxnSpPr/>
          <p:nvPr/>
        </p:nvCxnSpPr>
        <p:spPr>
          <a:xfrm>
            <a:off x="2213254" y="3125892"/>
            <a:ext cx="155909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 rot="-900000">
            <a:off x="2197227" y="3146751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65" name="Octogone 64"/>
          <p:cNvSpPr/>
          <p:nvPr/>
        </p:nvSpPr>
        <p:spPr>
          <a:xfrm>
            <a:off x="1317183" y="3915304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66" name="Octogone 65"/>
          <p:cNvSpPr/>
          <p:nvPr/>
        </p:nvSpPr>
        <p:spPr>
          <a:xfrm>
            <a:off x="2156504" y="3937864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cxnSp>
        <p:nvCxnSpPr>
          <p:cNvPr id="67" name="Connecteur droit avec flèche 66"/>
          <p:cNvCxnSpPr>
            <a:endCxn id="47" idx="1"/>
          </p:cNvCxnSpPr>
          <p:nvPr/>
        </p:nvCxnSpPr>
        <p:spPr>
          <a:xfrm flipV="1">
            <a:off x="2543418" y="968202"/>
            <a:ext cx="620034" cy="1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2457201" y="780045"/>
            <a:ext cx="793980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47" name="Organigramme : Préparation 46"/>
          <p:cNvSpPr/>
          <p:nvPr/>
        </p:nvSpPr>
        <p:spPr>
          <a:xfrm>
            <a:off x="3163452" y="643786"/>
            <a:ext cx="1543060" cy="648831"/>
          </a:xfrm>
          <a:prstGeom prst="flowChartPreparatio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Vit exclusivement avec des enfants</a:t>
            </a:r>
          </a:p>
        </p:txBody>
      </p:sp>
      <p:cxnSp>
        <p:nvCxnSpPr>
          <p:cNvPr id="71" name="Connecteur droit avec flèche 70"/>
          <p:cNvCxnSpPr/>
          <p:nvPr/>
        </p:nvCxnSpPr>
        <p:spPr>
          <a:xfrm rot="-60000" flipH="1">
            <a:off x="3855903" y="1283180"/>
            <a:ext cx="17558" cy="794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ZoneTexte 71"/>
          <p:cNvSpPr txBox="1"/>
          <p:nvPr/>
        </p:nvSpPr>
        <p:spPr>
          <a:xfrm>
            <a:off x="3798166" y="1345125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73" name="Organigramme : Préparation 72"/>
          <p:cNvSpPr/>
          <p:nvPr/>
        </p:nvSpPr>
        <p:spPr>
          <a:xfrm>
            <a:off x="3103990" y="2077914"/>
            <a:ext cx="1503826" cy="722538"/>
          </a:xfrm>
          <a:prstGeom prst="flowChartPreparatio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Perçoit les AF pour au moins 1 enfant</a:t>
            </a:r>
          </a:p>
        </p:txBody>
      </p:sp>
      <p:sp>
        <p:nvSpPr>
          <p:cNvPr id="77" name="Octogone 76"/>
          <p:cNvSpPr/>
          <p:nvPr/>
        </p:nvSpPr>
        <p:spPr>
          <a:xfrm>
            <a:off x="4351466" y="2978810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78" name="Organigramme : Préparation 77"/>
          <p:cNvSpPr/>
          <p:nvPr/>
        </p:nvSpPr>
        <p:spPr>
          <a:xfrm>
            <a:off x="2683852" y="3918410"/>
            <a:ext cx="1751783" cy="965225"/>
          </a:xfrm>
          <a:prstGeom prst="flowChartPreparation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moins 1 enfant dispose de revenus  professionnels ou de remplacement?</a:t>
            </a:r>
          </a:p>
        </p:txBody>
      </p:sp>
      <p:cxnSp>
        <p:nvCxnSpPr>
          <p:cNvPr id="81" name="Connecteur droit avec flèche 80"/>
          <p:cNvCxnSpPr/>
          <p:nvPr/>
        </p:nvCxnSpPr>
        <p:spPr>
          <a:xfrm flipH="1">
            <a:off x="3108379" y="4884337"/>
            <a:ext cx="167982" cy="8068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 rot="720000">
            <a:off x="2965029" y="4921933"/>
            <a:ext cx="338554" cy="664803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84" name="Octogone 83"/>
          <p:cNvSpPr/>
          <p:nvPr/>
        </p:nvSpPr>
        <p:spPr>
          <a:xfrm>
            <a:off x="2912576" y="5701569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85" name="Connecteur droit avec flèche 84"/>
          <p:cNvCxnSpPr/>
          <p:nvPr/>
        </p:nvCxnSpPr>
        <p:spPr>
          <a:xfrm>
            <a:off x="3858339" y="4894703"/>
            <a:ext cx="155909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ZoneTexte 85"/>
          <p:cNvSpPr txBox="1"/>
          <p:nvPr/>
        </p:nvSpPr>
        <p:spPr>
          <a:xfrm rot="-660000">
            <a:off x="3840860" y="4909981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87" name="Octogone 86"/>
          <p:cNvSpPr/>
          <p:nvPr/>
        </p:nvSpPr>
        <p:spPr>
          <a:xfrm>
            <a:off x="3806272" y="5708392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cxnSp>
        <p:nvCxnSpPr>
          <p:cNvPr id="98" name="Connecteur droit avec flèche 97"/>
          <p:cNvCxnSpPr/>
          <p:nvPr/>
        </p:nvCxnSpPr>
        <p:spPr>
          <a:xfrm>
            <a:off x="1968361" y="1371590"/>
            <a:ext cx="5172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eur droit avec flèche 100"/>
          <p:cNvCxnSpPr>
            <a:endCxn id="78" idx="0"/>
          </p:cNvCxnSpPr>
          <p:nvPr/>
        </p:nvCxnSpPr>
        <p:spPr>
          <a:xfrm flipH="1">
            <a:off x="3559744" y="2808534"/>
            <a:ext cx="13826" cy="11098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necteur en angle 94"/>
          <p:cNvCxnSpPr>
            <a:stCxn id="73" idx="2"/>
          </p:cNvCxnSpPr>
          <p:nvPr/>
        </p:nvCxnSpPr>
        <p:spPr>
          <a:xfrm rot="16200000" flipH="1">
            <a:off x="3899233" y="2757121"/>
            <a:ext cx="396990" cy="48365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3743720" y="2994869"/>
            <a:ext cx="740296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cxnSp>
        <p:nvCxnSpPr>
          <p:cNvPr id="110" name="Connecteur droit avec flèche 109"/>
          <p:cNvCxnSpPr/>
          <p:nvPr/>
        </p:nvCxnSpPr>
        <p:spPr>
          <a:xfrm flipV="1">
            <a:off x="4694440" y="967036"/>
            <a:ext cx="681422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Connecteur droit avec flèche 110"/>
          <p:cNvCxnSpPr/>
          <p:nvPr/>
        </p:nvCxnSpPr>
        <p:spPr>
          <a:xfrm>
            <a:off x="6000981" y="1865534"/>
            <a:ext cx="5172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Nuage 96"/>
          <p:cNvSpPr/>
          <p:nvPr/>
        </p:nvSpPr>
        <p:spPr>
          <a:xfrm>
            <a:off x="5244859" y="582983"/>
            <a:ext cx="1490763" cy="1323926"/>
          </a:xfrm>
          <a:prstGeom prst="clou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Vit  exclusivement avec  des enfants et  des parents ou alliés jusqu’au 3</a:t>
            </a:r>
            <a:r>
              <a:rPr kumimoji="0" lang="fr-BE" sz="10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sp>
        <p:nvSpPr>
          <p:cNvPr id="115" name="ZoneTexte 114"/>
          <p:cNvSpPr txBox="1"/>
          <p:nvPr/>
        </p:nvSpPr>
        <p:spPr>
          <a:xfrm>
            <a:off x="5915563" y="1946951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116" name="Nuage 115"/>
          <p:cNvSpPr/>
          <p:nvPr/>
        </p:nvSpPr>
        <p:spPr>
          <a:xfrm>
            <a:off x="5352225" y="2622235"/>
            <a:ext cx="1343964" cy="821485"/>
          </a:xfrm>
          <a:prstGeom prst="clou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 pour au moins 1 enfant?</a:t>
            </a:r>
          </a:p>
        </p:txBody>
      </p:sp>
      <p:cxnSp>
        <p:nvCxnSpPr>
          <p:cNvPr id="117" name="Connecteur droit avec flèche 116"/>
          <p:cNvCxnSpPr/>
          <p:nvPr/>
        </p:nvCxnSpPr>
        <p:spPr>
          <a:xfrm>
            <a:off x="6002499" y="3449762"/>
            <a:ext cx="5172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ZoneTexte 117"/>
          <p:cNvSpPr txBox="1"/>
          <p:nvPr/>
        </p:nvSpPr>
        <p:spPr>
          <a:xfrm>
            <a:off x="5915563" y="3499421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119" name="Nuage 118"/>
          <p:cNvSpPr/>
          <p:nvPr/>
        </p:nvSpPr>
        <p:spPr>
          <a:xfrm>
            <a:off x="5244859" y="4207415"/>
            <a:ext cx="1572044" cy="1277036"/>
          </a:xfrm>
          <a:prstGeom prst="clou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Parent ou allié dispose de revenus professionnels ou de remplacement?</a:t>
            </a:r>
          </a:p>
        </p:txBody>
      </p:sp>
      <p:cxnSp>
        <p:nvCxnSpPr>
          <p:cNvPr id="124" name="Connecteur droit avec flèche 123"/>
          <p:cNvCxnSpPr/>
          <p:nvPr/>
        </p:nvCxnSpPr>
        <p:spPr>
          <a:xfrm flipH="1">
            <a:off x="5510615" y="5401208"/>
            <a:ext cx="205194" cy="9715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ZoneTexte 124"/>
          <p:cNvSpPr txBox="1"/>
          <p:nvPr/>
        </p:nvSpPr>
        <p:spPr>
          <a:xfrm rot="900000">
            <a:off x="5357978" y="5596188"/>
            <a:ext cx="338554" cy="664803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126" name="Octogone 125"/>
          <p:cNvSpPr/>
          <p:nvPr/>
        </p:nvSpPr>
        <p:spPr>
          <a:xfrm>
            <a:off x="5303062" y="6386710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127" name="Connecteur droit avec flèche 126"/>
          <p:cNvCxnSpPr/>
          <p:nvPr/>
        </p:nvCxnSpPr>
        <p:spPr>
          <a:xfrm>
            <a:off x="6254117" y="5360527"/>
            <a:ext cx="212153" cy="10122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ZoneTexte 127"/>
          <p:cNvSpPr txBox="1"/>
          <p:nvPr/>
        </p:nvSpPr>
        <p:spPr>
          <a:xfrm rot="21091301">
            <a:off x="6292392" y="5540059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129" name="Octogone 128"/>
          <p:cNvSpPr/>
          <p:nvPr/>
        </p:nvSpPr>
        <p:spPr>
          <a:xfrm>
            <a:off x="6254117" y="6372728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46" name="ZoneTexte 145"/>
          <p:cNvSpPr txBox="1"/>
          <p:nvPr/>
        </p:nvSpPr>
        <p:spPr>
          <a:xfrm>
            <a:off x="4665003" y="774944"/>
            <a:ext cx="740296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1026" name="Rectangle à coins arrondis 1025"/>
          <p:cNvSpPr/>
          <p:nvPr/>
        </p:nvSpPr>
        <p:spPr>
          <a:xfrm>
            <a:off x="7288414" y="632227"/>
            <a:ext cx="1584176" cy="591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Vit exclusivement avec des parents ou alliés jusqu’au 3</a:t>
            </a:r>
            <a:r>
              <a:rPr kumimoji="0" lang="fr-BE" sz="1000" b="0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ème</a:t>
            </a: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degré</a:t>
            </a:r>
          </a:p>
        </p:txBody>
      </p:sp>
      <p:cxnSp>
        <p:nvCxnSpPr>
          <p:cNvPr id="149" name="Connecteur droit avec flèche 148"/>
          <p:cNvCxnSpPr>
            <a:endCxn id="151" idx="0"/>
          </p:cNvCxnSpPr>
          <p:nvPr/>
        </p:nvCxnSpPr>
        <p:spPr>
          <a:xfrm>
            <a:off x="8035071" y="1227324"/>
            <a:ext cx="0" cy="8576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ZoneTexte 149"/>
          <p:cNvSpPr txBox="1"/>
          <p:nvPr/>
        </p:nvSpPr>
        <p:spPr>
          <a:xfrm>
            <a:off x="7939939" y="1385392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151" name="Rectangle à coins arrondis 150"/>
          <p:cNvSpPr/>
          <p:nvPr/>
        </p:nvSpPr>
        <p:spPr>
          <a:xfrm>
            <a:off x="7242983" y="2084973"/>
            <a:ext cx="1584176" cy="59154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Parent ou allié dispose de revenus professionnels ou de remplacement?</a:t>
            </a:r>
          </a:p>
        </p:txBody>
      </p:sp>
      <p:cxnSp>
        <p:nvCxnSpPr>
          <p:cNvPr id="1036" name="Connecteur droit avec flèche 1035"/>
          <p:cNvCxnSpPr/>
          <p:nvPr/>
        </p:nvCxnSpPr>
        <p:spPr>
          <a:xfrm flipV="1">
            <a:off x="6669222" y="2380746"/>
            <a:ext cx="573761" cy="41970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ZoneTexte 155"/>
          <p:cNvSpPr txBox="1"/>
          <p:nvPr/>
        </p:nvSpPr>
        <p:spPr>
          <a:xfrm rot="3180000">
            <a:off x="6729536" y="2210582"/>
            <a:ext cx="338554" cy="664803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cxnSp>
        <p:nvCxnSpPr>
          <p:cNvPr id="157" name="Connecteur droit avec flèche 156"/>
          <p:cNvCxnSpPr/>
          <p:nvPr/>
        </p:nvCxnSpPr>
        <p:spPr>
          <a:xfrm rot="120000" flipV="1">
            <a:off x="6687657" y="928000"/>
            <a:ext cx="600757" cy="255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necteur droit avec flèche 159"/>
          <p:cNvCxnSpPr/>
          <p:nvPr/>
        </p:nvCxnSpPr>
        <p:spPr>
          <a:xfrm flipH="1">
            <a:off x="7610976" y="2675573"/>
            <a:ext cx="167982" cy="8068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ZoneTexte 160"/>
          <p:cNvSpPr txBox="1"/>
          <p:nvPr/>
        </p:nvSpPr>
        <p:spPr>
          <a:xfrm rot="720000">
            <a:off x="7441699" y="2750986"/>
            <a:ext cx="338554" cy="664803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162" name="Octogone 161"/>
          <p:cNvSpPr/>
          <p:nvPr/>
        </p:nvSpPr>
        <p:spPr>
          <a:xfrm>
            <a:off x="7367020" y="3492805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cxnSp>
        <p:nvCxnSpPr>
          <p:cNvPr id="163" name="Connecteur droit avec flèche 162"/>
          <p:cNvCxnSpPr/>
          <p:nvPr/>
        </p:nvCxnSpPr>
        <p:spPr>
          <a:xfrm>
            <a:off x="8360936" y="2685939"/>
            <a:ext cx="155909" cy="806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ZoneTexte 163"/>
          <p:cNvSpPr txBox="1"/>
          <p:nvPr/>
        </p:nvSpPr>
        <p:spPr>
          <a:xfrm rot="-660000">
            <a:off x="8358213" y="2754969"/>
            <a:ext cx="338554" cy="648072"/>
          </a:xfrm>
          <a:prstGeom prst="rect">
            <a:avLst/>
          </a:prstGeom>
          <a:noFill/>
        </p:spPr>
        <p:txBody>
          <a:bodyPr vert="vert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OUI</a:t>
            </a:r>
          </a:p>
        </p:txBody>
      </p:sp>
      <p:sp>
        <p:nvSpPr>
          <p:cNvPr id="165" name="Octogone 164"/>
          <p:cNvSpPr/>
          <p:nvPr/>
        </p:nvSpPr>
        <p:spPr>
          <a:xfrm>
            <a:off x="8301617" y="3492805"/>
            <a:ext cx="415105" cy="408753"/>
          </a:xfrm>
          <a:prstGeom prst="octag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</a:t>
            </a:r>
          </a:p>
        </p:txBody>
      </p:sp>
      <p:sp>
        <p:nvSpPr>
          <p:cNvPr id="1043" name="Accolade fermante 1042"/>
          <p:cNvSpPr/>
          <p:nvPr/>
        </p:nvSpPr>
        <p:spPr>
          <a:xfrm rot="16200000">
            <a:off x="5875370" y="-2345426"/>
            <a:ext cx="377198" cy="5801038"/>
          </a:xfrm>
          <a:prstGeom prst="rightBrac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4" name="ZoneTexte 1043"/>
          <p:cNvSpPr txBox="1"/>
          <p:nvPr/>
        </p:nvSpPr>
        <p:spPr>
          <a:xfrm>
            <a:off x="3190322" y="130963"/>
            <a:ext cx="5688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NEUTRALISATION  POSSIBLE D’UNE TIERCE PERSONNE SANS REVENU PROFESSIONNEL OU DE REMPLACEMENT</a:t>
            </a:r>
          </a:p>
        </p:txBody>
      </p:sp>
      <p:sp>
        <p:nvSpPr>
          <p:cNvPr id="172" name="ZoneTexte 171"/>
          <p:cNvSpPr txBox="1"/>
          <p:nvPr/>
        </p:nvSpPr>
        <p:spPr>
          <a:xfrm rot="5400000">
            <a:off x="3118199" y="3209570"/>
            <a:ext cx="736293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  <p:sp>
        <p:nvSpPr>
          <p:cNvPr id="174" name="ZoneTexte 173"/>
          <p:cNvSpPr txBox="1"/>
          <p:nvPr/>
        </p:nvSpPr>
        <p:spPr>
          <a:xfrm>
            <a:off x="6585954" y="749623"/>
            <a:ext cx="740296" cy="246221"/>
          </a:xfrm>
          <a:prstGeom prst="rect">
            <a:avLst/>
          </a:prstGeom>
          <a:noFill/>
        </p:spPr>
        <p:txBody>
          <a:bodyPr vert="horz" wrap="square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Déterminer la situation familiale ?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fr-FR" dirty="0"/>
          </a:p>
          <a:p>
            <a:pPr marL="609600" indent="-609600">
              <a:spcBef>
                <a:spcPts val="0"/>
              </a:spcBef>
              <a:buFontTx/>
              <a:buAutoNum type="arabicPeriod"/>
            </a:pPr>
            <a:r>
              <a:rPr lang="fr-FR" dirty="0"/>
              <a:t>Déterminer dans quelle situation de cohabitation l’assuré social se trouve.</a:t>
            </a:r>
            <a:r>
              <a:rPr lang="fr-BE" dirty="0"/>
              <a:t> </a:t>
            </a:r>
          </a:p>
          <a:p>
            <a:pPr marL="609600" indent="-609600">
              <a:spcBef>
                <a:spcPts val="0"/>
              </a:spcBef>
              <a:buNone/>
            </a:pPr>
            <a:r>
              <a:rPr lang="fr-BE" dirty="0">
                <a:sym typeface="Wingdings" pitchFamily="2" charset="2"/>
              </a:rPr>
              <a:t>	</a:t>
            </a:r>
            <a:r>
              <a:rPr lang="fr-BE" sz="2800" dirty="0">
                <a:solidFill>
                  <a:srgbClr val="C00000"/>
                </a:solidFill>
                <a:sym typeface="Wingdings" pitchFamily="2" charset="2"/>
              </a:rPr>
              <a:t></a:t>
            </a:r>
            <a:r>
              <a:rPr lang="fr-BE" dirty="0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fr-BE" b="1" dirty="0">
                <a:solidFill>
                  <a:srgbClr val="C00000"/>
                </a:solidFill>
                <a:sym typeface="Wingdings" pitchFamily="2" charset="2"/>
              </a:rPr>
              <a:t>Qui doit-on prendre en considération </a:t>
            </a:r>
            <a:r>
              <a:rPr lang="fr-FR" b="1" dirty="0">
                <a:solidFill>
                  <a:srgbClr val="C00000"/>
                </a:solidFill>
              </a:rPr>
              <a:t>?</a:t>
            </a:r>
            <a:endParaRPr lang="fr-BE" b="1" dirty="0">
              <a:solidFill>
                <a:srgbClr val="C00000"/>
              </a:solidFill>
            </a:endParaRPr>
          </a:p>
          <a:p>
            <a:pPr marL="609600" indent="-609600">
              <a:spcBef>
                <a:spcPts val="0"/>
              </a:spcBef>
              <a:buFont typeface="Wingdings" pitchFamily="2" charset="2"/>
              <a:buNone/>
            </a:pPr>
            <a:endParaRPr lang="fr-FR" dirty="0"/>
          </a:p>
          <a:p>
            <a:pPr marL="609600" indent="-609600">
              <a:spcBef>
                <a:spcPts val="0"/>
              </a:spcBef>
              <a:buFont typeface="Wingdings" pitchFamily="2" charset="2"/>
              <a:buNone/>
            </a:pPr>
            <a:r>
              <a:rPr lang="fr-FR" dirty="0"/>
              <a:t>2. </a:t>
            </a:r>
            <a:r>
              <a:rPr lang="fr-BE" dirty="0"/>
              <a:t>	</a:t>
            </a:r>
            <a:r>
              <a:rPr lang="fr-FR" dirty="0"/>
              <a:t>Déterminer si ces personnes ont des </a:t>
            </a:r>
            <a:r>
              <a:rPr lang="fr-FR" b="1" dirty="0">
                <a:solidFill>
                  <a:srgbClr val="C00000"/>
                </a:solidFill>
              </a:rPr>
              <a:t>revenus professionnels</a:t>
            </a:r>
            <a:r>
              <a:rPr lang="fr-FR" dirty="0"/>
              <a:t> ou </a:t>
            </a:r>
            <a:r>
              <a:rPr lang="fr-FR" b="1" dirty="0">
                <a:solidFill>
                  <a:srgbClr val="C00000"/>
                </a:solidFill>
              </a:rPr>
              <a:t>de remplacements </a:t>
            </a:r>
            <a:r>
              <a:rPr lang="fr-FR" dirty="0"/>
              <a:t>suivant les définitions de ces revenus.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4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1</a:t>
            </a:r>
            <a:endParaRPr lang="en-US" sz="4000" b="1" i="1" dirty="0"/>
          </a:p>
        </p:txBody>
      </p:sp>
      <p:sp>
        <p:nvSpPr>
          <p:cNvPr id="6" name="ZoneTexte 5"/>
          <p:cNvSpPr txBox="1"/>
          <p:nvPr/>
        </p:nvSpPr>
        <p:spPr>
          <a:xfrm>
            <a:off x="3420786" y="1916726"/>
            <a:ext cx="43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000" b="1" dirty="0"/>
              <a:t>+</a:t>
            </a:r>
            <a:endParaRPr lang="en-US" sz="4000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2196650" y="3348718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Chômeur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930776" y="3342646"/>
            <a:ext cx="124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Partenaire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3399318" y="6077939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Tante</a:t>
            </a:r>
            <a:endParaRPr lang="en-US" b="1" i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4658951" y="4741373"/>
            <a:ext cx="2419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Bénéficie AMI</a:t>
            </a:r>
          </a:p>
          <a:p>
            <a:r>
              <a:rPr lang="en-US" dirty="0"/>
              <a:t>± 950 € </a:t>
            </a:r>
            <a:r>
              <a:rPr lang="fr-BE" dirty="0"/>
              <a:t>brut/mois.</a:t>
            </a:r>
          </a:p>
        </p:txBody>
      </p:sp>
      <p:pic>
        <p:nvPicPr>
          <p:cNvPr id="17" name="Image 16"/>
          <p:cNvPicPr preferRelativeResize="0">
            <a:picLocks/>
          </p:cNvPicPr>
          <p:nvPr/>
        </p:nvPicPr>
        <p:blipFill rotWithShape="1">
          <a:blip r:embed="rId2"/>
          <a:srcRect l="22481" r="16223"/>
          <a:stretch/>
        </p:blipFill>
        <p:spPr>
          <a:xfrm>
            <a:off x="4021584" y="1332877"/>
            <a:ext cx="1080120" cy="2041200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5270454" y="2041935"/>
            <a:ext cx="2354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Sans revenu prof. et sans revenu de rempl.</a:t>
            </a:r>
            <a:endParaRPr lang="en-US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340768"/>
            <a:ext cx="1080000" cy="2028292"/>
          </a:xfrm>
          <a:prstGeom prst="rect">
            <a:avLst/>
          </a:prstGeom>
        </p:spPr>
      </p:pic>
      <p:pic>
        <p:nvPicPr>
          <p:cNvPr id="21" name="Image 20"/>
          <p:cNvPicPr preferRelativeResize="0">
            <a:picLocks/>
          </p:cNvPicPr>
          <p:nvPr/>
        </p:nvPicPr>
        <p:blipFill rotWithShape="1">
          <a:blip r:embed="rId4"/>
          <a:srcRect l="20508" r="24335"/>
          <a:stretch/>
        </p:blipFill>
        <p:spPr>
          <a:xfrm>
            <a:off x="3420786" y="4051139"/>
            <a:ext cx="1080000" cy="2026800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565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2</a:t>
            </a:r>
            <a:endParaRPr lang="en-US" sz="4000" b="1" i="1" dirty="0"/>
          </a:p>
        </p:txBody>
      </p:sp>
      <p:sp>
        <p:nvSpPr>
          <p:cNvPr id="6" name="ZoneTexte 5"/>
          <p:cNvSpPr txBox="1"/>
          <p:nvPr/>
        </p:nvSpPr>
        <p:spPr>
          <a:xfrm>
            <a:off x="4050117" y="1940275"/>
            <a:ext cx="43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000" b="1" dirty="0"/>
              <a:t>+</a:t>
            </a:r>
            <a:endParaRPr lang="en-US" sz="4000" b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4125376" y="3092043"/>
            <a:ext cx="240731" cy="1842945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2727647" y="3426781"/>
            <a:ext cx="127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Grand-Père</a:t>
            </a:r>
            <a:endParaRPr lang="en-US" b="1" i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809352" y="2199920"/>
            <a:ext cx="2354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Sans revenu prof. et sans revenu de rempl.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4513551" y="3426785"/>
            <a:ext cx="148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Grand-Mère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3628859" y="6273251"/>
            <a:ext cx="123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Chômeuse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455567" y="2199919"/>
            <a:ext cx="227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Pension de retraite</a:t>
            </a:r>
          </a:p>
          <a:p>
            <a:r>
              <a:rPr lang="fr-BE" dirty="0"/>
              <a:t>2072,74 € brut/mois</a:t>
            </a:r>
            <a:endParaRPr lang="en-US" dirty="0"/>
          </a:p>
        </p:txBody>
      </p:sp>
      <p:sp>
        <p:nvSpPr>
          <p:cNvPr id="18" name="ZoneTexte 17"/>
          <p:cNvSpPr txBox="1"/>
          <p:nvPr/>
        </p:nvSpPr>
        <p:spPr>
          <a:xfrm>
            <a:off x="2406189" y="2293494"/>
            <a:ext cx="318437" cy="307777"/>
          </a:xfrm>
          <a:prstGeom prst="rect">
            <a:avLst/>
          </a:prstGeom>
          <a:noFill/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endParaRPr lang="en-US" dirty="0"/>
          </a:p>
        </p:txBody>
      </p:sp>
      <p:pic>
        <p:nvPicPr>
          <p:cNvPr id="16" name="Espace réservé du contenu 3"/>
          <p:cNvPicPr preferRelativeResize="0">
            <a:picLocks noGrp="1"/>
          </p:cNvPicPr>
          <p:nvPr>
            <p:ph idx="1"/>
          </p:nvPr>
        </p:nvPicPr>
        <p:blipFill rotWithShape="1">
          <a:blip r:embed="rId2"/>
          <a:srcRect l="16800" r="12641"/>
          <a:stretch/>
        </p:blipFill>
        <p:spPr>
          <a:xfrm>
            <a:off x="4692254" y="1417638"/>
            <a:ext cx="1080000" cy="20268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198" y="4230914"/>
            <a:ext cx="1079086" cy="2042337"/>
          </a:xfrm>
          <a:prstGeom prst="rect">
            <a:avLst/>
          </a:prstGeom>
        </p:spPr>
      </p:pic>
      <p:pic>
        <p:nvPicPr>
          <p:cNvPr id="19" name="Image 18"/>
          <p:cNvPicPr preferRelativeResize="0">
            <a:picLocks/>
          </p:cNvPicPr>
          <p:nvPr/>
        </p:nvPicPr>
        <p:blipFill rotWithShape="1">
          <a:blip r:embed="rId4"/>
          <a:srcRect l="26549" r="27725" b="7197"/>
          <a:stretch/>
        </p:blipFill>
        <p:spPr>
          <a:xfrm>
            <a:off x="5549395" y="4418680"/>
            <a:ext cx="900000" cy="1666800"/>
          </a:xfrm>
          <a:prstGeom prst="rect">
            <a:avLst/>
          </a:prstGeom>
        </p:spPr>
      </p:pic>
      <p:sp>
        <p:nvSpPr>
          <p:cNvPr id="20" name="Accolade fermante 19"/>
          <p:cNvSpPr/>
          <p:nvPr/>
        </p:nvSpPr>
        <p:spPr>
          <a:xfrm>
            <a:off x="5111888" y="4690480"/>
            <a:ext cx="240731" cy="11232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/>
          <p:cNvSpPr txBox="1"/>
          <p:nvPr/>
        </p:nvSpPr>
        <p:spPr>
          <a:xfrm>
            <a:off x="6614123" y="4928914"/>
            <a:ext cx="1822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Perçoit les AF </a:t>
            </a:r>
          </a:p>
          <a:p>
            <a:r>
              <a:rPr lang="fr-BE" dirty="0"/>
              <a:t>pour sa fille.</a:t>
            </a:r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981" y="1348119"/>
            <a:ext cx="1079086" cy="2030144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290974" y="6088585"/>
            <a:ext cx="148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</a:t>
            </a:r>
            <a:endParaRPr lang="en-US" b="1" i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05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3</a:t>
            </a:r>
            <a:endParaRPr lang="en-US" sz="4000" b="1" i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3184939" y="3019241"/>
            <a:ext cx="240731" cy="18429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2634484" y="346052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Chômeuse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173881" y="3444181"/>
            <a:ext cx="124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Amie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2777721" y="6144035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Enfants</a:t>
            </a:r>
            <a:endParaRPr lang="en-US" b="1" i="1" dirty="0"/>
          </a:p>
        </p:txBody>
      </p:sp>
      <p:sp>
        <p:nvSpPr>
          <p:cNvPr id="18" name="ZoneTexte 17"/>
          <p:cNvSpPr txBox="1"/>
          <p:nvPr/>
        </p:nvSpPr>
        <p:spPr>
          <a:xfrm>
            <a:off x="3172808" y="491053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&amp;</a:t>
            </a:r>
            <a:endParaRPr lang="en-US" sz="2000" b="1" dirty="0"/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3950118" y="2507447"/>
            <a:ext cx="115371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/>
          <p:cNvPicPr preferRelativeResize="0">
            <a:picLocks/>
          </p:cNvPicPr>
          <p:nvPr/>
        </p:nvPicPr>
        <p:blipFill rotWithShape="1">
          <a:blip r:embed="rId2"/>
          <a:srcRect l="69467" r="4576"/>
          <a:stretch/>
        </p:blipFill>
        <p:spPr>
          <a:xfrm>
            <a:off x="2717861" y="1426156"/>
            <a:ext cx="1080000" cy="2041200"/>
          </a:xfrm>
          <a:prstGeom prst="rect">
            <a:avLst/>
          </a:prstGeom>
        </p:spPr>
      </p:pic>
      <p:pic>
        <p:nvPicPr>
          <p:cNvPr id="21" name="Image 20"/>
          <p:cNvPicPr preferRelativeResize="0">
            <a:picLocks/>
          </p:cNvPicPr>
          <p:nvPr/>
        </p:nvPicPr>
        <p:blipFill rotWithShape="1">
          <a:blip r:embed="rId3"/>
          <a:srcRect l="4463" r="6904" b="2801"/>
          <a:stretch/>
        </p:blipFill>
        <p:spPr>
          <a:xfrm>
            <a:off x="2294964" y="4286165"/>
            <a:ext cx="900000" cy="16812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856" y="4101698"/>
            <a:ext cx="1079086" cy="2042337"/>
          </a:xfrm>
          <a:prstGeom prst="rect">
            <a:avLst/>
          </a:prstGeom>
        </p:spPr>
      </p:pic>
      <p:pic>
        <p:nvPicPr>
          <p:cNvPr id="22" name="Image 21"/>
          <p:cNvPicPr preferRelativeResize="0">
            <a:picLocks/>
          </p:cNvPicPr>
          <p:nvPr/>
        </p:nvPicPr>
        <p:blipFill rotWithShape="1">
          <a:blip r:embed="rId5"/>
          <a:srcRect r="54131" b="3436"/>
          <a:stretch/>
        </p:blipFill>
        <p:spPr>
          <a:xfrm>
            <a:off x="5217952" y="1426156"/>
            <a:ext cx="1080000" cy="2041200"/>
          </a:xfrm>
          <a:prstGeom prst="rect">
            <a:avLst/>
          </a:prstGeom>
        </p:spPr>
      </p:pic>
      <p:sp>
        <p:nvSpPr>
          <p:cNvPr id="24" name="ZoneTexte 23"/>
          <p:cNvSpPr txBox="1"/>
          <p:nvPr/>
        </p:nvSpPr>
        <p:spPr>
          <a:xfrm>
            <a:off x="4683942" y="4799700"/>
            <a:ext cx="2996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>
                <a:sym typeface="Wingdings" panose="05000000000000000000" pitchFamily="2" charset="2"/>
              </a:rPr>
              <a:t></a:t>
            </a:r>
            <a:r>
              <a:rPr lang="fr-BE">
                <a:sym typeface="Wingdings" panose="05000000000000000000" pitchFamily="2" charset="2"/>
              </a:rPr>
              <a:t> </a:t>
            </a:r>
            <a:r>
              <a:rPr lang="fr-BE"/>
              <a:t>Salarié </a:t>
            </a:r>
            <a:r>
              <a:rPr lang="fr-BE" dirty="0"/>
              <a:t>(CDI)</a:t>
            </a:r>
          </a:p>
          <a:p>
            <a:r>
              <a:rPr lang="fr-BE" dirty="0"/>
              <a:t>Sal. fixe 2123,72 € brut/mois.</a:t>
            </a:r>
            <a:endParaRPr lang="en-US" dirty="0"/>
          </a:p>
        </p:txBody>
      </p:sp>
      <p:sp>
        <p:nvSpPr>
          <p:cNvPr id="25" name="ZoneTexte 24"/>
          <p:cNvSpPr txBox="1"/>
          <p:nvPr/>
        </p:nvSpPr>
        <p:spPr>
          <a:xfrm>
            <a:off x="111752" y="4932018"/>
            <a:ext cx="227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Perçoit les AF pour son fils</a:t>
            </a:r>
            <a:endParaRPr lang="en-US" dirty="0"/>
          </a:p>
        </p:txBody>
      </p:sp>
      <p:sp>
        <p:nvSpPr>
          <p:cNvPr id="26" name="ZoneTexte 25"/>
          <p:cNvSpPr txBox="1"/>
          <p:nvPr/>
        </p:nvSpPr>
        <p:spPr>
          <a:xfrm>
            <a:off x="1943322" y="4976513"/>
            <a:ext cx="318437" cy="307777"/>
          </a:xfrm>
          <a:prstGeom prst="rect">
            <a:avLst/>
          </a:prstGeom>
          <a:noFill/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endParaRPr lang="en-US" dirty="0"/>
          </a:p>
        </p:txBody>
      </p:sp>
      <p:sp>
        <p:nvSpPr>
          <p:cNvPr id="28" name="ZoneTexte 27"/>
          <p:cNvSpPr txBox="1"/>
          <p:nvPr/>
        </p:nvSpPr>
        <p:spPr>
          <a:xfrm>
            <a:off x="6342023" y="2208862"/>
            <a:ext cx="302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I</a:t>
            </a:r>
            <a:r>
              <a:rPr lang="fr-BE" dirty="0"/>
              <a:t>ndépendante</a:t>
            </a:r>
          </a:p>
          <a:p>
            <a:r>
              <a:rPr lang="fr-BE" dirty="0"/>
              <a:t>Revenu ± 1270 € brut/mois.</a:t>
            </a:r>
            <a:endParaRPr lang="en-US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73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Exemple 4</a:t>
            </a:r>
            <a:endParaRPr lang="en-US" sz="4000" b="1" i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3408452" y="2919603"/>
            <a:ext cx="240731" cy="18429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2865020" y="335695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Chômeur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981400" y="6075452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</a:t>
            </a:r>
            <a:endParaRPr lang="en-US" b="1" i="1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274" y="4062624"/>
            <a:ext cx="1079086" cy="2042337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4211960" y="4760626"/>
            <a:ext cx="3499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Salariée (CDD)</a:t>
            </a:r>
          </a:p>
          <a:p>
            <a:r>
              <a:rPr lang="fr-BE" dirty="0"/>
              <a:t>Salaire fixe 1074,46 € brut/mois.</a:t>
            </a:r>
            <a:endParaRPr lang="en-US" dirty="0"/>
          </a:p>
        </p:txBody>
      </p:sp>
      <p:pic>
        <p:nvPicPr>
          <p:cNvPr id="29" name="Image 28"/>
          <p:cNvPicPr preferRelativeResize="0">
            <a:picLocks/>
          </p:cNvPicPr>
          <p:nvPr/>
        </p:nvPicPr>
        <p:blipFill rotWithShape="1">
          <a:blip r:embed="rId3"/>
          <a:srcRect r="7839"/>
          <a:stretch/>
        </p:blipFill>
        <p:spPr>
          <a:xfrm>
            <a:off x="2937088" y="1279567"/>
            <a:ext cx="1080000" cy="2026800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55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5</a:t>
            </a:r>
            <a:endParaRPr lang="en-US" sz="4000" b="1" i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2734931" y="3232414"/>
            <a:ext cx="240731" cy="18429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2184475" y="3526497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Chômeuse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705820" y="3501638"/>
            <a:ext cx="124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Cousin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2315754" y="6200820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Enfants</a:t>
            </a:r>
            <a:endParaRPr lang="en-US" b="1" i="1" dirty="0"/>
          </a:p>
        </p:txBody>
      </p:sp>
      <p:sp>
        <p:nvSpPr>
          <p:cNvPr id="16" name="ZoneTexte 15"/>
          <p:cNvSpPr txBox="1"/>
          <p:nvPr/>
        </p:nvSpPr>
        <p:spPr>
          <a:xfrm>
            <a:off x="3984589" y="5027987"/>
            <a:ext cx="2419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Perçoit les AF pour ses 2 enfants.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00" y="1459301"/>
            <a:ext cx="1079086" cy="2042337"/>
          </a:xfrm>
          <a:prstGeom prst="rect">
            <a:avLst/>
          </a:prstGeom>
        </p:spPr>
      </p:pic>
      <p:pic>
        <p:nvPicPr>
          <p:cNvPr id="17" name="Image 16"/>
          <p:cNvPicPr preferRelativeResize="0">
            <a:picLocks/>
          </p:cNvPicPr>
          <p:nvPr/>
        </p:nvPicPr>
        <p:blipFill rotWithShape="1">
          <a:blip r:embed="rId4"/>
          <a:srcRect l="8325" r="10676" b="5348"/>
          <a:stretch/>
        </p:blipFill>
        <p:spPr>
          <a:xfrm>
            <a:off x="3084589" y="4517753"/>
            <a:ext cx="900000" cy="16668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857" y="4528335"/>
            <a:ext cx="902286" cy="1664352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2710840" y="5160456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&amp;</a:t>
            </a:r>
            <a:endParaRPr lang="en-US" sz="2000" b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1477591"/>
            <a:ext cx="1079086" cy="2024047"/>
          </a:xfrm>
          <a:prstGeom prst="rect">
            <a:avLst/>
          </a:prstGeom>
        </p:spPr>
      </p:pic>
      <p:cxnSp>
        <p:nvCxnSpPr>
          <p:cNvPr id="19" name="Connecteur droit avec flèche 18"/>
          <p:cNvCxnSpPr/>
          <p:nvPr/>
        </p:nvCxnSpPr>
        <p:spPr>
          <a:xfrm>
            <a:off x="3482057" y="2564904"/>
            <a:ext cx="115371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5949314" y="2300725"/>
            <a:ext cx="2354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Sans revenu prof. et sans revenu de rempl.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8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6</a:t>
            </a:r>
            <a:endParaRPr lang="en-US" sz="4000" b="1" i="1" dirty="0"/>
          </a:p>
        </p:txBody>
      </p:sp>
      <p:sp>
        <p:nvSpPr>
          <p:cNvPr id="6" name="ZoneTexte 5"/>
          <p:cNvSpPr txBox="1"/>
          <p:nvPr/>
        </p:nvSpPr>
        <p:spPr>
          <a:xfrm>
            <a:off x="4065959" y="1848105"/>
            <a:ext cx="43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000" b="1" dirty="0"/>
              <a:t>+</a:t>
            </a:r>
            <a:endParaRPr lang="en-US" sz="4000" b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4141218" y="2999873"/>
            <a:ext cx="240731" cy="1842945"/>
          </a:xfrm>
          <a:prstGeom prst="rightBrac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2743489" y="3334611"/>
            <a:ext cx="127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Grand-Père</a:t>
            </a:r>
            <a:endParaRPr lang="en-US" b="1" i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5825194" y="2107750"/>
            <a:ext cx="224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Pension de retraite</a:t>
            </a:r>
          </a:p>
          <a:p>
            <a:r>
              <a:rPr lang="fr-BE" dirty="0"/>
              <a:t>469,93 € brut/mois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4529393" y="3334615"/>
            <a:ext cx="148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Grand-Mère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3721007" y="6190975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Chômeur</a:t>
            </a:r>
            <a:endParaRPr lang="en-US" b="1" i="1" dirty="0">
              <a:solidFill>
                <a:srgbClr val="008000"/>
              </a:solidFill>
            </a:endParaRPr>
          </a:p>
        </p:txBody>
      </p:sp>
      <p:pic>
        <p:nvPicPr>
          <p:cNvPr id="13" name="Image 12"/>
          <p:cNvPicPr preferRelativeResize="0">
            <a:picLocks/>
          </p:cNvPicPr>
          <p:nvPr/>
        </p:nvPicPr>
        <p:blipFill rotWithShape="1">
          <a:blip r:embed="rId2"/>
          <a:srcRect l="20559" r="21288" b="6234"/>
          <a:stretch/>
        </p:blipFill>
        <p:spPr>
          <a:xfrm>
            <a:off x="3707149" y="4162683"/>
            <a:ext cx="1080120" cy="20282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823" y="1278422"/>
            <a:ext cx="1079086" cy="203014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163" y="1275119"/>
            <a:ext cx="1079086" cy="2030144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471409" y="2107749"/>
            <a:ext cx="227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Pension de retraite</a:t>
            </a:r>
          </a:p>
          <a:p>
            <a:r>
              <a:rPr lang="fr-BE" dirty="0"/>
              <a:t>1002,93 € brut/mois</a:t>
            </a:r>
            <a:endParaRPr lang="en-US" dirty="0"/>
          </a:p>
        </p:txBody>
      </p:sp>
      <p:sp>
        <p:nvSpPr>
          <p:cNvPr id="18" name="ZoneTexte 17"/>
          <p:cNvSpPr txBox="1"/>
          <p:nvPr/>
        </p:nvSpPr>
        <p:spPr>
          <a:xfrm>
            <a:off x="2406189" y="2293494"/>
            <a:ext cx="318437" cy="307777"/>
          </a:xfrm>
          <a:prstGeom prst="rect">
            <a:avLst/>
          </a:prstGeom>
          <a:noFill/>
          <a:scene3d>
            <a:camera prst="orthographicFront">
              <a:rot lat="0" lon="10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21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7</a:t>
            </a:r>
            <a:endParaRPr lang="en-US" sz="4000" b="1" i="1" dirty="0"/>
          </a:p>
        </p:txBody>
      </p:sp>
      <p:sp>
        <p:nvSpPr>
          <p:cNvPr id="7" name="Accolade fermante 6"/>
          <p:cNvSpPr/>
          <p:nvPr/>
        </p:nvSpPr>
        <p:spPr>
          <a:xfrm rot="5400000">
            <a:off x="2960185" y="2787794"/>
            <a:ext cx="240731" cy="1842945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716034" y="1884437"/>
            <a:ext cx="244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Pension de retraite de 1623,42 € brut/mois.</a:t>
            </a:r>
            <a:endParaRPr lang="en-US" dirty="0"/>
          </a:p>
        </p:txBody>
      </p:sp>
      <p:sp>
        <p:nvSpPr>
          <p:cNvPr id="14" name="ZoneTexte 13"/>
          <p:cNvSpPr txBox="1"/>
          <p:nvPr/>
        </p:nvSpPr>
        <p:spPr>
          <a:xfrm>
            <a:off x="2305066" y="3242719"/>
            <a:ext cx="148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Mère</a:t>
            </a:r>
            <a:endParaRPr lang="en-US" b="1" i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2428442" y="6009293"/>
            <a:ext cx="1233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Chômeuse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20" name="Accolade fermante 19"/>
          <p:cNvSpPr/>
          <p:nvPr/>
        </p:nvSpPr>
        <p:spPr>
          <a:xfrm>
            <a:off x="3931065" y="4311769"/>
            <a:ext cx="240731" cy="11232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Image 21"/>
          <p:cNvPicPr preferRelativeResize="0">
            <a:picLocks/>
          </p:cNvPicPr>
          <p:nvPr/>
        </p:nvPicPr>
        <p:blipFill rotWithShape="1">
          <a:blip r:embed="rId2"/>
          <a:srcRect l="25920" r="17921"/>
          <a:stretch/>
        </p:blipFill>
        <p:spPr>
          <a:xfrm>
            <a:off x="2524918" y="3935626"/>
            <a:ext cx="1080000" cy="2026800"/>
          </a:xfrm>
          <a:prstGeom prst="rect">
            <a:avLst/>
          </a:prstGeom>
        </p:spPr>
      </p:pic>
      <p:pic>
        <p:nvPicPr>
          <p:cNvPr id="23" name="Image 22"/>
          <p:cNvPicPr preferRelativeResize="0">
            <a:picLocks/>
          </p:cNvPicPr>
          <p:nvPr/>
        </p:nvPicPr>
        <p:blipFill rotWithShape="1">
          <a:blip r:embed="rId3"/>
          <a:srcRect l="14897" r="21794"/>
          <a:stretch/>
        </p:blipFill>
        <p:spPr>
          <a:xfrm>
            <a:off x="4353300" y="3920610"/>
            <a:ext cx="1080000" cy="2041200"/>
          </a:xfrm>
          <a:prstGeom prst="rect">
            <a:avLst/>
          </a:prstGeom>
        </p:spPr>
      </p:pic>
      <p:pic>
        <p:nvPicPr>
          <p:cNvPr id="25" name="Image 24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1196752"/>
            <a:ext cx="1080000" cy="2026800"/>
          </a:xfrm>
          <a:prstGeom prst="rect">
            <a:avLst/>
          </a:prstGeom>
        </p:spPr>
      </p:pic>
      <p:sp>
        <p:nvSpPr>
          <p:cNvPr id="26" name="ZoneTexte 25"/>
          <p:cNvSpPr txBox="1"/>
          <p:nvPr/>
        </p:nvSpPr>
        <p:spPr>
          <a:xfrm>
            <a:off x="5462680" y="4550203"/>
            <a:ext cx="2354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Sans revenu prof. et sans revenu de rempl.</a:t>
            </a:r>
          </a:p>
          <a:p>
            <a:r>
              <a:rPr lang="fr-BE" dirty="0"/>
              <a:t>Et sans AF.</a:t>
            </a:r>
            <a:endParaRPr lang="en-US" dirty="0"/>
          </a:p>
        </p:txBody>
      </p:sp>
      <p:sp>
        <p:nvSpPr>
          <p:cNvPr id="27" name="ZoneTexte 26"/>
          <p:cNvSpPr txBox="1"/>
          <p:nvPr/>
        </p:nvSpPr>
        <p:spPr>
          <a:xfrm>
            <a:off x="4150378" y="6009293"/>
            <a:ext cx="148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</a:t>
            </a:r>
            <a:endParaRPr lang="en-US" b="1" i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705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Exemple 8</a:t>
            </a:r>
            <a:endParaRPr lang="en-US" sz="4000" b="1" i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1168667" y="3475005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>
                <a:solidFill>
                  <a:srgbClr val="008000"/>
                </a:solidFill>
              </a:rPr>
              <a:t>Chômeur</a:t>
            </a:r>
            <a:endParaRPr lang="en-US" b="1" i="1" dirty="0">
              <a:solidFill>
                <a:srgbClr val="0080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672090" y="6335291"/>
            <a:ext cx="107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Enfant</a:t>
            </a:r>
            <a:endParaRPr lang="en-US" b="1" i="1" dirty="0"/>
          </a:p>
        </p:txBody>
      </p:sp>
      <p:pic>
        <p:nvPicPr>
          <p:cNvPr id="27" name="Image 26"/>
          <p:cNvPicPr preferRelativeResize="0">
            <a:picLocks/>
          </p:cNvPicPr>
          <p:nvPr/>
        </p:nvPicPr>
        <p:blipFill rotWithShape="1">
          <a:blip r:embed="rId2"/>
          <a:srcRect l="21192" r="20263"/>
          <a:stretch/>
        </p:blipFill>
        <p:spPr>
          <a:xfrm>
            <a:off x="1240735" y="1385238"/>
            <a:ext cx="1080000" cy="2073600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628938" y="3844337"/>
            <a:ext cx="2790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b="1" dirty="0">
                <a:sym typeface="Wingdings" panose="05000000000000000000" pitchFamily="2" charset="2"/>
              </a:rPr>
              <a:t>+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Jugement paiement PA </a:t>
            </a:r>
          </a:p>
          <a:p>
            <a:r>
              <a:rPr lang="fr-BE" dirty="0"/>
              <a:t>175 € par mois pour son fils.</a:t>
            </a:r>
            <a:endParaRPr lang="en-US" dirty="0"/>
          </a:p>
        </p:txBody>
      </p:sp>
      <p:cxnSp>
        <p:nvCxnSpPr>
          <p:cNvPr id="4" name="Connecteur droit avec flèche 3"/>
          <p:cNvCxnSpPr>
            <a:stCxn id="28" idx="2"/>
          </p:cNvCxnSpPr>
          <p:nvPr/>
        </p:nvCxnSpPr>
        <p:spPr>
          <a:xfrm>
            <a:off x="2024405" y="4767667"/>
            <a:ext cx="3647685" cy="801628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754433" y="4654091"/>
            <a:ext cx="914400" cy="1681200"/>
          </a:xfrm>
          <a:prstGeom prst="rect">
            <a:avLst/>
          </a:prstGeom>
        </p:spPr>
      </p:pic>
      <p:pic>
        <p:nvPicPr>
          <p:cNvPr id="13" name="Image 12"/>
          <p:cNvPicPr preferRelativeResize="0">
            <a:picLocks/>
          </p:cNvPicPr>
          <p:nvPr/>
        </p:nvPicPr>
        <p:blipFill rotWithShape="1">
          <a:blip r:embed="rId4"/>
          <a:srcRect l="60991" r="-2290" b="5553"/>
          <a:stretch/>
        </p:blipFill>
        <p:spPr>
          <a:xfrm>
            <a:off x="3037161" y="1417638"/>
            <a:ext cx="1080000" cy="2041200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2445424" y="2057824"/>
            <a:ext cx="432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000" b="1" dirty="0"/>
              <a:t>+</a:t>
            </a:r>
            <a:endParaRPr lang="en-US" sz="4000" b="1" dirty="0"/>
          </a:p>
        </p:txBody>
      </p:sp>
      <p:sp>
        <p:nvSpPr>
          <p:cNvPr id="17" name="ZoneTexte 16"/>
          <p:cNvSpPr txBox="1"/>
          <p:nvPr/>
        </p:nvSpPr>
        <p:spPr>
          <a:xfrm>
            <a:off x="4184269" y="2180048"/>
            <a:ext cx="3499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>
                <a:sym typeface="Wingdings" panose="05000000000000000000" pitchFamily="2" charset="2"/>
              </a:rPr>
              <a:t>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/>
              <a:t>Salariée (CDI)</a:t>
            </a:r>
          </a:p>
          <a:p>
            <a:r>
              <a:rPr lang="fr-BE" dirty="0"/>
              <a:t>Sal. fixe 2429,64 € brut/mois.</a:t>
            </a:r>
            <a:endParaRPr lang="en-US" dirty="0"/>
          </a:p>
        </p:txBody>
      </p:sp>
      <p:sp>
        <p:nvSpPr>
          <p:cNvPr id="18" name="ZoneTexte 17"/>
          <p:cNvSpPr txBox="1"/>
          <p:nvPr/>
        </p:nvSpPr>
        <p:spPr>
          <a:xfrm>
            <a:off x="2955414" y="3483744"/>
            <a:ext cx="124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i="1" dirty="0"/>
              <a:t>Partenaire</a:t>
            </a:r>
            <a:endParaRPr lang="en-US" b="1" i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2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B77447-39C5-4883-A650-955CB44E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Exemple 9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031D93C-30F2-427D-B539-38122DC07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6987" y="1136703"/>
            <a:ext cx="1080120" cy="2489150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93B1E3-A965-448A-B5B1-3B964202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7222C4-13A2-4863-9FAE-1C4DB530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59" y="1102422"/>
            <a:ext cx="940195" cy="24891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8DCCBB7-323B-4E80-A3BB-404961D5D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857" y="4460452"/>
            <a:ext cx="3085250" cy="18958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CAD8479-F873-4EFC-B4D1-4AA0EAB8D018}"/>
              </a:ext>
            </a:extLst>
          </p:cNvPr>
          <p:cNvSpPr txBox="1"/>
          <p:nvPr/>
        </p:nvSpPr>
        <p:spPr>
          <a:xfrm>
            <a:off x="2341796" y="3681955"/>
            <a:ext cx="120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i="1" dirty="0">
                <a:solidFill>
                  <a:srgbClr val="669900"/>
                </a:solidFill>
              </a:rPr>
              <a:t>Chômeuse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89C7F5-6BE8-48E0-9348-8DB88E8F4C20}"/>
              </a:ext>
            </a:extLst>
          </p:cNvPr>
          <p:cNvSpPr txBox="1"/>
          <p:nvPr/>
        </p:nvSpPr>
        <p:spPr>
          <a:xfrm>
            <a:off x="3995936" y="2420888"/>
            <a:ext cx="432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800" b="1" dirty="0"/>
              <a:t>+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815419-D3B6-4BBC-A722-FE3688386D9F}"/>
              </a:ext>
            </a:extLst>
          </p:cNvPr>
          <p:cNvSpPr txBox="1"/>
          <p:nvPr/>
        </p:nvSpPr>
        <p:spPr>
          <a:xfrm>
            <a:off x="4896373" y="3727428"/>
            <a:ext cx="120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/>
              <a:t>Epoux</a:t>
            </a:r>
          </a:p>
        </p:txBody>
      </p:sp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7A41FC0F-87F8-404A-AFE4-588E789A8AE4}"/>
              </a:ext>
            </a:extLst>
          </p:cNvPr>
          <p:cNvSpPr/>
          <p:nvPr/>
        </p:nvSpPr>
        <p:spPr>
          <a:xfrm rot="5400000">
            <a:off x="4128383" y="1942013"/>
            <a:ext cx="360040" cy="4489594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082B0DA-25CE-44EA-8C8B-AF6CFA9ECC79}"/>
              </a:ext>
            </a:extLst>
          </p:cNvPr>
          <p:cNvSpPr txBox="1"/>
          <p:nvPr/>
        </p:nvSpPr>
        <p:spPr>
          <a:xfrm>
            <a:off x="6097645" y="4941168"/>
            <a:ext cx="2434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AF pour les 5 enfants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7489577-6B29-4BBC-9A17-A79E10C7E651}"/>
              </a:ext>
            </a:extLst>
          </p:cNvPr>
          <p:cNvSpPr txBox="1"/>
          <p:nvPr/>
        </p:nvSpPr>
        <p:spPr>
          <a:xfrm>
            <a:off x="6097645" y="2381278"/>
            <a:ext cx="272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Salaire </a:t>
            </a:r>
            <a:r>
              <a:rPr lang="fr-BE"/>
              <a:t>fixe 916€ </a:t>
            </a:r>
            <a:r>
              <a:rPr lang="fr-BE" dirty="0"/>
              <a:t>brut/mois</a:t>
            </a:r>
          </a:p>
        </p:txBody>
      </p:sp>
    </p:spTree>
    <p:extLst>
      <p:ext uri="{BB962C8B-B14F-4D97-AF65-F5344CB8AC3E}">
        <p14:creationId xmlns:p14="http://schemas.microsoft.com/office/powerpoint/2010/main" val="17354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BD66F-A35C-4D31-B862-3FDA046B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Exemple 10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6828245-FE80-434A-A288-BDA263312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904" y="514924"/>
            <a:ext cx="1200000" cy="3456384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CF50CF-362A-469F-8112-4226BBC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14939CD-C4F1-4A73-878A-7E2AEF08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64" y="3068593"/>
            <a:ext cx="1104762" cy="34666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299B28D-9C89-4D06-A7B9-9124ED87E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828" y="3670636"/>
            <a:ext cx="1009524" cy="268571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72A64C8-8E40-4B6B-87BC-F3FF549DDFFD}"/>
              </a:ext>
            </a:extLst>
          </p:cNvPr>
          <p:cNvSpPr txBox="1"/>
          <p:nvPr/>
        </p:nvSpPr>
        <p:spPr>
          <a:xfrm>
            <a:off x="3784712" y="4011539"/>
            <a:ext cx="1344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i="1" dirty="0">
                <a:solidFill>
                  <a:srgbClr val="669900"/>
                </a:solidFill>
              </a:rPr>
              <a:t>Chômeuse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BEE021C-6884-4499-AF9C-7E00A2FA77A7}"/>
              </a:ext>
            </a:extLst>
          </p:cNvPr>
          <p:cNvSpPr txBox="1"/>
          <p:nvPr/>
        </p:nvSpPr>
        <p:spPr>
          <a:xfrm>
            <a:off x="6948264" y="4801927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Nièce sans aucun revenus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88AB6C6-24AC-4B36-B565-119FE1B1453C}"/>
              </a:ext>
            </a:extLst>
          </p:cNvPr>
          <p:cNvSpPr txBox="1"/>
          <p:nvPr/>
        </p:nvSpPr>
        <p:spPr>
          <a:xfrm>
            <a:off x="2377138" y="4801927"/>
            <a:ext cx="19788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Frère qui bénéficie AMI 434,74€ brut/mois</a:t>
            </a:r>
          </a:p>
        </p:txBody>
      </p:sp>
    </p:spTree>
    <p:extLst>
      <p:ext uri="{BB962C8B-B14F-4D97-AF65-F5344CB8AC3E}">
        <p14:creationId xmlns:p14="http://schemas.microsoft.com/office/powerpoint/2010/main" val="36443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eate a new document." ma:contentTypeScope="" ma:versionID="42e0b0edacfe443d67ba6a6e05eb277d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c66a8557b28090109aa13aadda700817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574DD8-4F47-4009-95BF-BB096BDC7E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55175E-5F8A-400A-99A5-B794676A3D0A}">
  <ds:schemaRefs>
    <ds:schemaRef ds:uri="http://schemas.microsoft.com/office/2006/documentManagement/types"/>
    <ds:schemaRef ds:uri="594ba5a2-1908-49bb-836f-9f7e6dbdc18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0ec8308-a2f0-4163-8d73-ffca7c913578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298BB5B-6B9C-4772-A567-4DD047CBC5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9973</TotalTime>
  <Words>1408</Words>
  <Application>Microsoft Office PowerPoint</Application>
  <PresentationFormat>Affichage à l'écran (4:3)</PresentationFormat>
  <Paragraphs>300</Paragraphs>
  <Slides>32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Thème Office</vt:lpstr>
      <vt:lpstr>La situation familiale</vt:lpstr>
      <vt:lpstr>Table des matières</vt:lpstr>
      <vt:lpstr>Préambule</vt:lpstr>
      <vt:lpstr>3 catégories</vt:lpstr>
      <vt:lpstr>Isolé - N</vt:lpstr>
      <vt:lpstr>Chef de ménage - A</vt:lpstr>
      <vt:lpstr>Vivre seul et payer une PA</vt:lpstr>
      <vt:lpstr>Etre redevable d’une PA ?</vt:lpstr>
      <vt:lpstr>Procédure pratique</vt:lpstr>
      <vt:lpstr>Conjoint ou Partenaire  sans revenu</vt:lpstr>
      <vt:lpstr>Cohabiter ?</vt:lpstr>
      <vt:lpstr>Notion de partenaire </vt:lpstr>
      <vt:lpstr>Procédure pratique</vt:lpstr>
      <vt:lpstr>Vit sans conjoint mais avec d’autres personnes</vt:lpstr>
      <vt:lpstr>Vit exclusivement avec des enfants</vt:lpstr>
      <vt:lpstr>Vit exclusivement avec enfant(s) et parent(s) ou allié(s) jusqu’au 3ème degré</vt:lpstr>
      <vt:lpstr>Parent(s) ou allié(s)  jusqu’au 3ème degré</vt:lpstr>
      <vt:lpstr>Vit exclusivement avec parent(s) ou allié(s) jusqu’au 3ème degré</vt:lpstr>
      <vt:lpstr>Présentation PowerPoint</vt:lpstr>
      <vt:lpstr>Cohabitant – B</vt:lpstr>
      <vt:lpstr>Présentation PowerPoint</vt:lpstr>
      <vt:lpstr>Déterminer la situation familiale ?</vt:lpstr>
      <vt:lpstr>Exemple 1</vt:lpstr>
      <vt:lpstr>Exemple 2</vt:lpstr>
      <vt:lpstr>Exemple 3</vt:lpstr>
      <vt:lpstr> Exemple 4</vt:lpstr>
      <vt:lpstr>Exemple 5</vt:lpstr>
      <vt:lpstr>Exemple 6</vt:lpstr>
      <vt:lpstr>Exemple 7</vt:lpstr>
      <vt:lpstr>Exemple 8</vt:lpstr>
      <vt:lpstr>Exemple 9</vt:lpstr>
      <vt:lpstr>Exemple 10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FCJ-M01-Situation familiale (niv. 1)-Participants</dc:title>
  <dc:creator>Laurent.Corso@acv-csc.be</dc:creator>
  <cp:lastModifiedBy>Ali Bakhouch</cp:lastModifiedBy>
  <cp:revision>623</cp:revision>
  <dcterms:created xsi:type="dcterms:W3CDTF">2010-09-22T12:12:06Z</dcterms:created>
  <dcterms:modified xsi:type="dcterms:W3CDTF">2023-10-13T15:23:12Z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0x010100771D4D5C3D776247A0B00D9B67B18301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44;#Identification|c878f2ee-3955-448a-86fc-10f3fe74a7ef</vt:lpwstr>
  </property>
  <property fmtid="{D5CDD505-2E9C-101B-9397-08002B2CF9AE}" pid="7" name="Thème">
    <vt:lpwstr>16;#Situation familiale - Base|798e1e11-f8aa-493c-a4eb-633766178715</vt:lpwstr>
  </property>
  <property fmtid="{D5CDD505-2E9C-101B-9397-08002B2CF9AE}" pid="8" name="Order">
    <vt:r8>18200</vt:r8>
  </property>
  <property fmtid="{D5CDD505-2E9C-101B-9397-08002B2CF9AE}" pid="9" name="_dlc_DocIdItemGuid">
    <vt:lpwstr>fb69dcd4-fa06-4392-bd4d-51f9ffb33623</vt:lpwstr>
  </property>
</Properties>
</file>