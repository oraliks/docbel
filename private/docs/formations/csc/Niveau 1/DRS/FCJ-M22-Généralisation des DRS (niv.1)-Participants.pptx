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611" r:id="rId5"/>
    <p:sldId id="411" r:id="rId6"/>
    <p:sldId id="486" r:id="rId7"/>
    <p:sldId id="441" r:id="rId8"/>
    <p:sldId id="470" r:id="rId9"/>
    <p:sldId id="618" r:id="rId10"/>
    <p:sldId id="471" r:id="rId11"/>
    <p:sldId id="612" r:id="rId12"/>
    <p:sldId id="652" r:id="rId13"/>
    <p:sldId id="614" r:id="rId14"/>
    <p:sldId id="453" r:id="rId15"/>
    <p:sldId id="564" r:id="rId16"/>
    <p:sldId id="615" r:id="rId17"/>
    <p:sldId id="617" r:id="rId18"/>
    <p:sldId id="568" r:id="rId19"/>
    <p:sldId id="622" r:id="rId20"/>
    <p:sldId id="623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9933"/>
    <a:srgbClr val="669900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8" autoAdjust="0"/>
    <p:restoredTop sz="92280" autoAdjust="0"/>
  </p:normalViewPr>
  <p:slideViewPr>
    <p:cSldViewPr>
      <p:cViewPr varScale="1">
        <p:scale>
          <a:sx n="76" d="100"/>
          <a:sy n="76" d="100"/>
        </p:scale>
        <p:origin x="1027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ome Martini" userId="cf445fd1-bb94-431f-9d69-de636e77a98d" providerId="ADAL" clId="{9C96C576-3903-4675-A605-AE7550F6CC0A}"/>
    <pc:docChg chg="delSld modSld">
      <pc:chgData name="Jerome Martini" userId="cf445fd1-bb94-431f-9d69-de636e77a98d" providerId="ADAL" clId="{9C96C576-3903-4675-A605-AE7550F6CC0A}" dt="2023-11-03T14:21:19.125" v="24" actId="20577"/>
      <pc:docMkLst>
        <pc:docMk/>
      </pc:docMkLst>
      <pc:sldChg chg="del">
        <pc:chgData name="Jerome Martini" userId="cf445fd1-bb94-431f-9d69-de636e77a98d" providerId="ADAL" clId="{9C96C576-3903-4675-A605-AE7550F6CC0A}" dt="2023-11-03T14:20:12.513" v="23" actId="2696"/>
        <pc:sldMkLst>
          <pc:docMk/>
          <pc:sldMk cId="1739161166" sldId="453"/>
        </pc:sldMkLst>
      </pc:sldChg>
      <pc:sldChg chg="modSp mod">
        <pc:chgData name="Jerome Martini" userId="cf445fd1-bb94-431f-9d69-de636e77a98d" providerId="ADAL" clId="{9C96C576-3903-4675-A605-AE7550F6CC0A}" dt="2023-11-03T14:19:16.165" v="21" actId="20577"/>
        <pc:sldMkLst>
          <pc:docMk/>
          <pc:sldMk cId="3505899194" sldId="611"/>
        </pc:sldMkLst>
        <pc:spChg chg="mod">
          <ac:chgData name="Jerome Martini" userId="cf445fd1-bb94-431f-9d69-de636e77a98d" providerId="ADAL" clId="{9C96C576-3903-4675-A605-AE7550F6CC0A}" dt="2023-11-03T14:19:16.165" v="21" actId="20577"/>
          <ac:spMkLst>
            <pc:docMk/>
            <pc:sldMk cId="3505899194" sldId="611"/>
            <ac:spMk id="3" creationId="{00000000-0000-0000-0000-000000000000}"/>
          </ac:spMkLst>
        </pc:spChg>
      </pc:sldChg>
      <pc:sldChg chg="del">
        <pc:chgData name="Jerome Martini" userId="cf445fd1-bb94-431f-9d69-de636e77a98d" providerId="ADAL" clId="{9C96C576-3903-4675-A605-AE7550F6CC0A}" dt="2023-11-03T14:19:51.918" v="22" actId="2696"/>
        <pc:sldMkLst>
          <pc:docMk/>
          <pc:sldMk cId="3606309265" sldId="612"/>
        </pc:sldMkLst>
      </pc:sldChg>
      <pc:sldChg chg="modSp mod">
        <pc:chgData name="Jerome Martini" userId="cf445fd1-bb94-431f-9d69-de636e77a98d" providerId="ADAL" clId="{9C96C576-3903-4675-A605-AE7550F6CC0A}" dt="2023-11-03T14:21:19.125" v="24" actId="20577"/>
        <pc:sldMkLst>
          <pc:docMk/>
          <pc:sldMk cId="3017746199" sldId="615"/>
        </pc:sldMkLst>
        <pc:graphicFrameChg chg="modGraphic">
          <ac:chgData name="Jerome Martini" userId="cf445fd1-bb94-431f-9d69-de636e77a98d" providerId="ADAL" clId="{9C96C576-3903-4675-A605-AE7550F6CC0A}" dt="2023-11-03T14:21:19.125" v="24" actId="20577"/>
          <ac:graphicFrameMkLst>
            <pc:docMk/>
            <pc:sldMk cId="3017746199" sldId="615"/>
            <ac:graphicFrameMk id="5" creationId="{23F934EA-5929-433F-BEA6-8A8ACAA8FF3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19/11/2023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19/11/2023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7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4369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2456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3833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2395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636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3040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242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3067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0927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079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F7BFF-B6B3-48E2-9391-5F67139290ED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0E33-632C-477B-AE10-5BB5E093E4EB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92DC-28CD-444E-90ED-50F802A1D27B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04FCA-1BE9-4E96-B7A0-3D905B435E20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B8569-3027-4056-94C5-1E1286D3B9FB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1CD4F-431F-47DD-8170-32D81C707487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4729-3440-47DB-9F68-D2FAA97FEAD0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702F-5D2C-4253-9F95-1446BF2FE2D9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CC10F-3344-4E2D-9946-E757DDBE8BCF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30DA-4453-4120-B0A6-3279F6F0A488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FD8A-E33D-4DD5-9F62-82138F6306A8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8E2F7-9424-40E1-B417-0C4E4FAE2E5D}" type="datetime1">
              <a:rPr lang="fr-FR" smtClean="0"/>
              <a:t>19/11/2023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BE" sz="6000" b="1" i="1" dirty="0"/>
              <a:t>Généralisation </a:t>
            </a:r>
            <a:br>
              <a:rPr lang="fr-BE" sz="6000" b="1" i="1" dirty="0"/>
            </a:br>
            <a:r>
              <a:rPr lang="fr-BE" sz="6000" b="1" i="1" dirty="0"/>
              <a:t>des DRS</a:t>
            </a:r>
            <a:br>
              <a:rPr lang="fr-BE" sz="6000" b="1" i="1" dirty="0"/>
            </a:br>
            <a:r>
              <a:rPr lang="fr-BE" sz="3600" b="1" i="1" dirty="0"/>
              <a:t>(Niveau 1)</a:t>
            </a:r>
            <a:endParaRPr lang="fr-BE" sz="4900" b="1" i="1" dirty="0"/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>
          <a:xfrm>
            <a:off x="0" y="4128021"/>
            <a:ext cx="9144000" cy="1700757"/>
          </a:xfrm>
        </p:spPr>
        <p:txBody>
          <a:bodyPr>
            <a:normAutofit/>
          </a:bodyPr>
          <a:lstStyle/>
          <a:p>
            <a:pPr lvl="0"/>
            <a:r>
              <a:rPr lang="fr-BE" sz="4000" b="1" i="1" dirty="0">
                <a:solidFill>
                  <a:srgbClr val="C0504D">
                    <a:lumMod val="75000"/>
                  </a:srgbClr>
                </a:solidFill>
              </a:rPr>
              <a:t>Art. 138 Bis </a:t>
            </a:r>
            <a:r>
              <a:rPr lang="fr-BE" sz="4000" b="1" i="1" dirty="0">
                <a:solidFill>
                  <a:prstClr val="black"/>
                </a:solidFill>
              </a:rPr>
              <a:t>de l’</a:t>
            </a:r>
            <a:r>
              <a:rPr lang="fr-BE" sz="4000" b="1" i="1" dirty="0">
                <a:solidFill>
                  <a:srgbClr val="C0504D">
                    <a:lumMod val="75000"/>
                  </a:srgbClr>
                </a:solidFill>
              </a:rPr>
              <a:t>AR</a:t>
            </a:r>
            <a:r>
              <a:rPr lang="fr-BE" sz="4000" b="1" i="1" dirty="0">
                <a:solidFill>
                  <a:prstClr val="black"/>
                </a:solidFill>
              </a:rPr>
              <a:t> du 25.11.1991</a:t>
            </a:r>
          </a:p>
          <a:p>
            <a:pPr lvl="0"/>
            <a:r>
              <a:rPr lang="fr-BE" b="1" i="1" dirty="0">
                <a:solidFill>
                  <a:prstClr val="black"/>
                </a:solidFill>
              </a:rPr>
              <a:t>Note Riodoc 153 137</a:t>
            </a:r>
          </a:p>
          <a:p>
            <a:endParaRPr lang="en-US" b="1" i="1" dirty="0">
              <a:solidFill>
                <a:srgbClr val="C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683568" y="6017333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FLT – Version 20.11.2023</a:t>
            </a:r>
          </a:p>
        </p:txBody>
      </p:sp>
    </p:spTree>
    <p:extLst>
      <p:ext uri="{BB962C8B-B14F-4D97-AF65-F5344CB8AC3E}">
        <p14:creationId xmlns:p14="http://schemas.microsoft.com/office/powerpoint/2010/main" val="350589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i="1" dirty="0">
                <a:solidFill>
                  <a:srgbClr val="C00000"/>
                </a:solidFill>
              </a:rPr>
              <a:t>Table des matières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600"/>
              </a:spcBef>
              <a:buNone/>
            </a:pPr>
            <a:endParaRPr lang="fr-BE" sz="2200" dirty="0">
              <a:solidFill>
                <a:prstClr val="black"/>
              </a:solidFill>
            </a:endParaRPr>
          </a:p>
          <a:p>
            <a:pPr marL="0" lvl="0" indent="0">
              <a:spcBef>
                <a:spcPts val="600"/>
              </a:spcBef>
              <a:buNone/>
            </a:pPr>
            <a:r>
              <a:rPr lang="fr-BE" sz="2200" dirty="0">
                <a:solidFill>
                  <a:prstClr val="black"/>
                </a:solidFill>
              </a:rPr>
              <a:t>1. Généralisation des DRS					</a:t>
            </a:r>
            <a:r>
              <a:rPr lang="fr-BE" sz="1600" dirty="0">
                <a:solidFill>
                  <a:prstClr val="black"/>
                </a:solidFill>
              </a:rPr>
              <a:t>pg. 3</a:t>
            </a:r>
          </a:p>
          <a:p>
            <a:pPr marL="0" indent="0">
              <a:spcBef>
                <a:spcPts val="600"/>
              </a:spcBef>
              <a:buNone/>
            </a:pPr>
            <a:endParaRPr lang="fr-BE" sz="800" dirty="0">
              <a:solidFill>
                <a:prstClr val="black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>
                <a:solidFill>
                  <a:prstClr val="black"/>
                </a:solidFill>
              </a:rPr>
              <a:t>2. Simplification de la DRS					</a:t>
            </a:r>
            <a:r>
              <a:rPr lang="fr-BE" sz="1600" dirty="0">
                <a:solidFill>
                  <a:prstClr val="black"/>
                </a:solidFill>
              </a:rPr>
              <a:t>pg. 5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fr-BE" sz="1600" dirty="0">
                <a:solidFill>
                  <a:prstClr val="black"/>
                </a:solidFill>
              </a:rPr>
              <a:t>	</a:t>
            </a:r>
            <a:r>
              <a:rPr lang="fr-BE" sz="2200" dirty="0">
                <a:solidFill>
                  <a:prstClr val="black"/>
                </a:solidFill>
              </a:rPr>
              <a:t>2.1. Utilisation du Q moyen				</a:t>
            </a:r>
            <a:r>
              <a:rPr lang="fr-BE" sz="1600" dirty="0">
                <a:solidFill>
                  <a:prstClr val="black"/>
                </a:solidFill>
              </a:rPr>
              <a:t>pg. 6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fr-BE" sz="2200" dirty="0">
                <a:solidFill>
                  <a:prstClr val="black"/>
                </a:solidFill>
              </a:rPr>
              <a:t>	2.2. Valeurs du facteur Q dans la DRS 			</a:t>
            </a:r>
            <a:r>
              <a:rPr lang="fr-BE" sz="1600" dirty="0">
                <a:solidFill>
                  <a:prstClr val="black"/>
                </a:solidFill>
              </a:rPr>
              <a:t>pg. 7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>
                <a:solidFill>
                  <a:prstClr val="black"/>
                </a:solidFill>
              </a:rPr>
              <a:t>	2.3. Exemple Q moyen					</a:t>
            </a:r>
            <a:r>
              <a:rPr lang="fr-BE" sz="1600" dirty="0">
                <a:solidFill>
                  <a:prstClr val="black"/>
                </a:solidFill>
              </a:rPr>
              <a:t>pg. 8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fr-BE" sz="2200" dirty="0">
                <a:solidFill>
                  <a:prstClr val="black"/>
                </a:solidFill>
              </a:rPr>
              <a:t>	2.4. Code schéma de travail				</a:t>
            </a:r>
            <a:r>
              <a:rPr lang="fr-BE" sz="1600" dirty="0">
                <a:solidFill>
                  <a:prstClr val="black"/>
                </a:solidFill>
              </a:rPr>
              <a:t>pg. 13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1600" dirty="0">
              <a:solidFill>
                <a:prstClr val="black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2200" dirty="0">
                <a:solidFill>
                  <a:prstClr val="black"/>
                </a:solidFill>
              </a:rPr>
              <a:t>3. DRS et tâches Horizon: Méthodes de travail			</a:t>
            </a:r>
            <a:r>
              <a:rPr lang="fr-BE" sz="1600" dirty="0">
                <a:solidFill>
                  <a:prstClr val="black"/>
                </a:solidFill>
              </a:rPr>
              <a:t>pg. 14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860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 Généralisation des DRS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2800" b="1" dirty="0">
                <a:sym typeface="Wingdings" panose="05000000000000000000" pitchFamily="2" charset="2"/>
              </a:rPr>
              <a:t>Depuis</a:t>
            </a:r>
            <a:r>
              <a:rPr lang="fr-BE" sz="2800" dirty="0">
                <a:sym typeface="Wingdings" panose="05000000000000000000" pitchFamily="2" charset="2"/>
              </a:rPr>
              <a:t> le </a:t>
            </a:r>
            <a:r>
              <a:rPr lang="fr-BE" sz="2800" b="1" dirty="0">
                <a:sym typeface="Wingdings" panose="05000000000000000000" pitchFamily="2" charset="2"/>
              </a:rPr>
              <a:t>01.01.2017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, l’utilisation des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DRS</a:t>
            </a:r>
            <a:r>
              <a:rPr lang="fr-BE" sz="2800" dirty="0">
                <a:sym typeface="Wingdings" panose="05000000000000000000" pitchFamily="2" charset="2"/>
              </a:rPr>
              <a:t> est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obligatoire</a:t>
            </a:r>
            <a:r>
              <a:rPr lang="fr-BE" sz="2800" b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pour l’introduction d’une </a:t>
            </a: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demande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:</a:t>
            </a:r>
          </a:p>
          <a:p>
            <a:pPr marL="0" indent="0">
              <a:buNone/>
            </a:pPr>
            <a:endParaRPr lang="fr-BE" sz="1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Chômage complet </a:t>
            </a: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(après une occupation) 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= </a:t>
            </a:r>
            <a:r>
              <a:rPr lang="fr-BE" b="1" dirty="0">
                <a:solidFill>
                  <a:prstClr val="black"/>
                </a:solidFill>
                <a:sym typeface="Wingdings" panose="05000000000000000000" pitchFamily="2" charset="2"/>
              </a:rPr>
              <a:t>wech 501</a:t>
            </a:r>
            <a:r>
              <a:rPr lang="fr-BE" b="1" baseline="30000" dirty="0">
                <a:solidFill>
                  <a:prstClr val="black"/>
                </a:solidFill>
                <a:sym typeface="Wingdings" panose="05000000000000000000" pitchFamily="2" charset="2"/>
              </a:rPr>
              <a:t>*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Chômage temporaire = </a:t>
            </a:r>
            <a:r>
              <a:rPr lang="fr-BE" b="1" dirty="0">
                <a:solidFill>
                  <a:prstClr val="black"/>
                </a:solidFill>
                <a:sym typeface="Wingdings" panose="05000000000000000000" pitchFamily="2" charset="2"/>
              </a:rPr>
              <a:t>wech 502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TTPMD avec ou sans AGR </a:t>
            </a: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(bis) 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= </a:t>
            </a:r>
            <a:r>
              <a:rPr lang="fr-BE" b="1" dirty="0">
                <a:solidFill>
                  <a:prstClr val="black"/>
                </a:solidFill>
                <a:sym typeface="Wingdings" panose="05000000000000000000" pitchFamily="2" charset="2"/>
              </a:rPr>
              <a:t>wech 503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Vacances jeunes/seniors = </a:t>
            </a:r>
            <a:r>
              <a:rPr lang="fr-BE" b="1" dirty="0">
                <a:solidFill>
                  <a:prstClr val="black"/>
                </a:solidFill>
                <a:sym typeface="Wingdings" panose="05000000000000000000" pitchFamily="2" charset="2"/>
              </a:rPr>
              <a:t>wech 509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marL="0" lvl="1" indent="0">
              <a:buNone/>
            </a:pPr>
            <a:endParaRPr lang="fr-BE" sz="1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lvl="1" indent="0">
              <a:buNone/>
            </a:pPr>
            <a:r>
              <a:rPr lang="fr-BE" sz="2200" b="1" baseline="30000" dirty="0">
                <a:solidFill>
                  <a:prstClr val="black"/>
                </a:solidFill>
                <a:sym typeface="Wingdings" panose="05000000000000000000" pitchFamily="2" charset="2"/>
              </a:rPr>
              <a:t>*</a:t>
            </a:r>
            <a:r>
              <a:rPr lang="fr-BE" sz="2200" dirty="0">
                <a:solidFill>
                  <a:prstClr val="black"/>
                </a:solidFill>
                <a:sym typeface="Wingdings" panose="05000000000000000000" pitchFamily="2" charset="2"/>
              </a:rPr>
              <a:t> L’utilisation obligatoire de la wech 501 (en remplacement des formulaires (papier) C4, C4 intérim, C4 enseignement et C4 RCC) est postposée à une date ultérieure…</a:t>
            </a:r>
            <a:endParaRPr lang="fr-BE" sz="1600" dirty="0">
              <a:solidFill>
                <a:prstClr val="black"/>
              </a:solidFill>
              <a:sym typeface="Wingdings" panose="05000000000000000000" pitchFamily="2" charset="2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793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1. Généralisation des DRS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Depuis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le mois d’émargement de 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01/2016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, l’utilisation des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DRS</a:t>
            </a:r>
            <a:r>
              <a:rPr lang="fr-BE" sz="2800" dirty="0">
                <a:sym typeface="Wingdings" panose="05000000000000000000" pitchFamily="2" charset="2"/>
              </a:rPr>
              <a:t> est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obligatoire</a:t>
            </a:r>
            <a:r>
              <a:rPr lang="fr-BE" sz="2800" b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pour l’</a:t>
            </a: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indemnisation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:</a:t>
            </a:r>
          </a:p>
          <a:p>
            <a:pPr marL="0" indent="0">
              <a:buNone/>
            </a:pPr>
            <a:endParaRPr lang="fr-BE" sz="14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Chômage temporaire = </a:t>
            </a:r>
            <a:r>
              <a:rPr lang="fr-BE" b="1" dirty="0">
                <a:solidFill>
                  <a:prstClr val="black"/>
                </a:solidFill>
                <a:sym typeface="Wingdings" panose="05000000000000000000" pitchFamily="2" charset="2"/>
              </a:rPr>
              <a:t>wech 505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AGR </a:t>
            </a: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(bis) 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= </a:t>
            </a:r>
            <a:r>
              <a:rPr lang="fr-BE" b="1" dirty="0">
                <a:solidFill>
                  <a:prstClr val="black"/>
                </a:solidFill>
                <a:sym typeface="Wingdings" panose="05000000000000000000" pitchFamily="2" charset="2"/>
              </a:rPr>
              <a:t>wech 506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Atelier protégé = </a:t>
            </a:r>
            <a:r>
              <a:rPr lang="fr-BE" b="1" dirty="0">
                <a:solidFill>
                  <a:prstClr val="black"/>
                </a:solidFill>
                <a:sym typeface="Wingdings" panose="05000000000000000000" pitchFamily="2" charset="2"/>
              </a:rPr>
              <a:t>wech 507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Impulsion – Activa Bxl – Sine – PTP = </a:t>
            </a:r>
            <a:r>
              <a:rPr lang="fr-BE" b="1" dirty="0">
                <a:solidFill>
                  <a:prstClr val="black"/>
                </a:solidFill>
                <a:sym typeface="Wingdings" panose="05000000000000000000" pitchFamily="2" charset="2"/>
              </a:rPr>
              <a:t>wech 508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Vacances jeunes/seniors = </a:t>
            </a:r>
            <a:r>
              <a:rPr lang="fr-BE" b="1" dirty="0">
                <a:solidFill>
                  <a:prstClr val="black"/>
                </a:solidFill>
                <a:sym typeface="Wingdings" panose="05000000000000000000" pitchFamily="2" charset="2"/>
              </a:rPr>
              <a:t>wech 510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924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 Simplification des DRS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72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Dates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de 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début &amp; de fin d’occupations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spcBef>
                <a:spcPts val="672"/>
              </a:spcBef>
              <a:buNone/>
            </a:pPr>
            <a:endParaRPr lang="fr-BE" sz="1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72"/>
              </a:spcBef>
              <a:buFont typeface="Wingdings" panose="05000000000000000000" pitchFamily="2" charset="2"/>
              <a:buChar char="§"/>
            </a:pP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Utilisation d’un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Q moyen 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pour les 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occupations successives ininterrompues auprès du même employeur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spcBef>
                <a:spcPts val="672"/>
              </a:spcBef>
              <a:buNone/>
            </a:pPr>
            <a:endParaRPr lang="fr-BE" sz="1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>
              <a:spcBef>
                <a:spcPts val="672"/>
              </a:spcBef>
              <a:buFont typeface="Wingdings" panose="05000000000000000000" pitchFamily="2" charset="2"/>
              <a:buChar char="§"/>
            </a:pP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Mention du 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salaire théorique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739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86AEE-09DD-4408-81A6-16BB87370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2.1. Utilisation du Q moyen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6F48E6-1C62-4361-B31C-9FDAFB9DF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0"/>
              </a:spcAft>
              <a:tabLst>
                <a:tab pos="5419725" algn="l"/>
              </a:tabLst>
            </a:pPr>
            <a:r>
              <a:rPr lang="fr-BE" dirty="0">
                <a:latin typeface="+mj-lt"/>
                <a:ea typeface="Times New Roman" panose="02020603050405020304" pitchFamily="18" charset="0"/>
              </a:rPr>
              <a:t>Le facteur </a:t>
            </a:r>
            <a:r>
              <a:rPr lang="fr-BE" b="1" dirty="0">
                <a:latin typeface="+mj-lt"/>
                <a:ea typeface="Times New Roman" panose="02020603050405020304" pitchFamily="18" charset="0"/>
              </a:rPr>
              <a:t>Q moyen permet</a:t>
            </a:r>
            <a:r>
              <a:rPr lang="fr-BE" dirty="0">
                <a:latin typeface="+mj-lt"/>
                <a:ea typeface="Times New Roman" panose="02020603050405020304" pitchFamily="18" charset="0"/>
              </a:rPr>
              <a:t> à l’employeur (ou son secrétariat social) de </a:t>
            </a:r>
            <a:r>
              <a:rPr lang="fr-BE" b="1" dirty="0">
                <a:latin typeface="+mj-lt"/>
                <a:ea typeface="Times New Roman" panose="02020603050405020304" pitchFamily="18" charset="0"/>
              </a:rPr>
              <a:t>regrouper</a:t>
            </a:r>
            <a:r>
              <a:rPr lang="fr-BE" dirty="0">
                <a:latin typeface="+mj-lt"/>
                <a:ea typeface="Times New Roman" panose="02020603050405020304" pitchFamily="18" charset="0"/>
              </a:rPr>
              <a:t> dans une même déclaration électronique des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</a:rPr>
              <a:t>occupations à temps partiel successives ininterrompues auprès du même employeur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</a:rPr>
              <a:t> </a:t>
            </a:r>
            <a:r>
              <a:rPr lang="fr-BE" dirty="0">
                <a:latin typeface="+mj-lt"/>
                <a:ea typeface="Times New Roman" panose="02020603050405020304" pitchFamily="18" charset="0"/>
              </a:rPr>
              <a:t>avec des facteurs Q différents.</a:t>
            </a:r>
            <a:endParaRPr lang="fr-BE" sz="4400" dirty="0">
              <a:latin typeface="+mj-lt"/>
              <a:ea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  <a:tabLst>
                <a:tab pos="5419725" algn="l"/>
              </a:tabLst>
            </a:pPr>
            <a:r>
              <a:rPr lang="fr-BE" dirty="0">
                <a:latin typeface="+mj-lt"/>
                <a:ea typeface="Times New Roman" panose="02020603050405020304" pitchFamily="18" charset="0"/>
              </a:rPr>
              <a:t>Regroupement possible si le BCE, la catégorie employeur, le code travailleur, la commission paritaire et le facteur S </a:t>
            </a:r>
            <a:r>
              <a:rPr lang="fr-BE" b="1" dirty="0">
                <a:latin typeface="+mj-lt"/>
                <a:ea typeface="Times New Roman" panose="02020603050405020304" pitchFamily="18" charset="0"/>
              </a:rPr>
              <a:t>sont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Times New Roman" panose="02020603050405020304" pitchFamily="18" charset="0"/>
              </a:rPr>
              <a:t>identiques</a:t>
            </a:r>
            <a:r>
              <a:rPr lang="fr-BE" dirty="0">
                <a:latin typeface="+mj-lt"/>
                <a:ea typeface="Times New Roman" panose="02020603050405020304" pitchFamily="18" charset="0"/>
              </a:rPr>
              <a:t>.</a:t>
            </a:r>
            <a:endParaRPr lang="fr-BE" sz="4400" dirty="0">
              <a:latin typeface="+mj-lt"/>
              <a:ea typeface="Times New Roman" panose="02020603050405020304" pitchFamily="18" charset="0"/>
            </a:endParaRP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8D406A-37F0-4B04-A6BF-074B20875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793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2.2. Valeurs du facteur Q dans la DRS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5419725" algn="l"/>
              </a:tabLst>
            </a:pPr>
            <a:r>
              <a:rPr lang="fr-BE" b="1" dirty="0">
                <a:ea typeface="Times New Roman" panose="02020603050405020304" pitchFamily="18" charset="0"/>
                <a:cs typeface="Arial" panose="020B0604020202020204" pitchFamily="34" charset="0"/>
              </a:rPr>
              <a:t>Valeur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fr-BE" dirty="0"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Même facteur Q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BE" dirty="0">
                <a:ea typeface="Times New Roman" panose="02020603050405020304" pitchFamily="18" charset="0"/>
                <a:cs typeface="Arial" panose="020B0604020202020204" pitchFamily="34" charset="0"/>
              </a:rPr>
              <a:t>pour tous le mois.</a:t>
            </a:r>
          </a:p>
          <a:p>
            <a:pPr marL="0" lvl="0" indent="0" algn="just">
              <a:spcBef>
                <a:spcPts val="600"/>
              </a:spcBef>
              <a:buNone/>
              <a:tabLst>
                <a:tab pos="5419725" algn="l"/>
              </a:tabLst>
            </a:pPr>
            <a:endParaRPr lang="fr-BE" sz="1000" b="1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5419725" algn="l"/>
              </a:tabLst>
            </a:pPr>
            <a:r>
              <a:rPr lang="fr-BE" b="1" dirty="0">
                <a:ea typeface="Times New Roman" panose="02020603050405020304" pitchFamily="18" charset="0"/>
                <a:cs typeface="Arial" panose="020B0604020202020204" pitchFamily="34" charset="0"/>
              </a:rPr>
              <a:t>Valeur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fr-BE" dirty="0">
                <a:ea typeface="Times New Roman" panose="02020603050405020304" pitchFamily="18" charset="0"/>
                <a:cs typeface="Arial" panose="020B0604020202020204" pitchFamily="34" charset="0"/>
              </a:rPr>
              <a:t> = Facteur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Q moyen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lvl="0" indent="0" algn="just">
              <a:spcBef>
                <a:spcPts val="600"/>
              </a:spcBef>
              <a:buNone/>
              <a:tabLst>
                <a:tab pos="5419725" algn="l"/>
              </a:tabLst>
            </a:pPr>
            <a:endParaRPr lang="fr-BE" sz="1000" dirty="0">
              <a:solidFill>
                <a:srgbClr val="C0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5419725" algn="l"/>
              </a:tabLst>
            </a:pPr>
            <a:r>
              <a:rPr lang="fr-BE" dirty="0">
                <a:ea typeface="Times New Roman" panose="02020603050405020304" pitchFamily="18" charset="0"/>
                <a:cs typeface="Arial" panose="020B0604020202020204" pitchFamily="34" charset="0"/>
              </a:rPr>
              <a:t>Valeur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fr-BE" dirty="0"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occupation temporaire à temps plein.</a:t>
            </a:r>
          </a:p>
          <a:p>
            <a:pPr marL="0" lvl="0" indent="0" algn="just">
              <a:spcBef>
                <a:spcPts val="600"/>
              </a:spcBef>
              <a:buNone/>
              <a:tabLst>
                <a:tab pos="5419725" algn="l"/>
              </a:tabLst>
            </a:pPr>
            <a:endParaRPr lang="fr-BE" sz="10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dirty="0">
                <a:ea typeface="Times New Roman" panose="02020603050405020304" pitchFamily="18" charset="0"/>
              </a:rPr>
              <a:t>Valeur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5 </a:t>
            </a:r>
            <a:r>
              <a:rPr lang="fr-BE" dirty="0">
                <a:ea typeface="Times New Roman" panose="02020603050405020304" pitchFamily="18" charset="0"/>
              </a:rPr>
              <a:t>= </a:t>
            </a:r>
            <a:r>
              <a:rPr lang="fr-BE" dirty="0">
                <a:solidFill>
                  <a:srgbClr val="000000"/>
                </a:solidFill>
                <a:ea typeface="Times New Roman" panose="02020603050405020304" pitchFamily="18" charset="0"/>
              </a:rPr>
              <a:t>même facteur Q </a:t>
            </a:r>
            <a:r>
              <a:rPr lang="fr-BE" dirty="0">
                <a:ea typeface="Times New Roman" panose="02020603050405020304" pitchFamily="18" charset="0"/>
              </a:rPr>
              <a:t>pour tous le mois </a:t>
            </a:r>
            <a:r>
              <a:rPr lang="fr-BE" u="sng" dirty="0">
                <a:ea typeface="Times New Roman" panose="02020603050405020304" pitchFamily="18" charset="0"/>
              </a:rPr>
              <a:t>mais</a:t>
            </a:r>
            <a:r>
              <a:rPr lang="fr-BE" dirty="0">
                <a:ea typeface="Times New Roman" panose="02020603050405020304" pitchFamily="18" charset="0"/>
              </a:rPr>
              <a:t> le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régime de travail </a:t>
            </a:r>
            <a:r>
              <a:rPr lang="fr-BE" dirty="0">
                <a:ea typeface="Times New Roman" panose="02020603050405020304" pitchFamily="18" charset="0"/>
              </a:rPr>
              <a:t>(facteur R) a été 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ea typeface="Times New Roman" panose="02020603050405020304" pitchFamily="18" charset="0"/>
              </a:rPr>
              <a:t>modifié</a:t>
            </a:r>
            <a:r>
              <a:rPr lang="fr-BE" dirty="0">
                <a:ea typeface="Times New Roman" panose="02020603050405020304" pitchFamily="18" charset="0"/>
              </a:rPr>
              <a:t> en cours de mois</a:t>
            </a:r>
            <a:endParaRPr lang="fr-BE" dirty="0"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358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2.3. Exemple Q moyen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Occupations successives ininterrompues chez le même employeur </a:t>
            </a: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Utilisation du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Q moyen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.</a:t>
            </a:r>
            <a:endParaRPr lang="fr-BE" sz="2800" b="1" dirty="0">
              <a:solidFill>
                <a:prstClr val="black"/>
              </a:solidFill>
              <a:sym typeface="Wingdings" panose="05000000000000000000" pitchFamily="2" charset="2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611560" y="4221088"/>
            <a:ext cx="79312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/>
          <p:nvPr/>
        </p:nvCxnSpPr>
        <p:spPr>
          <a:xfrm>
            <a:off x="1018708" y="2780928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H="1">
            <a:off x="3898368" y="2780928"/>
            <a:ext cx="660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8708" y="2780928"/>
            <a:ext cx="146690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Août 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94946" y="2780928"/>
            <a:ext cx="140803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Septembre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98367" y="2779305"/>
            <a:ext cx="1439669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Octobre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36084" y="2779305"/>
            <a:ext cx="142684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  Novembre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74680" y="2779001"/>
            <a:ext cx="1460809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Décembre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3" name="Connecteur droit 12"/>
          <p:cNvCxnSpPr/>
          <p:nvPr/>
        </p:nvCxnSpPr>
        <p:spPr>
          <a:xfrm>
            <a:off x="2479889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6768958" y="2775620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8228734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5332768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09728" y="3503141"/>
            <a:ext cx="148227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25/38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479889" y="3503141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25/38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33423" y="3503141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20/38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758309" y="3503141"/>
            <a:ext cx="147718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20/38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85626" y="3512856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506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23,55</a:t>
            </a:r>
            <a:r>
              <a:rPr lang="fr-BE" sz="1600" b="1" dirty="0">
                <a:solidFill>
                  <a:schemeClr val="tx1"/>
                </a:solidFill>
              </a:rPr>
              <a:t>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Flèche droite 26"/>
          <p:cNvSpPr/>
          <p:nvPr/>
        </p:nvSpPr>
        <p:spPr>
          <a:xfrm>
            <a:off x="1018708" y="5123490"/>
            <a:ext cx="3951852" cy="73072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- 25/38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8" name="Flèche droite 27"/>
          <p:cNvSpPr/>
          <p:nvPr/>
        </p:nvSpPr>
        <p:spPr>
          <a:xfrm>
            <a:off x="5026638" y="5123490"/>
            <a:ext cx="3212982" cy="73072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- 20/38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8" name="Connecteur droit 17"/>
          <p:cNvCxnSpPr/>
          <p:nvPr/>
        </p:nvCxnSpPr>
        <p:spPr>
          <a:xfrm>
            <a:off x="5019090" y="2492896"/>
            <a:ext cx="7548" cy="316835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56321" y="3741456"/>
            <a:ext cx="816065" cy="586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57/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0B54731-AEEA-447C-BD54-9C4129058683}"/>
              </a:ext>
            </a:extLst>
          </p:cNvPr>
          <p:cNvSpPr txBox="1"/>
          <p:nvPr/>
        </p:nvSpPr>
        <p:spPr>
          <a:xfrm>
            <a:off x="1349920" y="4509245"/>
            <a:ext cx="1231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CA8972D-48B9-4B28-A44A-5C8599A97A70}"/>
              </a:ext>
            </a:extLst>
          </p:cNvPr>
          <p:cNvSpPr txBox="1"/>
          <p:nvPr/>
        </p:nvSpPr>
        <p:spPr>
          <a:xfrm>
            <a:off x="2771800" y="4509245"/>
            <a:ext cx="93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2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CFACD80-551B-4B9F-9D47-DC4F71EAD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375" y="4433335"/>
            <a:ext cx="957155" cy="37798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B98A520D-A05F-4921-BCB6-7E83F70E3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687" y="4443620"/>
            <a:ext cx="957155" cy="377985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5F58127A-E615-4B60-AF5A-9F30A76A26F1}"/>
              </a:ext>
            </a:extLst>
          </p:cNvPr>
          <p:cNvSpPr txBox="1"/>
          <p:nvPr/>
        </p:nvSpPr>
        <p:spPr>
          <a:xfrm>
            <a:off x="4274780" y="4514652"/>
            <a:ext cx="938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Valeur 3</a:t>
            </a:r>
          </a:p>
        </p:txBody>
      </p:sp>
    </p:spTree>
    <p:extLst>
      <p:ext uri="{BB962C8B-B14F-4D97-AF65-F5344CB8AC3E}">
        <p14:creationId xmlns:p14="http://schemas.microsoft.com/office/powerpoint/2010/main" val="360630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17" grpId="0"/>
      <p:bldP spid="1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3FDAAB-A721-421A-8EF7-1DF1E731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AF2C345D-5EFD-4F06-A02E-71C74CE47753}"/>
              </a:ext>
            </a:extLst>
          </p:cNvPr>
          <p:cNvGraphicFramePr>
            <a:graphicFrameLocks noGrp="1"/>
          </p:cNvGraphicFramePr>
          <p:nvPr/>
        </p:nvGraphicFramePr>
        <p:xfrm>
          <a:off x="-7056" y="4890"/>
          <a:ext cx="9151056" cy="685310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575528">
                  <a:extLst>
                    <a:ext uri="{9D8B030D-6E8A-4147-A177-3AD203B41FA5}">
                      <a16:colId xmlns:a16="http://schemas.microsoft.com/office/drawing/2014/main" val="4047021328"/>
                    </a:ext>
                  </a:extLst>
                </a:gridCol>
                <a:gridCol w="4575528">
                  <a:extLst>
                    <a:ext uri="{9D8B030D-6E8A-4147-A177-3AD203B41FA5}">
                      <a16:colId xmlns:a16="http://schemas.microsoft.com/office/drawing/2014/main" val="487628269"/>
                    </a:ext>
                  </a:extLst>
                </a:gridCol>
              </a:tblGrid>
              <a:tr h="603470">
                <a:tc>
                  <a:txBody>
                    <a:bodyPr/>
                    <a:lstStyle/>
                    <a:p>
                      <a:r>
                        <a:rPr lang="fr-BE" sz="2400" dirty="0"/>
                        <a:t>1</a:t>
                      </a:r>
                      <a:r>
                        <a:rPr lang="fr-BE" sz="2400" baseline="30000" dirty="0"/>
                        <a:t>er</a:t>
                      </a:r>
                      <a:r>
                        <a:rPr lang="fr-BE" sz="2400" dirty="0"/>
                        <a:t> contrôle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400" dirty="0"/>
                        <a:t>Préfixe ≠ S04 ou ≠ S29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343088"/>
                  </a:ext>
                </a:extLst>
              </a:tr>
              <a:tr h="1934412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fr-BE" sz="2000" b="1" dirty="0"/>
                        <a:t>WECH 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 le préfixe en S04 n’est pas 00/, 7X/ 02/, 04/, 05/ , 06/, 57/, 58/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BE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</a:t>
                      </a: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Flux indemnisation sans admissibilité</a:t>
                      </a:r>
                      <a:endParaRPr kumimoji="0" lang="fr-BE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805764"/>
                  </a:ext>
                </a:extLst>
              </a:tr>
              <a:tr h="2380815"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fr-BE" sz="2000" b="1" dirty="0"/>
                        <a:t>WECH 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2000" dirty="0"/>
                        <a:t>Si le préfixe en S04 n’est pas 00/, 7X/, 02/ (uniquement si Q&lt;S), 04/, 05/, 06/, 57/, 58/, 99/</a:t>
                      </a:r>
                    </a:p>
                    <a:p>
                      <a:endParaRPr lang="fr-BE" sz="2000" dirty="0"/>
                    </a:p>
                    <a:p>
                      <a:r>
                        <a:rPr lang="fr-BE" sz="2000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fr-BE" sz="2000" b="1" dirty="0">
                          <a:sym typeface="Wingdings" panose="05000000000000000000" pitchFamily="2" charset="2"/>
                        </a:rPr>
                        <a:t>Flux indemnisation sans admissibilité</a:t>
                      </a:r>
                      <a:endParaRPr lang="fr-BE" sz="2000" b="1" dirty="0"/>
                    </a:p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43340"/>
                  </a:ext>
                </a:extLst>
              </a:tr>
              <a:tr h="1934412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fr-BE" sz="2000" b="1" dirty="0"/>
                        <a:t>WECH 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 le préfixe en S29 ne correspond pas au risque de la Wech508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BE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</a:t>
                      </a: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Flux indemnisation sans admissibilité</a:t>
                      </a:r>
                      <a:endParaRPr kumimoji="0" lang="fr-BE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577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9285145"/>
      </p:ext>
    </p:extLst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23F934EA-5929-433F-BEA6-8A8ACAA8FF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9144000" cy="685799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2619138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9867292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76923517"/>
                    </a:ext>
                  </a:extLst>
                </a:gridCol>
              </a:tblGrid>
              <a:tr h="1065971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506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Préfixe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02 (Q &lt; S)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04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06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BE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DRS wech 506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Préfixe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05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57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770501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BCE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323885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strike="sngStrike" dirty="0">
                          <a:solidFill>
                            <a:schemeClr val="tx1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 ≠ S07</a:t>
                      </a:r>
                      <a:endParaRPr lang="fr-BE" b="1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-----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-----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68199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S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674357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Cat. empl.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71633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Code trav.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051391"/>
                  </a:ext>
                </a:extLst>
              </a:tr>
              <a:tr h="68259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C. P.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722173"/>
                  </a:ext>
                </a:extLst>
              </a:tr>
              <a:tr h="84822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début occup. &lt; début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-----</a:t>
                      </a:r>
                      <a:endParaRPr lang="fr-BE" sz="2000" b="1" i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92603"/>
                  </a:ext>
                </a:extLst>
              </a:tr>
              <a:tr h="84822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fin occup.</a:t>
                      </a:r>
                    </a:p>
                    <a:p>
                      <a:pPr algn="ctr"/>
                      <a:r>
                        <a:rPr lang="fr-BE" b="1" dirty="0"/>
                        <a:t>&gt; fin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-----</a:t>
                      </a:r>
                      <a:endParaRPr lang="fr-BE" sz="2000" b="1" i="1" dirty="0">
                        <a:solidFill>
                          <a:schemeClr val="tx2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273158"/>
                  </a:ext>
                </a:extLst>
              </a:tr>
            </a:tbl>
          </a:graphicData>
        </a:graphic>
      </p:graphicFrame>
      <p:sp>
        <p:nvSpPr>
          <p:cNvPr id="11" name="Signe de multiplication 10">
            <a:extLst>
              <a:ext uri="{FF2B5EF4-FFF2-40B4-BE49-F238E27FC236}">
                <a16:creationId xmlns:a16="http://schemas.microsoft.com/office/drawing/2014/main" id="{0CDCB05A-BA38-42F5-96F6-31F611BCB10D}"/>
              </a:ext>
            </a:extLst>
          </p:cNvPr>
          <p:cNvSpPr/>
          <p:nvPr/>
        </p:nvSpPr>
        <p:spPr>
          <a:xfrm>
            <a:off x="4427064" y="3252282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igne de multiplication 11">
            <a:extLst>
              <a:ext uri="{FF2B5EF4-FFF2-40B4-BE49-F238E27FC236}">
                <a16:creationId xmlns:a16="http://schemas.microsoft.com/office/drawing/2014/main" id="{5CF57641-E73F-4865-BB9D-4E5256D01467}"/>
              </a:ext>
            </a:extLst>
          </p:cNvPr>
          <p:cNvSpPr/>
          <p:nvPr/>
        </p:nvSpPr>
        <p:spPr>
          <a:xfrm>
            <a:off x="4427067" y="3942721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igne de multiplication 12">
            <a:extLst>
              <a:ext uri="{FF2B5EF4-FFF2-40B4-BE49-F238E27FC236}">
                <a16:creationId xmlns:a16="http://schemas.microsoft.com/office/drawing/2014/main" id="{27AB36CC-7E84-4A11-8043-113DBDFEA4F2}"/>
              </a:ext>
            </a:extLst>
          </p:cNvPr>
          <p:cNvSpPr/>
          <p:nvPr/>
        </p:nvSpPr>
        <p:spPr>
          <a:xfrm>
            <a:off x="4427069" y="460841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CE343EF3-91B3-4D07-B2D6-F1E33BC9F377}"/>
              </a:ext>
            </a:extLst>
          </p:cNvPr>
          <p:cNvSpPr/>
          <p:nvPr/>
        </p:nvSpPr>
        <p:spPr>
          <a:xfrm>
            <a:off x="7480487" y="3252282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igne de multiplication 16">
            <a:extLst>
              <a:ext uri="{FF2B5EF4-FFF2-40B4-BE49-F238E27FC236}">
                <a16:creationId xmlns:a16="http://schemas.microsoft.com/office/drawing/2014/main" id="{7B4800B9-9661-4B12-ACBD-77C3D97D05B8}"/>
              </a:ext>
            </a:extLst>
          </p:cNvPr>
          <p:cNvSpPr/>
          <p:nvPr/>
        </p:nvSpPr>
        <p:spPr>
          <a:xfrm>
            <a:off x="7475071" y="3942721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igne de multiplication 17">
            <a:extLst>
              <a:ext uri="{FF2B5EF4-FFF2-40B4-BE49-F238E27FC236}">
                <a16:creationId xmlns:a16="http://schemas.microsoft.com/office/drawing/2014/main" id="{28496144-459F-4C3E-B0A4-8002446BB519}"/>
              </a:ext>
            </a:extLst>
          </p:cNvPr>
          <p:cNvSpPr/>
          <p:nvPr/>
        </p:nvSpPr>
        <p:spPr>
          <a:xfrm>
            <a:off x="7475071" y="460841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B8A7DB9-ECBA-44A4-8F7C-4211C6300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469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2.3. Exemple Q moyen</a:t>
            </a:r>
            <a:endParaRPr lang="fr-BE" sz="40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83269" y="1600199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Occupations successives ininterrompues chez le même employeur </a:t>
            </a: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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Utilisation du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Q moyen</a:t>
            </a:r>
            <a:r>
              <a:rPr lang="fr-BE" sz="2800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.</a:t>
            </a:r>
            <a:endParaRPr lang="fr-BE" sz="2800" b="1" dirty="0">
              <a:solidFill>
                <a:schemeClr val="accent2">
                  <a:lumMod val="75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  <p:cxnSp>
        <p:nvCxnSpPr>
          <p:cNvPr id="5" name="Connecteur droit avec flèche 4"/>
          <p:cNvCxnSpPr/>
          <p:nvPr/>
        </p:nvCxnSpPr>
        <p:spPr>
          <a:xfrm>
            <a:off x="611560" y="4221088"/>
            <a:ext cx="79312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/>
          <p:nvPr/>
        </p:nvCxnSpPr>
        <p:spPr>
          <a:xfrm>
            <a:off x="1018708" y="2780928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 flipH="1">
            <a:off x="3898368" y="2780928"/>
            <a:ext cx="660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8708" y="2780928"/>
            <a:ext cx="1466904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Août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4946" y="2780928"/>
            <a:ext cx="1408038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Septembre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898367" y="2779305"/>
            <a:ext cx="1439669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Octobre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36084" y="2779305"/>
            <a:ext cx="142684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Novembre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74680" y="2779001"/>
            <a:ext cx="1460809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dirty="0">
                <a:solidFill>
                  <a:schemeClr val="tx1"/>
                </a:solidFill>
              </a:rPr>
              <a:t>Décembre</a:t>
            </a:r>
          </a:p>
          <a:p>
            <a:pPr algn="ctr"/>
            <a:r>
              <a:rPr lang="fr-BE" sz="1600" dirty="0">
                <a:solidFill>
                  <a:schemeClr val="tx1"/>
                </a:solidFill>
              </a:rPr>
              <a:t>2023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3" name="Connecteur droit 12"/>
          <p:cNvCxnSpPr/>
          <p:nvPr/>
        </p:nvCxnSpPr>
        <p:spPr>
          <a:xfrm>
            <a:off x="2479889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6768958" y="2775620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/>
          <p:nvPr/>
        </p:nvCxnSpPr>
        <p:spPr>
          <a:xfrm>
            <a:off x="8228734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5332768" y="2792896"/>
            <a:ext cx="372" cy="21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4354" y="3519577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505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20/38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33423" y="3503141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505</a:t>
            </a:r>
          </a:p>
          <a:p>
            <a:pPr algn="ctr"/>
            <a:r>
              <a:rPr lang="fr-BE" sz="1600" b="1" dirty="0">
                <a:solidFill>
                  <a:schemeClr val="tx1"/>
                </a:solidFill>
              </a:rPr>
              <a:t>23/38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85626" y="3512856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tx1"/>
                </a:solidFill>
              </a:rPr>
              <a:t>Wech 505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20,87</a:t>
            </a:r>
            <a:r>
              <a:rPr lang="fr-BE" sz="1600" b="1" dirty="0">
                <a:solidFill>
                  <a:schemeClr val="tx1"/>
                </a:solidFill>
              </a:rPr>
              <a:t>/38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7" name="Flèche droite 26"/>
          <p:cNvSpPr/>
          <p:nvPr/>
        </p:nvSpPr>
        <p:spPr>
          <a:xfrm>
            <a:off x="1018708" y="5123490"/>
            <a:ext cx="3951852" cy="73072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- 20/38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8" name="Flèche droite 27"/>
          <p:cNvSpPr/>
          <p:nvPr/>
        </p:nvSpPr>
        <p:spPr>
          <a:xfrm>
            <a:off x="5026638" y="5123490"/>
            <a:ext cx="3212982" cy="73072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dirty="0">
                <a:solidFill>
                  <a:schemeClr val="tx1"/>
                </a:solidFill>
              </a:rPr>
              <a:t>Employeur « A » - 23/38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18" name="Connecteur droit 17"/>
          <p:cNvCxnSpPr/>
          <p:nvPr/>
        </p:nvCxnSpPr>
        <p:spPr>
          <a:xfrm>
            <a:off x="5019090" y="2492896"/>
            <a:ext cx="7548" cy="316835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56321" y="3741456"/>
            <a:ext cx="816065" cy="586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accent2">
                    <a:lumMod val="75000"/>
                  </a:schemeClr>
                </a:solidFill>
              </a:rPr>
              <a:t>06/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5" name="Connecteur droit 34"/>
          <p:cNvCxnSpPr/>
          <p:nvPr/>
        </p:nvCxnSpPr>
        <p:spPr>
          <a:xfrm>
            <a:off x="1212644" y="4078226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>
            <a:off x="1699940" y="4078226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>
            <a:off x="4312169" y="4078226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>
            <a:off x="6480271" y="4074394"/>
            <a:ext cx="372" cy="360000"/>
          </a:xfrm>
          <a:prstGeom prst="line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>
            <a:off x="5211423" y="4074394"/>
            <a:ext cx="372" cy="36000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911770" y="4329299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Wech 502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23/38</a:t>
            </a: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349794" y="4329299"/>
            <a:ext cx="1424886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Wech 502</a:t>
            </a:r>
          </a:p>
          <a:p>
            <a:pPr algn="ctr"/>
            <a:r>
              <a:rPr lang="fr-BE" sz="1600" b="1" dirty="0">
                <a:solidFill>
                  <a:schemeClr val="accent2">
                    <a:lumMod val="75000"/>
                  </a:schemeClr>
                </a:solidFill>
              </a:rPr>
              <a:t>23/38</a:t>
            </a:r>
            <a:endParaRPr lang="en-US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6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  <p:bldP spid="27" grpId="0" animBg="1"/>
      <p:bldP spid="28" grpId="0" animBg="1"/>
      <p:bldP spid="40" grpId="0"/>
      <p:bldP spid="40" grpId="1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23F934EA-5929-433F-BEA6-8A8ACAA8FF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-25778"/>
          <a:ext cx="9144000" cy="688377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26191388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19867292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3869063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76923517"/>
                    </a:ext>
                  </a:extLst>
                </a:gridCol>
              </a:tblGrid>
              <a:tr h="1060054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505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Préfixe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02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505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Préfixe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BE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DRS wech 505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Préfixe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05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57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770501"/>
                  </a:ext>
                </a:extLst>
              </a:tr>
              <a:tr h="67880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BCE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323885"/>
                  </a:ext>
                </a:extLst>
              </a:tr>
              <a:tr h="742661"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chemeClr val="tx1"/>
                          </a:solidFill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Q ≠ S07</a:t>
                      </a:r>
                      <a:endParaRPr lang="fr-BE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  <a:p>
                      <a:pPr algn="ctr"/>
                      <a:r>
                        <a:rPr lang="fr-BE" sz="1400" b="1" dirty="0"/>
                        <a:t>Sauf si « Q = S 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-----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68199"/>
                  </a:ext>
                </a:extLst>
              </a:tr>
              <a:tr h="67880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S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674357"/>
                  </a:ext>
                </a:extLst>
              </a:tr>
              <a:tr h="67880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Cat. empl.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71633"/>
                  </a:ext>
                </a:extLst>
              </a:tr>
              <a:tr h="67880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Code trav.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051391"/>
                  </a:ext>
                </a:extLst>
              </a:tr>
              <a:tr h="67880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C. P.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722173"/>
                  </a:ext>
                </a:extLst>
              </a:tr>
              <a:tr h="84351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début occup. &lt; début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  <a:p>
                      <a:pPr algn="ctr"/>
                      <a:r>
                        <a:rPr lang="fr-BE" sz="1400" b="1" i="0" dirty="0">
                          <a:solidFill>
                            <a:schemeClr val="tx1"/>
                          </a:solidFill>
                        </a:rPr>
                        <a:t>Sauf si CT &lt; début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  <a:p>
                      <a:pPr algn="ctr"/>
                      <a:r>
                        <a:rPr lang="fr-BE" sz="1400" b="1" i="0" dirty="0">
                          <a:solidFill>
                            <a:schemeClr val="tx1"/>
                          </a:solidFill>
                        </a:rPr>
                        <a:t>Sauf si CT &lt; début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92603"/>
                  </a:ext>
                </a:extLst>
              </a:tr>
              <a:tr h="84351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fin occup.</a:t>
                      </a:r>
                    </a:p>
                    <a:p>
                      <a:pPr algn="ctr"/>
                      <a:r>
                        <a:rPr lang="fr-BE" b="1" dirty="0"/>
                        <a:t>&gt; fin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  <a:p>
                      <a:pPr algn="ctr"/>
                      <a:r>
                        <a:rPr lang="fr-BE" sz="1400" b="1" i="0" dirty="0">
                          <a:solidFill>
                            <a:schemeClr val="tx1"/>
                          </a:solidFill>
                        </a:rPr>
                        <a:t>Sauf si CT &gt; fin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Sauf si CT &gt; fin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273158"/>
                  </a:ext>
                </a:extLst>
              </a:tr>
            </a:tbl>
          </a:graphicData>
        </a:graphic>
      </p:graphicFrame>
      <p:sp>
        <p:nvSpPr>
          <p:cNvPr id="10" name="Signe de multiplication 9">
            <a:extLst>
              <a:ext uri="{FF2B5EF4-FFF2-40B4-BE49-F238E27FC236}">
                <a16:creationId xmlns:a16="http://schemas.microsoft.com/office/drawing/2014/main" id="{643CD86F-BD22-4BD7-BCE1-DAA7EFC26CAC}"/>
              </a:ext>
            </a:extLst>
          </p:cNvPr>
          <p:cNvSpPr/>
          <p:nvPr/>
        </p:nvSpPr>
        <p:spPr>
          <a:xfrm>
            <a:off x="5563304" y="4630568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igne de multiplication 10">
            <a:extLst>
              <a:ext uri="{FF2B5EF4-FFF2-40B4-BE49-F238E27FC236}">
                <a16:creationId xmlns:a16="http://schemas.microsoft.com/office/drawing/2014/main" id="{0CDCB05A-BA38-42F5-96F6-31F611BCB10D}"/>
              </a:ext>
            </a:extLst>
          </p:cNvPr>
          <p:cNvSpPr/>
          <p:nvPr/>
        </p:nvSpPr>
        <p:spPr>
          <a:xfrm>
            <a:off x="3276150" y="4630568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igne de multiplication 11">
            <a:extLst>
              <a:ext uri="{FF2B5EF4-FFF2-40B4-BE49-F238E27FC236}">
                <a16:creationId xmlns:a16="http://schemas.microsoft.com/office/drawing/2014/main" id="{5CF57641-E73F-4865-BB9D-4E5256D01467}"/>
              </a:ext>
            </a:extLst>
          </p:cNvPr>
          <p:cNvSpPr/>
          <p:nvPr/>
        </p:nvSpPr>
        <p:spPr>
          <a:xfrm>
            <a:off x="3276150" y="325163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igne de multiplication 12">
            <a:extLst>
              <a:ext uri="{FF2B5EF4-FFF2-40B4-BE49-F238E27FC236}">
                <a16:creationId xmlns:a16="http://schemas.microsoft.com/office/drawing/2014/main" id="{27AB36CC-7E84-4A11-8043-113DBDFEA4F2}"/>
              </a:ext>
            </a:extLst>
          </p:cNvPr>
          <p:cNvSpPr/>
          <p:nvPr/>
        </p:nvSpPr>
        <p:spPr>
          <a:xfrm>
            <a:off x="3280019" y="395500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igne de multiplication 13">
            <a:extLst>
              <a:ext uri="{FF2B5EF4-FFF2-40B4-BE49-F238E27FC236}">
                <a16:creationId xmlns:a16="http://schemas.microsoft.com/office/drawing/2014/main" id="{313F2182-2B93-455A-A4EF-C168EA6DD386}"/>
              </a:ext>
            </a:extLst>
          </p:cNvPr>
          <p:cNvSpPr/>
          <p:nvPr/>
        </p:nvSpPr>
        <p:spPr>
          <a:xfrm>
            <a:off x="5563303" y="325163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igne de multiplication 14">
            <a:extLst>
              <a:ext uri="{FF2B5EF4-FFF2-40B4-BE49-F238E27FC236}">
                <a16:creationId xmlns:a16="http://schemas.microsoft.com/office/drawing/2014/main" id="{793FD8CF-3CC2-4554-AD3A-15B0F9269DC7}"/>
              </a:ext>
            </a:extLst>
          </p:cNvPr>
          <p:cNvSpPr/>
          <p:nvPr/>
        </p:nvSpPr>
        <p:spPr>
          <a:xfrm>
            <a:off x="5563303" y="395500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CE343EF3-91B3-4D07-B2D6-F1E33BC9F377}"/>
              </a:ext>
            </a:extLst>
          </p:cNvPr>
          <p:cNvSpPr/>
          <p:nvPr/>
        </p:nvSpPr>
        <p:spPr>
          <a:xfrm>
            <a:off x="7858968" y="4630568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igne de multiplication 16">
            <a:extLst>
              <a:ext uri="{FF2B5EF4-FFF2-40B4-BE49-F238E27FC236}">
                <a16:creationId xmlns:a16="http://schemas.microsoft.com/office/drawing/2014/main" id="{7B4800B9-9661-4B12-ACBD-77C3D97D05B8}"/>
              </a:ext>
            </a:extLst>
          </p:cNvPr>
          <p:cNvSpPr/>
          <p:nvPr/>
        </p:nvSpPr>
        <p:spPr>
          <a:xfrm>
            <a:off x="7849687" y="325163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igne de multiplication 17">
            <a:extLst>
              <a:ext uri="{FF2B5EF4-FFF2-40B4-BE49-F238E27FC236}">
                <a16:creationId xmlns:a16="http://schemas.microsoft.com/office/drawing/2014/main" id="{28496144-459F-4C3E-B0A4-8002446BB519}"/>
              </a:ext>
            </a:extLst>
          </p:cNvPr>
          <p:cNvSpPr/>
          <p:nvPr/>
        </p:nvSpPr>
        <p:spPr>
          <a:xfrm>
            <a:off x="7849686" y="395500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igne de multiplication 19">
            <a:extLst>
              <a:ext uri="{FF2B5EF4-FFF2-40B4-BE49-F238E27FC236}">
                <a16:creationId xmlns:a16="http://schemas.microsoft.com/office/drawing/2014/main" id="{246C2D86-4684-49D0-A722-AEE883738436}"/>
              </a:ext>
            </a:extLst>
          </p:cNvPr>
          <p:cNvSpPr/>
          <p:nvPr/>
        </p:nvSpPr>
        <p:spPr>
          <a:xfrm>
            <a:off x="5563304" y="1757413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Espace réservé du numéro de diapositive 20">
            <a:extLst>
              <a:ext uri="{FF2B5EF4-FFF2-40B4-BE49-F238E27FC236}">
                <a16:creationId xmlns:a16="http://schemas.microsoft.com/office/drawing/2014/main" id="{2E787A0C-066A-4EFA-B287-FD1F7638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igne de multiplication 21">
            <a:extLst>
              <a:ext uri="{FF2B5EF4-FFF2-40B4-BE49-F238E27FC236}">
                <a16:creationId xmlns:a16="http://schemas.microsoft.com/office/drawing/2014/main" id="{0B9D345C-2FC7-4F17-902E-6273CEB3F037}"/>
              </a:ext>
            </a:extLst>
          </p:cNvPr>
          <p:cNvSpPr/>
          <p:nvPr/>
        </p:nvSpPr>
        <p:spPr>
          <a:xfrm>
            <a:off x="3275380" y="5278762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Signe de multiplication 22">
            <a:extLst>
              <a:ext uri="{FF2B5EF4-FFF2-40B4-BE49-F238E27FC236}">
                <a16:creationId xmlns:a16="http://schemas.microsoft.com/office/drawing/2014/main" id="{DE05DC84-9EDE-4343-914B-EF1D07BD0AA6}"/>
              </a:ext>
            </a:extLst>
          </p:cNvPr>
          <p:cNvSpPr/>
          <p:nvPr/>
        </p:nvSpPr>
        <p:spPr>
          <a:xfrm>
            <a:off x="3274613" y="6128568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Signe de multiplication 23">
            <a:extLst>
              <a:ext uri="{FF2B5EF4-FFF2-40B4-BE49-F238E27FC236}">
                <a16:creationId xmlns:a16="http://schemas.microsoft.com/office/drawing/2014/main" id="{0A3D4220-B687-4955-B207-5CCB70ACE628}"/>
              </a:ext>
            </a:extLst>
          </p:cNvPr>
          <p:cNvSpPr/>
          <p:nvPr/>
        </p:nvSpPr>
        <p:spPr>
          <a:xfrm>
            <a:off x="5563303" y="5278762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igne de multiplication 24">
            <a:extLst>
              <a:ext uri="{FF2B5EF4-FFF2-40B4-BE49-F238E27FC236}">
                <a16:creationId xmlns:a16="http://schemas.microsoft.com/office/drawing/2014/main" id="{45AE06AF-BD75-4645-B518-B7A11B22868B}"/>
              </a:ext>
            </a:extLst>
          </p:cNvPr>
          <p:cNvSpPr/>
          <p:nvPr/>
        </p:nvSpPr>
        <p:spPr>
          <a:xfrm>
            <a:off x="5563303" y="6128568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68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23F934EA-5929-433F-BEA6-8A8ACAA8F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2870806"/>
              </p:ext>
            </p:extLst>
          </p:nvPr>
        </p:nvGraphicFramePr>
        <p:xfrm>
          <a:off x="0" y="1"/>
          <a:ext cx="9144000" cy="68635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26191388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19867292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63869063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676923517"/>
                    </a:ext>
                  </a:extLst>
                </a:gridCol>
              </a:tblGrid>
              <a:tr h="1042696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508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Risque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10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11 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ou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 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>
                          <a:solidFill>
                            <a:schemeClr val="tx1"/>
                          </a:solidFill>
                        </a:rPr>
                        <a:t>DRS wech 508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Risque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BE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DRS wech 508</a:t>
                      </a:r>
                    </a:p>
                    <a:p>
                      <a:pPr algn="ctr"/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Risque :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fr-BE" sz="1600" dirty="0">
                          <a:solidFill>
                            <a:schemeClr val="tx1"/>
                          </a:solidFill>
                        </a:rPr>
                        <a:t> ou </a:t>
                      </a:r>
                      <a:r>
                        <a:rPr lang="fr-BE" sz="1600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770501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BCE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323885"/>
                  </a:ext>
                </a:extLst>
              </a:tr>
              <a:tr h="817436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Q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-----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  <a:p>
                      <a:pPr algn="ctr"/>
                      <a:r>
                        <a:rPr lang="fr-BE" sz="1400" b="1" dirty="0"/>
                        <a:t>Sauf si Q/S &lt; 1 (12)</a:t>
                      </a:r>
                    </a:p>
                    <a:p>
                      <a:pPr algn="ctr"/>
                      <a:r>
                        <a:rPr lang="fr-BE" sz="1400" b="1" dirty="0"/>
                        <a:t>Sauf si Q/S &lt; 1/2 (20)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  <a:p>
                      <a:pPr algn="ctr"/>
                      <a:r>
                        <a:rPr lang="fr-BE" sz="1400" b="1" dirty="0">
                          <a:solidFill>
                            <a:srgbClr val="C00000"/>
                          </a:solidFill>
                        </a:rPr>
                        <a:t>Pas de contrôle du facteur Q</a:t>
                      </a:r>
                    </a:p>
                    <a:p>
                      <a:pPr algn="ctr"/>
                      <a:r>
                        <a:rPr lang="fr-BE" sz="1400" b="1" dirty="0">
                          <a:solidFill>
                            <a:srgbClr val="C00000"/>
                          </a:solidFill>
                        </a:rPr>
                        <a:t>si « Q moyen 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68199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S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674357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Cat. empl.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371633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Code trav.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051391"/>
                  </a:ext>
                </a:extLst>
              </a:tr>
              <a:tr h="667692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C. P. ≠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dirty="0"/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2722173"/>
                  </a:ext>
                </a:extLst>
              </a:tr>
              <a:tr h="82970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début occup. &lt; début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92603"/>
                  </a:ext>
                </a:extLst>
              </a:tr>
              <a:tr h="829705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Date fin occup.</a:t>
                      </a:r>
                    </a:p>
                    <a:p>
                      <a:pPr algn="ctr"/>
                      <a:r>
                        <a:rPr lang="fr-BE" b="1" dirty="0"/>
                        <a:t>&gt; fin S07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>
                          <a:solidFill>
                            <a:schemeClr val="tx1"/>
                          </a:solidFill>
                        </a:rPr>
                        <a:t>DA</a:t>
                      </a:r>
                      <a:endParaRPr lang="fr-BE" sz="20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b="1" i="0" dirty="0">
                          <a:solidFill>
                            <a:schemeClr val="tx1"/>
                          </a:solidFill>
                        </a:rPr>
                        <a:t>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273158"/>
                  </a:ext>
                </a:extLst>
              </a:tr>
            </a:tbl>
          </a:graphicData>
        </a:graphic>
      </p:graphicFrame>
      <p:sp>
        <p:nvSpPr>
          <p:cNvPr id="10" name="Signe de multiplication 9">
            <a:extLst>
              <a:ext uri="{FF2B5EF4-FFF2-40B4-BE49-F238E27FC236}">
                <a16:creationId xmlns:a16="http://schemas.microsoft.com/office/drawing/2014/main" id="{643CD86F-BD22-4BD7-BCE1-DAA7EFC26CAC}"/>
              </a:ext>
            </a:extLst>
          </p:cNvPr>
          <p:cNvSpPr/>
          <p:nvPr/>
        </p:nvSpPr>
        <p:spPr>
          <a:xfrm>
            <a:off x="5555193" y="3310627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igne de multiplication 10">
            <a:extLst>
              <a:ext uri="{FF2B5EF4-FFF2-40B4-BE49-F238E27FC236}">
                <a16:creationId xmlns:a16="http://schemas.microsoft.com/office/drawing/2014/main" id="{0CDCB05A-BA38-42F5-96F6-31F611BCB10D}"/>
              </a:ext>
            </a:extLst>
          </p:cNvPr>
          <p:cNvSpPr/>
          <p:nvPr/>
        </p:nvSpPr>
        <p:spPr>
          <a:xfrm>
            <a:off x="3282283" y="3310627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igne de multiplication 11">
            <a:extLst>
              <a:ext uri="{FF2B5EF4-FFF2-40B4-BE49-F238E27FC236}">
                <a16:creationId xmlns:a16="http://schemas.microsoft.com/office/drawing/2014/main" id="{5CF57641-E73F-4865-BB9D-4E5256D01467}"/>
              </a:ext>
            </a:extLst>
          </p:cNvPr>
          <p:cNvSpPr/>
          <p:nvPr/>
        </p:nvSpPr>
        <p:spPr>
          <a:xfrm>
            <a:off x="3282283" y="3970820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Signe de multiplication 12">
            <a:extLst>
              <a:ext uri="{FF2B5EF4-FFF2-40B4-BE49-F238E27FC236}">
                <a16:creationId xmlns:a16="http://schemas.microsoft.com/office/drawing/2014/main" id="{27AB36CC-7E84-4A11-8043-113DBDFEA4F2}"/>
              </a:ext>
            </a:extLst>
          </p:cNvPr>
          <p:cNvSpPr/>
          <p:nvPr/>
        </p:nvSpPr>
        <p:spPr>
          <a:xfrm>
            <a:off x="3272237" y="465554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Signe de multiplication 13">
            <a:extLst>
              <a:ext uri="{FF2B5EF4-FFF2-40B4-BE49-F238E27FC236}">
                <a16:creationId xmlns:a16="http://schemas.microsoft.com/office/drawing/2014/main" id="{313F2182-2B93-455A-A4EF-C168EA6DD386}"/>
              </a:ext>
            </a:extLst>
          </p:cNvPr>
          <p:cNvSpPr/>
          <p:nvPr/>
        </p:nvSpPr>
        <p:spPr>
          <a:xfrm>
            <a:off x="5555193" y="3975185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igne de multiplication 14">
            <a:extLst>
              <a:ext uri="{FF2B5EF4-FFF2-40B4-BE49-F238E27FC236}">
                <a16:creationId xmlns:a16="http://schemas.microsoft.com/office/drawing/2014/main" id="{793FD8CF-3CC2-4554-AD3A-15B0F9269DC7}"/>
              </a:ext>
            </a:extLst>
          </p:cNvPr>
          <p:cNvSpPr/>
          <p:nvPr/>
        </p:nvSpPr>
        <p:spPr>
          <a:xfrm>
            <a:off x="5555193" y="465554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igne de multiplication 15">
            <a:extLst>
              <a:ext uri="{FF2B5EF4-FFF2-40B4-BE49-F238E27FC236}">
                <a16:creationId xmlns:a16="http://schemas.microsoft.com/office/drawing/2014/main" id="{CE343EF3-91B3-4D07-B2D6-F1E33BC9F377}"/>
              </a:ext>
            </a:extLst>
          </p:cNvPr>
          <p:cNvSpPr/>
          <p:nvPr/>
        </p:nvSpPr>
        <p:spPr>
          <a:xfrm>
            <a:off x="7838934" y="3310627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Signe de multiplication 16">
            <a:extLst>
              <a:ext uri="{FF2B5EF4-FFF2-40B4-BE49-F238E27FC236}">
                <a16:creationId xmlns:a16="http://schemas.microsoft.com/office/drawing/2014/main" id="{7B4800B9-9661-4B12-ACBD-77C3D97D05B8}"/>
              </a:ext>
            </a:extLst>
          </p:cNvPr>
          <p:cNvSpPr/>
          <p:nvPr/>
        </p:nvSpPr>
        <p:spPr>
          <a:xfrm>
            <a:off x="7838934" y="3970820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igne de multiplication 17">
            <a:extLst>
              <a:ext uri="{FF2B5EF4-FFF2-40B4-BE49-F238E27FC236}">
                <a16:creationId xmlns:a16="http://schemas.microsoft.com/office/drawing/2014/main" id="{28496144-459F-4C3E-B0A4-8002446BB519}"/>
              </a:ext>
            </a:extLst>
          </p:cNvPr>
          <p:cNvSpPr/>
          <p:nvPr/>
        </p:nvSpPr>
        <p:spPr>
          <a:xfrm>
            <a:off x="7834356" y="465554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igne de multiplication 19">
            <a:extLst>
              <a:ext uri="{FF2B5EF4-FFF2-40B4-BE49-F238E27FC236}">
                <a16:creationId xmlns:a16="http://schemas.microsoft.com/office/drawing/2014/main" id="{246C2D86-4684-49D0-A722-AEE883738436}"/>
              </a:ext>
            </a:extLst>
          </p:cNvPr>
          <p:cNvSpPr/>
          <p:nvPr/>
        </p:nvSpPr>
        <p:spPr>
          <a:xfrm>
            <a:off x="5555193" y="1721651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Signe de multiplication 20">
            <a:extLst>
              <a:ext uri="{FF2B5EF4-FFF2-40B4-BE49-F238E27FC236}">
                <a16:creationId xmlns:a16="http://schemas.microsoft.com/office/drawing/2014/main" id="{200CF1BE-6EC1-4DC0-B16B-9768222893A2}"/>
              </a:ext>
            </a:extLst>
          </p:cNvPr>
          <p:cNvSpPr/>
          <p:nvPr/>
        </p:nvSpPr>
        <p:spPr>
          <a:xfrm>
            <a:off x="3272237" y="264519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EEC0FF4-9724-4C14-8726-4EE9CBF0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Signe de multiplication 18">
            <a:extLst>
              <a:ext uri="{FF2B5EF4-FFF2-40B4-BE49-F238E27FC236}">
                <a16:creationId xmlns:a16="http://schemas.microsoft.com/office/drawing/2014/main" id="{6843D07B-07C2-4E51-938C-BC9189479F83}"/>
              </a:ext>
            </a:extLst>
          </p:cNvPr>
          <p:cNvSpPr/>
          <p:nvPr/>
        </p:nvSpPr>
        <p:spPr>
          <a:xfrm>
            <a:off x="5555192" y="2645199"/>
            <a:ext cx="289857" cy="410344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74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6F6B58-08D2-45B2-A85A-6B204CA0B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2.4. Code schéma de travail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F1ADAB-3980-41BC-B3A9-E06C05222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sz="3000" dirty="0"/>
              <a:t>Contrôles du service vérification en fonction du code schéma de travail sur: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800" b="1" dirty="0"/>
              <a:t>Paiement des jours fériés pour une DRS WECH506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BE" sz="2600" dirty="0"/>
              <a:t>Code schéma de travail </a:t>
            </a: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r>
              <a:rPr lang="fr-BE" sz="2600" dirty="0"/>
              <a:t> </a:t>
            </a:r>
            <a:r>
              <a:rPr lang="fr-BE" sz="2200" dirty="0"/>
              <a:t>(horaire fixe): </a:t>
            </a:r>
          </a:p>
          <a:p>
            <a:pPr marL="857250" lvl="2" indent="0">
              <a:buNone/>
            </a:pPr>
            <a:r>
              <a:rPr lang="fr-BE" dirty="0"/>
              <a:t>Heures JF = heures de prestation normale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BE" sz="2600" dirty="0"/>
              <a:t>Code schéma de travail </a:t>
            </a: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</a:rPr>
              <a:t>12</a:t>
            </a:r>
            <a:r>
              <a:rPr lang="fr-BE" sz="2600" dirty="0"/>
              <a:t> </a:t>
            </a:r>
            <a:r>
              <a:rPr lang="fr-BE" sz="2200" dirty="0"/>
              <a:t>(horaire variable) </a:t>
            </a:r>
            <a:r>
              <a:rPr lang="fr-BE" sz="2600" dirty="0"/>
              <a:t>et </a:t>
            </a: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</a:rPr>
              <a:t>13</a:t>
            </a:r>
            <a:r>
              <a:rPr lang="fr-BE" dirty="0"/>
              <a:t>:</a:t>
            </a:r>
          </a:p>
          <a:p>
            <a:pPr marL="857250" lvl="2" indent="0">
              <a:buNone/>
            </a:pPr>
            <a:r>
              <a:rPr lang="fr-BE" dirty="0"/>
              <a:t>Heures JF = Q/6</a:t>
            </a:r>
          </a:p>
          <a:p>
            <a:pPr marL="514350" indent="-457200">
              <a:buFont typeface="Wingdings" panose="05000000000000000000" pitchFamily="2" charset="2"/>
              <a:buChar char="§"/>
            </a:pPr>
            <a:r>
              <a:rPr lang="fr-BE" sz="2800" b="1" dirty="0"/>
              <a:t>Nombre d’heures minimum à prester pour une DRS WECH506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2400" dirty="0"/>
              <a:t>Concerne les codes schémas de travail </a:t>
            </a:r>
            <a:r>
              <a:rPr lang="fr-BE" sz="2400" b="1" dirty="0">
                <a:solidFill>
                  <a:schemeClr val="accent2">
                    <a:lumMod val="75000"/>
                  </a:schemeClr>
                </a:solidFill>
              </a:rPr>
              <a:t>10, 11 </a:t>
            </a:r>
            <a:r>
              <a:rPr lang="fr-BE" sz="2400" dirty="0"/>
              <a:t>et </a:t>
            </a:r>
            <a:r>
              <a:rPr lang="fr-BE" sz="2400" b="1" dirty="0">
                <a:solidFill>
                  <a:schemeClr val="accent2">
                    <a:lumMod val="75000"/>
                  </a:schemeClr>
                </a:solidFill>
              </a:rPr>
              <a:t>12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2400" dirty="0"/>
              <a:t>Uniquement si la DRS comportent </a:t>
            </a:r>
            <a:r>
              <a:rPr lang="fr-BE" sz="2400" b="1" dirty="0">
                <a:solidFill>
                  <a:schemeClr val="accent2">
                    <a:lumMod val="75000"/>
                  </a:schemeClr>
                </a:solidFill>
              </a:rPr>
              <a:t>4 semaines complètes </a:t>
            </a:r>
            <a:r>
              <a:rPr lang="fr-BE" sz="2400" dirty="0"/>
              <a:t>débutant avec un lundi et prenant fin un dimanche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9B577F-E766-4F2E-BF03-60132F41D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38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 DRS et tâches Horizon: Méthodes de travail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1560" y="1325561"/>
            <a:ext cx="8229600" cy="539591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Tâches Indemnisation &amp; Paiement: </a:t>
            </a:r>
            <a:r>
              <a:rPr lang="fr-BE" u="sng" dirty="0">
                <a:sym typeface="Wingdings" panose="05000000000000000000" pitchFamily="2" charset="2"/>
              </a:rPr>
              <a:t>Principes de base</a:t>
            </a:r>
            <a:endParaRPr lang="fr-BE" sz="2400" u="sng" dirty="0">
              <a:sym typeface="Wingdings" panose="05000000000000000000" pitchFamily="2" charset="2"/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Si 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une </a:t>
            </a: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DA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est </a:t>
            </a: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requise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 :</a:t>
            </a: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Création d’une farde en suspens.</a:t>
            </a: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Communication téléphonique avec l’affilié et confirmation par e-mail ou l’envoi d’un courrier à l’intéressé.</a:t>
            </a: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Suppression de la tâche.</a:t>
            </a:r>
            <a:endParaRPr lang="fr-BE" sz="1800" i="1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781200" indent="-457200">
              <a:spcBef>
                <a:spcPts val="600"/>
              </a:spcBef>
              <a:buSzPct val="80000"/>
              <a:buFont typeface="Wingdings" panose="05000000000000000000" pitchFamily="2" charset="2"/>
              <a:buChar char="§"/>
            </a:pPr>
            <a:endParaRPr lang="fr-BE" sz="5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Si </a:t>
            </a: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aucune DA</a:t>
            </a: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 n’est </a:t>
            </a: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requise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 :</a:t>
            </a: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000" dirty="0">
                <a:solidFill>
                  <a:prstClr val="black"/>
                </a:solidFill>
              </a:rPr>
              <a:t>Communication téléphonique avec l’affilié et confirmation par email ou courrier.</a:t>
            </a:r>
            <a:endParaRPr lang="fr-BE" sz="2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Ajout d’une « remarque indemnisabilité ».</a:t>
            </a: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000" dirty="0">
                <a:solidFill>
                  <a:prstClr val="black"/>
                </a:solidFill>
                <a:sym typeface="Wingdings" panose="05000000000000000000" pitchFamily="2" charset="2"/>
              </a:rPr>
              <a:t>Indiquer la tâche « en cours » (si possible), avec une date « à revoir le » à la fin du délai de prescription du paiement.</a:t>
            </a:r>
            <a:endParaRPr lang="fr-BE" sz="1800" i="1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endParaRPr lang="fr-BE" sz="2400" b="1" dirty="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688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0F744-E8A8-4364-9183-3D86C092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 DRS et tâches Horizon: Méthodes de travail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A67DC2-19C7-429E-A54C-49681D8FB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« </a:t>
            </a: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Contradiction dans le flux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 » &amp;</a:t>
            </a:r>
          </a:p>
          <a:p>
            <a:pPr marL="361950" lvl="0" indent="0">
              <a:spcBef>
                <a:spcPts val="600"/>
              </a:spcBef>
              <a:buNone/>
            </a:pP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« </a:t>
            </a:r>
            <a:r>
              <a:rPr lang="fr-BE" sz="2800" b="1" u="sng" dirty="0">
                <a:solidFill>
                  <a:prstClr val="black"/>
                </a:solidFill>
                <a:sym typeface="Wingdings" panose="05000000000000000000" pitchFamily="2" charset="2"/>
              </a:rPr>
              <a:t>Flux indemn. sans admissibilité</a:t>
            </a:r>
            <a:r>
              <a:rPr lang="fr-BE" sz="2800" b="1" dirty="0">
                <a:solidFill>
                  <a:prstClr val="black"/>
                </a:solidFill>
                <a:sym typeface="Wingdings" panose="05000000000000000000" pitchFamily="2" charset="2"/>
              </a:rPr>
              <a:t> ».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4F4FBF-3455-43EE-AB38-0AF93F96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CB6033ED-7959-4094-894E-E03E8D322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464234"/>
              </p:ext>
            </p:extLst>
          </p:nvPr>
        </p:nvGraphicFramePr>
        <p:xfrm>
          <a:off x="457200" y="2574311"/>
          <a:ext cx="8003232" cy="410504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6648">
                  <a:extLst>
                    <a:ext uri="{9D8B030D-6E8A-4147-A177-3AD203B41FA5}">
                      <a16:colId xmlns:a16="http://schemas.microsoft.com/office/drawing/2014/main" val="103930471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4267191625"/>
                    </a:ext>
                  </a:extLst>
                </a:gridCol>
                <a:gridCol w="1831032">
                  <a:extLst>
                    <a:ext uri="{9D8B030D-6E8A-4147-A177-3AD203B41FA5}">
                      <a16:colId xmlns:a16="http://schemas.microsoft.com/office/drawing/2014/main" val="1468985562"/>
                    </a:ext>
                  </a:extLst>
                </a:gridCol>
                <a:gridCol w="1409328">
                  <a:extLst>
                    <a:ext uri="{9D8B030D-6E8A-4147-A177-3AD203B41FA5}">
                      <a16:colId xmlns:a16="http://schemas.microsoft.com/office/drawing/2014/main" val="2056560370"/>
                    </a:ext>
                  </a:extLst>
                </a:gridCol>
              </a:tblGrid>
              <a:tr h="756084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Téléphone + </a:t>
                      </a:r>
                      <a:r>
                        <a:rPr lang="fr-BE" b="0" i="1" dirty="0">
                          <a:solidFill>
                            <a:schemeClr val="tx1"/>
                          </a:solidFill>
                        </a:rPr>
                        <a:t>confirmation par</a:t>
                      </a: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 E-mail </a:t>
                      </a:r>
                      <a:r>
                        <a:rPr lang="fr-BE" b="0" i="1" dirty="0">
                          <a:solidFill>
                            <a:schemeClr val="tx1"/>
                          </a:solidFill>
                        </a:rPr>
                        <a:t>(courrier)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à l’affilié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Création d’une farde en suspens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Tâche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225809"/>
                  </a:ext>
                </a:extLst>
              </a:tr>
              <a:tr h="756084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fr-BE" b="1" dirty="0"/>
                        <a:t>Wech </a:t>
                      </a:r>
                      <a:r>
                        <a:rPr lang="fr-BE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505</a:t>
                      </a:r>
                      <a:r>
                        <a:rPr lang="fr-BE" b="1" dirty="0"/>
                        <a:t>, </a:t>
                      </a:r>
                      <a:r>
                        <a:rPr lang="fr-BE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506</a:t>
                      </a:r>
                      <a:r>
                        <a:rPr lang="fr-BE" b="1" dirty="0"/>
                        <a:t>, </a:t>
                      </a:r>
                      <a:r>
                        <a:rPr lang="fr-BE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508</a:t>
                      </a:r>
                      <a:r>
                        <a:rPr lang="fr-BE" b="1" dirty="0"/>
                        <a:t> </a:t>
                      </a:r>
                      <a:r>
                        <a:rPr lang="fr-BE" b="0" dirty="0"/>
                        <a:t>ou</a:t>
                      </a:r>
                      <a:r>
                        <a:rPr lang="fr-BE" b="1" dirty="0"/>
                        <a:t> </a:t>
                      </a:r>
                      <a:r>
                        <a:rPr lang="fr-BE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510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fr-BE" b="1" dirty="0"/>
                        <a:t>&amp; </a:t>
                      </a:r>
                      <a:r>
                        <a:rPr lang="fr-BE" b="0" dirty="0"/>
                        <a:t>une </a:t>
                      </a:r>
                      <a:r>
                        <a:rPr lang="fr-BE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DA</a:t>
                      </a:r>
                      <a:r>
                        <a:rPr lang="fr-BE" b="0" dirty="0"/>
                        <a:t> est </a:t>
                      </a:r>
                      <a:r>
                        <a:rPr lang="fr-BE" b="1" dirty="0">
                          <a:solidFill>
                            <a:schemeClr val="tx1"/>
                          </a:solidFill>
                        </a:rPr>
                        <a:t>requise</a:t>
                      </a:r>
                      <a:r>
                        <a:rPr lang="fr-BE" b="1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400" b="1" dirty="0">
                          <a:solidFill>
                            <a:srgbClr val="008000"/>
                          </a:solidFill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400" b="1" dirty="0">
                          <a:solidFill>
                            <a:srgbClr val="008000"/>
                          </a:solidFill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Traitée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384545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Wech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505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ou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510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est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requise,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mais nous sommes déjà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hors délai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Traitée</a:t>
                      </a:r>
                      <a:endParaRPr lang="fr-BE" i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104170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Wech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ou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508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est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requise,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mais nous sommes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déjà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hors délai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 cours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 revoir le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+ 5 semaines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300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37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0F744-E8A8-4364-9183-3D86C092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3. DRS et tâches Horizon: Méthodes de travail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A67DC2-19C7-429E-A54C-49681D8FB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b="1" dirty="0">
                <a:solidFill>
                  <a:prstClr val="black"/>
                </a:solidFill>
                <a:sym typeface="Wingdings" panose="05000000000000000000" pitchFamily="2" charset="2"/>
              </a:rPr>
              <a:t>« </a:t>
            </a:r>
            <a:r>
              <a:rPr lang="fr-BE" sz="2600" b="1" u="sng" dirty="0">
                <a:solidFill>
                  <a:prstClr val="black"/>
                </a:solidFill>
                <a:sym typeface="Wingdings" panose="05000000000000000000" pitchFamily="2" charset="2"/>
              </a:rPr>
              <a:t>Contradiction dans le flux</a:t>
            </a:r>
            <a:r>
              <a:rPr lang="fr-BE" sz="2600" b="1" dirty="0">
                <a:solidFill>
                  <a:prstClr val="black"/>
                </a:solidFill>
                <a:sym typeface="Wingdings" panose="05000000000000000000" pitchFamily="2" charset="2"/>
              </a:rPr>
              <a:t> » &amp;</a:t>
            </a:r>
          </a:p>
          <a:p>
            <a:pPr marL="361950" lvl="0" indent="0">
              <a:spcBef>
                <a:spcPts val="600"/>
              </a:spcBef>
              <a:buNone/>
            </a:pPr>
            <a:r>
              <a:rPr lang="fr-BE" sz="2600" b="1" dirty="0">
                <a:solidFill>
                  <a:prstClr val="black"/>
                </a:solidFill>
                <a:sym typeface="Wingdings" panose="05000000000000000000" pitchFamily="2" charset="2"/>
              </a:rPr>
              <a:t>« </a:t>
            </a:r>
            <a:r>
              <a:rPr lang="fr-BE" sz="2600" b="1" u="sng" dirty="0">
                <a:solidFill>
                  <a:prstClr val="black"/>
                </a:solidFill>
                <a:sym typeface="Wingdings" panose="05000000000000000000" pitchFamily="2" charset="2"/>
              </a:rPr>
              <a:t>Flux indemn. sans admissibilité</a:t>
            </a:r>
            <a:r>
              <a:rPr lang="fr-BE" sz="2600" b="1" dirty="0">
                <a:solidFill>
                  <a:prstClr val="black"/>
                </a:solidFill>
                <a:sym typeface="Wingdings" panose="05000000000000000000" pitchFamily="2" charset="2"/>
              </a:rPr>
              <a:t> ».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endParaRPr lang="fr-BE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CB6033ED-7959-4094-894E-E03E8D32254B}"/>
              </a:ext>
            </a:extLst>
          </p:cNvPr>
          <p:cNvGraphicFramePr>
            <a:graphicFrameLocks noGrp="1"/>
          </p:cNvGraphicFramePr>
          <p:nvPr/>
        </p:nvGraphicFramePr>
        <p:xfrm>
          <a:off x="489848" y="2337023"/>
          <a:ext cx="8003232" cy="402802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1039304711"/>
                    </a:ext>
                  </a:extLst>
                </a:gridCol>
                <a:gridCol w="1853542">
                  <a:extLst>
                    <a:ext uri="{9D8B030D-6E8A-4147-A177-3AD203B41FA5}">
                      <a16:colId xmlns:a16="http://schemas.microsoft.com/office/drawing/2014/main" val="4267191625"/>
                    </a:ext>
                  </a:extLst>
                </a:gridCol>
                <a:gridCol w="1818866">
                  <a:extLst>
                    <a:ext uri="{9D8B030D-6E8A-4147-A177-3AD203B41FA5}">
                      <a16:colId xmlns:a16="http://schemas.microsoft.com/office/drawing/2014/main" val="1468985562"/>
                    </a:ext>
                  </a:extLst>
                </a:gridCol>
                <a:gridCol w="1450504">
                  <a:extLst>
                    <a:ext uri="{9D8B030D-6E8A-4147-A177-3AD203B41FA5}">
                      <a16:colId xmlns:a16="http://schemas.microsoft.com/office/drawing/2014/main" val="2056560370"/>
                    </a:ext>
                  </a:extLst>
                </a:gridCol>
              </a:tblGrid>
              <a:tr h="736116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Téléphone </a:t>
                      </a:r>
                      <a:r>
                        <a:rPr lang="fr-BE" b="0" i="1" dirty="0">
                          <a:solidFill>
                            <a:schemeClr val="tx1"/>
                          </a:solidFill>
                        </a:rPr>
                        <a:t>+ confirmation par </a:t>
                      </a: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E-mail </a:t>
                      </a:r>
                      <a:r>
                        <a:rPr lang="fr-BE" b="0" i="1" dirty="0">
                          <a:solidFill>
                            <a:schemeClr val="tx1"/>
                          </a:solidFill>
                        </a:rPr>
                        <a:t>(courrier)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à l’affilié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Création d’une farde en suspens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BE" b="1" i="1" dirty="0">
                          <a:solidFill>
                            <a:schemeClr val="tx1"/>
                          </a:solidFill>
                        </a:rPr>
                        <a:t>Tâche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225809"/>
                  </a:ext>
                </a:extLst>
              </a:tr>
              <a:tr h="7361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Wech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préfixe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sans CT renseigné dans la DRS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fr-BE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Traitée</a:t>
                      </a:r>
                      <a:endParaRPr kumimoji="0" lang="fr-BE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384545"/>
                  </a:ext>
                </a:extLst>
              </a:tr>
              <a:tr h="1051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Wech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est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requise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mais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occupation &lt; à 4 semaines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 cours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 revoir le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+ 5 semaines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104170"/>
                  </a:ext>
                </a:extLst>
              </a:tr>
              <a:tr h="1051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Wech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506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une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est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requise</a:t>
                      </a:r>
                      <a:r>
                        <a:rPr kumimoji="0" lang="fr-BE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pour une 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occup. ≥ à 4 sem. ou sans date de fin</a:t>
                      </a: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Traitée</a:t>
                      </a:r>
                      <a:endParaRPr kumimoji="0" lang="fr-BE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300748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7D382160-BF5B-446F-BDF4-33AF84BABF27}"/>
              </a:ext>
            </a:extLst>
          </p:cNvPr>
          <p:cNvSpPr txBox="1"/>
          <p:nvPr/>
        </p:nvSpPr>
        <p:spPr>
          <a:xfrm>
            <a:off x="540648" y="6345354"/>
            <a:ext cx="7847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400" dirty="0"/>
              <a:t>* </a:t>
            </a:r>
            <a:r>
              <a:rPr lang="fr-BE" sz="1400" b="1" i="1" dirty="0"/>
              <a:t>Pour les bénéficiaires d’alloc. d’insertion, faire signer une déclaration sur l’honneur afin d’acter le choix TTPMD ou TTPV.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4F4FBF-3455-43EE-AB38-0AF93F96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1D4D5C3D776247A0B00D9B67B18301" ma:contentTypeVersion="5" ma:contentTypeDescription="Crée un document." ma:contentTypeScope="" ma:versionID="7a3aaf4a5e491451268d7041ab422b5e">
  <xsd:schema xmlns:xsd="http://www.w3.org/2001/XMLSchema" xmlns:xs="http://www.w3.org/2001/XMLSchema" xmlns:p="http://schemas.microsoft.com/office/2006/metadata/properties" xmlns:ns2="70ec8308-a2f0-4163-8d73-ffca7c913578" xmlns:ns3="594ba5a2-1908-49bb-836f-9f7e6dbdc18e" targetNamespace="http://schemas.microsoft.com/office/2006/metadata/properties" ma:root="true" ma:fieldsID="eac2541f887c14507833b58d07aebfe8" ns2:_="" ns3:_="">
    <xsd:import namespace="70ec8308-a2f0-4163-8d73-ffca7c913578"/>
    <xsd:import namespace="594ba5a2-1908-49bb-836f-9f7e6dbdc18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8308-a2f0-4163-8d73-ffca7c9135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ba5a2-1908-49bb-836f-9f7e6dbdc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191F75-C793-484F-A1E1-B36BAD56C6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5912B8-7172-455B-B8CB-E7D19A411EF7}">
  <ds:schemaRefs>
    <ds:schemaRef ds:uri="http://schemas.microsoft.com/office/2006/documentManagement/types"/>
    <ds:schemaRef ds:uri="http://purl.org/dc/elements/1.1/"/>
    <ds:schemaRef ds:uri="bdec1399-7c99-4025-bfb6-e1e799e6630a"/>
    <ds:schemaRef ds:uri="1e832426-6819-49af-b751-404cdfce1567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7d2a3af0-b854-4018-b3fb-98bf2b75e19a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60AB7C2-E207-42C6-BE7F-B7DD24792A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c8308-a2f0-4163-8d73-ffca7c913578"/>
    <ds:schemaRef ds:uri="594ba5a2-1908-49bb-836f-9f7e6dbdc1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18662</TotalTime>
  <Words>1437</Words>
  <Application>Microsoft Office PowerPoint</Application>
  <PresentationFormat>Affichage à l'écran (4:3)</PresentationFormat>
  <Paragraphs>325</Paragraphs>
  <Slides>17</Slides>
  <Notes>11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Thème Office</vt:lpstr>
      <vt:lpstr>Généralisation  des DRS (Niveau 1)</vt:lpstr>
      <vt:lpstr>Table des matières</vt:lpstr>
      <vt:lpstr>1. Généralisation des DRS</vt:lpstr>
      <vt:lpstr>1. Généralisation des DRS</vt:lpstr>
      <vt:lpstr>2. Simplification des DRS</vt:lpstr>
      <vt:lpstr>2.1. Utilisation du Q moyen</vt:lpstr>
      <vt:lpstr>2.2. Valeurs du facteur Q dans la DRS</vt:lpstr>
      <vt:lpstr>2.3. Exemple Q moyen</vt:lpstr>
      <vt:lpstr>Présentation PowerPoint</vt:lpstr>
      <vt:lpstr>Présentation PowerPoint</vt:lpstr>
      <vt:lpstr>2.3. Exemple Q moyen</vt:lpstr>
      <vt:lpstr>Présentation PowerPoint</vt:lpstr>
      <vt:lpstr>Présentation PowerPoint</vt:lpstr>
      <vt:lpstr>2.4. Code schéma de travail</vt:lpstr>
      <vt:lpstr>3. DRS et tâches Horizon: Méthodes de travail</vt:lpstr>
      <vt:lpstr>3. DRS et tâches Horizon: Méthodes de travail</vt:lpstr>
      <vt:lpstr>3. DRS et tâches Horizon: Méthodes de travail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FCJ-M22-Généralisation des DRS (niv.1)-FLT</dc:title>
  <dc:creator>u69lcr</dc:creator>
  <cp:lastModifiedBy>Jerome Martini</cp:lastModifiedBy>
  <cp:revision>946</cp:revision>
  <cp:lastPrinted>2018-12-04T08:27:24Z</cp:lastPrinted>
  <dcterms:created xsi:type="dcterms:W3CDTF">2010-09-22T12:12:06Z</dcterms:created>
  <dcterms:modified xsi:type="dcterms:W3CDTF">2023-11-19T18:55:50Z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17;#Admissibilité|d1ac0b1f-1e4c-4aa8-9a97-5b01e61985ba;#22;#Indemnisabilité|b5f95997-28b8-41b1-bbb7-1a3d8a5995b4;#26;#Paiement|bbe82f01-f3c6-4a35-a642-de01f3e9fac7;#18;#Vérités|91331765-02c2-47c0-8605-37a5a3e877f2;#13;#Tâches|addb87cc-e52a-4e6f-a061-fdea8baf7830</vt:lpwstr>
  </property>
  <property fmtid="{D5CDD505-2E9C-101B-9397-08002B2CF9AE}" pid="7" name="Thème">
    <vt:lpwstr>59;#Généralisation des DRS|50bd8e04-e4fb-4fab-9054-64631261c8cb</vt:lpwstr>
  </property>
  <property fmtid="{D5CDD505-2E9C-101B-9397-08002B2CF9AE}" pid="8" name="_dlc_DocIdItemGuid">
    <vt:lpwstr>1b9ce598-89be-410e-8684-e9db0b5e8a37</vt:lpwstr>
  </property>
  <property fmtid="{D5CDD505-2E9C-101B-9397-08002B2CF9AE}" pid="9" name="AuthorIds_UIVersion_1536">
    <vt:lpwstr>19</vt:lpwstr>
  </property>
  <property fmtid="{D5CDD505-2E9C-101B-9397-08002B2CF9AE}" pid="10" name="AuthorIds_UIVersion_3072">
    <vt:lpwstr>19</vt:lpwstr>
  </property>
</Properties>
</file>