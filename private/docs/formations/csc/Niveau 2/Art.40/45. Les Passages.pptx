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84" r:id="rId5"/>
    <p:sldId id="364" r:id="rId6"/>
    <p:sldId id="367" r:id="rId7"/>
    <p:sldId id="392" r:id="rId8"/>
    <p:sldId id="394" r:id="rId9"/>
    <p:sldId id="396" r:id="rId10"/>
    <p:sldId id="398" r:id="rId11"/>
    <p:sldId id="380" r:id="rId12"/>
    <p:sldId id="400" r:id="rId13"/>
    <p:sldId id="402" r:id="rId14"/>
    <p:sldId id="404" r:id="rId15"/>
    <p:sldId id="384" r:id="rId16"/>
    <p:sldId id="406" r:id="rId17"/>
    <p:sldId id="408" r:id="rId18"/>
    <p:sldId id="387" r:id="rId19"/>
    <p:sldId id="410" r:id="rId20"/>
    <p:sldId id="389" r:id="rId21"/>
    <p:sldId id="412" r:id="rId22"/>
    <p:sldId id="414" r:id="rId23"/>
    <p:sldId id="391" r:id="rId24"/>
    <p:sldId id="417" r:id="rId25"/>
    <p:sldId id="376" r:id="rId26"/>
    <p:sldId id="425" r:id="rId27"/>
    <p:sldId id="427" r:id="rId28"/>
    <p:sldId id="429" r:id="rId29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669900"/>
    <a:srgbClr val="00FF00"/>
    <a:srgbClr val="003399"/>
    <a:srgbClr val="0033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7" autoAdjust="0"/>
    <p:restoredTop sz="93235" autoAdjust="0"/>
  </p:normalViewPr>
  <p:slideViewPr>
    <p:cSldViewPr>
      <p:cViewPr varScale="1">
        <p:scale>
          <a:sx n="63" d="100"/>
          <a:sy n="63" d="100"/>
        </p:scale>
        <p:origin x="19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0482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4680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166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892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148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215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1807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99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39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011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380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891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018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9347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740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2948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1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382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4933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247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371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587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36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24/04/2023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908721"/>
            <a:ext cx="7772400" cy="3960440"/>
          </a:xfrm>
        </p:spPr>
        <p:txBody>
          <a:bodyPr>
            <a:noAutofit/>
          </a:bodyPr>
          <a:lstStyle/>
          <a:p>
            <a:pPr marL="609600" indent="-609600"/>
            <a:r>
              <a:rPr lang="fr-FR" sz="5600" b="1" i="1" dirty="0"/>
              <a:t>LES PASSAGES 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072206"/>
            <a:ext cx="400024" cy="365125"/>
          </a:xfrm>
        </p:spPr>
        <p:txBody>
          <a:bodyPr/>
          <a:lstStyle/>
          <a:p>
            <a:r>
              <a:rPr lang="fr-FR" dirty="0"/>
              <a:t>1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656784" cy="1752600"/>
          </a:xfrm>
        </p:spPr>
        <p:txBody>
          <a:bodyPr>
            <a:normAutofit/>
          </a:bodyPr>
          <a:lstStyle/>
          <a:p>
            <a:r>
              <a:rPr lang="fr-BE" sz="2800" b="1" dirty="0">
                <a:solidFill>
                  <a:schemeClr val="tx1"/>
                </a:solidFill>
              </a:rPr>
              <a:t>(Art. 40 et 100 de l’A.R. du 25.11.1991)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8694C7-51F5-4D2B-8F83-F5B124FD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26912"/>
            <a:ext cx="2895600" cy="365125"/>
          </a:xfrm>
        </p:spPr>
        <p:txBody>
          <a:bodyPr/>
          <a:lstStyle/>
          <a:p>
            <a:r>
              <a:rPr lang="fr-FR" sz="1400" b="1" dirty="0"/>
              <a:t>FLT version 24.04.2023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/>
              <a:t>LES PASSAGES </a:t>
            </a:r>
            <a:endParaRPr lang="en-US" sz="48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fr-BE" dirty="0"/>
              <a:t>DA avec passage AR 36    </a:t>
            </a:r>
            <a:r>
              <a:rPr lang="fr-BE" dirty="0">
                <a:sym typeface="Wingdings" panose="05000000000000000000" pitchFamily="2" charset="2"/>
              </a:rPr>
              <a:t> AR 30 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DA avec passage AR 36     AR 33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DA avec passage AR 33     AR 36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Révision : passage AR 36  AR 30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Révision : passage AR 36  AR 33</a:t>
            </a:r>
          </a:p>
          <a:p>
            <a:pPr marL="514350" indent="-514350">
              <a:buAutoNum type="arabicPeriod"/>
            </a:pPr>
            <a:r>
              <a:rPr lang="fr-BE" dirty="0">
                <a:sym typeface="Wingdings" panose="05000000000000000000" pitchFamily="2" charset="2"/>
              </a:rPr>
              <a:t>Révision : changement de statut 01 vers TTPMD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235515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>
                <a:cs typeface="Times New Roman" pitchFamily="18" charset="0"/>
              </a:rPr>
              <a:t> DA  AR 36 </a:t>
            </a:r>
            <a:r>
              <a:rPr lang="fr-BE" sz="3600" b="1" i="1" dirty="0">
                <a:cs typeface="Times New Roman" pitchFamily="18" charset="0"/>
                <a:sym typeface="Wingdings" panose="05000000000000000000" pitchFamily="2" charset="2"/>
              </a:rPr>
              <a:t> AR 30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u="sng" dirty="0"/>
              <a:t>Passage AR 36 </a:t>
            </a:r>
            <a:r>
              <a:rPr lang="fr-BE" b="1" u="sng" dirty="0">
                <a:sym typeface="Wingdings" panose="05000000000000000000" pitchFamily="2" charset="2"/>
              </a:rPr>
              <a:t> AR 30 après une interruption </a:t>
            </a:r>
          </a:p>
          <a:p>
            <a:pPr marL="0" indent="0">
              <a:buNone/>
            </a:pPr>
            <a:r>
              <a:rPr lang="fr-BE" dirty="0">
                <a:sym typeface="Wingdings" panose="05000000000000000000" pitchFamily="2" charset="2"/>
              </a:rPr>
              <a:t> </a:t>
            </a:r>
          </a:p>
          <a:p>
            <a:r>
              <a:rPr lang="fr-BE" dirty="0">
                <a:sym typeface="Wingdings" panose="05000000000000000000" pitchFamily="2" charset="2"/>
              </a:rPr>
              <a:t>Possible après une interruption d’au moins 1 jour du paiement des allocations de chômage</a:t>
            </a:r>
          </a:p>
          <a:p>
            <a:r>
              <a:rPr lang="fr-BE" dirty="0">
                <a:sym typeface="Wingdings" panose="05000000000000000000" pitchFamily="2" charset="2"/>
              </a:rPr>
              <a:t>Prouver l’admissibilité sur base des AR 30 à 32</a:t>
            </a:r>
          </a:p>
          <a:p>
            <a:r>
              <a:rPr lang="fr-BE" dirty="0">
                <a:sym typeface="Wingdings" panose="05000000000000000000" pitchFamily="2" charset="2"/>
              </a:rPr>
              <a:t>Attention aux jours assimilés à l’AR 40</a:t>
            </a:r>
          </a:p>
          <a:p>
            <a:r>
              <a:rPr lang="fr-BE" dirty="0">
                <a:sym typeface="Wingdings" panose="05000000000000000000" pitchFamily="2" charset="2"/>
              </a:rPr>
              <a:t>Délai d’introduction à respecter</a:t>
            </a:r>
          </a:p>
          <a:p>
            <a:endParaRPr lang="fr-BE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158377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1 - Enoncé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791572" y="2642076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31.10.2022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01.02.2022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9788" y="3286723"/>
            <a:ext cx="1547173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Trav</a:t>
            </a:r>
            <a:r>
              <a:rPr lang="fr-BE" sz="16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281864" y="3282395"/>
            <a:ext cx="10658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2570" y="3282395"/>
            <a:ext cx="1240477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Trav</a:t>
            </a:r>
            <a:r>
              <a:rPr lang="fr-BE" sz="16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0787" y="3282395"/>
            <a:ext cx="734602" cy="641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1643" y="3282395"/>
            <a:ext cx="182876" cy="641999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6153619" y="2122437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28.02.2023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4806506" y="212763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01.12.2022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4246961" y="2940913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5382570" y="2392254"/>
            <a:ext cx="0" cy="154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6623047" y="2392254"/>
            <a:ext cx="0" cy="154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7407273" y="2915381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7602259" y="2375381"/>
            <a:ext cx="0" cy="154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01.05.2019</a:t>
            </a:r>
          </a:p>
          <a:p>
            <a:pPr algn="ctr"/>
            <a:r>
              <a:rPr lang="fr-BE" sz="1400" b="1" dirty="0"/>
              <a:t>Née le 12.09.1997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524910" y="4157314"/>
            <a:ext cx="19676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43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2022/4 = 21 J R5</a:t>
            </a:r>
          </a:p>
        </p:txBody>
      </p:sp>
      <p:sp>
        <p:nvSpPr>
          <p:cNvPr id="65" name="ZoneTexte 64"/>
          <p:cNvSpPr txBox="1"/>
          <p:nvPr/>
        </p:nvSpPr>
        <p:spPr>
          <a:xfrm>
            <a:off x="5063584" y="4152174"/>
            <a:ext cx="1967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2022/4 = 22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2023/1= 42 j R5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3368192" y="3278165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7" name="Accolade ouvrante 66"/>
          <p:cNvSpPr/>
          <p:nvPr/>
        </p:nvSpPr>
        <p:spPr>
          <a:xfrm rot="16200000">
            <a:off x="5907057" y="3402046"/>
            <a:ext cx="193737" cy="123824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8" name="Accolade ouvrante 67"/>
          <p:cNvSpPr/>
          <p:nvPr/>
        </p:nvSpPr>
        <p:spPr>
          <a:xfrm rot="16200000">
            <a:off x="7408314" y="3939444"/>
            <a:ext cx="200338" cy="18755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9" name="ZoneTexte 68"/>
          <p:cNvSpPr txBox="1"/>
          <p:nvPr/>
        </p:nvSpPr>
        <p:spPr>
          <a:xfrm>
            <a:off x="6509013" y="4145553"/>
            <a:ext cx="1967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3 jours</a:t>
            </a: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52699" y="4822689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14.04.2023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000" y="2195184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7115943" y="2078249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13.04.2023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6871332" y="2642077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11.04.2023</a:t>
            </a:r>
          </a:p>
        </p:txBody>
      </p:sp>
    </p:spTree>
    <p:extLst>
      <p:ext uri="{BB962C8B-B14F-4D97-AF65-F5344CB8AC3E}">
        <p14:creationId xmlns:p14="http://schemas.microsoft.com/office/powerpoint/2010/main" val="274351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38" grpId="0" animBg="1"/>
      <p:bldP spid="45" grpId="0" animBg="1"/>
      <p:bldP spid="46" grpId="0" animBg="1"/>
      <p:bldP spid="48" grpId="0"/>
      <p:bldP spid="49" grpId="0"/>
      <p:bldP spid="63" grpId="0"/>
      <p:bldP spid="64" grpId="0"/>
      <p:bldP spid="65" grpId="0"/>
      <p:bldP spid="66" grpId="0" animBg="1"/>
      <p:bldP spid="67" grpId="0" animBg="1"/>
      <p:bldP spid="68" grpId="0" animBg="1"/>
      <p:bldP spid="69" grpId="0"/>
      <p:bldP spid="15" grpId="0"/>
      <p:bldP spid="61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2 -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203848" y="2633321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30.11.2019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577575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07.12.2018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3" y="3284090"/>
            <a:ext cx="1547173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Trav</a:t>
            </a:r>
            <a:r>
              <a:rPr lang="fr-BE" sz="16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710634" y="3284090"/>
            <a:ext cx="73143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91481" y="3275575"/>
            <a:ext cx="2843339" cy="641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75123" y="3277872"/>
            <a:ext cx="182876" cy="646426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686355" y="2932158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stCxn id="47" idx="2"/>
          </p:cNvCxnSpPr>
          <p:nvPr/>
        </p:nvCxnSpPr>
        <p:spPr>
          <a:xfrm>
            <a:off x="4473556" y="2785892"/>
            <a:ext cx="0" cy="114706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4657999" y="2372873"/>
            <a:ext cx="0" cy="1551425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WN3 le 01.09.2014</a:t>
            </a:r>
          </a:p>
          <a:p>
            <a:pPr algn="ctr"/>
            <a:r>
              <a:rPr lang="fr-BE" sz="1400" b="1" dirty="0"/>
              <a:t>Né le 12.01.1992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970894" y="4142253"/>
            <a:ext cx="1967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2018/2 = 17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2019/1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2019/2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2019/3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2019/4 = 44 j R5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814176" y="3263104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4693955" y="2095685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3726654" y="472319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Pas de DA au 10.04.2020</a:t>
            </a:r>
          </a:p>
        </p:txBody>
      </p:sp>
      <p:sp>
        <p:nvSpPr>
          <p:cNvPr id="75" name="Accolade ouvrante 74"/>
          <p:cNvSpPr/>
          <p:nvPr/>
        </p:nvSpPr>
        <p:spPr>
          <a:xfrm rot="16200000">
            <a:off x="4480537" y="3938055"/>
            <a:ext cx="171432" cy="18349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6" name="ZoneTexte 75"/>
          <p:cNvSpPr txBox="1"/>
          <p:nvPr/>
        </p:nvSpPr>
        <p:spPr>
          <a:xfrm>
            <a:off x="3582409" y="4130775"/>
            <a:ext cx="196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2020/1 =   5 j R5</a:t>
            </a:r>
          </a:p>
        </p:txBody>
      </p: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6603476" y="4715726"/>
            <a:ext cx="1872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Réception le  17.04.2023 de la DA au 10.04.2020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3969499" y="2478115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03.04.2020</a:t>
            </a:r>
          </a:p>
        </p:txBody>
      </p:sp>
      <p:sp>
        <p:nvSpPr>
          <p:cNvPr id="61" name="ZoneTexte 60"/>
          <p:cNvSpPr txBox="1"/>
          <p:nvPr/>
        </p:nvSpPr>
        <p:spPr>
          <a:xfrm>
            <a:off x="4226531" y="204779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09.04.2020</a:t>
            </a:r>
          </a:p>
        </p:txBody>
      </p:sp>
    </p:spTree>
    <p:extLst>
      <p:ext uri="{BB962C8B-B14F-4D97-AF65-F5344CB8AC3E}">
        <p14:creationId xmlns:p14="http://schemas.microsoft.com/office/powerpoint/2010/main" val="319191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45" grpId="0" animBg="1"/>
      <p:bldP spid="46" grpId="0" animBg="1"/>
      <p:bldP spid="63" grpId="0"/>
      <p:bldP spid="64" grpId="0"/>
      <p:bldP spid="66" grpId="0" animBg="1"/>
      <p:bldP spid="15" grpId="0"/>
      <p:bldP spid="75" grpId="0" animBg="1"/>
      <p:bldP spid="76" grpId="0"/>
      <p:bldP spid="68" grpId="0"/>
      <p:bldP spid="47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3 -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230966" y="2633321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04.12.2019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577575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11.12.2018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3" y="3284090"/>
            <a:ext cx="1547173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Trav</a:t>
            </a:r>
            <a:r>
              <a:rPr lang="fr-BE" sz="16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710634" y="3284090"/>
            <a:ext cx="73143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91481" y="3275575"/>
            <a:ext cx="2843339" cy="641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75123" y="3277872"/>
            <a:ext cx="182876" cy="646426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686355" y="2932158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stCxn id="47" idx="2"/>
          </p:cNvCxnSpPr>
          <p:nvPr/>
        </p:nvCxnSpPr>
        <p:spPr>
          <a:xfrm>
            <a:off x="4442073" y="2784970"/>
            <a:ext cx="0" cy="114706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4657999" y="2372873"/>
            <a:ext cx="0" cy="1551425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WN3 le 03.09.2015</a:t>
            </a:r>
          </a:p>
          <a:p>
            <a:pPr algn="ctr"/>
            <a:r>
              <a:rPr lang="fr-BE" sz="1400" b="1" dirty="0"/>
              <a:t>Né le 12.01.1992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970894" y="4142253"/>
            <a:ext cx="1967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2018/4 = 15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2019/1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2019/2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2019/3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2019/4 = 47 j R5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814176" y="3263104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4693955" y="2095685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3726654" y="472319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Pas de DA introduite pour le 11.06.2020</a:t>
            </a:r>
          </a:p>
        </p:txBody>
      </p:sp>
      <p:sp>
        <p:nvSpPr>
          <p:cNvPr id="75" name="Accolade ouvrante 74"/>
          <p:cNvSpPr/>
          <p:nvPr/>
        </p:nvSpPr>
        <p:spPr>
          <a:xfrm rot="16200000">
            <a:off x="4480537" y="3938055"/>
            <a:ext cx="171432" cy="18349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6" name="ZoneTexte 75"/>
          <p:cNvSpPr txBox="1"/>
          <p:nvPr/>
        </p:nvSpPr>
        <p:spPr>
          <a:xfrm>
            <a:off x="3582409" y="4130775"/>
            <a:ext cx="196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2020/2 =   3 j R5</a:t>
            </a:r>
          </a:p>
        </p:txBody>
      </p: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6603476" y="4715726"/>
            <a:ext cx="1872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Réception le  19.04.2023 de la DA au 11.06.2020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4226531" y="204779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10.06.2020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938016" y="2477193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08.06.2020</a:t>
            </a:r>
          </a:p>
        </p:txBody>
      </p:sp>
    </p:spTree>
    <p:extLst>
      <p:ext uri="{BB962C8B-B14F-4D97-AF65-F5344CB8AC3E}">
        <p14:creationId xmlns:p14="http://schemas.microsoft.com/office/powerpoint/2010/main" val="193117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45" grpId="0" animBg="1"/>
      <p:bldP spid="46" grpId="0" animBg="1"/>
      <p:bldP spid="63" grpId="0"/>
      <p:bldP spid="64" grpId="0"/>
      <p:bldP spid="66" grpId="0" animBg="1"/>
      <p:bldP spid="15" grpId="0"/>
      <p:bldP spid="75" grpId="0" animBg="1"/>
      <p:bldP spid="76" grpId="0"/>
      <p:bldP spid="68" grpId="0"/>
      <p:bldP spid="61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4 -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230966" y="2633321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02.03.2020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577575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04.03.2019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3" y="3284090"/>
            <a:ext cx="1547173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Trav</a:t>
            </a:r>
            <a:r>
              <a:rPr lang="fr-BE" sz="16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710634" y="3284090"/>
            <a:ext cx="932374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686355" y="2932158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4657999" y="2372873"/>
            <a:ext cx="0" cy="1551425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01.05.2017</a:t>
            </a:r>
          </a:p>
          <a:p>
            <a:pPr algn="ctr"/>
            <a:r>
              <a:rPr lang="fr-BE" sz="1400" b="1" dirty="0"/>
              <a:t>Né le 12.01.1993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970894" y="4142253"/>
            <a:ext cx="1967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2019/1 = 20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2019/2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2019/3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2019/4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2020/1 = 44 j R5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814176" y="3263104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4693955" y="2095685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3726654" y="472319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05.11.2020</a:t>
            </a:r>
          </a:p>
        </p:txBody>
      </p:sp>
      <p:sp>
        <p:nvSpPr>
          <p:cNvPr id="75" name="Accolade ouvrante 74"/>
          <p:cNvSpPr/>
          <p:nvPr/>
        </p:nvSpPr>
        <p:spPr>
          <a:xfrm rot="16200000" flipV="1">
            <a:off x="4568006" y="4009000"/>
            <a:ext cx="150001" cy="4571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6" name="ZoneTexte 75"/>
          <p:cNvSpPr txBox="1"/>
          <p:nvPr/>
        </p:nvSpPr>
        <p:spPr>
          <a:xfrm>
            <a:off x="3659162" y="4130661"/>
            <a:ext cx="196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2019/4 = 1 j R5</a:t>
            </a:r>
          </a:p>
        </p:txBody>
      </p: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6603476" y="4715726"/>
            <a:ext cx="1872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Réception le  25.04.2023 de la DA au 05.11.2020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4226531" y="204779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04.11.2020</a:t>
            </a:r>
          </a:p>
        </p:txBody>
      </p:sp>
    </p:spTree>
    <p:extLst>
      <p:ext uri="{BB962C8B-B14F-4D97-AF65-F5344CB8AC3E}">
        <p14:creationId xmlns:p14="http://schemas.microsoft.com/office/powerpoint/2010/main" val="134662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63" grpId="0"/>
      <p:bldP spid="64" grpId="0"/>
      <p:bldP spid="66" grpId="0" animBg="1"/>
      <p:bldP spid="15" grpId="0"/>
      <p:bldP spid="75" grpId="0" animBg="1"/>
      <p:bldP spid="76" grpId="0"/>
      <p:bldP spid="68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>
                <a:cs typeface="Times New Roman" pitchFamily="18" charset="0"/>
              </a:rPr>
              <a:t>DA   AR 36 </a:t>
            </a:r>
            <a:r>
              <a:rPr lang="fr-BE" sz="3600" b="1" i="1" dirty="0">
                <a:cs typeface="Times New Roman" pitchFamily="18" charset="0"/>
                <a:sym typeface="Wingdings" panose="05000000000000000000" pitchFamily="2" charset="2"/>
              </a:rPr>
              <a:t> AR 30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1" u="sng" dirty="0"/>
              <a:t>Passage AR 36 </a:t>
            </a:r>
            <a:r>
              <a:rPr lang="fr-BE" b="1" u="sng" dirty="0">
                <a:sym typeface="Wingdings" panose="05000000000000000000" pitchFamily="2" charset="2"/>
              </a:rPr>
              <a:t> AR 30 pendant TTPMD  </a:t>
            </a:r>
          </a:p>
          <a:p>
            <a:pPr marL="0" indent="0">
              <a:buNone/>
            </a:pPr>
            <a:r>
              <a:rPr lang="fr-BE" dirty="0">
                <a:sym typeface="Wingdings" panose="05000000000000000000" pitchFamily="2" charset="2"/>
              </a:rPr>
              <a:t> </a:t>
            </a:r>
          </a:p>
          <a:p>
            <a:r>
              <a:rPr lang="fr-BE" dirty="0">
                <a:sym typeface="Wingdings" panose="05000000000000000000" pitchFamily="2" charset="2"/>
              </a:rPr>
              <a:t>Possible durant l’occupation</a:t>
            </a:r>
          </a:p>
          <a:p>
            <a:r>
              <a:rPr lang="fr-BE" dirty="0">
                <a:sym typeface="Wingdings" panose="05000000000000000000" pitchFamily="2" charset="2"/>
              </a:rPr>
              <a:t>Occupation avec statut TTPMD </a:t>
            </a:r>
          </a:p>
          <a:p>
            <a:r>
              <a:rPr lang="fr-BE" dirty="0">
                <a:sym typeface="Wingdings" panose="05000000000000000000" pitchFamily="2" charset="2"/>
              </a:rPr>
              <a:t>Avec AGR ou non </a:t>
            </a:r>
          </a:p>
          <a:p>
            <a:r>
              <a:rPr lang="fr-BE" dirty="0">
                <a:sym typeface="Wingdings" panose="05000000000000000000" pitchFamily="2" charset="2"/>
              </a:rPr>
              <a:t>Prouver l’admissibilité sur base des AR 30 à 32</a:t>
            </a:r>
          </a:p>
          <a:p>
            <a:r>
              <a:rPr lang="fr-BE" dirty="0">
                <a:sym typeface="Wingdings" panose="05000000000000000000" pitchFamily="2" charset="2"/>
              </a:rPr>
              <a:t>Attention aux jours assimilés à l’AR 40</a:t>
            </a:r>
          </a:p>
          <a:p>
            <a:pPr marL="0" indent="0">
              <a:buNone/>
            </a:pPr>
            <a:endParaRPr lang="fr-BE" dirty="0">
              <a:sym typeface="Wingdings" panose="05000000000000000000" pitchFamily="2" charset="2"/>
            </a:endParaRPr>
          </a:p>
          <a:p>
            <a:endParaRPr lang="fr-BE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1258959"/>
      </p:ext>
    </p:extLst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5 -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01.10.2021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1267990" y="3282392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9788" y="3275659"/>
            <a:ext cx="5256588" cy="6573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 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25/38 &amp; sal. &lt; sal. réf. art. 28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01.11.2018</a:t>
            </a:r>
          </a:p>
          <a:p>
            <a:pPr algn="ctr"/>
            <a:r>
              <a:rPr lang="fr-BE" sz="1400" b="1" dirty="0"/>
              <a:t>Née le 12.12.1996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4208002" y="4276305"/>
            <a:ext cx="19676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330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320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325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325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2022/4 = 330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2023/1 = 325 h 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5080583" y="1577066"/>
            <a:ext cx="148091" cy="489526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66155" y="4822689"/>
            <a:ext cx="1872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ym typeface="Wingdings" panose="05000000000000000000" pitchFamily="2" charset="2"/>
              </a:rPr>
              <a:t>Le 24</a:t>
            </a:r>
            <a:r>
              <a:rPr lang="fr-BE" sz="1400" b="1" dirty="0"/>
              <a:t>.04.2023 :</a:t>
            </a:r>
          </a:p>
          <a:p>
            <a:pPr algn="ctr"/>
            <a:r>
              <a:rPr lang="fr-BE" sz="1400" b="1" dirty="0"/>
              <a:t>DA 36 </a:t>
            </a:r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33 ?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DA 36 </a:t>
            </a:r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30 ?</a:t>
            </a:r>
            <a:endParaRPr lang="fr-BE" sz="1400" b="1" dirty="0"/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477" y="2158393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07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63" grpId="0"/>
      <p:bldP spid="64" grpId="0"/>
      <p:bldP spid="66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6 -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01.10.2021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990" y="3282392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  <a:endParaRPr lang="fr-BE" sz="1000" b="1" dirty="0">
              <a:solidFill>
                <a:schemeClr val="tx1"/>
              </a:solidFill>
            </a:endParaRP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  <a:endParaRPr lang="fr-BE" sz="16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699788" y="3275659"/>
            <a:ext cx="5256588" cy="6573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TTPMD </a:t>
            </a:r>
            <a:r>
              <a:rPr lang="fr-BE" sz="1600" b="1" dirty="0">
                <a:solidFill>
                  <a:srgbClr val="C00000"/>
                </a:solidFill>
              </a:rPr>
              <a:t>57/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25/38 &amp; sal. &lt; sal. réf. art. 28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WN3 le 03.08.2015</a:t>
            </a:r>
          </a:p>
          <a:p>
            <a:pPr algn="ctr"/>
            <a:r>
              <a:rPr lang="fr-BE" sz="1400" b="1" dirty="0"/>
              <a:t>Née le 22.06.1993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4153534" y="4140835"/>
            <a:ext cx="19676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324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324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324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324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2022/4 = 324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2023/1 = 324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2023/2 sans interruption</a:t>
            </a:r>
            <a:endParaRPr lang="fr-BE" sz="1400" b="1" dirty="0">
              <a:solidFill>
                <a:prstClr val="black"/>
              </a:solidFill>
            </a:endParaRPr>
          </a:p>
        </p:txBody>
      </p:sp>
      <p:sp>
        <p:nvSpPr>
          <p:cNvPr id="66" name="Accolade ouvrante 65"/>
          <p:cNvSpPr/>
          <p:nvPr/>
        </p:nvSpPr>
        <p:spPr>
          <a:xfrm rot="16200000">
            <a:off x="5080583" y="1577066"/>
            <a:ext cx="148091" cy="489526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66155" y="482268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</a:t>
            </a:r>
            <a:r>
              <a:rPr lang="fr-BE" sz="1400" b="1" dirty="0">
                <a:sym typeface="Wingdings" panose="05000000000000000000" pitchFamily="2" charset="2"/>
              </a:rPr>
              <a:t> 30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le 01</a:t>
            </a:r>
            <a:r>
              <a:rPr lang="fr-BE" sz="1400" b="1" dirty="0"/>
              <a:t>.05.2023 ?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477" y="2158393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67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63" grpId="0"/>
      <p:bldP spid="64" grpId="0"/>
      <p:bldP spid="66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7 -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01.03.2020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990" y="3282392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9788" y="3275659"/>
            <a:ext cx="5256588" cy="6573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TTPMD </a:t>
            </a:r>
            <a:r>
              <a:rPr lang="fr-BE" sz="1600" b="1" dirty="0">
                <a:solidFill>
                  <a:srgbClr val="C00000"/>
                </a:solidFill>
              </a:rPr>
              <a:t>99/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29/38 &amp; sal. &lt; sal. réf. art. 28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03.12.2018</a:t>
            </a:r>
          </a:p>
          <a:p>
            <a:pPr algn="ctr"/>
            <a:r>
              <a:rPr lang="fr-BE" sz="1400" b="1" dirty="0"/>
              <a:t>Née le 09.01.1995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992050" y="4115617"/>
            <a:ext cx="19676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2020/1 = 121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2020/2 = 377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2020/3 = 383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2020/4 = 383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2021/1 = 371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2021/2 = 377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2021/3 = 383 h</a:t>
            </a:r>
            <a:endParaRPr lang="fr-BE" sz="1400" b="1" dirty="0">
              <a:solidFill>
                <a:prstClr val="black"/>
              </a:solidFill>
            </a:endParaRPr>
          </a:p>
        </p:txBody>
      </p:sp>
      <p:sp>
        <p:nvSpPr>
          <p:cNvPr id="66" name="Accolade ouvrante 65"/>
          <p:cNvSpPr/>
          <p:nvPr/>
        </p:nvSpPr>
        <p:spPr>
          <a:xfrm rot="16200000">
            <a:off x="5080583" y="1577066"/>
            <a:ext cx="148091" cy="489526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704755" y="4818985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</a:t>
            </a:r>
            <a:r>
              <a:rPr lang="fr-BE" sz="1400" b="1" dirty="0">
                <a:sym typeface="Wingdings" panose="05000000000000000000" pitchFamily="2" charset="2"/>
              </a:rPr>
              <a:t>30 ?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A quelle date ?</a:t>
            </a:r>
            <a:endParaRPr lang="fr-BE" sz="1400" b="1" dirty="0"/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477" y="2158393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138845" y="4115617"/>
            <a:ext cx="23025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383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376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380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377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2022/4 = 380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2023/1 = 382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2023/02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 sans interruption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683896" y="160489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Présentation à la CSC</a:t>
            </a:r>
          </a:p>
          <a:p>
            <a:pPr algn="ctr"/>
            <a:r>
              <a:rPr lang="fr-BE" sz="1400" b="1" dirty="0"/>
              <a:t>le 24.04.2023</a:t>
            </a:r>
          </a:p>
        </p:txBody>
      </p:sp>
    </p:spTree>
    <p:extLst>
      <p:ext uri="{BB962C8B-B14F-4D97-AF65-F5344CB8AC3E}">
        <p14:creationId xmlns:p14="http://schemas.microsoft.com/office/powerpoint/2010/main" val="176211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63" grpId="0"/>
      <p:bldP spid="64" grpId="0"/>
      <p:bldP spid="66" grpId="0" animBg="1"/>
      <p:bldP spid="15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>
                <a:cs typeface="Times New Roman" pitchFamily="18" charset="0"/>
              </a:rPr>
              <a:t> DA  AR 36 </a:t>
            </a:r>
            <a:r>
              <a:rPr lang="fr-BE" sz="3600" b="1" i="1" dirty="0">
                <a:cs typeface="Times New Roman" pitchFamily="18" charset="0"/>
                <a:sym typeface="Wingdings" panose="05000000000000000000" pitchFamily="2" charset="2"/>
              </a:rPr>
              <a:t> AR 33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b="1" u="sng" dirty="0"/>
              <a:t>Passage AR 36 </a:t>
            </a:r>
            <a:r>
              <a:rPr lang="fr-BE" b="1" u="sng" dirty="0">
                <a:sym typeface="Wingdings" panose="05000000000000000000" pitchFamily="2" charset="2"/>
              </a:rPr>
              <a:t> AR 33  </a:t>
            </a:r>
          </a:p>
          <a:p>
            <a:pPr marL="0" indent="0">
              <a:buNone/>
            </a:pPr>
            <a:r>
              <a:rPr lang="fr-BE" dirty="0">
                <a:sym typeface="Wingdings" panose="05000000000000000000" pitchFamily="2" charset="2"/>
              </a:rPr>
              <a:t> </a:t>
            </a:r>
          </a:p>
          <a:p>
            <a:r>
              <a:rPr lang="fr-BE" dirty="0">
                <a:sym typeface="Wingdings" panose="05000000000000000000" pitchFamily="2" charset="2"/>
              </a:rPr>
              <a:t>Possible après une interruption d’au moins 1 semaine du paiement des allocations de chômage</a:t>
            </a:r>
          </a:p>
          <a:p>
            <a:r>
              <a:rPr lang="fr-BE" dirty="0">
                <a:sym typeface="Wingdings" panose="05000000000000000000" pitchFamily="2" charset="2"/>
              </a:rPr>
              <a:t>Occupation à temps partiel volontaire d’au moins 1 semaine</a:t>
            </a:r>
          </a:p>
          <a:p>
            <a:r>
              <a:rPr lang="fr-BE" dirty="0">
                <a:sym typeface="Wingdings" panose="05000000000000000000" pitchFamily="2" charset="2"/>
              </a:rPr>
              <a:t>Prouver l’admissibilité sur base de l’AR 33</a:t>
            </a:r>
          </a:p>
          <a:p>
            <a:r>
              <a:rPr lang="fr-BE" dirty="0">
                <a:sym typeface="Wingdings" panose="05000000000000000000" pitchFamily="2" charset="2"/>
              </a:rPr>
              <a:t>Attention aux jours assimilés à l’AR 40</a:t>
            </a:r>
          </a:p>
          <a:p>
            <a:r>
              <a:rPr lang="fr-BE" dirty="0">
                <a:sym typeface="Wingdings" panose="05000000000000000000" pitchFamily="2" charset="2"/>
              </a:rPr>
              <a:t>Délai d’introduction à respecter</a:t>
            </a:r>
          </a:p>
          <a:p>
            <a:endParaRPr lang="fr-BE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94091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8 -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791572" y="2642076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31.08.2022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01.11.2021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9788" y="3286723"/>
            <a:ext cx="1547173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23/38 &amp; 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sal. &lt; sal. réf. art. 28</a:t>
            </a:r>
            <a:endParaRPr lang="fr-BE" sz="1200" b="1" dirty="0">
              <a:solidFill>
                <a:schemeClr val="tx1"/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281864" y="3282395"/>
            <a:ext cx="10658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2570" y="3282395"/>
            <a:ext cx="1240477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23/38 &amp; 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sal. &lt; sal. réf. art. 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0787" y="3282395"/>
            <a:ext cx="734602" cy="641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1643" y="3282395"/>
            <a:ext cx="182876" cy="64199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900" b="1" dirty="0">
                <a:solidFill>
                  <a:schemeClr val="tx1"/>
                </a:solidFill>
              </a:rPr>
              <a:t>TTRV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6871332" y="2642077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03.04.2023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6153619" y="2122437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31.12.2022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4806506" y="212763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10.10.2022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4246961" y="2940913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5382570" y="2392254"/>
            <a:ext cx="0" cy="154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6623047" y="2392254"/>
            <a:ext cx="0" cy="154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7407273" y="2915381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7602259" y="2375381"/>
            <a:ext cx="0" cy="154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01.12.2019</a:t>
            </a:r>
          </a:p>
          <a:p>
            <a:pPr algn="ctr"/>
            <a:r>
              <a:rPr lang="fr-BE" sz="1400" b="1" dirty="0"/>
              <a:t>Née le 12.01.1998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524910" y="4157314"/>
            <a:ext cx="19676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 2021/4 =   199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294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290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203 h</a:t>
            </a:r>
          </a:p>
        </p:txBody>
      </p:sp>
      <p:sp>
        <p:nvSpPr>
          <p:cNvPr id="65" name="ZoneTexte 64"/>
          <p:cNvSpPr txBox="1"/>
          <p:nvPr/>
        </p:nvSpPr>
        <p:spPr>
          <a:xfrm>
            <a:off x="5063584" y="4152174"/>
            <a:ext cx="196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2022/4 = 218 h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3368192" y="3278165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7" name="Accolade ouvrante 66"/>
          <p:cNvSpPr/>
          <p:nvPr/>
        </p:nvSpPr>
        <p:spPr>
          <a:xfrm rot="16200000">
            <a:off x="5907057" y="3402046"/>
            <a:ext cx="193737" cy="123824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8" name="Accolade ouvrante 67"/>
          <p:cNvSpPr/>
          <p:nvPr/>
        </p:nvSpPr>
        <p:spPr>
          <a:xfrm rot="16200000">
            <a:off x="7408314" y="3939444"/>
            <a:ext cx="200338" cy="18755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9" name="ZoneTexte 68"/>
          <p:cNvSpPr txBox="1"/>
          <p:nvPr/>
        </p:nvSpPr>
        <p:spPr>
          <a:xfrm>
            <a:off x="6509013" y="4145553"/>
            <a:ext cx="1967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6 jours</a:t>
            </a: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52699" y="482268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33</a:t>
            </a:r>
          </a:p>
          <a:p>
            <a:pPr algn="ctr"/>
            <a:r>
              <a:rPr lang="fr-BE" sz="1400" b="1" dirty="0"/>
              <a:t>le 10.04.2023 ?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000" y="2195184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7115943" y="2078249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08.04.2023</a:t>
            </a:r>
          </a:p>
        </p:txBody>
      </p:sp>
    </p:spTree>
    <p:extLst>
      <p:ext uri="{BB962C8B-B14F-4D97-AF65-F5344CB8AC3E}">
        <p14:creationId xmlns:p14="http://schemas.microsoft.com/office/powerpoint/2010/main" val="86810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38" grpId="0" animBg="1"/>
      <p:bldP spid="45" grpId="0" animBg="1"/>
      <p:bldP spid="46" grpId="0" animBg="1"/>
      <p:bldP spid="47" grpId="0"/>
      <p:bldP spid="48" grpId="0"/>
      <p:bldP spid="49" grpId="0"/>
      <p:bldP spid="63" grpId="0"/>
      <p:bldP spid="64" grpId="0"/>
      <p:bldP spid="65" grpId="0"/>
      <p:bldP spid="66" grpId="0" animBg="1"/>
      <p:bldP spid="67" grpId="0" animBg="1"/>
      <p:bldP spid="68" grpId="0" animBg="1"/>
      <p:bldP spid="69" grpId="0"/>
      <p:bldP spid="15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9 -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230966" y="2633321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28.11.2020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577575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02.12.2019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3" y="3284090"/>
            <a:ext cx="1547173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>
                <a:solidFill>
                  <a:prstClr val="black"/>
                </a:solidFill>
              </a:rPr>
              <a:t>TTRV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20/38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&lt;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710634" y="3284090"/>
            <a:ext cx="73143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75123" y="3277872"/>
            <a:ext cx="182876" cy="64642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dirty="0">
                <a:solidFill>
                  <a:schemeClr val="tx1"/>
                </a:solidFill>
              </a:rPr>
              <a:t>TTRV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686355" y="2932158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stCxn id="47" idx="2"/>
          </p:cNvCxnSpPr>
          <p:nvPr/>
        </p:nvCxnSpPr>
        <p:spPr>
          <a:xfrm flipH="1">
            <a:off x="4473555" y="2785892"/>
            <a:ext cx="1" cy="114706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4657999" y="2372873"/>
            <a:ext cx="0" cy="1551425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WN3 le 29.07.2015</a:t>
            </a:r>
          </a:p>
          <a:p>
            <a:pPr algn="ctr"/>
            <a:r>
              <a:rPr lang="fr-BE" sz="1400" b="1" dirty="0"/>
              <a:t>Né le 12.01.1994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970894" y="4142253"/>
            <a:ext cx="1967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2019/4 =   84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2020/1 = 256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2020/2 = 260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2020/3 = 264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2020/4 = 156 h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814176" y="3263104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5" name="Accolade ouvrante 74"/>
          <p:cNvSpPr/>
          <p:nvPr/>
        </p:nvSpPr>
        <p:spPr>
          <a:xfrm rot="16200000">
            <a:off x="4480537" y="3938055"/>
            <a:ext cx="171432" cy="18349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6" name="ZoneTexte 75"/>
          <p:cNvSpPr txBox="1"/>
          <p:nvPr/>
        </p:nvSpPr>
        <p:spPr>
          <a:xfrm>
            <a:off x="3582409" y="4130775"/>
            <a:ext cx="196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2021/2 = 20 h</a:t>
            </a:r>
          </a:p>
        </p:txBody>
      </p: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6826700" y="4743125"/>
            <a:ext cx="1488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33 </a:t>
            </a:r>
            <a:r>
              <a:rPr lang="fr-BE" sz="1400" b="1" dirty="0">
                <a:sym typeface="Wingdings" panose="05000000000000000000" pitchFamily="2" charset="2"/>
              </a:rPr>
              <a:t>?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A quelle date ?</a:t>
            </a:r>
            <a:endParaRPr lang="fr-BE" sz="1400" b="1" dirty="0"/>
          </a:p>
        </p:txBody>
      </p:sp>
      <p:sp>
        <p:nvSpPr>
          <p:cNvPr id="61" name="ZoneTexte 60"/>
          <p:cNvSpPr txBox="1"/>
          <p:nvPr/>
        </p:nvSpPr>
        <p:spPr>
          <a:xfrm>
            <a:off x="4226531" y="204779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12.06.2021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969499" y="2478115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07.06.2021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2386" y="3277872"/>
            <a:ext cx="158713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5717910" y="2619649"/>
            <a:ext cx="115212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05.11.2022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6279521" y="2932158"/>
            <a:ext cx="0" cy="100080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6634673" y="1582601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Présentation à la CSC</a:t>
            </a:r>
          </a:p>
          <a:p>
            <a:pPr algn="ctr"/>
            <a:r>
              <a:rPr lang="fr-BE" sz="1400" b="1" dirty="0"/>
              <a:t>le 03.04.2023</a:t>
            </a:r>
          </a:p>
        </p:txBody>
      </p:sp>
    </p:spTree>
    <p:extLst>
      <p:ext uri="{BB962C8B-B14F-4D97-AF65-F5344CB8AC3E}">
        <p14:creationId xmlns:p14="http://schemas.microsoft.com/office/powerpoint/2010/main" val="113604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46" grpId="0" animBg="1"/>
      <p:bldP spid="63" grpId="0"/>
      <p:bldP spid="64" grpId="0"/>
      <p:bldP spid="66" grpId="0" animBg="1"/>
      <p:bldP spid="75" grpId="0" animBg="1"/>
      <p:bldP spid="76" grpId="0"/>
      <p:bldP spid="68" grpId="0"/>
      <p:bldP spid="61" grpId="0"/>
      <p:bldP spid="47" grpId="0"/>
      <p:bldP spid="30" grpId="0" animBg="1"/>
      <p:bldP spid="31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>
                <a:cs typeface="Times New Roman" pitchFamily="18" charset="0"/>
              </a:rPr>
              <a:t> DA  AR 33 </a:t>
            </a:r>
            <a:r>
              <a:rPr lang="fr-BE" sz="3600" b="1" i="1" dirty="0">
                <a:cs typeface="Times New Roman" pitchFamily="18" charset="0"/>
                <a:sym typeface="Wingdings" panose="05000000000000000000" pitchFamily="2" charset="2"/>
              </a:rPr>
              <a:t> AR 36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BE" b="1" u="sng" dirty="0"/>
              <a:t>Passage AR 33 </a:t>
            </a:r>
            <a:r>
              <a:rPr lang="fr-BE" b="1" u="sng" dirty="0">
                <a:sym typeface="Wingdings" panose="05000000000000000000" pitchFamily="2" charset="2"/>
              </a:rPr>
              <a:t> AR 36  </a:t>
            </a:r>
          </a:p>
          <a:p>
            <a:pPr marL="0" indent="0">
              <a:buNone/>
            </a:pPr>
            <a:r>
              <a:rPr lang="fr-BE" dirty="0">
                <a:sym typeface="Wingdings" panose="05000000000000000000" pitchFamily="2" charset="2"/>
              </a:rPr>
              <a:t> </a:t>
            </a:r>
          </a:p>
          <a:p>
            <a:r>
              <a:rPr lang="fr-BE" dirty="0">
                <a:sym typeface="Wingdings" panose="05000000000000000000" pitchFamily="2" charset="2"/>
              </a:rPr>
              <a:t>Possible après une interruption d’au moins 1 semaine du paiement des allocations de chômage</a:t>
            </a:r>
          </a:p>
          <a:p>
            <a:r>
              <a:rPr lang="fr-BE" dirty="0">
                <a:sym typeface="Wingdings" panose="05000000000000000000" pitchFamily="2" charset="2"/>
              </a:rPr>
              <a:t>Occupation à temps plein d’au moins 1 semaine</a:t>
            </a:r>
          </a:p>
          <a:p>
            <a:r>
              <a:rPr lang="fr-BE" dirty="0">
                <a:sym typeface="Wingdings" panose="05000000000000000000" pitchFamily="2" charset="2"/>
              </a:rPr>
              <a:t>Toujours être admissible sur base de l’AR 36</a:t>
            </a:r>
          </a:p>
          <a:p>
            <a:pPr marL="0" indent="0">
              <a:buNone/>
            </a:pPr>
            <a:r>
              <a:rPr lang="fr-BE" dirty="0">
                <a:sym typeface="Wingdings" panose="05000000000000000000" pitchFamily="2" charset="2"/>
              </a:rPr>
              <a:t>    (&lt; 25 ans ou AR 42)</a:t>
            </a:r>
          </a:p>
          <a:p>
            <a:r>
              <a:rPr lang="fr-BE" dirty="0">
                <a:sym typeface="Wingdings" panose="05000000000000000000" pitchFamily="2" charset="2"/>
              </a:rPr>
              <a:t>Disponible à temps plein </a:t>
            </a:r>
          </a:p>
          <a:p>
            <a:endParaRPr lang="fr-BE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191580"/>
      </p:ext>
    </p:extLst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10 -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2972412" y="2609603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31.05.2020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577575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01.11.2019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4" y="3284090"/>
            <a:ext cx="127289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>
                <a:solidFill>
                  <a:prstClr val="black"/>
                </a:solidFill>
              </a:rPr>
              <a:t>TTRV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19/38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&lt;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448032" y="3284561"/>
            <a:ext cx="60834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73173" y="3277872"/>
            <a:ext cx="1252017" cy="64642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>
                <a:solidFill>
                  <a:prstClr val="black"/>
                </a:solidFill>
              </a:rPr>
              <a:t>TTRV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19/38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&lt;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427801" y="2908440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stCxn id="47" idx="2"/>
          </p:cNvCxnSpPr>
          <p:nvPr/>
        </p:nvCxnSpPr>
        <p:spPr>
          <a:xfrm flipH="1">
            <a:off x="4073171" y="2604177"/>
            <a:ext cx="1" cy="114706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5324000" y="2595896"/>
            <a:ext cx="0" cy="1155347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WN3 le 04.11.2014</a:t>
            </a:r>
          </a:p>
          <a:p>
            <a:pPr algn="ctr"/>
            <a:r>
              <a:rPr lang="fr-BE" sz="1400" b="1" dirty="0"/>
              <a:t>Né le 12.12.1992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800530" y="4130775"/>
            <a:ext cx="1967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2019/4 = 165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2020/1 = 252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2020/2 =  164 h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677650" y="3399631"/>
            <a:ext cx="206476" cy="125581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5" name="Accolade ouvrante 74"/>
          <p:cNvSpPr/>
          <p:nvPr/>
        </p:nvSpPr>
        <p:spPr>
          <a:xfrm rot="16200000">
            <a:off x="4611636" y="3418409"/>
            <a:ext cx="173902" cy="12508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3132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6609261" y="5240377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36</a:t>
            </a:r>
          </a:p>
          <a:p>
            <a:pPr algn="ctr"/>
            <a:r>
              <a:rPr lang="fr-BE" sz="1400" b="1" dirty="0"/>
              <a:t>le 24.04.2023 </a:t>
            </a:r>
            <a:r>
              <a:rPr lang="fr-BE" sz="1400" b="1" dirty="0"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61" name="ZoneTexte 60"/>
          <p:cNvSpPr txBox="1"/>
          <p:nvPr/>
        </p:nvSpPr>
        <p:spPr>
          <a:xfrm>
            <a:off x="4813004" y="2292904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31.08.2021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569115" y="229640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01.02.2021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64430" y="3277872"/>
            <a:ext cx="1943874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 </a:t>
            </a:r>
            <a:r>
              <a:rPr lang="fr-BE" sz="1600" b="1" dirty="0">
                <a:solidFill>
                  <a:srgbClr val="C00000"/>
                </a:solidFill>
              </a:rPr>
              <a:t>03/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33)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3730882" y="4157460"/>
            <a:ext cx="1967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2021/1 = 165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2021/2 = 247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2021/3 =  164 h</a:t>
            </a:r>
          </a:p>
        </p:txBody>
      </p:sp>
      <p:cxnSp>
        <p:nvCxnSpPr>
          <p:cNvPr id="34" name="Connecteur droit avec flèche 33"/>
          <p:cNvCxnSpPr/>
          <p:nvPr/>
        </p:nvCxnSpPr>
        <p:spPr>
          <a:xfrm rot="10800000">
            <a:off x="5342327" y="2190430"/>
            <a:ext cx="0" cy="23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4483395" y="166721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</a:t>
            </a:r>
            <a:r>
              <a:rPr lang="fr-BE" sz="1400" b="1" dirty="0">
                <a:solidFill>
                  <a:srgbClr val="C00000"/>
                </a:solidFill>
              </a:rPr>
              <a:t>art. 33 </a:t>
            </a:r>
            <a:r>
              <a:rPr lang="fr-BE" sz="1400" b="1" dirty="0">
                <a:sym typeface="Wingdings" panose="05000000000000000000" pitchFamily="2" charset="2"/>
              </a:rPr>
              <a:t>au 01.09.2021</a:t>
            </a:r>
            <a:endParaRPr lang="fr-BE" sz="1400" b="1" dirty="0"/>
          </a:p>
        </p:txBody>
      </p:sp>
      <p:sp>
        <p:nvSpPr>
          <p:cNvPr id="37" name="Rectangle 36"/>
          <p:cNvSpPr/>
          <p:nvPr/>
        </p:nvSpPr>
        <p:spPr>
          <a:xfrm>
            <a:off x="7337698" y="3279467"/>
            <a:ext cx="203684" cy="646426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8" name="Connecteur droit 37"/>
          <p:cNvCxnSpPr/>
          <p:nvPr/>
        </p:nvCxnSpPr>
        <p:spPr>
          <a:xfrm>
            <a:off x="7541382" y="2374468"/>
            <a:ext cx="0" cy="1551425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7109914" y="2049385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22.04.2023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6852882" y="247971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10.04.2023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H="1">
            <a:off x="7331810" y="2757921"/>
            <a:ext cx="1" cy="114706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ccolade ouvrante 47"/>
          <p:cNvSpPr/>
          <p:nvPr/>
        </p:nvSpPr>
        <p:spPr>
          <a:xfrm rot="16200000">
            <a:off x="7357604" y="3946428"/>
            <a:ext cx="171432" cy="18349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6459476" y="4139148"/>
            <a:ext cx="1967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2023/2 = sans interruption</a:t>
            </a:r>
          </a:p>
        </p:txBody>
      </p:sp>
    </p:spTree>
    <p:extLst>
      <p:ext uri="{BB962C8B-B14F-4D97-AF65-F5344CB8AC3E}">
        <p14:creationId xmlns:p14="http://schemas.microsoft.com/office/powerpoint/2010/main" val="356295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46" grpId="0" animBg="1"/>
      <p:bldP spid="63" grpId="0"/>
      <p:bldP spid="64" grpId="0"/>
      <p:bldP spid="66" grpId="0" animBg="1"/>
      <p:bldP spid="75" grpId="0" animBg="1"/>
      <p:bldP spid="68" grpId="0"/>
      <p:bldP spid="61" grpId="0"/>
      <p:bldP spid="47" grpId="0"/>
      <p:bldP spid="30" grpId="0" animBg="1"/>
      <p:bldP spid="33" grpId="0"/>
      <p:bldP spid="35" grpId="0"/>
      <p:bldP spid="37" grpId="0" animBg="1"/>
      <p:bldP spid="40" grpId="0"/>
      <p:bldP spid="41" grpId="0"/>
      <p:bldP spid="48" grpId="0" animBg="1"/>
      <p:bldP spid="4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>
                <a:cs typeface="Times New Roman" pitchFamily="18" charset="0"/>
              </a:rPr>
              <a:t> Révision AR 36 </a:t>
            </a:r>
            <a:r>
              <a:rPr lang="fr-BE" sz="3600" b="1" i="1" dirty="0">
                <a:cs typeface="Times New Roman" pitchFamily="18" charset="0"/>
                <a:sym typeface="Wingdings" panose="05000000000000000000" pitchFamily="2" charset="2"/>
              </a:rPr>
              <a:t> AR 30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Révision d’une décision prise pour une DA précédente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La DA précédente doit remplir certaines conditions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La Révision est demandée dans les 3 ans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Pas de preuve d’emploi à temps plein à fournir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AR 30 à prouver à la date de la DA précédente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Exception jours assimilés AR 40</a:t>
            </a:r>
          </a:p>
          <a:p>
            <a:pPr>
              <a:spcBef>
                <a:spcPts val="600"/>
              </a:spcBef>
            </a:pPr>
            <a:endParaRPr lang="fr-BE" sz="3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sz="3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fr-BE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7541661"/>
      </p:ext>
    </p:extLst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11 -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2963363" y="2633787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30.04.2021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547664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01.10.2020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4" y="3284090"/>
            <a:ext cx="1272892" cy="646331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 err="1">
                <a:solidFill>
                  <a:prstClr val="black"/>
                </a:solidFill>
              </a:rPr>
              <a:t>Trav</a:t>
            </a:r>
            <a:r>
              <a:rPr lang="fr-BE" sz="1600" b="1" dirty="0">
                <a:solidFill>
                  <a:prstClr val="black"/>
                </a:solidFill>
              </a:rPr>
              <a:t>.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38/38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≥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448032" y="3284561"/>
            <a:ext cx="78325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62239" y="3277873"/>
            <a:ext cx="1252017" cy="646426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 err="1">
                <a:solidFill>
                  <a:prstClr val="black"/>
                </a:solidFill>
              </a:rPr>
              <a:t>Trav</a:t>
            </a:r>
            <a:r>
              <a:rPr lang="fr-BE" sz="1600" b="1" dirty="0">
                <a:solidFill>
                  <a:prstClr val="black"/>
                </a:solidFill>
              </a:rPr>
              <a:t>.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38/38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≥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427801" y="2908440"/>
            <a:ext cx="0" cy="10008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stCxn id="47" idx="2"/>
          </p:cNvCxnSpPr>
          <p:nvPr/>
        </p:nvCxnSpPr>
        <p:spPr>
          <a:xfrm>
            <a:off x="4862238" y="2604178"/>
            <a:ext cx="0" cy="114706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6113066" y="2595897"/>
            <a:ext cx="0" cy="11553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05.09.2018</a:t>
            </a:r>
          </a:p>
          <a:p>
            <a:pPr algn="ctr"/>
            <a:r>
              <a:rPr lang="fr-BE" sz="1400" b="1" dirty="0"/>
              <a:t>Né le 01.03.1996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800530" y="4130775"/>
            <a:ext cx="1967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2020/4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2021/1 = 65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2021/2 = 22 j R5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677650" y="3399631"/>
            <a:ext cx="206476" cy="125581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5" name="Accolade ouvrante 74"/>
          <p:cNvSpPr/>
          <p:nvPr/>
        </p:nvSpPr>
        <p:spPr>
          <a:xfrm rot="16200000">
            <a:off x="5400702" y="3418410"/>
            <a:ext cx="173902" cy="12508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8" name="ZoneTexte 67"/>
          <p:cNvSpPr txBox="1"/>
          <p:nvPr/>
        </p:nvSpPr>
        <p:spPr>
          <a:xfrm>
            <a:off x="6408130" y="5205489"/>
            <a:ext cx="2325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13.04.2023 :</a:t>
            </a:r>
          </a:p>
          <a:p>
            <a:pPr algn="ctr"/>
            <a:r>
              <a:rPr lang="fr-BE" sz="1400" b="1" dirty="0"/>
              <a:t>Pourquoi seulement 4 jours payés  pour 03/2023 </a:t>
            </a:r>
            <a:r>
              <a:rPr lang="fr-BE" sz="1400" b="1" dirty="0">
                <a:sym typeface="Wingdings" panose="05000000000000000000" pitchFamily="2" charset="2"/>
              </a:rPr>
              <a:t>?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Que pouvons-nous faire ?</a:t>
            </a:r>
          </a:p>
        </p:txBody>
      </p:sp>
      <p:sp>
        <p:nvSpPr>
          <p:cNvPr id="61" name="ZoneTexte 60"/>
          <p:cNvSpPr txBox="1"/>
          <p:nvPr/>
        </p:nvSpPr>
        <p:spPr>
          <a:xfrm>
            <a:off x="5674816" y="2281671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31.05.2022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4358181" y="2296401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17.01.2022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38253" y="3284090"/>
            <a:ext cx="1266199" cy="6317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  <a:endParaRPr lang="fr-BE" sz="1600" b="1" dirty="0">
              <a:solidFill>
                <a:srgbClr val="C00000"/>
              </a:solidFill>
            </a:endParaRP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4519948" y="4157461"/>
            <a:ext cx="1967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54 j R5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43 j R5</a:t>
            </a:r>
          </a:p>
        </p:txBody>
      </p:sp>
      <p:cxnSp>
        <p:nvCxnSpPr>
          <p:cNvPr id="69" name="Connecteur droit 68"/>
          <p:cNvCxnSpPr/>
          <p:nvPr/>
        </p:nvCxnSpPr>
        <p:spPr>
          <a:xfrm>
            <a:off x="7404452" y="2936367"/>
            <a:ext cx="0" cy="100080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3132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ZoneTexte 66"/>
          <p:cNvSpPr txBox="1"/>
          <p:nvPr/>
        </p:nvSpPr>
        <p:spPr>
          <a:xfrm>
            <a:off x="6853364" y="2608081"/>
            <a:ext cx="115212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04.03.2023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41805" y="3284561"/>
            <a:ext cx="591665" cy="62706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Trav</a:t>
            </a:r>
            <a:r>
              <a:rPr lang="fr-BE" sz="1600" b="1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fr-BE" sz="1600" b="1" dirty="0" err="1">
                <a:solidFill>
                  <a:schemeClr val="tx1"/>
                </a:solidFill>
              </a:rPr>
              <a:t>Etr</a:t>
            </a:r>
            <a:r>
              <a:rPr lang="fr-BE" sz="16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1" name="ZoneTexte 70"/>
          <p:cNvSpPr txBox="1"/>
          <p:nvPr/>
        </p:nvSpPr>
        <p:spPr>
          <a:xfrm>
            <a:off x="3604551" y="4164469"/>
            <a:ext cx="1967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2 sem. Cal.</a:t>
            </a:r>
          </a:p>
        </p:txBody>
      </p:sp>
      <p:sp>
        <p:nvSpPr>
          <p:cNvPr id="72" name="Accolade ouvrante 71"/>
          <p:cNvSpPr/>
          <p:nvPr/>
        </p:nvSpPr>
        <p:spPr>
          <a:xfrm rot="16200000">
            <a:off x="4435895" y="3741996"/>
            <a:ext cx="217393" cy="61353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34" name="Connecteur droit avec flèche 33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31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46" grpId="0" animBg="1"/>
      <p:bldP spid="63" grpId="0"/>
      <p:bldP spid="64" grpId="0"/>
      <p:bldP spid="66" grpId="0" animBg="1"/>
      <p:bldP spid="75" grpId="0" animBg="1"/>
      <p:bldP spid="68" grpId="0"/>
      <p:bldP spid="61" grpId="0"/>
      <p:bldP spid="47" grpId="0"/>
      <p:bldP spid="30" grpId="0" animBg="1"/>
      <p:bldP spid="33" grpId="0"/>
      <p:bldP spid="67" grpId="0"/>
      <p:bldP spid="70" grpId="0" animBg="1"/>
      <p:bldP spid="71" grpId="0"/>
      <p:bldP spid="7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12 -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1577575" y="262859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01.03.2020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583" y="3282396"/>
            <a:ext cx="841689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0753" y="3284090"/>
            <a:ext cx="290303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>
                <a:solidFill>
                  <a:prstClr val="black"/>
                </a:solidFill>
              </a:rPr>
              <a:t>TTPMD </a:t>
            </a:r>
            <a:r>
              <a:rPr lang="fr-BE" sz="1600" b="1" dirty="0">
                <a:solidFill>
                  <a:srgbClr val="C00000"/>
                </a:solidFill>
              </a:rPr>
              <a:t>99/ </a:t>
            </a:r>
            <a:r>
              <a:rPr lang="fr-BE" sz="1600" b="1" dirty="0">
                <a:solidFill>
                  <a:prstClr val="black"/>
                </a:solidFill>
              </a:rPr>
              <a:t>- </a:t>
            </a:r>
            <a:r>
              <a:rPr lang="fr-BE" sz="1600" b="1" dirty="0" err="1">
                <a:solidFill>
                  <a:prstClr val="black"/>
                </a:solidFill>
              </a:rPr>
              <a:t>Empl</a:t>
            </a:r>
            <a:r>
              <a:rPr lang="fr-BE" sz="1600" b="1" dirty="0">
                <a:solidFill>
                  <a:prstClr val="black"/>
                </a:solidFill>
              </a:rPr>
              <a:t>. A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26/38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&lt;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076056" y="3282396"/>
            <a:ext cx="2462456" cy="6419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BE" sz="1600" b="1" dirty="0">
                <a:solidFill>
                  <a:prstClr val="black"/>
                </a:solidFill>
              </a:rPr>
              <a:t>TTPMD </a:t>
            </a:r>
            <a:r>
              <a:rPr lang="fr-BE" sz="1600" b="1" dirty="0">
                <a:solidFill>
                  <a:srgbClr val="C00000"/>
                </a:solidFill>
              </a:rPr>
              <a:t>99/ </a:t>
            </a:r>
            <a:r>
              <a:rPr lang="fr-BE" sz="1600" b="1" dirty="0">
                <a:solidFill>
                  <a:schemeClr val="tx1"/>
                </a:solidFill>
              </a:rPr>
              <a:t>- </a:t>
            </a:r>
            <a:r>
              <a:rPr lang="fr-BE" sz="1600" b="1" dirty="0" err="1">
                <a:solidFill>
                  <a:schemeClr val="tx1"/>
                </a:solidFill>
              </a:rPr>
              <a:t>Empl</a:t>
            </a:r>
            <a:r>
              <a:rPr lang="fr-BE" sz="1600" b="1" dirty="0">
                <a:solidFill>
                  <a:schemeClr val="tx1"/>
                </a:solidFill>
              </a:rPr>
              <a:t>. B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13/38 &amp; </a:t>
            </a:r>
          </a:p>
          <a:p>
            <a:pPr lvl="0" algn="ctr"/>
            <a:r>
              <a:rPr lang="fr-BE" sz="1000" b="1" dirty="0">
                <a:solidFill>
                  <a:prstClr val="black"/>
                </a:solidFill>
              </a:rPr>
              <a:t>sal. &lt; sal. réf. art. 28</a:t>
            </a:r>
            <a:endParaRPr lang="fr-BE" sz="1200" b="1" dirty="0">
              <a:solidFill>
                <a:prstClr val="black"/>
              </a:solidFill>
            </a:endParaRPr>
          </a:p>
        </p:txBody>
      </p:sp>
      <p:cxnSp>
        <p:nvCxnSpPr>
          <p:cNvPr id="50" name="Connecteur droit 49"/>
          <p:cNvCxnSpPr/>
          <p:nvPr/>
        </p:nvCxnSpPr>
        <p:spPr>
          <a:xfrm>
            <a:off x="2139186" y="2941099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53652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03.08.2017</a:t>
            </a:r>
          </a:p>
          <a:p>
            <a:pPr algn="ctr"/>
            <a:r>
              <a:rPr lang="fr-BE" sz="1400" b="1" dirty="0"/>
              <a:t>Né le 12.04.1994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646162" y="4172602"/>
            <a:ext cx="19676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2020/1 = 113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2020/2 = 338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2020/3 = 344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343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2021/1 = 333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2021/2 = 338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2021/3 = 343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335 h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3483294" y="2593987"/>
            <a:ext cx="230186" cy="289080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75" name="Accolade ouvrante 74"/>
          <p:cNvSpPr/>
          <p:nvPr/>
        </p:nvSpPr>
        <p:spPr>
          <a:xfrm rot="16200000">
            <a:off x="6226944" y="2800287"/>
            <a:ext cx="146326" cy="244809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8" name="ZoneTexte 67"/>
          <p:cNvSpPr txBox="1"/>
          <p:nvPr/>
        </p:nvSpPr>
        <p:spPr>
          <a:xfrm>
            <a:off x="6408130" y="5893046"/>
            <a:ext cx="2325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</a:t>
            </a:r>
          </a:p>
          <a:p>
            <a:pPr algn="ctr"/>
            <a:r>
              <a:rPr lang="fr-BE" sz="1400" b="1" dirty="0"/>
              <a:t>le 11.04.2023 ?</a:t>
            </a:r>
          </a:p>
        </p:txBody>
      </p:sp>
      <p:cxnSp>
        <p:nvCxnSpPr>
          <p:cNvPr id="37" name="Connecteur droit 36"/>
          <p:cNvCxnSpPr/>
          <p:nvPr/>
        </p:nvCxnSpPr>
        <p:spPr>
          <a:xfrm>
            <a:off x="5043792" y="2923498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>
            <a:off x="7570777" y="2088221"/>
            <a:ext cx="0" cy="3852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5234545" y="4154485"/>
            <a:ext cx="22321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 167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166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169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2022/4 = 172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2023/1 = 169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2023/2 sans interruption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= 13 h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4598277" y="2628590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31.12.2021</a:t>
            </a:r>
          </a:p>
        </p:txBody>
      </p:sp>
      <p:cxnSp>
        <p:nvCxnSpPr>
          <p:cNvPr id="49" name="Connecteur droit 48"/>
          <p:cNvCxnSpPr/>
          <p:nvPr/>
        </p:nvCxnSpPr>
        <p:spPr>
          <a:xfrm>
            <a:off x="7535154" y="2554139"/>
            <a:ext cx="0" cy="136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/>
          <p:cNvSpPr txBox="1"/>
          <p:nvPr/>
        </p:nvSpPr>
        <p:spPr>
          <a:xfrm>
            <a:off x="6948093" y="2255706"/>
            <a:ext cx="115212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08.04.2023</a:t>
            </a:r>
          </a:p>
        </p:txBody>
      </p:sp>
      <p:cxnSp>
        <p:nvCxnSpPr>
          <p:cNvPr id="57" name="Connecteur droit avec flèche 56"/>
          <p:cNvCxnSpPr/>
          <p:nvPr/>
        </p:nvCxnSpPr>
        <p:spPr>
          <a:xfrm rot="10800000">
            <a:off x="5085357" y="2186939"/>
            <a:ext cx="0" cy="1728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ZoneTexte 58"/>
          <p:cNvSpPr txBox="1"/>
          <p:nvPr/>
        </p:nvSpPr>
        <p:spPr>
          <a:xfrm>
            <a:off x="4166229" y="167234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</a:t>
            </a:r>
            <a:r>
              <a:rPr lang="fr-BE" sz="1400" b="1" dirty="0">
                <a:solidFill>
                  <a:srgbClr val="C00000"/>
                </a:solidFill>
              </a:rPr>
              <a:t>TTPMD </a:t>
            </a:r>
            <a:r>
              <a:rPr lang="fr-BE" sz="1400" b="1" dirty="0">
                <a:sym typeface="Wingdings" panose="05000000000000000000" pitchFamily="2" charset="2"/>
              </a:rPr>
              <a:t>au 01.01.2022</a:t>
            </a:r>
            <a:endParaRPr lang="fr-BE" sz="1400" b="1" dirty="0"/>
          </a:p>
        </p:txBody>
      </p:sp>
    </p:spTree>
    <p:extLst>
      <p:ext uri="{BB962C8B-B14F-4D97-AF65-F5344CB8AC3E}">
        <p14:creationId xmlns:p14="http://schemas.microsoft.com/office/powerpoint/2010/main" val="143096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46" grpId="0" animBg="1"/>
      <p:bldP spid="63" grpId="0"/>
      <p:bldP spid="64" grpId="0"/>
      <p:bldP spid="66" grpId="0" animBg="1"/>
      <p:bldP spid="75" grpId="0" animBg="1"/>
      <p:bldP spid="68" grpId="0"/>
      <p:bldP spid="40" grpId="0"/>
      <p:bldP spid="41" grpId="0"/>
      <p:bldP spid="67" grpId="0"/>
      <p:bldP spid="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3600" b="1" i="1" dirty="0">
                <a:cs typeface="Times New Roman" pitchFamily="18" charset="0"/>
              </a:rPr>
              <a:t> Révision AR 36 </a:t>
            </a:r>
            <a:r>
              <a:rPr lang="fr-BE" sz="3600" b="1" i="1" dirty="0">
                <a:cs typeface="Times New Roman" pitchFamily="18" charset="0"/>
                <a:sym typeface="Wingdings" panose="05000000000000000000" pitchFamily="2" charset="2"/>
              </a:rPr>
              <a:t> AR 33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Révision d’une décision prise pour une DA précédente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La DA précédente doit remplir certaines conditions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La révision est demandée dans les 3 ans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Fournir la preuve d’un emploi à temps partiel volontaire d’au moins 1 semaine pendant l’interruption 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AR 33 à prouver à la date de la DA précédente</a:t>
            </a:r>
          </a:p>
          <a:p>
            <a:pPr>
              <a:spcBef>
                <a:spcPts val="600"/>
              </a:spcBef>
            </a:pPr>
            <a:r>
              <a:rPr lang="fr-BE" sz="3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Exception jours assimilés AR 40</a:t>
            </a:r>
          </a:p>
          <a:p>
            <a:pPr>
              <a:spcBef>
                <a:spcPts val="600"/>
              </a:spcBef>
            </a:pPr>
            <a:endParaRPr lang="fr-BE" sz="3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sz="3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fr-BE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1067401"/>
      </p:ext>
    </p:extLst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13 -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8" name="ZoneTexte 27"/>
          <p:cNvSpPr txBox="1"/>
          <p:nvPr/>
        </p:nvSpPr>
        <p:spPr>
          <a:xfrm>
            <a:off x="3077117" y="2628519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31.08.2021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423726" y="262378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01.12.2020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72270" y="3273163"/>
            <a:ext cx="700138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5333" y="3265714"/>
            <a:ext cx="1547173" cy="65378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23/38 &amp; 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sal. &lt; sal. réf. art. 28</a:t>
            </a:r>
            <a:endParaRPr lang="fr-BE" sz="1200" b="1" dirty="0">
              <a:solidFill>
                <a:schemeClr val="tx1"/>
              </a:solidFill>
            </a:endParaRP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567987" y="3268840"/>
            <a:ext cx="75617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6702" y="3268840"/>
            <a:ext cx="1240477" cy="650658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23/38 &amp; 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sal. &lt; sal. réf. art. 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05357" y="3268841"/>
            <a:ext cx="621843" cy="6506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5155254" y="2074307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31.12.2021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799800" y="207726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13.09.2021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1985337" y="2936297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532506" y="2927356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4346702" y="2383025"/>
            <a:ext cx="0" cy="154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5587179" y="2383025"/>
            <a:ext cx="0" cy="154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WN3 le 29.07.2010</a:t>
            </a:r>
          </a:p>
          <a:p>
            <a:pPr algn="ctr"/>
            <a:r>
              <a:rPr lang="fr-BE" sz="1400" b="1" dirty="0"/>
              <a:t>Née le 20.08.1990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1810455" y="4143757"/>
            <a:ext cx="19676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2020/4 =   97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2021/1 = 294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2021/2 = 290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2021/3 = 203 h</a:t>
            </a:r>
          </a:p>
        </p:txBody>
      </p:sp>
      <p:sp>
        <p:nvSpPr>
          <p:cNvPr id="65" name="ZoneTexte 64"/>
          <p:cNvSpPr txBox="1"/>
          <p:nvPr/>
        </p:nvSpPr>
        <p:spPr>
          <a:xfrm>
            <a:off x="4019928" y="4178329"/>
            <a:ext cx="1967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2021/3 =   64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304 h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2653737" y="3264608"/>
            <a:ext cx="210985" cy="153337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7" name="Accolade ouvrante 66"/>
          <p:cNvSpPr/>
          <p:nvPr/>
        </p:nvSpPr>
        <p:spPr>
          <a:xfrm rot="16200000">
            <a:off x="4863400" y="3435927"/>
            <a:ext cx="193737" cy="123824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8" name="Accolade ouvrante 67"/>
          <p:cNvSpPr/>
          <p:nvPr/>
        </p:nvSpPr>
        <p:spPr>
          <a:xfrm rot="16200000">
            <a:off x="6438556" y="3942841"/>
            <a:ext cx="200338" cy="18755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9" name="ZoneTexte 68"/>
          <p:cNvSpPr txBox="1"/>
          <p:nvPr/>
        </p:nvSpPr>
        <p:spPr>
          <a:xfrm>
            <a:off x="5621115" y="4150855"/>
            <a:ext cx="19676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C4 du 31.01.2022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au 05.02.2022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sans interruption = 22 h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700987" y="523114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 art. ?</a:t>
            </a:r>
          </a:p>
          <a:p>
            <a:pPr algn="ctr"/>
            <a:r>
              <a:rPr lang="fr-BE" sz="1400" b="1" dirty="0"/>
              <a:t>le 01.03.2023 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7469" y="3268840"/>
            <a:ext cx="591665" cy="6552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00/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8638" y="3268840"/>
            <a:ext cx="711042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5729880" y="261630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24.01.2022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6249729" y="2919868"/>
            <a:ext cx="0" cy="10008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/>
          <p:cNvCxnSpPr/>
          <p:nvPr/>
        </p:nvCxnSpPr>
        <p:spPr>
          <a:xfrm rot="10800000">
            <a:off x="6851688" y="2187172"/>
            <a:ext cx="0" cy="1728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>
          <a:xfrm>
            <a:off x="5915583" y="1707122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</a:t>
            </a:r>
            <a:r>
              <a:rPr lang="fr-BE" sz="1400" b="1" dirty="0">
                <a:solidFill>
                  <a:srgbClr val="C00000"/>
                </a:solidFill>
              </a:rPr>
              <a:t>fin de sanction </a:t>
            </a:r>
            <a:r>
              <a:rPr lang="fr-BE" sz="1400" b="1" dirty="0">
                <a:sym typeface="Wingdings" panose="05000000000000000000" pitchFamily="2" charset="2"/>
              </a:rPr>
              <a:t>au 14.02.2022</a:t>
            </a:r>
            <a:endParaRPr lang="fr-BE" sz="1400" b="1" dirty="0"/>
          </a:p>
        </p:txBody>
      </p:sp>
      <p:sp>
        <p:nvSpPr>
          <p:cNvPr id="59" name="ZoneTexte 58"/>
          <p:cNvSpPr txBox="1"/>
          <p:nvPr/>
        </p:nvSpPr>
        <p:spPr>
          <a:xfrm>
            <a:off x="7133035" y="2620802"/>
            <a:ext cx="100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28.02.2023</a:t>
            </a:r>
          </a:p>
        </p:txBody>
      </p:sp>
      <p:cxnSp>
        <p:nvCxnSpPr>
          <p:cNvPr id="62" name="Connecteur droit 61"/>
          <p:cNvCxnSpPr/>
          <p:nvPr/>
        </p:nvCxnSpPr>
        <p:spPr>
          <a:xfrm>
            <a:off x="7589680" y="2914371"/>
            <a:ext cx="0" cy="100080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447287" y="3288607"/>
            <a:ext cx="182876" cy="64199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900" b="1" dirty="0">
                <a:solidFill>
                  <a:schemeClr val="tx1"/>
                </a:solidFill>
              </a:rPr>
              <a:t>TTRV</a:t>
            </a:r>
          </a:p>
        </p:txBody>
      </p:sp>
      <p:cxnSp>
        <p:nvCxnSpPr>
          <p:cNvPr id="37" name="Connecteur droit avec flèche 36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7620000" y="2195184"/>
            <a:ext cx="0" cy="302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98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7" grpId="0" animBg="1"/>
      <p:bldP spid="44" grpId="0" animBg="1"/>
      <p:bldP spid="39" grpId="0" animBg="1"/>
      <p:bldP spid="38" grpId="0" animBg="1"/>
      <p:bldP spid="45" grpId="0" animBg="1"/>
      <p:bldP spid="48" grpId="0"/>
      <p:bldP spid="49" grpId="0"/>
      <p:bldP spid="63" grpId="0"/>
      <p:bldP spid="64" grpId="0"/>
      <p:bldP spid="65" grpId="0"/>
      <p:bldP spid="66" grpId="0" animBg="1"/>
      <p:bldP spid="67" grpId="0" animBg="1"/>
      <p:bldP spid="68" grpId="0" animBg="1"/>
      <p:bldP spid="69" grpId="0"/>
      <p:bldP spid="15" grpId="0"/>
      <p:bldP spid="34" grpId="0" animBg="1"/>
      <p:bldP spid="35" grpId="0" animBg="1"/>
      <p:bldP spid="42" grpId="0"/>
      <p:bldP spid="54" grpId="0"/>
      <p:bldP spid="59" grpId="0"/>
      <p:bldP spid="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/>
              <a:t>Révision TTPMD/Préfixe 01 &amp; inversement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BE" sz="3000" dirty="0">
                <a:sym typeface="Wingdings" panose="05000000000000000000" pitchFamily="2" charset="2"/>
              </a:rPr>
              <a:t>TTPMD au lieu de chômeur complet:</a:t>
            </a:r>
          </a:p>
          <a:p>
            <a:pPr marL="808038" indent="-442913">
              <a:spcBef>
                <a:spcPts val="0"/>
              </a:spcBef>
              <a:buFont typeface="Wingdings"/>
              <a:buChar char="è"/>
            </a:pPr>
            <a:r>
              <a:rPr lang="fr-BE" sz="3000" dirty="0">
                <a:sym typeface="Wingdings" panose="05000000000000000000" pitchFamily="2" charset="2"/>
              </a:rPr>
              <a:t>Pas de révision rétroactive du statut TTPMD en   cas de régularisation AR29§2bis</a:t>
            </a:r>
          </a:p>
          <a:p>
            <a:pPr marL="0" indent="0">
              <a:spcBef>
                <a:spcPts val="0"/>
              </a:spcBef>
              <a:buNone/>
            </a:pPr>
            <a:endParaRPr lang="fr-BE" sz="3000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r>
              <a:rPr lang="fr-BE" sz="3000" dirty="0">
                <a:sym typeface="Wingdings" panose="05000000000000000000" pitchFamily="2" charset="2"/>
              </a:rPr>
              <a:t>Chômeur complet au lieu de TTPMD: </a:t>
            </a:r>
          </a:p>
          <a:p>
            <a:pPr marL="808038" indent="-442913">
              <a:spcBef>
                <a:spcPts val="0"/>
              </a:spcBef>
              <a:buNone/>
            </a:pPr>
            <a:r>
              <a:rPr lang="fr-BE" sz="3000" dirty="0">
                <a:sym typeface="Wingdings" panose="05000000000000000000" pitchFamily="2" charset="2"/>
              </a:rPr>
              <a:t> Pas de révision rétroactive étant donné que TTPMD est octroyé sur base d’une DA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773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14 -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01.10.2021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990" y="3282392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9788" y="3275659"/>
            <a:ext cx="4886187" cy="6573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TTPMD </a:t>
            </a:r>
            <a:r>
              <a:rPr lang="fr-BE" sz="1600" b="1" dirty="0">
                <a:solidFill>
                  <a:srgbClr val="C00000"/>
                </a:solidFill>
              </a:rPr>
              <a:t>99/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19/38 &amp; sal. &lt; sal. réf. art. 28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03.08.2017</a:t>
            </a:r>
          </a:p>
          <a:p>
            <a:pPr algn="ctr"/>
            <a:r>
              <a:rPr lang="fr-BE" sz="1400" b="1" dirty="0"/>
              <a:t>Née le 12.12.1995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3978043" y="4204511"/>
            <a:ext cx="2364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243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247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2022/3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2022/4 = 250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2023/1 = 250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2023/2 = sans interruption</a:t>
            </a:r>
            <a:endParaRPr lang="fr-BE" sz="1400" b="1" dirty="0">
              <a:solidFill>
                <a:prstClr val="black"/>
              </a:solidFill>
            </a:endParaRPr>
          </a:p>
        </p:txBody>
      </p:sp>
      <p:sp>
        <p:nvSpPr>
          <p:cNvPr id="66" name="Accolade ouvrante 65"/>
          <p:cNvSpPr/>
          <p:nvPr/>
        </p:nvSpPr>
        <p:spPr>
          <a:xfrm rot="16200000">
            <a:off x="5080583" y="1577066"/>
            <a:ext cx="148091" cy="489526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66155" y="482268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 ?</a:t>
            </a:r>
            <a:endParaRPr lang="fr-BE" sz="1400" b="1" dirty="0">
              <a:sym typeface="Wingdings" panose="05000000000000000000" pitchFamily="2" charset="2"/>
            </a:endParaRP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le 17</a:t>
            </a:r>
            <a:r>
              <a:rPr lang="fr-BE" sz="1400" b="1" dirty="0"/>
              <a:t>.04.2023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477" y="2158393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024364" y="2579327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15.04.2023</a:t>
            </a:r>
          </a:p>
        </p:txBody>
      </p:sp>
      <p:cxnSp>
        <p:nvCxnSpPr>
          <p:cNvPr id="18" name="Connecteur droit 17"/>
          <p:cNvCxnSpPr/>
          <p:nvPr/>
        </p:nvCxnSpPr>
        <p:spPr>
          <a:xfrm>
            <a:off x="7585975" y="2891836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49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63" grpId="0"/>
      <p:bldP spid="64" grpId="0"/>
      <p:bldP spid="66" grpId="0" animBg="1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15 -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01.10.2021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1267990" y="3282392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9788" y="3275659"/>
            <a:ext cx="4886187" cy="6573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</a:t>
            </a:r>
            <a:endParaRPr lang="fr-BE" sz="1600" b="1" dirty="0">
              <a:solidFill>
                <a:srgbClr val="C00000"/>
              </a:solidFill>
            </a:endParaRP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19/38 &amp; sal. &lt; sal. réf. art. 28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699792" y="2949854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03.08.2017</a:t>
            </a:r>
          </a:p>
          <a:p>
            <a:pPr algn="ctr"/>
            <a:r>
              <a:rPr lang="fr-BE" sz="1400" b="1" dirty="0"/>
              <a:t>Né le 12.12.1995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3949390" y="4197889"/>
            <a:ext cx="2364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243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247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2022/4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2023/1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2023/2 = sans interruption</a:t>
            </a:r>
            <a:endParaRPr lang="fr-BE" sz="1400" b="1" dirty="0">
              <a:solidFill>
                <a:prstClr val="black"/>
              </a:solidFill>
            </a:endParaRPr>
          </a:p>
        </p:txBody>
      </p:sp>
      <p:sp>
        <p:nvSpPr>
          <p:cNvPr id="66" name="Accolade ouvrante 65"/>
          <p:cNvSpPr/>
          <p:nvPr/>
        </p:nvSpPr>
        <p:spPr>
          <a:xfrm rot="16200000">
            <a:off x="5047272" y="1610375"/>
            <a:ext cx="198430" cy="487897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49871" y="482268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?</a:t>
            </a:r>
            <a:endParaRPr lang="fr-BE" sz="1400" b="1" dirty="0">
              <a:sym typeface="Wingdings" panose="05000000000000000000" pitchFamily="2" charset="2"/>
            </a:endParaRP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le 24</a:t>
            </a:r>
            <a:r>
              <a:rPr lang="fr-BE" sz="1400" b="1" dirty="0"/>
              <a:t>.04.2023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7620477" y="2158393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024364" y="2579327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22.04.2023</a:t>
            </a:r>
          </a:p>
        </p:txBody>
      </p:sp>
      <p:cxnSp>
        <p:nvCxnSpPr>
          <p:cNvPr id="18" name="Connecteur droit 17"/>
          <p:cNvCxnSpPr/>
          <p:nvPr/>
        </p:nvCxnSpPr>
        <p:spPr>
          <a:xfrm>
            <a:off x="7585975" y="2891836"/>
            <a:ext cx="0" cy="1000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90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63" grpId="0"/>
      <p:bldP spid="64" grpId="0"/>
      <p:bldP spid="66" grpId="0" animBg="1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16 - Enoncé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2138181" y="263734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01.10.2021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267990" y="3282392"/>
            <a:ext cx="1397301" cy="6506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CCI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(art. 36)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6275" y="3275659"/>
            <a:ext cx="1169699" cy="6573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TTRV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28/38 &amp; sal. &lt; sal. réf. art. 28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rot="10800000">
            <a:off x="1232675" y="2314804"/>
            <a:ext cx="0" cy="28296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-4385" y="1748745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01.08.2019</a:t>
            </a:r>
          </a:p>
          <a:p>
            <a:pPr algn="ctr"/>
            <a:r>
              <a:rPr lang="fr-BE" sz="1400" b="1" dirty="0"/>
              <a:t>Né le 12.12.1998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3362293" y="4176358"/>
            <a:ext cx="23641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2021/4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2022/1 = 243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2022/2 = 247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2022/3 = 251 h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2022/4 = 251 h</a:t>
            </a:r>
          </a:p>
        </p:txBody>
      </p:sp>
      <p:sp>
        <p:nvSpPr>
          <p:cNvPr id="66" name="Accolade ouvrante 65"/>
          <p:cNvSpPr/>
          <p:nvPr/>
        </p:nvSpPr>
        <p:spPr>
          <a:xfrm rot="16200000">
            <a:off x="4461902" y="2195747"/>
            <a:ext cx="164967" cy="367477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666155" y="482268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art. 33 ?</a:t>
            </a:r>
            <a:endParaRPr lang="fr-BE" sz="1400" b="1" dirty="0">
              <a:sym typeface="Wingdings" panose="05000000000000000000" pitchFamily="2" charset="2"/>
            </a:endParaRP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le 24</a:t>
            </a:r>
            <a:r>
              <a:rPr lang="fr-BE" sz="1400" b="1" dirty="0"/>
              <a:t>.04.2023</a:t>
            </a:r>
          </a:p>
        </p:txBody>
      </p:sp>
      <p:cxnSp>
        <p:nvCxnSpPr>
          <p:cNvPr id="18" name="Connecteur droit 17"/>
          <p:cNvCxnSpPr/>
          <p:nvPr/>
        </p:nvCxnSpPr>
        <p:spPr>
          <a:xfrm>
            <a:off x="7579069" y="2444863"/>
            <a:ext cx="6906" cy="1504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5867267" y="2206413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01.01.2023</a:t>
            </a:r>
          </a:p>
        </p:txBody>
      </p:sp>
      <p:cxnSp>
        <p:nvCxnSpPr>
          <p:cNvPr id="20" name="Connecteur droit 19"/>
          <p:cNvCxnSpPr/>
          <p:nvPr/>
        </p:nvCxnSpPr>
        <p:spPr>
          <a:xfrm>
            <a:off x="6416275" y="2442442"/>
            <a:ext cx="0" cy="15048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688452" y="3275659"/>
            <a:ext cx="3693320" cy="6573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TTPMD </a:t>
            </a:r>
            <a:r>
              <a:rPr lang="fr-BE" sz="1600" b="1" dirty="0">
                <a:solidFill>
                  <a:srgbClr val="C00000"/>
                </a:solidFill>
              </a:rPr>
              <a:t>99/</a:t>
            </a:r>
          </a:p>
          <a:p>
            <a:pPr algn="ctr"/>
            <a:r>
              <a:rPr lang="fr-BE" sz="1000" b="1" dirty="0">
                <a:solidFill>
                  <a:schemeClr val="tx1"/>
                </a:solidFill>
              </a:rPr>
              <a:t>19/38 &amp; sal. &lt; sal. réf. art. 28</a:t>
            </a:r>
          </a:p>
        </p:txBody>
      </p:sp>
      <p:cxnSp>
        <p:nvCxnSpPr>
          <p:cNvPr id="22" name="Connecteur droit 21"/>
          <p:cNvCxnSpPr/>
          <p:nvPr/>
        </p:nvCxnSpPr>
        <p:spPr>
          <a:xfrm>
            <a:off x="2681611" y="2954586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7620477" y="2158393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043936" y="2207023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23.04.2023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864992" y="4163242"/>
            <a:ext cx="2364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2023/1 = 362 h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2023/2 = sans interruption</a:t>
            </a:r>
            <a:endParaRPr lang="fr-BE" sz="1400" b="1" dirty="0">
              <a:solidFill>
                <a:prstClr val="black"/>
              </a:solidFill>
            </a:endParaRPr>
          </a:p>
        </p:txBody>
      </p:sp>
      <p:sp>
        <p:nvSpPr>
          <p:cNvPr id="25" name="Accolade ouvrante 24"/>
          <p:cNvSpPr/>
          <p:nvPr/>
        </p:nvSpPr>
        <p:spPr>
          <a:xfrm rot="16200000">
            <a:off x="6909149" y="3458563"/>
            <a:ext cx="183953" cy="11558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28" name="Connecteur droit 27"/>
          <p:cNvCxnSpPr/>
          <p:nvPr/>
        </p:nvCxnSpPr>
        <p:spPr>
          <a:xfrm>
            <a:off x="6381772" y="2891090"/>
            <a:ext cx="0" cy="1000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5830173" y="261134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31.12.2022</a:t>
            </a:r>
          </a:p>
        </p:txBody>
      </p:sp>
    </p:spTree>
    <p:extLst>
      <p:ext uri="{BB962C8B-B14F-4D97-AF65-F5344CB8AC3E}">
        <p14:creationId xmlns:p14="http://schemas.microsoft.com/office/powerpoint/2010/main" val="205334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 animBg="1"/>
      <p:bldP spid="44" grpId="0" animBg="1"/>
      <p:bldP spid="63" grpId="0"/>
      <p:bldP spid="64" grpId="0"/>
      <p:bldP spid="66" grpId="0" animBg="1"/>
      <p:bldP spid="15" grpId="0"/>
      <p:bldP spid="19" grpId="0"/>
      <p:bldP spid="21" grpId="0" animBg="1"/>
      <p:bldP spid="16" grpId="0"/>
      <p:bldP spid="24" grpId="0"/>
      <p:bldP spid="25" grpId="0" animBg="1"/>
      <p:bldP spid="27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0F400-5070-4B4D-BC53-12E7D4CE4E2A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7d2a3af0-b854-4018-b3fb-98bf2b75e19a"/>
    <ds:schemaRef ds:uri="http://schemas.microsoft.com/office/2006/documentManagement/types"/>
    <ds:schemaRef ds:uri="bdec1399-7c99-4025-bfb6-e1e799e6630a"/>
    <ds:schemaRef ds:uri="http://schemas.openxmlformats.org/package/2006/metadata/core-properties"/>
    <ds:schemaRef ds:uri="http://purl.org/dc/elements/1.1/"/>
    <ds:schemaRef ds:uri="1e832426-6819-49af-b751-404cdfce156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E51904C-FA7F-4364-8021-2FC84A9136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0306CD-BF35-455A-967C-2E805B1896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18345</TotalTime>
  <Words>1975</Words>
  <Application>Microsoft Office PowerPoint</Application>
  <PresentationFormat>On-screen Show (4:3)</PresentationFormat>
  <Paragraphs>574</Paragraphs>
  <Slides>25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Thème Office</vt:lpstr>
      <vt:lpstr>LES PASSAGES </vt:lpstr>
      <vt:lpstr>LES PASSAGES </vt:lpstr>
      <vt:lpstr> DA  AR 36  AR 30</vt:lpstr>
      <vt:lpstr>Exemple 1 - Enoncé  </vt:lpstr>
      <vt:lpstr>Exemple 2 - Enoncé </vt:lpstr>
      <vt:lpstr>Exemple 3 - Enoncé </vt:lpstr>
      <vt:lpstr>Exemple 4 - Enoncé </vt:lpstr>
      <vt:lpstr>DA   AR 36  AR 30</vt:lpstr>
      <vt:lpstr>Exemple 5 - Enoncé </vt:lpstr>
      <vt:lpstr>Exemple 6 - Enoncé </vt:lpstr>
      <vt:lpstr>Exemple 7 - Enoncé </vt:lpstr>
      <vt:lpstr> DA  AR 36  AR 33</vt:lpstr>
      <vt:lpstr>Exemple 8 - Enoncé </vt:lpstr>
      <vt:lpstr>Exemple 9 - Enoncé </vt:lpstr>
      <vt:lpstr> DA  AR 33  AR 36</vt:lpstr>
      <vt:lpstr>Exemple 10 - Enoncé </vt:lpstr>
      <vt:lpstr> Révision AR 36  AR 30</vt:lpstr>
      <vt:lpstr>Exemple 11 - Enoncé </vt:lpstr>
      <vt:lpstr>Exemple 12 - Enoncé </vt:lpstr>
      <vt:lpstr> Révision AR 36  AR 33</vt:lpstr>
      <vt:lpstr>Exemple 13 - Enoncé </vt:lpstr>
      <vt:lpstr>Révision TTPMD/Préfixe 01 &amp; inversement </vt:lpstr>
      <vt:lpstr>Exemple 14 - Enoncé </vt:lpstr>
      <vt:lpstr>Exemple 15 - Enoncé </vt:lpstr>
      <vt:lpstr>Exemple 16 - Enoncé 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FCS-M03-Les Passages-Participants</dc:title>
  <dc:creator>u99lge</dc:creator>
  <cp:lastModifiedBy>Tanassakis Drossinis</cp:lastModifiedBy>
  <cp:revision>750</cp:revision>
  <cp:lastPrinted>2016-06-02T14:48:51Z</cp:lastPrinted>
  <dcterms:created xsi:type="dcterms:W3CDTF">2010-09-22T12:12:06Z</dcterms:created>
  <dcterms:modified xsi:type="dcterms:W3CDTF">2023-04-24T09:55:30Z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document">
    <vt:lpwstr>29;#Présentation|66a9a075-20e6-47e0-8483-85d2e9240401</vt:lpwstr>
  </property>
  <property fmtid="{D5CDD505-2E9C-101B-9397-08002B2CF9AE}" pid="4" name="Type formation">
    <vt:lpwstr>139;#FCS formation senior|7e1aeef4-3046-4f78-a284-cec5c2bef1bf</vt:lpwstr>
  </property>
  <property fmtid="{D5CDD505-2E9C-101B-9397-08002B2CF9AE}" pid="5" name="Domaine">
    <vt:lpwstr>17;#Admissibilité|d1ac0b1f-1e4c-4aa8-9a97-5b01e61985ba</vt:lpwstr>
  </property>
  <property fmtid="{D5CDD505-2E9C-101B-9397-08002B2CF9AE}" pid="6" name="Public Cible">
    <vt:lpwstr>12;#FLT|f342c2bc-e504-4fe0-8d5d-34c04f2f783f</vt:lpwstr>
  </property>
  <property fmtid="{D5CDD505-2E9C-101B-9397-08002B2CF9AE}" pid="7" name="Thème">
    <vt:lpwstr>104;#Passages|159b95c0-7a4c-4627-aa35-a338b34c6bf4</vt:lpwstr>
  </property>
  <property fmtid="{D5CDD505-2E9C-101B-9397-08002B2CF9AE}" pid="8" name="Order">
    <vt:r8>195900</vt:r8>
  </property>
  <property fmtid="{D5CDD505-2E9C-101B-9397-08002B2CF9AE}" pid="9" name="_dlc_DocIdItemGuid">
    <vt:lpwstr>cb0564f1-97e9-49f4-a176-3762bb70b10d</vt:lpwstr>
  </property>
</Properties>
</file>