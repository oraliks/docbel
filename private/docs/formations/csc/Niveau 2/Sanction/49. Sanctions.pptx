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54"/>
  </p:notesMasterIdLst>
  <p:handoutMasterIdLst>
    <p:handoutMasterId r:id="rId55"/>
  </p:handoutMasterIdLst>
  <p:sldIdLst>
    <p:sldId id="256" r:id="rId5"/>
    <p:sldId id="257" r:id="rId6"/>
    <p:sldId id="314" r:id="rId7"/>
    <p:sldId id="258" r:id="rId8"/>
    <p:sldId id="259" r:id="rId9"/>
    <p:sldId id="260" r:id="rId10"/>
    <p:sldId id="261" r:id="rId11"/>
    <p:sldId id="262" r:id="rId12"/>
    <p:sldId id="263" r:id="rId13"/>
    <p:sldId id="264" r:id="rId14"/>
    <p:sldId id="316" r:id="rId15"/>
    <p:sldId id="317" r:id="rId16"/>
    <p:sldId id="266" r:id="rId17"/>
    <p:sldId id="312" r:id="rId18"/>
    <p:sldId id="274"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13" r:id="rId48"/>
    <p:sldId id="304" r:id="rId49"/>
    <p:sldId id="306" r:id="rId50"/>
    <p:sldId id="307" r:id="rId51"/>
    <p:sldId id="308" r:id="rId52"/>
    <p:sldId id="309" r:id="rId53"/>
  </p:sldIdLst>
  <p:sldSz cx="9144000" cy="6858000" type="screen4x3"/>
  <p:notesSz cx="6669088" cy="9926638"/>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33"/>
    <a:srgbClr val="669900"/>
    <a:srgbClr val="00FF00"/>
    <a:srgbClr val="003399"/>
    <a:srgbClr val="0033CC"/>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63" autoAdjust="0"/>
    <p:restoredTop sz="84256" autoAdjust="0"/>
  </p:normalViewPr>
  <p:slideViewPr>
    <p:cSldViewPr>
      <p:cViewPr varScale="1">
        <p:scale>
          <a:sx n="69" d="100"/>
          <a:sy n="69" d="100"/>
        </p:scale>
        <p:origin x="1790" y="6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handoutMaster" Target="handoutMasters/handout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heme" Target="theme/theme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889938" cy="496333"/>
          </a:xfrm>
          <a:prstGeom prst="rect">
            <a:avLst/>
          </a:prstGeom>
        </p:spPr>
        <p:txBody>
          <a:bodyPr vert="horz" lIns="91815" tIns="45907" rIns="91815" bIns="45907" rtlCol="0"/>
          <a:lstStyle>
            <a:lvl1pPr algn="l">
              <a:defRPr sz="1200"/>
            </a:lvl1pPr>
          </a:lstStyle>
          <a:p>
            <a:endParaRPr lang="fr-FR"/>
          </a:p>
        </p:txBody>
      </p:sp>
      <p:sp>
        <p:nvSpPr>
          <p:cNvPr id="3" name="Espace réservé de la date 2"/>
          <p:cNvSpPr>
            <a:spLocks noGrp="1"/>
          </p:cNvSpPr>
          <p:nvPr>
            <p:ph type="dt" sz="quarter" idx="1"/>
          </p:nvPr>
        </p:nvSpPr>
        <p:spPr>
          <a:xfrm>
            <a:off x="3777607" y="0"/>
            <a:ext cx="2889938" cy="496333"/>
          </a:xfrm>
          <a:prstGeom prst="rect">
            <a:avLst/>
          </a:prstGeom>
        </p:spPr>
        <p:txBody>
          <a:bodyPr vert="horz" lIns="91815" tIns="45907" rIns="91815" bIns="45907" rtlCol="0"/>
          <a:lstStyle>
            <a:lvl1pPr algn="r">
              <a:defRPr sz="1200"/>
            </a:lvl1pPr>
          </a:lstStyle>
          <a:p>
            <a:fld id="{E47068CA-F0DC-447A-B9ED-AE95D731C7D8}" type="datetimeFigureOut">
              <a:rPr lang="fr-FR" smtClean="0"/>
              <a:pPr/>
              <a:t>13/06/2023</a:t>
            </a:fld>
            <a:endParaRPr lang="fr-FR"/>
          </a:p>
        </p:txBody>
      </p:sp>
      <p:sp>
        <p:nvSpPr>
          <p:cNvPr id="4" name="Espace réservé du pied de page 3"/>
          <p:cNvSpPr>
            <a:spLocks noGrp="1"/>
          </p:cNvSpPr>
          <p:nvPr>
            <p:ph type="ftr" sz="quarter" idx="2"/>
          </p:nvPr>
        </p:nvSpPr>
        <p:spPr>
          <a:xfrm>
            <a:off x="0" y="9428583"/>
            <a:ext cx="2889938" cy="496333"/>
          </a:xfrm>
          <a:prstGeom prst="rect">
            <a:avLst/>
          </a:prstGeom>
        </p:spPr>
        <p:txBody>
          <a:bodyPr vert="horz" lIns="91815" tIns="45907" rIns="91815" bIns="45907"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777607" y="9428583"/>
            <a:ext cx="2889938" cy="496333"/>
          </a:xfrm>
          <a:prstGeom prst="rect">
            <a:avLst/>
          </a:prstGeom>
        </p:spPr>
        <p:txBody>
          <a:bodyPr vert="horz" lIns="91815" tIns="45907" rIns="91815" bIns="45907" rtlCol="0" anchor="b"/>
          <a:lstStyle>
            <a:lvl1pPr algn="r">
              <a:defRPr sz="1200"/>
            </a:lvl1pPr>
          </a:lstStyle>
          <a:p>
            <a:fld id="{49110657-391D-4BAF-82B8-BBA3EA77C61C}" type="slidenum">
              <a:rPr lang="fr-FR" smtClean="0"/>
              <a:pPr/>
              <a:t>‹#›</a:t>
            </a:fld>
            <a:endParaRPr lang="fr-FR"/>
          </a:p>
        </p:txBody>
      </p:sp>
    </p:spTree>
    <p:extLst>
      <p:ext uri="{BB962C8B-B14F-4D97-AF65-F5344CB8AC3E}">
        <p14:creationId xmlns:p14="http://schemas.microsoft.com/office/powerpoint/2010/main" val="26919770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889938" cy="496333"/>
          </a:xfrm>
          <a:prstGeom prst="rect">
            <a:avLst/>
          </a:prstGeom>
        </p:spPr>
        <p:txBody>
          <a:bodyPr vert="horz" lIns="91815" tIns="45907" rIns="91815" bIns="45907" rtlCol="0"/>
          <a:lstStyle>
            <a:lvl1pPr algn="l">
              <a:defRPr sz="1200"/>
            </a:lvl1pPr>
          </a:lstStyle>
          <a:p>
            <a:endParaRPr lang="fr-FR"/>
          </a:p>
        </p:txBody>
      </p:sp>
      <p:sp>
        <p:nvSpPr>
          <p:cNvPr id="3" name="Espace réservé de la date 2"/>
          <p:cNvSpPr>
            <a:spLocks noGrp="1"/>
          </p:cNvSpPr>
          <p:nvPr>
            <p:ph type="dt" idx="1"/>
          </p:nvPr>
        </p:nvSpPr>
        <p:spPr>
          <a:xfrm>
            <a:off x="3777607" y="0"/>
            <a:ext cx="2889938" cy="496333"/>
          </a:xfrm>
          <a:prstGeom prst="rect">
            <a:avLst/>
          </a:prstGeom>
        </p:spPr>
        <p:txBody>
          <a:bodyPr vert="horz" lIns="91815" tIns="45907" rIns="91815" bIns="45907" rtlCol="0"/>
          <a:lstStyle>
            <a:lvl1pPr algn="r">
              <a:defRPr sz="1200"/>
            </a:lvl1pPr>
          </a:lstStyle>
          <a:p>
            <a:fld id="{B000F49C-6693-442B-81D1-9FE7387508D2}" type="datetimeFigureOut">
              <a:rPr lang="fr-FR" smtClean="0"/>
              <a:pPr/>
              <a:t>13/06/2023</a:t>
            </a:fld>
            <a:endParaRPr lang="fr-FR"/>
          </a:p>
        </p:txBody>
      </p:sp>
      <p:sp>
        <p:nvSpPr>
          <p:cNvPr id="4" name="Espace réservé de l'image des diapositives 3"/>
          <p:cNvSpPr>
            <a:spLocks noGrp="1" noRot="1" noChangeAspect="1"/>
          </p:cNvSpPr>
          <p:nvPr>
            <p:ph type="sldImg" idx="2"/>
          </p:nvPr>
        </p:nvSpPr>
        <p:spPr>
          <a:xfrm>
            <a:off x="854075" y="744538"/>
            <a:ext cx="4960938" cy="3722687"/>
          </a:xfrm>
          <a:prstGeom prst="rect">
            <a:avLst/>
          </a:prstGeom>
          <a:noFill/>
          <a:ln w="12700">
            <a:solidFill>
              <a:prstClr val="black"/>
            </a:solidFill>
          </a:ln>
        </p:spPr>
        <p:txBody>
          <a:bodyPr vert="horz" lIns="91815" tIns="45907" rIns="91815" bIns="45907" rtlCol="0" anchor="ctr"/>
          <a:lstStyle/>
          <a:p>
            <a:endParaRPr lang="fr-FR"/>
          </a:p>
        </p:txBody>
      </p:sp>
      <p:sp>
        <p:nvSpPr>
          <p:cNvPr id="5" name="Espace réservé des commentaires 4"/>
          <p:cNvSpPr>
            <a:spLocks noGrp="1"/>
          </p:cNvSpPr>
          <p:nvPr>
            <p:ph type="body" sz="quarter" idx="3"/>
          </p:nvPr>
        </p:nvSpPr>
        <p:spPr>
          <a:xfrm>
            <a:off x="666909" y="4715156"/>
            <a:ext cx="5335270" cy="4466988"/>
          </a:xfrm>
          <a:prstGeom prst="rect">
            <a:avLst/>
          </a:prstGeom>
        </p:spPr>
        <p:txBody>
          <a:bodyPr vert="horz" lIns="91815" tIns="45907" rIns="91815" bIns="45907"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428583"/>
            <a:ext cx="2889938" cy="496333"/>
          </a:xfrm>
          <a:prstGeom prst="rect">
            <a:avLst/>
          </a:prstGeom>
        </p:spPr>
        <p:txBody>
          <a:bodyPr vert="horz" lIns="91815" tIns="45907" rIns="91815" bIns="45907"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777607" y="9428583"/>
            <a:ext cx="2889938" cy="496333"/>
          </a:xfrm>
          <a:prstGeom prst="rect">
            <a:avLst/>
          </a:prstGeom>
        </p:spPr>
        <p:txBody>
          <a:bodyPr vert="horz" lIns="91815" tIns="45907" rIns="91815" bIns="45907" rtlCol="0" anchor="b"/>
          <a:lstStyle>
            <a:lvl1pPr algn="r">
              <a:defRPr sz="1200"/>
            </a:lvl1pPr>
          </a:lstStyle>
          <a:p>
            <a:fld id="{784742A2-A700-4112-A494-09AD92282681}" type="slidenum">
              <a:rPr lang="fr-FR" smtClean="0"/>
              <a:pPr/>
              <a:t>‹#›</a:t>
            </a:fld>
            <a:endParaRPr lang="fr-FR"/>
          </a:p>
        </p:txBody>
      </p:sp>
    </p:spTree>
    <p:extLst>
      <p:ext uri="{BB962C8B-B14F-4D97-AF65-F5344CB8AC3E}">
        <p14:creationId xmlns:p14="http://schemas.microsoft.com/office/powerpoint/2010/main" val="14223693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a:t>
            </a:fld>
            <a:endParaRPr lang="fr-FR"/>
          </a:p>
        </p:txBody>
      </p:sp>
    </p:spTree>
    <p:extLst>
      <p:ext uri="{BB962C8B-B14F-4D97-AF65-F5344CB8AC3E}">
        <p14:creationId xmlns:p14="http://schemas.microsoft.com/office/powerpoint/2010/main" val="2356753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a:t>
            </a:fld>
            <a:endParaRPr lang="fr-FR"/>
          </a:p>
        </p:txBody>
      </p:sp>
    </p:spTree>
    <p:extLst>
      <p:ext uri="{BB962C8B-B14F-4D97-AF65-F5344CB8AC3E}">
        <p14:creationId xmlns:p14="http://schemas.microsoft.com/office/powerpoint/2010/main" val="36403903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3</a:t>
            </a:fld>
            <a:endParaRPr lang="fr-FR"/>
          </a:p>
        </p:txBody>
      </p:sp>
    </p:spTree>
    <p:extLst>
      <p:ext uri="{BB962C8B-B14F-4D97-AF65-F5344CB8AC3E}">
        <p14:creationId xmlns:p14="http://schemas.microsoft.com/office/powerpoint/2010/main" val="31621802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en-US"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7</a:t>
            </a:fld>
            <a:endParaRPr lang="fr-FR" dirty="0"/>
          </a:p>
        </p:txBody>
      </p:sp>
    </p:spTree>
    <p:extLst>
      <p:ext uri="{BB962C8B-B14F-4D97-AF65-F5344CB8AC3E}">
        <p14:creationId xmlns:p14="http://schemas.microsoft.com/office/powerpoint/2010/main" val="38344840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en-US"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13</a:t>
            </a:fld>
            <a:endParaRPr lang="fr-FR" dirty="0"/>
          </a:p>
        </p:txBody>
      </p:sp>
    </p:spTree>
    <p:extLst>
      <p:ext uri="{BB962C8B-B14F-4D97-AF65-F5344CB8AC3E}">
        <p14:creationId xmlns:p14="http://schemas.microsoft.com/office/powerpoint/2010/main" val="3793325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dirty="0"/>
              <a:t>Seule</a:t>
            </a:r>
            <a:r>
              <a:rPr lang="fr-FR" baseline="0" dirty="0"/>
              <a:t> une </a:t>
            </a:r>
            <a:r>
              <a:rPr lang="fr-FR" b="1" dirty="0"/>
              <a:t>infraction continuée</a:t>
            </a:r>
            <a:r>
              <a:rPr lang="fr-FR" dirty="0"/>
              <a:t> à la législation rend l'emploi non convenable.</a:t>
            </a:r>
            <a:endParaRPr lang="en-US"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14</a:t>
            </a:fld>
            <a:endParaRPr lang="fr-FR" dirty="0"/>
          </a:p>
        </p:txBody>
      </p:sp>
    </p:spTree>
    <p:extLst>
      <p:ext uri="{BB962C8B-B14F-4D97-AF65-F5344CB8AC3E}">
        <p14:creationId xmlns:p14="http://schemas.microsoft.com/office/powerpoint/2010/main" val="13358498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15</a:t>
            </a:fld>
            <a:endParaRPr lang="fr-FR" dirty="0"/>
          </a:p>
        </p:txBody>
      </p:sp>
    </p:spTree>
    <p:extLst>
      <p:ext uri="{BB962C8B-B14F-4D97-AF65-F5344CB8AC3E}">
        <p14:creationId xmlns:p14="http://schemas.microsoft.com/office/powerpoint/2010/main" val="4576184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17</a:t>
            </a:fld>
            <a:endParaRPr lang="fr-FR"/>
          </a:p>
        </p:txBody>
      </p:sp>
    </p:spTree>
    <p:extLst>
      <p:ext uri="{BB962C8B-B14F-4D97-AF65-F5344CB8AC3E}">
        <p14:creationId xmlns:p14="http://schemas.microsoft.com/office/powerpoint/2010/main" val="308426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18</a:t>
            </a:fld>
            <a:endParaRPr lang="fr-FR"/>
          </a:p>
        </p:txBody>
      </p:sp>
    </p:spTree>
    <p:extLst>
      <p:ext uri="{BB962C8B-B14F-4D97-AF65-F5344CB8AC3E}">
        <p14:creationId xmlns:p14="http://schemas.microsoft.com/office/powerpoint/2010/main" val="3801699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19</a:t>
            </a:fld>
            <a:endParaRPr lang="fr-FR" dirty="0"/>
          </a:p>
        </p:txBody>
      </p:sp>
    </p:spTree>
    <p:extLst>
      <p:ext uri="{BB962C8B-B14F-4D97-AF65-F5344CB8AC3E}">
        <p14:creationId xmlns:p14="http://schemas.microsoft.com/office/powerpoint/2010/main" val="13614762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20</a:t>
            </a:fld>
            <a:endParaRPr lang="fr-FR" dirty="0"/>
          </a:p>
        </p:txBody>
      </p:sp>
    </p:spTree>
    <p:extLst>
      <p:ext uri="{BB962C8B-B14F-4D97-AF65-F5344CB8AC3E}">
        <p14:creationId xmlns:p14="http://schemas.microsoft.com/office/powerpoint/2010/main" val="14783004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21</a:t>
            </a:fld>
            <a:endParaRPr lang="fr-FR" dirty="0"/>
          </a:p>
        </p:txBody>
      </p:sp>
    </p:spTree>
    <p:extLst>
      <p:ext uri="{BB962C8B-B14F-4D97-AF65-F5344CB8AC3E}">
        <p14:creationId xmlns:p14="http://schemas.microsoft.com/office/powerpoint/2010/main" val="9514455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en-US"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22</a:t>
            </a:fld>
            <a:endParaRPr lang="fr-FR" dirty="0"/>
          </a:p>
        </p:txBody>
      </p:sp>
    </p:spTree>
    <p:extLst>
      <p:ext uri="{BB962C8B-B14F-4D97-AF65-F5344CB8AC3E}">
        <p14:creationId xmlns:p14="http://schemas.microsoft.com/office/powerpoint/2010/main" val="5282333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en-US"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25</a:t>
            </a:fld>
            <a:endParaRPr lang="fr-FR" dirty="0"/>
          </a:p>
        </p:txBody>
      </p:sp>
    </p:spTree>
    <p:extLst>
      <p:ext uri="{BB962C8B-B14F-4D97-AF65-F5344CB8AC3E}">
        <p14:creationId xmlns:p14="http://schemas.microsoft.com/office/powerpoint/2010/main" val="34168950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5"/>
          </p:nvPr>
        </p:nvSpPr>
        <p:spPr/>
        <p:txBody>
          <a:bodyPr/>
          <a:lstStyle/>
          <a:p>
            <a:fld id="{784742A2-A700-4112-A494-09AD92282681}" type="slidenum">
              <a:rPr lang="fr-FR" smtClean="0"/>
              <a:pPr/>
              <a:t>27</a:t>
            </a:fld>
            <a:endParaRPr lang="fr-FR"/>
          </a:p>
        </p:txBody>
      </p:sp>
    </p:spTree>
    <p:extLst>
      <p:ext uri="{BB962C8B-B14F-4D97-AF65-F5344CB8AC3E}">
        <p14:creationId xmlns:p14="http://schemas.microsoft.com/office/powerpoint/2010/main" val="6102973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28</a:t>
            </a:fld>
            <a:endParaRPr lang="fr-FR" dirty="0"/>
          </a:p>
        </p:txBody>
      </p:sp>
    </p:spTree>
    <p:extLst>
      <p:ext uri="{BB962C8B-B14F-4D97-AF65-F5344CB8AC3E}">
        <p14:creationId xmlns:p14="http://schemas.microsoft.com/office/powerpoint/2010/main" val="33138360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31</a:t>
            </a:fld>
            <a:endParaRPr lang="fr-FR" dirty="0"/>
          </a:p>
        </p:txBody>
      </p:sp>
    </p:spTree>
    <p:extLst>
      <p:ext uri="{BB962C8B-B14F-4D97-AF65-F5344CB8AC3E}">
        <p14:creationId xmlns:p14="http://schemas.microsoft.com/office/powerpoint/2010/main" val="27617766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32</a:t>
            </a:fld>
            <a:endParaRPr lang="fr-FR"/>
          </a:p>
        </p:txBody>
      </p:sp>
    </p:spTree>
    <p:extLst>
      <p:ext uri="{BB962C8B-B14F-4D97-AF65-F5344CB8AC3E}">
        <p14:creationId xmlns:p14="http://schemas.microsoft.com/office/powerpoint/2010/main" val="33680056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36</a:t>
            </a:fld>
            <a:endParaRPr lang="fr-FR" dirty="0"/>
          </a:p>
        </p:txBody>
      </p:sp>
    </p:spTree>
    <p:extLst>
      <p:ext uri="{BB962C8B-B14F-4D97-AF65-F5344CB8AC3E}">
        <p14:creationId xmlns:p14="http://schemas.microsoft.com/office/powerpoint/2010/main" val="35952259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en-US"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39</a:t>
            </a:fld>
            <a:endParaRPr lang="fr-FR" dirty="0"/>
          </a:p>
        </p:txBody>
      </p:sp>
    </p:spTree>
    <p:extLst>
      <p:ext uri="{BB962C8B-B14F-4D97-AF65-F5344CB8AC3E}">
        <p14:creationId xmlns:p14="http://schemas.microsoft.com/office/powerpoint/2010/main" val="3173205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en-US"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40</a:t>
            </a:fld>
            <a:endParaRPr lang="fr-FR" dirty="0"/>
          </a:p>
        </p:txBody>
      </p:sp>
    </p:spTree>
    <p:extLst>
      <p:ext uri="{BB962C8B-B14F-4D97-AF65-F5344CB8AC3E}">
        <p14:creationId xmlns:p14="http://schemas.microsoft.com/office/powerpoint/2010/main" val="10886065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en-US"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solidFill>
                  <a:prstClr val="black"/>
                </a:solidFill>
              </a:rPr>
              <a:pPr/>
              <a:t>41</a:t>
            </a:fld>
            <a:endParaRPr lang="fr-FR" dirty="0">
              <a:solidFill>
                <a:prstClr val="black"/>
              </a:solidFill>
            </a:endParaRPr>
          </a:p>
        </p:txBody>
      </p:sp>
    </p:spTree>
    <p:extLst>
      <p:ext uri="{BB962C8B-B14F-4D97-AF65-F5344CB8AC3E}">
        <p14:creationId xmlns:p14="http://schemas.microsoft.com/office/powerpoint/2010/main" val="26146108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42</a:t>
            </a:fld>
            <a:endParaRPr lang="fr-FR"/>
          </a:p>
        </p:txBody>
      </p:sp>
    </p:spTree>
    <p:extLst>
      <p:ext uri="{BB962C8B-B14F-4D97-AF65-F5344CB8AC3E}">
        <p14:creationId xmlns:p14="http://schemas.microsoft.com/office/powerpoint/2010/main" val="27900842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43</a:t>
            </a:fld>
            <a:endParaRPr lang="fr-FR"/>
          </a:p>
        </p:txBody>
      </p:sp>
    </p:spTree>
    <p:extLst>
      <p:ext uri="{BB962C8B-B14F-4D97-AF65-F5344CB8AC3E}">
        <p14:creationId xmlns:p14="http://schemas.microsoft.com/office/powerpoint/2010/main" val="38337140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44</a:t>
            </a:fld>
            <a:endParaRPr lang="fr-FR"/>
          </a:p>
        </p:txBody>
      </p:sp>
    </p:spTree>
    <p:extLst>
      <p:ext uri="{BB962C8B-B14F-4D97-AF65-F5344CB8AC3E}">
        <p14:creationId xmlns:p14="http://schemas.microsoft.com/office/powerpoint/2010/main" val="38466297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45</a:t>
            </a:fld>
            <a:endParaRPr lang="fr-FR"/>
          </a:p>
        </p:txBody>
      </p:sp>
    </p:spTree>
    <p:extLst>
      <p:ext uri="{BB962C8B-B14F-4D97-AF65-F5344CB8AC3E}">
        <p14:creationId xmlns:p14="http://schemas.microsoft.com/office/powerpoint/2010/main" val="8762771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46</a:t>
            </a:fld>
            <a:endParaRPr lang="fr-FR"/>
          </a:p>
        </p:txBody>
      </p:sp>
    </p:spTree>
    <p:extLst>
      <p:ext uri="{BB962C8B-B14F-4D97-AF65-F5344CB8AC3E}">
        <p14:creationId xmlns:p14="http://schemas.microsoft.com/office/powerpoint/2010/main" val="29547271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47</a:t>
            </a:fld>
            <a:endParaRPr lang="fr-FR"/>
          </a:p>
        </p:txBody>
      </p:sp>
    </p:spTree>
    <p:extLst>
      <p:ext uri="{BB962C8B-B14F-4D97-AF65-F5344CB8AC3E}">
        <p14:creationId xmlns:p14="http://schemas.microsoft.com/office/powerpoint/2010/main" val="15517251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48</a:t>
            </a:fld>
            <a:endParaRPr lang="fr-FR"/>
          </a:p>
        </p:txBody>
      </p:sp>
    </p:spTree>
    <p:extLst>
      <p:ext uri="{BB962C8B-B14F-4D97-AF65-F5344CB8AC3E}">
        <p14:creationId xmlns:p14="http://schemas.microsoft.com/office/powerpoint/2010/main" val="162276480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49</a:t>
            </a:fld>
            <a:endParaRPr lang="fr-FR"/>
          </a:p>
        </p:txBody>
      </p:sp>
    </p:spTree>
    <p:extLst>
      <p:ext uri="{BB962C8B-B14F-4D97-AF65-F5344CB8AC3E}">
        <p14:creationId xmlns:p14="http://schemas.microsoft.com/office/powerpoint/2010/main" val="3782587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Cliquez pour modifier le style des sous-titres du masque</a:t>
            </a:r>
          </a:p>
        </p:txBody>
      </p:sp>
      <p:sp>
        <p:nvSpPr>
          <p:cNvPr id="4" name="Espace réservé de la date 3"/>
          <p:cNvSpPr>
            <a:spLocks noGrp="1"/>
          </p:cNvSpPr>
          <p:nvPr>
            <p:ph type="dt" sz="half" idx="10"/>
          </p:nvPr>
        </p:nvSpPr>
        <p:spPr/>
        <p:txBody>
          <a:bodyPr/>
          <a:lstStyle/>
          <a:p>
            <a:fld id="{CF94D896-E50C-4C97-B251-19233033E60A}" type="datetime1">
              <a:rPr lang="fr-FR" smtClean="0"/>
              <a:t>13/06/2023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a:t>
            </a:fld>
            <a:endParaRPr lang="fr-FR"/>
          </a:p>
        </p:txBody>
      </p:sp>
    </p:spTree>
  </p:cSld>
  <p:clrMapOvr>
    <a:masterClrMapping/>
  </p:clrMapOvr>
  <p:transition>
    <p:dissolv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70CC82E-2CED-436B-96B5-4D59CECA6102}" type="datetime1">
              <a:rPr lang="fr-FR" smtClean="0"/>
              <a:t>13/06/2023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a:t>
            </a:fld>
            <a:endParaRPr lang="fr-FR"/>
          </a:p>
        </p:txBody>
      </p:sp>
    </p:spTree>
  </p:cSld>
  <p:clrMapOvr>
    <a:masterClrMapping/>
  </p:clrMapOvr>
  <p:transition>
    <p:dissolv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p>
            <a:fld id="{939E94B7-AF58-40B7-8A01-63DEC503BFFE}" type="datetime1">
              <a:rPr lang="fr-FR" smtClean="0"/>
              <a:t>13/06/2023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a:t>
            </a:fld>
            <a:endParaRPr lang="fr-FR"/>
          </a:p>
        </p:txBody>
      </p:sp>
    </p:spTree>
  </p:cSld>
  <p:clrMapOvr>
    <a:masterClrMapping/>
  </p:clrMapOvr>
  <p:transition>
    <p:dissolv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4B183F6B-C6C1-43AA-AD28-205EAD374A31}" type="datetime1">
              <a:rPr lang="fr-FR" smtClean="0"/>
              <a:t>13/06/2023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5E9056B-6A30-4F99-BDE9-C450E66AE125}" type="slidenum">
              <a:rPr lang="fr-FR" smtClean="0"/>
              <a:pPr/>
              <a:t>‹#›</a:t>
            </a:fld>
            <a:endParaRPr lang="fr-FR"/>
          </a:p>
        </p:txBody>
      </p:sp>
    </p:spTree>
  </p:cSld>
  <p:clrMapOvr>
    <a:masterClrMapping/>
  </p:clrMapOvr>
  <p:transition>
    <p:dissolv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A635FB72-C6F2-44E4-B530-9DCA96E3AB32}" type="datetime1">
              <a:rPr lang="fr-FR" smtClean="0"/>
              <a:t>13/06/2023</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55E9056B-6A30-4F99-BDE9-C450E66AE125}" type="slidenum">
              <a:rPr lang="fr-FR" smtClean="0"/>
              <a:pPr/>
              <a:t>‹#›</a:t>
            </a:fld>
            <a:endParaRPr lang="fr-FR"/>
          </a:p>
        </p:txBody>
      </p:sp>
    </p:spTree>
  </p:cSld>
  <p:clrMapOvr>
    <a:masterClrMapping/>
  </p:clrMapOvr>
  <p:transition>
    <p:dissolv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e la date 2"/>
          <p:cNvSpPr>
            <a:spLocks noGrp="1"/>
          </p:cNvSpPr>
          <p:nvPr>
            <p:ph type="dt" sz="half" idx="10"/>
          </p:nvPr>
        </p:nvSpPr>
        <p:spPr/>
        <p:txBody>
          <a:bodyPr/>
          <a:lstStyle/>
          <a:p>
            <a:fld id="{623EC95B-3EB2-4E78-AAAE-1B887D17A4BF}" type="datetime1">
              <a:rPr lang="fr-FR" smtClean="0"/>
              <a:t>13/06/2023</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55E9056B-6A30-4F99-BDE9-C450E66AE125}" type="slidenum">
              <a:rPr lang="fr-FR" smtClean="0"/>
              <a:pPr/>
              <a:t>‹#›</a:t>
            </a:fld>
            <a:endParaRPr lang="fr-FR"/>
          </a:p>
        </p:txBody>
      </p:sp>
    </p:spTree>
  </p:cSld>
  <p:clrMapOvr>
    <a:masterClrMapping/>
  </p:clrMapOvr>
  <p:transition>
    <p:dissolv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32923E92-28E7-48A8-B2AC-C9FA592DDDBD}" type="datetime1">
              <a:rPr lang="fr-FR" smtClean="0"/>
              <a:t>13/06/2023</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a:t>
            </a:fld>
            <a:endParaRPr lang="fr-FR"/>
          </a:p>
        </p:txBody>
      </p:sp>
    </p:spTree>
  </p:cSld>
  <p:clrMapOvr>
    <a:masterClrMapping/>
  </p:clrMapOvr>
  <p:transition>
    <p:dissolv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CC8B2B34-0509-4D74-8E7E-347437480B7F}" type="datetime1">
              <a:rPr lang="fr-FR" smtClean="0"/>
              <a:t>13/06/2023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5E9056B-6A30-4F99-BDE9-C450E66AE125}" type="slidenum">
              <a:rPr lang="fr-FR" smtClean="0"/>
              <a:pPr/>
              <a:t>‹#›</a:t>
            </a:fld>
            <a:endParaRPr lang="fr-FR"/>
          </a:p>
        </p:txBody>
      </p:sp>
    </p:spTree>
  </p:cSld>
  <p:clrMapOvr>
    <a:masterClrMapping/>
  </p:clrMapOvr>
  <p:transition>
    <p:dissolv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15A0D698-CBF2-42B0-B7E6-41FF22D965CD}" type="datetime1">
              <a:rPr lang="fr-FR" smtClean="0"/>
              <a:t>13/06/2023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5E9056B-6A30-4F99-BDE9-C450E66AE125}" type="slidenum">
              <a:rPr lang="fr-FR" smtClean="0"/>
              <a:pPr/>
              <a:t>‹#›</a:t>
            </a:fld>
            <a:endParaRPr lang="fr-FR"/>
          </a:p>
        </p:txBody>
      </p:sp>
    </p:spTree>
  </p:cSld>
  <p:clrMapOvr>
    <a:masterClrMapping/>
  </p:clrMapOvr>
  <p:transition>
    <p:dissolv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2A94E7B-AAD5-48D6-B163-E6D7834F1099}" type="datetime1">
              <a:rPr lang="fr-FR" smtClean="0"/>
              <a:t>13/06/2023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a:t>
            </a:fld>
            <a:endParaRPr lang="fr-FR"/>
          </a:p>
        </p:txBody>
      </p:sp>
    </p:spTree>
  </p:cSld>
  <p:clrMapOvr>
    <a:masterClrMapping/>
  </p:clrMapOvr>
  <p:transition>
    <p:dissolv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507D5E5B-BB39-4E1C-8B5A-D91C2D175DF9}" type="datetime1">
              <a:rPr lang="fr-FR" smtClean="0"/>
              <a:t>13/06/2023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a:t>
            </a:fld>
            <a:endParaRPr lang="fr-FR"/>
          </a:p>
        </p:txBody>
      </p:sp>
    </p:spTree>
  </p:cSld>
  <p:clrMapOvr>
    <a:masterClrMapping/>
  </p:clrMapOvr>
  <p:transition>
    <p:dissolv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16000"/>
            <a:lum/>
          </a:blip>
          <a:srcRect/>
          <a:stretch>
            <a:fillRect l="-7000" r="-7000"/>
          </a:stretch>
        </a:blip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pour modifier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9D46D0-C49D-4EEE-9D8A-EC32CF745708}" type="datetime1">
              <a:rPr lang="fr-FR" smtClean="0"/>
              <a:t>13/06/2023</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E9056B-6A30-4F99-BDE9-C450E66AE125}" type="slidenum">
              <a:rPr lang="fr-FR" smtClean="0"/>
              <a:pPr/>
              <a:t>‹#›</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dissolve/>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Autofit/>
          </a:bodyPr>
          <a:lstStyle/>
          <a:p>
            <a:pPr algn="ctr">
              <a:buNone/>
            </a:pPr>
            <a:endParaRPr lang="fr-BE" sz="5400" b="1" i="1" dirty="0">
              <a:latin typeface="Times New Roman" pitchFamily="18" charset="0"/>
              <a:cs typeface="Times New Roman" pitchFamily="18" charset="0"/>
            </a:endParaRPr>
          </a:p>
          <a:p>
            <a:pPr algn="ctr">
              <a:buNone/>
            </a:pPr>
            <a:r>
              <a:rPr lang="fr-BE" sz="5400" b="1" i="1" dirty="0">
                <a:latin typeface="Times New Roman" pitchFamily="18" charset="0"/>
                <a:cs typeface="Times New Roman" pitchFamily="18" charset="0"/>
              </a:rPr>
              <a:t>    Sanctions &amp; Dispo passive</a:t>
            </a:r>
          </a:p>
        </p:txBody>
      </p:sp>
      <p:sp>
        <p:nvSpPr>
          <p:cNvPr id="2" name="ZoneTexte 1"/>
          <p:cNvSpPr txBox="1"/>
          <p:nvPr/>
        </p:nvSpPr>
        <p:spPr>
          <a:xfrm>
            <a:off x="395536" y="6237312"/>
            <a:ext cx="2592288" cy="369332"/>
          </a:xfrm>
          <a:prstGeom prst="rect">
            <a:avLst/>
          </a:prstGeom>
          <a:noFill/>
        </p:spPr>
        <p:txBody>
          <a:bodyPr wrap="square" rtlCol="0">
            <a:spAutoFit/>
          </a:bodyPr>
          <a:lstStyle/>
          <a:p>
            <a:r>
              <a:rPr lang="fr-BE" dirty="0"/>
              <a:t>FLT- Version 13.06.2023</a:t>
            </a:r>
          </a:p>
        </p:txBody>
      </p:sp>
      <p:sp>
        <p:nvSpPr>
          <p:cNvPr id="4" name="Espace réservé du numéro de diapositive 3"/>
          <p:cNvSpPr>
            <a:spLocks noGrp="1"/>
          </p:cNvSpPr>
          <p:nvPr>
            <p:ph type="sldNum" sz="quarter" idx="12"/>
          </p:nvPr>
        </p:nvSpPr>
        <p:spPr/>
        <p:txBody>
          <a:bodyPr/>
          <a:lstStyle/>
          <a:p>
            <a:r>
              <a:rPr lang="fr-FR" dirty="0"/>
              <a:t>1</a:t>
            </a:r>
          </a:p>
        </p:txBody>
      </p:sp>
    </p:spTree>
    <p:extLst>
      <p:ext uri="{BB962C8B-B14F-4D97-AF65-F5344CB8AC3E}">
        <p14:creationId xmlns:p14="http://schemas.microsoft.com/office/powerpoint/2010/main" val="1672577438"/>
      </p:ext>
    </p:extLst>
  </p:cSld>
  <p:clrMapOvr>
    <a:masterClrMapping/>
  </p:clrMapOvr>
  <p:transition>
    <p:dissolv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re 10"/>
          <p:cNvSpPr>
            <a:spLocks noGrp="1"/>
          </p:cNvSpPr>
          <p:nvPr>
            <p:ph type="title"/>
          </p:nvPr>
        </p:nvSpPr>
        <p:spPr/>
        <p:txBody>
          <a:bodyPr>
            <a:normAutofit/>
          </a:bodyPr>
          <a:lstStyle/>
          <a:p>
            <a:r>
              <a:rPr lang="fr-BE" b="1" dirty="0">
                <a:solidFill>
                  <a:srgbClr val="C00000"/>
                </a:solidFill>
              </a:rPr>
              <a:t>TABLE DES MATIERES</a:t>
            </a:r>
            <a:endParaRPr lang="fr-BE" dirty="0"/>
          </a:p>
        </p:txBody>
      </p:sp>
      <p:sp>
        <p:nvSpPr>
          <p:cNvPr id="12" name="Espace réservé du contenu 11"/>
          <p:cNvSpPr>
            <a:spLocks noGrp="1"/>
          </p:cNvSpPr>
          <p:nvPr>
            <p:ph idx="1"/>
          </p:nvPr>
        </p:nvSpPr>
        <p:spPr>
          <a:xfrm>
            <a:off x="457200" y="1600200"/>
            <a:ext cx="8229600" cy="4756150"/>
          </a:xfrm>
        </p:spPr>
        <p:txBody>
          <a:bodyPr>
            <a:normAutofit fontScale="25000" lnSpcReduction="20000"/>
          </a:bodyPr>
          <a:lstStyle/>
          <a:p>
            <a:pPr marL="0" indent="0">
              <a:buNone/>
            </a:pPr>
            <a:r>
              <a:rPr lang="fr-BE" sz="9600" b="1" dirty="0">
                <a:latin typeface="Times New Roman" pitchFamily="18" charset="0"/>
                <a:cs typeface="Times New Roman" pitchFamily="18" charset="0"/>
              </a:rPr>
              <a:t>1. Les différents types de sanctions                                            	 </a:t>
            </a:r>
            <a:endParaRPr lang="fr-BE" sz="9600" dirty="0">
              <a:latin typeface="Times New Roman" pitchFamily="18" charset="0"/>
              <a:cs typeface="Times New Roman" pitchFamily="18" charset="0"/>
            </a:endParaRPr>
          </a:p>
          <a:p>
            <a:pPr marL="446088" indent="0">
              <a:buNone/>
            </a:pPr>
            <a:r>
              <a:rPr lang="fr-BE" sz="9600" dirty="0">
                <a:latin typeface="Times New Roman" pitchFamily="18" charset="0"/>
                <a:cs typeface="Times New Roman" pitchFamily="18" charset="0"/>
              </a:rPr>
              <a:t>1.1. Articles 51 à 54 : chômage volontaire		     6</a:t>
            </a:r>
          </a:p>
          <a:p>
            <a:pPr marL="533400" indent="0">
              <a:buNone/>
            </a:pPr>
            <a:r>
              <a:rPr lang="fr-BE" sz="9600" dirty="0">
                <a:latin typeface="Times New Roman" pitchFamily="18" charset="0"/>
                <a:cs typeface="Times New Roman" pitchFamily="18" charset="0"/>
              </a:rPr>
              <a:t>	1.1.1. Chômage par suite de circonstances dépendant                      	          de la volonté du travailleur 			     7</a:t>
            </a:r>
          </a:p>
          <a:p>
            <a:pPr marL="0" indent="0">
              <a:buNone/>
            </a:pPr>
            <a:r>
              <a:rPr lang="fr-BE" sz="9600" dirty="0">
                <a:latin typeface="Times New Roman" pitchFamily="18" charset="0"/>
                <a:cs typeface="Times New Roman" pitchFamily="18" charset="0"/>
              </a:rPr>
              <a:t>	1.1.2. Abandon d’emploi				   13</a:t>
            </a:r>
          </a:p>
          <a:p>
            <a:pPr marL="0" indent="0">
              <a:buNone/>
            </a:pPr>
            <a:r>
              <a:rPr lang="fr-BE" sz="9600" dirty="0">
                <a:latin typeface="Times New Roman" pitchFamily="18" charset="0"/>
                <a:cs typeface="Times New Roman" pitchFamily="18" charset="0"/>
              </a:rPr>
              <a:t>	1.1.3 Emploi convenable				   14</a:t>
            </a:r>
          </a:p>
          <a:p>
            <a:pPr marL="0" indent="0">
              <a:buNone/>
            </a:pPr>
            <a:r>
              <a:rPr lang="fr-BE" sz="9600" b="1" dirty="0">
                <a:latin typeface="Times New Roman" pitchFamily="18" charset="0"/>
                <a:cs typeface="Times New Roman" pitchFamily="18" charset="0"/>
              </a:rPr>
              <a:t>            </a:t>
            </a:r>
            <a:r>
              <a:rPr lang="fr-BE" sz="9600" dirty="0">
                <a:latin typeface="Times New Roman" pitchFamily="18" charset="0"/>
                <a:cs typeface="Times New Roman" pitchFamily="18" charset="0"/>
              </a:rPr>
              <a:t>1.1.4.</a:t>
            </a:r>
            <a:r>
              <a:rPr lang="fr-BE" sz="9600" b="1" dirty="0">
                <a:latin typeface="Times New Roman" pitchFamily="18" charset="0"/>
                <a:cs typeface="Times New Roman" pitchFamily="18" charset="0"/>
              </a:rPr>
              <a:t> </a:t>
            </a:r>
            <a:r>
              <a:rPr lang="fr-BE" sz="9600" dirty="0">
                <a:latin typeface="Times New Roman" pitchFamily="18" charset="0"/>
                <a:cs typeface="Times New Roman" pitchFamily="18" charset="0"/>
              </a:rPr>
              <a:t>Exclusions			   	   	   16 </a:t>
            </a:r>
          </a:p>
          <a:p>
            <a:pPr marL="0" indent="0">
              <a:buNone/>
            </a:pPr>
            <a:r>
              <a:rPr lang="fr-BE" sz="9600" dirty="0">
                <a:latin typeface="Times New Roman" pitchFamily="18" charset="0"/>
                <a:cs typeface="Times New Roman" pitchFamily="18" charset="0"/>
              </a:rPr>
              <a:t>		6</a:t>
            </a:r>
            <a:r>
              <a:rPr lang="fr-BE" sz="9600" baseline="30000" dirty="0">
                <a:latin typeface="Times New Roman" pitchFamily="18" charset="0"/>
                <a:cs typeface="Times New Roman" pitchFamily="18" charset="0"/>
              </a:rPr>
              <a:t>ème</a:t>
            </a:r>
            <a:r>
              <a:rPr lang="fr-BE" sz="9600" dirty="0">
                <a:latin typeface="Times New Roman" pitchFamily="18" charset="0"/>
                <a:cs typeface="Times New Roman" pitchFamily="18" charset="0"/>
              </a:rPr>
              <a:t> réforme de l’état				   17</a:t>
            </a:r>
          </a:p>
          <a:p>
            <a:pPr marL="0" indent="0">
              <a:buNone/>
            </a:pPr>
            <a:r>
              <a:rPr lang="fr-BE" sz="9600" dirty="0">
                <a:latin typeface="Times New Roman" pitchFamily="18" charset="0"/>
                <a:cs typeface="Times New Roman" pitchFamily="18" charset="0"/>
              </a:rPr>
              <a:t>		Prise de cours des sanctions   			   18        </a:t>
            </a:r>
          </a:p>
          <a:p>
            <a:pPr marL="0" indent="0">
              <a:buNone/>
            </a:pPr>
            <a:r>
              <a:rPr lang="fr-BE" sz="9600" dirty="0">
                <a:latin typeface="Times New Roman" pitchFamily="18" charset="0"/>
                <a:cs typeface="Times New Roman" pitchFamily="18" charset="0"/>
              </a:rPr>
              <a:t>		Enquête					   19          </a:t>
            </a:r>
          </a:p>
          <a:p>
            <a:pPr marL="0" indent="0">
              <a:buNone/>
            </a:pPr>
            <a:r>
              <a:rPr lang="fr-BE" sz="9600" dirty="0">
                <a:latin typeface="Times New Roman" pitchFamily="18" charset="0"/>
                <a:cs typeface="Times New Roman" pitchFamily="18" charset="0"/>
              </a:rPr>
              <a:t>		Cumul		 				   22           </a:t>
            </a:r>
          </a:p>
          <a:p>
            <a:pPr marL="0" indent="0">
              <a:buNone/>
            </a:pPr>
            <a:r>
              <a:rPr lang="fr-BE" sz="9600" dirty="0">
                <a:latin typeface="Times New Roman" pitchFamily="18" charset="0"/>
                <a:cs typeface="Times New Roman" pitchFamily="18" charset="0"/>
              </a:rPr>
              <a:t>		Maladie 					   23          </a:t>
            </a:r>
          </a:p>
          <a:p>
            <a:pPr marL="0" indent="0">
              <a:buNone/>
            </a:pPr>
            <a:r>
              <a:rPr lang="fr-BE" sz="9600" dirty="0">
                <a:latin typeface="Times New Roman" pitchFamily="18" charset="0"/>
                <a:cs typeface="Times New Roman" pitchFamily="18" charset="0"/>
              </a:rPr>
              <a:t>		Avertissement-Sursis				   24</a:t>
            </a:r>
            <a:r>
              <a:rPr lang="fr-BE" sz="4500" b="1" dirty="0">
                <a:latin typeface="Times New Roman" pitchFamily="18" charset="0"/>
                <a:cs typeface="Times New Roman" pitchFamily="18" charset="0"/>
              </a:rPr>
              <a:t>	   	</a:t>
            </a:r>
            <a:r>
              <a:rPr lang="fr-BE" b="1" dirty="0">
                <a:latin typeface="Times New Roman" pitchFamily="18" charset="0"/>
                <a:cs typeface="Times New Roman" pitchFamily="18" charset="0"/>
              </a:rPr>
              <a:t>	                		</a:t>
            </a:r>
            <a:endParaRPr lang="fr-BE" sz="2900" dirty="0">
              <a:latin typeface="Times New Roman" pitchFamily="18" charset="0"/>
              <a:cs typeface="Times New Roman" pitchFamily="18" charset="0"/>
            </a:endParaRPr>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2</a:t>
            </a:fld>
            <a:endParaRPr lang="fr-FR"/>
          </a:p>
        </p:txBody>
      </p:sp>
    </p:spTree>
    <p:extLst>
      <p:ext uri="{BB962C8B-B14F-4D97-AF65-F5344CB8AC3E}">
        <p14:creationId xmlns:p14="http://schemas.microsoft.com/office/powerpoint/2010/main" val="22112682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re 10"/>
          <p:cNvSpPr>
            <a:spLocks noGrp="1"/>
          </p:cNvSpPr>
          <p:nvPr>
            <p:ph type="title"/>
          </p:nvPr>
        </p:nvSpPr>
        <p:spPr/>
        <p:txBody>
          <a:bodyPr>
            <a:normAutofit/>
          </a:bodyPr>
          <a:lstStyle/>
          <a:p>
            <a:r>
              <a:rPr lang="fr-BE" b="1" dirty="0">
                <a:solidFill>
                  <a:srgbClr val="C00000"/>
                </a:solidFill>
              </a:rPr>
              <a:t>TABLE DES MATIERES</a:t>
            </a:r>
            <a:endParaRPr lang="fr-BE" dirty="0"/>
          </a:p>
        </p:txBody>
      </p:sp>
      <p:sp>
        <p:nvSpPr>
          <p:cNvPr id="12" name="Espace réservé du contenu 11"/>
          <p:cNvSpPr>
            <a:spLocks noGrp="1"/>
          </p:cNvSpPr>
          <p:nvPr>
            <p:ph idx="1"/>
          </p:nvPr>
        </p:nvSpPr>
        <p:spPr/>
        <p:txBody>
          <a:bodyPr>
            <a:normAutofit fontScale="25000" lnSpcReduction="20000"/>
          </a:bodyPr>
          <a:lstStyle/>
          <a:p>
            <a:pPr marL="0" indent="0">
              <a:buNone/>
            </a:pPr>
            <a:r>
              <a:rPr lang="fr-BE" b="1" dirty="0">
                <a:latin typeface="Times New Roman" pitchFamily="18" charset="0"/>
                <a:cs typeface="Times New Roman" pitchFamily="18" charset="0"/>
              </a:rPr>
              <a:t>		                	</a:t>
            </a:r>
            <a:endParaRPr lang="fr-BE" sz="2900" dirty="0">
              <a:latin typeface="Times New Roman" pitchFamily="18" charset="0"/>
              <a:cs typeface="Times New Roman" pitchFamily="18" charset="0"/>
            </a:endParaRPr>
          </a:p>
          <a:p>
            <a:pPr marL="446088" indent="0">
              <a:buNone/>
              <a:tabLst>
                <a:tab pos="446088" algn="l"/>
              </a:tabLst>
            </a:pPr>
            <a:r>
              <a:rPr lang="fr-BE" sz="9600" dirty="0">
                <a:latin typeface="Times New Roman" pitchFamily="18" charset="0"/>
                <a:cs typeface="Times New Roman" pitchFamily="18" charset="0"/>
              </a:rPr>
              <a:t>1.2. Les sanctions administratives 			 26</a:t>
            </a:r>
          </a:p>
          <a:p>
            <a:pPr marL="0" indent="0">
              <a:buNone/>
            </a:pPr>
            <a:r>
              <a:rPr lang="fr-BE" sz="9600" b="1" dirty="0">
                <a:latin typeface="Times New Roman" pitchFamily="18" charset="0"/>
                <a:cs typeface="Times New Roman" pitchFamily="18" charset="0"/>
              </a:rPr>
              <a:t> 	</a:t>
            </a:r>
            <a:r>
              <a:rPr lang="fr-BE" sz="9600" dirty="0">
                <a:latin typeface="Times New Roman" pitchFamily="18" charset="0"/>
                <a:cs typeface="Times New Roman" pitchFamily="18" charset="0"/>
              </a:rPr>
              <a:t>1.2.1. AR 153				                	 27                 </a:t>
            </a:r>
          </a:p>
          <a:p>
            <a:pPr marL="0" indent="0">
              <a:buNone/>
            </a:pPr>
            <a:r>
              <a:rPr lang="fr-BE" sz="9600" dirty="0">
                <a:latin typeface="Times New Roman" pitchFamily="18" charset="0"/>
                <a:cs typeface="Times New Roman" pitchFamily="18" charset="0"/>
              </a:rPr>
              <a:t>	1.2.2. AR 154					           	 29     </a:t>
            </a:r>
          </a:p>
          <a:p>
            <a:pPr marL="0" indent="0">
              <a:buNone/>
            </a:pPr>
            <a:r>
              <a:rPr lang="fr-BE" sz="9600" dirty="0">
                <a:latin typeface="Times New Roman" pitchFamily="18" charset="0"/>
                <a:cs typeface="Times New Roman" pitchFamily="18" charset="0"/>
              </a:rPr>
              <a:t>	1.2.3. AR 155						 33</a:t>
            </a:r>
          </a:p>
          <a:p>
            <a:pPr marL="0" indent="0">
              <a:buNone/>
            </a:pPr>
            <a:r>
              <a:rPr lang="fr-BE" sz="9600" dirty="0">
                <a:latin typeface="Times New Roman" pitchFamily="18" charset="0"/>
                <a:cs typeface="Times New Roman" pitchFamily="18" charset="0"/>
              </a:rPr>
              <a:t>	1.2.4. La récidive                                                         34                                             </a:t>
            </a:r>
          </a:p>
          <a:p>
            <a:pPr marL="0" indent="0">
              <a:buNone/>
            </a:pPr>
            <a:r>
              <a:rPr lang="fr-BE" sz="9600" dirty="0">
                <a:latin typeface="Times New Roman" pitchFamily="18" charset="0"/>
                <a:cs typeface="Times New Roman" pitchFamily="18" charset="0"/>
              </a:rPr>
              <a:t>	1.2.5. Gestion administrative	           			 35</a:t>
            </a:r>
          </a:p>
          <a:p>
            <a:pPr marL="446088" indent="0">
              <a:buNone/>
            </a:pPr>
            <a:r>
              <a:rPr lang="fr-BE" sz="9600" dirty="0">
                <a:latin typeface="Times New Roman" pitchFamily="18" charset="0"/>
                <a:cs typeface="Times New Roman" pitchFamily="18" charset="0"/>
              </a:rPr>
              <a:t>1.3. Droit aux AF et aux bons INAMI			 36</a:t>
            </a:r>
          </a:p>
          <a:p>
            <a:pPr marL="446088" indent="0">
              <a:buNone/>
            </a:pPr>
            <a:r>
              <a:rPr lang="fr-BE" sz="9600" dirty="0">
                <a:latin typeface="Times New Roman" pitchFamily="18" charset="0"/>
                <a:cs typeface="Times New Roman" pitchFamily="18" charset="0"/>
              </a:rPr>
              <a:t>1.4. Gestion informatique et papier</a:t>
            </a:r>
            <a:r>
              <a:rPr lang="fr-BE" sz="9600" b="1" dirty="0">
                <a:latin typeface="Times New Roman" pitchFamily="18" charset="0"/>
                <a:cs typeface="Times New Roman" pitchFamily="18" charset="0"/>
              </a:rPr>
              <a:t>			 </a:t>
            </a:r>
            <a:r>
              <a:rPr lang="fr-BE" sz="9600" dirty="0">
                <a:latin typeface="Times New Roman" pitchFamily="18" charset="0"/>
                <a:cs typeface="Times New Roman" pitchFamily="18" charset="0"/>
              </a:rPr>
              <a:t>37</a:t>
            </a:r>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3</a:t>
            </a:fld>
            <a:endParaRPr lang="fr-FR"/>
          </a:p>
        </p:txBody>
      </p:sp>
    </p:spTree>
    <p:extLst>
      <p:ext uri="{BB962C8B-B14F-4D97-AF65-F5344CB8AC3E}">
        <p14:creationId xmlns:p14="http://schemas.microsoft.com/office/powerpoint/2010/main" val="618326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BE" b="1" dirty="0">
                <a:solidFill>
                  <a:srgbClr val="C00000"/>
                </a:solidFill>
              </a:rPr>
              <a:t>TABLE DES MATIERES</a:t>
            </a:r>
            <a:endParaRPr lang="fr-BE" dirty="0"/>
          </a:p>
        </p:txBody>
      </p:sp>
      <p:sp>
        <p:nvSpPr>
          <p:cNvPr id="3" name="Espace réservé du contenu 2"/>
          <p:cNvSpPr>
            <a:spLocks noGrp="1"/>
          </p:cNvSpPr>
          <p:nvPr>
            <p:ph idx="1"/>
          </p:nvPr>
        </p:nvSpPr>
        <p:spPr>
          <a:xfrm>
            <a:off x="395536" y="1628800"/>
            <a:ext cx="8229600" cy="4525963"/>
          </a:xfrm>
        </p:spPr>
        <p:txBody>
          <a:bodyPr>
            <a:normAutofit fontScale="85000" lnSpcReduction="10000"/>
          </a:bodyPr>
          <a:lstStyle/>
          <a:p>
            <a:pPr marL="0" indent="0">
              <a:buNone/>
            </a:pPr>
            <a:r>
              <a:rPr lang="fr-BE" sz="2800" b="1" dirty="0">
                <a:latin typeface="Times New Roman" pitchFamily="18" charset="0"/>
                <a:cs typeface="Times New Roman" pitchFamily="18" charset="0"/>
              </a:rPr>
              <a:t>2. Particularités</a:t>
            </a:r>
          </a:p>
          <a:p>
            <a:pPr marL="452438" indent="0">
              <a:buNone/>
            </a:pPr>
            <a:r>
              <a:rPr lang="fr-BE" sz="2800" dirty="0">
                <a:latin typeface="Times New Roman" pitchFamily="18" charset="0"/>
                <a:cs typeface="Times New Roman" pitchFamily="18" charset="0"/>
              </a:rPr>
              <a:t>2.1. Article  58						     39</a:t>
            </a:r>
          </a:p>
          <a:p>
            <a:pPr marL="452438" indent="0">
              <a:buNone/>
            </a:pPr>
            <a:r>
              <a:rPr lang="fr-BE" sz="2800" dirty="0">
                <a:latin typeface="Times New Roman" pitchFamily="18" charset="0"/>
                <a:cs typeface="Times New Roman" pitchFamily="18" charset="0"/>
              </a:rPr>
              <a:t>2.2. Article 70						     42</a:t>
            </a:r>
          </a:p>
          <a:p>
            <a:pPr marL="452438" indent="0">
              <a:buNone/>
            </a:pPr>
            <a:r>
              <a:rPr lang="fr-BE" sz="2800" dirty="0">
                <a:latin typeface="Times New Roman" pitchFamily="18" charset="0"/>
                <a:cs typeface="Times New Roman" pitchFamily="18" charset="0"/>
              </a:rPr>
              <a:t>2.3. Indisponibilité sur le marché de l’emploi 		     45</a:t>
            </a:r>
          </a:p>
          <a:p>
            <a:pPr marL="452438" indent="0">
              <a:buNone/>
            </a:pPr>
            <a:r>
              <a:rPr lang="fr-BE" sz="2800" dirty="0">
                <a:latin typeface="Times New Roman" pitchFamily="18" charset="0"/>
                <a:cs typeface="Times New Roman" pitchFamily="18" charset="0"/>
              </a:rPr>
              <a:t>	2.3.1. Indisponibilité objective                                        46</a:t>
            </a:r>
          </a:p>
          <a:p>
            <a:pPr marL="452438" indent="0">
              <a:buNone/>
            </a:pPr>
            <a:r>
              <a:rPr lang="fr-BE" sz="2800" dirty="0">
                <a:latin typeface="Times New Roman" pitchFamily="18" charset="0"/>
                <a:cs typeface="Times New Roman" pitchFamily="18" charset="0"/>
              </a:rPr>
              <a:t>	2.3.2. Indisponibilité subjective			     47</a:t>
            </a:r>
          </a:p>
          <a:p>
            <a:pPr marL="452438" indent="0">
              <a:buNone/>
            </a:pPr>
            <a:r>
              <a:rPr lang="fr-BE" sz="2800" dirty="0">
                <a:latin typeface="Times New Roman" pitchFamily="18" charset="0"/>
                <a:cs typeface="Times New Roman" pitchFamily="18" charset="0"/>
              </a:rPr>
              <a:t>	2.3.3. Conséquences de l’indisponibilité	  	     48</a:t>
            </a:r>
          </a:p>
          <a:p>
            <a:pPr marL="452438" indent="0">
              <a:buNone/>
            </a:pPr>
            <a:r>
              <a:rPr lang="fr-BE" sz="2800" dirty="0">
                <a:latin typeface="Times New Roman" pitchFamily="18" charset="0"/>
                <a:cs typeface="Times New Roman" pitchFamily="18" charset="0"/>
              </a:rPr>
              <a:t>	2.3.4. Fin de l’exclusion			    	     49</a:t>
            </a:r>
          </a:p>
          <a:p>
            <a:pPr marL="452438" indent="0">
              <a:buNone/>
            </a:pPr>
            <a:endParaRPr lang="fr-BE" sz="2800" dirty="0">
              <a:latin typeface="Times New Roman" pitchFamily="18" charset="0"/>
              <a:cs typeface="Times New Roman" pitchFamily="18" charset="0"/>
            </a:endParaRPr>
          </a:p>
          <a:p>
            <a:pPr marL="452438" indent="0">
              <a:buNone/>
            </a:pPr>
            <a:endParaRPr lang="fr-BE" sz="2600" dirty="0">
              <a:latin typeface="Times New Roman" pitchFamily="18" charset="0"/>
              <a:cs typeface="Times New Roman" pitchFamily="18" charset="0"/>
            </a:endParaRPr>
          </a:p>
          <a:p>
            <a:pPr marL="452438" indent="0">
              <a:buNone/>
            </a:pPr>
            <a:endParaRPr lang="fr-BE" sz="2600" dirty="0">
              <a:latin typeface="Times New Roman" pitchFamily="18" charset="0"/>
              <a:cs typeface="Times New Roman" pitchFamily="18" charset="0"/>
            </a:endParaRPr>
          </a:p>
          <a:p>
            <a:pPr marL="0" indent="0">
              <a:buNone/>
            </a:pPr>
            <a:endParaRPr lang="fr-BE"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4</a:t>
            </a:fld>
            <a:endParaRPr lang="fr-FR"/>
          </a:p>
        </p:txBody>
      </p:sp>
    </p:spTree>
    <p:extLst>
      <p:ext uri="{BB962C8B-B14F-4D97-AF65-F5344CB8AC3E}">
        <p14:creationId xmlns:p14="http://schemas.microsoft.com/office/powerpoint/2010/main" val="27360844"/>
      </p:ext>
    </p:extLst>
  </p:cSld>
  <p:clrMapOvr>
    <a:masterClrMapping/>
  </p:clrMapOvr>
  <p:transition>
    <p:dissolv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BE" b="1" i="1" dirty="0">
                <a:latin typeface="Times New Roman" pitchFamily="18" charset="0"/>
                <a:cs typeface="Times New Roman" pitchFamily="18" charset="0"/>
              </a:rPr>
              <a:t>1. Les différents types de Sanctions</a:t>
            </a:r>
            <a:endParaRPr lang="en-US" b="1" i="1" dirty="0">
              <a:latin typeface="Times New Roman" pitchFamily="18" charset="0"/>
              <a:cs typeface="Times New Roman" pitchFamily="18" charset="0"/>
            </a:endParaRPr>
          </a:p>
        </p:txBody>
      </p:sp>
      <p:sp>
        <p:nvSpPr>
          <p:cNvPr id="3" name="Espace réservé du contenu 2"/>
          <p:cNvSpPr>
            <a:spLocks noGrp="1"/>
          </p:cNvSpPr>
          <p:nvPr>
            <p:ph idx="1"/>
          </p:nvPr>
        </p:nvSpPr>
        <p:spPr/>
        <p:txBody>
          <a:bodyPr>
            <a:normAutofit fontScale="92500" lnSpcReduction="10000"/>
          </a:bodyPr>
          <a:lstStyle/>
          <a:p>
            <a:pPr>
              <a:buFont typeface="Wingdings" pitchFamily="2" charset="2"/>
              <a:buChar char="ü"/>
            </a:pPr>
            <a:r>
              <a:rPr lang="fr-BE" dirty="0">
                <a:latin typeface="Times New Roman" pitchFamily="18" charset="0"/>
                <a:cs typeface="Times New Roman" pitchFamily="18" charset="0"/>
              </a:rPr>
              <a:t>Articles </a:t>
            </a:r>
            <a:r>
              <a:rPr lang="fr-BE" dirty="0">
                <a:solidFill>
                  <a:srgbClr val="0033CC"/>
                </a:solidFill>
                <a:latin typeface="Times New Roman" pitchFamily="18" charset="0"/>
                <a:cs typeface="Times New Roman" pitchFamily="18" charset="0"/>
              </a:rPr>
              <a:t>51 à 54 </a:t>
            </a:r>
            <a:r>
              <a:rPr lang="fr-BE" dirty="0">
                <a:latin typeface="Times New Roman" pitchFamily="18" charset="0"/>
                <a:cs typeface="Times New Roman" pitchFamily="18" charset="0"/>
              </a:rPr>
              <a:t>: chômage volontaire</a:t>
            </a:r>
          </a:p>
          <a:p>
            <a:pPr>
              <a:buFont typeface="Wingdings" pitchFamily="2" charset="2"/>
              <a:buChar char="ü"/>
            </a:pPr>
            <a:endParaRPr lang="fr-BE" dirty="0">
              <a:latin typeface="Times New Roman" pitchFamily="18" charset="0"/>
              <a:cs typeface="Times New Roman" pitchFamily="18" charset="0"/>
            </a:endParaRPr>
          </a:p>
          <a:p>
            <a:pPr>
              <a:buFont typeface="Wingdings" pitchFamily="2" charset="2"/>
              <a:buChar char="ü"/>
            </a:pPr>
            <a:r>
              <a:rPr lang="fr-BE" dirty="0">
                <a:latin typeface="Times New Roman" pitchFamily="18" charset="0"/>
                <a:cs typeface="Times New Roman" pitchFamily="18" charset="0"/>
              </a:rPr>
              <a:t>Article </a:t>
            </a:r>
            <a:r>
              <a:rPr lang="fr-BE" dirty="0">
                <a:solidFill>
                  <a:srgbClr val="0033CC"/>
                </a:solidFill>
                <a:latin typeface="Times New Roman" pitchFamily="18" charset="0"/>
                <a:cs typeface="Times New Roman" pitchFamily="18" charset="0"/>
              </a:rPr>
              <a:t>153</a:t>
            </a:r>
            <a:r>
              <a:rPr lang="fr-BE" dirty="0">
                <a:latin typeface="Times New Roman" pitchFamily="18" charset="0"/>
                <a:cs typeface="Times New Roman" pitchFamily="18" charset="0"/>
              </a:rPr>
              <a:t> : déclaration inexacte </a:t>
            </a:r>
            <a:br>
              <a:rPr lang="fr-BE" dirty="0">
                <a:latin typeface="Times New Roman" pitchFamily="18" charset="0"/>
                <a:cs typeface="Times New Roman" pitchFamily="18" charset="0"/>
              </a:rPr>
            </a:br>
            <a:r>
              <a:rPr lang="fr-BE" dirty="0">
                <a:latin typeface="Times New Roman" pitchFamily="18" charset="0"/>
                <a:cs typeface="Times New Roman" pitchFamily="18" charset="0"/>
              </a:rPr>
              <a:t>                     ou absence de déclaration</a:t>
            </a:r>
          </a:p>
          <a:p>
            <a:pPr>
              <a:buFont typeface="Wingdings" pitchFamily="2" charset="2"/>
              <a:buChar char="ü"/>
            </a:pPr>
            <a:endParaRPr lang="fr-BE" dirty="0">
              <a:latin typeface="Times New Roman" pitchFamily="18" charset="0"/>
              <a:cs typeface="Times New Roman" pitchFamily="18" charset="0"/>
            </a:endParaRPr>
          </a:p>
          <a:p>
            <a:pPr>
              <a:buFont typeface="Wingdings" pitchFamily="2" charset="2"/>
              <a:buChar char="ü"/>
            </a:pPr>
            <a:r>
              <a:rPr lang="fr-BE" dirty="0">
                <a:latin typeface="Times New Roman" pitchFamily="18" charset="0"/>
                <a:cs typeface="Times New Roman" pitchFamily="18" charset="0"/>
              </a:rPr>
              <a:t>Article </a:t>
            </a:r>
            <a:r>
              <a:rPr lang="fr-BE" dirty="0">
                <a:solidFill>
                  <a:srgbClr val="0033CC"/>
                </a:solidFill>
                <a:latin typeface="Times New Roman" pitchFamily="18" charset="0"/>
                <a:cs typeface="Times New Roman" pitchFamily="18" charset="0"/>
              </a:rPr>
              <a:t>154</a:t>
            </a:r>
            <a:r>
              <a:rPr lang="fr-BE" dirty="0">
                <a:latin typeface="Times New Roman" pitchFamily="18" charset="0"/>
                <a:cs typeface="Times New Roman" pitchFamily="18" charset="0"/>
              </a:rPr>
              <a:t> : remplissage carte de contrôle</a:t>
            </a:r>
          </a:p>
          <a:p>
            <a:pPr>
              <a:buFont typeface="Wingdings" pitchFamily="2" charset="2"/>
              <a:buChar char="ü"/>
            </a:pPr>
            <a:endParaRPr lang="fr-BE" dirty="0">
              <a:latin typeface="Times New Roman" pitchFamily="18" charset="0"/>
              <a:cs typeface="Times New Roman" pitchFamily="18" charset="0"/>
            </a:endParaRPr>
          </a:p>
          <a:p>
            <a:pPr>
              <a:buFont typeface="Wingdings" pitchFamily="2" charset="2"/>
              <a:buChar char="ü"/>
            </a:pPr>
            <a:r>
              <a:rPr lang="fr-BE" dirty="0">
                <a:latin typeface="Times New Roman" pitchFamily="18" charset="0"/>
                <a:cs typeface="Times New Roman" pitchFamily="18" charset="0"/>
              </a:rPr>
              <a:t>Article </a:t>
            </a:r>
            <a:r>
              <a:rPr lang="fr-BE" dirty="0">
                <a:solidFill>
                  <a:srgbClr val="0033CC"/>
                </a:solidFill>
                <a:latin typeface="Times New Roman" pitchFamily="18" charset="0"/>
                <a:cs typeface="Times New Roman" pitchFamily="18" charset="0"/>
              </a:rPr>
              <a:t>155</a:t>
            </a:r>
            <a:r>
              <a:rPr lang="fr-BE" dirty="0">
                <a:latin typeface="Times New Roman" pitchFamily="18" charset="0"/>
                <a:cs typeface="Times New Roman" pitchFamily="18" charset="0"/>
              </a:rPr>
              <a:t> : fraudes </a:t>
            </a:r>
            <a:endParaRPr lang="fr-FR" dirty="0">
              <a:latin typeface="Times New Roman" pitchFamily="18" charset="0"/>
              <a:cs typeface="Times New Roman" pitchFamily="18" charset="0"/>
            </a:endParaRPr>
          </a:p>
          <a:p>
            <a:pPr>
              <a:buNone/>
            </a:pPr>
            <a:r>
              <a:rPr lang="fr-BE" i="1" dirty="0">
                <a:solidFill>
                  <a:schemeClr val="hlink"/>
                </a:solidFill>
                <a:latin typeface="Times New Roman" pitchFamily="18" charset="0"/>
                <a:cs typeface="Times New Roman" pitchFamily="18" charset="0"/>
              </a:rPr>
              <a:t>	</a:t>
            </a:r>
            <a:endParaRPr lang="fr-FR" i="1" dirty="0">
              <a:solidFill>
                <a:schemeClr val="hlink"/>
              </a:solidFill>
              <a:latin typeface="Times New Roman" pitchFamily="18" charset="0"/>
              <a:cs typeface="Times New Roman" pitchFamily="18" charset="0"/>
            </a:endParaRPr>
          </a:p>
          <a:p>
            <a:pPr>
              <a:buNone/>
            </a:pPr>
            <a:endParaRPr lang="en-US"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5</a:t>
            </a:fld>
            <a:endParaRPr lang="fr-FR"/>
          </a:p>
        </p:txBody>
      </p:sp>
    </p:spTree>
    <p:extLst>
      <p:ext uri="{BB962C8B-B14F-4D97-AF65-F5344CB8AC3E}">
        <p14:creationId xmlns:p14="http://schemas.microsoft.com/office/powerpoint/2010/main" val="3807934392"/>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67544" y="1412776"/>
            <a:ext cx="8229600" cy="4525963"/>
          </a:xfrm>
        </p:spPr>
        <p:txBody>
          <a:bodyPr/>
          <a:lstStyle/>
          <a:p>
            <a:endParaRPr lang="fr-BE" dirty="0"/>
          </a:p>
          <a:p>
            <a:pPr marL="0" indent="0" algn="ctr">
              <a:buNone/>
            </a:pPr>
            <a:endParaRPr lang="fr-BE" dirty="0"/>
          </a:p>
          <a:p>
            <a:pPr marL="0" indent="0" algn="ctr">
              <a:buNone/>
            </a:pPr>
            <a:r>
              <a:rPr lang="fr-BE" sz="4400" dirty="0">
                <a:latin typeface="Times New Roman" pitchFamily="18" charset="0"/>
                <a:cs typeface="Times New Roman" pitchFamily="18" charset="0"/>
              </a:rPr>
              <a:t>1.1 Articles 51 à 54: Chômage volontaire</a:t>
            </a:r>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6</a:t>
            </a:fld>
            <a:endParaRPr lang="fr-FR"/>
          </a:p>
        </p:txBody>
      </p:sp>
    </p:spTree>
    <p:extLst>
      <p:ext uri="{BB962C8B-B14F-4D97-AF65-F5344CB8AC3E}">
        <p14:creationId xmlns:p14="http://schemas.microsoft.com/office/powerpoint/2010/main" val="1462515870"/>
      </p:ext>
    </p:extLst>
  </p:cSld>
  <p:clrMapOvr>
    <a:masterClrMapping/>
  </p:clrMapOvr>
  <p:transition>
    <p:dissolv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BE" b="1" i="1" dirty="0">
                <a:latin typeface="Times New Roman" pitchFamily="18" charset="0"/>
                <a:cs typeface="Times New Roman" pitchFamily="18" charset="0"/>
              </a:rPr>
              <a:t>Article 51 </a:t>
            </a:r>
            <a:endParaRPr lang="en-US" b="1" i="1" dirty="0">
              <a:latin typeface="Times New Roman" pitchFamily="18" charset="0"/>
              <a:cs typeface="Times New Roman" pitchFamily="18" charset="0"/>
            </a:endParaRPr>
          </a:p>
        </p:txBody>
      </p:sp>
      <p:sp>
        <p:nvSpPr>
          <p:cNvPr id="3" name="Espace réservé du contenu 2"/>
          <p:cNvSpPr>
            <a:spLocks noGrp="1"/>
          </p:cNvSpPr>
          <p:nvPr>
            <p:ph idx="1"/>
          </p:nvPr>
        </p:nvSpPr>
        <p:spPr/>
        <p:txBody>
          <a:bodyPr/>
          <a:lstStyle/>
          <a:p>
            <a:pPr marL="0" indent="0">
              <a:buNone/>
            </a:pPr>
            <a:r>
              <a:rPr lang="fr-BE" b="1" dirty="0">
                <a:latin typeface="Times New Roman" pitchFamily="18" charset="0"/>
                <a:cs typeface="Times New Roman" pitchFamily="18" charset="0"/>
              </a:rPr>
              <a:t>Le travailleur qui est ou devient chômeur par suite de circonstances dépendantes de sa volonté, peut être exclu du bénéfice des allocations de chômage conformément aux dispositions des articles 52 à 54.</a:t>
            </a:r>
            <a:endParaRPr lang="fr-FR" b="1" dirty="0">
              <a:latin typeface="Times New Roman" pitchFamily="18" charset="0"/>
              <a:cs typeface="Times New Roman" pitchFamily="18" charset="0"/>
            </a:endParaRPr>
          </a:p>
          <a:p>
            <a:endParaRPr lang="en-US"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7</a:t>
            </a:fld>
            <a:endParaRPr lang="fr-FR"/>
          </a:p>
        </p:txBody>
      </p:sp>
    </p:spTree>
    <p:extLst>
      <p:ext uri="{BB962C8B-B14F-4D97-AF65-F5344CB8AC3E}">
        <p14:creationId xmlns:p14="http://schemas.microsoft.com/office/powerpoint/2010/main" val="933786950"/>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BE" b="1" i="1" dirty="0">
                <a:latin typeface="Times New Roman" pitchFamily="18" charset="0"/>
                <a:cs typeface="Times New Roman" pitchFamily="18" charset="0"/>
              </a:rPr>
              <a:t>Chômage par suite de circonstances dépendant de la volonté du travailleur</a:t>
            </a:r>
            <a:endParaRPr lang="en-US" i="1" dirty="0">
              <a:latin typeface="Times New Roman" pitchFamily="18" charset="0"/>
              <a:cs typeface="Times New Roman" pitchFamily="18" charset="0"/>
            </a:endParaRPr>
          </a:p>
        </p:txBody>
      </p:sp>
      <p:sp>
        <p:nvSpPr>
          <p:cNvPr id="3" name="Espace réservé du contenu 2"/>
          <p:cNvSpPr>
            <a:spLocks noGrp="1"/>
          </p:cNvSpPr>
          <p:nvPr>
            <p:ph idx="1"/>
          </p:nvPr>
        </p:nvSpPr>
        <p:spPr>
          <a:xfrm>
            <a:off x="457200" y="1600200"/>
            <a:ext cx="8229600" cy="4565103"/>
          </a:xfrm>
        </p:spPr>
        <p:txBody>
          <a:bodyPr>
            <a:normAutofit fontScale="77500" lnSpcReduction="20000"/>
          </a:bodyPr>
          <a:lstStyle/>
          <a:p>
            <a:pPr hangingPunct="0">
              <a:buNone/>
            </a:pPr>
            <a:r>
              <a:rPr lang="fr-BE" sz="3600" b="1" u="sng" dirty="0">
                <a:latin typeface="Times New Roman" pitchFamily="18" charset="0"/>
                <a:cs typeface="Times New Roman" pitchFamily="18" charset="0"/>
              </a:rPr>
              <a:t>Il faut entendre </a:t>
            </a:r>
            <a:r>
              <a:rPr lang="fr-BE" sz="3600" u="sng" dirty="0">
                <a:latin typeface="Times New Roman" pitchFamily="18" charset="0"/>
                <a:cs typeface="Times New Roman" pitchFamily="18" charset="0"/>
              </a:rPr>
              <a:t>:</a:t>
            </a:r>
            <a:endParaRPr lang="en-US" sz="3600" u="sng" dirty="0">
              <a:latin typeface="Times New Roman" pitchFamily="18" charset="0"/>
              <a:cs typeface="Times New Roman" pitchFamily="18" charset="0"/>
            </a:endParaRPr>
          </a:p>
          <a:p>
            <a:pPr hangingPunct="0">
              <a:buFont typeface="Wingdings" pitchFamily="2" charset="2"/>
              <a:buChar char="ü"/>
            </a:pPr>
            <a:r>
              <a:rPr lang="fr-BE" sz="3300" dirty="0">
                <a:latin typeface="Times New Roman" pitchFamily="18" charset="0"/>
                <a:cs typeface="Times New Roman" pitchFamily="18" charset="0"/>
              </a:rPr>
              <a:t>l'</a:t>
            </a:r>
            <a:r>
              <a:rPr lang="fr-BE" sz="3300" b="1" dirty="0">
                <a:latin typeface="Times New Roman" pitchFamily="18" charset="0"/>
                <a:cs typeface="Times New Roman" pitchFamily="18" charset="0"/>
              </a:rPr>
              <a:t>abandon</a:t>
            </a:r>
            <a:r>
              <a:rPr lang="fr-BE" sz="3300" dirty="0">
                <a:latin typeface="Times New Roman" pitchFamily="18" charset="0"/>
                <a:cs typeface="Times New Roman" pitchFamily="18" charset="0"/>
              </a:rPr>
              <a:t> d'un </a:t>
            </a:r>
            <a:r>
              <a:rPr lang="fr-BE" sz="3300" b="1" u="sng" dirty="0">
                <a:solidFill>
                  <a:srgbClr val="C00000"/>
                </a:solidFill>
                <a:latin typeface="Times New Roman" pitchFamily="18" charset="0"/>
                <a:cs typeface="Times New Roman" pitchFamily="18" charset="0"/>
              </a:rPr>
              <a:t>emploi convenable</a:t>
            </a:r>
            <a:r>
              <a:rPr lang="fr-BE" sz="3300" dirty="0">
                <a:latin typeface="Times New Roman" pitchFamily="18" charset="0"/>
                <a:cs typeface="Times New Roman" pitchFamily="18" charset="0"/>
              </a:rPr>
              <a:t> sans motif légitime; </a:t>
            </a:r>
          </a:p>
          <a:p>
            <a:pPr marL="0" indent="0" hangingPunct="0">
              <a:buNone/>
            </a:pPr>
            <a:endParaRPr lang="en-US" sz="1400" dirty="0">
              <a:latin typeface="Times New Roman" pitchFamily="18" charset="0"/>
              <a:cs typeface="Times New Roman" pitchFamily="18" charset="0"/>
            </a:endParaRPr>
          </a:p>
          <a:p>
            <a:pPr hangingPunct="0">
              <a:buFont typeface="Wingdings" pitchFamily="2" charset="2"/>
              <a:buChar char="ü"/>
            </a:pPr>
            <a:r>
              <a:rPr lang="fr-BE" sz="3300" dirty="0">
                <a:latin typeface="Times New Roman" pitchFamily="18" charset="0"/>
                <a:cs typeface="Times New Roman" pitchFamily="18" charset="0"/>
              </a:rPr>
              <a:t>le </a:t>
            </a:r>
            <a:r>
              <a:rPr lang="fr-BE" sz="3300" b="1" dirty="0">
                <a:latin typeface="Times New Roman" pitchFamily="18" charset="0"/>
                <a:cs typeface="Times New Roman" pitchFamily="18" charset="0"/>
              </a:rPr>
              <a:t>licenciement</a:t>
            </a:r>
            <a:r>
              <a:rPr lang="fr-BE" sz="3300" dirty="0">
                <a:latin typeface="Times New Roman" pitchFamily="18" charset="0"/>
                <a:cs typeface="Times New Roman" pitchFamily="18" charset="0"/>
              </a:rPr>
              <a:t> suite à </a:t>
            </a:r>
            <a:r>
              <a:rPr lang="fr-BE" sz="3300" dirty="0">
                <a:solidFill>
                  <a:srgbClr val="C00000"/>
                </a:solidFill>
                <a:latin typeface="Times New Roman" pitchFamily="18" charset="0"/>
                <a:cs typeface="Times New Roman" pitchFamily="18" charset="0"/>
              </a:rPr>
              <a:t>l'</a:t>
            </a:r>
            <a:r>
              <a:rPr lang="fr-BE" sz="3300" b="1" dirty="0">
                <a:solidFill>
                  <a:srgbClr val="C00000"/>
                </a:solidFill>
                <a:latin typeface="Times New Roman" pitchFamily="18" charset="0"/>
                <a:cs typeface="Times New Roman" pitchFamily="18" charset="0"/>
              </a:rPr>
              <a:t>attitude fautive</a:t>
            </a:r>
            <a:r>
              <a:rPr lang="fr-BE" sz="3300" b="1" dirty="0">
                <a:latin typeface="Times New Roman" pitchFamily="18" charset="0"/>
                <a:cs typeface="Times New Roman" pitchFamily="18" charset="0"/>
              </a:rPr>
              <a:t> </a:t>
            </a:r>
            <a:r>
              <a:rPr lang="fr-BE" sz="3300" dirty="0">
                <a:latin typeface="Times New Roman" pitchFamily="18" charset="0"/>
                <a:cs typeface="Times New Roman" pitchFamily="18" charset="0"/>
              </a:rPr>
              <a:t>du travailleur;</a:t>
            </a:r>
          </a:p>
          <a:p>
            <a:pPr marL="0" indent="0" hangingPunct="0">
              <a:buNone/>
            </a:pPr>
            <a:endParaRPr lang="en-US" sz="1400" dirty="0">
              <a:latin typeface="Times New Roman" pitchFamily="18" charset="0"/>
              <a:cs typeface="Times New Roman" pitchFamily="18" charset="0"/>
            </a:endParaRPr>
          </a:p>
          <a:p>
            <a:pPr hangingPunct="0">
              <a:buFont typeface="Wingdings" pitchFamily="2" charset="2"/>
              <a:buChar char="ü"/>
            </a:pPr>
            <a:r>
              <a:rPr lang="fr-BE" sz="3300" dirty="0">
                <a:latin typeface="Times New Roman" pitchFamily="18" charset="0"/>
                <a:cs typeface="Times New Roman" pitchFamily="18" charset="0"/>
              </a:rPr>
              <a:t>le </a:t>
            </a:r>
            <a:r>
              <a:rPr lang="fr-BE" sz="3300" b="1" dirty="0">
                <a:latin typeface="Times New Roman" pitchFamily="18" charset="0"/>
                <a:cs typeface="Times New Roman" pitchFamily="18" charset="0"/>
              </a:rPr>
              <a:t>défaut de présentation</a:t>
            </a:r>
            <a:r>
              <a:rPr lang="fr-BE" sz="3300" dirty="0">
                <a:latin typeface="Times New Roman" pitchFamily="18" charset="0"/>
                <a:cs typeface="Times New Roman" pitchFamily="18" charset="0"/>
              </a:rPr>
              <a:t>, sans justification suffisante, auprès d'un </a:t>
            </a:r>
            <a:r>
              <a:rPr lang="fr-BE" sz="3300" b="1" dirty="0">
                <a:latin typeface="Times New Roman" pitchFamily="18" charset="0"/>
                <a:cs typeface="Times New Roman" pitchFamily="18" charset="0"/>
              </a:rPr>
              <a:t>employeur</a:t>
            </a:r>
            <a:r>
              <a:rPr lang="fr-BE" sz="3300" dirty="0">
                <a:latin typeface="Times New Roman" pitchFamily="18" charset="0"/>
                <a:cs typeface="Times New Roman" pitchFamily="18" charset="0"/>
              </a:rPr>
              <a:t>, si le chômeur a été invité par le service de l'emploi compétent à se présenter, ou le refus d'un </a:t>
            </a:r>
            <a:r>
              <a:rPr lang="fr-BE" sz="3300" b="1" u="sng" dirty="0">
                <a:solidFill>
                  <a:srgbClr val="C00000"/>
                </a:solidFill>
                <a:latin typeface="Times New Roman" pitchFamily="18" charset="0"/>
                <a:cs typeface="Times New Roman" pitchFamily="18" charset="0"/>
              </a:rPr>
              <a:t>emploi convenable</a:t>
            </a:r>
            <a:r>
              <a:rPr lang="fr-BE" sz="3300" dirty="0">
                <a:latin typeface="Times New Roman" pitchFamily="18" charset="0"/>
                <a:cs typeface="Times New Roman" pitchFamily="18" charset="0"/>
              </a:rPr>
              <a:t>; </a:t>
            </a:r>
          </a:p>
          <a:p>
            <a:pPr marL="0" indent="0" hangingPunct="0">
              <a:buNone/>
            </a:pPr>
            <a:endParaRPr lang="en-US" sz="1400" dirty="0">
              <a:latin typeface="Times New Roman" pitchFamily="18" charset="0"/>
              <a:cs typeface="Times New Roman" pitchFamily="18" charset="0"/>
            </a:endParaRPr>
          </a:p>
          <a:p>
            <a:pPr hangingPunct="0">
              <a:buFont typeface="Wingdings" pitchFamily="2" charset="2"/>
              <a:buChar char="ü"/>
            </a:pPr>
            <a:r>
              <a:rPr lang="fr-BE" sz="3300" dirty="0">
                <a:latin typeface="Times New Roman" pitchFamily="18" charset="0"/>
                <a:cs typeface="Times New Roman" pitchFamily="18" charset="0"/>
              </a:rPr>
              <a:t>le </a:t>
            </a:r>
            <a:r>
              <a:rPr lang="fr-BE" sz="3300" b="1" dirty="0">
                <a:latin typeface="Times New Roman" pitchFamily="18" charset="0"/>
                <a:cs typeface="Times New Roman" pitchFamily="18" charset="0"/>
              </a:rPr>
              <a:t>défaut de présentation</a:t>
            </a:r>
            <a:r>
              <a:rPr lang="fr-BE" sz="3300" dirty="0">
                <a:latin typeface="Times New Roman" pitchFamily="18" charset="0"/>
                <a:cs typeface="Times New Roman" pitchFamily="18" charset="0"/>
              </a:rPr>
              <a:t>, sans justification suffisante, au </a:t>
            </a:r>
            <a:r>
              <a:rPr lang="fr-BE" sz="3300" b="1" dirty="0">
                <a:latin typeface="Times New Roman" pitchFamily="18" charset="0"/>
                <a:cs typeface="Times New Roman" pitchFamily="18" charset="0"/>
              </a:rPr>
              <a:t>service de l'emploi et/ou de la formation professionnelle </a:t>
            </a:r>
            <a:r>
              <a:rPr lang="fr-BE" sz="3300" dirty="0">
                <a:latin typeface="Times New Roman" pitchFamily="18" charset="0"/>
                <a:cs typeface="Times New Roman" pitchFamily="18" charset="0"/>
              </a:rPr>
              <a:t>compétent </a:t>
            </a:r>
            <a:r>
              <a:rPr lang="fr-BE" sz="3300" b="1" u="sng" dirty="0">
                <a:solidFill>
                  <a:srgbClr val="C00000"/>
                </a:solidFill>
                <a:latin typeface="Times New Roman" pitchFamily="18" charset="0"/>
                <a:cs typeface="Times New Roman" pitchFamily="18" charset="0"/>
              </a:rPr>
              <a:t>pour un chômeur complet</a:t>
            </a:r>
            <a:r>
              <a:rPr lang="fr-BE" sz="3300" dirty="0">
                <a:latin typeface="Times New Roman" pitchFamily="18" charset="0"/>
                <a:cs typeface="Times New Roman" pitchFamily="18" charset="0"/>
              </a:rPr>
              <a:t>;</a:t>
            </a:r>
            <a:endParaRPr lang="en-US" sz="3300" dirty="0">
              <a:latin typeface="Times New Roman" pitchFamily="18" charset="0"/>
              <a:cs typeface="Times New Roman" pitchFamily="18" charset="0"/>
            </a:endParaRP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8</a:t>
            </a:fld>
            <a:endParaRPr lang="fr-FR"/>
          </a:p>
        </p:txBody>
      </p:sp>
    </p:spTree>
    <p:extLst>
      <p:ext uri="{BB962C8B-B14F-4D97-AF65-F5344CB8AC3E}">
        <p14:creationId xmlns:p14="http://schemas.microsoft.com/office/powerpoint/2010/main" val="4289610839"/>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 calcmode="lin" valueType="num">
                                      <p:cBhvr additive="base">
                                        <p:cTn id="2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BE" sz="3600" b="1" i="1" dirty="0">
                <a:latin typeface="Times New Roman" pitchFamily="18" charset="0"/>
                <a:cs typeface="Times New Roman" pitchFamily="18" charset="0"/>
              </a:rPr>
              <a:t>1.1.1 Chômage par suite de circonstances dépendant de la volonté du travailleur</a:t>
            </a:r>
            <a:endParaRPr lang="en-US" sz="3600" i="1" dirty="0">
              <a:latin typeface="Times New Roman" pitchFamily="18" charset="0"/>
              <a:cs typeface="Times New Roman" pitchFamily="18" charset="0"/>
            </a:endParaRPr>
          </a:p>
        </p:txBody>
      </p:sp>
      <p:sp>
        <p:nvSpPr>
          <p:cNvPr id="3" name="Espace réservé du contenu 2"/>
          <p:cNvSpPr>
            <a:spLocks noGrp="1"/>
          </p:cNvSpPr>
          <p:nvPr>
            <p:ph idx="1"/>
          </p:nvPr>
        </p:nvSpPr>
        <p:spPr/>
        <p:txBody>
          <a:bodyPr>
            <a:normAutofit/>
          </a:bodyPr>
          <a:lstStyle/>
          <a:p>
            <a:pPr hangingPunct="0">
              <a:buFont typeface="Wingdings" pitchFamily="2" charset="2"/>
              <a:buChar char="ü"/>
            </a:pPr>
            <a:r>
              <a:rPr lang="fr-BE" sz="3000" dirty="0">
                <a:latin typeface="Times New Roman" pitchFamily="18" charset="0"/>
                <a:cs typeface="Times New Roman" pitchFamily="18" charset="0"/>
              </a:rPr>
              <a:t>le </a:t>
            </a:r>
            <a:r>
              <a:rPr lang="fr-BE" sz="3000" b="1" dirty="0">
                <a:latin typeface="Times New Roman" pitchFamily="18" charset="0"/>
                <a:cs typeface="Times New Roman" pitchFamily="18" charset="0"/>
              </a:rPr>
              <a:t>refus </a:t>
            </a:r>
            <a:r>
              <a:rPr lang="fr-BE" sz="3000" dirty="0">
                <a:latin typeface="Times New Roman" pitchFamily="18" charset="0"/>
                <a:cs typeface="Times New Roman" pitchFamily="18" charset="0"/>
              </a:rPr>
              <a:t>du chômeur de participer à </a:t>
            </a:r>
            <a:r>
              <a:rPr lang="fr-BE" sz="3000" b="1" u="sng" dirty="0">
                <a:solidFill>
                  <a:srgbClr val="C00000"/>
                </a:solidFill>
                <a:latin typeface="Times New Roman" pitchFamily="18" charset="0"/>
                <a:cs typeface="Times New Roman" pitchFamily="18" charset="0"/>
              </a:rPr>
              <a:t>un plan d’action individuel</a:t>
            </a:r>
            <a:r>
              <a:rPr lang="fr-BE" sz="3000" dirty="0">
                <a:latin typeface="Times New Roman" pitchFamily="18" charset="0"/>
                <a:cs typeface="Times New Roman" pitchFamily="18" charset="0"/>
              </a:rPr>
              <a:t> proposé par le service  régional de l'emploi compétent;</a:t>
            </a:r>
          </a:p>
          <a:p>
            <a:pPr marL="0" indent="0" hangingPunct="0">
              <a:buNone/>
            </a:pPr>
            <a:endParaRPr lang="fr-BE" sz="3000" dirty="0">
              <a:latin typeface="Times New Roman" pitchFamily="18" charset="0"/>
              <a:cs typeface="Times New Roman" pitchFamily="18" charset="0"/>
            </a:endParaRPr>
          </a:p>
          <a:p>
            <a:pPr hangingPunct="0">
              <a:buFont typeface="Wingdings" pitchFamily="2" charset="2"/>
              <a:buChar char="ü"/>
            </a:pPr>
            <a:r>
              <a:rPr lang="en-US" sz="3000" dirty="0">
                <a:latin typeface="Times New Roman" pitchFamily="18" charset="0"/>
                <a:cs typeface="Times New Roman" pitchFamily="18" charset="0"/>
              </a:rPr>
              <a:t> </a:t>
            </a:r>
            <a:r>
              <a:rPr lang="fr-BE" sz="3000" dirty="0">
                <a:latin typeface="Times New Roman" pitchFamily="18" charset="0"/>
                <a:cs typeface="Times New Roman" pitchFamily="18" charset="0"/>
              </a:rPr>
              <a:t>l'</a:t>
            </a:r>
            <a:r>
              <a:rPr lang="fr-BE" sz="3000" b="1" dirty="0">
                <a:latin typeface="Times New Roman" pitchFamily="18" charset="0"/>
                <a:cs typeface="Times New Roman" pitchFamily="18" charset="0"/>
              </a:rPr>
              <a:t>arrêt ou l'échec </a:t>
            </a:r>
            <a:r>
              <a:rPr lang="fr-BE" sz="3000" dirty="0">
                <a:latin typeface="Times New Roman" pitchFamily="18" charset="0"/>
                <a:cs typeface="Times New Roman" pitchFamily="18" charset="0"/>
              </a:rPr>
              <a:t>de ce  </a:t>
            </a:r>
            <a:r>
              <a:rPr lang="fr-BE" sz="3000" b="1" dirty="0">
                <a:latin typeface="Times New Roman" pitchFamily="18" charset="0"/>
                <a:cs typeface="Times New Roman" pitchFamily="18" charset="0"/>
              </a:rPr>
              <a:t>plan d’action individuel</a:t>
            </a:r>
            <a:r>
              <a:rPr lang="fr-BE" sz="3000" dirty="0">
                <a:latin typeface="Times New Roman" pitchFamily="18" charset="0"/>
                <a:cs typeface="Times New Roman" pitchFamily="18" charset="0"/>
              </a:rPr>
              <a:t> à cause de l'</a:t>
            </a:r>
            <a:r>
              <a:rPr lang="fr-BE" sz="3000" b="1" u="sng" dirty="0">
                <a:solidFill>
                  <a:srgbClr val="C00000"/>
                </a:solidFill>
                <a:latin typeface="Times New Roman" pitchFamily="18" charset="0"/>
                <a:cs typeface="Times New Roman" pitchFamily="18" charset="0"/>
              </a:rPr>
              <a:t>attitude fautive</a:t>
            </a:r>
            <a:r>
              <a:rPr lang="fr-BE" sz="3000" dirty="0">
                <a:latin typeface="Times New Roman" pitchFamily="18" charset="0"/>
                <a:cs typeface="Times New Roman" pitchFamily="18" charset="0"/>
              </a:rPr>
              <a:t> du chômeur; </a:t>
            </a:r>
            <a:endParaRPr lang="en-US" sz="3000" dirty="0">
              <a:latin typeface="Times New Roman" pitchFamily="18" charset="0"/>
              <a:cs typeface="Times New Roman" pitchFamily="18" charset="0"/>
            </a:endParaRPr>
          </a:p>
          <a:p>
            <a:endParaRPr lang="en-US"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9</a:t>
            </a:fld>
            <a:endParaRPr lang="fr-FR"/>
          </a:p>
        </p:txBody>
      </p:sp>
    </p:spTree>
    <p:extLst>
      <p:ext uri="{BB962C8B-B14F-4D97-AF65-F5344CB8AC3E}">
        <p14:creationId xmlns:p14="http://schemas.microsoft.com/office/powerpoint/2010/main" val="3673345806"/>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BE" sz="3600" b="1" i="1" dirty="0">
                <a:latin typeface="Times New Roman" pitchFamily="18" charset="0"/>
                <a:cs typeface="Times New Roman" pitchFamily="18" charset="0"/>
              </a:rPr>
              <a:t>1.1.1 Chômage par suite de circonstances dépendant de la volonté du travailleur</a:t>
            </a:r>
            <a:endParaRPr lang="en-US" sz="3600" dirty="0"/>
          </a:p>
        </p:txBody>
      </p:sp>
      <p:sp>
        <p:nvSpPr>
          <p:cNvPr id="3" name="Espace réservé du contenu 2"/>
          <p:cNvSpPr>
            <a:spLocks noGrp="1"/>
          </p:cNvSpPr>
          <p:nvPr>
            <p:ph idx="1"/>
          </p:nvPr>
        </p:nvSpPr>
        <p:spPr/>
        <p:txBody>
          <a:bodyPr>
            <a:normAutofit/>
          </a:bodyPr>
          <a:lstStyle/>
          <a:p>
            <a:pPr>
              <a:buFont typeface="Wingdings" pitchFamily="2" charset="2"/>
              <a:buChar char="ü"/>
            </a:pPr>
            <a:r>
              <a:rPr lang="fr-BE" sz="3000" dirty="0">
                <a:latin typeface="Times New Roman" pitchFamily="18" charset="0"/>
                <a:cs typeface="Times New Roman" pitchFamily="18" charset="0"/>
              </a:rPr>
              <a:t>le fait pour un travailleur de </a:t>
            </a:r>
            <a:r>
              <a:rPr lang="fr-BE" sz="3000" b="1" dirty="0">
                <a:latin typeface="Times New Roman" pitchFamily="18" charset="0"/>
                <a:cs typeface="Times New Roman" pitchFamily="18" charset="0"/>
              </a:rPr>
              <a:t>ne pas s'inscrire</a:t>
            </a:r>
            <a:r>
              <a:rPr lang="fr-BE" sz="3000" dirty="0">
                <a:latin typeface="Times New Roman" pitchFamily="18" charset="0"/>
                <a:cs typeface="Times New Roman" pitchFamily="18" charset="0"/>
              </a:rPr>
              <a:t>, lorsqu'il y est obligé, dans les délais fixés auprès d'une </a:t>
            </a:r>
            <a:r>
              <a:rPr lang="fr-BE" sz="3000" b="1" u="sng" dirty="0">
                <a:solidFill>
                  <a:srgbClr val="C00000"/>
                </a:solidFill>
                <a:latin typeface="Times New Roman" pitchFamily="18" charset="0"/>
                <a:cs typeface="Times New Roman" pitchFamily="18" charset="0"/>
              </a:rPr>
              <a:t>cellule pour l'emploi</a:t>
            </a:r>
            <a:r>
              <a:rPr lang="fr-BE" sz="3000" dirty="0">
                <a:latin typeface="Times New Roman" pitchFamily="18" charset="0"/>
                <a:cs typeface="Times New Roman" pitchFamily="18" charset="0"/>
              </a:rPr>
              <a:t> à laquelle l'employeur participe ou de ne pas y être resté inscrit;</a:t>
            </a:r>
          </a:p>
          <a:p>
            <a:pPr marL="0" indent="0">
              <a:buNone/>
            </a:pPr>
            <a:endParaRPr lang="fr-BE" sz="3000" dirty="0">
              <a:latin typeface="Times New Roman" pitchFamily="18" charset="0"/>
              <a:cs typeface="Times New Roman" pitchFamily="18" charset="0"/>
            </a:endParaRPr>
          </a:p>
          <a:p>
            <a:pPr>
              <a:buFont typeface="Wingdings" pitchFamily="2" charset="2"/>
              <a:buChar char="ü"/>
            </a:pPr>
            <a:r>
              <a:rPr lang="fr-BE" sz="2800" dirty="0"/>
              <a:t>l</a:t>
            </a:r>
            <a:r>
              <a:rPr lang="fr-BE" sz="3000" dirty="0">
                <a:latin typeface="Times New Roman" pitchFamily="18" charset="0"/>
                <a:cs typeface="Times New Roman" pitchFamily="18" charset="0"/>
              </a:rPr>
              <a:t>e fait de </a:t>
            </a:r>
            <a:r>
              <a:rPr lang="fr-BE" sz="3000" b="1" dirty="0">
                <a:latin typeface="Times New Roman" pitchFamily="18" charset="0"/>
                <a:cs typeface="Times New Roman" pitchFamily="18" charset="0"/>
              </a:rPr>
              <a:t>refuser de collaborer ou d'accepter</a:t>
            </a:r>
            <a:r>
              <a:rPr lang="fr-BE" sz="3000" dirty="0">
                <a:latin typeface="Times New Roman" pitchFamily="18" charset="0"/>
                <a:cs typeface="Times New Roman" pitchFamily="18" charset="0"/>
              </a:rPr>
              <a:t> une </a:t>
            </a:r>
            <a:r>
              <a:rPr lang="fr-BE" sz="3000" b="1" u="sng" dirty="0">
                <a:solidFill>
                  <a:srgbClr val="C00000"/>
                </a:solidFill>
                <a:latin typeface="Times New Roman" pitchFamily="18" charset="0"/>
                <a:cs typeface="Times New Roman" pitchFamily="18" charset="0"/>
              </a:rPr>
              <a:t>proposition d'outplacement</a:t>
            </a:r>
            <a:r>
              <a:rPr lang="fr-BE" sz="3000" dirty="0">
                <a:latin typeface="Times New Roman" pitchFamily="18" charset="0"/>
                <a:cs typeface="Times New Roman" pitchFamily="18" charset="0"/>
              </a:rPr>
              <a:t> organisé par une cellule pour l'emploi à laquelle l'employeur participe;</a:t>
            </a:r>
            <a:endParaRPr lang="en-US" sz="3000" dirty="0">
              <a:latin typeface="Times New Roman" pitchFamily="18" charset="0"/>
              <a:cs typeface="Times New Roman" pitchFamily="18" charset="0"/>
            </a:endParaRP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10</a:t>
            </a:fld>
            <a:endParaRPr lang="fr-FR"/>
          </a:p>
        </p:txBody>
      </p:sp>
    </p:spTree>
    <p:extLst>
      <p:ext uri="{BB962C8B-B14F-4D97-AF65-F5344CB8AC3E}">
        <p14:creationId xmlns:p14="http://schemas.microsoft.com/office/powerpoint/2010/main" val="1644758352"/>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BE" sz="3600" b="1" i="1" dirty="0">
                <a:latin typeface="Times New Roman" pitchFamily="18" charset="0"/>
                <a:cs typeface="Times New Roman" pitchFamily="18" charset="0"/>
              </a:rPr>
              <a:t>1.1.1 Chômage par suite de circonstances dépendant de la volonté du travailleur</a:t>
            </a:r>
            <a:endParaRPr lang="en-US" sz="3600" dirty="0"/>
          </a:p>
        </p:txBody>
      </p:sp>
      <p:sp>
        <p:nvSpPr>
          <p:cNvPr id="3" name="Espace réservé du contenu 2"/>
          <p:cNvSpPr>
            <a:spLocks noGrp="1"/>
          </p:cNvSpPr>
          <p:nvPr>
            <p:ph idx="1"/>
          </p:nvPr>
        </p:nvSpPr>
        <p:spPr/>
        <p:txBody>
          <a:bodyPr>
            <a:normAutofit lnSpcReduction="10000"/>
          </a:bodyPr>
          <a:lstStyle/>
          <a:p>
            <a:pPr hangingPunct="0">
              <a:buFont typeface="Wingdings" pitchFamily="2" charset="2"/>
              <a:buChar char="ü"/>
            </a:pPr>
            <a:r>
              <a:rPr lang="fr-BE" dirty="0">
                <a:latin typeface="Times New Roman" pitchFamily="18" charset="0"/>
                <a:cs typeface="Times New Roman" pitchFamily="18" charset="0"/>
              </a:rPr>
              <a:t>Le fait pour un </a:t>
            </a:r>
            <a:r>
              <a:rPr lang="fr-BE" b="1" dirty="0">
                <a:latin typeface="Times New Roman" pitchFamily="18" charset="0"/>
                <a:cs typeface="Times New Roman" pitchFamily="18" charset="0"/>
              </a:rPr>
              <a:t>travailleur âgé d'au moins 45</a:t>
            </a:r>
            <a:r>
              <a:rPr lang="fr-BE" dirty="0">
                <a:latin typeface="Times New Roman" pitchFamily="18" charset="0"/>
                <a:cs typeface="Times New Roman" pitchFamily="18" charset="0"/>
              </a:rPr>
              <a:t> ans de </a:t>
            </a:r>
            <a:r>
              <a:rPr lang="fr-BE" b="1" dirty="0">
                <a:latin typeface="Times New Roman" pitchFamily="18" charset="0"/>
                <a:cs typeface="Times New Roman" pitchFamily="18" charset="0"/>
              </a:rPr>
              <a:t>refuser </a:t>
            </a:r>
            <a:r>
              <a:rPr lang="fr-BE" dirty="0">
                <a:latin typeface="Times New Roman" pitchFamily="18" charset="0"/>
                <a:cs typeface="Times New Roman" pitchFamily="18" charset="0"/>
              </a:rPr>
              <a:t>de collaborer ou d'accepter une </a:t>
            </a:r>
            <a:r>
              <a:rPr lang="fr-BE" b="1" u="sng" dirty="0">
                <a:solidFill>
                  <a:srgbClr val="C00000"/>
                </a:solidFill>
                <a:latin typeface="Times New Roman" pitchFamily="18" charset="0"/>
                <a:cs typeface="Times New Roman" pitchFamily="18" charset="0"/>
              </a:rPr>
              <a:t>proposition d'outplacement</a:t>
            </a:r>
            <a:r>
              <a:rPr lang="fr-BE" dirty="0">
                <a:latin typeface="Times New Roman" pitchFamily="18" charset="0"/>
                <a:cs typeface="Times New Roman" pitchFamily="18" charset="0"/>
              </a:rPr>
              <a:t> organisé par l'employeur;</a:t>
            </a:r>
          </a:p>
          <a:p>
            <a:pPr hangingPunct="0">
              <a:buFont typeface="Wingdings" pitchFamily="2" charset="2"/>
              <a:buChar char="ü"/>
            </a:pPr>
            <a:endParaRPr lang="en-US" sz="1600" dirty="0">
              <a:latin typeface="Times New Roman" pitchFamily="18" charset="0"/>
              <a:cs typeface="Times New Roman" pitchFamily="18" charset="0"/>
            </a:endParaRPr>
          </a:p>
          <a:p>
            <a:pPr hangingPunct="0">
              <a:buFont typeface="Wingdings" pitchFamily="2" charset="2"/>
              <a:buChar char="ü"/>
            </a:pPr>
            <a:r>
              <a:rPr lang="fr-BE" dirty="0">
                <a:latin typeface="Times New Roman" pitchFamily="18" charset="0"/>
                <a:cs typeface="Times New Roman" pitchFamily="18" charset="0"/>
              </a:rPr>
              <a:t>L'</a:t>
            </a:r>
            <a:r>
              <a:rPr lang="fr-BE" b="1" dirty="0">
                <a:latin typeface="Times New Roman" pitchFamily="18" charset="0"/>
                <a:cs typeface="Times New Roman" pitchFamily="18" charset="0"/>
              </a:rPr>
              <a:t>absence de la mise en demeure </a:t>
            </a:r>
            <a:r>
              <a:rPr lang="fr-BE" dirty="0">
                <a:latin typeface="Times New Roman" pitchFamily="18" charset="0"/>
                <a:cs typeface="Times New Roman" pitchFamily="18" charset="0"/>
              </a:rPr>
              <a:t>initiale pour un </a:t>
            </a:r>
            <a:r>
              <a:rPr lang="fr-BE" b="1" dirty="0">
                <a:latin typeface="Times New Roman" pitchFamily="18" charset="0"/>
                <a:cs typeface="Times New Roman" pitchFamily="18" charset="0"/>
              </a:rPr>
              <a:t>travailleur âgé d’au moins 45 ans</a:t>
            </a:r>
            <a:r>
              <a:rPr lang="fr-BE" dirty="0">
                <a:latin typeface="Times New Roman" pitchFamily="18" charset="0"/>
                <a:cs typeface="Times New Roman" pitchFamily="18" charset="0"/>
              </a:rPr>
              <a:t> en cas </a:t>
            </a:r>
            <a:r>
              <a:rPr lang="fr-BE" b="1" u="sng" dirty="0">
                <a:solidFill>
                  <a:srgbClr val="C00000"/>
                </a:solidFill>
                <a:latin typeface="Times New Roman" pitchFamily="18" charset="0"/>
                <a:cs typeface="Times New Roman" pitchFamily="18" charset="0"/>
              </a:rPr>
              <a:t>d'absence d'une offre d'outplacement</a:t>
            </a:r>
            <a:r>
              <a:rPr lang="fr-BE" dirty="0">
                <a:latin typeface="Times New Roman" pitchFamily="18" charset="0"/>
                <a:cs typeface="Times New Roman" pitchFamily="18" charset="0"/>
              </a:rPr>
              <a:t>. </a:t>
            </a:r>
            <a:r>
              <a:rPr lang="fr-BE" sz="2200" dirty="0">
                <a:latin typeface="Times New Roman" pitchFamily="18" charset="0"/>
                <a:cs typeface="Times New Roman" pitchFamily="18" charset="0"/>
              </a:rPr>
              <a:t>Une maladie n'empêche pas d'accepter l'outplacement ou de mettre en demeure (sauf en cas de force majeure comme une hospitalisation). </a:t>
            </a:r>
            <a:endParaRPr lang="en-US" sz="2200" dirty="0">
              <a:latin typeface="Times New Roman" pitchFamily="18" charset="0"/>
              <a:cs typeface="Times New Roman" pitchFamily="18" charset="0"/>
            </a:endParaRPr>
          </a:p>
          <a:p>
            <a:pPr marL="0" indent="0">
              <a:buNone/>
            </a:pPr>
            <a:endParaRPr lang="en-US"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11</a:t>
            </a:fld>
            <a:endParaRPr lang="fr-FR"/>
          </a:p>
        </p:txBody>
      </p:sp>
    </p:spTree>
    <p:extLst>
      <p:ext uri="{BB962C8B-B14F-4D97-AF65-F5344CB8AC3E}">
        <p14:creationId xmlns:p14="http://schemas.microsoft.com/office/powerpoint/2010/main" val="724326627"/>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BE" sz="3600" b="1" i="1" dirty="0">
                <a:latin typeface="Times New Roman" pitchFamily="18" charset="0"/>
                <a:cs typeface="Times New Roman" pitchFamily="18" charset="0"/>
              </a:rPr>
              <a:t>1.1.1 Chômage par suite de circonstances dépendant de la volonté du travailleur</a:t>
            </a:r>
            <a:endParaRPr lang="en-US" sz="3600" dirty="0"/>
          </a:p>
        </p:txBody>
      </p:sp>
      <p:sp>
        <p:nvSpPr>
          <p:cNvPr id="3" name="Espace réservé du contenu 2"/>
          <p:cNvSpPr>
            <a:spLocks noGrp="1"/>
          </p:cNvSpPr>
          <p:nvPr>
            <p:ph idx="1"/>
          </p:nvPr>
        </p:nvSpPr>
        <p:spPr/>
        <p:txBody>
          <a:bodyPr>
            <a:normAutofit/>
          </a:bodyPr>
          <a:lstStyle/>
          <a:p>
            <a:pPr hangingPunct="0">
              <a:buFont typeface="Wingdings" pitchFamily="2" charset="2"/>
              <a:buChar char="ü"/>
            </a:pPr>
            <a:r>
              <a:rPr lang="fr-BE" sz="2400" dirty="0">
                <a:latin typeface="Times New Roman" pitchFamily="18" charset="0"/>
                <a:cs typeface="Times New Roman" pitchFamily="18" charset="0"/>
              </a:rPr>
              <a:t>L</a:t>
            </a:r>
            <a:r>
              <a:rPr lang="fr-BE" sz="2800" dirty="0">
                <a:latin typeface="Times New Roman" panose="02020603050405020304" pitchFamily="18" charset="0"/>
                <a:ea typeface="Times New Roman" panose="02020603050405020304" pitchFamily="18" charset="0"/>
                <a:cs typeface="Times New Roman" panose="02020603050405020304" pitchFamily="18" charset="0"/>
              </a:rPr>
              <a:t>’</a:t>
            </a:r>
            <a:r>
              <a:rPr lang="fr-BE" sz="2800" b="1" u="sng"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absence d’IDE </a:t>
            </a:r>
            <a:r>
              <a:rPr lang="fr-BE" sz="2800" dirty="0">
                <a:latin typeface="Times New Roman" panose="02020603050405020304" pitchFamily="18" charset="0"/>
                <a:ea typeface="Times New Roman" panose="02020603050405020304" pitchFamily="18" charset="0"/>
                <a:cs typeface="Times New Roman" panose="02020603050405020304" pitchFamily="18" charset="0"/>
              </a:rPr>
              <a:t>dans un </a:t>
            </a:r>
            <a:r>
              <a:rPr lang="fr-BE" sz="2800" b="1" dirty="0">
                <a:latin typeface="Times New Roman" panose="02020603050405020304" pitchFamily="18" charset="0"/>
                <a:ea typeface="Times New Roman" panose="02020603050405020304" pitchFamily="18" charset="0"/>
                <a:cs typeface="Times New Roman" panose="02020603050405020304" pitchFamily="18" charset="0"/>
              </a:rPr>
              <a:t>délai de 2 mois </a:t>
            </a:r>
            <a:r>
              <a:rPr lang="fr-BE" sz="2800" dirty="0">
                <a:latin typeface="Times New Roman" panose="02020603050405020304" pitchFamily="18" charset="0"/>
                <a:ea typeface="Times New Roman" panose="02020603050405020304" pitchFamily="18" charset="0"/>
                <a:cs typeface="Times New Roman" panose="02020603050405020304" pitchFamily="18" charset="0"/>
              </a:rPr>
              <a:t>en cas de </a:t>
            </a:r>
            <a:r>
              <a:rPr lang="fr-BE" sz="2800" b="1" dirty="0">
                <a:latin typeface="Times New Roman" panose="02020603050405020304" pitchFamily="18" charset="0"/>
                <a:ea typeface="Times New Roman" panose="02020603050405020304" pitchFamily="18" charset="0"/>
                <a:cs typeface="Times New Roman" panose="02020603050405020304" pitchFamily="18" charset="0"/>
              </a:rPr>
              <a:t>dispense</a:t>
            </a:r>
            <a:r>
              <a:rPr lang="fr-BE" sz="2800" dirty="0">
                <a:latin typeface="Times New Roman" panose="02020603050405020304" pitchFamily="18" charset="0"/>
                <a:ea typeface="Times New Roman" panose="02020603050405020304" pitchFamily="18" charset="0"/>
                <a:cs typeface="Times New Roman" panose="02020603050405020304" pitchFamily="18" charset="0"/>
              </a:rPr>
              <a:t> (partielle ou complète) de </a:t>
            </a:r>
            <a:r>
              <a:rPr lang="fr-BE" sz="2800" b="1" dirty="0">
                <a:latin typeface="Times New Roman" panose="02020603050405020304" pitchFamily="18" charset="0"/>
                <a:ea typeface="Times New Roman" panose="02020603050405020304" pitchFamily="18" charset="0"/>
                <a:cs typeface="Times New Roman" panose="02020603050405020304" pitchFamily="18" charset="0"/>
              </a:rPr>
              <a:t>préavis</a:t>
            </a:r>
            <a:r>
              <a:rPr lang="fr-BE" sz="2800" dirty="0">
                <a:latin typeface="Times New Roman" panose="02020603050405020304" pitchFamily="18" charset="0"/>
                <a:ea typeface="Times New Roman" panose="02020603050405020304" pitchFamily="18" charset="0"/>
                <a:cs typeface="Times New Roman" panose="02020603050405020304" pitchFamily="18" charset="0"/>
              </a:rPr>
              <a:t> ou en cas d’</a:t>
            </a:r>
            <a:r>
              <a:rPr lang="fr-BE" sz="2800" b="1" dirty="0">
                <a:latin typeface="Times New Roman" panose="02020603050405020304" pitchFamily="18" charset="0"/>
                <a:ea typeface="Times New Roman" panose="02020603050405020304" pitchFamily="18" charset="0"/>
                <a:cs typeface="Times New Roman" panose="02020603050405020304" pitchFamily="18" charset="0"/>
              </a:rPr>
              <a:t>indemnité de congé </a:t>
            </a:r>
            <a:r>
              <a:rPr lang="fr-BE" sz="2800" dirty="0">
                <a:latin typeface="Times New Roman" panose="02020603050405020304" pitchFamily="18" charset="0"/>
                <a:ea typeface="Times New Roman" panose="02020603050405020304" pitchFamily="18" charset="0"/>
                <a:cs typeface="Times New Roman" panose="02020603050405020304" pitchFamily="18" charset="0"/>
              </a:rPr>
              <a:t>pour un travailleur licencié</a:t>
            </a:r>
          </a:p>
          <a:p>
            <a:pPr hangingPunct="0">
              <a:buFont typeface="Wingdings" pitchFamily="2" charset="2"/>
              <a:buChar char="ü"/>
            </a:pPr>
            <a:endParaRPr lang="fr-BE" sz="2800" dirty="0">
              <a:latin typeface="Times New Roman" panose="02020603050405020304" pitchFamily="18" charset="0"/>
              <a:cs typeface="Times New Roman" panose="02020603050405020304" pitchFamily="18" charset="0"/>
            </a:endParaRPr>
          </a:p>
          <a:p>
            <a:pPr hangingPunct="0">
              <a:buFont typeface="Wingdings" pitchFamily="2" charset="2"/>
              <a:buChar char="ü"/>
            </a:pPr>
            <a:r>
              <a:rPr lang="en-US" sz="2800" dirty="0">
                <a:latin typeface="Times New Roman" pitchFamily="18" charset="0"/>
                <a:cs typeface="Times New Roman" pitchFamily="18" charset="0"/>
              </a:rPr>
              <a:t>Le </a:t>
            </a:r>
            <a:r>
              <a:rPr lang="fr-BE" sz="2800" dirty="0">
                <a:latin typeface="Times New Roman" pitchFamily="18" charset="0"/>
                <a:cs typeface="Times New Roman" pitchFamily="18" charset="0"/>
              </a:rPr>
              <a:t> fait pour le </a:t>
            </a:r>
            <a:r>
              <a:rPr lang="fr-BE" sz="2800" b="1" dirty="0">
                <a:latin typeface="Times New Roman" pitchFamily="18" charset="0"/>
                <a:cs typeface="Times New Roman" pitchFamily="18" charset="0"/>
              </a:rPr>
              <a:t>demandeur d'emploi non mobilisable</a:t>
            </a:r>
            <a:r>
              <a:rPr lang="fr-BE" sz="2800" dirty="0">
                <a:latin typeface="Times New Roman" pitchFamily="18" charset="0"/>
                <a:cs typeface="Times New Roman" pitchFamily="18" charset="0"/>
              </a:rPr>
              <a:t> de </a:t>
            </a:r>
            <a:r>
              <a:rPr lang="fr-BE" sz="2800" b="1" dirty="0">
                <a:latin typeface="Times New Roman" pitchFamily="18" charset="0"/>
                <a:cs typeface="Times New Roman" pitchFamily="18" charset="0"/>
              </a:rPr>
              <a:t>refuser de collaborer</a:t>
            </a:r>
            <a:r>
              <a:rPr lang="fr-BE" sz="2800" dirty="0">
                <a:latin typeface="Times New Roman" pitchFamily="18" charset="0"/>
                <a:cs typeface="Times New Roman" pitchFamily="18" charset="0"/>
              </a:rPr>
              <a:t> positivement aux </a:t>
            </a:r>
            <a:r>
              <a:rPr lang="fr-BE" sz="2800" b="1" u="sng" dirty="0">
                <a:solidFill>
                  <a:srgbClr val="C00000"/>
                </a:solidFill>
                <a:latin typeface="Times New Roman" pitchFamily="18" charset="0"/>
                <a:cs typeface="Times New Roman" pitchFamily="18" charset="0"/>
              </a:rPr>
              <a:t>actions d'accompagnement adaptées</a:t>
            </a:r>
            <a:r>
              <a:rPr lang="fr-BE" sz="2800" dirty="0">
                <a:latin typeface="Times New Roman" pitchFamily="18" charset="0"/>
                <a:cs typeface="Times New Roman" pitchFamily="18" charset="0"/>
              </a:rPr>
              <a:t> qui lui sont proposées par le service régional de l'emploi compétent</a:t>
            </a:r>
            <a:endParaRPr lang="en-US" sz="2800" dirty="0">
              <a:latin typeface="Times New Roman" pitchFamily="18" charset="0"/>
              <a:cs typeface="Times New Roman" pitchFamily="18" charset="0"/>
            </a:endParaRPr>
          </a:p>
          <a:p>
            <a:pPr marL="0" indent="0">
              <a:buNone/>
            </a:pPr>
            <a:endParaRPr lang="en-US"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12</a:t>
            </a:fld>
            <a:endParaRPr lang="fr-FR"/>
          </a:p>
        </p:txBody>
      </p:sp>
    </p:spTree>
    <p:extLst>
      <p:ext uri="{BB962C8B-B14F-4D97-AF65-F5344CB8AC3E}">
        <p14:creationId xmlns:p14="http://schemas.microsoft.com/office/powerpoint/2010/main" val="1502795647"/>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BE" b="1" i="1" dirty="0">
                <a:latin typeface="Times New Roman" pitchFamily="18" charset="0"/>
                <a:cs typeface="Times New Roman" pitchFamily="18" charset="0"/>
              </a:rPr>
              <a:t>1.1.2 Abandon pour un autre emploi</a:t>
            </a:r>
            <a:endParaRPr lang="en-US" b="1" i="1" dirty="0">
              <a:latin typeface="Times New Roman" pitchFamily="18" charset="0"/>
              <a:cs typeface="Times New Roman" pitchFamily="18" charset="0"/>
            </a:endParaRPr>
          </a:p>
        </p:txBody>
      </p:sp>
      <p:sp>
        <p:nvSpPr>
          <p:cNvPr id="3" name="Espace réservé du contenu 2"/>
          <p:cNvSpPr>
            <a:spLocks noGrp="1"/>
          </p:cNvSpPr>
          <p:nvPr>
            <p:ph idx="1"/>
          </p:nvPr>
        </p:nvSpPr>
        <p:spPr/>
        <p:txBody>
          <a:bodyPr>
            <a:normAutofit fontScale="70000" lnSpcReduction="20000"/>
          </a:bodyPr>
          <a:lstStyle/>
          <a:p>
            <a:pPr marL="0" indent="0" hangingPunct="0">
              <a:buNone/>
            </a:pPr>
            <a:r>
              <a:rPr lang="fr-BE" sz="3600" b="1" i="1" u="sng" dirty="0">
                <a:latin typeface="Times New Roman" pitchFamily="18" charset="0"/>
                <a:cs typeface="Times New Roman" pitchFamily="18" charset="0"/>
              </a:rPr>
              <a:t>Les dispositions relatives à l'abandon d'emploi et au licenciement ne sont pas applicables:</a:t>
            </a:r>
          </a:p>
          <a:p>
            <a:pPr marL="0" indent="0" hangingPunct="0">
              <a:buNone/>
            </a:pPr>
            <a:endParaRPr lang="en-US" sz="2300" b="1" i="1" u="sng" dirty="0">
              <a:latin typeface="Times New Roman" pitchFamily="18" charset="0"/>
              <a:cs typeface="Times New Roman" pitchFamily="18" charset="0"/>
            </a:endParaRPr>
          </a:p>
          <a:p>
            <a:pPr hangingPunct="0">
              <a:buFont typeface="Wingdings" pitchFamily="2" charset="2"/>
              <a:buChar char="ü"/>
            </a:pPr>
            <a:r>
              <a:rPr lang="fr-BE" sz="3600" dirty="0">
                <a:latin typeface="Times New Roman" pitchFamily="18" charset="0"/>
                <a:cs typeface="Times New Roman" pitchFamily="18" charset="0"/>
              </a:rPr>
              <a:t>lorsque le travailleur a exercé un nouvel emploi pendant au moins </a:t>
            </a:r>
            <a:r>
              <a:rPr lang="fr-BE" sz="3600" b="1" dirty="0">
                <a:solidFill>
                  <a:srgbClr val="C00000"/>
                </a:solidFill>
                <a:latin typeface="Times New Roman" pitchFamily="18" charset="0"/>
                <a:cs typeface="Times New Roman" pitchFamily="18" charset="0"/>
              </a:rPr>
              <a:t>13 semaines préalablement</a:t>
            </a:r>
            <a:r>
              <a:rPr lang="fr-BE" sz="3600" dirty="0">
                <a:latin typeface="Times New Roman" pitchFamily="18" charset="0"/>
                <a:cs typeface="Times New Roman" pitchFamily="18" charset="0"/>
              </a:rPr>
              <a:t> à sa demande d'allocations;</a:t>
            </a:r>
          </a:p>
          <a:p>
            <a:pPr hangingPunct="0">
              <a:buNone/>
            </a:pPr>
            <a:endParaRPr lang="en-US" dirty="0">
              <a:latin typeface="Times New Roman" pitchFamily="18" charset="0"/>
              <a:cs typeface="Times New Roman" pitchFamily="18" charset="0"/>
            </a:endParaRPr>
          </a:p>
          <a:p>
            <a:pPr hangingPunct="0">
              <a:buFont typeface="Wingdings" pitchFamily="2" charset="2"/>
              <a:buChar char="ü"/>
            </a:pPr>
            <a:r>
              <a:rPr lang="fr-BE" sz="3600" dirty="0">
                <a:latin typeface="Times New Roman" pitchFamily="18" charset="0"/>
                <a:cs typeface="Times New Roman" pitchFamily="18" charset="0"/>
              </a:rPr>
              <a:t>le chômeur qui demande des allocations après un abandon d'emploi pour exercer une activité indépendante ou pour se consacrer à l'éducation d'un enfant doit apporter la preuve (par toutes voies de droit) qu'il ne peut être occupé à nouveau par son précédent employeur. S'il ne fournit pas cette preuve, il peut être considéré comme chômeur par suite de circonstances dépendant de sa volonté.</a:t>
            </a:r>
            <a:endParaRPr lang="en-US" sz="3600" dirty="0">
              <a:latin typeface="Times New Roman" pitchFamily="18" charset="0"/>
              <a:cs typeface="Times New Roman" pitchFamily="18" charset="0"/>
            </a:endParaRPr>
          </a:p>
          <a:p>
            <a:endParaRPr lang="en-US"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13</a:t>
            </a:fld>
            <a:endParaRPr lang="fr-FR"/>
          </a:p>
        </p:txBody>
      </p:sp>
    </p:spTree>
    <p:extLst>
      <p:ext uri="{BB962C8B-B14F-4D97-AF65-F5344CB8AC3E}">
        <p14:creationId xmlns:p14="http://schemas.microsoft.com/office/powerpoint/2010/main" val="3927554982"/>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BE" b="1" i="1" dirty="0">
                <a:latin typeface="Times New Roman" pitchFamily="18" charset="0"/>
                <a:cs typeface="Times New Roman" pitchFamily="18" charset="0"/>
              </a:rPr>
              <a:t>1.1.3 Emploi convenable </a:t>
            </a:r>
            <a:endParaRPr lang="en-US" b="1" i="1" dirty="0">
              <a:latin typeface="Times New Roman" pitchFamily="18" charset="0"/>
              <a:cs typeface="Times New Roman" pitchFamily="18" charset="0"/>
            </a:endParaRPr>
          </a:p>
        </p:txBody>
      </p:sp>
      <p:sp>
        <p:nvSpPr>
          <p:cNvPr id="3" name="Espace réservé du contenu 2"/>
          <p:cNvSpPr>
            <a:spLocks noGrp="1"/>
          </p:cNvSpPr>
          <p:nvPr>
            <p:ph idx="1"/>
          </p:nvPr>
        </p:nvSpPr>
        <p:spPr/>
        <p:txBody>
          <a:bodyPr>
            <a:normAutofit fontScale="77500" lnSpcReduction="20000"/>
          </a:bodyPr>
          <a:lstStyle/>
          <a:p>
            <a:pPr marL="0" indent="0">
              <a:buNone/>
            </a:pPr>
            <a:r>
              <a:rPr lang="fr-BE" b="1" u="sng" dirty="0">
                <a:latin typeface="Times New Roman" pitchFamily="18" charset="0"/>
                <a:cs typeface="Times New Roman" pitchFamily="18" charset="0"/>
              </a:rPr>
              <a:t>Critères d’emploi non-convenables </a:t>
            </a:r>
            <a:r>
              <a:rPr lang="fr-BE" sz="2800" b="1" dirty="0">
                <a:solidFill>
                  <a:srgbClr val="C00000"/>
                </a:solidFill>
                <a:latin typeface="Times New Roman" pitchFamily="18" charset="0"/>
                <a:cs typeface="Times New Roman" pitchFamily="18" charset="0"/>
              </a:rPr>
              <a:t>(AM 22 à 32 quater)</a:t>
            </a:r>
            <a:endParaRPr lang="fr-BE" sz="2800" b="1" u="sng" dirty="0">
              <a:solidFill>
                <a:srgbClr val="C00000"/>
              </a:solidFill>
              <a:latin typeface="Times New Roman" pitchFamily="18" charset="0"/>
              <a:cs typeface="Times New Roman" pitchFamily="18" charset="0"/>
            </a:endParaRPr>
          </a:p>
          <a:p>
            <a:r>
              <a:rPr lang="fr-BE" b="1" dirty="0">
                <a:latin typeface="Times New Roman" pitchFamily="18" charset="0"/>
                <a:cs typeface="Times New Roman" pitchFamily="18" charset="0"/>
              </a:rPr>
              <a:t>Profession habituelle ou étudiée </a:t>
            </a:r>
            <a:r>
              <a:rPr lang="fr-BE" dirty="0">
                <a:latin typeface="Times New Roman" pitchFamily="18" charset="0"/>
                <a:cs typeface="Times New Roman" pitchFamily="18" charset="0"/>
              </a:rPr>
              <a:t>(max 3 à 5 mois)</a:t>
            </a:r>
            <a:endParaRPr lang="fr-BE" b="1" dirty="0">
              <a:latin typeface="Times New Roman" pitchFamily="18" charset="0"/>
              <a:cs typeface="Times New Roman" pitchFamily="18" charset="0"/>
            </a:endParaRPr>
          </a:p>
          <a:p>
            <a:r>
              <a:rPr lang="fr-BE" b="1" dirty="0">
                <a:latin typeface="Times New Roman" pitchFamily="18" charset="0"/>
                <a:cs typeface="Times New Roman" pitchFamily="18" charset="0"/>
              </a:rPr>
              <a:t>Conditions de travail </a:t>
            </a:r>
            <a:r>
              <a:rPr lang="fr-BE" dirty="0">
                <a:latin typeface="Times New Roman" pitchFamily="18" charset="0"/>
                <a:cs typeface="Times New Roman" pitchFamily="18" charset="0"/>
              </a:rPr>
              <a:t>(salaire, temps de travail,…)</a:t>
            </a:r>
          </a:p>
          <a:p>
            <a:r>
              <a:rPr lang="fr-BE" b="1" dirty="0">
                <a:latin typeface="Times New Roman" pitchFamily="18" charset="0"/>
                <a:cs typeface="Times New Roman" pitchFamily="18" charset="0"/>
              </a:rPr>
              <a:t>Déplacements</a:t>
            </a:r>
            <a:r>
              <a:rPr lang="fr-BE" dirty="0">
                <a:latin typeface="Times New Roman" pitchFamily="18" charset="0"/>
                <a:cs typeface="Times New Roman" pitchFamily="18" charset="0"/>
              </a:rPr>
              <a:t> (durée du déplacement ou de l’absence du domicile)</a:t>
            </a:r>
          </a:p>
          <a:p>
            <a:r>
              <a:rPr lang="fr-BE" b="1" dirty="0">
                <a:latin typeface="Times New Roman" pitchFamily="18" charset="0"/>
                <a:cs typeface="Times New Roman" pitchFamily="18" charset="0"/>
              </a:rPr>
              <a:t>Perte financière</a:t>
            </a:r>
            <a:r>
              <a:rPr lang="fr-BE" dirty="0">
                <a:latin typeface="Times New Roman" pitchFamily="18" charset="0"/>
                <a:cs typeface="Times New Roman" pitchFamily="18" charset="0"/>
              </a:rPr>
              <a:t> (revenus&lt;revenus chômage)</a:t>
            </a:r>
          </a:p>
          <a:p>
            <a:r>
              <a:rPr lang="fr-BE" b="1" dirty="0">
                <a:latin typeface="Times New Roman" pitchFamily="18" charset="0"/>
                <a:cs typeface="Times New Roman" pitchFamily="18" charset="0"/>
              </a:rPr>
              <a:t>Horaire</a:t>
            </a:r>
            <a:r>
              <a:rPr lang="fr-BE" dirty="0">
                <a:latin typeface="Times New Roman" pitchFamily="18" charset="0"/>
                <a:cs typeface="Times New Roman" pitchFamily="18" charset="0"/>
              </a:rPr>
              <a:t>&gt;régime d’indemnisation </a:t>
            </a:r>
            <a:r>
              <a:rPr lang="fr-BE" b="1" dirty="0">
                <a:latin typeface="Times New Roman" pitchFamily="18" charset="0"/>
                <a:cs typeface="Times New Roman" pitchFamily="18" charset="0"/>
              </a:rPr>
              <a:t>TTRV</a:t>
            </a:r>
            <a:r>
              <a:rPr lang="fr-BE" dirty="0">
                <a:latin typeface="Times New Roman" pitchFamily="18" charset="0"/>
                <a:cs typeface="Times New Roman" pitchFamily="18" charset="0"/>
              </a:rPr>
              <a:t>+6h</a:t>
            </a:r>
          </a:p>
          <a:p>
            <a:r>
              <a:rPr lang="fr-BE" b="1" dirty="0">
                <a:latin typeface="Times New Roman" pitchFamily="18" charset="0"/>
                <a:cs typeface="Times New Roman" pitchFamily="18" charset="0"/>
              </a:rPr>
              <a:t>Travail de nuit </a:t>
            </a:r>
            <a:r>
              <a:rPr lang="fr-BE" dirty="0">
                <a:latin typeface="Times New Roman" pitchFamily="18" charset="0"/>
                <a:cs typeface="Times New Roman" pitchFamily="18" charset="0"/>
              </a:rPr>
              <a:t>(sauf secteurs ou professions spécifiques)</a:t>
            </a:r>
          </a:p>
          <a:p>
            <a:r>
              <a:rPr lang="fr-BE" dirty="0">
                <a:latin typeface="Times New Roman" pitchFamily="18" charset="0"/>
                <a:cs typeface="Times New Roman" pitchFamily="18" charset="0"/>
              </a:rPr>
              <a:t>Profession qui ne ressort </a:t>
            </a:r>
            <a:r>
              <a:rPr lang="fr-BE" b="1" dirty="0">
                <a:latin typeface="Times New Roman" pitchFamily="18" charset="0"/>
                <a:cs typeface="Times New Roman" pitchFamily="18" charset="0"/>
              </a:rPr>
              <a:t>pas du secteur des arts</a:t>
            </a:r>
            <a:r>
              <a:rPr lang="fr-BE" dirty="0">
                <a:latin typeface="Times New Roman" pitchFamily="18" charset="0"/>
                <a:cs typeface="Times New Roman" pitchFamily="18" charset="0"/>
              </a:rPr>
              <a:t> si bénéficie des ATA</a:t>
            </a:r>
          </a:p>
          <a:p>
            <a:r>
              <a:rPr lang="fr-BE" dirty="0">
                <a:latin typeface="Times New Roman" pitchFamily="18" charset="0"/>
                <a:cs typeface="Times New Roman" pitchFamily="18" charset="0"/>
              </a:rPr>
              <a:t>Inaptitude physique ou mentale pour le poste</a:t>
            </a:r>
          </a:p>
          <a:p>
            <a:endParaRPr lang="fr-BE" dirty="0">
              <a:latin typeface="Times New Roman" pitchFamily="18" charset="0"/>
              <a:cs typeface="Times New Roman" pitchFamily="18" charset="0"/>
            </a:endParaRPr>
          </a:p>
          <a:p>
            <a:endParaRPr lang="fr-BE" dirty="0">
              <a:latin typeface="Times New Roman" pitchFamily="18" charset="0"/>
              <a:cs typeface="Times New Roman" pitchFamily="18" charset="0"/>
            </a:endParaRPr>
          </a:p>
          <a:p>
            <a:endParaRPr lang="fr-FR"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14</a:t>
            </a:fld>
            <a:endParaRPr lang="fr-FR"/>
          </a:p>
        </p:txBody>
      </p:sp>
    </p:spTree>
    <p:extLst>
      <p:ext uri="{BB962C8B-B14F-4D97-AF65-F5344CB8AC3E}">
        <p14:creationId xmlns:p14="http://schemas.microsoft.com/office/powerpoint/2010/main" val="2294527035"/>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pPr marL="0" indent="0">
              <a:buNone/>
            </a:pPr>
            <a:r>
              <a:rPr lang="fr-BE" sz="3000" dirty="0">
                <a:latin typeface="Times New Roman" pitchFamily="18" charset="0"/>
                <a:cs typeface="Times New Roman" pitchFamily="18" charset="0"/>
              </a:rPr>
              <a:t>Événements sans influence sur le caractère convenable d’un emploi :</a:t>
            </a:r>
            <a:endParaRPr lang="fr-BE" sz="2000" dirty="0">
              <a:latin typeface="Times New Roman" pitchFamily="18" charset="0"/>
              <a:cs typeface="Times New Roman" pitchFamily="18" charset="0"/>
            </a:endParaRPr>
          </a:p>
          <a:p>
            <a:pPr lvl="1"/>
            <a:r>
              <a:rPr lang="fr-BE" sz="3000" dirty="0">
                <a:latin typeface="Times New Roman" pitchFamily="18" charset="0"/>
                <a:cs typeface="Times New Roman" pitchFamily="18" charset="0"/>
              </a:rPr>
              <a:t>considérations d’ordre familial (garde d’enfant),</a:t>
            </a:r>
          </a:p>
          <a:p>
            <a:pPr lvl="1"/>
            <a:r>
              <a:rPr lang="fr-BE" sz="3000" dirty="0">
                <a:latin typeface="Times New Roman" pitchFamily="18" charset="0"/>
                <a:cs typeface="Times New Roman" pitchFamily="18" charset="0"/>
              </a:rPr>
              <a:t>possibilités d’emploi prochain, sauf contrat signé.</a:t>
            </a:r>
          </a:p>
          <a:p>
            <a:endParaRPr lang="en-US" dirty="0">
              <a:latin typeface="Times New Roman" pitchFamily="18" charset="0"/>
              <a:cs typeface="Times New Roman" pitchFamily="18" charset="0"/>
            </a:endParaRPr>
          </a:p>
        </p:txBody>
      </p:sp>
      <p:sp>
        <p:nvSpPr>
          <p:cNvPr id="5" name="Rectangle 2"/>
          <p:cNvSpPr>
            <a:spLocks noGrp="1" noChangeArrowheads="1"/>
          </p:cNvSpPr>
          <p:nvPr>
            <p:ph type="title"/>
          </p:nvPr>
        </p:nvSpPr>
        <p:spPr/>
        <p:txBody>
          <a:bodyPr>
            <a:normAutofit/>
          </a:bodyPr>
          <a:lstStyle/>
          <a:p>
            <a:r>
              <a:rPr lang="fr-BE" b="1" i="1" dirty="0">
                <a:latin typeface="Times New Roman" pitchFamily="18" charset="0"/>
                <a:cs typeface="Times New Roman" pitchFamily="18" charset="0"/>
              </a:rPr>
              <a:t>1.1.3 Emploi convenable</a:t>
            </a:r>
            <a:r>
              <a:rPr lang="fr-BE" sz="2800" b="1" i="1" dirty="0">
                <a:solidFill>
                  <a:prstClr val="black"/>
                </a:solidFill>
                <a:latin typeface="Times New Roman" pitchFamily="18" charset="0"/>
                <a:cs typeface="Times New Roman" pitchFamily="18" charset="0"/>
              </a:rPr>
              <a:t>(AM 32)</a:t>
            </a:r>
            <a:r>
              <a:rPr lang="fr-BE" b="1" i="1" dirty="0">
                <a:latin typeface="Times New Roman" pitchFamily="18" charset="0"/>
                <a:cs typeface="Times New Roman" pitchFamily="18" charset="0"/>
              </a:rPr>
              <a:t>   </a:t>
            </a:r>
            <a:endParaRPr lang="fr-FR" dirty="0"/>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15</a:t>
            </a:fld>
            <a:endParaRPr lang="fr-FR"/>
          </a:p>
        </p:txBody>
      </p:sp>
    </p:spTree>
    <p:extLst>
      <p:ext uri="{BB962C8B-B14F-4D97-AF65-F5344CB8AC3E}">
        <p14:creationId xmlns:p14="http://schemas.microsoft.com/office/powerpoint/2010/main" val="1418187816"/>
      </p:ext>
    </p:extLst>
  </p:cSld>
  <p:clrMapOvr>
    <a:masterClrMapping/>
  </p:clrMapOvr>
  <p:transition>
    <p:dissolv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BE" b="1" i="1" dirty="0">
                <a:latin typeface="Times New Roman" pitchFamily="18" charset="0"/>
                <a:cs typeface="Times New Roman" pitchFamily="18" charset="0"/>
              </a:rPr>
              <a:t>1.1.4 EXCLUSIONS</a:t>
            </a:r>
            <a:endParaRPr lang="en-US" b="1" i="1" dirty="0">
              <a:latin typeface="Times New Roman" pitchFamily="18" charset="0"/>
              <a:cs typeface="Times New Roman" pitchFamily="18" charset="0"/>
            </a:endParaRPr>
          </a:p>
        </p:txBody>
      </p:sp>
      <p:graphicFrame>
        <p:nvGraphicFramePr>
          <p:cNvPr id="101376" name="Object 0">
            <a:hlinkClick r:id="" action="ppaction://ole?verb=0"/>
          </p:cNvPr>
          <p:cNvGraphicFramePr>
            <a:graphicFrameLocks noGrp="1"/>
          </p:cNvGraphicFramePr>
          <p:nvPr>
            <p:ph idx="1"/>
          </p:nvPr>
        </p:nvGraphicFramePr>
        <p:xfrm>
          <a:off x="611560" y="2143116"/>
          <a:ext cx="2206226" cy="3389313"/>
        </p:xfrm>
        <a:graphic>
          <a:graphicData uri="http://schemas.openxmlformats.org/presentationml/2006/ole">
            <mc:AlternateContent xmlns:mc="http://schemas.openxmlformats.org/markup-compatibility/2006">
              <mc:Choice xmlns:v="urn:schemas-microsoft-com:vml" Requires="v">
                <p:oleObj name="Microsoft ClipArt Gallery" r:id="rId2" imgW="2031840" imgH="3389040" progId="">
                  <p:embed/>
                </p:oleObj>
              </mc:Choice>
              <mc:Fallback>
                <p:oleObj name="Microsoft ClipArt Gallery" r:id="rId2" imgW="2031840" imgH="3389040" progId="">
                  <p:embed/>
                  <p:pic>
                    <p:nvPicPr>
                      <p:cNvPr id="101376" name="Object 0">
                        <a:hlinkClick r:id="" action="ppaction://ole?verb=0"/>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2143116"/>
                        <a:ext cx="2206226" cy="3389313"/>
                      </a:xfrm>
                      <a:prstGeom prst="rect">
                        <a:avLst/>
                      </a:prstGeom>
                      <a:noFill/>
                      <a:ln>
                        <a:noFill/>
                      </a:ln>
                      <a:effectLst/>
                    </p:spPr>
                  </p:pic>
                </p:oleObj>
              </mc:Fallback>
            </mc:AlternateContent>
          </a:graphicData>
        </a:graphic>
      </p:graphicFrame>
      <p:sp>
        <p:nvSpPr>
          <p:cNvPr id="6" name="Rectangle 5"/>
          <p:cNvSpPr/>
          <p:nvPr/>
        </p:nvSpPr>
        <p:spPr>
          <a:xfrm>
            <a:off x="3223062" y="2143115"/>
            <a:ext cx="4572000" cy="3776418"/>
          </a:xfrm>
          <a:prstGeom prst="rect">
            <a:avLst/>
          </a:prstGeom>
        </p:spPr>
        <p:txBody>
          <a:bodyPr>
            <a:spAutoFit/>
          </a:bodyPr>
          <a:lstStyle/>
          <a:p>
            <a:pPr>
              <a:lnSpc>
                <a:spcPct val="90000"/>
              </a:lnSpc>
            </a:pPr>
            <a:r>
              <a:rPr lang="fr-BE" sz="2800" u="sng" dirty="0">
                <a:latin typeface="Times New Roman" pitchFamily="18" charset="0"/>
                <a:cs typeface="Times New Roman" pitchFamily="18" charset="0"/>
              </a:rPr>
              <a:t>Article 52</a:t>
            </a:r>
            <a:r>
              <a:rPr lang="fr-BE" sz="2800" dirty="0">
                <a:latin typeface="Times New Roman" pitchFamily="18" charset="0"/>
                <a:cs typeface="Times New Roman" pitchFamily="18" charset="0"/>
              </a:rPr>
              <a:t>  </a:t>
            </a:r>
            <a:r>
              <a:rPr lang="fr-BE" dirty="0">
                <a:latin typeface="Times New Roman" pitchFamily="18" charset="0"/>
                <a:cs typeface="Times New Roman" pitchFamily="18" charset="0"/>
              </a:rPr>
              <a:t>(faute grave):</a:t>
            </a:r>
          </a:p>
          <a:p>
            <a:pPr lvl="1">
              <a:lnSpc>
                <a:spcPct val="90000"/>
              </a:lnSpc>
            </a:pPr>
            <a:r>
              <a:rPr lang="fr-BE" sz="2400" dirty="0">
                <a:latin typeface="Times New Roman" pitchFamily="18" charset="0"/>
                <a:cs typeface="Times New Roman" pitchFamily="18" charset="0"/>
              </a:rPr>
              <a:t>    	Exclusion pendant une 	période de 4 à 26 semaines</a:t>
            </a:r>
          </a:p>
          <a:p>
            <a:pPr lvl="1">
              <a:lnSpc>
                <a:spcPct val="90000"/>
              </a:lnSpc>
            </a:pPr>
            <a:endParaRPr lang="fr-BE" sz="2400" dirty="0">
              <a:latin typeface="Times New Roman" pitchFamily="18" charset="0"/>
              <a:cs typeface="Times New Roman" pitchFamily="18" charset="0"/>
            </a:endParaRPr>
          </a:p>
          <a:p>
            <a:pPr>
              <a:lnSpc>
                <a:spcPct val="90000"/>
              </a:lnSpc>
            </a:pPr>
            <a:r>
              <a:rPr lang="fr-BE" sz="2800" u="sng" dirty="0">
                <a:latin typeface="Times New Roman" pitchFamily="18" charset="0"/>
                <a:cs typeface="Times New Roman" pitchFamily="18" charset="0"/>
              </a:rPr>
              <a:t>Article 52 bis</a:t>
            </a:r>
            <a:r>
              <a:rPr lang="fr-BE" sz="2800" dirty="0">
                <a:latin typeface="Times New Roman" pitchFamily="18" charset="0"/>
                <a:cs typeface="Times New Roman" pitchFamily="18" charset="0"/>
              </a:rPr>
              <a:t> </a:t>
            </a:r>
            <a:r>
              <a:rPr lang="fr-BE" dirty="0">
                <a:latin typeface="Times New Roman" pitchFamily="18" charset="0"/>
                <a:cs typeface="Times New Roman" pitchFamily="18" charset="0"/>
              </a:rPr>
              <a:t>(abandon d’emploi ou disponibilité passive):</a:t>
            </a:r>
          </a:p>
          <a:p>
            <a:pPr lvl="1">
              <a:lnSpc>
                <a:spcPct val="90000"/>
              </a:lnSpc>
            </a:pPr>
            <a:r>
              <a:rPr lang="fr-BE" sz="2400" dirty="0">
                <a:latin typeface="Times New Roman" pitchFamily="18" charset="0"/>
                <a:cs typeface="Times New Roman" pitchFamily="18" charset="0"/>
              </a:rPr>
              <a:t>	Exclusion pendant une 	période de 4 à 52 semaines</a:t>
            </a:r>
            <a:endParaRPr lang="en-US" dirty="0">
              <a:latin typeface="Times New Roman" pitchFamily="18" charset="0"/>
              <a:cs typeface="Times New Roman" pitchFamily="18" charset="0"/>
            </a:endParaRPr>
          </a:p>
          <a:p>
            <a:pPr marL="0" lvl="1" indent="11113">
              <a:lnSpc>
                <a:spcPct val="90000"/>
              </a:lnSpc>
            </a:pPr>
            <a:endParaRPr lang="en-US" sz="2400" dirty="0">
              <a:latin typeface="Times New Roman" pitchFamily="18" charset="0"/>
              <a:cs typeface="Times New Roman" pitchFamily="18" charset="0"/>
            </a:endParaRPr>
          </a:p>
          <a:p>
            <a:pPr marL="0" lvl="1" indent="11113">
              <a:lnSpc>
                <a:spcPct val="90000"/>
              </a:lnSpc>
            </a:pPr>
            <a:r>
              <a:rPr lang="fr-BE" sz="2400" dirty="0">
                <a:latin typeface="Times New Roman" pitchFamily="18" charset="0"/>
                <a:cs typeface="Times New Roman" pitchFamily="18" charset="0"/>
                <a:sym typeface="Wingdings" panose="05000000000000000000" pitchFamily="2" charset="2"/>
              </a:rPr>
              <a:t> Risques de perte du droit en cas de récidive</a:t>
            </a:r>
            <a:endParaRPr lang="fr-BE" sz="2400" dirty="0">
              <a:latin typeface="Times New Roman" pitchFamily="18" charset="0"/>
              <a:cs typeface="Times New Roman" pitchFamily="18" charset="0"/>
            </a:endParaRPr>
          </a:p>
        </p:txBody>
      </p:sp>
      <p:sp>
        <p:nvSpPr>
          <p:cNvPr id="3" name="Espace réservé du numéro de diapositive 2"/>
          <p:cNvSpPr>
            <a:spLocks noGrp="1"/>
          </p:cNvSpPr>
          <p:nvPr>
            <p:ph type="sldNum" sz="quarter" idx="12"/>
          </p:nvPr>
        </p:nvSpPr>
        <p:spPr/>
        <p:txBody>
          <a:bodyPr/>
          <a:lstStyle/>
          <a:p>
            <a:fld id="{55E9056B-6A30-4F99-BDE9-C450E66AE125}" type="slidenum">
              <a:rPr lang="fr-FR" smtClean="0"/>
              <a:pPr/>
              <a:t>16</a:t>
            </a:fld>
            <a:endParaRPr lang="fr-FR"/>
          </a:p>
        </p:txBody>
      </p:sp>
    </p:spTree>
    <p:extLst>
      <p:ext uri="{BB962C8B-B14F-4D97-AF65-F5344CB8AC3E}">
        <p14:creationId xmlns:p14="http://schemas.microsoft.com/office/powerpoint/2010/main" val="3437107758"/>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nodeType="clickEffect">
                                  <p:stCondLst>
                                    <p:cond delay="0"/>
                                  </p:stCondLst>
                                  <p:childTnLst>
                                    <p:set>
                                      <p:cBhvr>
                                        <p:cTn id="6" dur="1" fill="hold">
                                          <p:stCondLst>
                                            <p:cond delay="0"/>
                                          </p:stCondLst>
                                        </p:cTn>
                                        <p:tgtEl>
                                          <p:spTgt spid="101376"/>
                                        </p:tgtEl>
                                        <p:attrNameLst>
                                          <p:attrName>style.visibility</p:attrName>
                                        </p:attrNameLst>
                                      </p:cBhvr>
                                      <p:to>
                                        <p:strVal val="visible"/>
                                      </p:to>
                                    </p:set>
                                    <p:animEffect transition="in" filter="strips(upRight)">
                                      <p:cBhvr>
                                        <p:cTn id="7" dur="500"/>
                                        <p:tgtEl>
                                          <p:spTgt spid="1013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BE" b="1" i="1" dirty="0">
                <a:latin typeface="Times New Roman" pitchFamily="18" charset="0"/>
                <a:cs typeface="Times New Roman" pitchFamily="18" charset="0"/>
              </a:rPr>
              <a:t>Exclusions – 6</a:t>
            </a:r>
            <a:r>
              <a:rPr lang="fr-BE" b="1" i="1" baseline="30000" dirty="0">
                <a:latin typeface="Times New Roman" pitchFamily="18" charset="0"/>
                <a:cs typeface="Times New Roman" pitchFamily="18" charset="0"/>
              </a:rPr>
              <a:t>ème</a:t>
            </a:r>
            <a:r>
              <a:rPr lang="fr-BE" b="1" i="1" dirty="0">
                <a:latin typeface="Times New Roman" pitchFamily="18" charset="0"/>
                <a:cs typeface="Times New Roman" pitchFamily="18" charset="0"/>
              </a:rPr>
              <a:t> réforme de l’Etat</a:t>
            </a:r>
            <a:endParaRPr lang="en-US" b="1" i="1" dirty="0">
              <a:latin typeface="Times New Roman" pitchFamily="18" charset="0"/>
              <a:cs typeface="Times New Roman" pitchFamily="18" charset="0"/>
            </a:endParaRPr>
          </a:p>
        </p:txBody>
      </p:sp>
      <p:sp>
        <p:nvSpPr>
          <p:cNvPr id="3" name="Espace réservé du contenu 2"/>
          <p:cNvSpPr>
            <a:spLocks noGrp="1"/>
          </p:cNvSpPr>
          <p:nvPr>
            <p:ph idx="1"/>
          </p:nvPr>
        </p:nvSpPr>
        <p:spPr/>
        <p:txBody>
          <a:bodyPr>
            <a:normAutofit lnSpcReduction="10000"/>
          </a:bodyPr>
          <a:lstStyle/>
          <a:p>
            <a:pPr marL="0" indent="0">
              <a:buNone/>
            </a:pPr>
            <a:r>
              <a:rPr lang="fr-BE" sz="3000" dirty="0">
                <a:latin typeface="Times New Roman" panose="02020603050405020304" pitchFamily="18" charset="0"/>
                <a:cs typeface="Times New Roman" panose="02020603050405020304" pitchFamily="18" charset="0"/>
              </a:rPr>
              <a:t>Les différents SRE sont chargés du contrôle de la </a:t>
            </a:r>
            <a:r>
              <a:rPr lang="fr-BE" sz="3000" b="1" dirty="0">
                <a:solidFill>
                  <a:srgbClr val="C00000"/>
                </a:solidFill>
                <a:latin typeface="Times New Roman" panose="02020603050405020304" pitchFamily="18" charset="0"/>
                <a:cs typeface="Times New Roman" panose="02020603050405020304" pitchFamily="18" charset="0"/>
              </a:rPr>
              <a:t>disponibilité passive</a:t>
            </a:r>
            <a:r>
              <a:rPr lang="fr-BE" sz="3000" dirty="0">
                <a:solidFill>
                  <a:srgbClr val="C00000"/>
                </a:solidFill>
                <a:latin typeface="Times New Roman" panose="02020603050405020304" pitchFamily="18" charset="0"/>
                <a:cs typeface="Times New Roman" panose="02020603050405020304" pitchFamily="18" charset="0"/>
              </a:rPr>
              <a:t>. </a:t>
            </a:r>
          </a:p>
          <a:p>
            <a:pPr marL="0" indent="0">
              <a:buNone/>
            </a:pPr>
            <a:r>
              <a:rPr lang="fr-BE" sz="3000" dirty="0">
                <a:latin typeface="Times New Roman" panose="02020603050405020304" pitchFamily="18" charset="0"/>
                <a:cs typeface="Times New Roman" panose="02020603050405020304" pitchFamily="18" charset="0"/>
              </a:rPr>
              <a:t>Concrètement, cela concerne tous les critères de chômage volontaire à </a:t>
            </a:r>
            <a:r>
              <a:rPr lang="fr-BE" sz="3000" u="sng" dirty="0">
                <a:latin typeface="Times New Roman" panose="02020603050405020304" pitchFamily="18" charset="0"/>
                <a:cs typeface="Times New Roman" panose="02020603050405020304" pitchFamily="18" charset="0"/>
              </a:rPr>
              <a:t>l’exception de l’abandon d’un emploi convenable et du licenciement faisant suite à une attitude fautive du travailleur</a:t>
            </a:r>
            <a:r>
              <a:rPr lang="fr-BE" sz="3000" dirty="0">
                <a:latin typeface="Times New Roman" panose="02020603050405020304" pitchFamily="18" charset="0"/>
                <a:cs typeface="Times New Roman" panose="02020603050405020304" pitchFamily="18" charset="0"/>
              </a:rPr>
              <a:t> </a:t>
            </a:r>
          </a:p>
          <a:p>
            <a:pPr marL="0" indent="0">
              <a:buNone/>
            </a:pPr>
            <a:endParaRPr lang="fr-BE" sz="3000" dirty="0">
              <a:latin typeface="Times New Roman" panose="02020603050405020304" pitchFamily="18" charset="0"/>
              <a:cs typeface="Times New Roman" panose="02020603050405020304" pitchFamily="18" charset="0"/>
            </a:endParaRPr>
          </a:p>
          <a:p>
            <a:pPr marL="0" indent="0">
              <a:buNone/>
            </a:pPr>
            <a:r>
              <a:rPr lang="fr-BE" sz="3000" dirty="0">
                <a:latin typeface="Times New Roman" panose="02020603050405020304" pitchFamily="18" charset="0"/>
                <a:cs typeface="Times New Roman" panose="02020603050405020304" pitchFamily="18" charset="0"/>
                <a:sym typeface="Wingdings" panose="05000000000000000000" pitchFamily="2" charset="2"/>
              </a:rPr>
              <a:t> Ex: </a:t>
            </a:r>
            <a:r>
              <a:rPr lang="fr-BE" sz="3000" dirty="0">
                <a:latin typeface="Times New Roman" panose="02020603050405020304" pitchFamily="18" charset="0"/>
                <a:cs typeface="Times New Roman" panose="02020603050405020304" pitchFamily="18" charset="0"/>
              </a:rPr>
              <a:t>le refus d’emploi convenable ou de formation, le non respect du plan d’accompagnement, …</a:t>
            </a: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17</a:t>
            </a:fld>
            <a:endParaRPr lang="fr-FR"/>
          </a:p>
        </p:txBody>
      </p:sp>
    </p:spTree>
    <p:extLst>
      <p:ext uri="{BB962C8B-B14F-4D97-AF65-F5344CB8AC3E}">
        <p14:creationId xmlns:p14="http://schemas.microsoft.com/office/powerpoint/2010/main" val="3703040031"/>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BE" b="1" i="1" dirty="0">
                <a:latin typeface="Times New Roman" pitchFamily="18" charset="0"/>
                <a:cs typeface="Times New Roman" pitchFamily="18" charset="0"/>
              </a:rPr>
              <a:t>Exclusions – prise de cours</a:t>
            </a:r>
            <a:endParaRPr lang="en-US" b="1" i="1" dirty="0">
              <a:latin typeface="Times New Roman" pitchFamily="18" charset="0"/>
              <a:cs typeface="Times New Roman" pitchFamily="18" charset="0"/>
            </a:endParaRPr>
          </a:p>
        </p:txBody>
      </p:sp>
      <p:sp>
        <p:nvSpPr>
          <p:cNvPr id="3" name="Espace réservé du contenu 2"/>
          <p:cNvSpPr>
            <a:spLocks noGrp="1"/>
          </p:cNvSpPr>
          <p:nvPr>
            <p:ph idx="1"/>
          </p:nvPr>
        </p:nvSpPr>
        <p:spPr/>
        <p:txBody>
          <a:bodyPr/>
          <a:lstStyle/>
          <a:p>
            <a:pPr marL="0" indent="0">
              <a:buNone/>
            </a:pPr>
            <a:r>
              <a:rPr lang="fr-BE" dirty="0">
                <a:latin typeface="Times New Roman" pitchFamily="18" charset="0"/>
                <a:cs typeface="Times New Roman" pitchFamily="18" charset="0"/>
              </a:rPr>
              <a:t>Dans les situations où </a:t>
            </a:r>
            <a:r>
              <a:rPr lang="fr-BE" b="1" u="sng" dirty="0">
                <a:latin typeface="Times New Roman" pitchFamily="18" charset="0"/>
                <a:cs typeface="Times New Roman" pitchFamily="18" charset="0"/>
              </a:rPr>
              <a:t>l’</a:t>
            </a:r>
            <a:r>
              <a:rPr lang="fr-BE" b="1" u="sng" dirty="0" err="1">
                <a:latin typeface="Times New Roman" pitchFamily="18" charset="0"/>
                <a:cs typeface="Times New Roman" pitchFamily="18" charset="0"/>
              </a:rPr>
              <a:t>ONEm</a:t>
            </a:r>
            <a:r>
              <a:rPr lang="fr-BE" dirty="0">
                <a:latin typeface="Times New Roman" pitchFamily="18" charset="0"/>
                <a:cs typeface="Times New Roman" pitchFamily="18" charset="0"/>
              </a:rPr>
              <a:t> reste compétent  à savoir:</a:t>
            </a:r>
          </a:p>
          <a:p>
            <a:pPr lvl="1">
              <a:buFont typeface="Wingdings" panose="05000000000000000000" pitchFamily="2" charset="2"/>
              <a:buChar char="Ø"/>
            </a:pPr>
            <a:r>
              <a:rPr lang="fr-BE" sz="3200" dirty="0">
                <a:latin typeface="Times New Roman" pitchFamily="18" charset="0"/>
                <a:cs typeface="Times New Roman" pitchFamily="18" charset="0"/>
              </a:rPr>
              <a:t> abandon d’emploi ou licenciement suivi d’une DA</a:t>
            </a:r>
          </a:p>
          <a:p>
            <a:pPr marL="0" lvl="1" indent="0">
              <a:buNone/>
            </a:pPr>
            <a:endParaRPr lang="fr-BE" sz="3200" dirty="0">
              <a:latin typeface="Times New Roman" pitchFamily="18" charset="0"/>
              <a:cs typeface="Times New Roman" pitchFamily="18" charset="0"/>
            </a:endParaRPr>
          </a:p>
          <a:p>
            <a:pPr marL="0" lvl="1" indent="0">
              <a:buNone/>
            </a:pPr>
            <a:r>
              <a:rPr lang="fr-BE" sz="3200" b="1" dirty="0">
                <a:latin typeface="Times New Roman" pitchFamily="18" charset="0"/>
                <a:cs typeface="Times New Roman" pitchFamily="18" charset="0"/>
                <a:sym typeface="Wingdings" panose="05000000000000000000" pitchFamily="2" charset="2"/>
              </a:rPr>
              <a:t> </a:t>
            </a:r>
            <a:r>
              <a:rPr lang="fr-BE" sz="3200" b="1" dirty="0">
                <a:latin typeface="Times New Roman" pitchFamily="18" charset="0"/>
                <a:cs typeface="Times New Roman" pitchFamily="18" charset="0"/>
              </a:rPr>
              <a:t>l’exclusion prend cours le jour de la DA</a:t>
            </a:r>
            <a:r>
              <a:rPr lang="fr-BE" b="1" dirty="0">
                <a:latin typeface="Times New Roman" pitchFamily="18" charset="0"/>
                <a:cs typeface="Times New Roman" pitchFamily="18" charset="0"/>
              </a:rPr>
              <a:t>.</a:t>
            </a:r>
            <a:endParaRPr lang="fr-FR" b="1" dirty="0">
              <a:latin typeface="Times New Roman" pitchFamily="18" charset="0"/>
              <a:cs typeface="Times New Roman" pitchFamily="18" charset="0"/>
            </a:endParaRPr>
          </a:p>
          <a:p>
            <a:endParaRPr lang="en-US"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18</a:t>
            </a:fld>
            <a:endParaRPr lang="fr-FR"/>
          </a:p>
        </p:txBody>
      </p:sp>
    </p:spTree>
    <p:extLst>
      <p:ext uri="{BB962C8B-B14F-4D97-AF65-F5344CB8AC3E}">
        <p14:creationId xmlns:p14="http://schemas.microsoft.com/office/powerpoint/2010/main" val="1505263839"/>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BE" b="1" i="1" dirty="0">
                <a:latin typeface="Times New Roman" pitchFamily="18" charset="0"/>
                <a:cs typeface="Times New Roman" pitchFamily="18" charset="0"/>
              </a:rPr>
              <a:t>Exclusions – enquête</a:t>
            </a:r>
            <a:endParaRPr lang="en-US" dirty="0"/>
          </a:p>
        </p:txBody>
      </p:sp>
      <p:sp>
        <p:nvSpPr>
          <p:cNvPr id="3" name="Espace réservé du contenu 2"/>
          <p:cNvSpPr>
            <a:spLocks noGrp="1"/>
          </p:cNvSpPr>
          <p:nvPr>
            <p:ph idx="1"/>
          </p:nvPr>
        </p:nvSpPr>
        <p:spPr/>
        <p:txBody>
          <a:bodyPr>
            <a:normAutofit/>
          </a:bodyPr>
          <a:lstStyle/>
          <a:p>
            <a:pPr marL="0" indent="0">
              <a:lnSpc>
                <a:spcPct val="90000"/>
              </a:lnSpc>
              <a:buNone/>
            </a:pPr>
            <a:r>
              <a:rPr lang="fr-BE" dirty="0">
                <a:latin typeface="Times New Roman" pitchFamily="18" charset="0"/>
                <a:cs typeface="Times New Roman" pitchFamily="18" charset="0"/>
              </a:rPr>
              <a:t>Une décision doit alors être prise dans un délai d’1 mois et 10 jours prenant cours le jour suivant la réception du dossier complet.</a:t>
            </a:r>
          </a:p>
          <a:p>
            <a:pPr marL="0" indent="0">
              <a:lnSpc>
                <a:spcPct val="90000"/>
              </a:lnSpc>
              <a:buNone/>
            </a:pPr>
            <a:endParaRPr lang="fr-BE" dirty="0">
              <a:latin typeface="Times New Roman" pitchFamily="18" charset="0"/>
              <a:cs typeface="Times New Roman" pitchFamily="18" charset="0"/>
            </a:endParaRPr>
          </a:p>
          <a:p>
            <a:pPr marL="0" indent="0">
              <a:lnSpc>
                <a:spcPct val="90000"/>
              </a:lnSpc>
              <a:buNone/>
            </a:pPr>
            <a:r>
              <a:rPr lang="fr-BE" dirty="0">
                <a:latin typeface="Times New Roman" pitchFamily="18" charset="0"/>
                <a:cs typeface="Times New Roman" pitchFamily="18" charset="0"/>
              </a:rPr>
              <a:t>Pendant cette période, le chômeur est convoqué en audition pour être entendu.</a:t>
            </a:r>
            <a:endParaRPr lang="en-US"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19</a:t>
            </a:fld>
            <a:endParaRPr lang="fr-FR"/>
          </a:p>
        </p:txBody>
      </p:sp>
    </p:spTree>
    <p:extLst>
      <p:ext uri="{BB962C8B-B14F-4D97-AF65-F5344CB8AC3E}">
        <p14:creationId xmlns:p14="http://schemas.microsoft.com/office/powerpoint/2010/main" val="1754606085"/>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BE" b="1" i="1" dirty="0">
                <a:latin typeface="Times New Roman" pitchFamily="18" charset="0"/>
                <a:cs typeface="Times New Roman" pitchFamily="18" charset="0"/>
              </a:rPr>
              <a:t>Exclusions – enquête</a:t>
            </a:r>
            <a:endParaRPr lang="en-US" dirty="0"/>
          </a:p>
        </p:txBody>
      </p:sp>
      <p:sp>
        <p:nvSpPr>
          <p:cNvPr id="3" name="Espace réservé du contenu 2"/>
          <p:cNvSpPr>
            <a:spLocks noGrp="1"/>
          </p:cNvSpPr>
          <p:nvPr>
            <p:ph idx="1"/>
          </p:nvPr>
        </p:nvSpPr>
        <p:spPr>
          <a:xfrm>
            <a:off x="323528" y="1700808"/>
            <a:ext cx="8496944" cy="4525963"/>
          </a:xfrm>
        </p:spPr>
        <p:txBody>
          <a:bodyPr>
            <a:normAutofit fontScale="32500" lnSpcReduction="20000"/>
          </a:bodyPr>
          <a:lstStyle/>
          <a:p>
            <a:pPr marL="0" indent="0">
              <a:lnSpc>
                <a:spcPct val="90000"/>
              </a:lnSpc>
              <a:buNone/>
            </a:pPr>
            <a:r>
              <a:rPr lang="fr-BE" sz="11100" dirty="0">
                <a:latin typeface="Times New Roman" pitchFamily="18" charset="0"/>
                <a:cs typeface="Times New Roman" pitchFamily="18" charset="0"/>
              </a:rPr>
              <a:t>Si la décision est prise en dehors du délai d’1 mois et 10 jours, elle ne produit ses effets qu’à partir du lundi qui suit la remise du C29.</a:t>
            </a:r>
          </a:p>
          <a:p>
            <a:pPr marL="0" indent="0">
              <a:lnSpc>
                <a:spcPct val="90000"/>
              </a:lnSpc>
              <a:buNone/>
            </a:pPr>
            <a:endParaRPr lang="fr-BE" sz="11100" dirty="0">
              <a:latin typeface="Times New Roman" pitchFamily="18" charset="0"/>
              <a:cs typeface="Times New Roman" pitchFamily="18" charset="0"/>
            </a:endParaRPr>
          </a:p>
          <a:p>
            <a:pPr marL="0" indent="0">
              <a:lnSpc>
                <a:spcPct val="90000"/>
              </a:lnSpc>
              <a:buNone/>
            </a:pPr>
            <a:r>
              <a:rPr lang="fr-BE" sz="11100" dirty="0">
                <a:latin typeface="Times New Roman" pitchFamily="18" charset="0"/>
                <a:cs typeface="Times New Roman" pitchFamily="18" charset="0"/>
              </a:rPr>
              <a:t>Dans l’attente d’une décision, l’ONEm peut suspendre le paiement des AC à partir de la date de la DA (préfixe 71/)</a:t>
            </a:r>
            <a:endParaRPr lang="fr-BE" sz="11100" dirty="0"/>
          </a:p>
          <a:p>
            <a:pPr marL="271463" indent="0">
              <a:lnSpc>
                <a:spcPct val="90000"/>
              </a:lnSpc>
              <a:buNone/>
            </a:pPr>
            <a:br>
              <a:rPr lang="fr-BE" dirty="0"/>
            </a:br>
            <a:br>
              <a:rPr lang="fr-BE" dirty="0"/>
            </a:br>
            <a:endParaRPr lang="fr-BE" dirty="0">
              <a:latin typeface="Times New Roman" pitchFamily="18" charset="0"/>
              <a:cs typeface="Times New Roman" pitchFamily="18" charset="0"/>
            </a:endParaRPr>
          </a:p>
          <a:p>
            <a:pPr marL="0" indent="0">
              <a:lnSpc>
                <a:spcPct val="90000"/>
              </a:lnSpc>
              <a:buNone/>
            </a:pPr>
            <a:endParaRPr lang="fr-BE" dirty="0">
              <a:solidFill>
                <a:srgbClr val="0033CC"/>
              </a:solidFill>
              <a:latin typeface="Times New Roman" pitchFamily="18" charset="0"/>
              <a:cs typeface="Times New Roman" pitchFamily="18" charset="0"/>
            </a:endParaRPr>
          </a:p>
          <a:p>
            <a:pPr marL="0" indent="0">
              <a:lnSpc>
                <a:spcPct val="90000"/>
              </a:lnSpc>
              <a:buNone/>
            </a:pPr>
            <a:endParaRPr lang="fr-BE" dirty="0">
              <a:solidFill>
                <a:srgbClr val="0033CC"/>
              </a:solidFill>
              <a:latin typeface="Times New Roman" pitchFamily="18" charset="0"/>
              <a:cs typeface="Times New Roman" pitchFamily="18" charset="0"/>
            </a:endParaRPr>
          </a:p>
          <a:p>
            <a:pPr>
              <a:lnSpc>
                <a:spcPct val="90000"/>
              </a:lnSpc>
              <a:buFont typeface="Wingdings" pitchFamily="2" charset="2"/>
              <a:buChar char="ü"/>
            </a:pPr>
            <a:endParaRPr lang="fr-FR" dirty="0">
              <a:latin typeface="Times New Roman" pitchFamily="18" charset="0"/>
              <a:cs typeface="Times New Roman" pitchFamily="18" charset="0"/>
            </a:endParaRPr>
          </a:p>
          <a:p>
            <a:endParaRPr lang="en-US"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20</a:t>
            </a:fld>
            <a:endParaRPr lang="fr-FR"/>
          </a:p>
        </p:txBody>
      </p:sp>
    </p:spTree>
    <p:extLst>
      <p:ext uri="{BB962C8B-B14F-4D97-AF65-F5344CB8AC3E}">
        <p14:creationId xmlns:p14="http://schemas.microsoft.com/office/powerpoint/2010/main" val="82983510"/>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BE" b="1" i="1" dirty="0">
                <a:latin typeface="Times New Roman" pitchFamily="18" charset="0"/>
                <a:cs typeface="Times New Roman" pitchFamily="18" charset="0"/>
              </a:rPr>
              <a:t>Exclusions – enquête</a:t>
            </a:r>
            <a:endParaRPr lang="en-US" dirty="0"/>
          </a:p>
        </p:txBody>
      </p:sp>
      <p:sp>
        <p:nvSpPr>
          <p:cNvPr id="3" name="Espace réservé du contenu 2"/>
          <p:cNvSpPr>
            <a:spLocks noGrp="1"/>
          </p:cNvSpPr>
          <p:nvPr>
            <p:ph idx="1"/>
          </p:nvPr>
        </p:nvSpPr>
        <p:spPr>
          <a:xfrm>
            <a:off x="323528" y="1600200"/>
            <a:ext cx="8640960" cy="4525963"/>
          </a:xfrm>
        </p:spPr>
        <p:txBody>
          <a:bodyPr>
            <a:normAutofit fontScale="77500" lnSpcReduction="20000"/>
          </a:bodyPr>
          <a:lstStyle/>
          <a:p>
            <a:pPr marL="0" indent="0">
              <a:buNone/>
            </a:pPr>
            <a:r>
              <a:rPr lang="fr-BE" sz="4100" dirty="0">
                <a:latin typeface="Times New Roman" panose="02020603050405020304" pitchFamily="18" charset="0"/>
                <a:cs typeface="Times New Roman" panose="02020603050405020304" pitchFamily="18" charset="0"/>
              </a:rPr>
              <a:t>Par contre, lorsque c’est un </a:t>
            </a:r>
            <a:r>
              <a:rPr lang="fr-BE" sz="4100" b="1" u="sng" dirty="0">
                <a:latin typeface="Times New Roman" panose="02020603050405020304" pitchFamily="18" charset="0"/>
                <a:cs typeface="Times New Roman" panose="02020603050405020304" pitchFamily="18" charset="0"/>
              </a:rPr>
              <a:t>service régional </a:t>
            </a:r>
            <a:r>
              <a:rPr lang="fr-BE" sz="4100" dirty="0">
                <a:latin typeface="Times New Roman" panose="02020603050405020304" pitchFamily="18" charset="0"/>
                <a:cs typeface="Times New Roman" panose="02020603050405020304" pitchFamily="18" charset="0"/>
              </a:rPr>
              <a:t>pour l’emploi qui a pris la décision, cette dernière produit ses effets à partir du 1</a:t>
            </a:r>
            <a:r>
              <a:rPr lang="fr-BE" sz="4100" baseline="30000" dirty="0">
                <a:latin typeface="Times New Roman" panose="02020603050405020304" pitchFamily="18" charset="0"/>
                <a:cs typeface="Times New Roman" panose="02020603050405020304" pitchFamily="18" charset="0"/>
              </a:rPr>
              <a:t>er</a:t>
            </a:r>
            <a:r>
              <a:rPr lang="fr-BE" sz="4100" dirty="0">
                <a:latin typeface="Times New Roman" panose="02020603050405020304" pitchFamily="18" charset="0"/>
                <a:cs typeface="Times New Roman" panose="02020603050405020304" pitchFamily="18" charset="0"/>
              </a:rPr>
              <a:t> jour de la 4</a:t>
            </a:r>
            <a:r>
              <a:rPr lang="fr-BE" sz="4100" baseline="30000" dirty="0">
                <a:latin typeface="Times New Roman" panose="02020603050405020304" pitchFamily="18" charset="0"/>
                <a:cs typeface="Times New Roman" panose="02020603050405020304" pitchFamily="18" charset="0"/>
              </a:rPr>
              <a:t>ème</a:t>
            </a:r>
            <a:r>
              <a:rPr lang="fr-BE" sz="4100" dirty="0">
                <a:latin typeface="Times New Roman" panose="02020603050405020304" pitchFamily="18" charset="0"/>
                <a:cs typeface="Times New Roman" panose="02020603050405020304" pitchFamily="18" charset="0"/>
              </a:rPr>
              <a:t> semaine qui suit la semaine au cours de laquelle cet organisme communique la décision au chômeur et à l’ONEm. </a:t>
            </a:r>
          </a:p>
          <a:p>
            <a:pPr marL="0" indent="0">
              <a:buNone/>
            </a:pPr>
            <a:endParaRPr lang="fr-BE" sz="3900" dirty="0">
              <a:latin typeface="Times New Roman" panose="02020603050405020304" pitchFamily="18" charset="0"/>
              <a:cs typeface="Times New Roman" panose="02020603050405020304" pitchFamily="18" charset="0"/>
            </a:endParaRPr>
          </a:p>
          <a:p>
            <a:pPr marL="0" indent="0">
              <a:buNone/>
            </a:pPr>
            <a:br>
              <a:rPr lang="fr-BE" dirty="0"/>
            </a:br>
            <a:endParaRPr lang="fr-BE" dirty="0"/>
          </a:p>
          <a:p>
            <a:pPr marL="271463" indent="0">
              <a:lnSpc>
                <a:spcPct val="90000"/>
              </a:lnSpc>
              <a:buNone/>
            </a:pPr>
            <a:br>
              <a:rPr lang="fr-BE" dirty="0"/>
            </a:br>
            <a:br>
              <a:rPr lang="fr-BE" dirty="0"/>
            </a:br>
            <a:endParaRPr lang="fr-BE" dirty="0">
              <a:latin typeface="Times New Roman" pitchFamily="18" charset="0"/>
              <a:cs typeface="Times New Roman" pitchFamily="18" charset="0"/>
            </a:endParaRPr>
          </a:p>
          <a:p>
            <a:pPr marL="0" indent="0">
              <a:lnSpc>
                <a:spcPct val="90000"/>
              </a:lnSpc>
              <a:buNone/>
            </a:pPr>
            <a:endParaRPr lang="fr-BE" dirty="0">
              <a:solidFill>
                <a:srgbClr val="0033CC"/>
              </a:solidFill>
              <a:latin typeface="Times New Roman" pitchFamily="18" charset="0"/>
              <a:cs typeface="Times New Roman" pitchFamily="18" charset="0"/>
            </a:endParaRPr>
          </a:p>
          <a:p>
            <a:pPr marL="0" indent="0">
              <a:lnSpc>
                <a:spcPct val="90000"/>
              </a:lnSpc>
              <a:buNone/>
            </a:pPr>
            <a:endParaRPr lang="fr-BE" dirty="0">
              <a:solidFill>
                <a:srgbClr val="0033CC"/>
              </a:solidFill>
              <a:latin typeface="Times New Roman" pitchFamily="18" charset="0"/>
              <a:cs typeface="Times New Roman" pitchFamily="18" charset="0"/>
            </a:endParaRPr>
          </a:p>
          <a:p>
            <a:pPr>
              <a:lnSpc>
                <a:spcPct val="90000"/>
              </a:lnSpc>
              <a:buFont typeface="Wingdings" pitchFamily="2" charset="2"/>
              <a:buChar char="ü"/>
            </a:pPr>
            <a:endParaRPr lang="fr-FR" dirty="0">
              <a:latin typeface="Times New Roman" pitchFamily="18" charset="0"/>
              <a:cs typeface="Times New Roman" pitchFamily="18" charset="0"/>
            </a:endParaRPr>
          </a:p>
          <a:p>
            <a:endParaRPr lang="en-US"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21</a:t>
            </a:fld>
            <a:endParaRPr lang="fr-FR"/>
          </a:p>
        </p:txBody>
      </p:sp>
    </p:spTree>
    <p:extLst>
      <p:ext uri="{BB962C8B-B14F-4D97-AF65-F5344CB8AC3E}">
        <p14:creationId xmlns:p14="http://schemas.microsoft.com/office/powerpoint/2010/main" val="2812739850"/>
      </p:ext>
    </p:extLst>
  </p:cSld>
  <p:clrMapOvr>
    <a:masterClrMapping/>
  </p:clrMapOvr>
  <p:transition>
    <p:dissolv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BE" b="1" i="1" dirty="0">
                <a:latin typeface="Times New Roman" pitchFamily="18" charset="0"/>
                <a:cs typeface="Times New Roman" pitchFamily="18" charset="0"/>
              </a:rPr>
              <a:t>Exclusions – cumul</a:t>
            </a:r>
            <a:endParaRPr lang="en-US" dirty="0"/>
          </a:p>
        </p:txBody>
      </p:sp>
      <p:sp>
        <p:nvSpPr>
          <p:cNvPr id="3" name="Espace réservé du contenu 2"/>
          <p:cNvSpPr>
            <a:spLocks noGrp="1"/>
          </p:cNvSpPr>
          <p:nvPr>
            <p:ph idx="1"/>
          </p:nvPr>
        </p:nvSpPr>
        <p:spPr/>
        <p:txBody>
          <a:bodyPr/>
          <a:lstStyle/>
          <a:p>
            <a:pPr marL="0" indent="0">
              <a:buNone/>
            </a:pPr>
            <a:r>
              <a:rPr lang="fr-BE" dirty="0">
                <a:latin typeface="Times New Roman" pitchFamily="18" charset="0"/>
                <a:cs typeface="Times New Roman" pitchFamily="18" charset="0"/>
              </a:rPr>
              <a:t>Si plusieurs sanctions prennent cours au même moment, leurs durées s’additionnent.</a:t>
            </a:r>
          </a:p>
          <a:p>
            <a:pPr>
              <a:buNone/>
            </a:pPr>
            <a:endParaRPr lang="fr-BE" dirty="0">
              <a:latin typeface="Times New Roman" pitchFamily="18" charset="0"/>
              <a:cs typeface="Times New Roman" pitchFamily="18" charset="0"/>
            </a:endParaRPr>
          </a:p>
          <a:p>
            <a:pPr marL="0" indent="0">
              <a:buNone/>
            </a:pPr>
            <a:r>
              <a:rPr lang="fr-BE" dirty="0">
                <a:latin typeface="Times New Roman" pitchFamily="18" charset="0"/>
                <a:cs typeface="Times New Roman" pitchFamily="18" charset="0"/>
              </a:rPr>
              <a:t>Si une sanction doit prendre cours pendant une autre sanction, elle ne prend cours qu’à la fin de la 1</a:t>
            </a:r>
            <a:r>
              <a:rPr lang="fr-BE" baseline="30000" dirty="0">
                <a:latin typeface="Times New Roman" pitchFamily="18" charset="0"/>
                <a:cs typeface="Times New Roman" pitchFamily="18" charset="0"/>
              </a:rPr>
              <a:t>ère</a:t>
            </a:r>
            <a:r>
              <a:rPr lang="fr-BE" dirty="0">
                <a:latin typeface="Times New Roman" pitchFamily="18" charset="0"/>
                <a:cs typeface="Times New Roman" pitchFamily="18" charset="0"/>
              </a:rPr>
              <a:t> sanction. </a:t>
            </a:r>
            <a:endParaRPr lang="fr-FR" dirty="0">
              <a:latin typeface="Times New Roman" pitchFamily="18" charset="0"/>
              <a:cs typeface="Times New Roman" pitchFamily="18" charset="0"/>
            </a:endParaRPr>
          </a:p>
          <a:p>
            <a:endParaRPr lang="en-US"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22</a:t>
            </a:fld>
            <a:endParaRPr lang="fr-FR"/>
          </a:p>
        </p:txBody>
      </p:sp>
    </p:spTree>
    <p:extLst>
      <p:ext uri="{BB962C8B-B14F-4D97-AF65-F5344CB8AC3E}">
        <p14:creationId xmlns:p14="http://schemas.microsoft.com/office/powerpoint/2010/main" val="3078096942"/>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BE" b="1" i="1" dirty="0">
                <a:latin typeface="Times New Roman" pitchFamily="18" charset="0"/>
                <a:cs typeface="Times New Roman" pitchFamily="18" charset="0"/>
              </a:rPr>
              <a:t>Exclusions – maladie</a:t>
            </a:r>
            <a:endParaRPr lang="en-US" dirty="0"/>
          </a:p>
        </p:txBody>
      </p:sp>
      <p:sp>
        <p:nvSpPr>
          <p:cNvPr id="3" name="Espace réservé du contenu 2"/>
          <p:cNvSpPr>
            <a:spLocks noGrp="1"/>
          </p:cNvSpPr>
          <p:nvPr>
            <p:ph idx="1"/>
          </p:nvPr>
        </p:nvSpPr>
        <p:spPr/>
        <p:txBody>
          <a:bodyPr/>
          <a:lstStyle/>
          <a:p>
            <a:pPr marL="0" indent="0">
              <a:buNone/>
            </a:pPr>
            <a:r>
              <a:rPr lang="fr-BE" dirty="0">
                <a:latin typeface="Times New Roman" pitchFamily="18" charset="0"/>
                <a:cs typeface="Times New Roman" pitchFamily="18" charset="0"/>
              </a:rPr>
              <a:t>La période de maladie prolonge la durée d’une sanction (limitée à 3 ans maximum, calculée de date à date), </a:t>
            </a:r>
            <a:r>
              <a:rPr lang="fr-BE" u="sng" dirty="0">
                <a:latin typeface="Times New Roman" pitchFamily="18" charset="0"/>
                <a:cs typeface="Times New Roman" pitchFamily="18" charset="0"/>
              </a:rPr>
              <a:t>sauf en cas de </a:t>
            </a:r>
            <a:r>
              <a:rPr lang="fr-BE" dirty="0">
                <a:latin typeface="Times New Roman" pitchFamily="18" charset="0"/>
                <a:cs typeface="Times New Roman" pitchFamily="18" charset="0"/>
              </a:rPr>
              <a:t>:</a:t>
            </a:r>
          </a:p>
          <a:p>
            <a:pPr>
              <a:buNone/>
            </a:pPr>
            <a:endParaRPr lang="fr-BE" sz="1200" dirty="0">
              <a:latin typeface="Times New Roman" pitchFamily="18" charset="0"/>
              <a:cs typeface="Times New Roman" pitchFamily="18" charset="0"/>
            </a:endParaRPr>
          </a:p>
          <a:p>
            <a:pPr marL="457200" lvl="1" indent="0">
              <a:buNone/>
            </a:pPr>
            <a:r>
              <a:rPr lang="fr-BE" dirty="0">
                <a:latin typeface="Times New Roman" pitchFamily="18" charset="0"/>
                <a:cs typeface="Times New Roman" pitchFamily="18" charset="0"/>
              </a:rPr>
              <a:t>- </a:t>
            </a:r>
            <a:r>
              <a:rPr lang="fr-BE" sz="3200" dirty="0">
                <a:latin typeface="Times New Roman" pitchFamily="18" charset="0"/>
                <a:cs typeface="Times New Roman" pitchFamily="18" charset="0"/>
              </a:rPr>
              <a:t>repos d’accouchement,</a:t>
            </a:r>
          </a:p>
          <a:p>
            <a:pPr marL="457200" lvl="1" indent="0">
              <a:buNone/>
            </a:pPr>
            <a:r>
              <a:rPr lang="fr-BE" sz="3200" dirty="0">
                <a:latin typeface="Times New Roman" pitchFamily="18" charset="0"/>
                <a:cs typeface="Times New Roman" pitchFamily="18" charset="0"/>
              </a:rPr>
              <a:t>- accident de travail,</a:t>
            </a:r>
          </a:p>
          <a:p>
            <a:pPr marL="457200" lvl="1" indent="0">
              <a:buNone/>
            </a:pPr>
            <a:r>
              <a:rPr lang="fr-BE" sz="3200" dirty="0">
                <a:latin typeface="Times New Roman" pitchFamily="18" charset="0"/>
                <a:cs typeface="Times New Roman" pitchFamily="18" charset="0"/>
              </a:rPr>
              <a:t>- maladie professionnelle,</a:t>
            </a:r>
          </a:p>
          <a:p>
            <a:pPr marL="457200" lvl="1" indent="0">
              <a:buNone/>
            </a:pPr>
            <a:r>
              <a:rPr lang="fr-BE" sz="3200" dirty="0">
                <a:latin typeface="Times New Roman" pitchFamily="18" charset="0"/>
                <a:cs typeface="Times New Roman" pitchFamily="18" charset="0"/>
              </a:rPr>
              <a:t>- maladie pendant un contrat de travail. </a:t>
            </a:r>
            <a:endParaRPr lang="fr-FR" sz="3200"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23</a:t>
            </a:fld>
            <a:endParaRPr lang="fr-FR"/>
          </a:p>
        </p:txBody>
      </p:sp>
    </p:spTree>
    <p:extLst>
      <p:ext uri="{BB962C8B-B14F-4D97-AF65-F5344CB8AC3E}">
        <p14:creationId xmlns:p14="http://schemas.microsoft.com/office/powerpoint/2010/main" val="1906948181"/>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BE" b="1" i="1" dirty="0">
                <a:latin typeface="Times New Roman" pitchFamily="18" charset="0"/>
                <a:cs typeface="Times New Roman" pitchFamily="18" charset="0"/>
              </a:rPr>
              <a:t>Avertissement - sursis</a:t>
            </a:r>
            <a:endParaRPr lang="en-US" b="1" i="1" dirty="0">
              <a:latin typeface="Times New Roman" pitchFamily="18" charset="0"/>
              <a:cs typeface="Times New Roman" pitchFamily="18" charset="0"/>
            </a:endParaRPr>
          </a:p>
        </p:txBody>
      </p:sp>
      <p:sp>
        <p:nvSpPr>
          <p:cNvPr id="3" name="Espace réservé du contenu 2"/>
          <p:cNvSpPr>
            <a:spLocks noGrp="1"/>
          </p:cNvSpPr>
          <p:nvPr>
            <p:ph idx="1"/>
          </p:nvPr>
        </p:nvSpPr>
        <p:spPr/>
        <p:txBody>
          <a:bodyPr>
            <a:normAutofit lnSpcReduction="10000"/>
          </a:bodyPr>
          <a:lstStyle/>
          <a:p>
            <a:pPr marL="0" indent="0">
              <a:buNone/>
            </a:pPr>
            <a:r>
              <a:rPr lang="fr-BE" dirty="0">
                <a:latin typeface="Times New Roman" pitchFamily="18" charset="0"/>
                <a:cs typeface="Times New Roman" pitchFamily="18" charset="0"/>
              </a:rPr>
              <a:t>Le BC ou le SRE peuvent se limiter à donner un avertissement. </a:t>
            </a:r>
          </a:p>
          <a:p>
            <a:pPr marL="0" indent="0">
              <a:buNone/>
            </a:pPr>
            <a:endParaRPr lang="fr-BE" sz="1600" dirty="0">
              <a:latin typeface="Times New Roman" pitchFamily="18" charset="0"/>
              <a:cs typeface="Times New Roman" pitchFamily="18" charset="0"/>
            </a:endParaRPr>
          </a:p>
          <a:p>
            <a:pPr marL="0" indent="0">
              <a:buNone/>
            </a:pPr>
            <a:r>
              <a:rPr lang="fr-BE" dirty="0">
                <a:latin typeface="Times New Roman" pitchFamily="18" charset="0"/>
                <a:cs typeface="Times New Roman" pitchFamily="18" charset="0"/>
              </a:rPr>
              <a:t>Un nouvel élément après avertissement n’est pas considéré comme récidive, mais comme circonstance aggravante pour fixer la durée de la sanction.</a:t>
            </a:r>
          </a:p>
          <a:p>
            <a:pPr marL="0" indent="0">
              <a:buNone/>
            </a:pPr>
            <a:endParaRPr lang="fr-BE" sz="1600" dirty="0">
              <a:latin typeface="Times New Roman" pitchFamily="18" charset="0"/>
              <a:cs typeface="Times New Roman" pitchFamily="18" charset="0"/>
            </a:endParaRPr>
          </a:p>
          <a:p>
            <a:pPr marL="0" indent="0">
              <a:buNone/>
            </a:pPr>
            <a:r>
              <a:rPr lang="fr-BE" dirty="0">
                <a:latin typeface="Times New Roman" pitchFamily="18" charset="0"/>
                <a:cs typeface="Times New Roman" pitchFamily="18" charset="0"/>
              </a:rPr>
              <a:t>Plusieurs avertissements peuvent être donnés consécutivement.</a:t>
            </a:r>
            <a:endParaRPr lang="fr-FR"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24</a:t>
            </a:fld>
            <a:endParaRPr lang="fr-FR"/>
          </a:p>
        </p:txBody>
      </p:sp>
    </p:spTree>
    <p:extLst>
      <p:ext uri="{BB962C8B-B14F-4D97-AF65-F5344CB8AC3E}">
        <p14:creationId xmlns:p14="http://schemas.microsoft.com/office/powerpoint/2010/main" val="3495284788"/>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BE" b="1" i="1" dirty="0">
                <a:latin typeface="Times New Roman" pitchFamily="18" charset="0"/>
                <a:cs typeface="Times New Roman" pitchFamily="18" charset="0"/>
              </a:rPr>
              <a:t>Avertissement - sursis</a:t>
            </a:r>
            <a:endParaRPr lang="en-US" dirty="0"/>
          </a:p>
        </p:txBody>
      </p:sp>
      <p:sp>
        <p:nvSpPr>
          <p:cNvPr id="3" name="Espace réservé du contenu 2"/>
          <p:cNvSpPr>
            <a:spLocks noGrp="1"/>
          </p:cNvSpPr>
          <p:nvPr>
            <p:ph idx="1"/>
          </p:nvPr>
        </p:nvSpPr>
        <p:spPr/>
        <p:txBody>
          <a:bodyPr/>
          <a:lstStyle/>
          <a:p>
            <a:pPr marL="0" indent="0">
              <a:buNone/>
            </a:pPr>
            <a:r>
              <a:rPr lang="fr-BE" dirty="0">
                <a:latin typeface="Times New Roman" pitchFamily="18" charset="0"/>
                <a:cs typeface="Times New Roman" pitchFamily="18" charset="0"/>
              </a:rPr>
              <a:t>L’ONEm  ou le SRE peuvent aussi assortir leurs décisions d’un sursis complet ou partiel.</a:t>
            </a:r>
          </a:p>
          <a:p>
            <a:pPr>
              <a:buNone/>
            </a:pPr>
            <a:endParaRPr lang="fr-FR" sz="1800" dirty="0">
              <a:latin typeface="Times New Roman" pitchFamily="18" charset="0"/>
              <a:cs typeface="Times New Roman" pitchFamily="18" charset="0"/>
            </a:endParaRPr>
          </a:p>
          <a:p>
            <a:pPr marL="0" indent="0">
              <a:buNone/>
            </a:pPr>
            <a:r>
              <a:rPr lang="fr-BE" dirty="0">
                <a:latin typeface="Times New Roman" pitchFamily="18" charset="0"/>
                <a:cs typeface="Times New Roman" pitchFamily="18" charset="0"/>
              </a:rPr>
              <a:t>Il ne peut plus y avoir de sursis en cas de récidive.</a:t>
            </a:r>
            <a:endParaRPr lang="en-US" dirty="0">
              <a:latin typeface="Times New Roman" pitchFamily="18" charset="0"/>
              <a:cs typeface="Times New Roman" pitchFamily="18" charset="0"/>
            </a:endParaRP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25</a:t>
            </a:fld>
            <a:endParaRPr lang="fr-FR"/>
          </a:p>
        </p:txBody>
      </p:sp>
    </p:spTree>
    <p:extLst>
      <p:ext uri="{BB962C8B-B14F-4D97-AF65-F5344CB8AC3E}">
        <p14:creationId xmlns:p14="http://schemas.microsoft.com/office/powerpoint/2010/main" val="440655761"/>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67544" y="1124744"/>
            <a:ext cx="8229600" cy="4525963"/>
          </a:xfrm>
        </p:spPr>
        <p:txBody>
          <a:bodyPr>
            <a:normAutofit/>
          </a:bodyPr>
          <a:lstStyle/>
          <a:p>
            <a:pPr marL="0" indent="0">
              <a:buNone/>
            </a:pPr>
            <a:endParaRPr lang="fr-BE" sz="4400" dirty="0">
              <a:latin typeface="Times New Roman" pitchFamily="18" charset="0"/>
              <a:cs typeface="Times New Roman" pitchFamily="18" charset="0"/>
            </a:endParaRPr>
          </a:p>
          <a:p>
            <a:pPr marL="0" indent="0" algn="ctr">
              <a:buNone/>
            </a:pPr>
            <a:endParaRPr lang="fr-BE" sz="4400" dirty="0">
              <a:latin typeface="Times New Roman" pitchFamily="18" charset="0"/>
              <a:cs typeface="Times New Roman" pitchFamily="18" charset="0"/>
            </a:endParaRPr>
          </a:p>
          <a:p>
            <a:pPr marL="0" indent="0" algn="ctr">
              <a:buNone/>
            </a:pPr>
            <a:r>
              <a:rPr lang="fr-BE" sz="4400" dirty="0">
                <a:latin typeface="Times New Roman" pitchFamily="18" charset="0"/>
                <a:cs typeface="Times New Roman" pitchFamily="18" charset="0"/>
              </a:rPr>
              <a:t>1.2. Les sanctions administratives</a:t>
            </a:r>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26</a:t>
            </a:fld>
            <a:endParaRPr lang="fr-FR"/>
          </a:p>
        </p:txBody>
      </p:sp>
    </p:spTree>
    <p:extLst>
      <p:ext uri="{BB962C8B-B14F-4D97-AF65-F5344CB8AC3E}">
        <p14:creationId xmlns:p14="http://schemas.microsoft.com/office/powerpoint/2010/main" val="205760052"/>
      </p:ext>
    </p:extLst>
  </p:cSld>
  <p:clrMapOvr>
    <a:masterClrMapping/>
  </p:clrMapOvr>
  <p:transition>
    <p:dissolv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BE" b="1" i="1" dirty="0">
                <a:latin typeface="Times New Roman" pitchFamily="18" charset="0"/>
                <a:cs typeface="Times New Roman" pitchFamily="18" charset="0"/>
              </a:rPr>
              <a:t>1.2.1. Article 153</a:t>
            </a:r>
            <a:endParaRPr lang="en-US" b="1" i="1" dirty="0">
              <a:latin typeface="Times New Roman" pitchFamily="18" charset="0"/>
              <a:cs typeface="Times New Roman" pitchFamily="18" charset="0"/>
            </a:endParaRPr>
          </a:p>
        </p:txBody>
      </p:sp>
      <p:sp>
        <p:nvSpPr>
          <p:cNvPr id="3" name="Espace réservé du contenu 2"/>
          <p:cNvSpPr>
            <a:spLocks noGrp="1"/>
          </p:cNvSpPr>
          <p:nvPr>
            <p:ph idx="1"/>
          </p:nvPr>
        </p:nvSpPr>
        <p:spPr/>
        <p:txBody>
          <a:bodyPr/>
          <a:lstStyle/>
          <a:p>
            <a:pPr marL="0" indent="0">
              <a:buNone/>
            </a:pPr>
            <a:r>
              <a:rPr lang="fr-BE" sz="4000" b="1" dirty="0">
                <a:latin typeface="Times New Roman" pitchFamily="18" charset="0"/>
                <a:cs typeface="Times New Roman" pitchFamily="18" charset="0"/>
              </a:rPr>
              <a:t>Il s’agit d’une déclaration inexacte ou d’omission de déclaration  de la situation personnelle et familiale.</a:t>
            </a:r>
          </a:p>
          <a:p>
            <a:endParaRPr lang="en-US"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27</a:t>
            </a:fld>
            <a:endParaRPr lang="fr-FR"/>
          </a:p>
        </p:txBody>
      </p:sp>
    </p:spTree>
    <p:extLst>
      <p:ext uri="{BB962C8B-B14F-4D97-AF65-F5344CB8AC3E}">
        <p14:creationId xmlns:p14="http://schemas.microsoft.com/office/powerpoint/2010/main" val="122143029"/>
      </p:ext>
    </p:extLst>
  </p:cSld>
  <p:clrMapOvr>
    <a:masterClrMapping/>
  </p:clrMapOvr>
  <p:transition>
    <p:dissolv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BE" b="1" i="1" dirty="0">
                <a:latin typeface="Times New Roman" pitchFamily="18" charset="0"/>
                <a:cs typeface="Times New Roman" pitchFamily="18" charset="0"/>
              </a:rPr>
              <a:t>Exclusion AR 153</a:t>
            </a:r>
            <a:endParaRPr lang="en-US" b="1" i="1" dirty="0">
              <a:latin typeface="Times New Roman" pitchFamily="18" charset="0"/>
              <a:cs typeface="Times New Roman" pitchFamily="18" charset="0"/>
            </a:endParaRPr>
          </a:p>
        </p:txBody>
      </p:sp>
      <p:sp>
        <p:nvSpPr>
          <p:cNvPr id="3" name="Espace réservé du contenu 2"/>
          <p:cNvSpPr>
            <a:spLocks noGrp="1"/>
          </p:cNvSpPr>
          <p:nvPr>
            <p:ph idx="1"/>
          </p:nvPr>
        </p:nvSpPr>
        <p:spPr/>
        <p:txBody>
          <a:bodyPr>
            <a:normAutofit fontScale="92500" lnSpcReduction="20000"/>
          </a:bodyPr>
          <a:lstStyle/>
          <a:p>
            <a:pPr marL="0" indent="0">
              <a:lnSpc>
                <a:spcPct val="90000"/>
              </a:lnSpc>
              <a:buNone/>
            </a:pPr>
            <a:r>
              <a:rPr lang="fr-BE" sz="2800" dirty="0">
                <a:latin typeface="Times New Roman" pitchFamily="18" charset="0"/>
                <a:cs typeface="Times New Roman" pitchFamily="18" charset="0"/>
              </a:rPr>
              <a:t>Le chômeur peut être exclu du bénéfice des AC pendant une période allant de </a:t>
            </a:r>
            <a:r>
              <a:rPr lang="fr-BE" sz="2800" b="1" dirty="0">
                <a:latin typeface="Times New Roman" pitchFamily="18" charset="0"/>
                <a:cs typeface="Times New Roman" pitchFamily="18" charset="0"/>
              </a:rPr>
              <a:t>4 à 13 semaines</a:t>
            </a:r>
            <a:r>
              <a:rPr lang="fr-BE" sz="2800" dirty="0">
                <a:latin typeface="Times New Roman" pitchFamily="18" charset="0"/>
                <a:cs typeface="Times New Roman" pitchFamily="18" charset="0"/>
              </a:rPr>
              <a:t>, s’il a perçu ou peut percevoir indûment des allocations, du fait qu’il :</a:t>
            </a:r>
          </a:p>
          <a:p>
            <a:pPr>
              <a:lnSpc>
                <a:spcPct val="90000"/>
              </a:lnSpc>
              <a:buNone/>
            </a:pPr>
            <a:endParaRPr lang="fr-BE" sz="1600" dirty="0">
              <a:latin typeface="Times New Roman" pitchFamily="18" charset="0"/>
              <a:cs typeface="Times New Roman" pitchFamily="18" charset="0"/>
            </a:endParaRPr>
          </a:p>
          <a:p>
            <a:pPr lvl="1">
              <a:lnSpc>
                <a:spcPct val="90000"/>
              </a:lnSpc>
            </a:pPr>
            <a:r>
              <a:rPr lang="fr-BE" sz="2400" dirty="0">
                <a:latin typeface="Times New Roman" pitchFamily="18" charset="0"/>
                <a:cs typeface="Times New Roman" pitchFamily="18" charset="0"/>
              </a:rPr>
              <a:t>a fait une </a:t>
            </a:r>
            <a:r>
              <a:rPr lang="fr-BE" sz="2400" b="1" dirty="0">
                <a:latin typeface="Times New Roman" pitchFamily="18" charset="0"/>
                <a:cs typeface="Times New Roman" pitchFamily="18" charset="0"/>
              </a:rPr>
              <a:t>déclaration inexacte ou incomplète</a:t>
            </a:r>
            <a:r>
              <a:rPr lang="fr-BE" sz="2400" dirty="0">
                <a:latin typeface="Times New Roman" pitchFamily="18" charset="0"/>
                <a:cs typeface="Times New Roman" pitchFamily="18" charset="0"/>
              </a:rPr>
              <a:t>;</a:t>
            </a:r>
          </a:p>
          <a:p>
            <a:pPr lvl="1">
              <a:lnSpc>
                <a:spcPct val="90000"/>
              </a:lnSpc>
            </a:pPr>
            <a:r>
              <a:rPr lang="fr-BE" sz="2400" dirty="0">
                <a:latin typeface="Times New Roman" pitchFamily="18" charset="0"/>
                <a:cs typeface="Times New Roman" pitchFamily="18" charset="0"/>
              </a:rPr>
              <a:t>a </a:t>
            </a:r>
            <a:r>
              <a:rPr lang="fr-BE" sz="2400" b="1" dirty="0">
                <a:latin typeface="Times New Roman" pitchFamily="18" charset="0"/>
                <a:cs typeface="Times New Roman" pitchFamily="18" charset="0"/>
              </a:rPr>
              <a:t>omis de faire une déclaration ou l’a faite tardivement.</a:t>
            </a:r>
          </a:p>
          <a:p>
            <a:pPr marL="0" indent="0">
              <a:lnSpc>
                <a:spcPct val="90000"/>
              </a:lnSpc>
              <a:buNone/>
            </a:pPr>
            <a:endParaRPr lang="fr-BE" dirty="0">
              <a:latin typeface="Times New Roman" pitchFamily="18" charset="0"/>
              <a:cs typeface="Times New Roman" pitchFamily="18" charset="0"/>
            </a:endParaRPr>
          </a:p>
          <a:p>
            <a:pPr marL="0" indent="0">
              <a:lnSpc>
                <a:spcPct val="90000"/>
              </a:lnSpc>
              <a:buNone/>
            </a:pPr>
            <a:r>
              <a:rPr lang="fr-BE" sz="2800" dirty="0">
                <a:latin typeface="Times New Roman" pitchFamily="18" charset="0"/>
                <a:cs typeface="Times New Roman" pitchFamily="18" charset="0"/>
              </a:rPr>
              <a:t>La durée minimale passe toutefois à </a:t>
            </a:r>
            <a:r>
              <a:rPr lang="fr-BE" sz="2800" b="1" dirty="0">
                <a:latin typeface="Times New Roman" pitchFamily="18" charset="0"/>
                <a:cs typeface="Times New Roman" pitchFamily="18" charset="0"/>
              </a:rPr>
              <a:t>8 semaines </a:t>
            </a:r>
            <a:r>
              <a:rPr lang="fr-BE" sz="2800" dirty="0">
                <a:latin typeface="Times New Roman" pitchFamily="18" charset="0"/>
                <a:cs typeface="Times New Roman" pitchFamily="18" charset="0"/>
              </a:rPr>
              <a:t>si la déclaration inexacte ou incomplète, le défaut de déclaration ou la déclaration tardive </a:t>
            </a:r>
            <a:r>
              <a:rPr lang="fr-BE" sz="2800" b="1" dirty="0">
                <a:latin typeface="Times New Roman" pitchFamily="18" charset="0"/>
                <a:cs typeface="Times New Roman" pitchFamily="18" charset="0"/>
              </a:rPr>
              <a:t>concerne une situation familiale </a:t>
            </a:r>
          </a:p>
          <a:p>
            <a:pPr lvl="1">
              <a:lnSpc>
                <a:spcPct val="90000"/>
              </a:lnSpc>
              <a:buNone/>
            </a:pPr>
            <a:endParaRPr lang="fr-BE" dirty="0">
              <a:latin typeface="Times New Roman" pitchFamily="18" charset="0"/>
              <a:cs typeface="Times New Roman" pitchFamily="18" charset="0"/>
            </a:endParaRPr>
          </a:p>
          <a:p>
            <a:pPr marL="0" indent="0">
              <a:lnSpc>
                <a:spcPct val="90000"/>
              </a:lnSpc>
              <a:buNone/>
            </a:pPr>
            <a:r>
              <a:rPr lang="fr-BE" sz="2800" dirty="0">
                <a:latin typeface="Times New Roman" pitchFamily="18" charset="0"/>
                <a:cs typeface="Times New Roman" pitchFamily="18" charset="0"/>
              </a:rPr>
              <a:t>En cas de récidive, la durée de la sanction est doublée, sans pouvoir dépasser 26 semaines. </a:t>
            </a:r>
            <a:endParaRPr lang="fr-FR" sz="2800" dirty="0">
              <a:latin typeface="Times New Roman" pitchFamily="18" charset="0"/>
              <a:cs typeface="Times New Roman" pitchFamily="18" charset="0"/>
            </a:endParaRPr>
          </a:p>
          <a:p>
            <a:endParaRPr lang="en-US"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28</a:t>
            </a:fld>
            <a:endParaRPr lang="fr-FR"/>
          </a:p>
        </p:txBody>
      </p:sp>
    </p:spTree>
    <p:extLst>
      <p:ext uri="{BB962C8B-B14F-4D97-AF65-F5344CB8AC3E}">
        <p14:creationId xmlns:p14="http://schemas.microsoft.com/office/powerpoint/2010/main" val="2490071367"/>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additive="base">
                                        <p:cTn id="3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BE" b="1" i="1" dirty="0">
                <a:latin typeface="Times New Roman" pitchFamily="18" charset="0"/>
                <a:cs typeface="Times New Roman" pitchFamily="18" charset="0"/>
              </a:rPr>
              <a:t>1.2.2. Article 154</a:t>
            </a:r>
            <a:endParaRPr lang="en-US" b="1" i="1" dirty="0">
              <a:latin typeface="Times New Roman" pitchFamily="18" charset="0"/>
              <a:cs typeface="Times New Roman" pitchFamily="18" charset="0"/>
            </a:endParaRPr>
          </a:p>
        </p:txBody>
      </p:sp>
      <p:sp>
        <p:nvSpPr>
          <p:cNvPr id="3" name="Espace réservé du contenu 2"/>
          <p:cNvSpPr>
            <a:spLocks noGrp="1"/>
          </p:cNvSpPr>
          <p:nvPr>
            <p:ph idx="1"/>
          </p:nvPr>
        </p:nvSpPr>
        <p:spPr>
          <a:xfrm>
            <a:off x="457200" y="1600200"/>
            <a:ext cx="8507288" cy="4525963"/>
          </a:xfrm>
        </p:spPr>
        <p:txBody>
          <a:bodyPr/>
          <a:lstStyle/>
          <a:p>
            <a:pPr marL="0" indent="0">
              <a:buNone/>
            </a:pPr>
            <a:r>
              <a:rPr lang="fr-BE" sz="4000" b="1" dirty="0">
                <a:latin typeface="Times New Roman" pitchFamily="18" charset="0"/>
                <a:cs typeface="Times New Roman" pitchFamily="18" charset="0"/>
              </a:rPr>
              <a:t>Cet article reprend les obligations du chômeur en matière de remplissage</a:t>
            </a:r>
          </a:p>
          <a:p>
            <a:pPr marL="0" indent="0">
              <a:buNone/>
            </a:pPr>
            <a:r>
              <a:rPr lang="fr-BE" sz="4000" b="1" dirty="0">
                <a:latin typeface="Times New Roman" pitchFamily="18" charset="0"/>
                <a:cs typeface="Times New Roman" pitchFamily="18" charset="0"/>
              </a:rPr>
              <a:t>de la carte de contrôle.</a:t>
            </a:r>
            <a:endParaRPr lang="fr-FR" sz="4000" b="1" dirty="0">
              <a:latin typeface="Times New Roman" pitchFamily="18" charset="0"/>
              <a:cs typeface="Times New Roman" pitchFamily="18" charset="0"/>
            </a:endParaRPr>
          </a:p>
          <a:p>
            <a:endParaRPr lang="en-US"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29</a:t>
            </a:fld>
            <a:endParaRPr lang="fr-FR"/>
          </a:p>
        </p:txBody>
      </p:sp>
    </p:spTree>
    <p:extLst>
      <p:ext uri="{BB962C8B-B14F-4D97-AF65-F5344CB8AC3E}">
        <p14:creationId xmlns:p14="http://schemas.microsoft.com/office/powerpoint/2010/main" val="848637771"/>
      </p:ext>
    </p:extLst>
  </p:cSld>
  <p:clrMapOvr>
    <a:masterClrMapping/>
  </p:clrMapOvr>
  <p:transition>
    <p:dissolv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b="1" i="1" dirty="0">
                <a:latin typeface="Times New Roman" pitchFamily="18" charset="0"/>
                <a:cs typeface="Times New Roman" pitchFamily="18" charset="0"/>
              </a:rPr>
              <a:t>Article 154</a:t>
            </a:r>
          </a:p>
        </p:txBody>
      </p:sp>
      <p:sp>
        <p:nvSpPr>
          <p:cNvPr id="3" name="Espace réservé du contenu 2"/>
          <p:cNvSpPr>
            <a:spLocks noGrp="1"/>
          </p:cNvSpPr>
          <p:nvPr>
            <p:ph idx="1"/>
          </p:nvPr>
        </p:nvSpPr>
        <p:spPr/>
        <p:txBody>
          <a:bodyPr>
            <a:noAutofit/>
          </a:bodyPr>
          <a:lstStyle/>
          <a:p>
            <a:pPr marL="0" indent="0">
              <a:lnSpc>
                <a:spcPct val="90000"/>
              </a:lnSpc>
              <a:buNone/>
            </a:pPr>
            <a:r>
              <a:rPr lang="fr-BE" sz="3000" dirty="0">
                <a:latin typeface="Times New Roman" pitchFamily="18" charset="0"/>
                <a:cs typeface="Times New Roman" pitchFamily="18" charset="0"/>
              </a:rPr>
              <a:t>Pour rappel (</a:t>
            </a:r>
            <a:r>
              <a:rPr lang="fr-BE" sz="3000" b="1" dirty="0">
                <a:latin typeface="Times New Roman" pitchFamily="18" charset="0"/>
                <a:cs typeface="Times New Roman" pitchFamily="18" charset="0"/>
              </a:rPr>
              <a:t>AR 71</a:t>
            </a:r>
            <a:r>
              <a:rPr lang="fr-BE" sz="3000" dirty="0">
                <a:latin typeface="Times New Roman" pitchFamily="18" charset="0"/>
                <a:cs typeface="Times New Roman" pitchFamily="18" charset="0"/>
              </a:rPr>
              <a:t>), le chômeur doit :</a:t>
            </a:r>
          </a:p>
          <a:p>
            <a:pPr>
              <a:lnSpc>
                <a:spcPct val="90000"/>
              </a:lnSpc>
              <a:buNone/>
            </a:pPr>
            <a:endParaRPr lang="fr-BE" sz="1600" dirty="0">
              <a:latin typeface="Times New Roman" pitchFamily="18" charset="0"/>
              <a:cs typeface="Times New Roman" pitchFamily="18" charset="0"/>
            </a:endParaRPr>
          </a:p>
          <a:p>
            <a:pPr marL="623888" lvl="1" indent="-166688">
              <a:lnSpc>
                <a:spcPct val="90000"/>
              </a:lnSpc>
              <a:buNone/>
            </a:pPr>
            <a:r>
              <a:rPr lang="fr-BE" sz="3000" dirty="0">
                <a:latin typeface="Times New Roman" pitchFamily="18" charset="0"/>
                <a:cs typeface="Times New Roman" pitchFamily="18" charset="0"/>
              </a:rPr>
              <a:t>- être en possession d’une carte de contrôle à partir du 1</a:t>
            </a:r>
            <a:r>
              <a:rPr lang="fr-BE" sz="3000" baseline="30000" dirty="0">
                <a:latin typeface="Times New Roman" pitchFamily="18" charset="0"/>
                <a:cs typeface="Times New Roman" pitchFamily="18" charset="0"/>
              </a:rPr>
              <a:t>er</a:t>
            </a:r>
            <a:r>
              <a:rPr lang="fr-BE" sz="3000" dirty="0">
                <a:latin typeface="Times New Roman" pitchFamily="18" charset="0"/>
                <a:cs typeface="Times New Roman" pitchFamily="18" charset="0"/>
              </a:rPr>
              <a:t> jour de chômage et jusqu’à la fin du mois;</a:t>
            </a:r>
          </a:p>
          <a:p>
            <a:pPr marL="457200" lvl="1" indent="0">
              <a:lnSpc>
                <a:spcPct val="90000"/>
              </a:lnSpc>
              <a:buNone/>
            </a:pPr>
            <a:r>
              <a:rPr lang="fr-BE" sz="3000" dirty="0">
                <a:latin typeface="Times New Roman" pitchFamily="18" charset="0"/>
                <a:cs typeface="Times New Roman" pitchFamily="18" charset="0"/>
              </a:rPr>
              <a:t>- compléter sa carte à l’encre indélébile;</a:t>
            </a:r>
          </a:p>
          <a:p>
            <a:pPr marL="623888" lvl="1" indent="-171450">
              <a:lnSpc>
                <a:spcPct val="90000"/>
              </a:lnSpc>
              <a:buNone/>
            </a:pPr>
            <a:r>
              <a:rPr lang="fr-BE" sz="3000" dirty="0">
                <a:latin typeface="Times New Roman" pitchFamily="18" charset="0"/>
                <a:cs typeface="Times New Roman" pitchFamily="18" charset="0"/>
              </a:rPr>
              <a:t>- avant d’exercer une activité, en faire la mention à l’encre indélébile sur sa carte;</a:t>
            </a:r>
          </a:p>
          <a:p>
            <a:pPr marL="623888" lvl="1" indent="-176213">
              <a:lnSpc>
                <a:spcPct val="90000"/>
              </a:lnSpc>
              <a:buNone/>
            </a:pPr>
            <a:r>
              <a:rPr lang="fr-BE" sz="3000" dirty="0">
                <a:latin typeface="Times New Roman" pitchFamily="18" charset="0"/>
                <a:cs typeface="Times New Roman" pitchFamily="18" charset="0"/>
              </a:rPr>
              <a:t>- présenter sa carte à chaque réquisition par un contrôleur.</a:t>
            </a:r>
            <a:endParaRPr lang="en-US" sz="3000" dirty="0">
              <a:latin typeface="Times New Roman" pitchFamily="18" charset="0"/>
              <a:cs typeface="Times New Roman" pitchFamily="18" charset="0"/>
            </a:endParaRP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30</a:t>
            </a:fld>
            <a:endParaRPr lang="fr-FR"/>
          </a:p>
        </p:txBody>
      </p:sp>
    </p:spTree>
    <p:extLst>
      <p:ext uri="{BB962C8B-B14F-4D97-AF65-F5344CB8AC3E}">
        <p14:creationId xmlns:p14="http://schemas.microsoft.com/office/powerpoint/2010/main" val="3162945983"/>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normAutofit/>
          </a:bodyPr>
          <a:lstStyle/>
          <a:p>
            <a:r>
              <a:rPr lang="fr-BE" b="1" i="1" dirty="0">
                <a:latin typeface="Times New Roman" panose="02020603050405020304" pitchFamily="18" charset="0"/>
                <a:cs typeface="Times New Roman" panose="02020603050405020304" pitchFamily="18" charset="0"/>
              </a:rPr>
              <a:t>Article 154  </a:t>
            </a:r>
            <a:endParaRPr lang="fr-BE" b="1" i="1" dirty="0">
              <a:solidFill>
                <a:srgbClr val="C00000"/>
              </a:solidFill>
              <a:latin typeface="Times New Roman" panose="02020603050405020304" pitchFamily="18" charset="0"/>
              <a:cs typeface="Times New Roman" panose="02020603050405020304" pitchFamily="18" charset="0"/>
            </a:endParaRPr>
          </a:p>
        </p:txBody>
      </p:sp>
      <p:pic>
        <p:nvPicPr>
          <p:cNvPr id="8" name="Espace réservé du contenu 7"/>
          <p:cNvPicPr>
            <a:picLocks noGrp="1" noChangeAspect="1"/>
          </p:cNvPicPr>
          <p:nvPr>
            <p:ph idx="1"/>
          </p:nvPr>
        </p:nvPicPr>
        <p:blipFill>
          <a:blip r:embed="rId3"/>
          <a:stretch>
            <a:fillRect/>
          </a:stretch>
        </p:blipFill>
        <p:spPr>
          <a:xfrm>
            <a:off x="457200" y="1916832"/>
            <a:ext cx="8229600" cy="4392488"/>
          </a:xfrm>
          <a:prstGeom prst="rect">
            <a:avLst/>
          </a:prstGeom>
        </p:spPr>
      </p:pic>
      <p:sp>
        <p:nvSpPr>
          <p:cNvPr id="2" name="ZoneTexte 1"/>
          <p:cNvSpPr txBox="1"/>
          <p:nvPr/>
        </p:nvSpPr>
        <p:spPr>
          <a:xfrm>
            <a:off x="453278" y="1393612"/>
            <a:ext cx="1296144" cy="523220"/>
          </a:xfrm>
          <a:prstGeom prst="rect">
            <a:avLst/>
          </a:prstGeom>
          <a:noFill/>
        </p:spPr>
        <p:txBody>
          <a:bodyPr wrap="square" rtlCol="0">
            <a:spAutoFit/>
          </a:bodyPr>
          <a:lstStyle/>
          <a:p>
            <a:r>
              <a:rPr lang="fr-BE" sz="2800" b="1" u="sng" dirty="0"/>
              <a:t>AR 71:</a:t>
            </a:r>
            <a:endParaRPr lang="en-US" sz="2800" b="1" u="sng"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31</a:t>
            </a:fld>
            <a:endParaRPr lang="fr-FR"/>
          </a:p>
        </p:txBody>
      </p:sp>
    </p:spTree>
    <p:extLst>
      <p:ext uri="{BB962C8B-B14F-4D97-AF65-F5344CB8AC3E}">
        <p14:creationId xmlns:p14="http://schemas.microsoft.com/office/powerpoint/2010/main" val="35123920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b="1" i="1" dirty="0">
                <a:latin typeface="Times New Roman" pitchFamily="18" charset="0"/>
                <a:cs typeface="Times New Roman" pitchFamily="18" charset="0"/>
              </a:rPr>
              <a:t>Article 154</a:t>
            </a:r>
          </a:p>
        </p:txBody>
      </p:sp>
      <p:sp>
        <p:nvSpPr>
          <p:cNvPr id="3" name="Espace réservé du contenu 2"/>
          <p:cNvSpPr>
            <a:spLocks noGrp="1"/>
          </p:cNvSpPr>
          <p:nvPr>
            <p:ph idx="1"/>
          </p:nvPr>
        </p:nvSpPr>
        <p:spPr/>
        <p:txBody>
          <a:bodyPr>
            <a:normAutofit/>
          </a:bodyPr>
          <a:lstStyle/>
          <a:p>
            <a:pPr marL="0" indent="0">
              <a:lnSpc>
                <a:spcPct val="90000"/>
              </a:lnSpc>
              <a:buNone/>
            </a:pPr>
            <a:r>
              <a:rPr lang="fr-BE" sz="3000" dirty="0">
                <a:latin typeface="Times New Roman" pitchFamily="18" charset="0"/>
                <a:cs typeface="Times New Roman" pitchFamily="18" charset="0"/>
              </a:rPr>
              <a:t>Le chômeur qui n’a pas respecté la réglementation, peut être exclu du chômage pour une période allant de 4 à 26 semaines.</a:t>
            </a:r>
          </a:p>
          <a:p>
            <a:pPr marL="0" indent="0">
              <a:lnSpc>
                <a:spcPct val="90000"/>
              </a:lnSpc>
              <a:buNone/>
            </a:pPr>
            <a:endParaRPr lang="fr-BE" sz="1600" dirty="0">
              <a:latin typeface="Times New Roman" pitchFamily="18" charset="0"/>
              <a:cs typeface="Times New Roman" pitchFamily="18" charset="0"/>
            </a:endParaRPr>
          </a:p>
          <a:p>
            <a:pPr marL="0" indent="0">
              <a:lnSpc>
                <a:spcPct val="90000"/>
              </a:lnSpc>
              <a:buNone/>
            </a:pPr>
            <a:r>
              <a:rPr lang="fr-BE" sz="3000" dirty="0">
                <a:latin typeface="Times New Roman" pitchFamily="18" charset="0"/>
                <a:cs typeface="Times New Roman" pitchFamily="18" charset="0"/>
              </a:rPr>
              <a:t>En cas de récidive, la durée de la sanction est doublée, sans pouvoir dépasser 52 semaines. </a:t>
            </a:r>
          </a:p>
          <a:p>
            <a:pPr marL="0" indent="0">
              <a:lnSpc>
                <a:spcPct val="90000"/>
              </a:lnSpc>
              <a:buNone/>
            </a:pPr>
            <a:endParaRPr lang="fr-BE" sz="1600" dirty="0">
              <a:latin typeface="Times New Roman" pitchFamily="18" charset="0"/>
              <a:cs typeface="Times New Roman" pitchFamily="18" charset="0"/>
            </a:endParaRPr>
          </a:p>
          <a:p>
            <a:pPr marL="0" indent="0">
              <a:lnSpc>
                <a:spcPct val="90000"/>
              </a:lnSpc>
              <a:buNone/>
            </a:pPr>
            <a:r>
              <a:rPr lang="fr-BE" sz="3000" dirty="0">
                <a:latin typeface="Times New Roman" pitchFamily="18" charset="0"/>
                <a:cs typeface="Times New Roman" pitchFamily="18" charset="0"/>
              </a:rPr>
              <a:t>Pas d’exclusion pour le chômeur temporaire qui n’est pas en possession de sa carte de contrôle mais qui l’a réclamée au BC. </a:t>
            </a:r>
            <a:endParaRPr lang="en-US" sz="3000" dirty="0">
              <a:latin typeface="Times New Roman" pitchFamily="18" charset="0"/>
              <a:cs typeface="Times New Roman" pitchFamily="18" charset="0"/>
            </a:endParaRP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32</a:t>
            </a:fld>
            <a:endParaRPr lang="fr-FR"/>
          </a:p>
        </p:txBody>
      </p:sp>
    </p:spTree>
    <p:extLst>
      <p:ext uri="{BB962C8B-B14F-4D97-AF65-F5344CB8AC3E}">
        <p14:creationId xmlns:p14="http://schemas.microsoft.com/office/powerpoint/2010/main" val="39211008"/>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BE" b="1" i="1" dirty="0">
                <a:latin typeface="Times New Roman" pitchFamily="18" charset="0"/>
                <a:cs typeface="Times New Roman" pitchFamily="18" charset="0"/>
              </a:rPr>
              <a:t>1.2.3. Article 155 </a:t>
            </a:r>
            <a:endParaRPr lang="en-US" b="1" i="1" dirty="0">
              <a:latin typeface="Times New Roman" pitchFamily="18" charset="0"/>
              <a:cs typeface="Times New Roman" pitchFamily="18" charset="0"/>
            </a:endParaRPr>
          </a:p>
        </p:txBody>
      </p:sp>
      <p:sp>
        <p:nvSpPr>
          <p:cNvPr id="3" name="Espace réservé du contenu 2"/>
          <p:cNvSpPr>
            <a:spLocks noGrp="1"/>
          </p:cNvSpPr>
          <p:nvPr>
            <p:ph idx="1"/>
          </p:nvPr>
        </p:nvSpPr>
        <p:spPr/>
        <p:txBody>
          <a:bodyPr>
            <a:normAutofit/>
          </a:bodyPr>
          <a:lstStyle/>
          <a:p>
            <a:pPr marL="0" indent="0">
              <a:buNone/>
            </a:pPr>
            <a:r>
              <a:rPr lang="fr-BE" sz="3000" dirty="0">
                <a:latin typeface="Times New Roman" pitchFamily="18" charset="0"/>
                <a:cs typeface="Times New Roman" pitchFamily="18" charset="0"/>
              </a:rPr>
              <a:t>Le chômeur qui fait usage de documents inexacts dans le but d’obtenir de mauvaise foi des allocations ou un avantage indu peut être exclu du chômage pendant une période allant de 27 à 52 semaines.</a:t>
            </a:r>
          </a:p>
          <a:p>
            <a:pPr marL="0" indent="0">
              <a:buNone/>
            </a:pPr>
            <a:endParaRPr lang="fr-BE" sz="1600" dirty="0">
              <a:latin typeface="Times New Roman" pitchFamily="18" charset="0"/>
              <a:cs typeface="Times New Roman" pitchFamily="18" charset="0"/>
            </a:endParaRPr>
          </a:p>
          <a:p>
            <a:pPr marL="0" indent="0">
              <a:buNone/>
            </a:pPr>
            <a:r>
              <a:rPr lang="fr-BE" sz="3000" dirty="0">
                <a:latin typeface="Times New Roman" pitchFamily="18" charset="0"/>
                <a:cs typeface="Times New Roman" pitchFamily="18" charset="0"/>
              </a:rPr>
              <a:t>En cas de récidive, il y a directement perte du droit et une nouvelle admissibilité doit être fournie. </a:t>
            </a:r>
            <a:endParaRPr lang="en-US" sz="3000" dirty="0">
              <a:latin typeface="Times New Roman" pitchFamily="18" charset="0"/>
              <a:cs typeface="Times New Roman" pitchFamily="18" charset="0"/>
            </a:endParaRP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33</a:t>
            </a:fld>
            <a:endParaRPr lang="fr-FR"/>
          </a:p>
        </p:txBody>
      </p:sp>
    </p:spTree>
    <p:extLst>
      <p:ext uri="{BB962C8B-B14F-4D97-AF65-F5344CB8AC3E}">
        <p14:creationId xmlns:p14="http://schemas.microsoft.com/office/powerpoint/2010/main" val="1673654805"/>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normAutofit/>
          </a:bodyPr>
          <a:lstStyle/>
          <a:p>
            <a:r>
              <a:rPr lang="fr-BE" b="1" i="1" dirty="0">
                <a:latin typeface="Times New Roman" pitchFamily="18" charset="0"/>
                <a:cs typeface="Times New Roman" pitchFamily="18" charset="0"/>
              </a:rPr>
              <a:t>1.2.4. La récidive </a:t>
            </a:r>
            <a:endParaRPr lang="fr-BE" dirty="0"/>
          </a:p>
        </p:txBody>
      </p:sp>
      <p:sp>
        <p:nvSpPr>
          <p:cNvPr id="4" name="Espace réservé du contenu 3"/>
          <p:cNvSpPr>
            <a:spLocks noGrp="1"/>
          </p:cNvSpPr>
          <p:nvPr>
            <p:ph idx="1"/>
          </p:nvPr>
        </p:nvSpPr>
        <p:spPr/>
        <p:txBody>
          <a:bodyPr>
            <a:normAutofit/>
          </a:bodyPr>
          <a:lstStyle/>
          <a:p>
            <a:pPr marL="0" indent="0">
              <a:buNone/>
            </a:pPr>
            <a:r>
              <a:rPr lang="fr-BE" dirty="0">
                <a:latin typeface="Times New Roman" pitchFamily="18" charset="0"/>
                <a:cs typeface="Times New Roman" pitchFamily="18" charset="0"/>
              </a:rPr>
              <a:t>Au sens des articles 153 à 155, il n’y a pas de récidive lorsque:</a:t>
            </a:r>
          </a:p>
          <a:p>
            <a:pPr marL="0" indent="0">
              <a:buNone/>
            </a:pPr>
            <a:endParaRPr lang="fr-BE" sz="1600" dirty="0">
              <a:latin typeface="Times New Roman" pitchFamily="18" charset="0"/>
              <a:cs typeface="Times New Roman" pitchFamily="18" charset="0"/>
            </a:endParaRPr>
          </a:p>
          <a:p>
            <a:pPr>
              <a:buFontTx/>
              <a:buChar char="-"/>
            </a:pPr>
            <a:r>
              <a:rPr lang="fr-BE" dirty="0">
                <a:latin typeface="Times New Roman" pitchFamily="18" charset="0"/>
                <a:cs typeface="Times New Roman" pitchFamily="18" charset="0"/>
              </a:rPr>
              <a:t>l’infraction a été commise avant que la décision concernant l’infraction précédente n’ait été notifiée au chômeur;</a:t>
            </a:r>
          </a:p>
          <a:p>
            <a:pPr marL="0" indent="0">
              <a:buNone/>
            </a:pPr>
            <a:endParaRPr lang="fr-BE" sz="1600" dirty="0">
              <a:latin typeface="Times New Roman" pitchFamily="18" charset="0"/>
              <a:cs typeface="Times New Roman" pitchFamily="18" charset="0"/>
            </a:endParaRPr>
          </a:p>
          <a:p>
            <a:pPr>
              <a:buFontTx/>
              <a:buChar char="-"/>
            </a:pPr>
            <a:r>
              <a:rPr lang="fr-BE" dirty="0">
                <a:latin typeface="Times New Roman" pitchFamily="18" charset="0"/>
                <a:cs typeface="Times New Roman" pitchFamily="18" charset="0"/>
              </a:rPr>
              <a:t> la nouvelle infraction a été commise plus d’un an après la précédente.</a:t>
            </a:r>
            <a:endParaRPr lang="en-US" dirty="0">
              <a:latin typeface="Times New Roman" pitchFamily="18" charset="0"/>
              <a:cs typeface="Times New Roman" pitchFamily="18" charset="0"/>
            </a:endParaRPr>
          </a:p>
          <a:p>
            <a:endParaRPr lang="fr-BE" dirty="0"/>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34</a:t>
            </a:fld>
            <a:endParaRPr lang="fr-FR"/>
          </a:p>
        </p:txBody>
      </p:sp>
    </p:spTree>
    <p:extLst>
      <p:ext uri="{BB962C8B-B14F-4D97-AF65-F5344CB8AC3E}">
        <p14:creationId xmlns:p14="http://schemas.microsoft.com/office/powerpoint/2010/main" val="1535666018"/>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 calcmode="lin" valueType="num">
                                      <p:cBhvr additive="base">
                                        <p:cTn id="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anim calcmode="lin" valueType="num">
                                      <p:cBhvr additive="base">
                                        <p:cTn id="13"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BE" b="1" i="1" dirty="0">
                <a:latin typeface="Times New Roman" pitchFamily="18" charset="0"/>
                <a:cs typeface="Times New Roman" pitchFamily="18" charset="0"/>
              </a:rPr>
              <a:t>1.2.5. Gestion administrative</a:t>
            </a:r>
            <a:endParaRPr lang="en-US" b="1" i="1" dirty="0">
              <a:latin typeface="Times New Roman" pitchFamily="18" charset="0"/>
              <a:cs typeface="Times New Roman" pitchFamily="18" charset="0"/>
            </a:endParaRPr>
          </a:p>
        </p:txBody>
      </p:sp>
      <p:sp>
        <p:nvSpPr>
          <p:cNvPr id="3" name="Espace réservé du contenu 2"/>
          <p:cNvSpPr>
            <a:spLocks noGrp="1"/>
          </p:cNvSpPr>
          <p:nvPr>
            <p:ph idx="1"/>
          </p:nvPr>
        </p:nvSpPr>
        <p:spPr/>
        <p:txBody>
          <a:bodyPr>
            <a:normAutofit/>
          </a:bodyPr>
          <a:lstStyle/>
          <a:p>
            <a:pPr marL="0" indent="0">
              <a:buNone/>
            </a:pPr>
            <a:r>
              <a:rPr lang="fr-BE" dirty="0">
                <a:latin typeface="Times New Roman" pitchFamily="18" charset="0"/>
                <a:cs typeface="Times New Roman" pitchFamily="18" charset="0"/>
              </a:rPr>
              <a:t>La règlementation est la même en ce qui concerne les avertissements et la maladie que pour les sanctions sur base de AR 52 et 52bis. </a:t>
            </a:r>
          </a:p>
          <a:p>
            <a:pPr marL="0" indent="0">
              <a:buNone/>
            </a:pPr>
            <a:endParaRPr lang="fr-BE" dirty="0">
              <a:latin typeface="Times New Roman" pitchFamily="18" charset="0"/>
              <a:cs typeface="Times New Roman" pitchFamily="18" charset="0"/>
            </a:endParaRPr>
          </a:p>
          <a:p>
            <a:pPr marL="0" indent="0">
              <a:buNone/>
            </a:pPr>
            <a:r>
              <a:rPr lang="fr-BE" dirty="0">
                <a:latin typeface="Times New Roman" pitchFamily="18" charset="0"/>
                <a:cs typeface="Times New Roman" pitchFamily="18" charset="0"/>
              </a:rPr>
              <a:t>Par contre, pas de sursis possible. </a:t>
            </a: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35</a:t>
            </a:fld>
            <a:endParaRPr lang="fr-FR"/>
          </a:p>
        </p:txBody>
      </p:sp>
    </p:spTree>
    <p:extLst>
      <p:ext uri="{BB962C8B-B14F-4D97-AF65-F5344CB8AC3E}">
        <p14:creationId xmlns:p14="http://schemas.microsoft.com/office/powerpoint/2010/main" val="4223837998"/>
      </p:ext>
    </p:extLst>
  </p:cSld>
  <p:clrMapOvr>
    <a:masterClrMapping/>
  </p:clrMapOvr>
  <p:transition>
    <p:dissolv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BE" b="1" i="1" dirty="0">
                <a:latin typeface="Times New Roman" pitchFamily="18" charset="0"/>
                <a:cs typeface="Times New Roman" pitchFamily="18" charset="0"/>
              </a:rPr>
              <a:t>1.3. Droit aux AF et aux bons INAMI</a:t>
            </a:r>
            <a:endParaRPr lang="en-US" b="1" i="1" dirty="0">
              <a:latin typeface="Times New Roman" pitchFamily="18" charset="0"/>
              <a:cs typeface="Times New Roman" pitchFamily="18" charset="0"/>
            </a:endParaRPr>
          </a:p>
        </p:txBody>
      </p:sp>
      <p:sp>
        <p:nvSpPr>
          <p:cNvPr id="3" name="Espace réservé du contenu 2"/>
          <p:cNvSpPr>
            <a:spLocks noGrp="1"/>
          </p:cNvSpPr>
          <p:nvPr>
            <p:ph idx="1"/>
          </p:nvPr>
        </p:nvSpPr>
        <p:spPr/>
        <p:txBody>
          <a:bodyPr>
            <a:normAutofit/>
          </a:bodyPr>
          <a:lstStyle/>
          <a:p>
            <a:pPr marL="0" indent="0">
              <a:buNone/>
            </a:pPr>
            <a:r>
              <a:rPr lang="fr-BE" dirty="0">
                <a:latin typeface="Times New Roman" pitchFamily="18" charset="0"/>
                <a:cs typeface="Times New Roman" pitchFamily="18" charset="0"/>
              </a:rPr>
              <a:t>Suivant le type de sanction, les chômeurs exclus peuvent préserver leurs droits en matière d’AF et de mutuelle.</a:t>
            </a:r>
          </a:p>
          <a:p>
            <a:pPr marL="0" indent="0">
              <a:buNone/>
            </a:pPr>
            <a:endParaRPr lang="fr-BE" sz="1600" dirty="0">
              <a:latin typeface="Times New Roman" pitchFamily="18" charset="0"/>
              <a:cs typeface="Times New Roman" pitchFamily="18" charset="0"/>
            </a:endParaRPr>
          </a:p>
          <a:p>
            <a:pPr marL="0" indent="0">
              <a:buNone/>
            </a:pPr>
            <a:r>
              <a:rPr lang="fr-BE" dirty="0">
                <a:latin typeface="Times New Roman" pitchFamily="18" charset="0"/>
                <a:cs typeface="Times New Roman" pitchFamily="18" charset="0"/>
              </a:rPr>
              <a:t>En cas de récidive, plus droit aux allocations familiales.</a:t>
            </a:r>
          </a:p>
          <a:p>
            <a:pPr marL="0" indent="0">
              <a:buNone/>
            </a:pPr>
            <a:endParaRPr lang="fr-BE" sz="1600" dirty="0">
              <a:latin typeface="Times New Roman" pitchFamily="18" charset="0"/>
              <a:cs typeface="Times New Roman" pitchFamily="18" charset="0"/>
            </a:endParaRPr>
          </a:p>
          <a:p>
            <a:pPr marL="0" indent="0">
              <a:buNone/>
            </a:pPr>
            <a:r>
              <a:rPr lang="fr-BE" dirty="0">
                <a:latin typeface="Times New Roman" pitchFamily="18" charset="0"/>
                <a:cs typeface="Times New Roman" pitchFamily="18" charset="0"/>
              </a:rPr>
              <a:t>Le chômeur doit donc se soumettre à des obligations telles que ide, carte de contrôle;…</a:t>
            </a:r>
          </a:p>
          <a:p>
            <a:endParaRPr lang="fr-FR" dirty="0"/>
          </a:p>
          <a:p>
            <a:endParaRPr lang="en-US"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36</a:t>
            </a:fld>
            <a:endParaRPr lang="fr-FR"/>
          </a:p>
        </p:txBody>
      </p:sp>
    </p:spTree>
    <p:extLst>
      <p:ext uri="{BB962C8B-B14F-4D97-AF65-F5344CB8AC3E}">
        <p14:creationId xmlns:p14="http://schemas.microsoft.com/office/powerpoint/2010/main" val="2581587359"/>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BE" b="1" i="1" dirty="0">
                <a:latin typeface="Times New Roman" pitchFamily="18" charset="0"/>
                <a:cs typeface="Times New Roman" pitchFamily="18" charset="0"/>
              </a:rPr>
              <a:t>1.4. Gestion informatique et gestion papier</a:t>
            </a:r>
            <a:endParaRPr lang="en-US" b="1" i="1" dirty="0">
              <a:latin typeface="Times New Roman" pitchFamily="18" charset="0"/>
              <a:cs typeface="Times New Roman" pitchFamily="18" charset="0"/>
            </a:endParaRPr>
          </a:p>
        </p:txBody>
      </p:sp>
      <p:sp>
        <p:nvSpPr>
          <p:cNvPr id="3" name="Espace réservé du contenu 2"/>
          <p:cNvSpPr>
            <a:spLocks noGrp="1"/>
          </p:cNvSpPr>
          <p:nvPr>
            <p:ph idx="1"/>
          </p:nvPr>
        </p:nvSpPr>
        <p:spPr/>
        <p:txBody>
          <a:bodyPr/>
          <a:lstStyle/>
          <a:p>
            <a:pPr marL="0" indent="0">
              <a:buNone/>
            </a:pPr>
            <a:r>
              <a:rPr lang="fr-BE" dirty="0">
                <a:latin typeface="Times New Roman" pitchFamily="18" charset="0"/>
                <a:cs typeface="Times New Roman" pitchFamily="18" charset="0"/>
              </a:rPr>
              <a:t>Lorsque l’ONEm ou le SRE  notifient une sanction,  c’est </a:t>
            </a:r>
            <a:r>
              <a:rPr lang="fr-BE" b="1" u="sng" dirty="0">
                <a:latin typeface="Times New Roman" pitchFamily="18" charset="0"/>
                <a:cs typeface="Times New Roman" pitchFamily="18" charset="0"/>
              </a:rPr>
              <a:t>l’ONEm</a:t>
            </a:r>
            <a:r>
              <a:rPr lang="fr-BE" dirty="0">
                <a:latin typeface="Times New Roman" pitchFamily="18" charset="0"/>
                <a:cs typeface="Times New Roman" pitchFamily="18" charset="0"/>
              </a:rPr>
              <a:t> qui prévient l’OP par voie informatique  (C2  94X ).</a:t>
            </a:r>
          </a:p>
          <a:p>
            <a:pPr marL="533400" indent="-533400">
              <a:buNone/>
            </a:pPr>
            <a:endParaRPr lang="fr-BE" sz="1800" dirty="0">
              <a:latin typeface="Times New Roman" pitchFamily="18" charset="0"/>
              <a:cs typeface="Times New Roman" pitchFamily="18" charset="0"/>
            </a:endParaRPr>
          </a:p>
          <a:p>
            <a:pPr marL="533400" indent="-533400">
              <a:buNone/>
            </a:pPr>
            <a:r>
              <a:rPr lang="fr-FR" dirty="0">
                <a:latin typeface="Times New Roman" pitchFamily="18" charset="0"/>
                <a:cs typeface="Times New Roman" pitchFamily="18" charset="0"/>
                <a:sym typeface="Wingdings" pitchFamily="2" charset="2"/>
              </a:rPr>
              <a:t> Encodage des vérités « Admissibilité » et « S10 – Sanctions »</a:t>
            </a:r>
            <a:endParaRPr lang="fr-FR" dirty="0">
              <a:latin typeface="Times New Roman" pitchFamily="18" charset="0"/>
              <a:cs typeface="Times New Roman" pitchFamily="18" charset="0"/>
            </a:endParaRPr>
          </a:p>
          <a:p>
            <a:endParaRPr lang="en-US"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37</a:t>
            </a:fld>
            <a:endParaRPr lang="fr-FR"/>
          </a:p>
        </p:txBody>
      </p:sp>
    </p:spTree>
    <p:extLst>
      <p:ext uri="{BB962C8B-B14F-4D97-AF65-F5344CB8AC3E}">
        <p14:creationId xmlns:p14="http://schemas.microsoft.com/office/powerpoint/2010/main" val="4076317406"/>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BE" b="1" i="1" dirty="0">
                <a:latin typeface="Times New Roman" pitchFamily="18" charset="0"/>
                <a:cs typeface="Times New Roman" pitchFamily="18" charset="0"/>
              </a:rPr>
              <a:t>2. Particularités</a:t>
            </a:r>
            <a:endParaRPr lang="en-US" i="1" dirty="0">
              <a:latin typeface="Times New Roman" pitchFamily="18" charset="0"/>
              <a:cs typeface="Times New Roman" pitchFamily="18" charset="0"/>
            </a:endParaRPr>
          </a:p>
        </p:txBody>
      </p:sp>
      <p:sp>
        <p:nvSpPr>
          <p:cNvPr id="3" name="Espace réservé du contenu 2"/>
          <p:cNvSpPr>
            <a:spLocks noGrp="1"/>
          </p:cNvSpPr>
          <p:nvPr>
            <p:ph idx="1"/>
          </p:nvPr>
        </p:nvSpPr>
        <p:spPr/>
        <p:txBody>
          <a:bodyPr/>
          <a:lstStyle/>
          <a:p>
            <a:pPr>
              <a:lnSpc>
                <a:spcPct val="90000"/>
              </a:lnSpc>
              <a:buFont typeface="Wingdings" pitchFamily="2" charset="2"/>
              <a:buChar char="ü"/>
            </a:pPr>
            <a:r>
              <a:rPr lang="fr-BE" dirty="0">
                <a:latin typeface="Times New Roman" pitchFamily="18" charset="0"/>
                <a:cs typeface="Times New Roman" pitchFamily="18" charset="0"/>
              </a:rPr>
              <a:t>Article 58</a:t>
            </a:r>
          </a:p>
          <a:p>
            <a:pPr>
              <a:lnSpc>
                <a:spcPct val="90000"/>
              </a:lnSpc>
              <a:buFont typeface="Wingdings" pitchFamily="2" charset="2"/>
              <a:buChar char="ü"/>
            </a:pPr>
            <a:r>
              <a:rPr lang="fr-BE" dirty="0">
                <a:latin typeface="Times New Roman" pitchFamily="18" charset="0"/>
                <a:cs typeface="Times New Roman" pitchFamily="18" charset="0"/>
              </a:rPr>
              <a:t>Article 70</a:t>
            </a:r>
          </a:p>
          <a:p>
            <a:pPr>
              <a:lnSpc>
                <a:spcPct val="90000"/>
              </a:lnSpc>
              <a:buFont typeface="Wingdings" pitchFamily="2" charset="2"/>
              <a:buChar char="ü"/>
            </a:pPr>
            <a:r>
              <a:rPr lang="fr-BE" dirty="0">
                <a:latin typeface="Times New Roman" pitchFamily="18" charset="0"/>
                <a:cs typeface="Times New Roman" pitchFamily="18" charset="0"/>
              </a:rPr>
              <a:t>Indisponibilité sur le marché de l’emploi</a:t>
            </a:r>
          </a:p>
          <a:p>
            <a:pPr>
              <a:lnSpc>
                <a:spcPct val="90000"/>
              </a:lnSpc>
              <a:buFont typeface="Wingdings" pitchFamily="2" charset="2"/>
              <a:buChar char="ü"/>
            </a:pPr>
            <a:r>
              <a:rPr lang="fr-BE" dirty="0">
                <a:latin typeface="Times New Roman" pitchFamily="18" charset="0"/>
                <a:cs typeface="Times New Roman" pitchFamily="18" charset="0"/>
              </a:rPr>
              <a:t>Fin de l’exclusion</a:t>
            </a:r>
          </a:p>
          <a:p>
            <a:pPr marL="0" indent="0">
              <a:lnSpc>
                <a:spcPct val="90000"/>
              </a:lnSpc>
              <a:buNone/>
            </a:pPr>
            <a:endParaRPr lang="fr-BE"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38</a:t>
            </a:fld>
            <a:endParaRPr lang="fr-FR"/>
          </a:p>
        </p:txBody>
      </p:sp>
    </p:spTree>
    <p:extLst>
      <p:ext uri="{BB962C8B-B14F-4D97-AF65-F5344CB8AC3E}">
        <p14:creationId xmlns:p14="http://schemas.microsoft.com/office/powerpoint/2010/main" val="2999376349"/>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BE" b="1" i="1" dirty="0">
                <a:latin typeface="Times New Roman" pitchFamily="18" charset="0"/>
                <a:cs typeface="Times New Roman" pitchFamily="18" charset="0"/>
              </a:rPr>
              <a:t>2.1. Article 58</a:t>
            </a:r>
            <a:endParaRPr lang="en-US" b="1" i="1" dirty="0">
              <a:latin typeface="Times New Roman" pitchFamily="18" charset="0"/>
              <a:cs typeface="Times New Roman" pitchFamily="18" charset="0"/>
            </a:endParaRPr>
          </a:p>
        </p:txBody>
      </p:sp>
      <p:sp>
        <p:nvSpPr>
          <p:cNvPr id="3" name="Espace réservé du contenu 2"/>
          <p:cNvSpPr>
            <a:spLocks noGrp="1"/>
          </p:cNvSpPr>
          <p:nvPr>
            <p:ph idx="1"/>
          </p:nvPr>
        </p:nvSpPr>
        <p:spPr/>
        <p:txBody>
          <a:bodyPr>
            <a:normAutofit/>
          </a:bodyPr>
          <a:lstStyle/>
          <a:p>
            <a:pPr marL="0" indent="0">
              <a:buNone/>
            </a:pPr>
            <a:r>
              <a:rPr lang="fr-BE" dirty="0">
                <a:latin typeface="Times New Roman" pitchFamily="18" charset="0"/>
                <a:cs typeface="Times New Roman" pitchFamily="18" charset="0"/>
              </a:rPr>
              <a:t>Théoriquement, le chômeur ne peut plus prétendre au chômage à partir du jour où son </a:t>
            </a:r>
            <a:r>
              <a:rPr lang="fr-BE" b="1" dirty="0">
                <a:latin typeface="Times New Roman" pitchFamily="18" charset="0"/>
                <a:cs typeface="Times New Roman" pitchFamily="18" charset="0"/>
              </a:rPr>
              <a:t>IDE</a:t>
            </a:r>
            <a:r>
              <a:rPr lang="fr-BE" dirty="0">
                <a:latin typeface="Times New Roman" pitchFamily="18" charset="0"/>
                <a:cs typeface="Times New Roman" pitchFamily="18" charset="0"/>
              </a:rPr>
              <a:t> a été </a:t>
            </a:r>
            <a:r>
              <a:rPr lang="fr-BE" b="1" dirty="0">
                <a:latin typeface="Times New Roman" pitchFamily="18" charset="0"/>
                <a:cs typeface="Times New Roman" pitchFamily="18" charset="0"/>
              </a:rPr>
              <a:t>radiée</a:t>
            </a:r>
            <a:r>
              <a:rPr lang="fr-BE" dirty="0">
                <a:latin typeface="Times New Roman" pitchFamily="18" charset="0"/>
                <a:cs typeface="Times New Roman" pitchFamily="18" charset="0"/>
              </a:rPr>
              <a:t> par le SRE en cas de :</a:t>
            </a:r>
          </a:p>
          <a:p>
            <a:pPr>
              <a:buFontTx/>
              <a:buChar char="-"/>
            </a:pPr>
            <a:r>
              <a:rPr lang="fr-BE" dirty="0">
                <a:latin typeface="Times New Roman" pitchFamily="18" charset="0"/>
                <a:cs typeface="Times New Roman" pitchFamily="18" charset="0"/>
              </a:rPr>
              <a:t>indisponibilité  sur le marché de l’emploi,</a:t>
            </a:r>
          </a:p>
          <a:p>
            <a:pPr>
              <a:buFontTx/>
              <a:buChar char="-"/>
            </a:pPr>
            <a:r>
              <a:rPr lang="fr-BE" dirty="0">
                <a:latin typeface="Times New Roman" pitchFamily="18" charset="0"/>
                <a:cs typeface="Times New Roman" pitchFamily="18" charset="0"/>
              </a:rPr>
              <a:t>non présentation à une convocation,</a:t>
            </a:r>
          </a:p>
          <a:p>
            <a:pPr>
              <a:buFontTx/>
              <a:buChar char="-"/>
            </a:pPr>
            <a:r>
              <a:rPr lang="fr-BE" dirty="0">
                <a:latin typeface="Times New Roman" pitchFamily="18" charset="0"/>
                <a:cs typeface="Times New Roman" pitchFamily="18" charset="0"/>
              </a:rPr>
              <a:t>non communication du changement d’adresse,</a:t>
            </a:r>
          </a:p>
          <a:p>
            <a:pPr>
              <a:buFontTx/>
              <a:buChar char="-"/>
            </a:pPr>
            <a:r>
              <a:rPr lang="en-GB" dirty="0">
                <a:latin typeface="Times New Roman" pitchFamily="18" charset="0"/>
                <a:cs typeface="Times New Roman" pitchFamily="18" charset="0"/>
              </a:rPr>
              <a:t>non </a:t>
            </a:r>
            <a:r>
              <a:rPr lang="en-GB" dirty="0" err="1">
                <a:latin typeface="Times New Roman" pitchFamily="18" charset="0"/>
                <a:cs typeface="Times New Roman" pitchFamily="18" charset="0"/>
              </a:rPr>
              <a:t>accomplissement</a:t>
            </a:r>
            <a:r>
              <a:rPr lang="en-GB" dirty="0">
                <a:latin typeface="Times New Roman" pitchFamily="18" charset="0"/>
                <a:cs typeface="Times New Roman" pitchFamily="18" charset="0"/>
              </a:rPr>
              <a:t> des </a:t>
            </a:r>
            <a:r>
              <a:rPr lang="en-GB" dirty="0" err="1">
                <a:latin typeface="Times New Roman" pitchFamily="18" charset="0"/>
                <a:cs typeface="Times New Roman" pitchFamily="18" charset="0"/>
              </a:rPr>
              <a:t>formalités</a:t>
            </a:r>
            <a:r>
              <a:rPr lang="en-GB" dirty="0">
                <a:latin typeface="Times New Roman" pitchFamily="18" charset="0"/>
                <a:cs typeface="Times New Roman" pitchFamily="18" charset="0"/>
              </a:rPr>
              <a:t> </a:t>
            </a:r>
            <a:r>
              <a:rPr lang="en-GB" dirty="0" err="1">
                <a:latin typeface="Times New Roman" pitchFamily="18" charset="0"/>
                <a:cs typeface="Times New Roman" pitchFamily="18" charset="0"/>
              </a:rPr>
              <a:t>requises</a:t>
            </a:r>
            <a:r>
              <a:rPr lang="en-GB" dirty="0">
                <a:latin typeface="Times New Roman" pitchFamily="18" charset="0"/>
                <a:cs typeface="Times New Roman" pitchFamily="18" charset="0"/>
              </a:rPr>
              <a:t> par </a:t>
            </a:r>
            <a:r>
              <a:rPr lang="en-GB" dirty="0" err="1">
                <a:latin typeface="Times New Roman" pitchFamily="18" charset="0"/>
                <a:cs typeface="Times New Roman" pitchFamily="18" charset="0"/>
              </a:rPr>
              <a:t>ce</a:t>
            </a:r>
            <a:r>
              <a:rPr lang="en-GB" dirty="0">
                <a:latin typeface="Times New Roman" pitchFamily="18" charset="0"/>
                <a:cs typeface="Times New Roman" pitchFamily="18" charset="0"/>
              </a:rPr>
              <a:t> service aux fins de </a:t>
            </a:r>
            <a:r>
              <a:rPr lang="en-GB" dirty="0" err="1">
                <a:latin typeface="Times New Roman" pitchFamily="18" charset="0"/>
                <a:cs typeface="Times New Roman" pitchFamily="18" charset="0"/>
              </a:rPr>
              <a:t>maintenir</a:t>
            </a:r>
            <a:r>
              <a:rPr lang="en-GB" dirty="0">
                <a:latin typeface="Times New Roman" pitchFamily="18" charset="0"/>
                <a:cs typeface="Times New Roman" pitchFamily="18" charset="0"/>
              </a:rPr>
              <a:t> </a:t>
            </a:r>
            <a:r>
              <a:rPr lang="en-GB" dirty="0" err="1">
                <a:latin typeface="Times New Roman" pitchFamily="18" charset="0"/>
                <a:cs typeface="Times New Roman" pitchFamily="18" charset="0"/>
              </a:rPr>
              <a:t>l’IDE</a:t>
            </a:r>
            <a:r>
              <a:rPr lang="en-GB" dirty="0">
                <a:latin typeface="Times New Roman" pitchFamily="18" charset="0"/>
                <a:cs typeface="Times New Roman" pitchFamily="18" charset="0"/>
              </a:rPr>
              <a:t>.</a:t>
            </a:r>
            <a:endParaRPr lang="fr-BE" dirty="0">
              <a:latin typeface="Times New Roman" pitchFamily="18" charset="0"/>
              <a:cs typeface="Times New Roman" pitchFamily="18" charset="0"/>
            </a:endParaRPr>
          </a:p>
          <a:p>
            <a:pPr>
              <a:buFontTx/>
              <a:buChar char="-"/>
            </a:pPr>
            <a:endParaRPr lang="en-US" dirty="0">
              <a:latin typeface="Times New Roman" pitchFamily="18" charset="0"/>
              <a:cs typeface="Times New Roman" pitchFamily="18" charset="0"/>
            </a:endParaRP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39</a:t>
            </a:fld>
            <a:endParaRPr lang="fr-FR"/>
          </a:p>
        </p:txBody>
      </p:sp>
    </p:spTree>
    <p:extLst>
      <p:ext uri="{BB962C8B-B14F-4D97-AF65-F5344CB8AC3E}">
        <p14:creationId xmlns:p14="http://schemas.microsoft.com/office/powerpoint/2010/main" val="2030993041"/>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BE" b="1" i="1" dirty="0">
                <a:latin typeface="Times New Roman" pitchFamily="18" charset="0"/>
                <a:cs typeface="Times New Roman" pitchFamily="18" charset="0"/>
              </a:rPr>
              <a:t>2.1. Article 58</a:t>
            </a:r>
            <a:endParaRPr lang="en-US" b="1" i="1" dirty="0">
              <a:latin typeface="Times New Roman" pitchFamily="18" charset="0"/>
              <a:cs typeface="Times New Roman" pitchFamily="18" charset="0"/>
            </a:endParaRPr>
          </a:p>
        </p:txBody>
      </p:sp>
      <p:sp>
        <p:nvSpPr>
          <p:cNvPr id="3" name="Espace réservé du contenu 2"/>
          <p:cNvSpPr>
            <a:spLocks noGrp="1"/>
          </p:cNvSpPr>
          <p:nvPr>
            <p:ph idx="1"/>
          </p:nvPr>
        </p:nvSpPr>
        <p:spPr/>
        <p:txBody>
          <a:bodyPr>
            <a:normAutofit fontScale="92500" lnSpcReduction="20000"/>
          </a:bodyPr>
          <a:lstStyle/>
          <a:p>
            <a:pPr marL="0" indent="0">
              <a:buNone/>
            </a:pPr>
            <a:r>
              <a:rPr lang="fr-BE" dirty="0">
                <a:latin typeface="Times New Roman" pitchFamily="18" charset="0"/>
                <a:cs typeface="Times New Roman" pitchFamily="18" charset="0"/>
              </a:rPr>
              <a:t>Suite à la 6</a:t>
            </a:r>
            <a:r>
              <a:rPr lang="fr-BE" baseline="30000" dirty="0">
                <a:latin typeface="Times New Roman" pitchFamily="18" charset="0"/>
                <a:cs typeface="Times New Roman" pitchFamily="18" charset="0"/>
              </a:rPr>
              <a:t>ème</a:t>
            </a:r>
            <a:r>
              <a:rPr lang="fr-BE" dirty="0">
                <a:latin typeface="Times New Roman" pitchFamily="18" charset="0"/>
                <a:cs typeface="Times New Roman" pitchFamily="18" charset="0"/>
              </a:rPr>
              <a:t> réforme de l’état, c’est le SRE qui est compétent pour traiter de la dispo passive et prendre la décision d’exclusion.</a:t>
            </a:r>
          </a:p>
          <a:p>
            <a:pPr marL="0" indent="0">
              <a:buNone/>
            </a:pPr>
            <a:endParaRPr lang="fr-BE" dirty="0">
              <a:latin typeface="Times New Roman" pitchFamily="18" charset="0"/>
              <a:cs typeface="Times New Roman" pitchFamily="18" charset="0"/>
            </a:endParaRPr>
          </a:p>
          <a:p>
            <a:pPr marL="0" indent="0">
              <a:buNone/>
            </a:pPr>
            <a:r>
              <a:rPr lang="fr-BE" dirty="0">
                <a:latin typeface="Times New Roman" pitchFamily="18" charset="0"/>
                <a:cs typeface="Times New Roman" pitchFamily="18" charset="0"/>
              </a:rPr>
              <a:t>La décision d’exclusion:</a:t>
            </a:r>
          </a:p>
          <a:p>
            <a:pPr lvl="1">
              <a:buFont typeface="Arial" panose="020B0604020202020204" pitchFamily="34" charset="0"/>
              <a:buChar char="•"/>
            </a:pPr>
            <a:r>
              <a:rPr lang="fr-BE" dirty="0">
                <a:latin typeface="Times New Roman" pitchFamily="18" charset="0"/>
                <a:cs typeface="Times New Roman" pitchFamily="18" charset="0"/>
              </a:rPr>
              <a:t>Est </a:t>
            </a:r>
            <a:r>
              <a:rPr lang="fr-BE" dirty="0">
                <a:solidFill>
                  <a:srgbClr val="C00000"/>
                </a:solidFill>
                <a:latin typeface="Times New Roman" pitchFamily="18" charset="0"/>
                <a:cs typeface="Times New Roman" pitchFamily="18" charset="0"/>
              </a:rPr>
              <a:t>d’application à partir du 1</a:t>
            </a:r>
            <a:r>
              <a:rPr lang="fr-BE" baseline="30000" dirty="0">
                <a:solidFill>
                  <a:srgbClr val="C00000"/>
                </a:solidFill>
                <a:latin typeface="Times New Roman" pitchFamily="18" charset="0"/>
                <a:cs typeface="Times New Roman" pitchFamily="18" charset="0"/>
              </a:rPr>
              <a:t>er</a:t>
            </a:r>
            <a:r>
              <a:rPr lang="fr-BE" dirty="0">
                <a:solidFill>
                  <a:srgbClr val="C00000"/>
                </a:solidFill>
                <a:latin typeface="Times New Roman" pitchFamily="18" charset="0"/>
                <a:cs typeface="Times New Roman" pitchFamily="18" charset="0"/>
              </a:rPr>
              <a:t> jour de la 4</a:t>
            </a:r>
            <a:r>
              <a:rPr lang="fr-BE" baseline="30000" dirty="0">
                <a:solidFill>
                  <a:srgbClr val="C00000"/>
                </a:solidFill>
                <a:latin typeface="Times New Roman" pitchFamily="18" charset="0"/>
                <a:cs typeface="Times New Roman" pitchFamily="18" charset="0"/>
              </a:rPr>
              <a:t>ème</a:t>
            </a:r>
            <a:r>
              <a:rPr lang="fr-BE" dirty="0">
                <a:solidFill>
                  <a:srgbClr val="C00000"/>
                </a:solidFill>
                <a:latin typeface="Times New Roman" pitchFamily="18" charset="0"/>
                <a:cs typeface="Times New Roman" pitchFamily="18" charset="0"/>
              </a:rPr>
              <a:t> semaine </a:t>
            </a:r>
            <a:r>
              <a:rPr lang="fr-BE" dirty="0">
                <a:latin typeface="Times New Roman" pitchFamily="18" charset="0"/>
                <a:cs typeface="Times New Roman" pitchFamily="18" charset="0"/>
              </a:rPr>
              <a:t>qui suit la semaine au cours de laquelle le SRE a notifié l’exclusion au BC et au chômeur</a:t>
            </a:r>
          </a:p>
          <a:p>
            <a:pPr lvl="1">
              <a:buFont typeface="Arial" panose="020B0604020202020204" pitchFamily="34" charset="0"/>
              <a:buChar char="•"/>
            </a:pPr>
            <a:r>
              <a:rPr lang="fr-BE" dirty="0">
                <a:latin typeface="Times New Roman" pitchFamily="18" charset="0"/>
                <a:cs typeface="Times New Roman" pitchFamily="18" charset="0"/>
              </a:rPr>
              <a:t>A une </a:t>
            </a:r>
            <a:r>
              <a:rPr lang="fr-BE" dirty="0">
                <a:solidFill>
                  <a:srgbClr val="C00000"/>
                </a:solidFill>
                <a:latin typeface="Times New Roman" pitchFamily="18" charset="0"/>
                <a:cs typeface="Times New Roman" pitchFamily="18" charset="0"/>
              </a:rPr>
              <a:t>durée minimale équivalente à la période de radiation qui précède la notification de la décision au BC par le SRE</a:t>
            </a:r>
            <a:endParaRPr lang="en-US" dirty="0">
              <a:solidFill>
                <a:srgbClr val="C00000"/>
              </a:solidFill>
              <a:latin typeface="Times New Roman" pitchFamily="18" charset="0"/>
              <a:cs typeface="Times New Roman" pitchFamily="18" charset="0"/>
            </a:endParaRP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40</a:t>
            </a:fld>
            <a:endParaRPr lang="fr-FR"/>
          </a:p>
        </p:txBody>
      </p:sp>
    </p:spTree>
    <p:extLst>
      <p:ext uri="{BB962C8B-B14F-4D97-AF65-F5344CB8AC3E}">
        <p14:creationId xmlns:p14="http://schemas.microsoft.com/office/powerpoint/2010/main" val="2810694565"/>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e 14"/>
          <p:cNvGrpSpPr/>
          <p:nvPr/>
        </p:nvGrpSpPr>
        <p:grpSpPr>
          <a:xfrm>
            <a:off x="3984434" y="2626514"/>
            <a:ext cx="1486333" cy="359918"/>
            <a:chOff x="3984434" y="2626514"/>
            <a:chExt cx="1486333" cy="359918"/>
          </a:xfrm>
        </p:grpSpPr>
        <p:sp>
          <p:nvSpPr>
            <p:cNvPr id="7" name="Rectangle 6"/>
            <p:cNvSpPr/>
            <p:nvPr/>
          </p:nvSpPr>
          <p:spPr>
            <a:xfrm>
              <a:off x="3984434" y="2626514"/>
              <a:ext cx="1442116" cy="359918"/>
            </a:xfrm>
            <a:prstGeom prst="rect">
              <a:avLst/>
            </a:prstGeom>
            <a:pattFill prst="wdDnDiag">
              <a:fgClr>
                <a:srgbClr val="FFFF00"/>
              </a:fgClr>
              <a:bgClr>
                <a:srgbClr val="FFC000"/>
              </a:bgClr>
            </a:patt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a:solidFill>
                  <a:srgbClr val="FFFF00"/>
                </a:solidFill>
              </a:endParaRPr>
            </a:p>
          </p:txBody>
        </p:sp>
        <p:sp>
          <p:nvSpPr>
            <p:cNvPr id="12" name="ZoneTexte 11"/>
            <p:cNvSpPr txBox="1"/>
            <p:nvPr/>
          </p:nvSpPr>
          <p:spPr>
            <a:xfrm>
              <a:off x="4040153" y="2658590"/>
              <a:ext cx="1430614" cy="246221"/>
            </a:xfrm>
            <a:prstGeom prst="rect">
              <a:avLst/>
            </a:prstGeom>
            <a:noFill/>
          </p:spPr>
          <p:txBody>
            <a:bodyPr wrap="square" rtlCol="0">
              <a:spAutoFit/>
            </a:bodyPr>
            <a:lstStyle/>
            <a:p>
              <a:r>
                <a:rPr lang="fr-BE" sz="1000" dirty="0"/>
                <a:t>Période « neutralisée »</a:t>
              </a:r>
            </a:p>
          </p:txBody>
        </p:sp>
      </p:grpSp>
      <p:sp>
        <p:nvSpPr>
          <p:cNvPr id="2" name="Titre 1"/>
          <p:cNvSpPr>
            <a:spLocks noGrp="1"/>
          </p:cNvSpPr>
          <p:nvPr>
            <p:ph type="title"/>
          </p:nvPr>
        </p:nvSpPr>
        <p:spPr/>
        <p:txBody>
          <a:bodyPr/>
          <a:lstStyle/>
          <a:p>
            <a:pPr algn="r"/>
            <a:r>
              <a:rPr lang="fr-BE" b="1" i="1" dirty="0">
                <a:latin typeface="+mn-lt"/>
                <a:cs typeface="Times New Roman" pitchFamily="18" charset="0"/>
              </a:rPr>
              <a:t>Article 58: Exemple</a:t>
            </a:r>
            <a:endParaRPr lang="en-US" b="1" i="1" dirty="0">
              <a:latin typeface="+mn-lt"/>
              <a:cs typeface="Times New Roman" pitchFamily="18" charset="0"/>
            </a:endParaRP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solidFill>
                  <a:prstClr val="black">
                    <a:tint val="75000"/>
                  </a:prstClr>
                </a:solidFill>
              </a:rPr>
              <a:pPr/>
              <a:t>41</a:t>
            </a:fld>
            <a:endParaRPr lang="fr-FR">
              <a:solidFill>
                <a:prstClr val="black">
                  <a:tint val="75000"/>
                </a:prstClr>
              </a:solidFill>
            </a:endParaRPr>
          </a:p>
        </p:txBody>
      </p:sp>
      <p:cxnSp>
        <p:nvCxnSpPr>
          <p:cNvPr id="6" name="Connecteur droit avec flèche 5"/>
          <p:cNvCxnSpPr/>
          <p:nvPr/>
        </p:nvCxnSpPr>
        <p:spPr>
          <a:xfrm>
            <a:off x="562061" y="2986432"/>
            <a:ext cx="82296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necteur droit 7"/>
          <p:cNvCxnSpPr/>
          <p:nvPr/>
        </p:nvCxnSpPr>
        <p:spPr>
          <a:xfrm>
            <a:off x="892197" y="2590388"/>
            <a:ext cx="0" cy="64807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ZoneTexte 8"/>
          <p:cNvSpPr txBox="1"/>
          <p:nvPr/>
        </p:nvSpPr>
        <p:spPr>
          <a:xfrm>
            <a:off x="496153" y="2129775"/>
            <a:ext cx="792088" cy="430887"/>
          </a:xfrm>
          <a:prstGeom prst="rect">
            <a:avLst/>
          </a:prstGeom>
          <a:noFill/>
        </p:spPr>
        <p:txBody>
          <a:bodyPr wrap="square" rtlCol="0">
            <a:spAutoFit/>
          </a:bodyPr>
          <a:lstStyle/>
          <a:p>
            <a:pPr algn="ctr"/>
            <a:r>
              <a:rPr lang="fr-BE" sz="1100" dirty="0">
                <a:solidFill>
                  <a:prstClr val="black"/>
                </a:solidFill>
              </a:rPr>
              <a:t>Radiation IDE</a:t>
            </a:r>
          </a:p>
        </p:txBody>
      </p:sp>
      <p:sp>
        <p:nvSpPr>
          <p:cNvPr id="10" name="ZoneTexte 9"/>
          <p:cNvSpPr txBox="1"/>
          <p:nvPr/>
        </p:nvSpPr>
        <p:spPr>
          <a:xfrm>
            <a:off x="451148" y="3296308"/>
            <a:ext cx="882098" cy="430887"/>
          </a:xfrm>
          <a:prstGeom prst="rect">
            <a:avLst/>
          </a:prstGeom>
          <a:noFill/>
        </p:spPr>
        <p:txBody>
          <a:bodyPr wrap="square" rtlCol="0">
            <a:spAutoFit/>
          </a:bodyPr>
          <a:lstStyle/>
          <a:p>
            <a:pPr algn="ctr"/>
            <a:r>
              <a:rPr lang="fr-BE" sz="1100" dirty="0">
                <a:solidFill>
                  <a:prstClr val="black"/>
                </a:solidFill>
              </a:rPr>
              <a:t>Vendredi 07/04/2023</a:t>
            </a:r>
          </a:p>
        </p:txBody>
      </p:sp>
      <p:cxnSp>
        <p:nvCxnSpPr>
          <p:cNvPr id="11" name="Connecteur droit 10"/>
          <p:cNvCxnSpPr/>
          <p:nvPr/>
        </p:nvCxnSpPr>
        <p:spPr>
          <a:xfrm>
            <a:off x="3979542" y="2575526"/>
            <a:ext cx="0" cy="64807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ZoneTexte 12"/>
          <p:cNvSpPr txBox="1"/>
          <p:nvPr/>
        </p:nvSpPr>
        <p:spPr>
          <a:xfrm>
            <a:off x="3538778" y="2159501"/>
            <a:ext cx="900100" cy="430887"/>
          </a:xfrm>
          <a:prstGeom prst="rect">
            <a:avLst/>
          </a:prstGeom>
          <a:noFill/>
        </p:spPr>
        <p:txBody>
          <a:bodyPr wrap="square" rtlCol="0">
            <a:spAutoFit/>
          </a:bodyPr>
          <a:lstStyle/>
          <a:p>
            <a:pPr algn="ctr"/>
            <a:r>
              <a:rPr lang="fr-BE" sz="1100" dirty="0">
                <a:solidFill>
                  <a:prstClr val="black"/>
                </a:solidFill>
              </a:rPr>
              <a:t>Notification au BC</a:t>
            </a:r>
          </a:p>
        </p:txBody>
      </p:sp>
      <p:sp>
        <p:nvSpPr>
          <p:cNvPr id="14" name="ZoneTexte 13"/>
          <p:cNvSpPr txBox="1"/>
          <p:nvPr/>
        </p:nvSpPr>
        <p:spPr>
          <a:xfrm>
            <a:off x="3534586" y="3243266"/>
            <a:ext cx="882098" cy="430887"/>
          </a:xfrm>
          <a:prstGeom prst="rect">
            <a:avLst/>
          </a:prstGeom>
          <a:noFill/>
        </p:spPr>
        <p:txBody>
          <a:bodyPr wrap="square" rtlCol="0">
            <a:spAutoFit/>
          </a:bodyPr>
          <a:lstStyle/>
          <a:p>
            <a:pPr algn="ctr"/>
            <a:r>
              <a:rPr lang="fr-BE" sz="1100" dirty="0">
                <a:solidFill>
                  <a:prstClr val="black"/>
                </a:solidFill>
              </a:rPr>
              <a:t>Vendredi 19/05/2023</a:t>
            </a:r>
          </a:p>
        </p:txBody>
      </p:sp>
      <p:cxnSp>
        <p:nvCxnSpPr>
          <p:cNvPr id="22" name="Connecteur droit 21"/>
          <p:cNvCxnSpPr/>
          <p:nvPr/>
        </p:nvCxnSpPr>
        <p:spPr>
          <a:xfrm>
            <a:off x="5429275" y="2575526"/>
            <a:ext cx="0" cy="64807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3" name="ZoneTexte 22"/>
          <p:cNvSpPr txBox="1"/>
          <p:nvPr/>
        </p:nvSpPr>
        <p:spPr>
          <a:xfrm>
            <a:off x="4976500" y="2144736"/>
            <a:ext cx="900100" cy="430887"/>
          </a:xfrm>
          <a:prstGeom prst="rect">
            <a:avLst/>
          </a:prstGeom>
          <a:noFill/>
        </p:spPr>
        <p:txBody>
          <a:bodyPr wrap="square" rtlCol="0">
            <a:spAutoFit/>
          </a:bodyPr>
          <a:lstStyle/>
          <a:p>
            <a:pPr algn="ctr"/>
            <a:r>
              <a:rPr lang="fr-BE" sz="1100" dirty="0">
                <a:solidFill>
                  <a:prstClr val="black"/>
                </a:solidFill>
              </a:rPr>
              <a:t>C2 00/ art.58</a:t>
            </a:r>
          </a:p>
        </p:txBody>
      </p:sp>
      <p:sp>
        <p:nvSpPr>
          <p:cNvPr id="24" name="ZoneTexte 23"/>
          <p:cNvSpPr txBox="1"/>
          <p:nvPr/>
        </p:nvSpPr>
        <p:spPr>
          <a:xfrm>
            <a:off x="4985501" y="3252761"/>
            <a:ext cx="882098" cy="430887"/>
          </a:xfrm>
          <a:prstGeom prst="rect">
            <a:avLst/>
          </a:prstGeom>
          <a:noFill/>
        </p:spPr>
        <p:txBody>
          <a:bodyPr wrap="square" rtlCol="0">
            <a:spAutoFit/>
          </a:bodyPr>
          <a:lstStyle/>
          <a:p>
            <a:pPr algn="ctr"/>
            <a:r>
              <a:rPr lang="fr-BE" sz="1100" dirty="0">
                <a:solidFill>
                  <a:prstClr val="black"/>
                </a:solidFill>
              </a:rPr>
              <a:t>Lundi 12/06/2023</a:t>
            </a:r>
          </a:p>
        </p:txBody>
      </p:sp>
      <p:cxnSp>
        <p:nvCxnSpPr>
          <p:cNvPr id="31" name="Connecteur droit 30"/>
          <p:cNvCxnSpPr/>
          <p:nvPr/>
        </p:nvCxnSpPr>
        <p:spPr>
          <a:xfrm>
            <a:off x="8420593" y="2626514"/>
            <a:ext cx="0" cy="64807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33" name="ZoneTexte 32"/>
          <p:cNvSpPr txBox="1"/>
          <p:nvPr/>
        </p:nvSpPr>
        <p:spPr>
          <a:xfrm>
            <a:off x="7979544" y="3320565"/>
            <a:ext cx="882098" cy="430887"/>
          </a:xfrm>
          <a:prstGeom prst="rect">
            <a:avLst/>
          </a:prstGeom>
          <a:noFill/>
        </p:spPr>
        <p:txBody>
          <a:bodyPr wrap="square" rtlCol="0">
            <a:spAutoFit/>
          </a:bodyPr>
          <a:lstStyle/>
          <a:p>
            <a:pPr algn="ctr"/>
            <a:r>
              <a:rPr lang="fr-BE" sz="1100" dirty="0">
                <a:solidFill>
                  <a:prstClr val="black"/>
                </a:solidFill>
              </a:rPr>
              <a:t>Lundi 24/07/2023</a:t>
            </a:r>
          </a:p>
        </p:txBody>
      </p:sp>
      <p:sp>
        <p:nvSpPr>
          <p:cNvPr id="36" name="Accolade ouvrante 35"/>
          <p:cNvSpPr/>
          <p:nvPr/>
        </p:nvSpPr>
        <p:spPr>
          <a:xfrm rot="16200000">
            <a:off x="3898143" y="695720"/>
            <a:ext cx="101152" cy="6255904"/>
          </a:xfrm>
          <a:prstGeom prst="leftBrace">
            <a:avLst>
              <a:gd name="adj1" fmla="val 8332"/>
              <a:gd name="adj2" fmla="val 50000"/>
            </a:avLst>
          </a:prstGeom>
          <a:ln w="28575">
            <a:solidFill>
              <a:srgbClr val="008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BE">
              <a:solidFill>
                <a:srgbClr val="0033CC"/>
              </a:solidFill>
            </a:endParaRPr>
          </a:p>
        </p:txBody>
      </p:sp>
      <p:sp>
        <p:nvSpPr>
          <p:cNvPr id="38" name="ZoneTexte 37"/>
          <p:cNvSpPr txBox="1"/>
          <p:nvPr/>
        </p:nvSpPr>
        <p:spPr>
          <a:xfrm>
            <a:off x="2049403" y="3892023"/>
            <a:ext cx="3798632" cy="369332"/>
          </a:xfrm>
          <a:prstGeom prst="rect">
            <a:avLst/>
          </a:prstGeom>
          <a:noFill/>
        </p:spPr>
        <p:txBody>
          <a:bodyPr wrap="square" rtlCol="0">
            <a:spAutoFit/>
          </a:bodyPr>
          <a:lstStyle/>
          <a:p>
            <a:r>
              <a:rPr lang="fr-BE" dirty="0">
                <a:solidFill>
                  <a:srgbClr val="008000"/>
                </a:solidFill>
              </a:rPr>
              <a:t>DUREE RADIATION= 15 SEMAINES</a:t>
            </a:r>
          </a:p>
        </p:txBody>
      </p:sp>
      <p:sp>
        <p:nvSpPr>
          <p:cNvPr id="39" name="Accolade ouvrante 38"/>
          <p:cNvSpPr/>
          <p:nvPr/>
        </p:nvSpPr>
        <p:spPr>
          <a:xfrm rot="16200000">
            <a:off x="6119867" y="3597538"/>
            <a:ext cx="275212" cy="1638396"/>
          </a:xfrm>
          <a:prstGeom prst="leftBrac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BE">
              <a:solidFill>
                <a:schemeClr val="accent6">
                  <a:lumMod val="75000"/>
                </a:schemeClr>
              </a:solidFill>
            </a:endParaRPr>
          </a:p>
        </p:txBody>
      </p:sp>
      <p:sp>
        <p:nvSpPr>
          <p:cNvPr id="40" name="ZoneTexte 39"/>
          <p:cNvSpPr txBox="1"/>
          <p:nvPr/>
        </p:nvSpPr>
        <p:spPr>
          <a:xfrm>
            <a:off x="4926459" y="4595799"/>
            <a:ext cx="3053085" cy="646331"/>
          </a:xfrm>
          <a:prstGeom prst="rect">
            <a:avLst/>
          </a:prstGeom>
          <a:noFill/>
          <a:ln>
            <a:noFill/>
          </a:ln>
        </p:spPr>
        <p:txBody>
          <a:bodyPr wrap="square" rtlCol="0">
            <a:spAutoFit/>
          </a:bodyPr>
          <a:lstStyle/>
          <a:p>
            <a:r>
              <a:rPr lang="fr-BE" dirty="0">
                <a:solidFill>
                  <a:schemeClr val="accent6">
                    <a:lumMod val="75000"/>
                  </a:schemeClr>
                </a:solidFill>
              </a:rPr>
              <a:t>RADIATION ≥ DATE SANCTION = 5 SEMAINES et 4 JOURS </a:t>
            </a:r>
          </a:p>
        </p:txBody>
      </p:sp>
      <p:sp>
        <p:nvSpPr>
          <p:cNvPr id="44" name="Accolade ouvrante 43"/>
          <p:cNvSpPr/>
          <p:nvPr/>
        </p:nvSpPr>
        <p:spPr>
          <a:xfrm rot="5400000">
            <a:off x="4591850" y="1259552"/>
            <a:ext cx="234115" cy="1458734"/>
          </a:xfrm>
          <a:prstGeom prst="leftBrace">
            <a:avLst/>
          </a:prstGeom>
          <a:ln w="28575">
            <a:solidFill>
              <a:srgbClr val="00339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BE">
              <a:solidFill>
                <a:srgbClr val="0033CC"/>
              </a:solidFill>
            </a:endParaRPr>
          </a:p>
        </p:txBody>
      </p:sp>
      <p:sp>
        <p:nvSpPr>
          <p:cNvPr id="45" name="ZoneTexte 44"/>
          <p:cNvSpPr txBox="1"/>
          <p:nvPr/>
        </p:nvSpPr>
        <p:spPr>
          <a:xfrm>
            <a:off x="3689471" y="1392085"/>
            <a:ext cx="2165491" cy="430887"/>
          </a:xfrm>
          <a:prstGeom prst="rect">
            <a:avLst/>
          </a:prstGeom>
          <a:noFill/>
        </p:spPr>
        <p:txBody>
          <a:bodyPr wrap="square" rtlCol="0">
            <a:spAutoFit/>
          </a:bodyPr>
          <a:lstStyle/>
          <a:p>
            <a:pPr algn="ctr"/>
            <a:r>
              <a:rPr lang="fr-BE" sz="1100" b="1" dirty="0">
                <a:solidFill>
                  <a:srgbClr val="0033CC"/>
                </a:solidFill>
              </a:rPr>
              <a:t>Exclusion 1 jour de la 4</a:t>
            </a:r>
            <a:r>
              <a:rPr lang="fr-BE" sz="1100" b="1" baseline="30000" dirty="0">
                <a:solidFill>
                  <a:srgbClr val="0033CC"/>
                </a:solidFill>
              </a:rPr>
              <a:t>ème</a:t>
            </a:r>
            <a:r>
              <a:rPr lang="fr-BE" sz="1100" b="1" dirty="0">
                <a:solidFill>
                  <a:srgbClr val="0033CC"/>
                </a:solidFill>
              </a:rPr>
              <a:t> semaine qui suit la notification</a:t>
            </a:r>
          </a:p>
        </p:txBody>
      </p:sp>
      <p:cxnSp>
        <p:nvCxnSpPr>
          <p:cNvPr id="34" name="Connecteur droit 33"/>
          <p:cNvCxnSpPr/>
          <p:nvPr/>
        </p:nvCxnSpPr>
        <p:spPr>
          <a:xfrm>
            <a:off x="7076669" y="2581769"/>
            <a:ext cx="0" cy="64807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35" name="ZoneTexte 34"/>
          <p:cNvSpPr txBox="1"/>
          <p:nvPr/>
        </p:nvSpPr>
        <p:spPr>
          <a:xfrm>
            <a:off x="6706049" y="2148893"/>
            <a:ext cx="792088" cy="430887"/>
          </a:xfrm>
          <a:prstGeom prst="rect">
            <a:avLst/>
          </a:prstGeom>
          <a:noFill/>
        </p:spPr>
        <p:txBody>
          <a:bodyPr wrap="square" rtlCol="0">
            <a:spAutoFit/>
          </a:bodyPr>
          <a:lstStyle/>
          <a:p>
            <a:pPr algn="ctr"/>
            <a:r>
              <a:rPr lang="fr-BE" sz="1100" b="1" dirty="0">
                <a:solidFill>
                  <a:prstClr val="black"/>
                </a:solidFill>
              </a:rPr>
              <a:t>Nouvelle IDE + D.A  </a:t>
            </a:r>
          </a:p>
        </p:txBody>
      </p:sp>
      <p:sp>
        <p:nvSpPr>
          <p:cNvPr id="42" name="Accolade ouvrante 41"/>
          <p:cNvSpPr/>
          <p:nvPr/>
        </p:nvSpPr>
        <p:spPr>
          <a:xfrm rot="16200000">
            <a:off x="2311048" y="2908817"/>
            <a:ext cx="161401" cy="3087346"/>
          </a:xfrm>
          <a:prstGeom prst="leftBrace">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BE">
              <a:solidFill>
                <a:srgbClr val="7030A0"/>
              </a:solidFill>
            </a:endParaRPr>
          </a:p>
        </p:txBody>
      </p:sp>
      <p:sp>
        <p:nvSpPr>
          <p:cNvPr id="26" name="ZoneTexte 25"/>
          <p:cNvSpPr txBox="1"/>
          <p:nvPr/>
        </p:nvSpPr>
        <p:spPr>
          <a:xfrm>
            <a:off x="6661044" y="3293168"/>
            <a:ext cx="882098" cy="430887"/>
          </a:xfrm>
          <a:prstGeom prst="rect">
            <a:avLst/>
          </a:prstGeom>
          <a:noFill/>
        </p:spPr>
        <p:txBody>
          <a:bodyPr wrap="square" rtlCol="0">
            <a:spAutoFit/>
          </a:bodyPr>
          <a:lstStyle/>
          <a:p>
            <a:pPr algn="ctr"/>
            <a:r>
              <a:rPr lang="fr-BE" sz="1100" dirty="0">
                <a:solidFill>
                  <a:prstClr val="black"/>
                </a:solidFill>
              </a:rPr>
              <a:t>Vendredi 21/07/2023</a:t>
            </a:r>
          </a:p>
        </p:txBody>
      </p:sp>
      <p:pic>
        <p:nvPicPr>
          <p:cNvPr id="5" name="Image 4"/>
          <p:cNvPicPr>
            <a:picLocks noChangeAspect="1"/>
          </p:cNvPicPr>
          <p:nvPr/>
        </p:nvPicPr>
        <p:blipFill>
          <a:blip r:embed="rId3"/>
          <a:stretch>
            <a:fillRect/>
          </a:stretch>
        </p:blipFill>
        <p:spPr>
          <a:xfrm>
            <a:off x="8021270" y="1871861"/>
            <a:ext cx="798645" cy="810838"/>
          </a:xfrm>
          <a:prstGeom prst="rect">
            <a:avLst/>
          </a:prstGeom>
        </p:spPr>
      </p:pic>
      <p:sp>
        <p:nvSpPr>
          <p:cNvPr id="29" name="ZoneTexte 28"/>
          <p:cNvSpPr txBox="1"/>
          <p:nvPr/>
        </p:nvSpPr>
        <p:spPr>
          <a:xfrm>
            <a:off x="527664" y="4570148"/>
            <a:ext cx="4037515" cy="369332"/>
          </a:xfrm>
          <a:prstGeom prst="rect">
            <a:avLst/>
          </a:prstGeom>
          <a:noFill/>
        </p:spPr>
        <p:txBody>
          <a:bodyPr wrap="square" rtlCol="0">
            <a:spAutoFit/>
          </a:bodyPr>
          <a:lstStyle/>
          <a:p>
            <a:r>
              <a:rPr lang="fr-BE" dirty="0">
                <a:solidFill>
                  <a:srgbClr val="C00000"/>
                </a:solidFill>
              </a:rPr>
              <a:t>RADIATION &lt; DECISION SRE= 6 SEMAINES</a:t>
            </a:r>
          </a:p>
        </p:txBody>
      </p:sp>
      <p:sp>
        <p:nvSpPr>
          <p:cNvPr id="30" name="Accolade ouvrante 29"/>
          <p:cNvSpPr/>
          <p:nvPr/>
        </p:nvSpPr>
        <p:spPr>
          <a:xfrm rot="16200000">
            <a:off x="6838971" y="3953241"/>
            <a:ext cx="180929" cy="2982317"/>
          </a:xfrm>
          <a:prstGeom prst="leftBrace">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BE">
              <a:solidFill>
                <a:srgbClr val="C00000"/>
              </a:solidFill>
            </a:endParaRPr>
          </a:p>
        </p:txBody>
      </p:sp>
      <p:sp>
        <p:nvSpPr>
          <p:cNvPr id="37" name="ZoneTexte 36"/>
          <p:cNvSpPr txBox="1"/>
          <p:nvPr/>
        </p:nvSpPr>
        <p:spPr>
          <a:xfrm>
            <a:off x="5099664" y="5571822"/>
            <a:ext cx="4037515" cy="369332"/>
          </a:xfrm>
          <a:prstGeom prst="rect">
            <a:avLst/>
          </a:prstGeom>
          <a:noFill/>
          <a:ln>
            <a:noFill/>
          </a:ln>
        </p:spPr>
        <p:txBody>
          <a:bodyPr wrap="square" rtlCol="0">
            <a:spAutoFit/>
          </a:bodyPr>
          <a:lstStyle/>
          <a:p>
            <a:r>
              <a:rPr lang="fr-BE" dirty="0">
                <a:solidFill>
                  <a:srgbClr val="C00000"/>
                </a:solidFill>
              </a:rPr>
              <a:t>DUREE EXCLUSION= MIN. 6 SEMAINES</a:t>
            </a:r>
          </a:p>
        </p:txBody>
      </p:sp>
    </p:spTree>
    <p:extLst>
      <p:ext uri="{BB962C8B-B14F-4D97-AF65-F5344CB8AC3E}">
        <p14:creationId xmlns:p14="http://schemas.microsoft.com/office/powerpoint/2010/main" val="260417940"/>
      </p:ext>
    </p:extLst>
  </p:cSld>
  <p:clrMapOvr>
    <a:masterClrMapping/>
  </p:clrMapOvr>
  <p:transition>
    <p:dissolv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00034" y="214290"/>
            <a:ext cx="8229600" cy="1143000"/>
          </a:xfrm>
        </p:spPr>
        <p:txBody>
          <a:bodyPr>
            <a:normAutofit/>
          </a:bodyPr>
          <a:lstStyle/>
          <a:p>
            <a:r>
              <a:rPr lang="fr-BE" sz="4000" b="1" i="1" dirty="0">
                <a:latin typeface="Times New Roman" pitchFamily="18" charset="0"/>
                <a:cs typeface="Times New Roman" pitchFamily="18" charset="0"/>
              </a:rPr>
              <a:t>2.2. Article 70</a:t>
            </a:r>
            <a:endParaRPr lang="en-US" sz="4000" i="1" dirty="0">
              <a:latin typeface="Times New Roman" pitchFamily="18" charset="0"/>
              <a:cs typeface="Times New Roman" pitchFamily="18" charset="0"/>
            </a:endParaRPr>
          </a:p>
        </p:txBody>
      </p:sp>
      <p:sp>
        <p:nvSpPr>
          <p:cNvPr id="3" name="Espace réservé du contenu 2"/>
          <p:cNvSpPr>
            <a:spLocks noGrp="1"/>
          </p:cNvSpPr>
          <p:nvPr>
            <p:ph idx="1"/>
          </p:nvPr>
        </p:nvSpPr>
        <p:spPr/>
        <p:txBody>
          <a:bodyPr/>
          <a:lstStyle/>
          <a:p>
            <a:pPr marL="0" indent="0">
              <a:buNone/>
            </a:pPr>
            <a:r>
              <a:rPr lang="fr-BE" dirty="0">
                <a:latin typeface="Times New Roman" pitchFamily="18" charset="0"/>
                <a:cs typeface="Times New Roman" pitchFamily="18" charset="0"/>
              </a:rPr>
              <a:t>Le chômeur qui n’a pas donné suite à une convocation </a:t>
            </a:r>
            <a:r>
              <a:rPr lang="fr-BE" b="1" u="sng" dirty="0">
                <a:latin typeface="Times New Roman" pitchFamily="18" charset="0"/>
                <a:cs typeface="Times New Roman" pitchFamily="18" charset="0"/>
              </a:rPr>
              <a:t>du BC </a:t>
            </a:r>
            <a:r>
              <a:rPr lang="fr-BE" dirty="0">
                <a:latin typeface="Times New Roman" pitchFamily="18" charset="0"/>
                <a:cs typeface="Times New Roman" pitchFamily="18" charset="0"/>
              </a:rPr>
              <a:t>est exclu du chômage : la décision produit ses effets à partir du jour de l’absence.</a:t>
            </a:r>
          </a:p>
          <a:p>
            <a:pPr marL="0" indent="0">
              <a:buNone/>
            </a:pPr>
            <a:endParaRPr lang="fr-BE" dirty="0">
              <a:latin typeface="Times New Roman" pitchFamily="18" charset="0"/>
              <a:cs typeface="Times New Roman" pitchFamily="18" charset="0"/>
            </a:endParaRPr>
          </a:p>
          <a:p>
            <a:pPr marL="0" indent="0">
              <a:buNone/>
            </a:pPr>
            <a:endParaRPr lang="fr-BE" dirty="0">
              <a:latin typeface="Times New Roman" pitchFamily="18" charset="0"/>
              <a:cs typeface="Times New Roman" pitchFamily="18" charset="0"/>
            </a:endParaRPr>
          </a:p>
          <a:p>
            <a:pPr>
              <a:buNone/>
            </a:pPr>
            <a:r>
              <a:rPr lang="fr-BE" sz="2800" dirty="0">
                <a:solidFill>
                  <a:srgbClr val="0033CC"/>
                </a:solidFill>
                <a:latin typeface="Times New Roman" pitchFamily="18" charset="0"/>
                <a:cs typeface="Times New Roman" pitchFamily="18" charset="0"/>
              </a:rPr>
              <a:t>	</a:t>
            </a:r>
          </a:p>
          <a:p>
            <a:endParaRPr lang="en-US"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42</a:t>
            </a:fld>
            <a:endParaRPr lang="fr-FR"/>
          </a:p>
        </p:txBody>
      </p:sp>
    </p:spTree>
    <p:extLst>
      <p:ext uri="{BB962C8B-B14F-4D97-AF65-F5344CB8AC3E}">
        <p14:creationId xmlns:p14="http://schemas.microsoft.com/office/powerpoint/2010/main" val="2871615397"/>
      </p:ext>
    </p:extLst>
  </p:cSld>
  <p:clrMapOvr>
    <a:masterClrMapping/>
  </p:clrMapOvr>
  <p:transition>
    <p:dissolv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BE" b="1" i="1" dirty="0">
                <a:latin typeface="Times New Roman" pitchFamily="18" charset="0"/>
                <a:cs typeface="Times New Roman" pitchFamily="18" charset="0"/>
              </a:rPr>
              <a:t>2.2. Article 70</a:t>
            </a:r>
            <a:endParaRPr lang="en-US" dirty="0"/>
          </a:p>
        </p:txBody>
      </p:sp>
      <p:sp>
        <p:nvSpPr>
          <p:cNvPr id="3" name="Espace réservé du contenu 2"/>
          <p:cNvSpPr>
            <a:spLocks noGrp="1"/>
          </p:cNvSpPr>
          <p:nvPr>
            <p:ph idx="1"/>
          </p:nvPr>
        </p:nvSpPr>
        <p:spPr/>
        <p:txBody>
          <a:bodyPr>
            <a:noAutofit/>
          </a:bodyPr>
          <a:lstStyle/>
          <a:p>
            <a:pPr hangingPunct="0">
              <a:buNone/>
            </a:pPr>
            <a:r>
              <a:rPr lang="fr-BE" sz="2800" dirty="0">
                <a:latin typeface="Times New Roman" pitchFamily="18" charset="0"/>
                <a:cs typeface="Times New Roman" pitchFamily="18" charset="0"/>
              </a:rPr>
              <a:t>L'exclusion prend fin le jour où le chômeur: </a:t>
            </a:r>
            <a:endParaRPr lang="en-US" sz="2800" dirty="0">
              <a:latin typeface="Times New Roman" pitchFamily="18" charset="0"/>
              <a:cs typeface="Times New Roman" pitchFamily="18" charset="0"/>
            </a:endParaRPr>
          </a:p>
          <a:p>
            <a:pPr hangingPunct="0">
              <a:buNone/>
            </a:pPr>
            <a:endParaRPr lang="en-US" sz="2800" dirty="0">
              <a:latin typeface="Times New Roman" pitchFamily="18" charset="0"/>
              <a:cs typeface="Times New Roman" pitchFamily="18" charset="0"/>
            </a:endParaRPr>
          </a:p>
          <a:p>
            <a:pPr hangingPunct="0">
              <a:buFont typeface="Wingdings" pitchFamily="2" charset="2"/>
              <a:buChar char="ü"/>
            </a:pPr>
            <a:r>
              <a:rPr lang="fr-BE" sz="2800" dirty="0">
                <a:latin typeface="Times New Roman" pitchFamily="18" charset="0"/>
                <a:cs typeface="Times New Roman" pitchFamily="18" charset="0"/>
              </a:rPr>
              <a:t>se présente au bureau du chômage,  reçoit une attestation du service contrôle confirmant la date de la présentation personnelle pour levée de l‘AR 70</a:t>
            </a:r>
            <a:endParaRPr lang="en-US" sz="2800" dirty="0">
              <a:latin typeface="Times New Roman" pitchFamily="18" charset="0"/>
              <a:cs typeface="Times New Roman" pitchFamily="18" charset="0"/>
            </a:endParaRPr>
          </a:p>
          <a:p>
            <a:pPr hangingPunct="0">
              <a:buNone/>
            </a:pPr>
            <a:endParaRPr lang="en-US" sz="2800" dirty="0">
              <a:latin typeface="Times New Roman" pitchFamily="18" charset="0"/>
              <a:cs typeface="Times New Roman" pitchFamily="18" charset="0"/>
            </a:endParaRPr>
          </a:p>
          <a:p>
            <a:pPr hangingPunct="0">
              <a:buFont typeface="Wingdings" pitchFamily="2" charset="2"/>
              <a:buChar char="ü"/>
            </a:pPr>
            <a:r>
              <a:rPr lang="fr-BE" sz="2800" dirty="0">
                <a:latin typeface="Times New Roman" pitchFamily="18" charset="0"/>
                <a:cs typeface="Times New Roman" pitchFamily="18" charset="0"/>
              </a:rPr>
              <a:t>soit introduit une </a:t>
            </a:r>
            <a:r>
              <a:rPr lang="fr-BE" sz="2800" b="1" dirty="0">
                <a:latin typeface="Times New Roman" pitchFamily="18" charset="0"/>
                <a:cs typeface="Times New Roman" pitchFamily="18" charset="0"/>
              </a:rPr>
              <a:t>demande d'allocations </a:t>
            </a:r>
            <a:r>
              <a:rPr lang="fr-BE" sz="2800" dirty="0">
                <a:latin typeface="Times New Roman" pitchFamily="18" charset="0"/>
                <a:cs typeface="Times New Roman" pitchFamily="18" charset="0"/>
              </a:rPr>
              <a:t>après une interruption de son indemnisation pendant quatre semaines au moins à cause d'une </a:t>
            </a:r>
            <a:r>
              <a:rPr lang="fr-BE" sz="2800" b="1" dirty="0">
                <a:latin typeface="Times New Roman" pitchFamily="18" charset="0"/>
                <a:cs typeface="Times New Roman" pitchFamily="18" charset="0"/>
              </a:rPr>
              <a:t>reprise de travail comme salarié ou d'une période d'incapacité de travail indemnisée</a:t>
            </a:r>
            <a:r>
              <a:rPr lang="fr-BE" sz="2800" dirty="0">
                <a:latin typeface="Times New Roman" pitchFamily="18" charset="0"/>
                <a:cs typeface="Times New Roman" pitchFamily="18" charset="0"/>
              </a:rPr>
              <a:t>.</a:t>
            </a:r>
            <a:r>
              <a:rPr lang="fr-BE" sz="2800" i="1" dirty="0">
                <a:latin typeface="Times New Roman" pitchFamily="18" charset="0"/>
                <a:cs typeface="Times New Roman" pitchFamily="18" charset="0"/>
              </a:rPr>
              <a:t> </a:t>
            </a:r>
            <a:endParaRPr lang="fr-BE" sz="2800" dirty="0">
              <a:latin typeface="Times New Roman" pitchFamily="18" charset="0"/>
              <a:cs typeface="Times New Roman" pitchFamily="18" charset="0"/>
            </a:endParaRPr>
          </a:p>
          <a:p>
            <a:pPr hangingPunct="0">
              <a:buNone/>
            </a:pPr>
            <a:r>
              <a:rPr lang="fr-BE" sz="2000" dirty="0">
                <a:latin typeface="Times New Roman" pitchFamily="18" charset="0"/>
                <a:cs typeface="Times New Roman" pitchFamily="18" charset="0"/>
              </a:rPr>
              <a:t>	</a:t>
            </a:r>
            <a:endParaRPr lang="en-US" sz="1800" dirty="0">
              <a:latin typeface="Times New Roman" pitchFamily="18" charset="0"/>
              <a:cs typeface="Times New Roman" pitchFamily="18" charset="0"/>
            </a:endParaRP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43</a:t>
            </a:fld>
            <a:endParaRPr lang="fr-FR"/>
          </a:p>
        </p:txBody>
      </p:sp>
    </p:spTree>
    <p:extLst>
      <p:ext uri="{BB962C8B-B14F-4D97-AF65-F5344CB8AC3E}">
        <p14:creationId xmlns:p14="http://schemas.microsoft.com/office/powerpoint/2010/main" val="4165395759"/>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 calcmode="lin" valueType="num">
                                      <p:cBhvr additive="base">
                                        <p:cTn id="1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BE" b="1" i="1" dirty="0">
                <a:latin typeface="Times New Roman" pitchFamily="18" charset="0"/>
                <a:cs typeface="Times New Roman" pitchFamily="18" charset="0"/>
              </a:rPr>
              <a:t>2.2. Article 70</a:t>
            </a:r>
            <a:endParaRPr lang="en-US" dirty="0"/>
          </a:p>
        </p:txBody>
      </p:sp>
      <p:sp>
        <p:nvSpPr>
          <p:cNvPr id="3" name="Espace réservé du contenu 2"/>
          <p:cNvSpPr>
            <a:spLocks noGrp="1"/>
          </p:cNvSpPr>
          <p:nvPr>
            <p:ph idx="1"/>
          </p:nvPr>
        </p:nvSpPr>
        <p:spPr/>
        <p:txBody>
          <a:bodyPr>
            <a:noAutofit/>
          </a:bodyPr>
          <a:lstStyle/>
          <a:p>
            <a:pPr hangingPunct="0">
              <a:buNone/>
            </a:pPr>
            <a:r>
              <a:rPr lang="fr-BE" sz="2800" dirty="0">
                <a:latin typeface="Times New Roman" pitchFamily="18" charset="0"/>
                <a:cs typeface="Times New Roman" pitchFamily="18" charset="0"/>
              </a:rPr>
              <a:t>S'il n'est pas satisfait à cette condition, une présentation  personnelle au BC est requise,</a:t>
            </a:r>
          </a:p>
          <a:p>
            <a:pPr hangingPunct="0">
              <a:buNone/>
            </a:pPr>
            <a:endParaRPr lang="fr-BE" sz="2800" dirty="0">
              <a:latin typeface="Times New Roman" pitchFamily="18" charset="0"/>
              <a:cs typeface="Times New Roman" pitchFamily="18" charset="0"/>
            </a:endParaRPr>
          </a:p>
          <a:p>
            <a:pPr hangingPunct="0">
              <a:buNone/>
            </a:pPr>
            <a:endParaRPr lang="fr-BE" sz="2800" dirty="0">
              <a:latin typeface="Times New Roman" pitchFamily="18" charset="0"/>
              <a:cs typeface="Times New Roman" pitchFamily="18" charset="0"/>
            </a:endParaRPr>
          </a:p>
          <a:p>
            <a:pPr hangingPunct="0">
              <a:buNone/>
            </a:pPr>
            <a:endParaRPr lang="en-US" sz="2400" dirty="0">
              <a:latin typeface="Times New Roman" pitchFamily="18" charset="0"/>
              <a:cs typeface="Times New Roman" pitchFamily="18" charset="0"/>
            </a:endParaRPr>
          </a:p>
          <a:p>
            <a:pPr marL="0" indent="0" hangingPunct="0">
              <a:buNone/>
            </a:pPr>
            <a:r>
              <a:rPr lang="fr-BE" sz="2800" dirty="0">
                <a:latin typeface="Times New Roman" pitchFamily="18" charset="0"/>
                <a:cs typeface="Times New Roman" pitchFamily="18" charset="0"/>
              </a:rPr>
              <a:t>L’exclusion est également levée en cas de demande d’allocations en tant que chômeur temporaire, située après les 4 premières semaines de la reprise de travail</a:t>
            </a:r>
            <a:endParaRPr lang="en-US" sz="2800"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44</a:t>
            </a:fld>
            <a:endParaRPr lang="fr-FR"/>
          </a:p>
        </p:txBody>
      </p:sp>
    </p:spTree>
    <p:extLst>
      <p:ext uri="{BB962C8B-B14F-4D97-AF65-F5344CB8AC3E}">
        <p14:creationId xmlns:p14="http://schemas.microsoft.com/office/powerpoint/2010/main" val="2846593557"/>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00034" y="500042"/>
            <a:ext cx="8229600" cy="1143000"/>
          </a:xfrm>
        </p:spPr>
        <p:txBody>
          <a:bodyPr>
            <a:normAutofit fontScale="90000"/>
          </a:bodyPr>
          <a:lstStyle/>
          <a:p>
            <a:r>
              <a:rPr lang="fr-BE" b="1" i="1" dirty="0">
                <a:latin typeface="Times New Roman" pitchFamily="18" charset="0"/>
                <a:cs typeface="Times New Roman" pitchFamily="18" charset="0"/>
              </a:rPr>
              <a:t>2.3. Indisponibilité sur le marché de l’emploi</a:t>
            </a:r>
            <a:endParaRPr lang="en-US" dirty="0">
              <a:latin typeface="Times New Roman" pitchFamily="18" charset="0"/>
              <a:cs typeface="Times New Roman" pitchFamily="18" charset="0"/>
            </a:endParaRPr>
          </a:p>
        </p:txBody>
      </p:sp>
      <p:sp>
        <p:nvSpPr>
          <p:cNvPr id="3" name="Espace réservé du contenu 2"/>
          <p:cNvSpPr>
            <a:spLocks noGrp="1"/>
          </p:cNvSpPr>
          <p:nvPr>
            <p:ph idx="1"/>
          </p:nvPr>
        </p:nvSpPr>
        <p:spPr>
          <a:xfrm>
            <a:off x="428596" y="2000240"/>
            <a:ext cx="8229600" cy="4525963"/>
          </a:xfrm>
        </p:spPr>
        <p:txBody>
          <a:bodyPr/>
          <a:lstStyle/>
          <a:p>
            <a:pPr marL="0" indent="0">
              <a:buNone/>
            </a:pPr>
            <a:r>
              <a:rPr lang="fr-BE" dirty="0">
                <a:latin typeface="Times New Roman" pitchFamily="18" charset="0"/>
                <a:cs typeface="Times New Roman" pitchFamily="18" charset="0"/>
              </a:rPr>
              <a:t>Afin de pouvoir bénéficier d’allocations, le chômeur doit être entièrement disponible pour le marché de l’emploi. </a:t>
            </a:r>
          </a:p>
          <a:p>
            <a:pPr marL="0" indent="0">
              <a:buNone/>
            </a:pPr>
            <a:endParaRPr lang="fr-BE" sz="1800" dirty="0">
              <a:latin typeface="Times New Roman" pitchFamily="18" charset="0"/>
              <a:cs typeface="Times New Roman" pitchFamily="18" charset="0"/>
            </a:endParaRPr>
          </a:p>
          <a:p>
            <a:pPr marL="0" indent="0">
              <a:buNone/>
            </a:pPr>
            <a:r>
              <a:rPr lang="fr-BE" dirty="0">
                <a:latin typeface="Times New Roman" pitchFamily="18" charset="0"/>
                <a:cs typeface="Times New Roman" pitchFamily="18" charset="0"/>
              </a:rPr>
              <a:t>On entend par marché de l’emploi l’entièreté des emplois qui, tenant compte des critères d’emploi convenable, conviennent au chômeur.</a:t>
            </a:r>
            <a:endParaRPr lang="fr-FR" dirty="0">
              <a:latin typeface="Times New Roman" pitchFamily="18" charset="0"/>
              <a:cs typeface="Times New Roman" pitchFamily="18" charset="0"/>
            </a:endParaRPr>
          </a:p>
          <a:p>
            <a:pPr marL="0" indent="0"/>
            <a:endParaRPr lang="en-US"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45</a:t>
            </a:fld>
            <a:endParaRPr lang="fr-FR"/>
          </a:p>
        </p:txBody>
      </p:sp>
    </p:spTree>
    <p:extLst>
      <p:ext uri="{BB962C8B-B14F-4D97-AF65-F5344CB8AC3E}">
        <p14:creationId xmlns:p14="http://schemas.microsoft.com/office/powerpoint/2010/main" val="1670731543"/>
      </p:ext>
    </p:extLst>
  </p:cSld>
  <p:clrMapOvr>
    <a:masterClrMapping/>
  </p:clrMapOvr>
  <p:transition>
    <p:dissolv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BE" b="1" i="1" dirty="0">
                <a:latin typeface="Times New Roman" pitchFamily="18" charset="0"/>
                <a:cs typeface="Times New Roman" pitchFamily="18" charset="0"/>
              </a:rPr>
              <a:t>2.3.1. Indisponibilité objective</a:t>
            </a:r>
            <a:endParaRPr lang="en-US" dirty="0">
              <a:latin typeface="Times New Roman" pitchFamily="18" charset="0"/>
              <a:cs typeface="Times New Roman" pitchFamily="18" charset="0"/>
            </a:endParaRPr>
          </a:p>
        </p:txBody>
      </p:sp>
      <p:sp>
        <p:nvSpPr>
          <p:cNvPr id="3" name="Espace réservé du contenu 2"/>
          <p:cNvSpPr>
            <a:spLocks noGrp="1"/>
          </p:cNvSpPr>
          <p:nvPr>
            <p:ph idx="1"/>
          </p:nvPr>
        </p:nvSpPr>
        <p:spPr>
          <a:xfrm>
            <a:off x="457200" y="1600200"/>
            <a:ext cx="8291264" cy="4525963"/>
          </a:xfrm>
        </p:spPr>
        <p:txBody>
          <a:bodyPr/>
          <a:lstStyle/>
          <a:p>
            <a:pPr marL="0" indent="0">
              <a:buNone/>
            </a:pPr>
            <a:r>
              <a:rPr lang="fr-BE" b="1" u="sng" dirty="0">
                <a:latin typeface="Times New Roman" pitchFamily="18" charset="0"/>
                <a:cs typeface="Times New Roman" pitchFamily="18" charset="0"/>
              </a:rPr>
              <a:t>Interdiction de travail pré et postnatal</a:t>
            </a:r>
            <a:r>
              <a:rPr lang="fr-BE" dirty="0">
                <a:latin typeface="Times New Roman" pitchFamily="18" charset="0"/>
                <a:cs typeface="Times New Roman" pitchFamily="18" charset="0"/>
              </a:rPr>
              <a:t> durant respectivement 1 semaine avant l’accouchement, et 9 semaines après l’accouchement : la travailleuse sans emploi doit placer la lettre « M » sur sa carte de pointage à partir du 7ème jour qui précède la date présumée de l’accouchement</a:t>
            </a:r>
            <a:endParaRPr lang="en-US" dirty="0">
              <a:latin typeface="Times New Roman" pitchFamily="18" charset="0"/>
              <a:cs typeface="Times New Roman" pitchFamily="18" charset="0"/>
            </a:endParaRP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46</a:t>
            </a:fld>
            <a:endParaRPr lang="fr-FR"/>
          </a:p>
        </p:txBody>
      </p:sp>
    </p:spTree>
    <p:extLst>
      <p:ext uri="{BB962C8B-B14F-4D97-AF65-F5344CB8AC3E}">
        <p14:creationId xmlns:p14="http://schemas.microsoft.com/office/powerpoint/2010/main" val="3131048957"/>
      </p:ext>
    </p:extLst>
  </p:cSld>
  <p:clrMapOvr>
    <a:masterClrMapping/>
  </p:clrMapOvr>
  <p:transition>
    <p:dissolv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BE" b="1" i="1" dirty="0">
                <a:latin typeface="Times New Roman" pitchFamily="18" charset="0"/>
                <a:cs typeface="Times New Roman" pitchFamily="18" charset="0"/>
              </a:rPr>
              <a:t>2.3.2. Indisponibilité subjective</a:t>
            </a:r>
            <a:endParaRPr lang="en-US" dirty="0">
              <a:latin typeface="Times New Roman" pitchFamily="18" charset="0"/>
              <a:cs typeface="Times New Roman" pitchFamily="18" charset="0"/>
            </a:endParaRPr>
          </a:p>
        </p:txBody>
      </p:sp>
      <p:sp>
        <p:nvSpPr>
          <p:cNvPr id="3" name="Espace réservé du contenu 2"/>
          <p:cNvSpPr>
            <a:spLocks noGrp="1"/>
          </p:cNvSpPr>
          <p:nvPr>
            <p:ph idx="1"/>
          </p:nvPr>
        </p:nvSpPr>
        <p:spPr/>
        <p:txBody>
          <a:bodyPr>
            <a:normAutofit/>
          </a:bodyPr>
          <a:lstStyle/>
          <a:p>
            <a:pPr marL="0" indent="0">
              <a:buNone/>
            </a:pPr>
            <a:r>
              <a:rPr lang="fr-BE" dirty="0">
                <a:latin typeface="Times New Roman" pitchFamily="18" charset="0"/>
                <a:cs typeface="Times New Roman" pitchFamily="18" charset="0"/>
              </a:rPr>
              <a:t>Il s’agit du chômeur qui ne veut pas travailler, ou qui n’accepte de travailler que sous certaines conditions : le chômeur doit manifester clairement sa volonté, mais la charge de la preuve incombe à l’ONEm ou au SRE.</a:t>
            </a:r>
          </a:p>
          <a:p>
            <a:pPr marL="0" indent="0">
              <a:buNone/>
            </a:pPr>
            <a:endParaRPr lang="en-US"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47</a:t>
            </a:fld>
            <a:endParaRPr lang="fr-FR"/>
          </a:p>
        </p:txBody>
      </p:sp>
    </p:spTree>
    <p:extLst>
      <p:ext uri="{BB962C8B-B14F-4D97-AF65-F5344CB8AC3E}">
        <p14:creationId xmlns:p14="http://schemas.microsoft.com/office/powerpoint/2010/main" val="513102486"/>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BE" b="1" i="1" dirty="0">
                <a:latin typeface="Times New Roman" pitchFamily="18" charset="0"/>
                <a:cs typeface="Times New Roman" pitchFamily="18" charset="0"/>
              </a:rPr>
              <a:t>2.3.3. Conséquences de l’indisponibilité</a:t>
            </a:r>
            <a:endParaRPr lang="en-US" i="1" dirty="0">
              <a:latin typeface="Times New Roman" pitchFamily="18" charset="0"/>
              <a:cs typeface="Times New Roman" pitchFamily="18" charset="0"/>
            </a:endParaRPr>
          </a:p>
        </p:txBody>
      </p:sp>
      <p:sp>
        <p:nvSpPr>
          <p:cNvPr id="3" name="Espace réservé du contenu 2"/>
          <p:cNvSpPr>
            <a:spLocks noGrp="1"/>
          </p:cNvSpPr>
          <p:nvPr>
            <p:ph idx="1"/>
          </p:nvPr>
        </p:nvSpPr>
        <p:spPr/>
        <p:txBody>
          <a:bodyPr>
            <a:normAutofit lnSpcReduction="10000"/>
          </a:bodyPr>
          <a:lstStyle/>
          <a:p>
            <a:pPr marL="0" indent="0">
              <a:buNone/>
            </a:pPr>
            <a:endParaRPr lang="fr-BE" sz="1600" dirty="0">
              <a:latin typeface="Times New Roman" pitchFamily="18" charset="0"/>
              <a:cs typeface="Times New Roman" pitchFamily="18" charset="0"/>
            </a:endParaRPr>
          </a:p>
          <a:p>
            <a:pPr marL="0" indent="0">
              <a:buNone/>
            </a:pPr>
            <a:r>
              <a:rPr lang="fr-BE" u="sng" dirty="0">
                <a:latin typeface="Times New Roman" pitchFamily="18" charset="0"/>
                <a:cs typeface="Times New Roman" pitchFamily="18" charset="0"/>
              </a:rPr>
              <a:t>ONEm </a:t>
            </a:r>
            <a:r>
              <a:rPr lang="fr-BE" dirty="0">
                <a:latin typeface="Times New Roman" pitchFamily="18" charset="0"/>
                <a:cs typeface="Times New Roman" pitchFamily="18" charset="0"/>
              </a:rPr>
              <a:t>: Exclusion pour la durée de l’indisponibilité qui débute le jour où le chômeur a posé ses conditions, ou le lundi qui suit la date où la décision a été envoyée si le délai d’1 mois et 10 jours est dépassé.</a:t>
            </a:r>
          </a:p>
          <a:p>
            <a:pPr marL="0" indent="0">
              <a:buNone/>
            </a:pPr>
            <a:endParaRPr lang="fr-BE" sz="1600" dirty="0">
              <a:latin typeface="Times New Roman" pitchFamily="18" charset="0"/>
              <a:cs typeface="Times New Roman" pitchFamily="18" charset="0"/>
            </a:endParaRPr>
          </a:p>
          <a:p>
            <a:pPr marL="0" indent="0">
              <a:buNone/>
            </a:pPr>
            <a:r>
              <a:rPr lang="fr-BE" u="sng" dirty="0">
                <a:latin typeface="Times New Roman" pitchFamily="18" charset="0"/>
                <a:cs typeface="Times New Roman" pitchFamily="18" charset="0"/>
              </a:rPr>
              <a:t>SRE: </a:t>
            </a:r>
            <a:r>
              <a:rPr lang="fr-BE" dirty="0">
                <a:latin typeface="Times New Roman" pitchFamily="18" charset="0"/>
                <a:cs typeface="Times New Roman" pitchFamily="18" charset="0"/>
              </a:rPr>
              <a:t>à partir du lundi qui suit la 4</a:t>
            </a:r>
            <a:r>
              <a:rPr lang="fr-BE" baseline="30000" dirty="0">
                <a:latin typeface="Times New Roman" pitchFamily="18" charset="0"/>
                <a:cs typeface="Times New Roman" pitchFamily="18" charset="0"/>
              </a:rPr>
              <a:t>ème</a:t>
            </a:r>
            <a:r>
              <a:rPr lang="fr-BE" dirty="0">
                <a:latin typeface="Times New Roman" pitchFamily="18" charset="0"/>
                <a:cs typeface="Times New Roman" pitchFamily="18" charset="0"/>
              </a:rPr>
              <a:t> semaine suivant l’envoi de la notification à l’ONEm  et pour un minimum de 4 semaines. </a:t>
            </a:r>
            <a:endParaRPr lang="en-US" u="sng" dirty="0">
              <a:latin typeface="Times New Roman" pitchFamily="18" charset="0"/>
              <a:cs typeface="Times New Roman" pitchFamily="18" charset="0"/>
            </a:endParaRP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48</a:t>
            </a:fld>
            <a:endParaRPr lang="fr-FR"/>
          </a:p>
        </p:txBody>
      </p:sp>
    </p:spTree>
    <p:extLst>
      <p:ext uri="{BB962C8B-B14F-4D97-AF65-F5344CB8AC3E}">
        <p14:creationId xmlns:p14="http://schemas.microsoft.com/office/powerpoint/2010/main" val="2411061939"/>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BE" b="1" i="1" dirty="0">
                <a:latin typeface="Times New Roman" pitchFamily="18" charset="0"/>
                <a:cs typeface="Times New Roman" pitchFamily="18" charset="0"/>
              </a:rPr>
              <a:t> 2.3.4. Fin de l’exclusion</a:t>
            </a:r>
            <a:endParaRPr lang="en-US" dirty="0">
              <a:latin typeface="Times New Roman" pitchFamily="18" charset="0"/>
              <a:cs typeface="Times New Roman" pitchFamily="18" charset="0"/>
            </a:endParaRPr>
          </a:p>
        </p:txBody>
      </p:sp>
      <p:sp>
        <p:nvSpPr>
          <p:cNvPr id="3" name="Espace réservé du contenu 2"/>
          <p:cNvSpPr>
            <a:spLocks noGrp="1"/>
          </p:cNvSpPr>
          <p:nvPr>
            <p:ph idx="1"/>
          </p:nvPr>
        </p:nvSpPr>
        <p:spPr/>
        <p:txBody>
          <a:bodyPr>
            <a:normAutofit/>
          </a:bodyPr>
          <a:lstStyle/>
          <a:p>
            <a:pPr marL="0" indent="0">
              <a:buNone/>
            </a:pPr>
            <a:r>
              <a:rPr lang="fr-BE" sz="3600" dirty="0">
                <a:latin typeface="Times New Roman" pitchFamily="18" charset="0"/>
                <a:cs typeface="Times New Roman" pitchFamily="18" charset="0"/>
              </a:rPr>
              <a:t>Le chômeur qui souhaite à nouveau du chômage doit introduire une DA via C4, C6 ou C109 et se déclarer formellement disponible sur le marché de l’emploi (joindre copie IDE). </a:t>
            </a:r>
            <a:endParaRPr lang="fr-FR" sz="3600" dirty="0">
              <a:latin typeface="Times New Roman" pitchFamily="18" charset="0"/>
              <a:cs typeface="Times New Roman" pitchFamily="18" charset="0"/>
            </a:endParaRP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49</a:t>
            </a:fld>
            <a:endParaRPr lang="fr-FR"/>
          </a:p>
        </p:txBody>
      </p:sp>
    </p:spTree>
    <p:extLst>
      <p:ext uri="{BB962C8B-B14F-4D97-AF65-F5344CB8AC3E}">
        <p14:creationId xmlns:p14="http://schemas.microsoft.com/office/powerpoint/2010/main" val="1534298308"/>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D8C07EE20480F44AE4960B9D2A32DA0" ma:contentTypeVersion="4" ma:contentTypeDescription="Crée un document." ma:contentTypeScope="" ma:versionID="f91216ef509c6a584f12053dcd624016">
  <xsd:schema xmlns:xsd="http://www.w3.org/2001/XMLSchema" xmlns:xs="http://www.w3.org/2001/XMLSchema" xmlns:p="http://schemas.microsoft.com/office/2006/metadata/properties" xmlns:ns2="badce1e3-4228-484a-9cea-a1abab477a44" xmlns:ns3="f1b85f46-8f47-4c7a-8346-9752567dac4a" targetNamespace="http://schemas.microsoft.com/office/2006/metadata/properties" ma:root="true" ma:fieldsID="0302afb9b051af15bdd7c100f38d2307" ns2:_="" ns3:_="">
    <xsd:import namespace="badce1e3-4228-484a-9cea-a1abab477a44"/>
    <xsd:import namespace="f1b85f46-8f47-4c7a-8346-9752567dac4a"/>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adce1e3-4228-484a-9cea-a1abab477a44" elementFormDefault="qualified">
    <xsd:import namespace="http://schemas.microsoft.com/office/2006/documentManagement/types"/>
    <xsd:import namespace="http://schemas.microsoft.com/office/infopath/2007/PartnerControls"/>
    <xsd:element name="SharedWithUsers" ma:index="8"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Partagé avec dé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1b85f46-8f47-4c7a-8346-9752567dac4a"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36B4AE9-AB36-48C9-83CE-319474BE637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adce1e3-4228-484a-9cea-a1abab477a44"/>
    <ds:schemaRef ds:uri="f1b85f46-8f47-4c7a-8346-9752567dac4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EF6DFDE-467C-4331-AC15-264F1D27B968}">
  <ds:schemaRefs>
    <ds:schemaRef ds:uri="7d2a3af0-b854-4018-b3fb-98bf2b75e19a"/>
    <ds:schemaRef ds:uri="bdec1399-7c99-4025-bfb6-e1e799e6630a"/>
    <ds:schemaRef ds:uri="1e832426-6819-49af-b751-404cdfce1567"/>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B33E1B7A-B7F9-4124-B2F2-F0CA3235FA9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13005</TotalTime>
  <Words>2767</Words>
  <Application>Microsoft Office PowerPoint</Application>
  <PresentationFormat>On-screen Show (4:3)</PresentationFormat>
  <Paragraphs>357</Paragraphs>
  <Slides>49</Slides>
  <Notes>30</Notes>
  <HiddenSlides>0</HiddenSlides>
  <MMClips>0</MMClips>
  <ScaleCrop>false</ScaleCrop>
  <HeadingPairs>
    <vt:vector size="4" baseType="variant">
      <vt:variant>
        <vt:lpstr>Theme</vt:lpstr>
      </vt:variant>
      <vt:variant>
        <vt:i4>1</vt:i4>
      </vt:variant>
      <vt:variant>
        <vt:lpstr>Slide Titles</vt:lpstr>
      </vt:variant>
      <vt:variant>
        <vt:i4>49</vt:i4>
      </vt:variant>
    </vt:vector>
  </HeadingPairs>
  <TitlesOfParts>
    <vt:vector size="50" baseType="lpstr">
      <vt:lpstr>Thème Office</vt:lpstr>
      <vt:lpstr>PowerPoint Presentation</vt:lpstr>
      <vt:lpstr>TABLE DES MATIERES</vt:lpstr>
      <vt:lpstr>TABLE DES MATIERES</vt:lpstr>
      <vt:lpstr>TABLE DES MATIERES</vt:lpstr>
      <vt:lpstr>1. Les différents types de Sanctions</vt:lpstr>
      <vt:lpstr>PowerPoint Presentation</vt:lpstr>
      <vt:lpstr>Article 51 </vt:lpstr>
      <vt:lpstr>Chômage par suite de circonstances dépendant de la volonté du travailleur</vt:lpstr>
      <vt:lpstr>1.1.1 Chômage par suite de circonstances dépendant de la volonté du travailleur</vt:lpstr>
      <vt:lpstr>1.1.1 Chômage par suite de circonstances dépendant de la volonté du travailleur</vt:lpstr>
      <vt:lpstr>1.1.1 Chômage par suite de circonstances dépendant de la volonté du travailleur</vt:lpstr>
      <vt:lpstr>1.1.1 Chômage par suite de circonstances dépendant de la volonté du travailleur</vt:lpstr>
      <vt:lpstr>1.1.2 Abandon pour un autre emploi</vt:lpstr>
      <vt:lpstr>1.1.3 Emploi convenable </vt:lpstr>
      <vt:lpstr>1.1.3 Emploi convenable(AM 32)   </vt:lpstr>
      <vt:lpstr>1.1.4 EXCLUSIONS</vt:lpstr>
      <vt:lpstr>Exclusions – 6ème réforme de l’Etat</vt:lpstr>
      <vt:lpstr>Exclusions – prise de cours</vt:lpstr>
      <vt:lpstr>Exclusions – enquête</vt:lpstr>
      <vt:lpstr>Exclusions – enquête</vt:lpstr>
      <vt:lpstr>Exclusions – enquête</vt:lpstr>
      <vt:lpstr>Exclusions – cumul</vt:lpstr>
      <vt:lpstr>Exclusions – maladie</vt:lpstr>
      <vt:lpstr>Avertissement - sursis</vt:lpstr>
      <vt:lpstr>Avertissement - sursis</vt:lpstr>
      <vt:lpstr>PowerPoint Presentation</vt:lpstr>
      <vt:lpstr>1.2.1. Article 153</vt:lpstr>
      <vt:lpstr>Exclusion AR 153</vt:lpstr>
      <vt:lpstr>1.2.2. Article 154</vt:lpstr>
      <vt:lpstr>Article 154</vt:lpstr>
      <vt:lpstr>Article 154  </vt:lpstr>
      <vt:lpstr>Article 154</vt:lpstr>
      <vt:lpstr>1.2.3. Article 155 </vt:lpstr>
      <vt:lpstr>1.2.4. La récidive </vt:lpstr>
      <vt:lpstr>1.2.5. Gestion administrative</vt:lpstr>
      <vt:lpstr>1.3. Droit aux AF et aux bons INAMI</vt:lpstr>
      <vt:lpstr>1.4. Gestion informatique et gestion papier</vt:lpstr>
      <vt:lpstr>2. Particularités</vt:lpstr>
      <vt:lpstr>2.1. Article 58</vt:lpstr>
      <vt:lpstr>2.1. Article 58</vt:lpstr>
      <vt:lpstr>Article 58: Exemple</vt:lpstr>
      <vt:lpstr>2.2. Article 70</vt:lpstr>
      <vt:lpstr>2.2. Article 70</vt:lpstr>
      <vt:lpstr>2.2. Article 70</vt:lpstr>
      <vt:lpstr>2.3. Indisponibilité sur le marché de l’emploi</vt:lpstr>
      <vt:lpstr>2.3.1. Indisponibilité objective</vt:lpstr>
      <vt:lpstr>2.3.2. Indisponibilité subjective</vt:lpstr>
      <vt:lpstr>2.3.3. Conséquences de l’indisponibilité</vt:lpstr>
      <vt:lpstr> 2.3.4. Fin de l’exclusion</vt:lpstr>
    </vt:vector>
  </TitlesOfParts>
  <Company>ACV-CSC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FCS-M10-Sanctions-Participants</dc:title>
  <dc:creator>u99lge</dc:creator>
  <cp:lastModifiedBy>Jerome Martini</cp:lastModifiedBy>
  <cp:revision>733</cp:revision>
  <cp:lastPrinted>2022-06-16T07:06:08Z</cp:lastPrinted>
  <dcterms:created xsi:type="dcterms:W3CDTF">2010-09-22T12:12:06Z</dcterms:created>
  <dcterms:modified xsi:type="dcterms:W3CDTF">2023-06-13T08:52:42Z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0x01010011E8FC1629FD884B95A0235DC4123BD80037E0190D7060C1489B20FAF4695DD315</vt:lpwstr>
  </property>
  <property fmtid="{D5CDD505-2E9C-101B-9397-08002B2CF9AE}" pid="3" name="Type formation">
    <vt:lpwstr>139;#FCS formation senior|7e1aeef4-3046-4f78-a284-cec5c2bef1bf</vt:lpwstr>
  </property>
  <property fmtid="{D5CDD505-2E9C-101B-9397-08002B2CF9AE}" pid="4" name="Type document">
    <vt:lpwstr>29;#Présentation|66a9a075-20e6-47e0-8483-85d2e9240401</vt:lpwstr>
  </property>
  <property fmtid="{D5CDD505-2E9C-101B-9397-08002B2CF9AE}" pid="5" name="Public Cible">
    <vt:lpwstr>12;#FLT|f342c2bc-e504-4fe0-8d5d-34c04f2f783f</vt:lpwstr>
  </property>
  <property fmtid="{D5CDD505-2E9C-101B-9397-08002B2CF9AE}" pid="6" name="Domaine">
    <vt:lpwstr>17;#Admissibilité|d1ac0b1f-1e4c-4aa8-9a97-5b01e61985ba;#22;#Indemnisabilité|b5f95997-28b8-41b1-bbb7-1a3d8a5995b4</vt:lpwstr>
  </property>
  <property fmtid="{D5CDD505-2E9C-101B-9397-08002B2CF9AE}" pid="7" name="Thème">
    <vt:lpwstr>167;#Sanctions|47b55963-bf6c-41ca-aa7d-b46fcc88c7cc</vt:lpwstr>
  </property>
  <property fmtid="{D5CDD505-2E9C-101B-9397-08002B2CF9AE}" pid="8" name="Order">
    <vt:r8>48900</vt:r8>
  </property>
  <property fmtid="{D5CDD505-2E9C-101B-9397-08002B2CF9AE}" pid="9" name="_dlc_DocIdItemGuid">
    <vt:lpwstr>2bdd3f5b-99be-4c93-9827-07c20ce3f0a5</vt:lpwstr>
  </property>
</Properties>
</file>