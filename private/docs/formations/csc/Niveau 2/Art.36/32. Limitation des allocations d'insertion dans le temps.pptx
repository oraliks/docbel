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608" r:id="rId5"/>
    <p:sldId id="644" r:id="rId6"/>
    <p:sldId id="645" r:id="rId7"/>
    <p:sldId id="663" r:id="rId8"/>
    <p:sldId id="662" r:id="rId9"/>
    <p:sldId id="647" r:id="rId10"/>
    <p:sldId id="649" r:id="rId11"/>
    <p:sldId id="648" r:id="rId12"/>
    <p:sldId id="650" r:id="rId13"/>
    <p:sldId id="651" r:id="rId14"/>
    <p:sldId id="652" r:id="rId15"/>
    <p:sldId id="643" r:id="rId16"/>
    <p:sldId id="655" r:id="rId17"/>
    <p:sldId id="656" r:id="rId18"/>
    <p:sldId id="628" r:id="rId19"/>
    <p:sldId id="629" r:id="rId20"/>
    <p:sldId id="630" r:id="rId21"/>
    <p:sldId id="631" r:id="rId22"/>
    <p:sldId id="657" r:id="rId23"/>
    <p:sldId id="658" r:id="rId24"/>
    <p:sldId id="636" r:id="rId25"/>
    <p:sldId id="664" r:id="rId26"/>
    <p:sldId id="639" r:id="rId27"/>
    <p:sldId id="675" r:id="rId28"/>
    <p:sldId id="676" r:id="rId29"/>
    <p:sldId id="678" r:id="rId30"/>
    <p:sldId id="659" r:id="rId31"/>
    <p:sldId id="660" r:id="rId32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669900"/>
    <a:srgbClr val="0080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9" autoAdjust="0"/>
    <p:restoredTop sz="90126" autoAdjust="0"/>
  </p:normalViewPr>
  <p:slideViewPr>
    <p:cSldViewPr>
      <p:cViewPr varScale="1">
        <p:scale>
          <a:sx n="103" d="100"/>
          <a:sy n="103" d="100"/>
        </p:scale>
        <p:origin x="17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01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0638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180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7291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105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6170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3211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2FC02-635D-4C96-A435-354C57DF0D0B}" type="slidenum">
              <a:rPr lang="fr-BE" smtClean="0"/>
              <a:t>17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20755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1548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2FC02-635D-4C96-A435-354C57DF0D0B}" type="slidenum">
              <a:rPr lang="fr-BE" smtClean="0"/>
              <a:t>21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70586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3328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918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fr-FR" noProof="0" dirty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4B1BA-7BD6-402B-AD3C-BC5D389A5CB0}" type="datetime1">
              <a:rPr lang="en-GB"/>
              <a:pPr>
                <a:defRPr/>
              </a:pPr>
              <a:t>17/11/2022</a:t>
            </a:fld>
            <a:endParaRPr lang="en-US" dirty="0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00416-C2B2-430D-937F-8C5FF4E07EE9}" type="slidenum">
              <a:rPr lang="en-US"/>
              <a:pPr>
                <a:defRPr/>
              </a:pPr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17/11/2022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1268453"/>
            <a:ext cx="7772400" cy="5235494"/>
          </a:xfrm>
        </p:spPr>
        <p:txBody>
          <a:bodyPr>
            <a:noAutofit/>
          </a:bodyPr>
          <a:lstStyle/>
          <a:p>
            <a:br>
              <a:rPr lang="fr-FR" sz="4800" b="1" dirty="0">
                <a:cs typeface="Times New Roman" pitchFamily="18" charset="0"/>
              </a:rPr>
            </a:br>
            <a:br>
              <a:rPr lang="fr-FR" sz="4800" b="1" dirty="0">
                <a:cs typeface="Times New Roman" pitchFamily="18" charset="0"/>
              </a:rPr>
            </a:br>
            <a:r>
              <a:rPr lang="fr-FR" sz="6000" b="1" i="1" dirty="0">
                <a:cs typeface="Times New Roman" pitchFamily="18" charset="0"/>
              </a:rPr>
              <a:t>Limitation des allocations d’insertion dans le temps.</a:t>
            </a:r>
            <a:br>
              <a:rPr lang="fr-FR" sz="6000" b="1" i="1" dirty="0">
                <a:cs typeface="Times New Roman" pitchFamily="18" charset="0"/>
              </a:rPr>
            </a:br>
            <a:br>
              <a:rPr lang="fr-FR" sz="6000" b="1" i="1" dirty="0">
                <a:cs typeface="Times New Roman" pitchFamily="18" charset="0"/>
              </a:rPr>
            </a:br>
            <a:r>
              <a:rPr lang="fr-FR" sz="1200" b="1" dirty="0">
                <a:cs typeface="Times New Roman" pitchFamily="18" charset="0"/>
              </a:rPr>
              <a:t> </a:t>
            </a:r>
            <a:br>
              <a:rPr lang="fr-FR" sz="1200" b="1" dirty="0">
                <a:cs typeface="Times New Roman" pitchFamily="18" charset="0"/>
              </a:rPr>
            </a:br>
            <a:br>
              <a:rPr lang="fr-FR" sz="1200" b="1" dirty="0">
                <a:cs typeface="Times New Roman" pitchFamily="18" charset="0"/>
              </a:rPr>
            </a:br>
            <a:br>
              <a:rPr lang="fr-FR" sz="1200" b="1" dirty="0">
                <a:cs typeface="Times New Roman" pitchFamily="18" charset="0"/>
              </a:rPr>
            </a:br>
            <a:br>
              <a:rPr lang="fr-FR" sz="4800" b="1" dirty="0">
                <a:cs typeface="Times New Roman" pitchFamily="18" charset="0"/>
              </a:rPr>
            </a:br>
            <a:br>
              <a:rPr lang="fr-FR" sz="6000" b="1" i="1" dirty="0"/>
            </a:br>
            <a:endParaRPr lang="fr-FR" sz="6000" b="1" dirty="0">
              <a:cs typeface="Times New Roman" pitchFamily="18" charset="0"/>
            </a:endParaRP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</a:t>
            </a:fld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C6EE2CD6-0B48-4E90-9AB5-D69C24A6A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664" y="4502168"/>
            <a:ext cx="6400800" cy="1752600"/>
          </a:xfrm>
        </p:spPr>
        <p:txBody>
          <a:bodyPr>
            <a:normAutofit/>
          </a:bodyPr>
          <a:lstStyle/>
          <a:p>
            <a:r>
              <a:rPr lang="fr-BE" sz="3600" b="1" dirty="0">
                <a:solidFill>
                  <a:srgbClr val="C00000"/>
                </a:solidFill>
              </a:rPr>
              <a:t>Art. 63. </a:t>
            </a:r>
            <a:r>
              <a:rPr lang="fr-BE" sz="3600" b="1" dirty="0">
                <a:solidFill>
                  <a:schemeClr val="tx1"/>
                </a:solidFill>
              </a:rPr>
              <a:t>de l’</a:t>
            </a:r>
            <a:r>
              <a:rPr lang="fr-BE" sz="3600" b="1" dirty="0">
                <a:solidFill>
                  <a:srgbClr val="C00000"/>
                </a:solidFill>
              </a:rPr>
              <a:t>AR</a:t>
            </a:r>
            <a:r>
              <a:rPr lang="fr-BE" sz="3600" b="1" dirty="0">
                <a:solidFill>
                  <a:schemeClr val="tx1"/>
                </a:solidFill>
              </a:rPr>
              <a:t> du 25.11.1991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5733BB-BEAE-45C9-9B3D-D684A802E822}"/>
              </a:ext>
            </a:extLst>
          </p:cNvPr>
          <p:cNvSpPr txBox="1"/>
          <p:nvPr/>
        </p:nvSpPr>
        <p:spPr>
          <a:xfrm>
            <a:off x="685800" y="5661248"/>
            <a:ext cx="244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Version du 27.10.2022</a:t>
            </a:r>
          </a:p>
        </p:txBody>
      </p:sp>
    </p:spTree>
    <p:extLst>
      <p:ext uri="{BB962C8B-B14F-4D97-AF65-F5344CB8AC3E}">
        <p14:creationId xmlns:p14="http://schemas.microsoft.com/office/powerpoint/2010/main" val="3015498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C051A-6CBB-4F41-A994-E3F40D87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/>
              <a:t>Table des matières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194A77-BF5F-4B3E-9119-E7BF3F2E8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spcBef>
                <a:spcPts val="1800"/>
              </a:spcBef>
              <a:buAutoNum type="arabicPeriod"/>
            </a:pPr>
            <a:r>
              <a:rPr lang="fr-BE" dirty="0"/>
              <a:t>Le droit de base : rappel				</a:t>
            </a:r>
            <a:r>
              <a:rPr lang="fr-BE" sz="2000" dirty="0" err="1"/>
              <a:t>pg</a:t>
            </a:r>
            <a:r>
              <a:rPr lang="fr-BE" sz="2000" dirty="0"/>
              <a:t>. 3</a:t>
            </a:r>
            <a:endParaRPr lang="fr-BE" dirty="0"/>
          </a:p>
          <a:p>
            <a:pPr marL="514350" indent="-514350">
              <a:spcBef>
                <a:spcPts val="1800"/>
              </a:spcBef>
              <a:buAutoNum type="arabicPeriod"/>
            </a:pPr>
            <a:r>
              <a:rPr lang="fr-BE" dirty="0"/>
              <a:t>Prolongation du droit de base			</a:t>
            </a:r>
            <a:r>
              <a:rPr lang="fr-BE" sz="2000" dirty="0" err="1"/>
              <a:t>pg</a:t>
            </a:r>
            <a:r>
              <a:rPr lang="fr-BE" sz="2000" dirty="0"/>
              <a:t>. 6</a:t>
            </a:r>
            <a:endParaRPr lang="fr-BE" dirty="0"/>
          </a:p>
          <a:p>
            <a:pPr marL="514350" indent="-514350">
              <a:spcBef>
                <a:spcPts val="1800"/>
              </a:spcBef>
              <a:buAutoNum type="arabicPeriod"/>
            </a:pPr>
            <a:r>
              <a:rPr lang="fr-BE" dirty="0"/>
              <a:t>Elargissement du droit de base		</a:t>
            </a:r>
            <a:r>
              <a:rPr lang="fr-BE" sz="2000" dirty="0" err="1"/>
              <a:t>pg</a:t>
            </a:r>
            <a:r>
              <a:rPr lang="fr-BE" sz="2000" dirty="0"/>
              <a:t>. 13</a:t>
            </a:r>
            <a:endParaRPr lang="fr-BE" dirty="0"/>
          </a:p>
          <a:p>
            <a:pPr marL="514350" indent="-514350">
              <a:spcBef>
                <a:spcPts val="1800"/>
              </a:spcBef>
              <a:buAutoNum type="arabicPeriod"/>
            </a:pPr>
            <a:r>
              <a:rPr lang="fr-BE" dirty="0"/>
              <a:t>Le droit additionnel				</a:t>
            </a:r>
            <a:r>
              <a:rPr lang="fr-BE" sz="2000" dirty="0" err="1"/>
              <a:t>pg</a:t>
            </a:r>
            <a:r>
              <a:rPr lang="fr-BE" sz="2000" dirty="0"/>
              <a:t>. 19</a:t>
            </a:r>
            <a:endParaRPr lang="fr-BE" dirty="0"/>
          </a:p>
          <a:p>
            <a:pPr marL="514350" indent="-514350">
              <a:spcBef>
                <a:spcPts val="1800"/>
              </a:spcBef>
              <a:buAutoNum type="arabicPeriod"/>
            </a:pPr>
            <a:r>
              <a:rPr lang="fr-BE" dirty="0"/>
              <a:t>Les allocations de sauvegarde			</a:t>
            </a:r>
            <a:r>
              <a:rPr lang="fr-BE" sz="2000" dirty="0" err="1"/>
              <a:t>pg</a:t>
            </a:r>
            <a:r>
              <a:rPr lang="fr-BE" sz="2000" dirty="0"/>
              <a:t>. </a:t>
            </a:r>
            <a:r>
              <a:rPr lang="fr-BE" sz="2000"/>
              <a:t>28</a:t>
            </a:r>
            <a:endParaRPr lang="fr-BE" dirty="0"/>
          </a:p>
          <a:p>
            <a:pPr marL="514350" indent="-514350">
              <a:buAutoNum type="arabicPeriod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090FED-BAEA-435A-9655-7D275823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695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C99708-DCD5-4E45-814D-CCD123EB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Le droit de base: Rappel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3C60115A-4A2D-4243-806F-4430AA4D2B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3528" y="1600200"/>
          <a:ext cx="8568951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16930949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580391315"/>
                    </a:ext>
                  </a:extLst>
                </a:gridCol>
                <a:gridCol w="3168351">
                  <a:extLst>
                    <a:ext uri="{9D8B030D-6E8A-4147-A177-3AD203B41FA5}">
                      <a16:colId xmlns:a16="http://schemas.microsoft.com/office/drawing/2014/main" val="71200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200" dirty="0"/>
                        <a:t>Situation familiale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200" dirty="0"/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200" dirty="0"/>
                        <a:t>Droit de 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39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500" dirty="0"/>
                        <a:t>Cohabitant (</a:t>
                      </a:r>
                      <a:r>
                        <a:rPr lang="fr-BE" sz="25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</a:t>
                      </a:r>
                      <a:r>
                        <a:rPr lang="fr-BE" sz="2500" dirty="0"/>
                        <a:t>) né le 01.01.2000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500" dirty="0"/>
                        <a:t> 29.07.2022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21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500" dirty="0"/>
                        <a:t>Chef de ménage (</a:t>
                      </a:r>
                      <a:r>
                        <a:rPr lang="fr-BE" sz="25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WA</a:t>
                      </a:r>
                      <a:r>
                        <a:rPr lang="fr-BE" sz="2500" dirty="0"/>
                        <a:t>) né le 01.01.2000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500" dirty="0"/>
                        <a:t>29.07.2022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81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500" dirty="0"/>
                        <a:t>Isolé (</a:t>
                      </a:r>
                      <a:r>
                        <a:rPr lang="fr-BE" sz="25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WN</a:t>
                      </a:r>
                      <a:r>
                        <a:rPr lang="fr-BE" sz="2500" dirty="0"/>
                        <a:t>) né le 08.04.2001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500" dirty="0"/>
                        <a:t>29.07.2022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5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500" dirty="0"/>
                        <a:t>Cohabitant privilégié (</a:t>
                      </a:r>
                      <a:r>
                        <a:rPr lang="fr-BE" sz="25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WP</a:t>
                      </a:r>
                      <a:r>
                        <a:rPr lang="fr-BE" sz="2500" dirty="0"/>
                        <a:t>) né le 31.07.2002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500" dirty="0"/>
                        <a:t>29.07.2022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334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9EBCAA-DA59-4F38-A99B-F6406067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3117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27D2E-8BE3-40F0-A5AD-42AE1529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Le droit de base: Rappel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A9793C-CBCB-46DF-9893-D63C7A5F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  <p:graphicFrame>
        <p:nvGraphicFramePr>
          <p:cNvPr id="8" name="Tableau 8">
            <a:extLst>
              <a:ext uri="{FF2B5EF4-FFF2-40B4-BE49-F238E27FC236}">
                <a16:creationId xmlns:a16="http://schemas.microsoft.com/office/drawing/2014/main" id="{489EB49C-66B8-4022-8F4E-E437F9A8AB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512" y="1600200"/>
          <a:ext cx="8856985" cy="50091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420793975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79699725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4284478912"/>
                    </a:ext>
                  </a:extLst>
                </a:gridCol>
                <a:gridCol w="1540972">
                  <a:extLst>
                    <a:ext uri="{9D8B030D-6E8A-4147-A177-3AD203B41FA5}">
                      <a16:colId xmlns:a16="http://schemas.microsoft.com/office/drawing/2014/main" val="1257190727"/>
                    </a:ext>
                  </a:extLst>
                </a:gridCol>
                <a:gridCol w="1771397">
                  <a:extLst>
                    <a:ext uri="{9D8B030D-6E8A-4147-A177-3AD203B41FA5}">
                      <a16:colId xmlns:a16="http://schemas.microsoft.com/office/drawing/2014/main" val="490642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1900" dirty="0"/>
                        <a:t>1</a:t>
                      </a:r>
                      <a:r>
                        <a:rPr lang="fr-BE" sz="1900" baseline="30000" dirty="0"/>
                        <a:t>ère</a:t>
                      </a:r>
                      <a:r>
                        <a:rPr lang="fr-BE" sz="1900" dirty="0"/>
                        <a:t>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1900" dirty="0"/>
                        <a:t>DJI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900" dirty="0"/>
                        <a:t>Changement de situation familiale au 01.11.2022 (inactivité depuis le DJI)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1900" dirty="0"/>
                        <a:t>Admissible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1900" dirty="0"/>
                        <a:t>Droit de base restant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823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1900" dirty="0"/>
                        <a:t>28.07.2017 </a:t>
                      </a:r>
                      <a:r>
                        <a:rPr lang="fr-BE" sz="1900" b="1" dirty="0"/>
                        <a:t>(</a:t>
                      </a:r>
                      <a:r>
                        <a:rPr lang="fr-BE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WA</a:t>
                      </a:r>
                      <a:r>
                        <a:rPr lang="fr-BE" sz="1900" b="1" dirty="0"/>
                        <a:t>)</a:t>
                      </a:r>
                    </a:p>
                    <a:p>
                      <a:pPr algn="ctr"/>
                      <a:r>
                        <a:rPr lang="fr-BE" sz="1900" dirty="0"/>
                        <a:t>Né le 10.09.93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31.12.21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200" dirty="0"/>
                        <a:t>WA        WB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607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1900" dirty="0"/>
                        <a:t>28.07.2017 </a:t>
                      </a:r>
                      <a:r>
                        <a:rPr lang="fr-BE" sz="1900" b="1" dirty="0"/>
                        <a:t>(</a:t>
                      </a:r>
                      <a:r>
                        <a:rPr lang="fr-BE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WB</a:t>
                      </a:r>
                      <a:r>
                        <a:rPr lang="fr-BE" sz="1900" b="1" dirty="0"/>
                        <a:t>)</a:t>
                      </a:r>
                    </a:p>
                    <a:p>
                      <a:pPr algn="ctr"/>
                      <a:r>
                        <a:rPr lang="fr-BE" sz="1900" dirty="0"/>
                        <a:t>Né le 31.07.92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27.07.20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200" dirty="0"/>
                        <a:t>WB        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17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1900" dirty="0"/>
                        <a:t>07.08.2017 </a:t>
                      </a:r>
                      <a:r>
                        <a:rPr lang="fr-BE" sz="1900" b="1" dirty="0"/>
                        <a:t>(</a:t>
                      </a:r>
                      <a:r>
                        <a:rPr lang="fr-BE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WB</a:t>
                      </a:r>
                      <a:r>
                        <a:rPr lang="fr-BE" sz="1900" b="1" dirty="0"/>
                        <a:t>)</a:t>
                      </a:r>
                    </a:p>
                    <a:p>
                      <a:pPr algn="ctr"/>
                      <a:r>
                        <a:rPr lang="fr-BE" sz="1900" dirty="0"/>
                        <a:t>Né le 25.02.96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31.12.18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200" dirty="0"/>
                        <a:t> WB         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764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1900" dirty="0"/>
                        <a:t>03.04.2020 </a:t>
                      </a:r>
                      <a:r>
                        <a:rPr lang="fr-BE" sz="1900" b="1" dirty="0"/>
                        <a:t>(</a:t>
                      </a:r>
                      <a:r>
                        <a:rPr lang="fr-BE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WP</a:t>
                      </a:r>
                      <a:r>
                        <a:rPr lang="fr-BE" sz="1900" b="1" dirty="0"/>
                        <a:t>)</a:t>
                      </a:r>
                    </a:p>
                    <a:p>
                      <a:pPr algn="ctr"/>
                      <a:r>
                        <a:rPr lang="fr-BE" sz="1900" dirty="0"/>
                        <a:t>Né le 30.06.94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31.10.22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sz="2200" dirty="0"/>
                        <a:t>WP         WB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740665"/>
                  </a:ext>
                </a:extLst>
              </a:tr>
            </a:tbl>
          </a:graphicData>
        </a:graphic>
      </p:graphicFrame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9B32915-5B53-4A71-9A56-E66C07329184}"/>
              </a:ext>
            </a:extLst>
          </p:cNvPr>
          <p:cNvCxnSpPr>
            <a:cxnSpLocks/>
          </p:cNvCxnSpPr>
          <p:nvPr/>
        </p:nvCxnSpPr>
        <p:spPr>
          <a:xfrm>
            <a:off x="4197640" y="3212976"/>
            <a:ext cx="3600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EB70A11-F092-4826-BC4A-E36E21980938}"/>
              </a:ext>
            </a:extLst>
          </p:cNvPr>
          <p:cNvCxnSpPr>
            <a:cxnSpLocks/>
          </p:cNvCxnSpPr>
          <p:nvPr/>
        </p:nvCxnSpPr>
        <p:spPr>
          <a:xfrm>
            <a:off x="4197640" y="4221088"/>
            <a:ext cx="3600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C78F819-D66E-4CF7-8366-56752B109877}"/>
              </a:ext>
            </a:extLst>
          </p:cNvPr>
          <p:cNvCxnSpPr>
            <a:cxnSpLocks/>
          </p:cNvCxnSpPr>
          <p:nvPr/>
        </p:nvCxnSpPr>
        <p:spPr>
          <a:xfrm>
            <a:off x="4197640" y="5157192"/>
            <a:ext cx="3600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19846F05-FA0C-44F5-901E-D6F0F6457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640" y="5925641"/>
            <a:ext cx="530398" cy="3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1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F8C1E9-E315-4EFA-B431-A4FC9137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1. Le droit de base: Particularité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4DB11A-C80E-44AB-9B0A-D98440D9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/>
              <a:t>Le chômeur «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WB</a:t>
            </a:r>
            <a:r>
              <a:rPr lang="fr-BE" dirty="0"/>
              <a:t> » </a:t>
            </a:r>
            <a:r>
              <a:rPr lang="fr-BE" u="sng" dirty="0"/>
              <a:t>avec</a:t>
            </a:r>
            <a:r>
              <a:rPr lang="fr-BE" dirty="0"/>
              <a:t> l’art. d’indemnisation  «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60B</a:t>
            </a:r>
            <a:r>
              <a:rPr lang="fr-BE" dirty="0"/>
              <a:t> » qui a tantôt droit ou non aux allocations, est soumis aux règles suivantes: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u="sng" dirty="0"/>
              <a:t>Si</a:t>
            </a:r>
            <a:r>
              <a:rPr lang="fr-BE" sz="3000" dirty="0"/>
              <a:t> interruption des allocations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&lt; </a:t>
            </a:r>
            <a:r>
              <a:rPr lang="fr-BE" sz="3000" b="1" dirty="0"/>
              <a:t>6 mois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b="1" dirty="0"/>
              <a:t>Pas de DA ni IDE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b="1" dirty="0"/>
              <a:t>Cartes non indemnisées jointes au paiement effectif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sz="3000" b="1" u="sng" dirty="0"/>
              <a:t>Si</a:t>
            </a:r>
            <a:r>
              <a:rPr lang="fr-BE" sz="3000" b="1" dirty="0"/>
              <a:t> </a:t>
            </a:r>
            <a:r>
              <a:rPr lang="fr-BE" sz="3000" dirty="0"/>
              <a:t>interruption des allocations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≥</a:t>
            </a:r>
            <a:r>
              <a:rPr lang="fr-BE" sz="3000" b="1" dirty="0"/>
              <a:t> 6 mois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2600" b="1" dirty="0"/>
              <a:t>Introduction d’une nouvelle DA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2600" b="1" dirty="0"/>
              <a:t>IDE requise dans les 8 jours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0FE80F-5BA4-4FAA-8840-7A41974B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332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F8490C-AC8E-452A-8177-CCCFE3E3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2. Prolongation du droit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E82E1-39E3-452D-B1F5-19199F01E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400" dirty="0"/>
              <a:t>Certains événements qui se produisent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durant le droit de base</a:t>
            </a:r>
            <a:r>
              <a:rPr lang="fr-BE" sz="3400" dirty="0"/>
              <a:t> auront pour effet de prolonger le droit de base de la durée de l’événement.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400" dirty="0"/>
              <a:t>L’effet de prolongation d’un événement dépend: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de la </a:t>
            </a:r>
            <a:r>
              <a:rPr lang="fr-BE" sz="3200" b="1" dirty="0"/>
              <a:t>nature</a:t>
            </a:r>
            <a:r>
              <a:rPr lang="fr-BE" sz="3200" dirty="0"/>
              <a:t> de l’événement;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du </a:t>
            </a:r>
            <a:r>
              <a:rPr lang="fr-BE" sz="3200" b="1" dirty="0"/>
              <a:t>positionnement</a:t>
            </a:r>
            <a:r>
              <a:rPr lang="fr-BE" sz="3200" dirty="0"/>
              <a:t> de l’événement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sz="3400" dirty="0"/>
              <a:t>La prolongation suit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immédiatement</a:t>
            </a:r>
            <a:r>
              <a:rPr lang="fr-BE" sz="3400" dirty="0"/>
              <a:t> le droit de base.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03633B-06D4-496C-BCBF-11AE71DF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750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7F9A06-8207-4F3E-9F7A-E96F8880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Prolongation du droit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14B24-0156-4BC3-98C8-89A245636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500" dirty="0"/>
              <a:t>La période de 36 mois est prolongée :</a:t>
            </a: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de la durée des événements, </a:t>
            </a:r>
            <a:r>
              <a:rPr lang="fr-BE" b="1" dirty="0"/>
              <a:t>quelle que soit leur durée</a:t>
            </a:r>
            <a:r>
              <a:rPr lang="fr-BE" dirty="0"/>
              <a:t>, visés à l'article 116, §2, à l'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exception</a:t>
            </a:r>
            <a:r>
              <a:rPr lang="fr-BE" dirty="0"/>
              <a:t> de 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sz="3200" dirty="0"/>
              <a:t>la période de dispense 90;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sz="3200" dirty="0"/>
              <a:t>la période de formation professionnelle;</a:t>
            </a:r>
          </a:p>
          <a:p>
            <a:pPr marL="857250" indent="-742950">
              <a:buFont typeface="+mj-lt"/>
              <a:buAutoNum type="arabicPeriod"/>
            </a:pPr>
            <a:r>
              <a:rPr lang="fr-BE" dirty="0"/>
              <a:t>de la période </a:t>
            </a:r>
            <a:r>
              <a:rPr lang="fr-BE" b="1" dirty="0"/>
              <a:t>ininterrompue</a:t>
            </a:r>
            <a:r>
              <a:rPr lang="fr-BE" dirty="0"/>
              <a:t> de reprise de travail comme travailleur à temps partiel </a:t>
            </a:r>
            <a:r>
              <a:rPr lang="fr-BE" b="1" dirty="0"/>
              <a:t>avec maintien des droits avec une allocation de garantie de revenus 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73A421-CF63-48B8-BF15-13BBBFB4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182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4F12-3CE9-41AE-8067-CDEB368A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Prolongation du droit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4F774B-A034-4CA9-9BD4-50DD40209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BE" sz="3800" dirty="0"/>
              <a:t>1. Effet de prolongation, </a:t>
            </a:r>
            <a:r>
              <a:rPr lang="fr-BE" sz="3800" b="1" dirty="0">
                <a:solidFill>
                  <a:schemeClr val="accent2">
                    <a:lumMod val="75000"/>
                  </a:schemeClr>
                </a:solidFill>
              </a:rPr>
              <a:t>quelque soit leur durée</a:t>
            </a:r>
            <a:r>
              <a:rPr lang="fr-BE" sz="38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Travail temps plein/assimilé temps plein;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Travail TTPMD sans AGR (99/);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Travail temps plein comme chômeur moins-valide (art 78 AR);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Cohabitation à l'étranger avec un Belge y occupé dans le cadre du stationnement des Forces armées belges;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Exercice d'une profession qui n'est pas assujettie à la sécurité sociale, secteur chômage;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Reprise d'études de plein exercice sans allocation;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Bénéficie d'allocations d'interruption.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B97163-8252-4CEA-AF8F-8CFE27D7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841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7E7263-0093-4755-B9D9-B43D8CFA11C8}"/>
              </a:ext>
            </a:extLst>
          </p:cNvPr>
          <p:cNvSpPr/>
          <p:nvPr/>
        </p:nvSpPr>
        <p:spPr>
          <a:xfrm>
            <a:off x="457200" y="5085184"/>
            <a:ext cx="7859216" cy="10081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4C771D8-F686-43D2-AE6C-E5B7D257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Prolongation du droit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8A5851-89AA-4DE2-86F1-D01C6808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05" y="1567333"/>
            <a:ext cx="843528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500" dirty="0"/>
              <a:t>2. Le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TTPMD avec AGR</a:t>
            </a:r>
            <a:r>
              <a:rPr lang="fr-BE" sz="3500" dirty="0"/>
              <a:t>:</a:t>
            </a:r>
          </a:p>
          <a:p>
            <a:pPr marL="0" indent="0">
              <a:buNone/>
            </a:pPr>
            <a:r>
              <a:rPr lang="fr-BE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Conditions cumulatives </a:t>
            </a:r>
            <a:r>
              <a:rPr lang="fr-BE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Reprise de travail d’au moins 6 mois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Reprise de travail ininterrompue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TTPMD avec paiement effectif de l’AGR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Fraction d’occupation ≥ 1/3 (ou ≥ 1/4 si dérogation prévue – CCT sectorielle)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La prolongation n’est accordée qu’à l’issue de l’occupation (DA)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7B28FB-3DAE-4816-999C-1186EA9D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010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42A261-D306-4DBF-9921-10F186D6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Prolongation du droit de base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68389-3CF6-4621-AE85-3A5492B82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Calcul de la durée des évènements: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Mêmes principes que pour la prolongation 116§2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Mêmes règles pour déterminer les jours valables et non valables;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Durée des évènements et de la prolongation calculée en jours R6 </a:t>
            </a:r>
            <a:r>
              <a:rPr lang="fr-BE" b="1" dirty="0"/>
              <a:t>convertie ensuite en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R7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C5E16F-323F-435D-951D-E64794A9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460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2EE1F-3D41-428D-9B53-063D5B55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/>
              <a:t>2. Prolongation du droit de base:</a:t>
            </a:r>
            <a:br>
              <a:rPr lang="fr-BE" b="1" i="1" dirty="0"/>
            </a:br>
            <a:r>
              <a:rPr lang="fr-BE" b="1" i="1" dirty="0"/>
              <a:t>Exemple 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B4C6E5-13EB-4B7D-BDD6-9305E97F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5A3DC0-3139-4E87-8FFB-185884313DFA}"/>
              </a:ext>
            </a:extLst>
          </p:cNvPr>
          <p:cNvSpPr/>
          <p:nvPr/>
        </p:nvSpPr>
        <p:spPr>
          <a:xfrm>
            <a:off x="827584" y="3573016"/>
            <a:ext cx="4824536" cy="72000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i="1" dirty="0">
                <a:solidFill>
                  <a:schemeClr val="tx1"/>
                </a:solidFill>
              </a:rPr>
              <a:t>Droit de base WB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4991C606-AB6B-4302-B825-C2CF2E871400}"/>
              </a:ext>
            </a:extLst>
          </p:cNvPr>
          <p:cNvCxnSpPr/>
          <p:nvPr/>
        </p:nvCxnSpPr>
        <p:spPr>
          <a:xfrm flipV="1">
            <a:off x="827584" y="2492896"/>
            <a:ext cx="0" cy="18001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2C29354-E2FC-4DE4-AB47-78DB5395A5BB}"/>
              </a:ext>
            </a:extLst>
          </p:cNvPr>
          <p:cNvCxnSpPr>
            <a:cxnSpLocks/>
          </p:cNvCxnSpPr>
          <p:nvPr/>
        </p:nvCxnSpPr>
        <p:spPr>
          <a:xfrm flipV="1">
            <a:off x="5652120" y="2492896"/>
            <a:ext cx="0" cy="18001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1D63407D-EE63-4314-8FFB-C24CA23CFD7D}"/>
              </a:ext>
            </a:extLst>
          </p:cNvPr>
          <p:cNvSpPr txBox="1"/>
          <p:nvPr/>
        </p:nvSpPr>
        <p:spPr>
          <a:xfrm>
            <a:off x="323528" y="2132856"/>
            <a:ext cx="1368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accent1">
                    <a:lumMod val="75000"/>
                  </a:schemeClr>
                </a:solidFill>
              </a:rPr>
              <a:t>10.06.2019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2D66F15-3C55-4AF1-8363-D36F72B844F7}"/>
              </a:ext>
            </a:extLst>
          </p:cNvPr>
          <p:cNvSpPr txBox="1"/>
          <p:nvPr/>
        </p:nvSpPr>
        <p:spPr>
          <a:xfrm>
            <a:off x="5185057" y="2137708"/>
            <a:ext cx="1368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accent1">
                    <a:lumMod val="75000"/>
                  </a:schemeClr>
                </a:solidFill>
              </a:rPr>
              <a:t>09.06.2022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A47182-2507-4F79-8E84-CE9CA8F6DC2B}"/>
              </a:ext>
            </a:extLst>
          </p:cNvPr>
          <p:cNvSpPr/>
          <p:nvPr/>
        </p:nvSpPr>
        <p:spPr>
          <a:xfrm>
            <a:off x="1979711" y="3769610"/>
            <a:ext cx="2381429" cy="499204"/>
          </a:xfrm>
          <a:prstGeom prst="rect">
            <a:avLst/>
          </a:prstGeom>
          <a:solidFill>
            <a:srgbClr val="FFC000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Travail 38/38 153 jours R7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8F535C1-268C-4A1C-AC63-1D8961A53BC2}"/>
              </a:ext>
            </a:extLst>
          </p:cNvPr>
          <p:cNvCxnSpPr/>
          <p:nvPr/>
        </p:nvCxnSpPr>
        <p:spPr>
          <a:xfrm flipV="1">
            <a:off x="1979712" y="2922458"/>
            <a:ext cx="0" cy="1368075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684CCC2-7F50-46C0-9F26-B8124BE0EF80}"/>
              </a:ext>
            </a:extLst>
          </p:cNvPr>
          <p:cNvCxnSpPr/>
          <p:nvPr/>
        </p:nvCxnSpPr>
        <p:spPr>
          <a:xfrm flipV="1">
            <a:off x="4361141" y="2924905"/>
            <a:ext cx="0" cy="136330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4CC0B613-A421-4E73-9934-119572FA0823}"/>
              </a:ext>
            </a:extLst>
          </p:cNvPr>
          <p:cNvSpPr txBox="1"/>
          <p:nvPr/>
        </p:nvSpPr>
        <p:spPr>
          <a:xfrm>
            <a:off x="1513256" y="2595681"/>
            <a:ext cx="114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rgbClr val="FFC000"/>
                </a:solidFill>
              </a:rPr>
              <a:t>01.04.2020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0DB24F5-C0BE-4A96-A950-79723A1DED47}"/>
              </a:ext>
            </a:extLst>
          </p:cNvPr>
          <p:cNvSpPr txBox="1"/>
          <p:nvPr/>
        </p:nvSpPr>
        <p:spPr>
          <a:xfrm>
            <a:off x="3965113" y="2614681"/>
            <a:ext cx="114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rgbClr val="FFC000"/>
                </a:solidFill>
              </a:rPr>
              <a:t>31.08.2020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E797A6-F42A-48A8-97DD-F4E09C5C3D1C}"/>
              </a:ext>
            </a:extLst>
          </p:cNvPr>
          <p:cNvSpPr/>
          <p:nvPr/>
        </p:nvSpPr>
        <p:spPr>
          <a:xfrm>
            <a:off x="5652120" y="3573016"/>
            <a:ext cx="2232238" cy="71518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Prol. du droit de base de 153 jours R7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B49D3D21-E91A-4E7A-8906-4305858B2C4B}"/>
              </a:ext>
            </a:extLst>
          </p:cNvPr>
          <p:cNvCxnSpPr/>
          <p:nvPr/>
        </p:nvCxnSpPr>
        <p:spPr>
          <a:xfrm flipV="1">
            <a:off x="7884358" y="2492896"/>
            <a:ext cx="0" cy="17953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5D779E5F-4C96-4F7C-A2FE-13779265F31C}"/>
              </a:ext>
            </a:extLst>
          </p:cNvPr>
          <p:cNvSpPr txBox="1"/>
          <p:nvPr/>
        </p:nvSpPr>
        <p:spPr>
          <a:xfrm>
            <a:off x="7477501" y="2141285"/>
            <a:ext cx="1368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accent1">
                    <a:lumMod val="75000"/>
                  </a:schemeClr>
                </a:solidFill>
              </a:rPr>
              <a:t>09.11.2022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DCB34C1-5CAF-409C-AD9C-850B8419C261}"/>
              </a:ext>
            </a:extLst>
          </p:cNvPr>
          <p:cNvCxnSpPr/>
          <p:nvPr/>
        </p:nvCxnSpPr>
        <p:spPr>
          <a:xfrm>
            <a:off x="827584" y="4288202"/>
            <a:ext cx="0" cy="7969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FE0A8472-9D4E-48B5-8B49-4DABD2893958}"/>
              </a:ext>
            </a:extLst>
          </p:cNvPr>
          <p:cNvSpPr txBox="1"/>
          <p:nvPr/>
        </p:nvSpPr>
        <p:spPr>
          <a:xfrm>
            <a:off x="179512" y="5085184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1</a:t>
            </a:r>
            <a:r>
              <a:rPr lang="fr-BE" sz="1400" baseline="30000" dirty="0"/>
              <a:t>ère</a:t>
            </a:r>
            <a:r>
              <a:rPr lang="fr-BE" sz="1400" dirty="0"/>
              <a:t> DA cohabitant</a:t>
            </a:r>
          </a:p>
          <a:p>
            <a:r>
              <a:rPr lang="fr-BE" sz="1400" dirty="0"/>
              <a:t>Née le 10.09.99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9204AD81-6789-4BA3-B5AB-5414AA058A66}"/>
              </a:ext>
            </a:extLst>
          </p:cNvPr>
          <p:cNvCxnSpPr/>
          <p:nvPr/>
        </p:nvCxnSpPr>
        <p:spPr>
          <a:xfrm>
            <a:off x="5652120" y="4288202"/>
            <a:ext cx="0" cy="7969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FA52E7B5-29FA-4380-AA17-A56C43001622}"/>
              </a:ext>
            </a:extLst>
          </p:cNvPr>
          <p:cNvSpPr txBox="1"/>
          <p:nvPr/>
        </p:nvSpPr>
        <p:spPr>
          <a:xfrm>
            <a:off x="4860032" y="5085184"/>
            <a:ext cx="2016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DA le 10.06.2022</a:t>
            </a:r>
          </a:p>
          <a:p>
            <a:r>
              <a:rPr lang="fr-BE" sz="1400" dirty="0"/>
              <a:t>Prolongation ?</a:t>
            </a:r>
          </a:p>
          <a:p>
            <a:endParaRPr lang="fr-BE" sz="14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28773E60-5CFC-433A-ADD1-550389512287}"/>
              </a:ext>
            </a:extLst>
          </p:cNvPr>
          <p:cNvCxnSpPr/>
          <p:nvPr/>
        </p:nvCxnSpPr>
        <p:spPr>
          <a:xfrm>
            <a:off x="457200" y="4293096"/>
            <a:ext cx="82296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606A50BB-AF73-40AC-BDF8-819DA4E7D288}"/>
              </a:ext>
            </a:extLst>
          </p:cNvPr>
          <p:cNvSpPr txBox="1"/>
          <p:nvPr/>
        </p:nvSpPr>
        <p:spPr>
          <a:xfrm>
            <a:off x="4644008" y="5608404"/>
            <a:ext cx="2016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&lt; 25 ans </a:t>
            </a:r>
            <a:r>
              <a:rPr lang="fr-BE" sz="1400" b="1" dirty="0">
                <a:sym typeface="Wingdings" panose="05000000000000000000" pitchFamily="2" charset="2"/>
              </a:rPr>
              <a:t> AR 36 ok</a:t>
            </a:r>
            <a:endParaRPr lang="fr-BE" sz="1400" b="1" dirty="0"/>
          </a:p>
        </p:txBody>
      </p:sp>
    </p:spTree>
    <p:extLst>
      <p:ext uri="{BB962C8B-B14F-4D97-AF65-F5344CB8AC3E}">
        <p14:creationId xmlns:p14="http://schemas.microsoft.com/office/powerpoint/2010/main" val="42222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  <p:bldP spid="17" grpId="0" animBg="1"/>
      <p:bldP spid="22" grpId="0"/>
      <p:bldP spid="23" grpId="0"/>
      <p:bldP spid="24" grpId="0" animBg="1"/>
      <p:bldP spid="27" grpId="0"/>
      <p:bldP spid="30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9299" y="453678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lang="fr-BE" b="1" i="1" dirty="0"/>
              <a:t>2. Prolongation du droit de base: </a:t>
            </a:r>
            <a:br>
              <a:rPr lang="fr-BE" b="1" i="1" dirty="0"/>
            </a:br>
            <a:r>
              <a:rPr lang="fr-BE" b="1" i="1" dirty="0"/>
              <a:t>Exemple 2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545227" y="2636912"/>
            <a:ext cx="0" cy="21127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540296" y="480496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– Cohabitant</a:t>
            </a:r>
          </a:p>
          <a:p>
            <a:pPr algn="ctr"/>
            <a:r>
              <a:rPr lang="fr-BE" sz="1400" b="1" dirty="0"/>
              <a:t>Né le 11.04.1999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469299" y="233653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10.06.2019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1548636" y="3548833"/>
            <a:ext cx="3207380" cy="38110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4756016" y="189708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09.06.2022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 flipV="1">
            <a:off x="5671904" y="2204864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V="1">
            <a:off x="4759088" y="2606691"/>
            <a:ext cx="0" cy="12961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3797612" y="234736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01.05.2022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5475705" y="233283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31.10.2022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775465" y="3562161"/>
            <a:ext cx="168437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Indépendant</a:t>
            </a:r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6443464" y="2617216"/>
            <a:ext cx="0" cy="12961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6499589" y="2304939"/>
            <a:ext cx="0" cy="24204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5507361" y="4749623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DA le 01.11.2022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 Prolongation </a:t>
            </a:r>
            <a:r>
              <a:rPr lang="fr-BE" sz="1400" b="1" dirty="0"/>
              <a:t>?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5534001" y="533719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&lt; 25 ans </a:t>
            </a:r>
            <a:r>
              <a:rPr lang="fr-BE" sz="1400" b="1" dirty="0">
                <a:sym typeface="Wingdings" panose="05000000000000000000" pitchFamily="2" charset="2"/>
              </a:rPr>
              <a:t> AR 36 ok</a:t>
            </a:r>
            <a:endParaRPr lang="fr-BE" sz="1400" b="1" dirty="0"/>
          </a:p>
        </p:txBody>
      </p:sp>
      <p:sp>
        <p:nvSpPr>
          <p:cNvPr id="8" name="Accolade ouvrante 7"/>
          <p:cNvSpPr/>
          <p:nvPr/>
        </p:nvSpPr>
        <p:spPr>
          <a:xfrm rot="16200000">
            <a:off x="5454939" y="3234134"/>
            <a:ext cx="289606" cy="1687447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29" name="ZoneTexte 28"/>
          <p:cNvSpPr txBox="1"/>
          <p:nvPr/>
        </p:nvSpPr>
        <p:spPr>
          <a:xfrm>
            <a:off x="4691813" y="4222661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184 jours R7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71904" y="3548832"/>
            <a:ext cx="2446245" cy="384223"/>
          </a:xfrm>
          <a:prstGeom prst="rect">
            <a:avLst/>
          </a:prstGeom>
          <a:pattFill prst="pct25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+ 184 jrs R7 WB3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7228434" y="190996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10.12.2022</a:t>
            </a:r>
          </a:p>
        </p:txBody>
      </p:sp>
      <p:cxnSp>
        <p:nvCxnSpPr>
          <p:cNvPr id="31" name="Connecteur droit avec flèche 30"/>
          <p:cNvCxnSpPr/>
          <p:nvPr/>
        </p:nvCxnSpPr>
        <p:spPr>
          <a:xfrm flipV="1">
            <a:off x="8121557" y="2201742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1569736" y="3283603"/>
            <a:ext cx="4109557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69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17" grpId="0"/>
      <p:bldP spid="18" grpId="0"/>
      <p:bldP spid="19" grpId="0" animBg="1"/>
      <p:bldP spid="24" grpId="0"/>
      <p:bldP spid="25" grpId="0"/>
      <p:bldP spid="8" grpId="0" animBg="1"/>
      <p:bldP spid="29" grpId="0"/>
      <p:bldP spid="9" grpId="0" animBg="1"/>
      <p:bldP spid="30" grpId="0"/>
      <p:bldP spid="27" grpId="0" animBg="1"/>
      <p:bldP spid="2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870F4C-D495-436D-8DF2-6A0F11CB9525}"/>
              </a:ext>
            </a:extLst>
          </p:cNvPr>
          <p:cNvSpPr/>
          <p:nvPr/>
        </p:nvSpPr>
        <p:spPr>
          <a:xfrm>
            <a:off x="457200" y="5257800"/>
            <a:ext cx="8435280" cy="1098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F7CCF3-D066-4B48-AEA7-914FBE56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L’élargissement du droit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BD5C1-BDB9-4D5D-8F8A-E3BB22596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600200"/>
            <a:ext cx="8435280" cy="47561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500" dirty="0"/>
              <a:t>Lorsqu’un chômeur,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au moment de la fin du droit</a:t>
            </a:r>
            <a:r>
              <a:rPr lang="fr-BE" sz="3500" dirty="0"/>
              <a:t>, bénéficie: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d’une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dispense</a:t>
            </a:r>
            <a:r>
              <a:rPr lang="fr-BE" dirty="0"/>
              <a:t> sur la base des articles 91, 92, 93, 94 &amp; 97  </a:t>
            </a:r>
          </a:p>
          <a:p>
            <a:pPr marL="0" indent="0">
              <a:buNone/>
            </a:pPr>
            <a:r>
              <a:rPr lang="fr-BE" b="1" u="sng" dirty="0"/>
              <a:t>OU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bénéficie d’une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AGR</a:t>
            </a:r>
            <a:r>
              <a:rPr lang="fr-BE" dirty="0"/>
              <a:t> dans le cadre d’une occupation à temps partiel avec maintien des droits (peu importe le Q/S et la durée)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Le droit continue jusqu’à la fin de la dispense ou jusqu’à la fin de la période ininterrompue TTPMD.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DA8DE-CF2C-45D1-9EA7-78181D96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871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4EDC2A-0354-4493-9C3C-7A0DECAAE7F2}"/>
              </a:ext>
            </a:extLst>
          </p:cNvPr>
          <p:cNvSpPr/>
          <p:nvPr/>
        </p:nvSpPr>
        <p:spPr>
          <a:xfrm>
            <a:off x="457200" y="5373216"/>
            <a:ext cx="8229600" cy="9831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3055E6-E355-4312-A35C-332F5F2D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L’élargissement du droit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5384F6-3B42-450D-8634-30D79BA2F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quel moment faut-il satisfaire à la condition?</a:t>
            </a:r>
          </a:p>
          <a:p>
            <a:pPr marL="0" indent="0">
              <a:buNone/>
            </a:pPr>
            <a:r>
              <a:rPr lang="fr-BE" dirty="0"/>
              <a:t>Une dispense 91, 92, 93, 94, 97 ou un code 57 doit exister soit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le </a:t>
            </a:r>
            <a:r>
              <a:rPr lang="fr-BE" b="1" dirty="0"/>
              <a:t>dernier jour du droit de base </a:t>
            </a:r>
            <a:r>
              <a:rPr lang="fr-BE" dirty="0"/>
              <a:t>(si le chômeur ne peut faire appel à une prolongation);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le </a:t>
            </a:r>
            <a:r>
              <a:rPr lang="fr-BE" b="1" dirty="0"/>
              <a:t>dernier jour du droit de base prolongé</a:t>
            </a:r>
            <a:r>
              <a:rPr lang="fr-BE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ou le </a:t>
            </a:r>
            <a:r>
              <a:rPr lang="fr-BE" b="1" dirty="0"/>
              <a:t>dernier jour du droit déjà élargi</a:t>
            </a:r>
            <a:r>
              <a:rPr lang="fr-BE" dirty="0"/>
              <a:t>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L’élargissement est octroyé automatiquement et ne requiert donc pas de DA.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C415C9-3363-4C8E-B9C6-E954D6CA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870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L’élargissement du droit de base:</a:t>
            </a:r>
            <a:br>
              <a:rPr lang="fr-BE" sz="4000" b="1" i="1" dirty="0"/>
            </a:br>
            <a:r>
              <a:rPr lang="fr-BE" sz="4000" b="1" i="1" dirty="0"/>
              <a:t>Exemple 1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1545227" y="2636912"/>
            <a:ext cx="0" cy="21127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540296" y="480496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– Cohabitant</a:t>
            </a:r>
          </a:p>
          <a:p>
            <a:pPr algn="ctr"/>
            <a:r>
              <a:rPr lang="fr-BE" sz="1400" b="1" dirty="0"/>
              <a:t>Né le 08.04.1996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469299" y="233653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30.07.2019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37" name="ZoneTexte 36"/>
          <p:cNvSpPr txBox="1"/>
          <p:nvPr/>
        </p:nvSpPr>
        <p:spPr>
          <a:xfrm>
            <a:off x="3505965" y="189708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29.07.2022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 flipV="1">
            <a:off x="4305712" y="2180104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4036361" y="439202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Indemnisable ?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036361" y="474962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Elargissement du droit 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1545226" y="3288683"/>
            <a:ext cx="2738742" cy="64437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2446640" y="2162756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01.09.2021</a:t>
            </a:r>
          </a:p>
        </p:txBody>
      </p:sp>
      <p:cxnSp>
        <p:nvCxnSpPr>
          <p:cNvPr id="11" name="Connecteur droit 10"/>
          <p:cNvCxnSpPr/>
          <p:nvPr/>
        </p:nvCxnSpPr>
        <p:spPr>
          <a:xfrm>
            <a:off x="3353030" y="2644310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Flèche droite 25"/>
          <p:cNvSpPr/>
          <p:nvPr/>
        </p:nvSpPr>
        <p:spPr>
          <a:xfrm>
            <a:off x="3353030" y="2316645"/>
            <a:ext cx="2283335" cy="90615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Dispense 94</a:t>
            </a:r>
            <a:endParaRPr lang="fr-BE" dirty="0"/>
          </a:p>
        </p:txBody>
      </p:sp>
      <p:sp>
        <p:nvSpPr>
          <p:cNvPr id="45" name="Accolade ouvrante 44"/>
          <p:cNvSpPr/>
          <p:nvPr/>
        </p:nvSpPr>
        <p:spPr>
          <a:xfrm rot="16200000">
            <a:off x="4810057" y="3421279"/>
            <a:ext cx="324816" cy="1348369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cxnSp>
        <p:nvCxnSpPr>
          <p:cNvPr id="47" name="Connecteur droit 46"/>
          <p:cNvCxnSpPr/>
          <p:nvPr/>
        </p:nvCxnSpPr>
        <p:spPr>
          <a:xfrm>
            <a:off x="5646650" y="2644310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4901581" y="216275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31.08.2022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4318849" y="3292964"/>
            <a:ext cx="1317516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élargi WB3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5868900" y="437038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Indemnisable ?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5833453" y="4758799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Elargissement du droit </a:t>
            </a:r>
          </a:p>
        </p:txBody>
      </p:sp>
      <p:sp>
        <p:nvSpPr>
          <p:cNvPr id="52" name="ZoneTexte 51"/>
          <p:cNvSpPr txBox="1"/>
          <p:nvPr/>
        </p:nvSpPr>
        <p:spPr>
          <a:xfrm>
            <a:off x="4899430" y="215712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01.09.2022</a:t>
            </a:r>
          </a:p>
        </p:txBody>
      </p:sp>
      <p:cxnSp>
        <p:nvCxnSpPr>
          <p:cNvPr id="53" name="Connecteur droit 52"/>
          <p:cNvCxnSpPr/>
          <p:nvPr/>
        </p:nvCxnSpPr>
        <p:spPr>
          <a:xfrm>
            <a:off x="5655496" y="2622672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Flèche droite 53"/>
          <p:cNvSpPr/>
          <p:nvPr/>
        </p:nvSpPr>
        <p:spPr>
          <a:xfrm>
            <a:off x="5655496" y="2295007"/>
            <a:ext cx="2283335" cy="90615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Prol. Dispense 94</a:t>
            </a:r>
            <a:endParaRPr lang="fr-BE" dirty="0"/>
          </a:p>
        </p:txBody>
      </p:sp>
      <p:sp>
        <p:nvSpPr>
          <p:cNvPr id="55" name="Accolade ouvrante 54"/>
          <p:cNvSpPr/>
          <p:nvPr/>
        </p:nvSpPr>
        <p:spPr>
          <a:xfrm rot="16200000">
            <a:off x="6650719" y="2937836"/>
            <a:ext cx="303178" cy="2293618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cxnSp>
        <p:nvCxnSpPr>
          <p:cNvPr id="56" name="Connecteur droit 55"/>
          <p:cNvCxnSpPr/>
          <p:nvPr/>
        </p:nvCxnSpPr>
        <p:spPr>
          <a:xfrm>
            <a:off x="7949116" y="2622672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ZoneTexte 56"/>
          <p:cNvSpPr txBox="1"/>
          <p:nvPr/>
        </p:nvSpPr>
        <p:spPr>
          <a:xfrm>
            <a:off x="7204047" y="214111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31.08.2023</a:t>
            </a:r>
          </a:p>
        </p:txBody>
      </p:sp>
      <p:sp>
        <p:nvSpPr>
          <p:cNvPr id="58" name="ZoneTexte 57"/>
          <p:cNvSpPr txBox="1"/>
          <p:nvPr/>
        </p:nvSpPr>
        <p:spPr>
          <a:xfrm>
            <a:off x="5670913" y="3297114"/>
            <a:ext cx="2252500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élargi </a:t>
            </a:r>
          </a:p>
          <a:p>
            <a:pPr algn="ctr"/>
            <a:r>
              <a:rPr lang="fr-BE" b="1" i="1" dirty="0"/>
              <a:t>WB3</a:t>
            </a:r>
          </a:p>
        </p:txBody>
      </p:sp>
    </p:spTree>
    <p:extLst>
      <p:ext uri="{BB962C8B-B14F-4D97-AF65-F5344CB8AC3E}">
        <p14:creationId xmlns:p14="http://schemas.microsoft.com/office/powerpoint/2010/main" val="398948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4" grpId="0"/>
      <p:bldP spid="25" grpId="0"/>
      <p:bldP spid="27" grpId="0" animBg="1"/>
      <p:bldP spid="33" grpId="0"/>
      <p:bldP spid="26" grpId="0" animBg="1"/>
      <p:bldP spid="45" grpId="0" animBg="1"/>
      <p:bldP spid="48" grpId="0"/>
      <p:bldP spid="48" grpId="1"/>
      <p:bldP spid="49" grpId="0" animBg="1"/>
      <p:bldP spid="50" grpId="0"/>
      <p:bldP spid="51" grpId="0"/>
      <p:bldP spid="52" grpId="0"/>
      <p:bldP spid="54" grpId="0" animBg="1"/>
      <p:bldP spid="55" grpId="0" animBg="1"/>
      <p:bldP spid="57" grpId="0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L’élargissement du droit de base:</a:t>
            </a:r>
            <a:br>
              <a:rPr lang="fr-BE" sz="4000" b="1" i="1" dirty="0"/>
            </a:br>
            <a:r>
              <a:rPr lang="fr-BE" sz="4000" b="1" i="1" dirty="0"/>
              <a:t>Exemple 2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1835696" y="2820358"/>
            <a:ext cx="0" cy="21127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779240" y="4940467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– Cohabitant</a:t>
            </a:r>
          </a:p>
          <a:p>
            <a:pPr algn="ctr"/>
            <a:r>
              <a:rPr lang="fr-BE" sz="1400" b="1" dirty="0"/>
              <a:t>Né le 08.04.1998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37" name="ZoneTexte 36"/>
          <p:cNvSpPr txBox="1"/>
          <p:nvPr/>
        </p:nvSpPr>
        <p:spPr>
          <a:xfrm>
            <a:off x="3968546" y="1915459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16.09.2022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 flipV="1">
            <a:off x="1835696" y="2201742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919603" y="190573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17.09.2019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1841809" y="3281285"/>
            <a:ext cx="2927486" cy="65177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5591577" y="438462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Indemnisable ?</a:t>
            </a:r>
          </a:p>
        </p:txBody>
      </p:sp>
      <p:sp>
        <p:nvSpPr>
          <p:cNvPr id="52" name="ZoneTexte 51"/>
          <p:cNvSpPr txBox="1"/>
          <p:nvPr/>
        </p:nvSpPr>
        <p:spPr>
          <a:xfrm>
            <a:off x="4463988" y="214111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01.12.2022</a:t>
            </a:r>
          </a:p>
        </p:txBody>
      </p:sp>
      <p:cxnSp>
        <p:nvCxnSpPr>
          <p:cNvPr id="53" name="Connecteur droit 52"/>
          <p:cNvCxnSpPr/>
          <p:nvPr/>
        </p:nvCxnSpPr>
        <p:spPr>
          <a:xfrm>
            <a:off x="5378173" y="2636912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Flèche droite 53"/>
          <p:cNvSpPr/>
          <p:nvPr/>
        </p:nvSpPr>
        <p:spPr>
          <a:xfrm>
            <a:off x="5378173" y="2309247"/>
            <a:ext cx="2283335" cy="90615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Dispense 91,1(X)</a:t>
            </a:r>
            <a:endParaRPr lang="fr-BE" b="1" dirty="0"/>
          </a:p>
        </p:txBody>
      </p:sp>
      <p:sp>
        <p:nvSpPr>
          <p:cNvPr id="55" name="Accolade ouvrante 54"/>
          <p:cNvSpPr/>
          <p:nvPr/>
        </p:nvSpPr>
        <p:spPr>
          <a:xfrm rot="16200000">
            <a:off x="6373396" y="2952076"/>
            <a:ext cx="303178" cy="2293618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57" name="ZoneTexte 56"/>
          <p:cNvSpPr txBox="1"/>
          <p:nvPr/>
        </p:nvSpPr>
        <p:spPr>
          <a:xfrm>
            <a:off x="6926724" y="215535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31.05.2023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5189291" y="4692401"/>
            <a:ext cx="266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ym typeface="Wingdings" panose="05000000000000000000" pitchFamily="2" charset="2"/>
              </a:rPr>
              <a:t>NON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 </a:t>
            </a:r>
            <a:r>
              <a:rPr lang="fr-BE" sz="1400" b="1" dirty="0"/>
              <a:t>Pas  d’élargissement du droit 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1855708" y="3542422"/>
            <a:ext cx="96885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2824559" y="2941525"/>
            <a:ext cx="0" cy="9821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2856683" y="3281285"/>
            <a:ext cx="117602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C4 </a:t>
            </a:r>
          </a:p>
          <a:p>
            <a:pPr algn="ctr"/>
            <a:r>
              <a:rPr lang="fr-BE" b="1" i="1" dirty="0"/>
              <a:t>38/38</a:t>
            </a:r>
          </a:p>
        </p:txBody>
      </p:sp>
      <p:cxnSp>
        <p:nvCxnSpPr>
          <p:cNvPr id="39" name="Connecteur droit avec flèche 38"/>
          <p:cNvCxnSpPr/>
          <p:nvPr/>
        </p:nvCxnSpPr>
        <p:spPr>
          <a:xfrm flipV="1">
            <a:off x="4032711" y="2941526"/>
            <a:ext cx="0" cy="9702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4060527" y="3542422"/>
            <a:ext cx="70876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1920740" y="261124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01.07.2020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238321" y="261124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30.09.2020</a:t>
            </a:r>
          </a:p>
        </p:txBody>
      </p:sp>
      <p:cxnSp>
        <p:nvCxnSpPr>
          <p:cNvPr id="59" name="Connecteur droit avec flèche 58"/>
          <p:cNvCxnSpPr/>
          <p:nvPr/>
        </p:nvCxnSpPr>
        <p:spPr>
          <a:xfrm flipV="1">
            <a:off x="4769295" y="2213511"/>
            <a:ext cx="0" cy="171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>
            <a:off x="4815260" y="2483023"/>
            <a:ext cx="0" cy="24204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3863338" y="4915938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17.09.2022 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 Prolongation </a:t>
            </a:r>
            <a:r>
              <a:rPr lang="fr-BE" sz="1400" b="1" dirty="0"/>
              <a:t>?</a:t>
            </a:r>
          </a:p>
        </p:txBody>
      </p:sp>
      <p:sp>
        <p:nvSpPr>
          <p:cNvPr id="62" name="ZoneTexte 61"/>
          <p:cNvSpPr txBox="1"/>
          <p:nvPr/>
        </p:nvSpPr>
        <p:spPr>
          <a:xfrm>
            <a:off x="3889978" y="550351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&lt; 25 ans </a:t>
            </a:r>
            <a:r>
              <a:rPr lang="fr-BE" sz="1400" b="1" dirty="0">
                <a:sym typeface="Wingdings" panose="05000000000000000000" pitchFamily="2" charset="2"/>
              </a:rPr>
              <a:t> AR 36 ok</a:t>
            </a:r>
            <a:endParaRPr lang="fr-BE" sz="1400" b="1" dirty="0"/>
          </a:p>
        </p:txBody>
      </p:sp>
      <p:sp>
        <p:nvSpPr>
          <p:cNvPr id="64" name="ZoneTexte 63"/>
          <p:cNvSpPr txBox="1"/>
          <p:nvPr/>
        </p:nvSpPr>
        <p:spPr>
          <a:xfrm>
            <a:off x="5054516" y="1925951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16.12.2022</a:t>
            </a:r>
          </a:p>
        </p:txBody>
      </p:sp>
      <p:sp>
        <p:nvSpPr>
          <p:cNvPr id="66" name="ZoneTexte 65"/>
          <p:cNvSpPr txBox="1"/>
          <p:nvPr/>
        </p:nvSpPr>
        <p:spPr>
          <a:xfrm>
            <a:off x="4839977" y="3542422"/>
            <a:ext cx="117602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 err="1"/>
              <a:t>Prol</a:t>
            </a:r>
            <a:r>
              <a:rPr lang="fr-BE" b="1" i="1" dirty="0"/>
              <a:t>. WB3</a:t>
            </a:r>
          </a:p>
        </p:txBody>
      </p:sp>
      <p:cxnSp>
        <p:nvCxnSpPr>
          <p:cNvPr id="67" name="Connecteur droit avec flèche 66"/>
          <p:cNvCxnSpPr/>
          <p:nvPr/>
        </p:nvCxnSpPr>
        <p:spPr>
          <a:xfrm flipV="1">
            <a:off x="6008797" y="2213511"/>
            <a:ext cx="0" cy="17164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6016005" y="3277104"/>
            <a:ext cx="1645503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élargi </a:t>
            </a:r>
          </a:p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69" name="Connecteur droit 68"/>
          <p:cNvCxnSpPr/>
          <p:nvPr/>
        </p:nvCxnSpPr>
        <p:spPr>
          <a:xfrm>
            <a:off x="7671793" y="2636912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Accolade ouvrante 69"/>
          <p:cNvSpPr/>
          <p:nvPr/>
        </p:nvSpPr>
        <p:spPr>
          <a:xfrm rot="16200000">
            <a:off x="3265979" y="3485455"/>
            <a:ext cx="340435" cy="1193032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71" name="ZoneTexte 70"/>
          <p:cNvSpPr txBox="1"/>
          <p:nvPr/>
        </p:nvSpPr>
        <p:spPr>
          <a:xfrm>
            <a:off x="2682749" y="4237178"/>
            <a:ext cx="1459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prstClr val="black"/>
                </a:solidFill>
              </a:rPr>
              <a:t>A820 : Jours x 7/R</a:t>
            </a:r>
          </a:p>
          <a:p>
            <a:pPr algn="ctr"/>
            <a:r>
              <a:rPr lang="fr-BE" sz="1400" b="1" dirty="0">
                <a:solidFill>
                  <a:prstClr val="black"/>
                </a:solidFill>
              </a:rPr>
              <a:t>65 x 7 / 5 = 91</a:t>
            </a:r>
          </a:p>
          <a:p>
            <a:pPr algn="ctr"/>
            <a:r>
              <a:rPr lang="fr-BE" sz="1000" b="1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1400" b="1" dirty="0">
                <a:solidFill>
                  <a:prstClr val="black"/>
                </a:solidFill>
              </a:rPr>
              <a:t> 91 jours cal.</a:t>
            </a:r>
          </a:p>
        </p:txBody>
      </p:sp>
    </p:spTree>
    <p:extLst>
      <p:ext uri="{BB962C8B-B14F-4D97-AF65-F5344CB8AC3E}">
        <p14:creationId xmlns:p14="http://schemas.microsoft.com/office/powerpoint/2010/main" val="39272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4" grpId="0"/>
      <p:bldP spid="27" grpId="0" animBg="1"/>
      <p:bldP spid="27" grpId="1" animBg="1"/>
      <p:bldP spid="50" grpId="0"/>
      <p:bldP spid="50" grpId="1"/>
      <p:bldP spid="50" grpId="2"/>
      <p:bldP spid="52" grpId="0"/>
      <p:bldP spid="52" grpId="1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7" grpId="0"/>
      <p:bldP spid="57" grpId="1"/>
      <p:bldP spid="57" grpId="2"/>
      <p:bldP spid="32" grpId="0"/>
      <p:bldP spid="32" grpId="1"/>
      <p:bldP spid="34" grpId="0" animBg="1"/>
      <p:bldP spid="36" grpId="0" animBg="1"/>
      <p:bldP spid="40" grpId="0" animBg="1"/>
      <p:bldP spid="41" grpId="0"/>
      <p:bldP spid="46" grpId="0"/>
      <p:bldP spid="61" grpId="0"/>
      <p:bldP spid="62" grpId="0"/>
      <p:bldP spid="64" grpId="0"/>
      <p:bldP spid="66" grpId="0" animBg="1"/>
      <p:bldP spid="68" grpId="0" animBg="1"/>
      <p:bldP spid="70" grpId="0" animBg="1"/>
      <p:bldP spid="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9518" y="260648"/>
            <a:ext cx="8507288" cy="1143000"/>
          </a:xfrm>
        </p:spPr>
        <p:txBody>
          <a:bodyPr>
            <a:normAutofit/>
          </a:bodyPr>
          <a:lstStyle/>
          <a:p>
            <a:pPr algn="r"/>
            <a:r>
              <a:rPr lang="fr-BE" b="1" i="1" dirty="0"/>
              <a:t>3. L’élargissement du droit de base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70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3600" u="sng" dirty="0"/>
              <a:t>Particularité</a:t>
            </a:r>
            <a:r>
              <a:rPr lang="fr-BE" sz="3600" dirty="0"/>
              <a:t>: </a:t>
            </a:r>
          </a:p>
          <a:p>
            <a:pPr marL="0" indent="0">
              <a:buNone/>
            </a:pPr>
            <a:r>
              <a:rPr lang="fr-BE" sz="3600" dirty="0"/>
              <a:t>En cas de 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modification de la situation familiale</a:t>
            </a:r>
            <a:r>
              <a:rPr lang="fr-BE" sz="3600" dirty="0"/>
              <a:t> durant une période de dispense ou de TTPMD avec AGR, celle-ci n’aura pas d’effet négatif sur le droit à l’élargissement.</a:t>
            </a:r>
          </a:p>
          <a:p>
            <a:pPr marL="0" indent="0">
              <a:buNone/>
            </a:pPr>
            <a:endParaRPr lang="fr-BE" sz="28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9CB-47C6-4535-B557-74282BBB9D27}" type="slidenum">
              <a:rPr lang="fr-BE" smtClean="0"/>
              <a:t>17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3831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L’élargissement du droit de base: Exemple 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36497" y="2795613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2330026" y="2133618"/>
            <a:ext cx="3646885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WN3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2681" y="1727333"/>
            <a:ext cx="0" cy="40079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291992" y="3412541"/>
            <a:ext cx="205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– Isolé</a:t>
            </a:r>
          </a:p>
          <a:p>
            <a:pPr algn="ctr"/>
            <a:r>
              <a:rPr lang="fr-BE" sz="1400" b="1" dirty="0"/>
              <a:t>Né le 03.10.1989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296577" y="142746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10.01.2013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5055094" y="1428391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31.10.2022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 flipH="1" flipV="1">
            <a:off x="5976912" y="1759737"/>
            <a:ext cx="14286" cy="1025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1515842" y="142746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01.11.2019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2330026" y="1729750"/>
            <a:ext cx="0" cy="10501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>
            <a:off x="2183891" y="1736168"/>
            <a:ext cx="0" cy="1261715"/>
          </a:xfrm>
          <a:prstGeom prst="straightConnector1">
            <a:avLst/>
          </a:prstGeom>
          <a:ln w="63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1480736" y="2962723"/>
            <a:ext cx="1872208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03.11.2019 </a:t>
            </a:r>
          </a:p>
          <a:p>
            <a:pPr algn="ctr"/>
            <a:r>
              <a:rPr lang="fr-BE" sz="1400" dirty="0"/>
              <a:t>= 30</a:t>
            </a:r>
            <a:r>
              <a:rPr lang="fr-BE" sz="1400" baseline="30000" dirty="0"/>
              <a:t>ème</a:t>
            </a:r>
            <a:r>
              <a:rPr lang="fr-BE" sz="1400" dirty="0"/>
              <a:t> anniversaire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60513" y="530587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278240" y="247766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WN3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268445" y="497937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64928" y="586279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alloc. insertion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1252935" y="4697622"/>
            <a:ext cx="796574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1600" b="1" i="1" dirty="0"/>
              <a:t>DB WB3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1220549" y="4022931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09.01.2016</a:t>
            </a:r>
          </a:p>
        </p:txBody>
      </p:sp>
      <p:cxnSp>
        <p:nvCxnSpPr>
          <p:cNvPr id="51" name="Connecteur droit avec flèche 50"/>
          <p:cNvCxnSpPr/>
          <p:nvPr/>
        </p:nvCxnSpPr>
        <p:spPr>
          <a:xfrm flipV="1">
            <a:off x="2051720" y="4266941"/>
            <a:ext cx="0" cy="10202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>
          <a:xfrm>
            <a:off x="353985" y="396732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10.01.2013</a:t>
            </a:r>
          </a:p>
        </p:txBody>
      </p:sp>
      <p:cxnSp>
        <p:nvCxnSpPr>
          <p:cNvPr id="55" name="Connecteur droit avec flèche 54"/>
          <p:cNvCxnSpPr/>
          <p:nvPr/>
        </p:nvCxnSpPr>
        <p:spPr>
          <a:xfrm flipV="1">
            <a:off x="1235428" y="4285664"/>
            <a:ext cx="0" cy="10501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ZoneTexte 63"/>
          <p:cNvSpPr txBox="1"/>
          <p:nvPr/>
        </p:nvSpPr>
        <p:spPr>
          <a:xfrm>
            <a:off x="5794086" y="3186859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Indemnisable ?</a:t>
            </a:r>
          </a:p>
        </p:txBody>
      </p:sp>
      <p:sp>
        <p:nvSpPr>
          <p:cNvPr id="68" name="ZoneTexte 67"/>
          <p:cNvSpPr txBox="1"/>
          <p:nvPr/>
        </p:nvSpPr>
        <p:spPr>
          <a:xfrm>
            <a:off x="5756670" y="3519108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Elargissement du droit </a:t>
            </a:r>
          </a:p>
        </p:txBody>
      </p:sp>
      <p:sp>
        <p:nvSpPr>
          <p:cNvPr id="69" name="ZoneTexte 68"/>
          <p:cNvSpPr txBox="1"/>
          <p:nvPr/>
        </p:nvSpPr>
        <p:spPr>
          <a:xfrm>
            <a:off x="4675453" y="1127232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09.09.2022</a:t>
            </a:r>
          </a:p>
        </p:txBody>
      </p:sp>
      <p:cxnSp>
        <p:nvCxnSpPr>
          <p:cNvPr id="70" name="Connecteur droit 69"/>
          <p:cNvCxnSpPr/>
          <p:nvPr/>
        </p:nvCxnSpPr>
        <p:spPr>
          <a:xfrm>
            <a:off x="5529696" y="1485062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Flèche droite 70"/>
          <p:cNvSpPr/>
          <p:nvPr/>
        </p:nvSpPr>
        <p:spPr>
          <a:xfrm>
            <a:off x="5529696" y="1926038"/>
            <a:ext cx="1854991" cy="90615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Dispense 94&amp;6</a:t>
            </a:r>
          </a:p>
        </p:txBody>
      </p:sp>
      <p:sp>
        <p:nvSpPr>
          <p:cNvPr id="72" name="Accolade ouvrante 71"/>
          <p:cNvSpPr/>
          <p:nvPr/>
        </p:nvSpPr>
        <p:spPr>
          <a:xfrm rot="16200000">
            <a:off x="6519144" y="2257491"/>
            <a:ext cx="337377" cy="1393268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73" name="ZoneTexte 72"/>
          <p:cNvSpPr txBox="1"/>
          <p:nvPr/>
        </p:nvSpPr>
        <p:spPr>
          <a:xfrm>
            <a:off x="5991198" y="2129435"/>
            <a:ext cx="1389114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élargi WN3</a:t>
            </a:r>
          </a:p>
        </p:txBody>
      </p:sp>
      <p:sp>
        <p:nvSpPr>
          <p:cNvPr id="74" name="ZoneTexte 73"/>
          <p:cNvSpPr txBox="1"/>
          <p:nvPr/>
        </p:nvSpPr>
        <p:spPr>
          <a:xfrm>
            <a:off x="6665175" y="1456928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31.08.2023</a:t>
            </a:r>
          </a:p>
        </p:txBody>
      </p:sp>
      <p:cxnSp>
        <p:nvCxnSpPr>
          <p:cNvPr id="75" name="Connecteur droit 74"/>
          <p:cNvCxnSpPr>
            <a:cxnSpLocks/>
          </p:cNvCxnSpPr>
          <p:nvPr/>
        </p:nvCxnSpPr>
        <p:spPr>
          <a:xfrm>
            <a:off x="7380312" y="1873169"/>
            <a:ext cx="4152" cy="905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>
            <a:off x="5757215" y="1781234"/>
            <a:ext cx="0" cy="3862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ZoneTexte 76"/>
          <p:cNvSpPr txBox="1"/>
          <p:nvPr/>
        </p:nvSpPr>
        <p:spPr>
          <a:xfrm>
            <a:off x="4899973" y="572503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21.10.2022 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 </a:t>
            </a:r>
            <a:r>
              <a:rPr lang="fr-BE" sz="1400" b="1" dirty="0"/>
              <a:t>WB3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9384" y="6316954"/>
            <a:ext cx="16225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fr-BE" sz="1400" b="1" dirty="0">
                <a:solidFill>
                  <a:prstClr val="black"/>
                </a:solidFill>
              </a:rPr>
              <a:t>≥ 25 ans </a:t>
            </a:r>
            <a:r>
              <a:rPr lang="fr-BE" sz="1400" b="1" dirty="0">
                <a:solidFill>
                  <a:prstClr val="black"/>
                </a:solidFill>
                <a:sym typeface="Wingdings" panose="05000000000000000000" pitchFamily="2" charset="2"/>
              </a:rPr>
              <a:t> AR 42</a:t>
            </a:r>
            <a:r>
              <a:rPr lang="fr-BE" sz="1400" b="1" dirty="0">
                <a:solidFill>
                  <a:prstClr val="black"/>
                </a:solidFill>
              </a:rPr>
              <a:t> ?</a:t>
            </a:r>
          </a:p>
        </p:txBody>
      </p:sp>
      <p:sp>
        <p:nvSpPr>
          <p:cNvPr id="81" name="ZoneTexte 80"/>
          <p:cNvSpPr txBox="1"/>
          <p:nvPr/>
        </p:nvSpPr>
        <p:spPr>
          <a:xfrm>
            <a:off x="4778836" y="3059399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20.10.2022</a:t>
            </a:r>
          </a:p>
        </p:txBody>
      </p:sp>
      <p:sp>
        <p:nvSpPr>
          <p:cNvPr id="82" name="Accolade ouvrante 81"/>
          <p:cNvSpPr/>
          <p:nvPr/>
        </p:nvSpPr>
        <p:spPr>
          <a:xfrm rot="16200000">
            <a:off x="4323888" y="1683363"/>
            <a:ext cx="45719" cy="2747192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 dirty="0">
              <a:solidFill>
                <a:srgbClr val="008000"/>
              </a:solidFill>
            </a:endParaRPr>
          </a:p>
        </p:txBody>
      </p:sp>
      <p:sp>
        <p:nvSpPr>
          <p:cNvPr id="83" name="ZoneTexte 82"/>
          <p:cNvSpPr txBox="1"/>
          <p:nvPr/>
        </p:nvSpPr>
        <p:spPr>
          <a:xfrm>
            <a:off x="2231586" y="3063761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21.10.2019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cxnSp>
        <p:nvCxnSpPr>
          <p:cNvPr id="84" name="Connecteur droit 83"/>
          <p:cNvCxnSpPr/>
          <p:nvPr/>
        </p:nvCxnSpPr>
        <p:spPr>
          <a:xfrm>
            <a:off x="2973152" y="1873169"/>
            <a:ext cx="0" cy="1124714"/>
          </a:xfrm>
          <a:prstGeom prst="line">
            <a:avLst/>
          </a:prstGeom>
          <a:ln w="254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>
            <a:off x="5756670" y="1897625"/>
            <a:ext cx="0" cy="1117702"/>
          </a:xfrm>
          <a:prstGeom prst="line">
            <a:avLst/>
          </a:prstGeom>
          <a:ln w="254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/>
          <p:cNvSpPr txBox="1"/>
          <p:nvPr/>
        </p:nvSpPr>
        <p:spPr>
          <a:xfrm>
            <a:off x="2984184" y="2756009"/>
            <a:ext cx="2097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Pér. Réf. AR 42</a:t>
            </a:r>
          </a:p>
        </p:txBody>
      </p:sp>
      <p:sp>
        <p:nvSpPr>
          <p:cNvPr id="88" name="ZoneTexte 87"/>
          <p:cNvSpPr txBox="1"/>
          <p:nvPr/>
        </p:nvSpPr>
        <p:spPr>
          <a:xfrm>
            <a:off x="4717811" y="3659548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09.09.2022</a:t>
            </a:r>
          </a:p>
        </p:txBody>
      </p:sp>
      <p:cxnSp>
        <p:nvCxnSpPr>
          <p:cNvPr id="89" name="Connecteur droit 88"/>
          <p:cNvCxnSpPr/>
          <p:nvPr/>
        </p:nvCxnSpPr>
        <p:spPr>
          <a:xfrm>
            <a:off x="5529696" y="4026041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ZoneTexte 90"/>
          <p:cNvSpPr txBox="1"/>
          <p:nvPr/>
        </p:nvSpPr>
        <p:spPr>
          <a:xfrm>
            <a:off x="5529696" y="4661751"/>
            <a:ext cx="1897126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OK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92" name="ZoneTexte 91"/>
          <p:cNvSpPr txBox="1"/>
          <p:nvPr/>
        </p:nvSpPr>
        <p:spPr>
          <a:xfrm>
            <a:off x="6744772" y="365146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31.08.2023</a:t>
            </a:r>
          </a:p>
        </p:txBody>
      </p:sp>
      <p:cxnSp>
        <p:nvCxnSpPr>
          <p:cNvPr id="93" name="Connecteur droit 92"/>
          <p:cNvCxnSpPr/>
          <p:nvPr/>
        </p:nvCxnSpPr>
        <p:spPr>
          <a:xfrm>
            <a:off x="7426822" y="4022242"/>
            <a:ext cx="0" cy="12887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Flèche droite 93"/>
          <p:cNvSpPr/>
          <p:nvPr/>
        </p:nvSpPr>
        <p:spPr>
          <a:xfrm>
            <a:off x="5536851" y="3712287"/>
            <a:ext cx="1889972" cy="90615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i="1" dirty="0">
                <a:solidFill>
                  <a:schemeClr val="tx1"/>
                </a:solidFill>
              </a:rPr>
              <a:t>Dispense 94&amp;6</a:t>
            </a:r>
            <a:endParaRPr lang="fr-BE" sz="1600" dirty="0"/>
          </a:p>
        </p:txBody>
      </p:sp>
    </p:spTree>
    <p:extLst>
      <p:ext uri="{BB962C8B-B14F-4D97-AF65-F5344CB8AC3E}">
        <p14:creationId xmlns:p14="http://schemas.microsoft.com/office/powerpoint/2010/main" val="264891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/>
      <p:bldP spid="32" grpId="0"/>
      <p:bldP spid="18" grpId="0"/>
      <p:bldP spid="18" grpId="1"/>
      <p:bldP spid="44" grpId="0"/>
      <p:bldP spid="46" grpId="0"/>
      <p:bldP spid="39" grpId="0" animBg="1"/>
      <p:bldP spid="50" grpId="0"/>
      <p:bldP spid="52" grpId="0"/>
      <p:bldP spid="64" grpId="0"/>
      <p:bldP spid="64" grpId="1"/>
      <p:bldP spid="68" grpId="0"/>
      <p:bldP spid="68" grpId="1"/>
      <p:bldP spid="69" grpId="0"/>
      <p:bldP spid="71" grpId="0" animBg="1"/>
      <p:bldP spid="72" grpId="0" animBg="1"/>
      <p:bldP spid="73" grpId="0" animBg="1"/>
      <p:bldP spid="74" grpId="0"/>
      <p:bldP spid="77" grpId="0"/>
      <p:bldP spid="11" grpId="0"/>
      <p:bldP spid="81" grpId="0"/>
      <p:bldP spid="81" grpId="1"/>
      <p:bldP spid="82" grpId="0" animBg="1"/>
      <p:bldP spid="82" grpId="1" animBg="1"/>
      <p:bldP spid="83" grpId="0"/>
      <p:bldP spid="83" grpId="1"/>
      <p:bldP spid="86" grpId="0"/>
      <p:bldP spid="86" grpId="1"/>
      <p:bldP spid="88" grpId="0"/>
      <p:bldP spid="91" grpId="0" animBg="1"/>
      <p:bldP spid="92" grpId="0"/>
      <p:bldP spid="9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15701-4B8E-4C45-AEEC-A4C7510F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Le droit additionnel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E5788E-1A8C-40E1-8FFB-BC3DF0F69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500" dirty="0"/>
              <a:t>Le jeune travailleur qui a épuisé </a:t>
            </a:r>
            <a:r>
              <a:rPr lang="fr-BE" sz="3500" b="1" dirty="0"/>
              <a:t>tous ses droits</a:t>
            </a:r>
            <a:r>
              <a:rPr lang="fr-BE" sz="3500" dirty="0"/>
              <a:t> et qui est </a:t>
            </a:r>
            <a:r>
              <a:rPr lang="fr-BE" sz="3500" b="1" dirty="0"/>
              <a:t>encore admissible </a:t>
            </a:r>
            <a:r>
              <a:rPr lang="fr-BE" sz="3500" dirty="0"/>
              <a:t>peut prétendre à un </a:t>
            </a:r>
            <a:r>
              <a:rPr lang="fr-BE" sz="3500" b="1" dirty="0"/>
              <a:t>droit additionnel </a:t>
            </a:r>
            <a:r>
              <a:rPr lang="fr-BE" sz="3500" dirty="0"/>
              <a:t>de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6 mois </a:t>
            </a:r>
            <a:r>
              <a:rPr lang="fr-BE" sz="3500" dirty="0"/>
              <a:t>s’il prouve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156 jours </a:t>
            </a:r>
            <a:r>
              <a:rPr lang="fr-BE" sz="3500" dirty="0"/>
              <a:t>de travail ou assimilés dans la </a:t>
            </a:r>
            <a:r>
              <a:rPr lang="fr-BE" sz="3500" b="1" dirty="0"/>
              <a:t>période de référence de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24 mois</a:t>
            </a:r>
            <a:r>
              <a:rPr lang="fr-BE" sz="3500" b="1" dirty="0"/>
              <a:t>.</a:t>
            </a:r>
          </a:p>
          <a:p>
            <a:pPr marL="0" indent="0">
              <a:buNone/>
            </a:pPr>
            <a:r>
              <a:rPr lang="fr-BE" sz="3100" dirty="0"/>
              <a:t>Droit additionnel octroyé que pour autant tous les autres droits en matière de droit de base soient épuisés.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Ce sont d’abord les droits en matière de prolongation et d’élargissement du droit de base qui doivent être épuisés avant le droit additionnel</a:t>
            </a:r>
            <a:endParaRPr lang="fr-BE" sz="30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48E88F-9E7B-4A28-8B4E-F82137BB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30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0DC4F-BD97-41C7-9222-1EFBC1AE6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Le droit additionnel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DE8FF-9849-4A5F-828B-9EB4FBFDF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Être admissible</a:t>
            </a:r>
            <a:r>
              <a:rPr lang="fr-BE" dirty="0"/>
              <a:t>: </a:t>
            </a:r>
            <a:r>
              <a:rPr lang="fr-BE" sz="3000" dirty="0"/>
              <a:t>Pour pouvoir prétendre à un droit additionnel le jeune travailleur doit être encore admissible: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Soit sur base de </a:t>
            </a:r>
            <a:r>
              <a:rPr lang="fr-BE" b="1" dirty="0"/>
              <a:t>l’art. 36 AR </a:t>
            </a:r>
            <a:r>
              <a:rPr lang="fr-BE" dirty="0"/>
              <a:t>(&lt; 25 ans)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Soit sur base de </a:t>
            </a:r>
            <a:r>
              <a:rPr lang="fr-BE" b="1" dirty="0"/>
              <a:t>l’art. 42 AR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156 jours de travail/assimilés </a:t>
            </a:r>
            <a:r>
              <a:rPr lang="fr-BE" sz="3000" dirty="0"/>
              <a:t>à l’exception du chômage complet, maladie indemnisée (sauf </a:t>
            </a:r>
            <a:r>
              <a:rPr lang="fr-BE" sz="3000" b="1" dirty="0"/>
              <a:t>congé de maternité</a:t>
            </a:r>
            <a:r>
              <a:rPr lang="fr-BE" sz="3000" dirty="0"/>
              <a:t>)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Période de référence de 24 mois </a:t>
            </a:r>
            <a:r>
              <a:rPr lang="fr-BE" sz="3000" dirty="0"/>
              <a:t>qui précède </a:t>
            </a:r>
            <a:r>
              <a:rPr lang="fr-BE" sz="3000" b="1" dirty="0"/>
              <a:t>immédiatement </a:t>
            </a:r>
            <a:r>
              <a:rPr lang="fr-BE" sz="3000" dirty="0"/>
              <a:t>la DA qui peut être prolongée que des jours couverts par des indemnités de maladie ou d’invalidité 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6F9D91-96A8-4E7F-A83E-FB12B645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63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 Le droit additionnel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u="sng" dirty="0"/>
              <a:t>Particularités</a:t>
            </a:r>
            <a:r>
              <a:rPr lang="fr-BE" dirty="0"/>
              <a:t> 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>
                <a:sym typeface="Wingdings" panose="05000000000000000000" pitchFamily="2" charset="2"/>
              </a:rPr>
              <a:t>Il peut être tenu compte </a:t>
            </a:r>
            <a:r>
              <a:rPr lang="fr-BE" b="1" dirty="0">
                <a:sym typeface="Wingdings" panose="05000000000000000000" pitchFamily="2" charset="2"/>
              </a:rPr>
              <a:t>plusieurs fois des mêmes jours </a:t>
            </a:r>
            <a:r>
              <a:rPr lang="fr-BE" dirty="0">
                <a:sym typeface="Wingdings" panose="05000000000000000000" pitchFamily="2" charset="2"/>
              </a:rPr>
              <a:t>de travail et assimilés pour l’octroi de droits additionnels;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>
                <a:sym typeface="Wingdings" panose="05000000000000000000" pitchFamily="2" charset="2"/>
              </a:rPr>
              <a:t>Le droit additionnel est accordé pour une durée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6 mois calculée de date à date</a:t>
            </a:r>
            <a:r>
              <a:rPr lang="fr-BE" dirty="0">
                <a:sym typeface="Wingdings" panose="05000000000000000000" pitchFamily="2" charset="2"/>
              </a:rPr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>
                <a:sym typeface="Wingdings" panose="05000000000000000000" pitchFamily="2" charset="2"/>
              </a:rPr>
              <a:t>La période de 6 mois: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b="1" dirty="0">
                <a:sym typeface="Wingdings" panose="05000000000000000000" pitchFamily="2" charset="2"/>
              </a:rPr>
              <a:t>Ne peut pas </a:t>
            </a:r>
            <a:r>
              <a:rPr lang="fr-BE" dirty="0">
                <a:sym typeface="Wingdings" panose="05000000000000000000" pitchFamily="2" charset="2"/>
              </a:rPr>
              <a:t>être prolongée;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b="1" dirty="0">
                <a:sym typeface="Wingdings" panose="05000000000000000000" pitchFamily="2" charset="2"/>
              </a:rPr>
              <a:t>Peut</a:t>
            </a:r>
            <a:r>
              <a:rPr lang="fr-BE" dirty="0">
                <a:sym typeface="Wingdings" panose="05000000000000000000" pitchFamily="2" charset="2"/>
              </a:rPr>
              <a:t> être élargie par les dispenses 91, 92, 93 ,94 &amp; 97;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BE" b="1" dirty="0">
                <a:sym typeface="Wingdings" panose="05000000000000000000" pitchFamily="2" charset="2"/>
              </a:rPr>
              <a:t>Ne peut pas </a:t>
            </a:r>
            <a:r>
              <a:rPr lang="fr-BE" dirty="0">
                <a:sym typeface="Wingdings" panose="05000000000000000000" pitchFamily="2" charset="2"/>
              </a:rPr>
              <a:t>être élargie par le statut TTPMD avec AGR.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9CB-47C6-4535-B557-74282BBB9D27}" type="slidenum">
              <a:rPr lang="fr-BE" smtClean="0"/>
              <a:t>21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2830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84DE1-9795-4A8D-B0F9-DE31E44D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Le droit additionnel: Exemple 1 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EAD7A7-BF7B-4878-9E1F-68024F070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dirty="0"/>
              <a:t>Un affilié né le 08.09.1997 a introduit une 1</a:t>
            </a:r>
            <a:r>
              <a:rPr lang="fr-BE" baseline="30000" dirty="0"/>
              <a:t>ère</a:t>
            </a:r>
            <a:r>
              <a:rPr lang="fr-BE" dirty="0"/>
              <a:t> demande  d’allocation d’insertion en date du 05.03.2018. Il a été indemnisé en tant que cohabitant WB3 jusqu’au 04.03.2021 inclus.</a:t>
            </a:r>
          </a:p>
          <a:p>
            <a:pPr marL="0" indent="0">
              <a:buNone/>
            </a:pPr>
            <a:r>
              <a:rPr lang="fr-BE" dirty="0"/>
              <a:t>Durant sont droit de base WB3 l’intéressé a été occupé en CDD temps plein (38/38) du 01.04.2020 a 29.11.2020 inclus. </a:t>
            </a:r>
          </a:p>
          <a:p>
            <a:pPr marL="0" indent="0">
              <a:buNone/>
            </a:pPr>
            <a:endParaRPr lang="fr-BE" sz="1500" dirty="0"/>
          </a:p>
          <a:p>
            <a:pPr marL="0" indent="0">
              <a:buNone/>
            </a:pPr>
            <a:r>
              <a:rPr lang="fr-BE" sz="2600" dirty="0" err="1"/>
              <a:t>Dmfa</a:t>
            </a:r>
            <a:r>
              <a:rPr lang="fr-BE" sz="26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2/2020	65j 	code 1		R5 	38/38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3/2020	66j	code 1		R5	38/38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4/2020	42j	code 1		R5	38/38</a:t>
            </a:r>
          </a:p>
          <a:p>
            <a:pPr marL="0" indent="0">
              <a:buNone/>
            </a:pPr>
            <a:endParaRPr lang="fr-BE" sz="3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2094E8-031B-4A49-818C-85C78E2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5794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 Le droit additionnel: Exemple 1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899592" y="2670732"/>
            <a:ext cx="0" cy="21127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480496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– Cohabitant</a:t>
            </a:r>
          </a:p>
          <a:p>
            <a:pPr algn="ctr"/>
            <a:r>
              <a:rPr lang="fr-BE" sz="1400" b="1" dirty="0"/>
              <a:t>Né le 08.09.1997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-36512" y="233653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05.03.2018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37" name="ZoneTexte 36"/>
          <p:cNvSpPr txBox="1"/>
          <p:nvPr/>
        </p:nvSpPr>
        <p:spPr>
          <a:xfrm>
            <a:off x="3276861" y="1915459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04.03.2021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912824" y="3281285"/>
            <a:ext cx="316478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904762" y="3542422"/>
            <a:ext cx="122811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2143517" y="3279327"/>
            <a:ext cx="117602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C4 </a:t>
            </a:r>
          </a:p>
          <a:p>
            <a:pPr algn="ctr"/>
            <a:r>
              <a:rPr lang="fr-BE" b="1" i="1" dirty="0"/>
              <a:t>38/38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368842" y="3542422"/>
            <a:ext cx="70876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1229055" y="261124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01.04.2020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2546636" y="261124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29.11.2020</a:t>
            </a:r>
          </a:p>
        </p:txBody>
      </p:sp>
      <p:cxnSp>
        <p:nvCxnSpPr>
          <p:cNvPr id="59" name="Connecteur droit avec flèche 58"/>
          <p:cNvCxnSpPr/>
          <p:nvPr/>
        </p:nvCxnSpPr>
        <p:spPr>
          <a:xfrm flipV="1">
            <a:off x="4077610" y="2213511"/>
            <a:ext cx="0" cy="171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>
            <a:off x="4101743" y="2666958"/>
            <a:ext cx="0" cy="24204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3092930" y="5114395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05.03.2021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 Prolongation </a:t>
            </a:r>
            <a:r>
              <a:rPr lang="fr-BE" sz="1400" b="1" dirty="0"/>
              <a:t>?</a:t>
            </a:r>
          </a:p>
        </p:txBody>
      </p:sp>
      <p:cxnSp>
        <p:nvCxnSpPr>
          <p:cNvPr id="50" name="Connecteur droit avec flèche 49"/>
          <p:cNvCxnSpPr/>
          <p:nvPr/>
        </p:nvCxnSpPr>
        <p:spPr>
          <a:xfrm flipV="1">
            <a:off x="2151483" y="2941525"/>
            <a:ext cx="0" cy="9821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V="1">
            <a:off x="3359635" y="2941526"/>
            <a:ext cx="0" cy="991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30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7" grpId="0" animBg="1"/>
      <p:bldP spid="27" grpId="1" animBg="1"/>
      <p:bldP spid="34" grpId="0" animBg="1"/>
      <p:bldP spid="36" grpId="0" animBg="1"/>
      <p:bldP spid="40" grpId="0" animBg="1"/>
      <p:bldP spid="41" grpId="0"/>
      <p:bldP spid="46" grpId="0"/>
      <p:bldP spid="61" grpId="0"/>
      <p:bldP spid="6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84DE1-9795-4A8D-B0F9-DE31E44D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Le droit additionnel: Exemple 2 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EAD7A7-BF7B-4878-9E1F-68024F070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dirty="0"/>
              <a:t>Un affilié né le 16.02.1997 a introduit une 1</a:t>
            </a:r>
            <a:r>
              <a:rPr lang="fr-BE" baseline="30000" dirty="0"/>
              <a:t>ère</a:t>
            </a:r>
            <a:r>
              <a:rPr lang="fr-BE" dirty="0"/>
              <a:t> demande  d’allocation d’insertion en date du 28.06.2018. Il a été indemnisé en tant que cohabitant WB3 jusqu’au 27.06.2021 inclus.</a:t>
            </a:r>
          </a:p>
          <a:p>
            <a:pPr marL="0" indent="0">
              <a:buNone/>
            </a:pPr>
            <a:r>
              <a:rPr lang="fr-BE" dirty="0"/>
              <a:t>Durant sont droit de base WB3 l’intéressé a été occupé à différentes périodes en intérim dont les données sont les suivantes :</a:t>
            </a:r>
          </a:p>
          <a:p>
            <a:pPr marL="0" indent="0">
              <a:buNone/>
            </a:pPr>
            <a:endParaRPr lang="fr-BE" sz="1500" dirty="0"/>
          </a:p>
          <a:p>
            <a:pPr marL="0" indent="0">
              <a:buNone/>
            </a:pPr>
            <a:r>
              <a:rPr lang="fr-BE" sz="2600" dirty="0" err="1"/>
              <a:t>Dmfa</a:t>
            </a:r>
            <a:r>
              <a:rPr lang="fr-BE" sz="26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2/2019	12j 	code 1		R5 	38/38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3/2020	29j	code 1		R5	38/38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1/2021	12j	code 1		R5	38/38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2094E8-031B-4A49-818C-85C78E2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5325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 Le droit additionnel: Exemple 2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1349" y="1157216"/>
            <a:ext cx="0" cy="462817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1229809" y="2841247"/>
            <a:ext cx="2520280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133110" y="2021157"/>
            <a:ext cx="118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27.06.2021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3749332" y="2330782"/>
            <a:ext cx="0" cy="115679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V="1">
            <a:off x="1228296" y="2302341"/>
            <a:ext cx="0" cy="1168961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690734" y="2023540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28.06.2018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82928" y="3179801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03210" y="5827830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28.06.2018</a:t>
            </a:r>
          </a:p>
          <a:p>
            <a:pPr algn="ctr"/>
            <a:r>
              <a:rPr lang="fr-BE" sz="1400" b="1" dirty="0"/>
              <a:t>Né le 16.02.1997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1232504" y="2849983"/>
            <a:ext cx="834932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b="1" i="1" dirty="0"/>
          </a:p>
          <a:p>
            <a:pPr algn="ctr"/>
            <a:endParaRPr lang="fr-BE" b="1" i="1" dirty="0"/>
          </a:p>
        </p:txBody>
      </p:sp>
      <p:sp>
        <p:nvSpPr>
          <p:cNvPr id="49" name="ZoneTexte 48"/>
          <p:cNvSpPr txBox="1"/>
          <p:nvPr/>
        </p:nvSpPr>
        <p:spPr>
          <a:xfrm>
            <a:off x="2306801" y="2843197"/>
            <a:ext cx="355313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b="1" i="1" dirty="0"/>
          </a:p>
          <a:p>
            <a:pPr algn="ctr"/>
            <a:endParaRPr lang="fr-BE" b="1" i="1" dirty="0"/>
          </a:p>
        </p:txBody>
      </p:sp>
      <p:sp>
        <p:nvSpPr>
          <p:cNvPr id="50" name="ZoneTexte 49"/>
          <p:cNvSpPr txBox="1"/>
          <p:nvPr/>
        </p:nvSpPr>
        <p:spPr>
          <a:xfrm>
            <a:off x="2072577" y="2844001"/>
            <a:ext cx="227549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b="1" i="1" dirty="0"/>
          </a:p>
          <a:p>
            <a:pPr algn="ctr"/>
            <a:endParaRPr lang="fr-BE" b="1" i="1" dirty="0"/>
          </a:p>
        </p:txBody>
      </p:sp>
      <p:sp>
        <p:nvSpPr>
          <p:cNvPr id="75" name="ZoneTexte 74"/>
          <p:cNvSpPr txBox="1"/>
          <p:nvPr/>
        </p:nvSpPr>
        <p:spPr>
          <a:xfrm>
            <a:off x="2999602" y="2849983"/>
            <a:ext cx="221339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b="1" i="1" dirty="0"/>
          </a:p>
          <a:p>
            <a:pPr algn="ctr"/>
            <a:endParaRPr lang="fr-BE" b="1" i="1" dirty="0"/>
          </a:p>
        </p:txBody>
      </p:sp>
      <p:sp>
        <p:nvSpPr>
          <p:cNvPr id="74" name="ZoneTexte 73"/>
          <p:cNvSpPr txBox="1"/>
          <p:nvPr/>
        </p:nvSpPr>
        <p:spPr>
          <a:xfrm>
            <a:off x="2666449" y="2844734"/>
            <a:ext cx="332996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b="1" i="1" dirty="0"/>
          </a:p>
          <a:p>
            <a:pPr algn="ctr"/>
            <a:endParaRPr lang="fr-BE" b="1" i="1" dirty="0"/>
          </a:p>
        </p:txBody>
      </p:sp>
      <p:sp>
        <p:nvSpPr>
          <p:cNvPr id="77" name="ZoneTexte 76"/>
          <p:cNvSpPr txBox="1"/>
          <p:nvPr/>
        </p:nvSpPr>
        <p:spPr>
          <a:xfrm>
            <a:off x="3454710" y="2841245"/>
            <a:ext cx="294307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b="1" i="1" dirty="0"/>
          </a:p>
          <a:p>
            <a:pPr algn="ctr"/>
            <a:endParaRPr lang="fr-BE" b="1" i="1" dirty="0"/>
          </a:p>
        </p:txBody>
      </p:sp>
      <p:sp>
        <p:nvSpPr>
          <p:cNvPr id="79" name="Accolade ouvrante 78"/>
          <p:cNvSpPr/>
          <p:nvPr/>
        </p:nvSpPr>
        <p:spPr>
          <a:xfrm rot="16200000">
            <a:off x="2391419" y="2339017"/>
            <a:ext cx="197063" cy="2508787"/>
          </a:xfrm>
          <a:prstGeom prst="leftBrace">
            <a:avLst>
              <a:gd name="adj1" fmla="val 8333"/>
              <a:gd name="adj2" fmla="val 50578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prstClr val="black"/>
              </a:solidFill>
            </a:endParaRPr>
          </a:p>
        </p:txBody>
      </p:sp>
      <p:sp>
        <p:nvSpPr>
          <p:cNvPr id="76" name="ZoneTexte 75"/>
          <p:cNvSpPr txBox="1"/>
          <p:nvPr/>
        </p:nvSpPr>
        <p:spPr>
          <a:xfrm>
            <a:off x="3234062" y="2841246"/>
            <a:ext cx="227549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b="1" i="1" dirty="0"/>
          </a:p>
          <a:p>
            <a:pPr algn="ctr"/>
            <a:endParaRPr lang="fr-BE" b="1" i="1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41185" y="3497754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17644022-AA5B-4C61-BB4F-881CDD08E813}"/>
              </a:ext>
            </a:extLst>
          </p:cNvPr>
          <p:cNvCxnSpPr/>
          <p:nvPr/>
        </p:nvCxnSpPr>
        <p:spPr>
          <a:xfrm>
            <a:off x="3744345" y="2839854"/>
            <a:ext cx="0" cy="24204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A0B6F8A5-B0DE-45BD-8211-5C265D34C5A6}"/>
              </a:ext>
            </a:extLst>
          </p:cNvPr>
          <p:cNvSpPr txBox="1"/>
          <p:nvPr/>
        </p:nvSpPr>
        <p:spPr>
          <a:xfrm>
            <a:off x="2821249" y="525478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28.06.2021</a:t>
            </a:r>
          </a:p>
          <a:p>
            <a:pPr algn="ctr"/>
            <a:r>
              <a:rPr lang="fr-BE" sz="1400" b="1" dirty="0">
                <a:sym typeface="Wingdings" panose="05000000000000000000" pitchFamily="2" charset="2"/>
              </a:rPr>
              <a:t> Prolongation </a:t>
            </a:r>
            <a:r>
              <a:rPr lang="fr-BE" sz="1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79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30" grpId="0"/>
      <p:bldP spid="43" grpId="0"/>
      <p:bldP spid="46" grpId="0"/>
      <p:bldP spid="48" grpId="0" animBg="1"/>
      <p:bldP spid="49" grpId="0" animBg="1"/>
      <p:bldP spid="50" grpId="0" animBg="1"/>
      <p:bldP spid="75" grpId="0" animBg="1"/>
      <p:bldP spid="74" grpId="0" animBg="1"/>
      <p:bldP spid="77" grpId="0" animBg="1"/>
      <p:bldP spid="79" grpId="0" animBg="1"/>
      <p:bldP spid="76" grpId="0" animBg="1"/>
      <p:bldP spid="65" grpId="0"/>
      <p:bldP spid="6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84DE1-9795-4A8D-B0F9-DE31E44D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Le droit additionnel: Exemple 2 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EAD7A7-BF7B-4878-9E1F-68024F070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L’intéressé vient nous retrouver le 20.04.2022 avec un C4 suite à un CDD du 10.12.2021 au 17.04.2022 inclus.</a:t>
            </a:r>
          </a:p>
          <a:p>
            <a:pPr marL="0" indent="0">
              <a:buNone/>
            </a:pPr>
            <a:r>
              <a:rPr lang="fr-BE" dirty="0"/>
              <a:t>Pour cette occupation, les données </a:t>
            </a:r>
            <a:r>
              <a:rPr lang="fr-BE" dirty="0" err="1"/>
              <a:t>Dmfa</a:t>
            </a:r>
            <a:r>
              <a:rPr lang="fr-BE" dirty="0"/>
              <a:t> sont les suivantes :</a:t>
            </a:r>
          </a:p>
          <a:p>
            <a:pPr marL="0" indent="0">
              <a:buNone/>
            </a:pPr>
            <a:endParaRPr lang="fr-BE" sz="1500" dirty="0"/>
          </a:p>
          <a:p>
            <a:pPr marL="0" indent="0">
              <a:buNone/>
            </a:pPr>
            <a:r>
              <a:rPr lang="fr-BE" sz="2600" dirty="0" err="1"/>
              <a:t>Dmfa</a:t>
            </a:r>
            <a:r>
              <a:rPr lang="fr-BE" sz="2600" dirty="0"/>
              <a:t>:</a:t>
            </a:r>
            <a:endParaRPr lang="fr-BE" sz="23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4/2021	15j 	code 1		R5 	38/38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1/2022	65j	code 1		R5	38/38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300" dirty="0"/>
              <a:t>2/2022	11j	code 1		R5	38/38</a:t>
            </a:r>
          </a:p>
          <a:p>
            <a:pPr marL="0" indent="0">
              <a:buNone/>
            </a:pPr>
            <a:endParaRPr lang="fr-BE" sz="3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2094E8-031B-4A49-818C-85C78E2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9268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1A1870-F5F7-427B-B413-1DB7A822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Le droit additionnel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7526C8-387F-4EA1-8466-01725D44C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700" dirty="0"/>
              <a:t>Le droit additionnel n’est </a:t>
            </a:r>
            <a:r>
              <a:rPr lang="fr-BE" sz="3700" b="1" dirty="0"/>
              <a:t>pas automatique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Introduction d’une DA </a:t>
            </a:r>
            <a:r>
              <a:rPr lang="fr-BE" sz="3400" dirty="0"/>
              <a:t>au moyen d’un C4, C6, C109 + A820, annexe certificat de travail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Codes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WA4</a:t>
            </a:r>
            <a:r>
              <a:rPr lang="fr-BE" sz="3400" dirty="0"/>
              <a:t>,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WN4</a:t>
            </a:r>
            <a:r>
              <a:rPr lang="fr-BE" sz="3400" dirty="0"/>
              <a:t>,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WB4</a:t>
            </a:r>
            <a:r>
              <a:rPr lang="fr-BE" sz="3400" dirty="0"/>
              <a:t> ou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WP4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700" dirty="0"/>
              <a:t>Chaque nouvelle demande de droit additionnel requiert l’introduction d’une DA </a:t>
            </a:r>
            <a:r>
              <a:rPr lang="fr-BE" sz="3100" dirty="0"/>
              <a:t>(même si interruption &lt; 28 jours)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700" dirty="0"/>
              <a:t>La date de DA se situe </a:t>
            </a:r>
            <a:r>
              <a:rPr lang="fr-BE" sz="3700" b="1" dirty="0"/>
              <a:t>au plus tôt le jour qui suit le jour où le </a:t>
            </a:r>
            <a:r>
              <a:rPr lang="fr-BE" sz="3700" b="1" dirty="0">
                <a:solidFill>
                  <a:schemeClr val="accent2">
                    <a:lumMod val="75000"/>
                  </a:schemeClr>
                </a:solidFill>
              </a:rPr>
              <a:t>droit est entièrement épuisé</a:t>
            </a:r>
            <a:r>
              <a:rPr lang="fr-BE" sz="37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700" dirty="0"/>
              <a:t>(après épuisement du droit de base, prolongation et élargissement du droit)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600" dirty="0"/>
              <a:t>Les règles ordinaires en matière de </a:t>
            </a:r>
            <a:r>
              <a:rPr lang="fr-BE" sz="3600" b="1" dirty="0"/>
              <a:t>délai </a:t>
            </a:r>
            <a:r>
              <a:rPr lang="fr-BE" sz="3600" dirty="0"/>
              <a:t>d’introduction sont d’application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2C04AC-4748-4F26-9AE0-8BEF5FA1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953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00333F-B4C7-4388-8ED1-CEDA6095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5. L’allocation de sauvegarde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688B7-A3E7-4E40-B33F-0F8D4986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Qui peut y prétendre ?</a:t>
            </a:r>
          </a:p>
          <a:p>
            <a:pPr marL="0" indent="0">
              <a:buNone/>
            </a:pPr>
            <a:r>
              <a:rPr lang="fr-BE" dirty="0"/>
              <a:t>Le chômeur qui,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au plus tard au moment où son droit aux allocations d’insertion expire </a:t>
            </a:r>
            <a:r>
              <a:rPr lang="fr-BE" sz="2400" dirty="0"/>
              <a:t>(veille du 79/)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a été reconnu comme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demandeur d’emploi non mobilisable</a:t>
            </a:r>
            <a:r>
              <a:rPr lang="fr-BE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se trouve toujours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dans la période de reconnaissance </a:t>
            </a:r>
            <a:r>
              <a:rPr lang="fr-BE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n’a pas fait l’objet d’une décision du SRE à la suite d’un défaut de collaboration positive aux actions d’accompagnement adaptées qui lui sont proposées.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</a:rPr>
              <a:t>Montant </a:t>
            </a:r>
            <a:r>
              <a:rPr lang="fr-BE" b="1" dirty="0">
                <a:solidFill>
                  <a:srgbClr val="C0504D">
                    <a:lumMod val="75000"/>
                  </a:srgbClr>
                </a:solidFill>
              </a:rPr>
              <a:t>=</a:t>
            </a:r>
            <a:r>
              <a:rPr lang="fr-BE" dirty="0">
                <a:solidFill>
                  <a:prstClr val="black"/>
                </a:solidFill>
              </a:rPr>
              <a:t> montant de l’allocation d’insertion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89515D-E076-46FA-8AFC-04AEBC2C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14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911DF4-24F9-432D-8486-082989E6EE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5B4FBC-4403-4A5F-B1BF-57FD8EF30658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1b85f46-8f47-4c7a-8346-9752567dac4a"/>
    <ds:schemaRef ds:uri="http://purl.org/dc/dcmitype/"/>
    <ds:schemaRef ds:uri="badce1e3-4228-484a-9cea-a1abab477a44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5FD48B-0C16-478C-BA43-4F86CFF874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13080</TotalTime>
  <Words>1923</Words>
  <Application>Microsoft Office PowerPoint</Application>
  <PresentationFormat>Affichage à l'écran (4:3)</PresentationFormat>
  <Paragraphs>344</Paragraphs>
  <Slides>28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Thème Office</vt:lpstr>
      <vt:lpstr>  Limitation des allocations d’insertion dans le temps.        </vt:lpstr>
      <vt:lpstr>Table des matières</vt:lpstr>
      <vt:lpstr>1. Le droit de base: Rappel</vt:lpstr>
      <vt:lpstr>1. Le droit de base: Rappel</vt:lpstr>
      <vt:lpstr>1. Le droit de base: Particularité</vt:lpstr>
      <vt:lpstr>2. Prolongation du droit de base</vt:lpstr>
      <vt:lpstr>2. Prolongation du droit de base</vt:lpstr>
      <vt:lpstr>2. Prolongation du droit de base</vt:lpstr>
      <vt:lpstr>2. Prolongation du droit de base</vt:lpstr>
      <vt:lpstr>2. Prolongation du droit de base </vt:lpstr>
      <vt:lpstr>2. Prolongation du droit de base: Exemple 1</vt:lpstr>
      <vt:lpstr>2. Prolongation du droit de base:  Exemple 2 </vt:lpstr>
      <vt:lpstr>3. L’élargissement du droit de base</vt:lpstr>
      <vt:lpstr>3. L’élargissement du droit de base</vt:lpstr>
      <vt:lpstr>3. L’élargissement du droit de base: Exemple 1 </vt:lpstr>
      <vt:lpstr>3. L’élargissement du droit de base: Exemple 2 </vt:lpstr>
      <vt:lpstr>3. L’élargissement du droit de base</vt:lpstr>
      <vt:lpstr>3. L’élargissement du droit de base: Exemple 3</vt:lpstr>
      <vt:lpstr>4. Le droit additionnel</vt:lpstr>
      <vt:lpstr>4. Le droit additionnel</vt:lpstr>
      <vt:lpstr>4. Le droit additionnel</vt:lpstr>
      <vt:lpstr>4. Le droit additionnel: Exemple 1 </vt:lpstr>
      <vt:lpstr>4. Le droit additionnel: Exemple 1 </vt:lpstr>
      <vt:lpstr>4. Le droit additionnel: Exemple 2 </vt:lpstr>
      <vt:lpstr>4. Le droit additionnel: Exemple 2</vt:lpstr>
      <vt:lpstr>4. Le droit additionnel: Exemple 2 </vt:lpstr>
      <vt:lpstr>4. Le droit additionnel</vt:lpstr>
      <vt:lpstr>5. L’allocation de sauvegarde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FCJ-M32-Limitation des allocations d'insertion dans le temps-Participants</dc:title>
  <dc:creator>u99lge</dc:creator>
  <cp:lastModifiedBy>Anja Sobkowiak</cp:lastModifiedBy>
  <cp:revision>798</cp:revision>
  <cp:lastPrinted>2016-12-07T13:53:59Z</cp:lastPrinted>
  <dcterms:created xsi:type="dcterms:W3CDTF">2010-09-22T12:12:06Z</dcterms:created>
  <dcterms:modified xsi:type="dcterms:W3CDTF">2022-11-17T08:09:51Z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66;#Limitation des allocations d'insertion|af449d31-a70c-48cb-afb6-f275cfc8dc62</vt:lpwstr>
  </property>
  <property fmtid="{D5CDD505-2E9C-101B-9397-08002B2CF9AE}" pid="8" name="Order">
    <vt:r8>159900</vt:r8>
  </property>
  <property fmtid="{D5CDD505-2E9C-101B-9397-08002B2CF9AE}" pid="9" name="_dlc_DocIdItemGuid">
    <vt:lpwstr>3ac61f05-8072-41b5-8d29-2e9c59687f55</vt:lpwstr>
  </property>
  <property fmtid="{D5CDD505-2E9C-101B-9397-08002B2CF9AE}" pid="10" name="AuthorIds_UIVersion_1024">
    <vt:lpwstr>18</vt:lpwstr>
  </property>
  <property fmtid="{D5CDD505-2E9C-101B-9397-08002B2CF9AE}" pid="11" name="AuthorIds_UIVersion_1536">
    <vt:lpwstr>18</vt:lpwstr>
  </property>
  <property fmtid="{D5CDD505-2E9C-101B-9397-08002B2CF9AE}" pid="12" name="AuthorIds_UIVersion_2048">
    <vt:lpwstr>21</vt:lpwstr>
  </property>
</Properties>
</file>