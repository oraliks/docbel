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322" r:id="rId5"/>
    <p:sldId id="560" r:id="rId6"/>
    <p:sldId id="831" r:id="rId7"/>
    <p:sldId id="535" r:id="rId8"/>
    <p:sldId id="289" r:id="rId9"/>
    <p:sldId id="291" r:id="rId10"/>
    <p:sldId id="292" r:id="rId11"/>
    <p:sldId id="293" r:id="rId12"/>
    <p:sldId id="540" r:id="rId13"/>
    <p:sldId id="327" r:id="rId14"/>
    <p:sldId id="542" r:id="rId15"/>
    <p:sldId id="544" r:id="rId16"/>
    <p:sldId id="356" r:id="rId17"/>
    <p:sldId id="545" r:id="rId18"/>
    <p:sldId id="546" r:id="rId19"/>
    <p:sldId id="547" r:id="rId20"/>
    <p:sldId id="548" r:id="rId21"/>
    <p:sldId id="549" r:id="rId22"/>
    <p:sldId id="552" r:id="rId23"/>
    <p:sldId id="554" r:id="rId24"/>
    <p:sldId id="550" r:id="rId25"/>
    <p:sldId id="555" r:id="rId26"/>
    <p:sldId id="556" r:id="rId27"/>
    <p:sldId id="519" r:id="rId28"/>
    <p:sldId id="559" r:id="rId29"/>
    <p:sldId id="557" r:id="rId30"/>
    <p:sldId id="832" r:id="rId31"/>
    <p:sldId id="833" r:id="rId32"/>
    <p:sldId id="553" r:id="rId33"/>
  </p:sldIdLst>
  <p:sldSz cx="9144000" cy="6858000" type="screen4x3"/>
  <p:notesSz cx="6669088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ADD7"/>
    <a:srgbClr val="008000"/>
    <a:srgbClr val="669900"/>
    <a:srgbClr val="FF9933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7" autoAdjust="0"/>
    <p:restoredTop sz="92617" autoAdjust="0"/>
  </p:normalViewPr>
  <p:slideViewPr>
    <p:cSldViewPr>
      <p:cViewPr varScale="1">
        <p:scale>
          <a:sx n="79" d="100"/>
          <a:sy n="79" d="100"/>
        </p:scale>
        <p:origin x="1277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501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a Sobkowiak" userId="7f76af53-32f2-4907-b707-590db301fc0c" providerId="ADAL" clId="{751DAD60-06B5-4396-99B9-403F6ECD0AD1}"/>
    <pc:docChg chg="undo custSel modSld">
      <pc:chgData name="Anja Sobkowiak" userId="7f76af53-32f2-4907-b707-590db301fc0c" providerId="ADAL" clId="{751DAD60-06B5-4396-99B9-403F6ECD0AD1}" dt="2023-01-07T19:08:02.824" v="5" actId="1076"/>
      <pc:docMkLst>
        <pc:docMk/>
      </pc:docMkLst>
      <pc:sldChg chg="modSp mod">
        <pc:chgData name="Anja Sobkowiak" userId="7f76af53-32f2-4907-b707-590db301fc0c" providerId="ADAL" clId="{751DAD60-06B5-4396-99B9-403F6ECD0AD1}" dt="2023-01-07T19:08:02.824" v="5" actId="1076"/>
        <pc:sldMkLst>
          <pc:docMk/>
          <pc:sldMk cId="41591533" sldId="550"/>
        </pc:sldMkLst>
        <pc:spChg chg="mod">
          <ac:chgData name="Anja Sobkowiak" userId="7f76af53-32f2-4907-b707-590db301fc0c" providerId="ADAL" clId="{751DAD60-06B5-4396-99B9-403F6ECD0AD1}" dt="2023-01-07T19:08:00.299" v="4" actId="1076"/>
          <ac:spMkLst>
            <pc:docMk/>
            <pc:sldMk cId="41591533" sldId="550"/>
            <ac:spMk id="2" creationId="{00000000-0000-0000-0000-000000000000}"/>
          </ac:spMkLst>
        </pc:spChg>
        <pc:spChg chg="mod">
          <ac:chgData name="Anja Sobkowiak" userId="7f76af53-32f2-4907-b707-590db301fc0c" providerId="ADAL" clId="{751DAD60-06B5-4396-99B9-403F6ECD0AD1}" dt="2023-01-07T19:07:51.977" v="0" actId="1076"/>
          <ac:spMkLst>
            <pc:docMk/>
            <pc:sldMk cId="41591533" sldId="550"/>
            <ac:spMk id="4" creationId="{00000000-0000-0000-0000-000000000000}"/>
          </ac:spMkLst>
        </pc:spChg>
        <pc:spChg chg="mod">
          <ac:chgData name="Anja Sobkowiak" userId="7f76af53-32f2-4907-b707-590db301fc0c" providerId="ADAL" clId="{751DAD60-06B5-4396-99B9-403F6ECD0AD1}" dt="2023-01-07T19:08:02.824" v="5" actId="1076"/>
          <ac:spMkLst>
            <pc:docMk/>
            <pc:sldMk cId="41591533" sldId="550"/>
            <ac:spMk id="5" creationId="{00000000-0000-0000-0000-000000000000}"/>
          </ac:spMkLst>
        </pc:spChg>
        <pc:spChg chg="mod">
          <ac:chgData name="Anja Sobkowiak" userId="7f76af53-32f2-4907-b707-590db301fc0c" providerId="ADAL" clId="{751DAD60-06B5-4396-99B9-403F6ECD0AD1}" dt="2023-01-07T19:07:56.361" v="2" actId="1076"/>
          <ac:spMkLst>
            <pc:docMk/>
            <pc:sldMk cId="41591533" sldId="550"/>
            <ac:spMk id="1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377316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377316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0638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6775" y="739775"/>
            <a:ext cx="4935538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689518"/>
            <a:ext cx="5335270" cy="4442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377316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377316"/>
            <a:ext cx="2889938" cy="4936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180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905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6478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777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8149"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283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18149">
              <a:defRPr/>
            </a:pPr>
            <a:endParaRPr lang="fr-BE" baseline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7914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008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7731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912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4707-722F-4A60-9660-96DE0BD69967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C7C1-4123-4C24-970B-DF08A948B31A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4349-2926-4739-B2B4-B0A22C79AD76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A9A2-D604-4289-935B-9578668F5708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17A7-122D-4D2C-981C-2563884CC80D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4D67-A364-4951-A604-4FB7C704199C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B0018-CA76-4639-9B9A-2AF7193C4869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B98-594B-4234-8183-CBD2456B9B9F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778DC-9C57-4CFF-828C-427A77C042C6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243E-C9CA-4284-A135-5AD0E7301BAF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C91F-E0F1-4223-AF77-52AB0CC9E474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re. Texte et image de la bibliothè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'image de la bibliothèque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fr-FR" noProof="0" dirty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4B1BA-7BD6-402B-AD3C-BC5D389A5CB0}" type="datetime1">
              <a:rPr lang="en-GB"/>
              <a:pPr>
                <a:defRPr/>
              </a:pPr>
              <a:t>07/01/2023</a:t>
            </a:fld>
            <a:endParaRPr lang="en-US" dirty="0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00416-C2B2-430D-937F-8C5FF4E07EE9}" type="slidenum">
              <a:rPr lang="en-US"/>
              <a:pPr>
                <a:defRPr/>
              </a:pPr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19711-FEBE-4F6F-8DA5-FF72666C7073}" type="datetime1">
              <a:rPr lang="fr-FR" smtClean="0"/>
              <a:pPr/>
              <a:t>07/01/2023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>
          <a:xfrm>
            <a:off x="323528" y="1571612"/>
            <a:ext cx="8363272" cy="2786083"/>
          </a:xfrm>
        </p:spPr>
        <p:txBody>
          <a:bodyPr>
            <a:noAutofit/>
          </a:bodyPr>
          <a:lstStyle/>
          <a:p>
            <a:r>
              <a:rPr lang="fr-BE" sz="5000" b="1" i="1" dirty="0"/>
              <a:t>Admission sur base des études</a:t>
            </a:r>
            <a:br>
              <a:rPr lang="fr-BE" sz="5000" b="1" i="1" dirty="0"/>
            </a:br>
            <a:r>
              <a:rPr lang="fr-BE" b="1" i="1" dirty="0"/>
              <a:t>(Niveau 2)</a:t>
            </a:r>
            <a:endParaRPr lang="fr-FR" dirty="0"/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>
          <a:xfrm>
            <a:off x="1043608" y="4572008"/>
            <a:ext cx="6728792" cy="106679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fr-BE" sz="3600" b="1" dirty="0">
                <a:solidFill>
                  <a:srgbClr val="C00000"/>
                </a:solidFill>
              </a:rPr>
              <a:t>Art. 36 </a:t>
            </a:r>
            <a:r>
              <a:rPr lang="fr-BE" sz="3600" b="1" dirty="0">
                <a:solidFill>
                  <a:schemeClr val="tx1"/>
                </a:solidFill>
              </a:rPr>
              <a:t>de l’</a:t>
            </a:r>
            <a:r>
              <a:rPr lang="fr-BE" sz="3600" b="1" dirty="0">
                <a:solidFill>
                  <a:srgbClr val="C00000"/>
                </a:solidFill>
              </a:rPr>
              <a:t>AR </a:t>
            </a:r>
            <a:r>
              <a:rPr lang="fr-BE" sz="3600" b="1" dirty="0">
                <a:solidFill>
                  <a:schemeClr val="tx1"/>
                </a:solidFill>
              </a:rPr>
              <a:t>du 25.11.1991 </a:t>
            </a:r>
            <a:endParaRPr lang="fr-FR" sz="3600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83568" y="613394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FLT – Version du 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27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.10.2022</a:t>
            </a:r>
          </a:p>
        </p:txBody>
      </p:sp>
    </p:spTree>
    <p:extLst>
      <p:ext uri="{BB962C8B-B14F-4D97-AF65-F5344CB8AC3E}">
        <p14:creationId xmlns:p14="http://schemas.microsoft.com/office/powerpoint/2010/main" val="284839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dirty="0">
                <a:solidFill>
                  <a:srgbClr val="C00000"/>
                </a:solidFill>
              </a:rPr>
              <a:t>Table des matières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1624012"/>
            <a:ext cx="8229600" cy="4525963"/>
          </a:xfrm>
        </p:spPr>
        <p:txBody>
          <a:bodyPr>
            <a:noAutofit/>
          </a:bodyPr>
          <a:lstStyle/>
          <a:p>
            <a:pPr marL="457200" indent="-457200">
              <a:spcBef>
                <a:spcPts val="600"/>
              </a:spcBef>
              <a:buAutoNum type="arabicPeriod"/>
            </a:pPr>
            <a:r>
              <a:rPr lang="fr-BE" sz="2400" dirty="0"/>
              <a:t>Rappel des conditions d’admissibilité			</a:t>
            </a:r>
            <a:r>
              <a:rPr lang="fr-BE" sz="1800" dirty="0" err="1"/>
              <a:t>pg</a:t>
            </a:r>
            <a:r>
              <a:rPr lang="fr-BE" sz="1800" dirty="0"/>
              <a:t>. 4</a:t>
            </a: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2. Admissibilité sur base d’études à l’étranger		</a:t>
            </a:r>
            <a:r>
              <a:rPr lang="fr-BE" sz="1800" dirty="0" err="1"/>
              <a:t>pg</a:t>
            </a:r>
            <a:r>
              <a:rPr lang="fr-BE" sz="1800" dirty="0"/>
              <a:t>. 5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	</a:t>
            </a:r>
            <a:r>
              <a:rPr lang="fr-BE" sz="2000" dirty="0"/>
              <a:t>2.1. Etudes à l’étranger					</a:t>
            </a:r>
            <a:r>
              <a:rPr lang="fr-BE" sz="1800" dirty="0" err="1"/>
              <a:t>pg</a:t>
            </a:r>
            <a:r>
              <a:rPr lang="fr-BE" sz="1800" dirty="0"/>
              <a:t>. 6</a:t>
            </a: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2.2. Travailleur migrant					</a:t>
            </a:r>
            <a:r>
              <a:rPr lang="fr-BE" sz="1800" dirty="0" err="1"/>
              <a:t>pg</a:t>
            </a:r>
            <a:r>
              <a:rPr lang="fr-BE" sz="1800" dirty="0"/>
              <a:t>. 7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</a:rPr>
              <a:t>3. </a:t>
            </a:r>
            <a:r>
              <a:rPr lang="fr-BE" sz="2400" dirty="0">
                <a:solidFill>
                  <a:prstClr val="black"/>
                </a:solidFill>
                <a:cs typeface="Calibri Light" panose="020F0302020204030204" pitchFamily="34" charset="0"/>
              </a:rPr>
              <a:t>Évènements impactant la durée du SIP	</a:t>
            </a:r>
            <a:r>
              <a:rPr lang="fr-BE" sz="2400" dirty="0">
                <a:solidFill>
                  <a:prstClr val="black"/>
                </a:solidFill>
              </a:rPr>
              <a:t>		</a:t>
            </a:r>
            <a:r>
              <a:rPr lang="fr-BE" sz="1800" dirty="0" err="1">
                <a:solidFill>
                  <a:prstClr val="black"/>
                </a:solidFill>
              </a:rPr>
              <a:t>pg</a:t>
            </a:r>
            <a:r>
              <a:rPr lang="fr-BE" sz="1800" dirty="0">
                <a:solidFill>
                  <a:prstClr val="black"/>
                </a:solidFill>
              </a:rPr>
              <a:t>. 9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fr-BE" sz="1800" dirty="0">
                <a:solidFill>
                  <a:prstClr val="black"/>
                </a:solidFill>
              </a:rPr>
              <a:t>	</a:t>
            </a:r>
            <a:r>
              <a:rPr lang="fr-BE" sz="2000" dirty="0">
                <a:solidFill>
                  <a:prstClr val="black"/>
                </a:solidFill>
              </a:rPr>
              <a:t>3.1. Rappel SIP						</a:t>
            </a:r>
            <a:r>
              <a:rPr lang="fr-BE" sz="1800" dirty="0" err="1">
                <a:solidFill>
                  <a:prstClr val="black"/>
                </a:solidFill>
              </a:rPr>
              <a:t>pg</a:t>
            </a:r>
            <a:r>
              <a:rPr lang="fr-BE" sz="1800" dirty="0">
                <a:solidFill>
                  <a:prstClr val="black"/>
                </a:solidFill>
              </a:rPr>
              <a:t>. 10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>
                <a:solidFill>
                  <a:prstClr val="black"/>
                </a:solidFill>
              </a:rPr>
              <a:t>	3.2. </a:t>
            </a:r>
            <a:r>
              <a:rPr lang="fr-BE" sz="2000" dirty="0">
                <a:cs typeface="Times New Roman" pitchFamily="18" charset="0"/>
              </a:rPr>
              <a:t>Principaux jours pris en considération pour le SIP </a:t>
            </a:r>
            <a:r>
              <a:rPr lang="fr-BE" sz="2000" dirty="0">
                <a:solidFill>
                  <a:prstClr val="black"/>
                </a:solidFill>
              </a:rPr>
              <a:t>	</a:t>
            </a:r>
            <a:r>
              <a:rPr lang="fr-BE" sz="1800" dirty="0" err="1">
                <a:solidFill>
                  <a:prstClr val="black"/>
                </a:solidFill>
              </a:rPr>
              <a:t>pg</a:t>
            </a:r>
            <a:r>
              <a:rPr lang="fr-BE" sz="1800" dirty="0">
                <a:solidFill>
                  <a:prstClr val="black"/>
                </a:solidFill>
              </a:rPr>
              <a:t>. 11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>
                <a:solidFill>
                  <a:prstClr val="black"/>
                </a:solidFill>
              </a:rPr>
              <a:t>	3.3. </a:t>
            </a:r>
            <a:r>
              <a:rPr lang="fr-BE" sz="2000" dirty="0">
                <a:solidFill>
                  <a:prstClr val="black"/>
                </a:solidFill>
                <a:cs typeface="Times New Roman" pitchFamily="18" charset="0"/>
              </a:rPr>
              <a:t>J</a:t>
            </a:r>
            <a:r>
              <a:rPr lang="fr-BE" sz="2000" dirty="0">
                <a:cs typeface="Times New Roman" pitchFamily="18" charset="0"/>
              </a:rPr>
              <a:t>ours non pris en considération pour le SIP </a:t>
            </a:r>
            <a:r>
              <a:rPr lang="fr-BE" sz="2000" dirty="0">
                <a:solidFill>
                  <a:prstClr val="black"/>
                </a:solidFill>
              </a:rPr>
              <a:t>		</a:t>
            </a:r>
            <a:r>
              <a:rPr lang="fr-BE" sz="1800" dirty="0" err="1">
                <a:solidFill>
                  <a:prstClr val="black"/>
                </a:solidFill>
              </a:rPr>
              <a:t>pg</a:t>
            </a:r>
            <a:r>
              <a:rPr lang="fr-BE" sz="1800" dirty="0">
                <a:solidFill>
                  <a:prstClr val="black"/>
                </a:solidFill>
              </a:rPr>
              <a:t>. 12</a:t>
            </a: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3.4.  Incidence des études 	sur le SIP			</a:t>
            </a:r>
            <a:r>
              <a:rPr lang="fr-BE" sz="1800" dirty="0" err="1"/>
              <a:t>pg</a:t>
            </a:r>
            <a:r>
              <a:rPr lang="fr-BE" sz="1800" dirty="0"/>
              <a:t>. 13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>
                <a:solidFill>
                  <a:prstClr val="black"/>
                </a:solidFill>
              </a:rPr>
              <a:t>	3.4.  Incidence stage à l’étranger				</a:t>
            </a:r>
            <a:r>
              <a:rPr lang="fr-BE" sz="1800" dirty="0" err="1">
                <a:solidFill>
                  <a:prstClr val="black"/>
                </a:solidFill>
              </a:rPr>
              <a:t>pg</a:t>
            </a:r>
            <a:r>
              <a:rPr lang="fr-BE" sz="1800" dirty="0">
                <a:solidFill>
                  <a:prstClr val="black"/>
                </a:solidFill>
              </a:rPr>
              <a:t>. 18</a:t>
            </a: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endParaRPr lang="fr-BE" sz="1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8143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dirty="0">
                <a:solidFill>
                  <a:srgbClr val="C00000"/>
                </a:solidFill>
              </a:rPr>
              <a:t>Table des matières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1624012"/>
            <a:ext cx="822960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4. Dispo J: Procédure et influence des évaluations		</a:t>
            </a:r>
            <a:r>
              <a:rPr lang="fr-BE" sz="1800" dirty="0" err="1"/>
              <a:t>pg</a:t>
            </a:r>
            <a:r>
              <a:rPr lang="fr-BE" sz="1800" dirty="0"/>
              <a:t>. 19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	</a:t>
            </a:r>
            <a:r>
              <a:rPr lang="fr-BE" sz="2000" dirty="0"/>
              <a:t>4.1. Rappel						</a:t>
            </a:r>
            <a:r>
              <a:rPr lang="fr-BE" sz="1800" dirty="0" err="1"/>
              <a:t>pg</a:t>
            </a:r>
            <a:r>
              <a:rPr lang="fr-BE" sz="1800" dirty="0"/>
              <a:t>. 20</a:t>
            </a: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4.2. Aperçu procédure générale				</a:t>
            </a:r>
            <a:r>
              <a:rPr lang="fr-BE" sz="1800" dirty="0" err="1"/>
              <a:t>pg</a:t>
            </a:r>
            <a:r>
              <a:rPr lang="fr-BE" sz="1800" dirty="0"/>
              <a:t>. 21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>
                <a:solidFill>
                  <a:prstClr val="black"/>
                </a:solidFill>
              </a:rPr>
              <a:t>	4.3. Incidence évaluation négative				</a:t>
            </a:r>
            <a:r>
              <a:rPr lang="fr-BE" sz="1800" dirty="0" err="1">
                <a:solidFill>
                  <a:prstClr val="black"/>
                </a:solidFill>
              </a:rPr>
              <a:t>pg</a:t>
            </a:r>
            <a:r>
              <a:rPr lang="fr-BE" sz="1800" dirty="0">
                <a:solidFill>
                  <a:prstClr val="black"/>
                </a:solidFill>
              </a:rPr>
              <a:t>. 22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>
                <a:solidFill>
                  <a:prstClr val="black"/>
                </a:solidFill>
              </a:rPr>
              <a:t>	4.4. Evaluation positive d’office				</a:t>
            </a:r>
            <a:r>
              <a:rPr lang="fr-BE" sz="1800" dirty="0" err="1">
                <a:solidFill>
                  <a:prstClr val="black"/>
                </a:solidFill>
              </a:rPr>
              <a:t>pg</a:t>
            </a:r>
            <a:r>
              <a:rPr lang="fr-BE" sz="1800" dirty="0">
                <a:solidFill>
                  <a:prstClr val="black"/>
                </a:solidFill>
              </a:rPr>
              <a:t>. 26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</a:rPr>
              <a:t>5. Condition d’âge – Dérogation				</a:t>
            </a:r>
            <a:r>
              <a:rPr lang="fr-BE" sz="1800" dirty="0" err="1">
                <a:solidFill>
                  <a:prstClr val="black"/>
                </a:solidFill>
              </a:rPr>
              <a:t>pg</a:t>
            </a:r>
            <a:r>
              <a:rPr lang="fr-BE" sz="1800" dirty="0">
                <a:solidFill>
                  <a:prstClr val="black"/>
                </a:solidFill>
              </a:rPr>
              <a:t>. 27</a:t>
            </a:r>
            <a:endParaRPr lang="fr-BE" sz="2400" dirty="0"/>
          </a:p>
          <a:p>
            <a:pPr marL="0" lv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</a:rPr>
              <a:t>6. </a:t>
            </a:r>
            <a:r>
              <a:rPr lang="fr-BE" sz="2400" dirty="0">
                <a:solidFill>
                  <a:prstClr val="black"/>
                </a:solidFill>
                <a:cs typeface="Calibri Light" panose="020F0302020204030204" pitchFamily="34" charset="0"/>
              </a:rPr>
              <a:t>Allocation d’insertion majorée		</a:t>
            </a:r>
            <a:r>
              <a:rPr lang="fr-BE" sz="2400" dirty="0">
                <a:solidFill>
                  <a:prstClr val="black"/>
                </a:solidFill>
              </a:rPr>
              <a:t>		</a:t>
            </a:r>
            <a:r>
              <a:rPr lang="fr-BE" sz="1800" dirty="0" err="1">
                <a:solidFill>
                  <a:prstClr val="black"/>
                </a:solidFill>
              </a:rPr>
              <a:t>pg</a:t>
            </a:r>
            <a:r>
              <a:rPr lang="fr-BE" sz="1800" dirty="0">
                <a:solidFill>
                  <a:prstClr val="black"/>
                </a:solidFill>
              </a:rPr>
              <a:t>. 29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endParaRPr lang="fr-BE" sz="1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8880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5A379B-64D2-4A94-8B0A-D8FB6CD0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5375"/>
          </a:xfrm>
        </p:spPr>
        <p:txBody>
          <a:bodyPr>
            <a:normAutofit fontScale="90000"/>
          </a:bodyPr>
          <a:lstStyle/>
          <a:p>
            <a:pPr algn="r"/>
            <a:r>
              <a:rPr lang="fr-BE" sz="4000" b="1" dirty="0"/>
              <a:t>1. Rappel des conditions d’admissibilités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D781C7-1DCB-49C3-93AC-1F8E67276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SzPct val="80000"/>
              <a:buFont typeface="+mj-lt"/>
              <a:buAutoNum type="arabicPeriod"/>
            </a:pPr>
            <a:r>
              <a:rPr lang="fr-BE" dirty="0">
                <a:cs typeface="Times New Roman" pitchFamily="18" charset="0"/>
              </a:rPr>
              <a:t>Ne plus être soumis à l’obligation scolaire 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b="1" dirty="0">
                <a:cs typeface="Times New Roman" pitchFamily="18" charset="0"/>
              </a:rPr>
              <a:t>Avoir terminé des études ouvrant le droit :</a:t>
            </a:r>
          </a:p>
          <a:p>
            <a:pPr marL="914400" lvl="1" indent="-514350">
              <a:buSzPct val="80000"/>
              <a:buFont typeface="Wingdings" panose="05000000000000000000" pitchFamily="2" charset="2"/>
              <a:buChar char="Ø"/>
            </a:pP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Incidence des études effectuées à l’étranger ?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dirty="0">
                <a:cs typeface="Times New Roman" pitchFamily="18" charset="0"/>
              </a:rPr>
              <a:t>Condition de diplôme pour si moins de 21 ans à la D.A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dirty="0">
                <a:cs typeface="Times New Roman" pitchFamily="18" charset="0"/>
              </a:rPr>
              <a:t>Avoir mis fin aux études 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b="1" dirty="0">
                <a:cs typeface="Times New Roman" pitchFamily="18" charset="0"/>
              </a:rPr>
              <a:t>Avoir accompli un stage d’insertion professionnel</a:t>
            </a:r>
          </a:p>
          <a:p>
            <a:pPr marL="914400" lvl="1" indent="-514350">
              <a:buSzPct val="80000"/>
              <a:buFont typeface="Wingdings" panose="05000000000000000000" pitchFamily="2" charset="2"/>
              <a:buChar char="Ø"/>
            </a:pP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Évènements qui prolongent ou invalident le SIP ?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b="1" dirty="0">
                <a:cs typeface="Times New Roman" pitchFamily="18" charset="0"/>
              </a:rPr>
              <a:t>Avoir obtenu 2 évaluations DISPO J positives</a:t>
            </a:r>
          </a:p>
          <a:p>
            <a:pPr marL="914400" lvl="1" indent="-514350">
              <a:buSzPct val="80000"/>
              <a:buFont typeface="Wingdings" panose="05000000000000000000" pitchFamily="2" charset="2"/>
              <a:buChar char="Ø"/>
            </a:pP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Conséquences d’évaluation(s) négative(s) ?</a:t>
            </a:r>
          </a:p>
          <a:p>
            <a:pPr marL="514350" indent="-514350">
              <a:buSzPct val="80000"/>
              <a:buFont typeface="+mj-lt"/>
              <a:buAutoNum type="arabicPeriod"/>
            </a:pPr>
            <a:r>
              <a:rPr lang="fr-BE" b="1" dirty="0">
                <a:cs typeface="Times New Roman" pitchFamily="18" charset="0"/>
              </a:rPr>
              <a:t>Avoir moins de 25 ans à la date de la DA ;</a:t>
            </a:r>
          </a:p>
          <a:p>
            <a:pPr lvl="1">
              <a:buSzPct val="80000"/>
              <a:buFont typeface="Wingdings" panose="05000000000000000000" pitchFamily="2" charset="2"/>
              <a:buChar char="Ø"/>
            </a:pPr>
            <a:r>
              <a:rPr lang="fr-BE" b="1" dirty="0">
                <a:solidFill>
                  <a:srgbClr val="C00000"/>
                </a:solidFill>
                <a:cs typeface="Times New Roman" pitchFamily="18" charset="0"/>
              </a:rPr>
              <a:t>  Dérogation possible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8353E1-4852-4807-A0A3-7206A35D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614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dirty="0"/>
              <a:t>2. Admissibilité sur base d’études à l’étranger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62" y="1877772"/>
            <a:ext cx="60864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48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FR" b="1" i="1" dirty="0"/>
              <a:t>2.1. Etudes à l’étranger </a:t>
            </a:r>
            <a:endParaRPr lang="fr-BE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1556792"/>
            <a:ext cx="8640960" cy="470912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SzPct val="80000"/>
              <a:buFont typeface="Wingdings" pitchFamily="2" charset="2"/>
              <a:buChar char="v"/>
            </a:pPr>
            <a:r>
              <a:rPr lang="fr-BE" sz="2700" i="1" dirty="0">
                <a:cs typeface="Times New Roman" pitchFamily="18" charset="0"/>
              </a:rPr>
              <a:t>Avoir obtenu à l’étranger un diplôme équivalent :</a:t>
            </a:r>
          </a:p>
          <a:p>
            <a:pPr lvl="1">
              <a:lnSpc>
                <a:spcPct val="110000"/>
              </a:lnSpc>
              <a:buSzPct val="100000"/>
              <a:buFont typeface="Wingdings" pitchFamily="2" charset="2"/>
              <a:buChar char="§"/>
            </a:pPr>
            <a:r>
              <a:rPr lang="fr-BE" sz="2200" dirty="0">
                <a:cs typeface="Times New Roman" pitchFamily="18" charset="0"/>
              </a:rPr>
              <a:t>Soit avoir obtenu une attestation délivrée par une des communautés établissant que le diplôme est équivalent aux études ouvrant le droit ; </a:t>
            </a:r>
          </a:p>
          <a:p>
            <a:pPr lvl="1">
              <a:lnSpc>
                <a:spcPct val="110000"/>
              </a:lnSpc>
              <a:buSzPct val="100000"/>
              <a:buFont typeface="Wingdings" pitchFamily="2" charset="2"/>
              <a:buChar char="§"/>
            </a:pPr>
            <a:r>
              <a:rPr lang="fr-BE" sz="2200" dirty="0">
                <a:cs typeface="Times New Roman" pitchFamily="18" charset="0"/>
              </a:rPr>
              <a:t>Soit  avoir obtenu un titre d’accès à l’enseignement supérieur en Belgique;</a:t>
            </a:r>
          </a:p>
          <a:p>
            <a:pPr marL="457200" lvl="1" indent="0">
              <a:lnSpc>
                <a:spcPct val="110000"/>
              </a:lnSpc>
              <a:buSzPct val="100000"/>
              <a:buNone/>
            </a:pPr>
            <a:r>
              <a:rPr lang="fr-BE" sz="2200" b="1" u="sng" dirty="0">
                <a:solidFill>
                  <a:srgbClr val="C00000"/>
                </a:solidFill>
                <a:cs typeface="Times New Roman" pitchFamily="18" charset="0"/>
              </a:rPr>
              <a:t>ET:</a:t>
            </a:r>
          </a:p>
          <a:p>
            <a:pPr lvl="2">
              <a:lnSpc>
                <a:spcPct val="11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fr-BE" sz="2000" b="1" dirty="0">
                <a:cs typeface="Times New Roman" pitchFamily="18" charset="0"/>
              </a:rPr>
              <a:t>Soit </a:t>
            </a:r>
            <a:r>
              <a:rPr lang="fr-BE" sz="2000" dirty="0">
                <a:cs typeface="Times New Roman" pitchFamily="18" charset="0"/>
              </a:rPr>
              <a:t>avoir </a:t>
            </a:r>
            <a:r>
              <a:rPr lang="fr-BE" sz="2000" b="1" dirty="0">
                <a:solidFill>
                  <a:srgbClr val="C00000"/>
                </a:solidFill>
                <a:cs typeface="Times New Roman" pitchFamily="18" charset="0"/>
              </a:rPr>
              <a:t>au préalable</a:t>
            </a:r>
            <a:r>
              <a:rPr lang="fr-BE" sz="2000" dirty="0">
                <a:cs typeface="Times New Roman" pitchFamily="18" charset="0"/>
              </a:rPr>
              <a:t> suivi 6 années d’études en Belgique</a:t>
            </a:r>
          </a:p>
          <a:p>
            <a:pPr lvl="2">
              <a:lnSpc>
                <a:spcPct val="11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fr-BE" sz="2000" b="1" dirty="0">
                <a:cs typeface="Times New Roman" pitchFamily="18" charset="0"/>
              </a:rPr>
              <a:t>Soit</a:t>
            </a:r>
            <a:r>
              <a:rPr lang="fr-BE" sz="2000" dirty="0">
                <a:cs typeface="Times New Roman" pitchFamily="18" charset="0"/>
              </a:rPr>
              <a:t> avoir travaillé au moins 78 jours comme salarié</a:t>
            </a:r>
          </a:p>
          <a:p>
            <a:pPr lvl="2">
              <a:lnSpc>
                <a:spcPct val="11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fr-BE" sz="2000" b="1" dirty="0">
                <a:cs typeface="Times New Roman" pitchFamily="18" charset="0"/>
              </a:rPr>
              <a:t>Soit</a:t>
            </a:r>
            <a:r>
              <a:rPr lang="fr-BE" sz="2000" dirty="0">
                <a:cs typeface="Times New Roman" pitchFamily="18" charset="0"/>
              </a:rPr>
              <a:t> avoir été établi comme indépendant à titre principal  pendant au moins 3 mois.</a:t>
            </a:r>
            <a:endParaRPr lang="fr-FR" sz="2000" dirty="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650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FR" b="1" i="1" dirty="0"/>
              <a:t>2.2. Travailleur migrant</a:t>
            </a:r>
            <a:endParaRPr lang="fr-BE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SzPct val="80000"/>
              <a:buFont typeface="Wingdings" pitchFamily="2" charset="2"/>
              <a:buChar char="v"/>
            </a:pPr>
            <a:r>
              <a:rPr lang="fr-BE" sz="2800" i="1" dirty="0">
                <a:cs typeface="Times New Roman" pitchFamily="18" charset="0"/>
              </a:rPr>
              <a:t>Avoir suivi des études ou une formation dans un autre Etat membre de l’EEE :</a:t>
            </a:r>
          </a:p>
          <a:p>
            <a:pPr lvl="1">
              <a:buSzPct val="100000"/>
              <a:buFont typeface="Wingdings" pitchFamily="2" charset="2"/>
              <a:buChar char="§"/>
            </a:pPr>
            <a:r>
              <a:rPr lang="fr-BE" sz="2400" dirty="0">
                <a:cs typeface="Times New Roman" pitchFamily="18" charset="0"/>
              </a:rPr>
              <a:t>Le jeune doit fournir la preuve que les études ou la formation sont de même niveau ou équivalentes aux études ouvrant le droit ;</a:t>
            </a:r>
          </a:p>
          <a:p>
            <a:pPr marL="457200" lvl="1" indent="0">
              <a:buSzPct val="100000"/>
              <a:buNone/>
            </a:pPr>
            <a:r>
              <a:rPr lang="fr-BE" sz="2400" b="1" u="sng" dirty="0">
                <a:solidFill>
                  <a:srgbClr val="C00000"/>
                </a:solidFill>
                <a:cs typeface="Times New Roman" pitchFamily="18" charset="0"/>
              </a:rPr>
              <a:t>ET</a:t>
            </a:r>
            <a:r>
              <a:rPr lang="fr-BE" sz="2400" dirty="0">
                <a:solidFill>
                  <a:srgbClr val="C00000"/>
                </a:solidFill>
                <a:cs typeface="Times New Roman" pitchFamily="18" charset="0"/>
              </a:rPr>
              <a:t>:</a:t>
            </a:r>
          </a:p>
          <a:p>
            <a:pPr lvl="1">
              <a:buSzPct val="100000"/>
              <a:buFont typeface="Wingdings" panose="05000000000000000000" pitchFamily="2" charset="2"/>
              <a:buChar char="§"/>
            </a:pPr>
            <a:r>
              <a:rPr lang="fr-BE" sz="2400" dirty="0">
                <a:cs typeface="Times New Roman" pitchFamily="18" charset="0"/>
              </a:rPr>
              <a:t>au moment de la DA, le jeune est un enfant </a:t>
            </a:r>
            <a:r>
              <a:rPr lang="fr-BE" sz="2400" b="1" u="sng" dirty="0">
                <a:solidFill>
                  <a:srgbClr val="C00000"/>
                </a:solidFill>
                <a:cs typeface="Times New Roman" pitchFamily="18" charset="0"/>
              </a:rPr>
              <a:t>à charge d’un travailleur migrant qui réside en Belgique</a:t>
            </a:r>
            <a:r>
              <a:rPr lang="fr-BE" sz="2400" dirty="0">
                <a:cs typeface="Times New Roman" pitchFamily="18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009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FR" b="1" i="1" dirty="0"/>
              <a:t>2.2. Travailleur migrant</a:t>
            </a:r>
            <a:endParaRPr lang="en-US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896544"/>
          </a:xfrm>
        </p:spPr>
        <p:txBody>
          <a:bodyPr>
            <a:noAutofit/>
          </a:bodyPr>
          <a:lstStyle/>
          <a:p>
            <a:pPr marL="0" indent="0">
              <a:buSzPct val="100000"/>
              <a:buNone/>
            </a:pPr>
            <a:r>
              <a:rPr lang="fr-BE" sz="2800" dirty="0">
                <a:cs typeface="Times New Roman" pitchFamily="18" charset="0"/>
              </a:rPr>
              <a:t>Etre à charge d’un parent signifie que le jeune doit </a:t>
            </a:r>
            <a:r>
              <a:rPr lang="fr-BE" sz="2800" b="1" u="sng" dirty="0">
                <a:cs typeface="Times New Roman" pitchFamily="18" charset="0"/>
              </a:rPr>
              <a:t>cohabiter</a:t>
            </a:r>
            <a:r>
              <a:rPr lang="fr-BE" sz="2800" dirty="0">
                <a:cs typeface="Times New Roman" pitchFamily="18" charset="0"/>
              </a:rPr>
              <a:t> au </a:t>
            </a:r>
            <a:r>
              <a:rPr lang="fr-BE" sz="2800" b="1" u="sng" dirty="0">
                <a:cs typeface="Times New Roman" pitchFamily="18" charset="0"/>
              </a:rPr>
              <a:t>moment de la DA</a:t>
            </a:r>
            <a:r>
              <a:rPr lang="fr-BE" sz="2800" b="1" dirty="0">
                <a:cs typeface="Times New Roman" pitchFamily="18" charset="0"/>
              </a:rPr>
              <a:t> </a:t>
            </a:r>
            <a:r>
              <a:rPr lang="fr-BE" sz="2800" dirty="0">
                <a:cs typeface="Times New Roman" pitchFamily="18" charset="0"/>
              </a:rPr>
              <a:t>avec au moins un des deux parents pour autant que celui-ci à bien la </a:t>
            </a:r>
            <a:r>
              <a:rPr lang="fr-BE" sz="2800" b="1" u="sng" dirty="0">
                <a:cs typeface="Times New Roman" pitchFamily="18" charset="0"/>
              </a:rPr>
              <a:t>qualité de travailleur migrant</a:t>
            </a:r>
            <a:r>
              <a:rPr lang="fr-BE" sz="2800" dirty="0">
                <a:cs typeface="Times New Roman" pitchFamily="18" charset="0"/>
              </a:rPr>
              <a:t> ;</a:t>
            </a:r>
          </a:p>
          <a:p>
            <a:pPr marL="0" indent="0">
              <a:buSzPct val="100000"/>
              <a:buNone/>
            </a:pPr>
            <a:endParaRPr lang="fr-BE" sz="1800" dirty="0">
              <a:cs typeface="Times New Roman" pitchFamily="18" charset="0"/>
            </a:endParaRPr>
          </a:p>
          <a:p>
            <a:pPr marL="0" indent="0">
              <a:buSzPct val="100000"/>
              <a:buNone/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</a:rPr>
              <a:t>Travailleur migrant</a:t>
            </a:r>
            <a:r>
              <a:rPr lang="fr-BE" sz="2800" dirty="0">
                <a:cs typeface="Times New Roman" pitchFamily="18" charset="0"/>
              </a:rPr>
              <a:t> vise un des parents, salarié ou indépendant à titre principal, ressortissant de l’E.E.E qui se déplace ou s’est déplacé à l’intérieur de la E.E.E à un moment donné pour y travailler. </a:t>
            </a:r>
          </a:p>
          <a:p>
            <a:pPr marL="0" indent="0">
              <a:buSzPct val="100000"/>
              <a:buNone/>
            </a:pPr>
            <a:r>
              <a:rPr lang="fr-BE" sz="2800" b="1" dirty="0">
                <a:solidFill>
                  <a:srgbClr val="C00000"/>
                </a:solidFill>
                <a:cs typeface="Times New Roman" pitchFamily="18" charset="0"/>
                <a:sym typeface="Wingdings" panose="05000000000000000000" pitchFamily="2" charset="2"/>
              </a:rPr>
              <a:t> Pas nécessaire qu’il travaille encore au moment de la D.A</a:t>
            </a:r>
            <a:endParaRPr lang="fr-BE" sz="2800" b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35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72373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b="1" dirty="0"/>
              <a:t>3. </a:t>
            </a:r>
            <a:r>
              <a:rPr lang="fr-BE" b="1" dirty="0">
                <a:cs typeface="Calibri Light" panose="020F0302020204030204" pitchFamily="34" charset="0"/>
              </a:rPr>
              <a:t>Évènements impactant la durée du SIP</a:t>
            </a:r>
            <a:endParaRPr lang="fr-BE" b="1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A026A7-0DE7-4CDB-B4EB-5E3FE4651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1449849"/>
            <a:ext cx="354330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791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3.1. Rappel SIP</a:t>
            </a:r>
            <a:endParaRPr lang="en-US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2800" b="1" u="sng" dirty="0">
                <a:cs typeface="Times New Roman" pitchFamily="18" charset="0"/>
              </a:rPr>
              <a:t>Principes SIP</a:t>
            </a:r>
            <a:r>
              <a:rPr lang="fr-BE" sz="2800" b="1" dirty="0"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fr-BE" sz="2400" dirty="0">
                <a:solidFill>
                  <a:prstClr val="black"/>
                </a:solidFill>
                <a:cs typeface="Times New Roman" pitchFamily="18" charset="0"/>
              </a:rPr>
              <a:t>Accomplir </a:t>
            </a:r>
            <a:r>
              <a:rPr lang="fr-BE" sz="2400" b="1" i="1" dirty="0">
                <a:solidFill>
                  <a:srgbClr val="C00000"/>
                </a:solidFill>
                <a:cs typeface="Times New Roman" pitchFamily="18" charset="0"/>
              </a:rPr>
              <a:t>après la fin des études</a:t>
            </a:r>
            <a:r>
              <a:rPr lang="fr-BE" sz="2400" dirty="0">
                <a:solidFill>
                  <a:prstClr val="black"/>
                </a:solidFill>
                <a:cs typeface="Times New Roman" pitchFamily="18" charset="0"/>
              </a:rPr>
              <a:t>, ou après l'obtention du diplôme ou du certificat </a:t>
            </a:r>
            <a:r>
              <a:rPr lang="fr-BE" sz="2400" b="1" u="sng" dirty="0">
                <a:solidFill>
                  <a:prstClr val="black"/>
                </a:solidFill>
                <a:cs typeface="Times New Roman" pitchFamily="18" charset="0"/>
              </a:rPr>
              <a:t>et</a:t>
            </a:r>
            <a:r>
              <a:rPr lang="fr-BE" sz="2400" dirty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fr-BE" sz="2400" b="1" i="1" dirty="0">
                <a:solidFill>
                  <a:srgbClr val="C00000"/>
                </a:solidFill>
                <a:cs typeface="Times New Roman" pitchFamily="18" charset="0"/>
              </a:rPr>
              <a:t>avant la demande d'allocations, </a:t>
            </a:r>
            <a:r>
              <a:rPr lang="fr-BE" sz="2400" dirty="0">
                <a:solidFill>
                  <a:prstClr val="black"/>
                </a:solidFill>
                <a:cs typeface="Times New Roman" pitchFamily="18" charset="0"/>
              </a:rPr>
              <a:t>un stage d’insertion professionnelle de </a:t>
            </a:r>
            <a:r>
              <a:rPr lang="fr-BE" sz="2400" b="1" i="1" dirty="0">
                <a:solidFill>
                  <a:srgbClr val="C00000"/>
                </a:solidFill>
                <a:cs typeface="Times New Roman" pitchFamily="18" charset="0"/>
              </a:rPr>
              <a:t>310 jours (R6)</a:t>
            </a:r>
            <a:endParaRPr lang="fr-BE" sz="2400" b="1" dirty="0">
              <a:cs typeface="Times New Roman" pitchFamily="18" charset="0"/>
            </a:endParaRPr>
          </a:p>
          <a:p>
            <a:pPr marL="0" indent="0">
              <a:buNone/>
            </a:pPr>
            <a:endParaRPr lang="fr-BE" b="1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10</a:t>
            </a:fld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4F2EC40-A15B-4715-B1EF-C91A3F71C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18" y="3425944"/>
            <a:ext cx="7791363" cy="245263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3195ADC-8DAA-422B-BF93-D1EF408F14E2}"/>
              </a:ext>
            </a:extLst>
          </p:cNvPr>
          <p:cNvSpPr txBox="1"/>
          <p:nvPr/>
        </p:nvSpPr>
        <p:spPr>
          <a:xfrm>
            <a:off x="683568" y="6072206"/>
            <a:ext cx="7848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b="1" dirty="0">
                <a:solidFill>
                  <a:srgbClr val="C00000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⚠ Rappel : </a:t>
            </a:r>
            <a:r>
              <a:rPr lang="fr-BE" sz="1400" dirty="0">
                <a:latin typeface="Segoe UI Emoji" panose="020B0502040204020203" pitchFamily="34" charset="0"/>
                <a:ea typeface="Segoe UI Emoji" panose="020B0502040204020203" pitchFamily="34" charset="0"/>
              </a:rPr>
              <a:t>Réduction durée SIP en cas de formation en alternance terminée avec ou sans succès</a:t>
            </a:r>
            <a:endParaRPr lang="fr-BE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3.2. Principaux jours pris en considération pour le SIP</a:t>
            </a:r>
            <a:endParaRPr lang="en-US" sz="4000" i="1" dirty="0">
              <a:cs typeface="Times New Roman" pitchFamily="18" charset="0"/>
            </a:endParaRPr>
          </a:p>
        </p:txBody>
      </p:sp>
      <p:sp>
        <p:nvSpPr>
          <p:cNvPr id="5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11</a:t>
            </a:fld>
            <a:endParaRPr lang="fr-FR" dirty="0"/>
          </a:p>
        </p:txBody>
      </p:sp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EA94A53A-C7E3-4844-B4AD-13EF9C999F1A}"/>
              </a:ext>
            </a:extLst>
          </p:cNvPr>
          <p:cNvGraphicFramePr>
            <a:graphicFrameLocks noGrp="1"/>
          </p:cNvGraphicFramePr>
          <p:nvPr/>
        </p:nvGraphicFramePr>
        <p:xfrm>
          <a:off x="438864" y="1441802"/>
          <a:ext cx="8319374" cy="4663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31752">
                  <a:extLst>
                    <a:ext uri="{9D8B030D-6E8A-4147-A177-3AD203B41FA5}">
                      <a16:colId xmlns:a16="http://schemas.microsoft.com/office/drawing/2014/main" val="3988191373"/>
                    </a:ext>
                  </a:extLst>
                </a:gridCol>
                <a:gridCol w="4887622">
                  <a:extLst>
                    <a:ext uri="{9D8B030D-6E8A-4147-A177-3AD203B41FA5}">
                      <a16:colId xmlns:a16="http://schemas.microsoft.com/office/drawing/2014/main" val="1624344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70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700" b="1" dirty="0"/>
                        <a:t>Journées d’IDE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7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187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700" b="1" dirty="0"/>
                        <a:t>Travail au sens de l’art.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700" dirty="0">
                          <a:cs typeface="Times New Roman" pitchFamily="18" charset="0"/>
                        </a:rPr>
                        <a:t>travail salarié avec cotisations ONSS secteur chômage</a:t>
                      </a:r>
                      <a:endParaRPr lang="fr-BE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233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700" b="1" dirty="0"/>
                        <a:t>Contrat étudiant hors 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700" dirty="0"/>
                        <a:t>Située en août-septembre suivant la fin des études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65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700" b="1" dirty="0"/>
                        <a:t>Période d’indépendant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700" dirty="0"/>
                        <a:t>Indépendant à titre principal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8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700" b="1" dirty="0"/>
                        <a:t>Chômage temporaire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700" dirty="0"/>
                        <a:t>Si indemnisé ou si couvert par 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50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700" b="1" dirty="0"/>
                        <a:t>Incapacité de travail/Repos de maternité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700" dirty="0"/>
                        <a:t>Si indemnisé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001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700" b="1" dirty="0"/>
                        <a:t>Repos maternité non indemnisé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700" dirty="0"/>
                        <a:t>Uniquement de 7</a:t>
                      </a:r>
                      <a:r>
                        <a:rPr lang="fr-BE" sz="1700" baseline="30000" dirty="0"/>
                        <a:t> </a:t>
                      </a:r>
                      <a:r>
                        <a:rPr lang="fr-BE" sz="1700" dirty="0"/>
                        <a:t>jours avant le date présumée à 9 semaines après l’accouchement si pas d’IDE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72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700" b="1" dirty="0"/>
                        <a:t>Travail à l’étranger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700" dirty="0"/>
                        <a:t>Si suivi de 3 mois de travail en Belgique ou pendant IDE avec accord BC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37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sz="1700" b="1" dirty="0"/>
                        <a:t>Certains stages, Etudes ou formations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700" b="1" dirty="0">
                          <a:solidFill>
                            <a:srgbClr val="C00000"/>
                          </a:solidFill>
                        </a:rPr>
                        <a:t>Sous certaines conditions </a:t>
                      </a:r>
                      <a:r>
                        <a:rPr lang="fr-BE" sz="1700" b="0" i="1" u="none" dirty="0"/>
                        <a:t>(cf. point 3.4)</a:t>
                      </a:r>
                      <a:endParaRPr lang="fr-BE" sz="1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146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102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FD1E8A-BB14-4B77-AB42-E0F8F527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3.3. Jours non pris en considération pour le SIP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1873F0-2359-4585-B892-7BC2D07F3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dirty="0"/>
              <a:t>Ne sont </a:t>
            </a:r>
            <a:r>
              <a:rPr lang="fr-BE" b="1" dirty="0">
                <a:solidFill>
                  <a:srgbClr val="C00000"/>
                </a:solidFill>
              </a:rPr>
              <a:t>pas pris en considération </a:t>
            </a:r>
            <a:r>
              <a:rPr lang="fr-BE" dirty="0"/>
              <a:t>pour le calcul du SIP: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 Les jours d’</a:t>
            </a:r>
            <a:r>
              <a:rPr lang="fr-BE" b="1" dirty="0"/>
              <a:t>incapacité de travail non indemnisés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 Les jours de </a:t>
            </a:r>
            <a:r>
              <a:rPr lang="fr-BE" b="1" dirty="0"/>
              <a:t>repos maternité non couverts par une IDE et non indemnisés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 Une période d’</a:t>
            </a:r>
            <a:r>
              <a:rPr lang="fr-BE" b="1" dirty="0"/>
              <a:t>emprisonnement</a:t>
            </a:r>
            <a:r>
              <a:rPr lang="fr-BE" dirty="0"/>
              <a:t> ou d’</a:t>
            </a:r>
            <a:r>
              <a:rPr lang="fr-BE" b="1" dirty="0"/>
              <a:t>internement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 Une période d’inscription comme </a:t>
            </a:r>
            <a:r>
              <a:rPr lang="fr-BE" b="1" dirty="0"/>
              <a:t>demandeur d’emploi libre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 Une période d’</a:t>
            </a:r>
            <a:r>
              <a:rPr lang="fr-BE" b="1" dirty="0"/>
              <a:t>études de plein exercices </a:t>
            </a:r>
            <a:r>
              <a:rPr lang="fr-BE" dirty="0"/>
              <a:t>ou </a:t>
            </a:r>
            <a:r>
              <a:rPr lang="fr-BE" b="1" dirty="0"/>
              <a:t>d’études ouvrant le droit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 Une période de </a:t>
            </a:r>
            <a:r>
              <a:rPr lang="fr-BE" b="1" dirty="0"/>
              <a:t>formation intensive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C842F0-2FC5-435A-B81F-5BCA3D93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034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fr-BE" b="1" i="1" dirty="0"/>
              <a:t>3.4. Incidence des études sur le SIP</a:t>
            </a:r>
            <a:endParaRPr lang="fr-FR" b="1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901014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900430" algn="l"/>
              </a:tabLst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jeune qui entame ou reprend des 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études ouvrant le droit</a:t>
            </a:r>
            <a:r>
              <a:rPr lang="fr-FR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 des 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études de plein exercice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pendant le SIP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:</a:t>
            </a:r>
            <a:endParaRPr lang="fr-BE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Font typeface="Times New Roman" panose="02020603050405020304" pitchFamily="18" charset="0"/>
              <a:buChar char="-"/>
              <a:tabLst>
                <a:tab pos="228600" algn="l"/>
                <a:tab pos="900430" algn="l"/>
                <a:tab pos="900430" algn="l"/>
              </a:tabLst>
            </a:pP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perd le SIP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déjà accompli </a:t>
            </a:r>
          </a:p>
          <a:p>
            <a:pPr lvl="1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Font typeface="Times New Roman" panose="02020603050405020304" pitchFamily="18" charset="0"/>
              <a:buChar char="-"/>
              <a:tabLst>
                <a:tab pos="228600" algn="l"/>
                <a:tab pos="900430" algn="l"/>
                <a:tab pos="900430" algn="l"/>
              </a:tabLst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période d'études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 compte pas pour le SIP</a:t>
            </a:r>
            <a:endParaRPr lang="fr-BE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Font typeface="Times New Roman" panose="02020603050405020304" pitchFamily="18" charset="0"/>
              <a:buChar char="-"/>
              <a:tabLst>
                <a:tab pos="228600" algn="l"/>
                <a:tab pos="900430" algn="l"/>
                <a:tab pos="900430" algn="l"/>
              </a:tabLst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doit, après l'arrêt des études,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effectuer à nouveau intégralement le SIP</a:t>
            </a:r>
          </a:p>
          <a:p>
            <a:pPr marL="0" lvl="1" indent="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None/>
              <a:tabLst>
                <a:tab pos="228600" algn="l"/>
                <a:tab pos="900430" algn="l"/>
                <a:tab pos="900430" algn="l"/>
              </a:tabLst>
            </a:pPr>
            <a:r>
              <a:rPr lang="fr-FR" b="1" dirty="0">
                <a:latin typeface="Calibri" panose="020F0502020204030204" pitchFamily="34" charset="0"/>
                <a:cs typeface="Times New Roman" panose="02020603050405020304" pitchFamily="18" charset="0"/>
              </a:rPr>
              <a:t>Exception:</a:t>
            </a:r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>
                <a:cs typeface="Calibri Light" panose="020F0302020204030204" pitchFamily="34" charset="0"/>
              </a:rPr>
              <a:t>É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tudes de plein exercice de 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moins de 27 crédits</a:t>
            </a:r>
          </a:p>
          <a:p>
            <a:pPr marL="0" lvl="1" indent="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None/>
              <a:tabLst>
                <a:tab pos="228600" algn="l"/>
                <a:tab pos="900430" algn="l"/>
                <a:tab pos="900430" algn="l"/>
              </a:tabLst>
            </a:pPr>
            <a:endParaRPr lang="fr-FR" b="1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endParaRPr lang="fr-FR" sz="2400" b="1" dirty="0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>
              <a:defRPr/>
            </a:pPr>
            <a:endParaRPr lang="fr-FR" sz="4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85800" y="1714500"/>
            <a:ext cx="7772400" cy="415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057400" lvl="4" indent="-228600">
              <a:spcBef>
                <a:spcPct val="20000"/>
              </a:spcBef>
              <a:defRPr/>
            </a:pPr>
            <a:endParaRPr lang="fr-FR" dirty="0"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9" name="Espace réservé du numéro de diapositive 46"/>
          <p:cNvSpPr txBox="1">
            <a:spLocks/>
          </p:cNvSpPr>
          <p:nvPr/>
        </p:nvSpPr>
        <p:spPr>
          <a:xfrm>
            <a:off x="8358214" y="6072206"/>
            <a:ext cx="400024" cy="365125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fr-BE" b="1" i="1" dirty="0"/>
              <a:t>3.4. Incidence des études sur le SIP</a:t>
            </a:r>
            <a:endParaRPr lang="fr-FR" b="1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901014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900430" algn="l"/>
              </a:tabLst>
            </a:pPr>
            <a:r>
              <a:rPr lang="fr-FR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jeune qui entame ou reprend des </a:t>
            </a:r>
            <a:r>
              <a:rPr lang="fr-FR" sz="3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études de plein exercice</a:t>
            </a:r>
            <a:r>
              <a:rPr lang="fr-FR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0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après le SIP et avant la 1</a:t>
            </a:r>
            <a:r>
              <a:rPr lang="fr-FR" sz="3000" b="1" u="sng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ère</a:t>
            </a:r>
            <a:r>
              <a:rPr lang="fr-FR" sz="30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D.</a:t>
            </a:r>
            <a:r>
              <a:rPr lang="fr-FR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fr-FR" sz="3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conserve le SIP déjà accompli</a:t>
            </a:r>
            <a:r>
              <a:rPr lang="fr-FR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 </a:t>
            </a:r>
            <a:r>
              <a:rPr lang="fr-FR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 moment de la reprise</a:t>
            </a:r>
            <a:r>
              <a:rPr lang="fr-FR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 études:</a:t>
            </a:r>
            <a:endParaRPr lang="fr-BE" sz="3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Font typeface="Times New Roman" panose="02020603050405020304" pitchFamily="18" charset="0"/>
              <a:buChar char="-"/>
              <a:tabLst>
                <a:tab pos="228600" algn="l"/>
                <a:tab pos="900430" algn="l"/>
                <a:tab pos="900430" algn="l"/>
              </a:tabLst>
            </a:pPr>
            <a:r>
              <a:rPr lang="fr-FR" sz="2600" dirty="0">
                <a:latin typeface="Calibri" panose="020F0502020204030204" pitchFamily="34" charset="0"/>
                <a:cs typeface="Times New Roman" panose="02020603050405020304" pitchFamily="18" charset="0"/>
              </a:rPr>
              <a:t>Le SIP a été </a:t>
            </a:r>
            <a:r>
              <a:rPr lang="fr-FR" sz="2600" b="1" dirty="0">
                <a:latin typeface="Calibri" panose="020F0502020204030204" pitchFamily="34" charset="0"/>
                <a:cs typeface="Times New Roman" panose="02020603050405020304" pitchFamily="18" charset="0"/>
              </a:rPr>
              <a:t>entièrement accompli</a:t>
            </a:r>
          </a:p>
          <a:p>
            <a:pPr lvl="1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Font typeface="Times New Roman" panose="02020603050405020304" pitchFamily="18" charset="0"/>
              <a:buChar char="-"/>
              <a:tabLst>
                <a:tab pos="228600" algn="l"/>
                <a:tab pos="900430" algn="l"/>
                <a:tab pos="900430" algn="l"/>
              </a:tabLst>
            </a:pPr>
            <a:r>
              <a:rPr lang="fr-FR" sz="2600" dirty="0">
                <a:latin typeface="Calibri" panose="020F0502020204030204" pitchFamily="34" charset="0"/>
                <a:cs typeface="Times New Roman" panose="02020603050405020304" pitchFamily="18" charset="0"/>
              </a:rPr>
              <a:t>Les autres conditions art. 36 </a:t>
            </a:r>
            <a:r>
              <a:rPr lang="fr-FR" sz="2600" b="1" dirty="0">
                <a:latin typeface="Calibri" panose="020F0502020204030204" pitchFamily="34" charset="0"/>
                <a:cs typeface="Times New Roman" panose="02020603050405020304" pitchFamily="18" charset="0"/>
              </a:rPr>
              <a:t>sont remplies </a:t>
            </a:r>
            <a:r>
              <a:rPr lang="fr-FR" sz="2600" dirty="0">
                <a:latin typeface="Calibri" panose="020F0502020204030204" pitchFamily="34" charset="0"/>
                <a:cs typeface="Times New Roman" panose="02020603050405020304" pitchFamily="18" charset="0"/>
              </a:rPr>
              <a:t>(études ouvrant le droit, 2 évaluation positive,…)</a:t>
            </a:r>
          </a:p>
          <a:p>
            <a:pPr marL="0" lvl="1" indent="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None/>
              <a:tabLst>
                <a:tab pos="228600" algn="l"/>
                <a:tab pos="900430" algn="l"/>
                <a:tab pos="900430" algn="l"/>
              </a:tabLst>
            </a:pPr>
            <a:endParaRPr lang="fr-FR" sz="1200" b="1" dirty="0">
              <a:solidFill>
                <a:srgbClr val="C00000"/>
              </a:solidFill>
            </a:endParaRPr>
          </a:p>
          <a:p>
            <a:pPr marL="0" lvl="1" indent="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None/>
              <a:tabLst>
                <a:tab pos="228600" algn="l"/>
                <a:tab pos="900430" algn="l"/>
                <a:tab pos="900430" algn="l"/>
              </a:tabLst>
            </a:pPr>
            <a:r>
              <a:rPr lang="fr-FR" sz="2600" b="1" dirty="0" err="1"/>
              <a:t>Rmq</a:t>
            </a:r>
            <a:r>
              <a:rPr lang="fr-FR" sz="2600" dirty="0"/>
              <a:t>: En cas de reprise d’études sans allocation </a:t>
            </a:r>
            <a:r>
              <a:rPr lang="fr-FR" sz="2600" b="1" dirty="0"/>
              <a:t>pendant les allocations d’insertion</a:t>
            </a:r>
            <a:r>
              <a:rPr lang="fr-FR" sz="2600" dirty="0"/>
              <a:t> </a:t>
            </a:r>
            <a:r>
              <a:rPr lang="fr-FR" sz="2600" dirty="0">
                <a:sym typeface="Wingdings" panose="05000000000000000000" pitchFamily="2" charset="2"/>
              </a:rPr>
              <a:t> </a:t>
            </a:r>
            <a:r>
              <a:rPr lang="fr-FR" sz="2600" dirty="0"/>
              <a:t>le droit aux allocation est récupéré avec </a:t>
            </a:r>
            <a:r>
              <a:rPr lang="fr-FR" sz="2600" b="1" dirty="0">
                <a:solidFill>
                  <a:srgbClr val="C00000"/>
                </a:solidFill>
              </a:rPr>
              <a:t>application de l’article 42 </a:t>
            </a:r>
            <a:r>
              <a:rPr lang="fr-FR" sz="2600" i="1" dirty="0"/>
              <a:t>(cf. évènement prolongateur)</a:t>
            </a:r>
            <a:endParaRPr lang="fr-FR" sz="2600" b="1" i="1" dirty="0"/>
          </a:p>
          <a:p>
            <a:pPr eaLnBrk="1" hangingPunct="1">
              <a:defRPr/>
            </a:pPr>
            <a:endParaRPr lang="fr-FR" sz="2400" b="1" dirty="0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>
              <a:defRPr/>
            </a:pPr>
            <a:endParaRPr lang="fr-FR" sz="4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85800" y="1714500"/>
            <a:ext cx="7772400" cy="415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057400" lvl="4" indent="-228600">
              <a:spcBef>
                <a:spcPct val="20000"/>
              </a:spcBef>
              <a:defRPr/>
            </a:pPr>
            <a:endParaRPr lang="fr-FR" dirty="0"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9" name="Espace réservé du numéro de diapositive 46"/>
          <p:cNvSpPr txBox="1">
            <a:spLocks/>
          </p:cNvSpPr>
          <p:nvPr/>
        </p:nvSpPr>
        <p:spPr>
          <a:xfrm>
            <a:off x="8358214" y="6072206"/>
            <a:ext cx="400024" cy="365125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82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fr-BE" b="1" i="1" dirty="0"/>
              <a:t>3.4. Incidence des études sur le SIP</a:t>
            </a:r>
            <a:endParaRPr lang="fr-FR" b="1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901014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900430" algn="l"/>
              </a:tabLst>
            </a:pP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D’autres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études, stage ou formation</a:t>
            </a:r>
            <a:r>
              <a:rPr lang="fr-FR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débutés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pendant le SIP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n’ont pas d’incidence sur celui-ci sauf s’il s’agit d’études intensives alors:</a:t>
            </a:r>
            <a:endParaRPr lang="fr-BE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900430" algn="l"/>
              </a:tabLst>
            </a:pPr>
            <a:r>
              <a:rPr lang="fr-BE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SIP interrompu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pendant la durée de reprise des études (vacances scolaires comprises)</a:t>
            </a:r>
          </a:p>
          <a:p>
            <a:pPr lvl="1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900430" algn="l"/>
              </a:tabLst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SIP accompli préalablement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la reprise 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reste valable</a:t>
            </a:r>
            <a:endParaRPr lang="fr-BE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None/>
              <a:tabLst>
                <a:tab pos="228600" algn="l"/>
                <a:tab pos="900430" algn="l"/>
                <a:tab pos="900430" algn="l"/>
              </a:tabLst>
            </a:pPr>
            <a:endParaRPr lang="fr-FR" sz="7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None/>
              <a:tabLst>
                <a:tab pos="228600" algn="l"/>
                <a:tab pos="900430" algn="l"/>
                <a:tab pos="900430" algn="l"/>
              </a:tabLst>
            </a:pPr>
            <a:r>
              <a:rPr lang="fr-FR" b="1" dirty="0">
                <a:latin typeface="Calibri" panose="020F0502020204030204" pitchFamily="34" charset="0"/>
                <a:cs typeface="Times New Roman" panose="02020603050405020304" pitchFamily="18" charset="0"/>
              </a:rPr>
              <a:t>Caractéristiques études/formations intensives = </a:t>
            </a:r>
          </a:p>
          <a:p>
            <a:pPr marL="742950" lvl="2" indent="-34290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  <a:tab pos="900430" algn="l"/>
                <a:tab pos="900430" algn="l"/>
              </a:tabLst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Durée 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≥ 9 mois</a:t>
            </a:r>
          </a:p>
          <a:p>
            <a:pPr marL="742950" lvl="2" indent="-34290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  <a:tab pos="900430" algn="l"/>
                <a:tab pos="900430" algn="l"/>
              </a:tabLst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Heures de cours 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≥ 20h/</a:t>
            </a:r>
            <a:r>
              <a:rPr lang="fr-FR" b="1" dirty="0" err="1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sem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dont</a:t>
            </a:r>
            <a:r>
              <a:rPr lang="fr-F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 moins 10h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semaine entre 8h et 18h</a:t>
            </a:r>
          </a:p>
          <a:p>
            <a:pPr marL="742950" lvl="2" indent="-34290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  <a:tab pos="900430" algn="l"/>
                <a:tab pos="900430" algn="l"/>
              </a:tabLst>
            </a:pPr>
            <a:endParaRPr lang="fr-FR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None/>
              <a:tabLst>
                <a:tab pos="228600" algn="l"/>
                <a:tab pos="900430" algn="l"/>
                <a:tab pos="900430" algn="l"/>
              </a:tabLst>
            </a:pPr>
            <a:endParaRPr lang="fr-FR" b="1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endParaRPr lang="fr-FR" sz="2400" b="1" dirty="0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>
              <a:defRPr/>
            </a:pPr>
            <a:endParaRPr lang="fr-FR" sz="4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85800" y="1714500"/>
            <a:ext cx="7772400" cy="415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057400" lvl="4" indent="-228600">
              <a:spcBef>
                <a:spcPct val="20000"/>
              </a:spcBef>
              <a:defRPr/>
            </a:pPr>
            <a:endParaRPr lang="fr-FR" dirty="0"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9" name="Espace réservé du numéro de diapositive 46"/>
          <p:cNvSpPr txBox="1">
            <a:spLocks/>
          </p:cNvSpPr>
          <p:nvPr/>
        </p:nvSpPr>
        <p:spPr>
          <a:xfrm>
            <a:off x="8358214" y="6072206"/>
            <a:ext cx="400024" cy="365125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42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fr-BE" b="1" i="1" dirty="0"/>
              <a:t>3.4. Incidence des études sur le SIP</a:t>
            </a:r>
            <a:endParaRPr lang="fr-FR" b="1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901014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900430" algn="l"/>
              </a:tabLst>
            </a:pPr>
            <a:r>
              <a:rPr lang="fr-FR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jeune qui entame ou reprend des </a:t>
            </a:r>
            <a:r>
              <a:rPr lang="fr-FR" sz="3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études intensives </a:t>
            </a:r>
            <a:r>
              <a:rPr lang="fr-FR" sz="30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après le SIP et avant la 1</a:t>
            </a:r>
            <a:r>
              <a:rPr lang="fr-FR" sz="3000" b="1" u="sng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ère</a:t>
            </a:r>
            <a:r>
              <a:rPr lang="fr-FR" sz="30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D.A</a:t>
            </a:r>
            <a:r>
              <a:rPr lang="fr-FR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conserve le SIP déjà accompli</a:t>
            </a:r>
            <a:r>
              <a:rPr lang="fr-FR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 </a:t>
            </a:r>
            <a:r>
              <a:rPr lang="fr-FR" sz="3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 moment de la reprise</a:t>
            </a:r>
            <a:r>
              <a:rPr lang="fr-FR" sz="3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 études:</a:t>
            </a:r>
            <a:endParaRPr lang="fr-BE" sz="3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Font typeface="Times New Roman" panose="02020603050405020304" pitchFamily="18" charset="0"/>
              <a:buChar char="-"/>
              <a:tabLst>
                <a:tab pos="228600" algn="l"/>
                <a:tab pos="900430" algn="l"/>
                <a:tab pos="900430" algn="l"/>
              </a:tabLst>
            </a:pPr>
            <a:r>
              <a:rPr lang="fr-FR" sz="2600" dirty="0">
                <a:latin typeface="Calibri" panose="020F0502020204030204" pitchFamily="34" charset="0"/>
                <a:cs typeface="Times New Roman" panose="02020603050405020304" pitchFamily="18" charset="0"/>
              </a:rPr>
              <a:t>Le SIP a été </a:t>
            </a:r>
            <a:r>
              <a:rPr lang="fr-FR" sz="2600" b="1" dirty="0">
                <a:latin typeface="Calibri" panose="020F0502020204030204" pitchFamily="34" charset="0"/>
                <a:cs typeface="Times New Roman" panose="02020603050405020304" pitchFamily="18" charset="0"/>
              </a:rPr>
              <a:t>entièrement accompli</a:t>
            </a:r>
          </a:p>
          <a:p>
            <a:pPr lvl="1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Font typeface="Times New Roman" panose="02020603050405020304" pitchFamily="18" charset="0"/>
              <a:buChar char="-"/>
              <a:tabLst>
                <a:tab pos="228600" algn="l"/>
                <a:tab pos="900430" algn="l"/>
                <a:tab pos="900430" algn="l"/>
              </a:tabLst>
            </a:pPr>
            <a:r>
              <a:rPr lang="fr-FR" sz="2600" dirty="0">
                <a:latin typeface="Calibri" panose="020F0502020204030204" pitchFamily="34" charset="0"/>
                <a:cs typeface="Times New Roman" panose="02020603050405020304" pitchFamily="18" charset="0"/>
              </a:rPr>
              <a:t>Les autres conditions art. 36 </a:t>
            </a:r>
            <a:r>
              <a:rPr lang="fr-FR" sz="2600" b="1" dirty="0">
                <a:latin typeface="Calibri" panose="020F0502020204030204" pitchFamily="34" charset="0"/>
                <a:cs typeface="Times New Roman" panose="02020603050405020304" pitchFamily="18" charset="0"/>
              </a:rPr>
              <a:t>sont remplies </a:t>
            </a:r>
            <a:r>
              <a:rPr lang="fr-FR" sz="2600" dirty="0">
                <a:latin typeface="Calibri" panose="020F0502020204030204" pitchFamily="34" charset="0"/>
                <a:cs typeface="Times New Roman" panose="02020603050405020304" pitchFamily="18" charset="0"/>
              </a:rPr>
              <a:t>(études ouvrant le droit, 2 évaluation positive,…)</a:t>
            </a:r>
          </a:p>
          <a:p>
            <a:pPr marL="0" lvl="1" indent="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None/>
              <a:tabLst>
                <a:tab pos="228600" algn="l"/>
                <a:tab pos="900430" algn="l"/>
                <a:tab pos="900430" algn="l"/>
              </a:tabLst>
            </a:pPr>
            <a:endParaRPr lang="fr-FR" sz="1200" b="1" dirty="0">
              <a:solidFill>
                <a:srgbClr val="C00000"/>
              </a:solidFill>
            </a:endParaRPr>
          </a:p>
          <a:p>
            <a:pPr marL="0" lvl="1" indent="0">
              <a:lnSpc>
                <a:spcPct val="107000"/>
              </a:lnSpc>
              <a:spcBef>
                <a:spcPts val="200"/>
              </a:spcBef>
              <a:spcAft>
                <a:spcPts val="600"/>
              </a:spcAft>
              <a:buNone/>
              <a:tabLst>
                <a:tab pos="228600" algn="l"/>
                <a:tab pos="900430" algn="l"/>
                <a:tab pos="900430" algn="l"/>
              </a:tabLst>
            </a:pPr>
            <a:r>
              <a:rPr lang="fr-FR" sz="2600" b="1" dirty="0" err="1"/>
              <a:t>Rmq</a:t>
            </a:r>
            <a:r>
              <a:rPr lang="fr-FR" sz="2600" dirty="0"/>
              <a:t>: En cas de reprise d’études sans allocation </a:t>
            </a:r>
            <a:r>
              <a:rPr lang="fr-FR" sz="2600" b="1" dirty="0"/>
              <a:t>pendant les allocations d’insertion</a:t>
            </a:r>
            <a:r>
              <a:rPr lang="fr-FR" sz="2600" dirty="0"/>
              <a:t> </a:t>
            </a:r>
            <a:r>
              <a:rPr lang="fr-FR" sz="2600" dirty="0">
                <a:sym typeface="Wingdings" panose="05000000000000000000" pitchFamily="2" charset="2"/>
              </a:rPr>
              <a:t> </a:t>
            </a:r>
            <a:r>
              <a:rPr lang="fr-FR" sz="2600" dirty="0"/>
              <a:t>le droit aux allocation est récupéré avec </a:t>
            </a:r>
            <a:r>
              <a:rPr lang="fr-FR" sz="2600" b="1" dirty="0">
                <a:solidFill>
                  <a:srgbClr val="C00000"/>
                </a:solidFill>
              </a:rPr>
              <a:t>application de l’article 42 </a:t>
            </a:r>
            <a:r>
              <a:rPr lang="fr-FR" sz="2600" i="1" dirty="0"/>
              <a:t>(cf. évènement prolongateur)</a:t>
            </a:r>
            <a:endParaRPr lang="fr-FR" sz="2600" b="1" i="1" dirty="0"/>
          </a:p>
          <a:p>
            <a:pPr eaLnBrk="1" hangingPunct="1">
              <a:defRPr/>
            </a:pPr>
            <a:endParaRPr lang="fr-FR" sz="2400" b="1" dirty="0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>
              <a:defRPr/>
            </a:pPr>
            <a:endParaRPr lang="fr-FR" sz="4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85800" y="1714500"/>
            <a:ext cx="7772400" cy="415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057400" lvl="4" indent="-228600">
              <a:spcBef>
                <a:spcPct val="20000"/>
              </a:spcBef>
              <a:defRPr/>
            </a:pPr>
            <a:endParaRPr lang="fr-FR" dirty="0"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9" name="Espace réservé du numéro de diapositive 46"/>
          <p:cNvSpPr txBox="1">
            <a:spLocks/>
          </p:cNvSpPr>
          <p:nvPr/>
        </p:nvSpPr>
        <p:spPr>
          <a:xfrm>
            <a:off x="8358214" y="6072206"/>
            <a:ext cx="400024" cy="365125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484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fr-BE" b="1" i="1" dirty="0"/>
              <a:t>3.4. Incidence des études sur le SIP</a:t>
            </a:r>
            <a:endParaRPr lang="fr-FR" b="1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901014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900430" algn="l"/>
              </a:tabLst>
            </a:pPr>
            <a:r>
              <a:rPr lang="fr-FR" sz="3000" b="1" u="sng" dirty="0">
                <a:latin typeface="Calibri" panose="020F0502020204030204" pitchFamily="34" charset="0"/>
                <a:cs typeface="Times New Roman" panose="02020603050405020304" pitchFamily="18" charset="0"/>
              </a:rPr>
              <a:t>Quelques situations</a:t>
            </a:r>
            <a:r>
              <a:rPr lang="fr-FR" sz="3000" b="1" dirty="0">
                <a:latin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900430" algn="l"/>
              </a:tabLst>
            </a:pPr>
            <a:endParaRPr lang="fr-FR" sz="2400" b="1" dirty="0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>
              <a:defRPr/>
            </a:pPr>
            <a:endParaRPr lang="fr-FR" sz="4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85800" y="1714500"/>
            <a:ext cx="7772400" cy="415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057400" lvl="4" indent="-228600">
              <a:spcBef>
                <a:spcPct val="20000"/>
              </a:spcBef>
              <a:defRPr/>
            </a:pPr>
            <a:endParaRPr lang="fr-FR" dirty="0"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9" name="Espace réservé du numéro de diapositive 46"/>
          <p:cNvSpPr txBox="1">
            <a:spLocks/>
          </p:cNvSpPr>
          <p:nvPr/>
        </p:nvSpPr>
        <p:spPr>
          <a:xfrm>
            <a:off x="8358214" y="6072206"/>
            <a:ext cx="400024" cy="365125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ED95A739-6B88-44D2-83FE-90F0366FFF24}"/>
              </a:ext>
            </a:extLst>
          </p:cNvPr>
          <p:cNvGraphicFramePr>
            <a:graphicFrameLocks noGrp="1"/>
          </p:cNvGraphicFramePr>
          <p:nvPr/>
        </p:nvGraphicFramePr>
        <p:xfrm>
          <a:off x="751522" y="2301508"/>
          <a:ext cx="7772400" cy="3708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22304">
                  <a:extLst>
                    <a:ext uri="{9D8B030D-6E8A-4147-A177-3AD203B41FA5}">
                      <a16:colId xmlns:a16="http://schemas.microsoft.com/office/drawing/2014/main" val="363054884"/>
                    </a:ext>
                  </a:extLst>
                </a:gridCol>
                <a:gridCol w="2950096">
                  <a:extLst>
                    <a:ext uri="{9D8B030D-6E8A-4147-A177-3AD203B41FA5}">
                      <a16:colId xmlns:a16="http://schemas.microsoft.com/office/drawing/2014/main" val="647566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Type d’études/stage/formation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Incidence sur le SIP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972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Enseignement secondaire supérieur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Annulation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5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Enseignement </a:t>
                      </a:r>
                      <a:r>
                        <a:rPr lang="fr-BE" dirty="0">
                          <a:latin typeface="+mn-lt"/>
                        </a:rPr>
                        <a:t>supérieur </a:t>
                      </a:r>
                      <a:r>
                        <a:rPr lang="fr-BE" dirty="0">
                          <a:latin typeface="+mn-lt"/>
                          <a:cs typeface="Arial" panose="020B0604020202020204" pitchFamily="34" charset="0"/>
                        </a:rPr>
                        <a:t>≥ 27 crédits</a:t>
                      </a:r>
                      <a:endParaRPr lang="fr-B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Annulation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08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Enseignement </a:t>
                      </a:r>
                      <a:r>
                        <a:rPr lang="fr-BE" dirty="0">
                          <a:latin typeface="+mn-lt"/>
                        </a:rPr>
                        <a:t>supérieur </a:t>
                      </a:r>
                      <a:r>
                        <a:rPr lang="fr-BE" dirty="0">
                          <a:latin typeface="+mn-lt"/>
                          <a:cs typeface="Arial" panose="020B0604020202020204" pitchFamily="34" charset="0"/>
                        </a:rPr>
                        <a:t>&lt; 27 crédits</a:t>
                      </a:r>
                      <a:endParaRPr lang="fr-B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rgbClr val="008000"/>
                          </a:solidFill>
                        </a:rPr>
                        <a:t>Sans incidence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378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Etudes intensives promotion sociale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Interruption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588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Stage en milieu professionnel (sans études)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008000"/>
                          </a:solidFill>
                        </a:rPr>
                        <a:t>Sans incidence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058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Formation spécifique enseignants (sauf CAP)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Annulation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2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CAP enseignants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Interruption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32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Formation CISP/EFT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rgbClr val="008000"/>
                          </a:solidFill>
                        </a:rPr>
                        <a:t>Sans incidence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740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Contrat d’adaptation personne handicapée (AVIQ)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008000"/>
                          </a:solidFill>
                        </a:rPr>
                        <a:t>Sans incidence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953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969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hangingPunct="1">
              <a:defRPr/>
            </a:pPr>
            <a:r>
              <a:rPr lang="fr-BE" b="1" i="1" dirty="0"/>
              <a:t>3.5. Incidence stage à l’étranger</a:t>
            </a:r>
            <a:endParaRPr lang="fr-FR" b="1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7901014" cy="45259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900430" algn="l"/>
              </a:tabLst>
            </a:pPr>
            <a:r>
              <a:rPr lang="fr-FR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Principe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900430" algn="l"/>
              </a:tabLst>
            </a:pP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journées durant lesquelles le jeune séjourne à l'étranger pour suivre un stage </a:t>
            </a:r>
            <a:r>
              <a:rPr lang="fr-FR" sz="2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peuvent être prises en considération</a:t>
            </a: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pour autant que ce </a:t>
            </a:r>
            <a:r>
              <a:rPr lang="fr-FR" sz="2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stage soit accepté par le BC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900430" algn="l"/>
              </a:tabLst>
            </a:pPr>
            <a:r>
              <a:rPr lang="fr-FR" sz="2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En cas de refus </a:t>
            </a: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la période de stage </a:t>
            </a:r>
            <a:r>
              <a:rPr lang="fr-FR" sz="2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suspend</a:t>
            </a:r>
            <a:r>
              <a:rPr lang="fr-F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le déroulement du SIP</a:t>
            </a:r>
            <a:endParaRPr lang="fr-FR" sz="2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900430" algn="l"/>
              </a:tabLst>
            </a:pPr>
            <a:endParaRPr lang="fr-FR" sz="1100" b="1" dirty="0">
              <a:solidFill>
                <a:srgbClr val="C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900430" algn="l"/>
              </a:tabLst>
            </a:pPr>
            <a:r>
              <a:rPr lang="fr-FR" b="1" u="sng" dirty="0">
                <a:latin typeface="Calibri" panose="020F0502020204030204" pitchFamily="34" charset="0"/>
                <a:cs typeface="Times New Roman" panose="02020603050405020304" pitchFamily="18" charset="0"/>
              </a:rPr>
              <a:t>Procédure de reconnaissance par le BC</a:t>
            </a:r>
            <a:r>
              <a:rPr lang="fr-FR" b="1" dirty="0">
                <a:latin typeface="Calibri" panose="020F0502020204030204" pitchFamily="34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900430" algn="l"/>
              </a:tabLst>
            </a:pPr>
            <a:r>
              <a:rPr lang="fr-FR" sz="2600" dirty="0">
                <a:latin typeface="Calibri" panose="020F0502020204030204" pitchFamily="34" charset="0"/>
                <a:cs typeface="Times New Roman" panose="02020603050405020304" pitchFamily="18" charset="0"/>
              </a:rPr>
              <a:t>Demande via le </a:t>
            </a:r>
            <a:r>
              <a:rPr lang="fr-FR" sz="2600" b="1" dirty="0">
                <a:solidFill>
                  <a:srgbClr val="C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formulaire C36.5</a:t>
            </a:r>
            <a:r>
              <a:rPr lang="fr-FR" sz="2600" dirty="0">
                <a:latin typeface="Calibri" panose="020F0502020204030204" pitchFamily="34" charset="0"/>
                <a:cs typeface="Times New Roman" panose="02020603050405020304" pitchFamily="18" charset="0"/>
              </a:rPr>
              <a:t> à introduire au BC: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900430" algn="l"/>
              </a:tabLst>
            </a:pPr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Soit </a:t>
            </a:r>
            <a:r>
              <a:rPr lang="fr-FR" b="1" dirty="0">
                <a:latin typeface="Calibri" panose="020F0502020204030204" pitchFamily="34" charset="0"/>
                <a:cs typeface="Times New Roman" panose="02020603050405020304" pitchFamily="18" charset="0"/>
              </a:rPr>
              <a:t>préalablement</a:t>
            </a:r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 à la D.A art. 36 </a:t>
            </a:r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doit le mentionner sur le C109/36-Demande</a:t>
            </a:r>
            <a:endParaRPr lang="fr-FR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900430" algn="l"/>
              </a:tabLst>
            </a:pPr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Soit </a:t>
            </a:r>
            <a:r>
              <a:rPr lang="fr-FR" b="1" dirty="0">
                <a:latin typeface="Calibri" panose="020F0502020204030204" pitchFamily="34" charset="0"/>
                <a:cs typeface="Times New Roman" panose="02020603050405020304" pitchFamily="18" charset="0"/>
              </a:rPr>
              <a:t>au moment</a:t>
            </a:r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 de la D.A art. 36 </a:t>
            </a:r>
            <a:r>
              <a:rPr lang="fr-FR" dirty="0">
                <a:latin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doit joindre le formulaire au C109/36-Demande</a:t>
            </a:r>
            <a:endParaRPr lang="fr-FR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>
              <a:defRPr/>
            </a:pPr>
            <a:endParaRPr lang="fr-FR" sz="4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685800" y="1714500"/>
            <a:ext cx="7772400" cy="4152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057400" lvl="4" indent="-228600">
              <a:spcBef>
                <a:spcPct val="20000"/>
              </a:spcBef>
              <a:defRPr/>
            </a:pPr>
            <a:endParaRPr lang="fr-FR" dirty="0"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9" name="Espace réservé du numéro de diapositive 46"/>
          <p:cNvSpPr txBox="1">
            <a:spLocks/>
          </p:cNvSpPr>
          <p:nvPr/>
        </p:nvSpPr>
        <p:spPr>
          <a:xfrm>
            <a:off x="8358214" y="6072206"/>
            <a:ext cx="400024" cy="365125"/>
          </a:xfrm>
          <a:prstGeom prst="rect">
            <a:avLst/>
          </a:prstGeom>
          <a:ln/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350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72373"/>
            <a:ext cx="822960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fr-BE" b="1" dirty="0"/>
              <a:t>4. Dispo J: Procédure et incidence des évaluations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  <p:pic>
        <p:nvPicPr>
          <p:cNvPr id="1026" name="Picture 2" descr="Sprechen als Kompetenz in der Oberstufe - PDF Kostenfreier Download">
            <a:extLst>
              <a:ext uri="{FF2B5EF4-FFF2-40B4-BE49-F238E27FC236}">
                <a16:creationId xmlns:a16="http://schemas.microsoft.com/office/drawing/2014/main" id="{6E78850F-D842-479E-8B93-8A3B54664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638300"/>
            <a:ext cx="51054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416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720A55-1D11-433E-82E4-4C90B72E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dirty="0"/>
              <a:t>4.1. Rappel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622950-AAC3-42BA-8388-F0A32C41E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fr-BE" dirty="0">
                <a:solidFill>
                  <a:prstClr val="black"/>
                </a:solidFill>
              </a:rPr>
              <a:t>Pour être admis au bénéfice des allocations d’insertion, le jeune doit avoir obtenu </a:t>
            </a:r>
            <a:r>
              <a:rPr lang="fr-BE" b="1" dirty="0">
                <a:solidFill>
                  <a:srgbClr val="C00000"/>
                </a:solidFill>
              </a:rPr>
              <a:t>2 évaluations positives</a:t>
            </a:r>
            <a:r>
              <a:rPr lang="fr-BE" dirty="0">
                <a:solidFill>
                  <a:prstClr val="black"/>
                </a:solidFill>
              </a:rPr>
              <a:t> </a:t>
            </a:r>
            <a:r>
              <a:rPr lang="fr-BE" b="1" u="sng" dirty="0">
                <a:solidFill>
                  <a:prstClr val="black"/>
                </a:solidFill>
              </a:rPr>
              <a:t>successives ou non</a:t>
            </a:r>
            <a:r>
              <a:rPr lang="fr-BE" b="1" dirty="0">
                <a:solidFill>
                  <a:prstClr val="black"/>
                </a:solidFill>
              </a:rPr>
              <a:t> </a:t>
            </a:r>
            <a:r>
              <a:rPr lang="fr-BE" dirty="0">
                <a:solidFill>
                  <a:prstClr val="black"/>
                </a:solidFill>
              </a:rPr>
              <a:t>de la part du SRE prouvant qu’il a recherché activement de l’emploi durant son SIP.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12913C-68AF-4679-8737-784281B3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989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4.2. Aperçu procédure générale</a:t>
            </a:r>
            <a:r>
              <a:rPr lang="fr-BE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-341662" y="5587813"/>
            <a:ext cx="2133600" cy="365125"/>
          </a:xfrm>
        </p:spPr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2957085" y="1362365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600" dirty="0"/>
              <a:t>IDE</a:t>
            </a:r>
          </a:p>
        </p:txBody>
      </p:sp>
      <p:sp>
        <p:nvSpPr>
          <p:cNvPr id="6" name="Flèche vers le bas 5"/>
          <p:cNvSpPr/>
          <p:nvPr/>
        </p:nvSpPr>
        <p:spPr>
          <a:xfrm>
            <a:off x="4007399" y="1908841"/>
            <a:ext cx="251920" cy="42794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1400" dirty="0"/>
          </a:p>
        </p:txBody>
      </p:sp>
      <p:sp>
        <p:nvSpPr>
          <p:cNvPr id="7" name="ZoneTexte 6"/>
          <p:cNvSpPr txBox="1"/>
          <p:nvPr/>
        </p:nvSpPr>
        <p:spPr>
          <a:xfrm>
            <a:off x="1720156" y="2289352"/>
            <a:ext cx="48264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/>
              <a:t>Droits &amp; obligations</a:t>
            </a:r>
          </a:p>
          <a:p>
            <a:pPr algn="ctr"/>
            <a:endParaRPr lang="fr-BE" sz="1200" dirty="0"/>
          </a:p>
          <a:p>
            <a:endParaRPr lang="fr-BE" sz="1400" dirty="0"/>
          </a:p>
        </p:txBody>
      </p:sp>
      <p:sp>
        <p:nvSpPr>
          <p:cNvPr id="8" name="Flèche vers le bas 7"/>
          <p:cNvSpPr/>
          <p:nvPr/>
        </p:nvSpPr>
        <p:spPr>
          <a:xfrm>
            <a:off x="4009079" y="2780423"/>
            <a:ext cx="251920" cy="42794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1400" dirty="0"/>
          </a:p>
        </p:txBody>
      </p:sp>
      <p:sp>
        <p:nvSpPr>
          <p:cNvPr id="9" name="ZoneTexte 8"/>
          <p:cNvSpPr txBox="1"/>
          <p:nvPr/>
        </p:nvSpPr>
        <p:spPr>
          <a:xfrm>
            <a:off x="2926236" y="3141521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1</a:t>
            </a:r>
            <a:r>
              <a:rPr lang="fr-BE" sz="2400" baseline="30000" dirty="0"/>
              <a:t>ère</a:t>
            </a:r>
            <a:r>
              <a:rPr lang="fr-BE" sz="2400" dirty="0"/>
              <a:t> évaluation</a:t>
            </a:r>
          </a:p>
        </p:txBody>
      </p:sp>
      <p:sp>
        <p:nvSpPr>
          <p:cNvPr id="10" name="Flèche vers le bas 9"/>
          <p:cNvSpPr/>
          <p:nvPr/>
        </p:nvSpPr>
        <p:spPr>
          <a:xfrm>
            <a:off x="4009079" y="3643469"/>
            <a:ext cx="251920" cy="42794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1400" dirty="0"/>
          </a:p>
        </p:txBody>
      </p:sp>
      <p:sp>
        <p:nvSpPr>
          <p:cNvPr id="11" name="ZoneTexte 10"/>
          <p:cNvSpPr txBox="1"/>
          <p:nvPr/>
        </p:nvSpPr>
        <p:spPr>
          <a:xfrm>
            <a:off x="2926236" y="4111697"/>
            <a:ext cx="3001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2</a:t>
            </a:r>
            <a:r>
              <a:rPr lang="fr-BE" sz="2400" baseline="30000" dirty="0"/>
              <a:t>ème</a:t>
            </a:r>
            <a:r>
              <a:rPr lang="fr-BE" sz="2400" dirty="0"/>
              <a:t>  évaluation</a:t>
            </a:r>
          </a:p>
        </p:txBody>
      </p:sp>
      <p:sp>
        <p:nvSpPr>
          <p:cNvPr id="12" name="Flèche vers le bas 11"/>
          <p:cNvSpPr/>
          <p:nvPr/>
        </p:nvSpPr>
        <p:spPr>
          <a:xfrm>
            <a:off x="4009079" y="4653606"/>
            <a:ext cx="251920" cy="42794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sp>
        <p:nvSpPr>
          <p:cNvPr id="13" name="ZoneTexte 12"/>
          <p:cNvSpPr txBox="1"/>
          <p:nvPr/>
        </p:nvSpPr>
        <p:spPr>
          <a:xfrm>
            <a:off x="450344" y="5161795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Admission au bénéficie des allocations d’insertion  </a:t>
            </a:r>
            <a:r>
              <a:rPr lang="fr-BE" b="1" dirty="0"/>
              <a:t>après les 310 jours </a:t>
            </a:r>
            <a:r>
              <a:rPr lang="fr-BE" dirty="0"/>
              <a:t>de Stage d’Insertion Professionnelle si </a:t>
            </a:r>
            <a:r>
              <a:rPr lang="fr-BE" b="1" dirty="0">
                <a:solidFill>
                  <a:srgbClr val="C00000"/>
                </a:solidFill>
              </a:rPr>
              <a:t>2 évaluations positives </a:t>
            </a:r>
            <a:r>
              <a:rPr lang="fr-BE" dirty="0"/>
              <a:t>et si les autres conditions sont remplies.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871075" y="2994395"/>
            <a:ext cx="18417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5</a:t>
            </a:r>
            <a:r>
              <a:rPr lang="fr-BE" sz="1400" baseline="30000" dirty="0"/>
              <a:t>ème</a:t>
            </a:r>
            <a:r>
              <a:rPr lang="fr-BE" sz="1400" dirty="0"/>
              <a:t> mois (ACTIRIS, </a:t>
            </a:r>
          </a:p>
          <a:p>
            <a:r>
              <a:rPr lang="fr-BE" sz="1400" dirty="0"/>
              <a:t>FOREM &amp; </a:t>
            </a:r>
          </a:p>
          <a:p>
            <a:r>
              <a:rPr lang="fr-BE" sz="1400" dirty="0"/>
              <a:t>ADG)</a:t>
            </a:r>
          </a:p>
          <a:p>
            <a:endParaRPr lang="fr-BE" sz="1400" dirty="0"/>
          </a:p>
        </p:txBody>
      </p:sp>
      <p:sp>
        <p:nvSpPr>
          <p:cNvPr id="17" name="ZoneTexte 16"/>
          <p:cNvSpPr txBox="1"/>
          <p:nvPr/>
        </p:nvSpPr>
        <p:spPr>
          <a:xfrm>
            <a:off x="871075" y="4071414"/>
            <a:ext cx="16561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9</a:t>
            </a:r>
            <a:r>
              <a:rPr lang="fr-BE" sz="1400" baseline="30000" dirty="0"/>
              <a:t>ème</a:t>
            </a:r>
            <a:r>
              <a:rPr lang="fr-BE" sz="1400" dirty="0"/>
              <a:t> mois (ACTIRIS)</a:t>
            </a:r>
          </a:p>
          <a:p>
            <a:r>
              <a:rPr lang="fr-BE" sz="1400" dirty="0"/>
              <a:t>10</a:t>
            </a:r>
            <a:r>
              <a:rPr lang="fr-BE" sz="1400" baseline="30000" dirty="0"/>
              <a:t>ème</a:t>
            </a:r>
            <a:r>
              <a:rPr lang="fr-BE" sz="1400" dirty="0"/>
              <a:t> mois</a:t>
            </a:r>
          </a:p>
          <a:p>
            <a:r>
              <a:rPr lang="fr-BE" sz="1400" dirty="0"/>
              <a:t>(FOREM &amp; ADG)</a:t>
            </a:r>
          </a:p>
        </p:txBody>
      </p:sp>
    </p:spTree>
    <p:extLst>
      <p:ext uri="{BB962C8B-B14F-4D97-AF65-F5344CB8AC3E}">
        <p14:creationId xmlns:p14="http://schemas.microsoft.com/office/powerpoint/2010/main" val="4159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6" grpId="0"/>
      <p:bldP spid="16" grpId="1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5D05CF-1C0D-43DC-954C-A5B22FC7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dirty="0"/>
              <a:t>4.3. Incidence évaluation négative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9BF41A-4232-428C-8F58-9BBFBC303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dirty="0"/>
              <a:t>En cas d’évaluation négative, le jeune devra solliciter lui-même une nouvelle évaluation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76189D-1309-4099-A30C-BBAC2E24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59A84266-11A8-4CA7-8C08-C2A155A83B0A}"/>
              </a:ext>
            </a:extLst>
          </p:cNvPr>
          <p:cNvGraphicFramePr>
            <a:graphicFrameLocks noGrp="1"/>
          </p:cNvGraphicFramePr>
          <p:nvPr/>
        </p:nvGraphicFramePr>
        <p:xfrm>
          <a:off x="233518" y="2822825"/>
          <a:ext cx="8676964" cy="3527061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3672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4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905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3200" dirty="0"/>
                        <a:t>Si évaluation négative 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BE" sz="18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8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u="sng" dirty="0">
                          <a:hlinkClick r:id="" action="ppaction://noaction"/>
                        </a:rPr>
                        <a:t>Région Wallonne 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u="sng" baseline="0" dirty="0"/>
                        <a:t>Le  jeune pourra solliciter</a:t>
                      </a:r>
                      <a:r>
                        <a:rPr lang="fr-BE" sz="1800" u="none" baseline="0" dirty="0"/>
                        <a:t> </a:t>
                      </a:r>
                      <a:r>
                        <a:rPr lang="fr-BE" sz="1800" baseline="0" dirty="0"/>
                        <a:t>une nouvelle évaluation </a:t>
                      </a:r>
                      <a:r>
                        <a:rPr lang="fr-BE" sz="1800" dirty="0"/>
                        <a:t>qui aura lieu au plus tard 6</a:t>
                      </a:r>
                      <a:r>
                        <a:rPr lang="fr-BE" sz="1800" baseline="0" dirty="0"/>
                        <a:t> mois après l’évaluation négative, si le jeune en fait la demande dans ce délai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8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u="sng" dirty="0">
                          <a:hlinkClick r:id="" action="ppaction://noaction"/>
                        </a:rPr>
                        <a:t>Région Bruxelles – Capitale</a:t>
                      </a:r>
                      <a:endParaRPr lang="fr-B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u="sng" strike="noStrike" dirty="0"/>
                        <a:t>Le</a:t>
                      </a:r>
                      <a:r>
                        <a:rPr lang="fr-BE" sz="1800" u="sng" strike="noStrike" baseline="0" dirty="0"/>
                        <a:t> jeune pourra solliciter</a:t>
                      </a:r>
                      <a:r>
                        <a:rPr lang="fr-BE" sz="1800" strike="noStrike" baseline="0" dirty="0"/>
                        <a:t> une nouvelle évaluation qui sera menée 3 mois après l’évaluation du 9</a:t>
                      </a:r>
                      <a:r>
                        <a:rPr lang="fr-BE" sz="1800" strike="noStrike" baseline="30000" dirty="0"/>
                        <a:t>ème</a:t>
                      </a:r>
                      <a:r>
                        <a:rPr lang="fr-BE" sz="1800" strike="noStrike" baseline="0" dirty="0"/>
                        <a:t> mois.</a:t>
                      </a:r>
                      <a:endParaRPr lang="fr-BE" sz="1800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518419"/>
                  </a:ext>
                </a:extLst>
              </a:tr>
              <a:tr h="7348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u="sng" dirty="0">
                          <a:hlinkClick r:id="" action="ppaction://noaction"/>
                        </a:rPr>
                        <a:t>Communauté</a:t>
                      </a:r>
                      <a:r>
                        <a:rPr lang="fr-BE" sz="1800" u="sng" baseline="0" dirty="0">
                          <a:hlinkClick r:id="" action="ppaction://noaction"/>
                        </a:rPr>
                        <a:t> Germanophone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u="sng" baseline="0" dirty="0"/>
                        <a:t>Le  jeune pourra solliciter</a:t>
                      </a:r>
                      <a:r>
                        <a:rPr lang="fr-BE" sz="1800" u="none" baseline="0" dirty="0"/>
                        <a:t> </a:t>
                      </a:r>
                      <a:r>
                        <a:rPr lang="fr-BE" sz="1800" baseline="0" dirty="0"/>
                        <a:t>une nouvelle évaluation </a:t>
                      </a:r>
                      <a:r>
                        <a:rPr lang="fr-BE" sz="1800" dirty="0"/>
                        <a:t>qui aura lieu à partir du 16</a:t>
                      </a:r>
                      <a:r>
                        <a:rPr lang="fr-BE" sz="1800" baseline="30000" dirty="0"/>
                        <a:t>ème</a:t>
                      </a:r>
                      <a:r>
                        <a:rPr lang="fr-BE" sz="1800" dirty="0"/>
                        <a:t> </a:t>
                      </a:r>
                      <a:r>
                        <a:rPr lang="fr-BE" sz="1800" baseline="0" dirty="0"/>
                        <a:t>mois du SIP</a:t>
                      </a:r>
                      <a:endParaRPr lang="fr-BE" sz="18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077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017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5D05CF-1C0D-43DC-954C-A5B22FC7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dirty="0"/>
              <a:t>4.3. Incidence évaluation négative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9BF41A-4232-428C-8F58-9BBFBC303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b="1" u="sng" dirty="0"/>
              <a:t>Début du droit aux allocations d’insertion</a:t>
            </a:r>
            <a:r>
              <a:rPr lang="fr-BE" sz="2800" dirty="0"/>
              <a:t>:</a:t>
            </a:r>
          </a:p>
          <a:p>
            <a:pPr marL="0" indent="0">
              <a:buNone/>
            </a:pPr>
            <a:endParaRPr lang="fr-BE" sz="2800" dirty="0"/>
          </a:p>
          <a:p>
            <a:pPr marL="0" indent="0">
              <a:buNone/>
            </a:pPr>
            <a:endParaRPr lang="fr-BE" sz="2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76189D-1309-4099-A30C-BBAC2E24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 dirty="0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C920C87A-DD0F-4F87-B893-E84DEAA93D2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276872"/>
          <a:ext cx="8003232" cy="375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38736">
                  <a:extLst>
                    <a:ext uri="{9D8B030D-6E8A-4147-A177-3AD203B41FA5}">
                      <a16:colId xmlns:a16="http://schemas.microsoft.com/office/drawing/2014/main" val="382931780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3926557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Evaluations Dispo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Droit aux AI à partir du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2 évaluations positives durant le SIP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Jour qui suit la fin du SIP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845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2</a:t>
                      </a:r>
                      <a:r>
                        <a:rPr lang="fr-BE" baseline="30000" dirty="0"/>
                        <a:t>ème</a:t>
                      </a:r>
                      <a:r>
                        <a:rPr lang="fr-BE" dirty="0"/>
                        <a:t> évaluation positive tardive après la fin du SIP(SRE fautif)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Jour qui suit la fin du SIP (effet rétroactif)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4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2</a:t>
                      </a:r>
                      <a:r>
                        <a:rPr lang="fr-BE" baseline="30000" dirty="0"/>
                        <a:t>ème</a:t>
                      </a:r>
                      <a:r>
                        <a:rPr lang="fr-BE" dirty="0"/>
                        <a:t> évaluation positive tardive après la fin du SIP(</a:t>
                      </a:r>
                      <a:r>
                        <a:rPr lang="fr-BE"/>
                        <a:t>SRE pas fautif</a:t>
                      </a:r>
                      <a:r>
                        <a:rPr lang="fr-BE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1</a:t>
                      </a:r>
                      <a:r>
                        <a:rPr lang="fr-BE" baseline="30000" dirty="0"/>
                        <a:t>er</a:t>
                      </a:r>
                      <a:r>
                        <a:rPr lang="fr-BE" dirty="0"/>
                        <a:t> jours du mois qui suit la 2</a:t>
                      </a:r>
                      <a:r>
                        <a:rPr lang="fr-BE" baseline="30000" dirty="0"/>
                        <a:t>ème</a:t>
                      </a:r>
                      <a:r>
                        <a:rPr lang="fr-BE" dirty="0"/>
                        <a:t> évaluation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18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/>
                        <a:t>Au moins 1 évaluations négative durant le SIP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fr-BE" dirty="0"/>
                        <a:t>Date évaluation négative a </a:t>
                      </a:r>
                      <a:r>
                        <a:rPr lang="fr-B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fr-BE" dirty="0"/>
                        <a:t>3 mois: 1</a:t>
                      </a:r>
                      <a:r>
                        <a:rPr lang="fr-BE" baseline="30000" dirty="0"/>
                        <a:t>er</a:t>
                      </a:r>
                      <a:r>
                        <a:rPr lang="fr-BE" dirty="0"/>
                        <a:t> jours du mois qui suit la 2</a:t>
                      </a:r>
                      <a:r>
                        <a:rPr lang="fr-BE" baseline="30000" dirty="0"/>
                        <a:t>ème</a:t>
                      </a:r>
                      <a:r>
                        <a:rPr lang="fr-BE" dirty="0"/>
                        <a:t> évaluation positive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fr-BE" dirty="0"/>
                        <a:t>Daté évaluation négative &lt; 3 mois: après une carence de 3 mois de date à date qui suit la 2</a:t>
                      </a:r>
                      <a:r>
                        <a:rPr lang="fr-BE" baseline="30000" dirty="0"/>
                        <a:t>ème</a:t>
                      </a:r>
                      <a:r>
                        <a:rPr lang="fr-BE" dirty="0"/>
                        <a:t> évaluation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042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634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4415A23-C457-4FF7-897A-23914F742A38}"/>
              </a:ext>
            </a:extLst>
          </p:cNvPr>
          <p:cNvCxnSpPr>
            <a:cxnSpLocks/>
          </p:cNvCxnSpPr>
          <p:nvPr/>
        </p:nvCxnSpPr>
        <p:spPr>
          <a:xfrm>
            <a:off x="4766446" y="3884520"/>
            <a:ext cx="0" cy="2716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B7D5CA9D-8F64-48E5-9553-C4A98D1671E1}"/>
              </a:ext>
            </a:extLst>
          </p:cNvPr>
          <p:cNvCxnSpPr>
            <a:cxnSpLocks/>
          </p:cNvCxnSpPr>
          <p:nvPr/>
        </p:nvCxnSpPr>
        <p:spPr>
          <a:xfrm>
            <a:off x="6447751" y="3891272"/>
            <a:ext cx="0" cy="2716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A5DDBB77-0984-4AC6-8589-58A16D30F4A5}"/>
              </a:ext>
            </a:extLst>
          </p:cNvPr>
          <p:cNvCxnSpPr>
            <a:cxnSpLocks/>
          </p:cNvCxnSpPr>
          <p:nvPr/>
        </p:nvCxnSpPr>
        <p:spPr>
          <a:xfrm>
            <a:off x="7301115" y="3492326"/>
            <a:ext cx="0" cy="71169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A0124D2B-11AB-4C2C-AC3B-92744DD929BF}"/>
              </a:ext>
            </a:extLst>
          </p:cNvPr>
          <p:cNvSpPr txBox="1"/>
          <p:nvPr/>
        </p:nvSpPr>
        <p:spPr>
          <a:xfrm>
            <a:off x="7277196" y="3250925"/>
            <a:ext cx="1096581" cy="646331"/>
          </a:xfrm>
          <a:prstGeom prst="rect">
            <a:avLst/>
          </a:prstGeom>
          <a:solidFill>
            <a:srgbClr val="DDADD7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00/ </a:t>
            </a: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408AADF7-0905-48DF-9F4B-AAEBDFC52718}"/>
              </a:ext>
            </a:extLst>
          </p:cNvPr>
          <p:cNvCxnSpPr>
            <a:cxnSpLocks/>
          </p:cNvCxnSpPr>
          <p:nvPr/>
        </p:nvCxnSpPr>
        <p:spPr>
          <a:xfrm>
            <a:off x="7269109" y="3006754"/>
            <a:ext cx="0" cy="89968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BE29B81-228B-4111-B545-8424A4C5E6C6}"/>
              </a:ext>
            </a:extLst>
          </p:cNvPr>
          <p:cNvCxnSpPr>
            <a:cxnSpLocks/>
          </p:cNvCxnSpPr>
          <p:nvPr/>
        </p:nvCxnSpPr>
        <p:spPr>
          <a:xfrm>
            <a:off x="2267744" y="3906435"/>
            <a:ext cx="0" cy="2716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A0D54D1-8186-45E4-9E69-5E1C19A3DCEA}"/>
              </a:ext>
            </a:extLst>
          </p:cNvPr>
          <p:cNvCxnSpPr>
            <a:cxnSpLocks/>
          </p:cNvCxnSpPr>
          <p:nvPr/>
        </p:nvCxnSpPr>
        <p:spPr>
          <a:xfrm>
            <a:off x="631200" y="3006754"/>
            <a:ext cx="0" cy="89968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dirty="0"/>
              <a:t>4.3. Incidence évaluation négative</a:t>
            </a:r>
            <a:endParaRPr lang="fr-BE" sz="4000" b="1" i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618436" y="3260104"/>
            <a:ext cx="6663086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SIP 310 jours </a:t>
            </a: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cxnSp>
        <p:nvCxnSpPr>
          <p:cNvPr id="29" name="Connecteur droit avec flèche 28"/>
          <p:cNvCxnSpPr/>
          <p:nvPr/>
        </p:nvCxnSpPr>
        <p:spPr>
          <a:xfrm flipV="1">
            <a:off x="483895" y="3888077"/>
            <a:ext cx="8396285" cy="304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6905DCD-F562-4AB8-A97A-4EE8C9534D93}"/>
              </a:ext>
            </a:extLst>
          </p:cNvPr>
          <p:cNvSpPr txBox="1"/>
          <p:nvPr/>
        </p:nvSpPr>
        <p:spPr>
          <a:xfrm>
            <a:off x="127144" y="254508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Début SIP au 14.10.21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B18A230-17C5-49BA-ABFA-0F7332CF1A60}"/>
              </a:ext>
            </a:extLst>
          </p:cNvPr>
          <p:cNvSpPr txBox="1"/>
          <p:nvPr/>
        </p:nvSpPr>
        <p:spPr>
          <a:xfrm>
            <a:off x="1763688" y="4168284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Evaluation négative 18.03.22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84118D9-2B6C-4A69-98E4-1EE22D32DFF8}"/>
              </a:ext>
            </a:extLst>
          </p:cNvPr>
          <p:cNvSpPr txBox="1"/>
          <p:nvPr/>
        </p:nvSpPr>
        <p:spPr>
          <a:xfrm>
            <a:off x="4262390" y="4168284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Evaluation positive 16.08.22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7399154-AEB3-4D1B-AAB1-4529D1D8D0B5}"/>
              </a:ext>
            </a:extLst>
          </p:cNvPr>
          <p:cNvSpPr txBox="1"/>
          <p:nvPr/>
        </p:nvSpPr>
        <p:spPr>
          <a:xfrm>
            <a:off x="6773140" y="251989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Fin SIP au 10.10.22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E88557B-05B3-42F6-9C18-BB3E6B6F1DFF}"/>
              </a:ext>
            </a:extLst>
          </p:cNvPr>
          <p:cNvSpPr txBox="1"/>
          <p:nvPr/>
        </p:nvSpPr>
        <p:spPr>
          <a:xfrm>
            <a:off x="6862689" y="4237343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D.A art. 36 11.10.22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4907C85-0F56-442B-B100-2685B719C4CE}"/>
              </a:ext>
            </a:extLst>
          </p:cNvPr>
          <p:cNvSpPr txBox="1"/>
          <p:nvPr/>
        </p:nvSpPr>
        <p:spPr>
          <a:xfrm>
            <a:off x="5943695" y="4175036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Evaluation positive 03.10.22</a:t>
            </a:r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40AD4F6A-D88E-42FF-9AD7-F4677F1333D1}"/>
              </a:ext>
            </a:extLst>
          </p:cNvPr>
          <p:cNvSpPr/>
          <p:nvPr/>
        </p:nvSpPr>
        <p:spPr>
          <a:xfrm>
            <a:off x="8373777" y="3891199"/>
            <a:ext cx="157095" cy="9957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1969845-1268-4CDB-BAA7-7F9E22BBF5F1}"/>
              </a:ext>
            </a:extLst>
          </p:cNvPr>
          <p:cNvSpPr txBox="1"/>
          <p:nvPr/>
        </p:nvSpPr>
        <p:spPr>
          <a:xfrm>
            <a:off x="7948268" y="4975296"/>
            <a:ext cx="1008112" cy="646331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>
                <a:solidFill>
                  <a:schemeClr val="bg1"/>
                </a:solidFill>
              </a:rPr>
              <a:t>Droit aux A.I à partir du 01.11.22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6CD13F5-336C-43B6-A982-A0CC0718A217}"/>
              </a:ext>
            </a:extLst>
          </p:cNvPr>
          <p:cNvSpPr txBox="1"/>
          <p:nvPr/>
        </p:nvSpPr>
        <p:spPr>
          <a:xfrm>
            <a:off x="4114800" y="297521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BE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1C2C552-0277-4574-8BF2-7AF7FE1A9717}"/>
              </a:ext>
            </a:extLst>
          </p:cNvPr>
          <p:cNvSpPr txBox="1"/>
          <p:nvPr/>
        </p:nvSpPr>
        <p:spPr>
          <a:xfrm>
            <a:off x="4114800" y="297521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BE" dirty="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904A629-1EB5-4901-8BA5-E629249C49E3}"/>
              </a:ext>
            </a:extLst>
          </p:cNvPr>
          <p:cNvSpPr txBox="1"/>
          <p:nvPr/>
        </p:nvSpPr>
        <p:spPr>
          <a:xfrm>
            <a:off x="457200" y="1833688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u="sng" dirty="0"/>
              <a:t>Exemple</a:t>
            </a:r>
            <a:r>
              <a:rPr lang="fr-BE" sz="2400" b="1" dirty="0"/>
              <a:t>:</a:t>
            </a:r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298358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5" grpId="0" animBg="1"/>
      <p:bldP spid="8" grpId="0"/>
      <p:bldP spid="15" grpId="0"/>
      <p:bldP spid="17" grpId="0"/>
      <p:bldP spid="21" grpId="0"/>
      <p:bldP spid="26" grpId="0"/>
      <p:bldP spid="27" grpId="0"/>
      <p:bldP spid="13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4415A23-C457-4FF7-897A-23914F742A38}"/>
              </a:ext>
            </a:extLst>
          </p:cNvPr>
          <p:cNvCxnSpPr>
            <a:cxnSpLocks/>
          </p:cNvCxnSpPr>
          <p:nvPr/>
        </p:nvCxnSpPr>
        <p:spPr>
          <a:xfrm>
            <a:off x="4766446" y="3884520"/>
            <a:ext cx="0" cy="2716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B7D5CA9D-8F64-48E5-9553-C4A98D1671E1}"/>
              </a:ext>
            </a:extLst>
          </p:cNvPr>
          <p:cNvCxnSpPr>
            <a:cxnSpLocks/>
          </p:cNvCxnSpPr>
          <p:nvPr/>
        </p:nvCxnSpPr>
        <p:spPr>
          <a:xfrm>
            <a:off x="6447751" y="3891272"/>
            <a:ext cx="0" cy="2716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A5DDBB77-0984-4AC6-8589-58A16D30F4A5}"/>
              </a:ext>
            </a:extLst>
          </p:cNvPr>
          <p:cNvCxnSpPr>
            <a:cxnSpLocks/>
          </p:cNvCxnSpPr>
          <p:nvPr/>
        </p:nvCxnSpPr>
        <p:spPr>
          <a:xfrm>
            <a:off x="7301115" y="3492326"/>
            <a:ext cx="0" cy="71169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A0124D2B-11AB-4C2C-AC3B-92744DD929BF}"/>
              </a:ext>
            </a:extLst>
          </p:cNvPr>
          <p:cNvSpPr txBox="1"/>
          <p:nvPr/>
        </p:nvSpPr>
        <p:spPr>
          <a:xfrm>
            <a:off x="7277196" y="3250925"/>
            <a:ext cx="1096581" cy="646331"/>
          </a:xfrm>
          <a:prstGeom prst="rect">
            <a:avLst/>
          </a:prstGeom>
          <a:solidFill>
            <a:srgbClr val="DDADD7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00/ </a:t>
            </a: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408AADF7-0905-48DF-9F4B-AAEBDFC52718}"/>
              </a:ext>
            </a:extLst>
          </p:cNvPr>
          <p:cNvCxnSpPr>
            <a:cxnSpLocks/>
          </p:cNvCxnSpPr>
          <p:nvPr/>
        </p:nvCxnSpPr>
        <p:spPr>
          <a:xfrm>
            <a:off x="7269109" y="3006754"/>
            <a:ext cx="0" cy="89968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BE29B81-228B-4111-B545-8424A4C5E6C6}"/>
              </a:ext>
            </a:extLst>
          </p:cNvPr>
          <p:cNvCxnSpPr>
            <a:cxnSpLocks/>
          </p:cNvCxnSpPr>
          <p:nvPr/>
        </p:nvCxnSpPr>
        <p:spPr>
          <a:xfrm>
            <a:off x="2267744" y="3906435"/>
            <a:ext cx="0" cy="27165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A0D54D1-8186-45E4-9E69-5E1C19A3DCEA}"/>
              </a:ext>
            </a:extLst>
          </p:cNvPr>
          <p:cNvCxnSpPr>
            <a:cxnSpLocks/>
          </p:cNvCxnSpPr>
          <p:nvPr/>
        </p:nvCxnSpPr>
        <p:spPr>
          <a:xfrm>
            <a:off x="631200" y="3006754"/>
            <a:ext cx="0" cy="89968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dirty="0"/>
              <a:t>4.3. Incidence évaluation négative</a:t>
            </a:r>
            <a:endParaRPr lang="fr-BE" sz="4000" b="1" i="1" dirty="0"/>
          </a:p>
        </p:txBody>
      </p:sp>
      <p:sp>
        <p:nvSpPr>
          <p:cNvPr id="25" name="ZoneTexte 24"/>
          <p:cNvSpPr txBox="1"/>
          <p:nvPr/>
        </p:nvSpPr>
        <p:spPr>
          <a:xfrm>
            <a:off x="618436" y="3260104"/>
            <a:ext cx="6663086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prstClr val="black"/>
                </a:solidFill>
              </a:rPr>
              <a:t>SIP 310 jours </a:t>
            </a:r>
          </a:p>
          <a:p>
            <a:pPr algn="ctr"/>
            <a:endParaRPr lang="fr-BE" b="1" i="1" dirty="0">
              <a:solidFill>
                <a:prstClr val="black"/>
              </a:solidFill>
            </a:endParaRPr>
          </a:p>
        </p:txBody>
      </p:sp>
      <p:cxnSp>
        <p:nvCxnSpPr>
          <p:cNvPr id="29" name="Connecteur droit avec flèche 28"/>
          <p:cNvCxnSpPr/>
          <p:nvPr/>
        </p:nvCxnSpPr>
        <p:spPr>
          <a:xfrm flipV="1">
            <a:off x="483895" y="3888077"/>
            <a:ext cx="8396285" cy="304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6905DCD-F562-4AB8-A97A-4EE8C9534D93}"/>
              </a:ext>
            </a:extLst>
          </p:cNvPr>
          <p:cNvSpPr txBox="1"/>
          <p:nvPr/>
        </p:nvSpPr>
        <p:spPr>
          <a:xfrm>
            <a:off x="127144" y="254508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Début SIP au 14.10.21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B18A230-17C5-49BA-ABFA-0F7332CF1A60}"/>
              </a:ext>
            </a:extLst>
          </p:cNvPr>
          <p:cNvSpPr txBox="1"/>
          <p:nvPr/>
        </p:nvSpPr>
        <p:spPr>
          <a:xfrm>
            <a:off x="1763688" y="4168284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Evaluation positive 18.03.22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84118D9-2B6C-4A69-98E4-1EE22D32DFF8}"/>
              </a:ext>
            </a:extLst>
          </p:cNvPr>
          <p:cNvSpPr txBox="1"/>
          <p:nvPr/>
        </p:nvSpPr>
        <p:spPr>
          <a:xfrm>
            <a:off x="4262390" y="4168284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Evaluation négative 16.08.22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7399154-AEB3-4D1B-AAB1-4529D1D8D0B5}"/>
              </a:ext>
            </a:extLst>
          </p:cNvPr>
          <p:cNvSpPr txBox="1"/>
          <p:nvPr/>
        </p:nvSpPr>
        <p:spPr>
          <a:xfrm>
            <a:off x="6773140" y="251989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Fin SIP au 10.10.22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E88557B-05B3-42F6-9C18-BB3E6B6F1DFF}"/>
              </a:ext>
            </a:extLst>
          </p:cNvPr>
          <p:cNvSpPr txBox="1"/>
          <p:nvPr/>
        </p:nvSpPr>
        <p:spPr>
          <a:xfrm>
            <a:off x="6862689" y="4237343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D.A art. 36 11.10.22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4907C85-0F56-442B-B100-2685B719C4CE}"/>
              </a:ext>
            </a:extLst>
          </p:cNvPr>
          <p:cNvSpPr txBox="1"/>
          <p:nvPr/>
        </p:nvSpPr>
        <p:spPr>
          <a:xfrm>
            <a:off x="5943695" y="4175036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/>
              <a:t>Evaluation positive 03.10.22</a:t>
            </a:r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40AD4F6A-D88E-42FF-9AD7-F4677F1333D1}"/>
              </a:ext>
            </a:extLst>
          </p:cNvPr>
          <p:cNvSpPr/>
          <p:nvPr/>
        </p:nvSpPr>
        <p:spPr>
          <a:xfrm>
            <a:off x="8373777" y="3891199"/>
            <a:ext cx="157095" cy="9957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1969845-1268-4CDB-BAA7-7F9E22BBF5F1}"/>
              </a:ext>
            </a:extLst>
          </p:cNvPr>
          <p:cNvSpPr txBox="1"/>
          <p:nvPr/>
        </p:nvSpPr>
        <p:spPr>
          <a:xfrm>
            <a:off x="7948268" y="4975296"/>
            <a:ext cx="1008112" cy="646331"/>
          </a:xfrm>
          <a:prstGeom prst="rect">
            <a:avLst/>
          </a:prstGeom>
          <a:solidFill>
            <a:srgbClr val="008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BE" sz="1200" b="1" dirty="0">
                <a:solidFill>
                  <a:schemeClr val="bg1"/>
                </a:solidFill>
              </a:rPr>
              <a:t>Droit aux A.I à partir du 16.11.22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9F76A82-C399-4A37-BE20-2927D7220A31}"/>
              </a:ext>
            </a:extLst>
          </p:cNvPr>
          <p:cNvSpPr txBox="1"/>
          <p:nvPr/>
        </p:nvSpPr>
        <p:spPr>
          <a:xfrm>
            <a:off x="457200" y="1833688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u="sng" dirty="0"/>
              <a:t>Exemple</a:t>
            </a:r>
            <a:r>
              <a:rPr lang="fr-BE" sz="2400" b="1" dirty="0"/>
              <a:t>:</a:t>
            </a:r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230176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25" grpId="0" animBg="1"/>
      <p:bldP spid="8" grpId="0"/>
      <p:bldP spid="15" grpId="0"/>
      <p:bldP spid="17" grpId="0"/>
      <p:bldP spid="21" grpId="0"/>
      <p:bldP spid="26" grpId="0"/>
      <p:bldP spid="27" grpId="0"/>
      <p:bldP spid="13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5D05CF-1C0D-43DC-954C-A5B22FC7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dirty="0"/>
              <a:t>4.4. Evaluation positive d’office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9BF41A-4232-428C-8F58-9BBFBC303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016" y="162401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BE" sz="2800" dirty="0"/>
          </a:p>
          <a:p>
            <a:pPr marL="0" indent="0">
              <a:buNone/>
            </a:pPr>
            <a:endParaRPr lang="fr-BE" sz="2800" dirty="0"/>
          </a:p>
          <a:p>
            <a:pPr marL="0" indent="0">
              <a:buNone/>
            </a:pPr>
            <a:endParaRPr lang="fr-BE" sz="2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76189D-1309-4099-A30C-BBAC2E24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 dirty="0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C920C87A-DD0F-4F87-B893-E84DEAA93D23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24012"/>
          <a:ext cx="8003233" cy="4216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178696">
                  <a:extLst>
                    <a:ext uri="{9D8B030D-6E8A-4147-A177-3AD203B41FA5}">
                      <a16:colId xmlns:a16="http://schemas.microsoft.com/office/drawing/2014/main" val="38293178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926557365"/>
                    </a:ext>
                  </a:extLst>
                </a:gridCol>
                <a:gridCol w="2952329">
                  <a:extLst>
                    <a:ext uri="{9D8B030D-6E8A-4147-A177-3AD203B41FA5}">
                      <a16:colId xmlns:a16="http://schemas.microsoft.com/office/drawing/2014/main" val="1218992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Évènement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Durée durant SIP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Conséquence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FPI/PFI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fr-BE" b="0" dirty="0"/>
                        <a:t>4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1 évaluation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845709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r>
                        <a:rPr lang="fr-BE" b="1" dirty="0"/>
                        <a:t>Travail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fr-BE" b="0" dirty="0"/>
                        <a:t>4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1 évaluation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485774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fr-BE" b="0" dirty="0"/>
                        <a:t>8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2 évaluations positives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850767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/>
                        <a:t>Indépendant principal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fr-BE" b="0" dirty="0"/>
                        <a:t>4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1 évaluation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185039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fr-BE" b="0" dirty="0"/>
                        <a:t>8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2 évaluations positives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015925"/>
                  </a:ext>
                </a:extLst>
              </a:tr>
              <a:tr h="3200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/>
                        <a:t>Trajet d’accompagnement  spécifique ou adapté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fr-BE" b="0" dirty="0"/>
                        <a:t>4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1 évaluation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042028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≥ </a:t>
                      </a:r>
                      <a:r>
                        <a:rPr lang="fr-BE" b="0" dirty="0"/>
                        <a:t>8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2 évaluations positives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5836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/>
                        <a:t>Formation en alternance sans succès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36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1 évaluation 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29226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/>
                        <a:t>Formation en </a:t>
                      </a:r>
                      <a:r>
                        <a:rPr lang="fr-BE" b="1"/>
                        <a:t>alternance avec </a:t>
                      </a:r>
                      <a:r>
                        <a:rPr lang="fr-BE" b="1" dirty="0"/>
                        <a:t>succès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36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2 évaluations positives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15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787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AF29DE-8E0E-4912-8C4F-030B4EAB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dirty="0"/>
              <a:t>5. Condition d’âge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37915E-01D2-4E9A-A116-7E38E8B05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1460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BE" b="1" dirty="0"/>
              <a:t>Ne pas avoir atteint l’âge de 25 ans au moment de la DA</a:t>
            </a:r>
          </a:p>
          <a:p>
            <a:pPr marL="0" indent="0">
              <a:buNone/>
            </a:pPr>
            <a:r>
              <a:rPr lang="fr-BE" u="sng" dirty="0">
                <a:solidFill>
                  <a:srgbClr val="C00000"/>
                </a:solidFill>
              </a:rPr>
              <a:t>SI </a:t>
            </a:r>
            <a:r>
              <a:rPr lang="fr-BE" dirty="0"/>
              <a:t>le jeune ne pouvait pas d’introduire sa DA avant cet âge </a:t>
            </a:r>
          </a:p>
          <a:p>
            <a:r>
              <a:rPr lang="fr-BE" dirty="0"/>
              <a:t>en raison de </a:t>
            </a:r>
            <a:r>
              <a:rPr lang="fr-BE" b="1" dirty="0">
                <a:solidFill>
                  <a:srgbClr val="C00000"/>
                </a:solidFill>
              </a:rPr>
              <a:t>force majeure</a:t>
            </a:r>
            <a:r>
              <a:rPr lang="fr-BE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 la limite d’âge est reportée à l’âge atteint </a:t>
            </a:r>
            <a:r>
              <a:rPr lang="fr-BE" b="1" dirty="0"/>
              <a:t>treize mois après la fin des études ;</a:t>
            </a:r>
          </a:p>
          <a:p>
            <a:r>
              <a:rPr lang="fr-BE" dirty="0"/>
              <a:t>en raison d'une </a:t>
            </a:r>
            <a:r>
              <a:rPr lang="fr-BE" b="1" dirty="0">
                <a:solidFill>
                  <a:srgbClr val="C00000"/>
                </a:solidFill>
              </a:rPr>
              <a:t>occupation comme travailleur salarié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limite d'âge est reportée à l’âge atteint </a:t>
            </a:r>
            <a:r>
              <a:rPr lang="fr-BE" b="1" dirty="0"/>
              <a:t>un mois après la fin de l’occupation ;</a:t>
            </a:r>
          </a:p>
          <a:p>
            <a:r>
              <a:rPr lang="fr-BE" dirty="0"/>
              <a:t>occupation comme </a:t>
            </a:r>
            <a:r>
              <a:rPr lang="fr-BE" b="1" dirty="0">
                <a:solidFill>
                  <a:srgbClr val="C00000"/>
                </a:solidFill>
              </a:rPr>
              <a:t>indépendant à titre principal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la limite d'âge est reportée à l'âge atteint </a:t>
            </a:r>
            <a:r>
              <a:rPr lang="fr-BE" b="1" dirty="0"/>
              <a:t>un mois après la fin de l'occupation en tant qu'indépendant</a:t>
            </a:r>
            <a:r>
              <a:rPr lang="fr-BE" dirty="0"/>
              <a:t>. </a:t>
            </a:r>
          </a:p>
          <a:p>
            <a:pPr marL="457200" lvl="1" indent="0">
              <a:buNone/>
            </a:pPr>
            <a:r>
              <a:rPr lang="fr-BE" dirty="0"/>
              <a:t>La période d'occupation comme indépendant est toutefois limitée à cinq ans, calculés de date à date.</a:t>
            </a: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3308FA-C92E-4F84-A73D-DDD4F608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95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724993-32F3-490D-98CF-B900BBC6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dirty="0"/>
              <a:t>5. Condition d’âge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790AF5-42B4-485F-AD9A-E73DEA31D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fr-BE" u="sng" dirty="0"/>
              <a:t>Exemple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AD1788-53F3-44D0-A31B-5D5D5D72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28</a:t>
            </a:fld>
            <a:endParaRPr lang="fr-FR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F3D59FEC-C269-4936-97D6-CEAD327C4D01}"/>
              </a:ext>
            </a:extLst>
          </p:cNvPr>
          <p:cNvCxnSpPr/>
          <p:nvPr/>
        </p:nvCxnSpPr>
        <p:spPr>
          <a:xfrm>
            <a:off x="683568" y="3068960"/>
            <a:ext cx="0" cy="15121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E0E162AD-E7EA-44D2-B578-5A11404E8DA3}"/>
              </a:ext>
            </a:extLst>
          </p:cNvPr>
          <p:cNvSpPr txBox="1"/>
          <p:nvPr/>
        </p:nvSpPr>
        <p:spPr>
          <a:xfrm>
            <a:off x="107503" y="4725144"/>
            <a:ext cx="2653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/>
              <a:t>Fin des études le 30.06.2021</a:t>
            </a:r>
          </a:p>
          <a:p>
            <a:r>
              <a:rPr lang="fr-BE" sz="1600" dirty="0"/>
              <a:t>Né le 10.09.1997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F0E31B-15E8-4592-A037-77D92D28CB49}"/>
              </a:ext>
            </a:extLst>
          </p:cNvPr>
          <p:cNvSpPr/>
          <p:nvPr/>
        </p:nvSpPr>
        <p:spPr>
          <a:xfrm>
            <a:off x="1115616" y="2894364"/>
            <a:ext cx="3960438" cy="792088"/>
          </a:xfrm>
          <a:prstGeom prst="rect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b="1" dirty="0">
                <a:solidFill>
                  <a:schemeClr val="tx1"/>
                </a:solidFill>
              </a:rPr>
              <a:t>SIP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463D9042-44E8-4BDD-A941-76E90610CB1D}"/>
              </a:ext>
            </a:extLst>
          </p:cNvPr>
          <p:cNvCxnSpPr/>
          <p:nvPr/>
        </p:nvCxnSpPr>
        <p:spPr>
          <a:xfrm flipV="1">
            <a:off x="1115616" y="2430673"/>
            <a:ext cx="0" cy="1276573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3CACE539-7EAE-4DC5-BF5B-14CB7B9FF250}"/>
              </a:ext>
            </a:extLst>
          </p:cNvPr>
          <p:cNvCxnSpPr/>
          <p:nvPr/>
        </p:nvCxnSpPr>
        <p:spPr>
          <a:xfrm flipV="1">
            <a:off x="5076054" y="2430673"/>
            <a:ext cx="0" cy="1276573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3F85C5CA-5F10-4792-8347-7B73CA6AE8FE}"/>
              </a:ext>
            </a:extLst>
          </p:cNvPr>
          <p:cNvSpPr txBox="1"/>
          <p:nvPr/>
        </p:nvSpPr>
        <p:spPr>
          <a:xfrm>
            <a:off x="671482" y="2106692"/>
            <a:ext cx="1152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rgbClr val="008000"/>
                </a:solidFill>
              </a:rPr>
              <a:t>02.08.2021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498A2CB-8718-4671-BDB5-E8DC7D89441C}"/>
              </a:ext>
            </a:extLst>
          </p:cNvPr>
          <p:cNvSpPr txBox="1"/>
          <p:nvPr/>
        </p:nvSpPr>
        <p:spPr>
          <a:xfrm>
            <a:off x="4295051" y="2120155"/>
            <a:ext cx="1920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>
                <a:solidFill>
                  <a:srgbClr val="008000"/>
                </a:solidFill>
              </a:rPr>
              <a:t>28.07.2022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2E93898-3447-42DF-9EB6-FFA4C9370BFC}"/>
              </a:ext>
            </a:extLst>
          </p:cNvPr>
          <p:cNvCxnSpPr>
            <a:cxnSpLocks/>
          </p:cNvCxnSpPr>
          <p:nvPr/>
        </p:nvCxnSpPr>
        <p:spPr>
          <a:xfrm>
            <a:off x="5108620" y="2915078"/>
            <a:ext cx="0" cy="1798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D895F87D-64B6-4254-A977-8F444CAF7344}"/>
              </a:ext>
            </a:extLst>
          </p:cNvPr>
          <p:cNvSpPr txBox="1"/>
          <p:nvPr/>
        </p:nvSpPr>
        <p:spPr>
          <a:xfrm>
            <a:off x="4462256" y="4713794"/>
            <a:ext cx="1920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/>
              <a:t>DA au 29.07.2022</a:t>
            </a:r>
          </a:p>
          <a:p>
            <a:r>
              <a:rPr lang="fr-BE" sz="1600" dirty="0"/>
              <a:t>&lt; 25 ans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13C2E3-CD37-4476-8F31-29747454A6DA}"/>
              </a:ext>
            </a:extLst>
          </p:cNvPr>
          <p:cNvSpPr/>
          <p:nvPr/>
        </p:nvSpPr>
        <p:spPr>
          <a:xfrm>
            <a:off x="3851920" y="2719957"/>
            <a:ext cx="3528390" cy="977504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CDD 38/38 du 15.06.2022 au 14.11.2022</a:t>
            </a: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3D7EA295-8DFC-4EBE-BEA5-5DF2FF93C61E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457200" y="3697462"/>
            <a:ext cx="82296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456D871-F03D-4C1B-BA59-771A048EA98C}"/>
              </a:ext>
            </a:extLst>
          </p:cNvPr>
          <p:cNvCxnSpPr>
            <a:cxnSpLocks/>
          </p:cNvCxnSpPr>
          <p:nvPr/>
        </p:nvCxnSpPr>
        <p:spPr>
          <a:xfrm>
            <a:off x="7389413" y="3068959"/>
            <a:ext cx="0" cy="15121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034ADDBC-CC50-4501-B100-ECF0DBFBFFE8}"/>
              </a:ext>
            </a:extLst>
          </p:cNvPr>
          <p:cNvSpPr txBox="1"/>
          <p:nvPr/>
        </p:nvSpPr>
        <p:spPr>
          <a:xfrm>
            <a:off x="7020272" y="4581128"/>
            <a:ext cx="1892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600" dirty="0"/>
              <a:t>DA au 15.11.2022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B27091A-B236-4BF7-AD64-626F3862481A}"/>
              </a:ext>
            </a:extLst>
          </p:cNvPr>
          <p:cNvSpPr txBox="1"/>
          <p:nvPr/>
        </p:nvSpPr>
        <p:spPr>
          <a:xfrm>
            <a:off x="7020272" y="4919682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 ans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Ok dérogation</a:t>
            </a:r>
          </a:p>
        </p:txBody>
      </p:sp>
    </p:spTree>
    <p:extLst>
      <p:ext uri="{BB962C8B-B14F-4D97-AF65-F5344CB8AC3E}">
        <p14:creationId xmlns:p14="http://schemas.microsoft.com/office/powerpoint/2010/main" val="427456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5" grpId="0"/>
      <p:bldP spid="16" grpId="0"/>
      <p:bldP spid="20" grpId="0"/>
      <p:bldP spid="20" grpId="1"/>
      <p:bldP spid="22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603C48-DD5B-42DC-8D93-123E57F9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dirty="0"/>
              <a:t>6. Allocation d’insertion majorée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E3ACC5-290F-4CB5-8F7D-772136A42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2800" b="1" dirty="0"/>
              <a:t>Conditions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400" dirty="0"/>
              <a:t> Travailleur </a:t>
            </a:r>
            <a:r>
              <a:rPr lang="fr-BE" sz="2400" b="1" dirty="0">
                <a:solidFill>
                  <a:srgbClr val="C00000"/>
                </a:solidFill>
              </a:rPr>
              <a:t>avec charge de famille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400" b="1" dirty="0">
                <a:solidFill>
                  <a:srgbClr val="C00000"/>
                </a:solidFill>
              </a:rPr>
              <a:t>78 jours de travail R6 </a:t>
            </a:r>
            <a:r>
              <a:rPr lang="fr-BE" sz="2400" dirty="0"/>
              <a:t>(art. 37) durant le SIP</a:t>
            </a:r>
          </a:p>
          <a:p>
            <a:pPr marL="457200" lvl="1" indent="0">
              <a:buNone/>
            </a:pPr>
            <a:endParaRPr lang="fr-BE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800" b="1" dirty="0"/>
              <a:t>Durée :</a:t>
            </a:r>
            <a:r>
              <a:rPr lang="fr-BE" sz="2800" dirty="0"/>
              <a:t> 16 mois prolongeable si application 116§2</a:t>
            </a:r>
          </a:p>
          <a:p>
            <a:pPr marL="0" indent="0">
              <a:buNone/>
            </a:pPr>
            <a:endParaRPr lang="fr-BE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800" b="1" dirty="0"/>
              <a:t>Codification :</a:t>
            </a:r>
            <a:r>
              <a:rPr lang="fr-BE" sz="2800" dirty="0"/>
              <a:t> préfixe 01/, 11/ ou 57/ + </a:t>
            </a:r>
            <a:r>
              <a:rPr lang="fr-BE" sz="2800" b="1" dirty="0">
                <a:solidFill>
                  <a:srgbClr val="C00000"/>
                </a:solidFill>
              </a:rPr>
              <a:t>WA3F</a:t>
            </a:r>
          </a:p>
          <a:p>
            <a:pPr marL="0" indent="0">
              <a:buNone/>
            </a:pPr>
            <a:r>
              <a:rPr lang="fr-BE" sz="2400" b="1" dirty="0" err="1"/>
              <a:t>Rmq</a:t>
            </a:r>
            <a:r>
              <a:rPr lang="fr-BE" sz="2400" b="1" dirty="0"/>
              <a:t> : </a:t>
            </a:r>
            <a:r>
              <a:rPr lang="fr-BE" sz="2400" dirty="0">
                <a:solidFill>
                  <a:srgbClr val="C00000"/>
                </a:solidFill>
              </a:rPr>
              <a:t> </a:t>
            </a:r>
            <a:r>
              <a:rPr lang="fr-BE" sz="2400" dirty="0"/>
              <a:t>code WN3F, WB3F ou WP3F octroyé si condition 78 jours OK mais aucune majoration</a:t>
            </a:r>
          </a:p>
          <a:p>
            <a:pPr marL="0" indent="0">
              <a:buNone/>
            </a:pPr>
            <a:endParaRPr lang="fr-BE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800" b="1" dirty="0"/>
              <a:t>Montant</a:t>
            </a:r>
            <a:r>
              <a:rPr lang="fr-BE" sz="2800" b="1"/>
              <a:t>: </a:t>
            </a:r>
            <a:r>
              <a:rPr lang="fr-BE" sz="2800" b="1">
                <a:solidFill>
                  <a:srgbClr val="C00000"/>
                </a:solidFill>
              </a:rPr>
              <a:t>62,28€</a:t>
            </a:r>
            <a:r>
              <a:rPr lang="fr-BE" sz="2800" b="1" dirty="0">
                <a:solidFill>
                  <a:srgbClr val="C00000"/>
                </a:solidFill>
              </a:rPr>
              <a:t>/jour </a:t>
            </a:r>
            <a:r>
              <a:rPr lang="fr-BE" sz="2000" dirty="0"/>
              <a:t>(barème </a:t>
            </a:r>
            <a:r>
              <a:rPr lang="fr-BE" sz="2000"/>
              <a:t>du 01.11.2022</a:t>
            </a:r>
            <a:r>
              <a:rPr lang="fr-BE" sz="2000" dirty="0"/>
              <a:t>)</a:t>
            </a:r>
            <a:endParaRPr lang="fr-BE" sz="2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29D5A8-5F40-4111-80BF-664D1F4C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346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5B4FBC-4403-4A5F-B1BF-57FD8EF30658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f1b85f46-8f47-4c7a-8346-9752567dac4a"/>
    <ds:schemaRef ds:uri="badce1e3-4228-484a-9cea-a1abab477a44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5BAC322-7E52-41AA-B26F-D4C8D1C57F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911DF4-24F9-432D-8486-082989E6EE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12347</TotalTime>
  <Words>2153</Words>
  <Application>Microsoft Office PowerPoint</Application>
  <PresentationFormat>Affichage à l'écran (4:3)</PresentationFormat>
  <Paragraphs>304</Paragraphs>
  <Slides>29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7" baseType="lpstr">
      <vt:lpstr>Arial</vt:lpstr>
      <vt:lpstr>Arial Black</vt:lpstr>
      <vt:lpstr>Calibri</vt:lpstr>
      <vt:lpstr>Calibri Light</vt:lpstr>
      <vt:lpstr>Segoe UI Emoji</vt:lpstr>
      <vt:lpstr>Times New Roman</vt:lpstr>
      <vt:lpstr>Wingdings</vt:lpstr>
      <vt:lpstr>Thème Office</vt:lpstr>
      <vt:lpstr>Admission sur base des études (Niveau 2)</vt:lpstr>
      <vt:lpstr>Table des matières</vt:lpstr>
      <vt:lpstr>Table des matières</vt:lpstr>
      <vt:lpstr>1. Rappel des conditions d’admissibilités</vt:lpstr>
      <vt:lpstr>2. Admissibilité sur base d’études à l’étranger</vt:lpstr>
      <vt:lpstr>2.1. Etudes à l’étranger </vt:lpstr>
      <vt:lpstr>2.2. Travailleur migrant</vt:lpstr>
      <vt:lpstr>2.2. Travailleur migrant</vt:lpstr>
      <vt:lpstr>3. Évènements impactant la durée du SIP</vt:lpstr>
      <vt:lpstr>3.1. Rappel SIP</vt:lpstr>
      <vt:lpstr>3.2. Principaux jours pris en considération pour le SIP</vt:lpstr>
      <vt:lpstr>3.3. Jours non pris en considération pour le SIP</vt:lpstr>
      <vt:lpstr>3.4. Incidence des études sur le SIP</vt:lpstr>
      <vt:lpstr>3.4. Incidence des études sur le SIP</vt:lpstr>
      <vt:lpstr>3.4. Incidence des études sur le SIP</vt:lpstr>
      <vt:lpstr>3.4. Incidence des études sur le SIP</vt:lpstr>
      <vt:lpstr>3.4. Incidence des études sur le SIP</vt:lpstr>
      <vt:lpstr>3.5. Incidence stage à l’étranger</vt:lpstr>
      <vt:lpstr>4. Dispo J: Procédure et incidence des évaluations </vt:lpstr>
      <vt:lpstr>4.1. Rappel</vt:lpstr>
      <vt:lpstr>4.2. Aperçu procédure générale </vt:lpstr>
      <vt:lpstr>4.3. Incidence évaluation négative</vt:lpstr>
      <vt:lpstr>4.3. Incidence évaluation négative</vt:lpstr>
      <vt:lpstr>4.3. Incidence évaluation négative</vt:lpstr>
      <vt:lpstr>4.3. Incidence évaluation négative</vt:lpstr>
      <vt:lpstr>4.4. Evaluation positive d’office</vt:lpstr>
      <vt:lpstr>5. Condition d’âge</vt:lpstr>
      <vt:lpstr>5. Condition d’âge</vt:lpstr>
      <vt:lpstr>6. Allocation d’insertion majorée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FCJ-M31-Admis. sur base des études et droit de base (niv.2)-Participants</dc:title>
  <dc:creator>u99lge</dc:creator>
  <cp:lastModifiedBy>Anja Sobkowiak</cp:lastModifiedBy>
  <cp:revision>787</cp:revision>
  <cp:lastPrinted>2019-01-11T11:14:15Z</cp:lastPrinted>
  <dcterms:created xsi:type="dcterms:W3CDTF">2010-09-22T12:12:06Z</dcterms:created>
  <dcterms:modified xsi:type="dcterms:W3CDTF">2023-01-07T19:08:11Z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78;#Admission CC sur base des études et droit de base|0214588b-de64-481e-bc77-63dd405963da</vt:lpwstr>
  </property>
  <property fmtid="{D5CDD505-2E9C-101B-9397-08002B2CF9AE}" pid="8" name="Order">
    <vt:r8>242600</vt:r8>
  </property>
  <property fmtid="{D5CDD505-2E9C-101B-9397-08002B2CF9AE}" pid="9" name="_dlc_DocIdItemGuid">
    <vt:lpwstr>bf45c338-08fa-420b-a25c-5520dba3c3de</vt:lpwstr>
  </property>
</Properties>
</file>