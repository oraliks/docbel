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5"/>
  </p:sldMasterIdLst>
  <p:notesMasterIdLst>
    <p:notesMasterId r:id="rId32"/>
  </p:notesMasterIdLst>
  <p:handoutMasterIdLst>
    <p:handoutMasterId r:id="rId33"/>
  </p:handoutMasterIdLst>
  <p:sldIdLst>
    <p:sldId id="356" r:id="rId6"/>
    <p:sldId id="358" r:id="rId7"/>
    <p:sldId id="338" r:id="rId8"/>
    <p:sldId id="310" r:id="rId9"/>
    <p:sldId id="311" r:id="rId10"/>
    <p:sldId id="313" r:id="rId11"/>
    <p:sldId id="316" r:id="rId12"/>
    <p:sldId id="354" r:id="rId13"/>
    <p:sldId id="312" r:id="rId14"/>
    <p:sldId id="314" r:id="rId15"/>
    <p:sldId id="315" r:id="rId16"/>
    <p:sldId id="357" r:id="rId17"/>
    <p:sldId id="359" r:id="rId18"/>
    <p:sldId id="360" r:id="rId19"/>
    <p:sldId id="328" r:id="rId20"/>
    <p:sldId id="323" r:id="rId21"/>
    <p:sldId id="334" r:id="rId22"/>
    <p:sldId id="331" r:id="rId23"/>
    <p:sldId id="330" r:id="rId24"/>
    <p:sldId id="347" r:id="rId25"/>
    <p:sldId id="339" r:id="rId26"/>
    <p:sldId id="344" r:id="rId27"/>
    <p:sldId id="349" r:id="rId28"/>
    <p:sldId id="345" r:id="rId29"/>
    <p:sldId id="346" r:id="rId30"/>
    <p:sldId id="351" r:id="rId31"/>
  </p:sldIdLst>
  <p:sldSz cx="9144000" cy="6858000" type="screen4x3"/>
  <p:notesSz cx="6669088"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9933"/>
    <a:srgbClr val="669900"/>
    <a:srgbClr val="00FF00"/>
    <a:srgbClr val="003399"/>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60A97-98DB-4971-BD62-B724C5BA6CCC}" v="23" dt="2023-06-09T13:59:40.47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3" autoAdjust="0"/>
    <p:restoredTop sz="79254" autoAdjust="0"/>
  </p:normalViewPr>
  <p:slideViewPr>
    <p:cSldViewPr>
      <p:cViewPr varScale="1">
        <p:scale>
          <a:sx n="90" d="100"/>
          <a:sy n="90" d="100"/>
        </p:scale>
        <p:origin x="1974" y="90"/>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889938" cy="496332"/>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777607" y="1"/>
            <a:ext cx="2889938" cy="496332"/>
          </a:xfrm>
          <a:prstGeom prst="rect">
            <a:avLst/>
          </a:prstGeom>
        </p:spPr>
        <p:txBody>
          <a:bodyPr vert="horz" lIns="91440" tIns="45720" rIns="91440" bIns="45720" rtlCol="0"/>
          <a:lstStyle>
            <a:lvl1pPr algn="r">
              <a:defRPr sz="1200"/>
            </a:lvl1pPr>
          </a:lstStyle>
          <a:p>
            <a:fld id="{E47068CA-F0DC-447A-B9ED-AE95D731C7D8}" type="datetimeFigureOut">
              <a:rPr lang="fr-FR" smtClean="0"/>
              <a:pPr/>
              <a:t>19/06/2023</a:t>
            </a:fld>
            <a:endParaRPr lang="fr-FR"/>
          </a:p>
        </p:txBody>
      </p:sp>
      <p:sp>
        <p:nvSpPr>
          <p:cNvPr id="4" name="Espace réservé du pied de page 3"/>
          <p:cNvSpPr>
            <a:spLocks noGrp="1"/>
          </p:cNvSpPr>
          <p:nvPr>
            <p:ph type="ftr" sz="quarter" idx="2"/>
          </p:nvPr>
        </p:nvSpPr>
        <p:spPr>
          <a:xfrm>
            <a:off x="0" y="9428585"/>
            <a:ext cx="2889938" cy="496332"/>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777607" y="9428585"/>
            <a:ext cx="2889938" cy="496332"/>
          </a:xfrm>
          <a:prstGeom prst="rect">
            <a:avLst/>
          </a:prstGeom>
        </p:spPr>
        <p:txBody>
          <a:bodyPr vert="horz" lIns="91440" tIns="45720" rIns="91440" bIns="45720" rtlCol="0" anchor="b"/>
          <a:lstStyle>
            <a:lvl1pPr algn="r">
              <a:defRPr sz="1200"/>
            </a:lvl1pPr>
          </a:lstStyle>
          <a:p>
            <a:fld id="{49110657-391D-4BAF-82B8-BBA3EA77C61C}" type="slidenum">
              <a:rPr lang="fr-FR" smtClean="0"/>
              <a:pPr/>
              <a:t>‹N°›</a:t>
            </a:fld>
            <a:endParaRPr lang="fr-FR"/>
          </a:p>
        </p:txBody>
      </p:sp>
    </p:spTree>
    <p:extLst>
      <p:ext uri="{BB962C8B-B14F-4D97-AF65-F5344CB8AC3E}">
        <p14:creationId xmlns:p14="http://schemas.microsoft.com/office/powerpoint/2010/main" val="9480883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889938" cy="496332"/>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777607" y="1"/>
            <a:ext cx="2889938" cy="496332"/>
          </a:xfrm>
          <a:prstGeom prst="rect">
            <a:avLst/>
          </a:prstGeom>
        </p:spPr>
        <p:txBody>
          <a:bodyPr vert="horz" lIns="91440" tIns="45720" rIns="91440" bIns="45720" rtlCol="0"/>
          <a:lstStyle>
            <a:lvl1pPr algn="r">
              <a:defRPr sz="1200"/>
            </a:lvl1pPr>
          </a:lstStyle>
          <a:p>
            <a:fld id="{B000F49C-6693-442B-81D1-9FE7387508D2}" type="datetimeFigureOut">
              <a:rPr lang="fr-FR" smtClean="0"/>
              <a:pPr/>
              <a:t>19/06/2023</a:t>
            </a:fld>
            <a:endParaRPr lang="fr-FR"/>
          </a:p>
        </p:txBody>
      </p:sp>
      <p:sp>
        <p:nvSpPr>
          <p:cNvPr id="4" name="Espace réservé de l'image des diapositives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66909" y="4715153"/>
            <a:ext cx="5335270" cy="446698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5"/>
            <a:ext cx="2889938" cy="496332"/>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77607" y="9428585"/>
            <a:ext cx="2889938" cy="496332"/>
          </a:xfrm>
          <a:prstGeom prst="rect">
            <a:avLst/>
          </a:prstGeom>
        </p:spPr>
        <p:txBody>
          <a:bodyPr vert="horz" lIns="91440" tIns="45720" rIns="91440" bIns="45720" rtlCol="0" anchor="b"/>
          <a:lstStyle>
            <a:lvl1pPr algn="r">
              <a:defRPr sz="1200"/>
            </a:lvl1pPr>
          </a:lstStyle>
          <a:p>
            <a:fld id="{784742A2-A700-4112-A494-09AD92282681}" type="slidenum">
              <a:rPr lang="fr-FR" smtClean="0"/>
              <a:pPr/>
              <a:t>‹N°›</a:t>
            </a:fld>
            <a:endParaRPr lang="fr-FR"/>
          </a:p>
        </p:txBody>
      </p:sp>
    </p:spTree>
    <p:extLst>
      <p:ext uri="{BB962C8B-B14F-4D97-AF65-F5344CB8AC3E}">
        <p14:creationId xmlns:p14="http://schemas.microsoft.com/office/powerpoint/2010/main" val="3706326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a:p>
        </p:txBody>
      </p:sp>
    </p:spTree>
    <p:extLst>
      <p:ext uri="{BB962C8B-B14F-4D97-AF65-F5344CB8AC3E}">
        <p14:creationId xmlns:p14="http://schemas.microsoft.com/office/powerpoint/2010/main" val="564172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a:t>
            </a:fld>
            <a:endParaRPr lang="fr-FR"/>
          </a:p>
        </p:txBody>
      </p:sp>
    </p:spTree>
    <p:extLst>
      <p:ext uri="{BB962C8B-B14F-4D97-AF65-F5344CB8AC3E}">
        <p14:creationId xmlns:p14="http://schemas.microsoft.com/office/powerpoint/2010/main" val="1793293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dirty="0"/>
          </a:p>
        </p:txBody>
      </p:sp>
    </p:spTree>
    <p:extLst>
      <p:ext uri="{BB962C8B-B14F-4D97-AF65-F5344CB8AC3E}">
        <p14:creationId xmlns:p14="http://schemas.microsoft.com/office/powerpoint/2010/main" val="165188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a:t> </a:t>
            </a: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a:t>
            </a:fld>
            <a:endParaRPr lang="fr-FR"/>
          </a:p>
        </p:txBody>
      </p:sp>
    </p:spTree>
    <p:extLst>
      <p:ext uri="{BB962C8B-B14F-4D97-AF65-F5344CB8AC3E}">
        <p14:creationId xmlns:p14="http://schemas.microsoft.com/office/powerpoint/2010/main" val="3033561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a:t>
            </a:fld>
            <a:endParaRPr lang="fr-FR"/>
          </a:p>
        </p:txBody>
      </p:sp>
    </p:spTree>
    <p:extLst>
      <p:ext uri="{BB962C8B-B14F-4D97-AF65-F5344CB8AC3E}">
        <p14:creationId xmlns:p14="http://schemas.microsoft.com/office/powerpoint/2010/main" val="1726364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6</a:t>
            </a:fld>
            <a:endParaRPr lang="fr-FR"/>
          </a:p>
        </p:txBody>
      </p:sp>
    </p:spTree>
    <p:extLst>
      <p:ext uri="{BB962C8B-B14F-4D97-AF65-F5344CB8AC3E}">
        <p14:creationId xmlns:p14="http://schemas.microsoft.com/office/powerpoint/2010/main" val="3791600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7</a:t>
            </a:fld>
            <a:endParaRPr lang="fr-FR" dirty="0"/>
          </a:p>
        </p:txBody>
      </p:sp>
    </p:spTree>
    <p:extLst>
      <p:ext uri="{BB962C8B-B14F-4D97-AF65-F5344CB8AC3E}">
        <p14:creationId xmlns:p14="http://schemas.microsoft.com/office/powerpoint/2010/main" val="160119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8</a:t>
            </a:fld>
            <a:endParaRPr lang="fr-FR"/>
          </a:p>
        </p:txBody>
      </p:sp>
    </p:spTree>
    <p:extLst>
      <p:ext uri="{BB962C8B-B14F-4D97-AF65-F5344CB8AC3E}">
        <p14:creationId xmlns:p14="http://schemas.microsoft.com/office/powerpoint/2010/main" val="2677253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9</a:t>
            </a:fld>
            <a:endParaRPr lang="fr-FR"/>
          </a:p>
        </p:txBody>
      </p:sp>
    </p:spTree>
    <p:extLst>
      <p:ext uri="{BB962C8B-B14F-4D97-AF65-F5344CB8AC3E}">
        <p14:creationId xmlns:p14="http://schemas.microsoft.com/office/powerpoint/2010/main" val="4042017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10</a:t>
            </a:fld>
            <a:endParaRPr lang="fr-FR"/>
          </a:p>
        </p:txBody>
      </p:sp>
    </p:spTree>
    <p:extLst>
      <p:ext uri="{BB962C8B-B14F-4D97-AF65-F5344CB8AC3E}">
        <p14:creationId xmlns:p14="http://schemas.microsoft.com/office/powerpoint/2010/main" val="2262531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11</a:t>
            </a:fld>
            <a:endParaRPr lang="fr-FR"/>
          </a:p>
        </p:txBody>
      </p:sp>
    </p:spTree>
    <p:extLst>
      <p:ext uri="{BB962C8B-B14F-4D97-AF65-F5344CB8AC3E}">
        <p14:creationId xmlns:p14="http://schemas.microsoft.com/office/powerpoint/2010/main" val="2402547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12</a:t>
            </a:fld>
            <a:endParaRPr lang="fr-FR"/>
          </a:p>
        </p:txBody>
      </p:sp>
    </p:spTree>
    <p:extLst>
      <p:ext uri="{BB962C8B-B14F-4D97-AF65-F5344CB8AC3E}">
        <p14:creationId xmlns:p14="http://schemas.microsoft.com/office/powerpoint/2010/main" val="1763088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a:p>
        </p:txBody>
      </p:sp>
    </p:spTree>
    <p:extLst>
      <p:ext uri="{BB962C8B-B14F-4D97-AF65-F5344CB8AC3E}">
        <p14:creationId xmlns:p14="http://schemas.microsoft.com/office/powerpoint/2010/main" val="2048668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a:p>
        </p:txBody>
      </p:sp>
    </p:spTree>
    <p:extLst>
      <p:ext uri="{BB962C8B-B14F-4D97-AF65-F5344CB8AC3E}">
        <p14:creationId xmlns:p14="http://schemas.microsoft.com/office/powerpoint/2010/main" val="4162887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15</a:t>
            </a:fld>
            <a:endParaRPr lang="fr-FR"/>
          </a:p>
        </p:txBody>
      </p:sp>
    </p:spTree>
    <p:extLst>
      <p:ext uri="{BB962C8B-B14F-4D97-AF65-F5344CB8AC3E}">
        <p14:creationId xmlns:p14="http://schemas.microsoft.com/office/powerpoint/2010/main" val="2651806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16</a:t>
            </a:fld>
            <a:endParaRPr lang="fr-FR"/>
          </a:p>
        </p:txBody>
      </p:sp>
    </p:spTree>
    <p:extLst>
      <p:ext uri="{BB962C8B-B14F-4D97-AF65-F5344CB8AC3E}">
        <p14:creationId xmlns:p14="http://schemas.microsoft.com/office/powerpoint/2010/main" val="929840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a:p>
        </p:txBody>
      </p:sp>
    </p:spTree>
    <p:extLst>
      <p:ext uri="{BB962C8B-B14F-4D97-AF65-F5344CB8AC3E}">
        <p14:creationId xmlns:p14="http://schemas.microsoft.com/office/powerpoint/2010/main" val="3237732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413157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a:p>
        </p:txBody>
      </p:sp>
    </p:spTree>
    <p:extLst>
      <p:ext uri="{BB962C8B-B14F-4D97-AF65-F5344CB8AC3E}">
        <p14:creationId xmlns:p14="http://schemas.microsoft.com/office/powerpoint/2010/main" val="8737117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a:p>
        </p:txBody>
      </p:sp>
    </p:spTree>
    <p:extLst>
      <p:ext uri="{BB962C8B-B14F-4D97-AF65-F5344CB8AC3E}">
        <p14:creationId xmlns:p14="http://schemas.microsoft.com/office/powerpoint/2010/main" val="24682009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a:p>
        </p:txBody>
      </p:sp>
    </p:spTree>
    <p:extLst>
      <p:ext uri="{BB962C8B-B14F-4D97-AF65-F5344CB8AC3E}">
        <p14:creationId xmlns:p14="http://schemas.microsoft.com/office/powerpoint/2010/main" val="2781047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a:p>
        </p:txBody>
      </p:sp>
    </p:spTree>
    <p:extLst>
      <p:ext uri="{BB962C8B-B14F-4D97-AF65-F5344CB8AC3E}">
        <p14:creationId xmlns:p14="http://schemas.microsoft.com/office/powerpoint/2010/main" val="3765861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23</a:t>
            </a:fld>
            <a:endParaRPr lang="fr-FR"/>
          </a:p>
        </p:txBody>
      </p:sp>
    </p:spTree>
    <p:extLst>
      <p:ext uri="{BB962C8B-B14F-4D97-AF65-F5344CB8AC3E}">
        <p14:creationId xmlns:p14="http://schemas.microsoft.com/office/powerpoint/2010/main" val="2017385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24</a:t>
            </a:fld>
            <a:endParaRPr lang="fr-FR"/>
          </a:p>
        </p:txBody>
      </p:sp>
    </p:spTree>
    <p:extLst>
      <p:ext uri="{BB962C8B-B14F-4D97-AF65-F5344CB8AC3E}">
        <p14:creationId xmlns:p14="http://schemas.microsoft.com/office/powerpoint/2010/main" val="8245542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25</a:t>
            </a:fld>
            <a:endParaRPr lang="fr-FR"/>
          </a:p>
        </p:txBody>
      </p:sp>
    </p:spTree>
    <p:extLst>
      <p:ext uri="{BB962C8B-B14F-4D97-AF65-F5344CB8AC3E}">
        <p14:creationId xmlns:p14="http://schemas.microsoft.com/office/powerpoint/2010/main" val="2569555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26</a:t>
            </a:fld>
            <a:endParaRPr lang="fr-FR"/>
          </a:p>
        </p:txBody>
      </p:sp>
    </p:spTree>
    <p:extLst>
      <p:ext uri="{BB962C8B-B14F-4D97-AF65-F5344CB8AC3E}">
        <p14:creationId xmlns:p14="http://schemas.microsoft.com/office/powerpoint/2010/main" val="1120137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BE"/>
          </a:p>
        </p:txBody>
      </p:sp>
      <p:sp>
        <p:nvSpPr>
          <p:cNvPr id="4" name="Espace réservé de la date 3"/>
          <p:cNvSpPr>
            <a:spLocks noGrp="1"/>
          </p:cNvSpPr>
          <p:nvPr>
            <p:ph type="dt" sz="half" idx="10"/>
          </p:nvPr>
        </p:nvSpPr>
        <p:spPr/>
        <p:txBody>
          <a:bodyPr/>
          <a:lstStyle/>
          <a:p>
            <a:fld id="{BD354707-722F-4A60-9660-96DE0BD69967}" type="datetime1">
              <a:rPr lang="fr-FR" smtClean="0"/>
              <a:t>19/06/2023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2653044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058CC7C1-4123-4C24-970B-DF08A948B31A}" type="datetime1">
              <a:rPr lang="fr-FR" smtClean="0"/>
              <a:t>19/06/2023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317235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2A1D4349-2926-4739-B2B4-B0A22C79AD76}" type="datetime1">
              <a:rPr lang="fr-FR" smtClean="0"/>
              <a:t>19/06/2023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60286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p:cNvSpPr>
            <a:spLocks noGrp="1"/>
          </p:cNvSpPr>
          <p:nvPr>
            <p:ph type="dt" sz="half" idx="10"/>
          </p:nvPr>
        </p:nvSpPr>
        <p:spPr/>
        <p:txBody>
          <a:bodyPr/>
          <a:lstStyle/>
          <a:p>
            <a:fld id="{6441A9A2-D604-4289-935B-9578668F5708}" type="datetime1">
              <a:rPr lang="fr-FR" smtClean="0"/>
              <a:t>19/06/2023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605340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p:cNvSpPr>
            <a:spLocks noGrp="1"/>
          </p:cNvSpPr>
          <p:nvPr>
            <p:ph type="dt" sz="half" idx="10"/>
          </p:nvPr>
        </p:nvSpPr>
        <p:spPr/>
        <p:txBody>
          <a:bodyPr/>
          <a:lstStyle/>
          <a:p>
            <a:fld id="{112F17A7-122D-4D2C-981C-2563884CC80D}" type="datetime1">
              <a:rPr lang="fr-FR" smtClean="0"/>
              <a:t>19/06/2023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50656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e la date 2"/>
          <p:cNvSpPr>
            <a:spLocks noGrp="1"/>
          </p:cNvSpPr>
          <p:nvPr>
            <p:ph type="dt" sz="half" idx="10"/>
          </p:nvPr>
        </p:nvSpPr>
        <p:spPr/>
        <p:txBody>
          <a:bodyPr/>
          <a:lstStyle/>
          <a:p>
            <a:fld id="{14A64D67-A364-4951-A604-4FB7C704199C}" type="datetime1">
              <a:rPr lang="fr-FR" smtClean="0"/>
              <a:t>19/06/2023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196992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1AB0018-CA76-4639-9B9A-2AF7193C4869}" type="datetime1">
              <a:rPr lang="fr-FR" smtClean="0"/>
              <a:t>19/06/2023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50501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0F25FB98-594B-4234-8183-CBD2456B9B9F}" type="datetime1">
              <a:rPr lang="fr-FR" smtClean="0"/>
              <a:t>19/06/2023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541687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D6778DC-9C57-4CFF-828C-427A77C042C6}" type="datetime1">
              <a:rPr lang="fr-FR" smtClean="0"/>
              <a:t>19/06/2023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428618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AABD243E-C9CA-4284-A135-5AD0E7301BAF}" type="datetime1">
              <a:rPr lang="fr-FR" smtClean="0"/>
              <a:t>19/06/2023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2165853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8C25C91F-E0F1-4223-AF77-52AB0CC9E474}" type="datetime1">
              <a:rPr lang="fr-FR" smtClean="0"/>
              <a:t>19/06/2023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664912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2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319711-FEBE-4F6F-8DA5-FF72666C7073}" type="datetime1">
              <a:rPr lang="fr-FR" smtClean="0"/>
              <a:t>19/06/2023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extLst>
      <p:ext uri="{BB962C8B-B14F-4D97-AF65-F5344CB8AC3E}">
        <p14:creationId xmlns:p14="http://schemas.microsoft.com/office/powerpoint/2010/main" val="226288661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endParaRPr lang="fr-BE"/>
          </a:p>
        </p:txBody>
      </p:sp>
      <p:sp>
        <p:nvSpPr>
          <p:cNvPr id="4" name="Espace réservé du contenu 3"/>
          <p:cNvSpPr>
            <a:spLocks noGrp="1"/>
          </p:cNvSpPr>
          <p:nvPr>
            <p:ph idx="1"/>
          </p:nvPr>
        </p:nvSpPr>
        <p:spPr/>
        <p:txBody>
          <a:bodyPr>
            <a:normAutofit/>
          </a:bodyPr>
          <a:lstStyle/>
          <a:p>
            <a:pPr marL="0" indent="0" algn="ctr">
              <a:buNone/>
            </a:pPr>
            <a:endParaRPr lang="fr-BE" sz="4000" b="1" i="1" dirty="0"/>
          </a:p>
          <a:p>
            <a:pPr marL="0" indent="0" algn="ctr">
              <a:buNone/>
            </a:pPr>
            <a:r>
              <a:rPr lang="fr-BE" sz="8800" b="1" i="1"/>
              <a:t>Les </a:t>
            </a:r>
            <a:r>
              <a:rPr lang="fr-BE" sz="8800" b="1" i="1" dirty="0"/>
              <a:t>saisies</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a:t>
            </a:fld>
            <a:endParaRPr lang="fr-FR" dirty="0"/>
          </a:p>
        </p:txBody>
      </p:sp>
      <p:sp>
        <p:nvSpPr>
          <p:cNvPr id="5" name="Espace réservé du pied de page 4">
            <a:extLst>
              <a:ext uri="{FF2B5EF4-FFF2-40B4-BE49-F238E27FC236}">
                <a16:creationId xmlns:a16="http://schemas.microsoft.com/office/drawing/2014/main" id="{97DC79B1-E776-4B16-953C-8D1BF67F2741}"/>
              </a:ext>
            </a:extLst>
          </p:cNvPr>
          <p:cNvSpPr>
            <a:spLocks noGrp="1"/>
          </p:cNvSpPr>
          <p:nvPr>
            <p:ph type="ftr" sz="quarter" idx="11"/>
          </p:nvPr>
        </p:nvSpPr>
        <p:spPr>
          <a:xfrm>
            <a:off x="179512" y="6308725"/>
            <a:ext cx="2895600" cy="365125"/>
          </a:xfrm>
        </p:spPr>
        <p:txBody>
          <a:bodyPr/>
          <a:lstStyle/>
          <a:p>
            <a:r>
              <a:rPr lang="fr-FR" dirty="0"/>
              <a:t>09/06/2023</a:t>
            </a:r>
          </a:p>
        </p:txBody>
      </p:sp>
    </p:spTree>
    <p:extLst>
      <p:ext uri="{BB962C8B-B14F-4D97-AF65-F5344CB8AC3E}">
        <p14:creationId xmlns:p14="http://schemas.microsoft.com/office/powerpoint/2010/main" val="216658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80">
                                          <p:stCondLst>
                                            <p:cond delay="0"/>
                                          </p:stCondLst>
                                        </p:cTn>
                                        <p:tgtEl>
                                          <p:spTgt spid="4">
                                            <p:txEl>
                                              <p:pRg st="1" end="1"/>
                                            </p:txEl>
                                          </p:spTgt>
                                        </p:tgtEl>
                                      </p:cBhvr>
                                    </p:animEffect>
                                    <p:anim calcmode="lin" valueType="num">
                                      <p:cBhvr>
                                        <p:cTn id="8"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1" end="1"/>
                                            </p:txEl>
                                          </p:spTgt>
                                        </p:tgtEl>
                                      </p:cBhvr>
                                      <p:to x="100000" y="60000"/>
                                    </p:animScale>
                                    <p:animScale>
                                      <p:cBhvr>
                                        <p:cTn id="14" dur="166" decel="50000">
                                          <p:stCondLst>
                                            <p:cond delay="676"/>
                                          </p:stCondLst>
                                        </p:cTn>
                                        <p:tgtEl>
                                          <p:spTgt spid="4">
                                            <p:txEl>
                                              <p:pRg st="1" end="1"/>
                                            </p:txEl>
                                          </p:spTgt>
                                        </p:tgtEl>
                                      </p:cBhvr>
                                      <p:to x="100000" y="100000"/>
                                    </p:animScale>
                                    <p:animScale>
                                      <p:cBhvr>
                                        <p:cTn id="15" dur="26">
                                          <p:stCondLst>
                                            <p:cond delay="1312"/>
                                          </p:stCondLst>
                                        </p:cTn>
                                        <p:tgtEl>
                                          <p:spTgt spid="4">
                                            <p:txEl>
                                              <p:pRg st="1" end="1"/>
                                            </p:txEl>
                                          </p:spTgt>
                                        </p:tgtEl>
                                      </p:cBhvr>
                                      <p:to x="100000" y="80000"/>
                                    </p:animScale>
                                    <p:animScale>
                                      <p:cBhvr>
                                        <p:cTn id="16" dur="166" decel="50000">
                                          <p:stCondLst>
                                            <p:cond delay="1338"/>
                                          </p:stCondLst>
                                        </p:cTn>
                                        <p:tgtEl>
                                          <p:spTgt spid="4">
                                            <p:txEl>
                                              <p:pRg st="1" end="1"/>
                                            </p:txEl>
                                          </p:spTgt>
                                        </p:tgtEl>
                                      </p:cBhvr>
                                      <p:to x="100000" y="100000"/>
                                    </p:animScale>
                                    <p:animScale>
                                      <p:cBhvr>
                                        <p:cTn id="17" dur="26">
                                          <p:stCondLst>
                                            <p:cond delay="1642"/>
                                          </p:stCondLst>
                                        </p:cTn>
                                        <p:tgtEl>
                                          <p:spTgt spid="4">
                                            <p:txEl>
                                              <p:pRg st="1" end="1"/>
                                            </p:txEl>
                                          </p:spTgt>
                                        </p:tgtEl>
                                      </p:cBhvr>
                                      <p:to x="100000" y="90000"/>
                                    </p:animScale>
                                    <p:animScale>
                                      <p:cBhvr>
                                        <p:cTn id="18" dur="166" decel="50000">
                                          <p:stCondLst>
                                            <p:cond delay="1668"/>
                                          </p:stCondLst>
                                        </p:cTn>
                                        <p:tgtEl>
                                          <p:spTgt spid="4">
                                            <p:txEl>
                                              <p:pRg st="1" end="1"/>
                                            </p:txEl>
                                          </p:spTgt>
                                        </p:tgtEl>
                                      </p:cBhvr>
                                      <p:to x="100000" y="100000"/>
                                    </p:animScale>
                                    <p:animScale>
                                      <p:cBhvr>
                                        <p:cTn id="19" dur="26">
                                          <p:stCondLst>
                                            <p:cond delay="1808"/>
                                          </p:stCondLst>
                                        </p:cTn>
                                        <p:tgtEl>
                                          <p:spTgt spid="4">
                                            <p:txEl>
                                              <p:pRg st="1" end="1"/>
                                            </p:txEl>
                                          </p:spTgt>
                                        </p:tgtEl>
                                      </p:cBhvr>
                                      <p:to x="100000" y="95000"/>
                                    </p:animScale>
                                    <p:animScale>
                                      <p:cBhvr>
                                        <p:cTn id="20" dur="166" decel="50000">
                                          <p:stCondLst>
                                            <p:cond delay="1834"/>
                                          </p:stCondLst>
                                        </p:cTn>
                                        <p:tgtEl>
                                          <p:spTgt spid="4">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332656"/>
            <a:ext cx="8229600" cy="1143000"/>
          </a:xfrm>
        </p:spPr>
        <p:txBody>
          <a:bodyPr/>
          <a:lstStyle/>
          <a:p>
            <a:pPr algn="r"/>
            <a:r>
              <a:rPr lang="fr-BE" b="1" dirty="0"/>
              <a:t>Saisies</a:t>
            </a:r>
          </a:p>
        </p:txBody>
      </p:sp>
      <p:sp>
        <p:nvSpPr>
          <p:cNvPr id="3" name="Espace réservé du contenu 2"/>
          <p:cNvSpPr>
            <a:spLocks noGrp="1"/>
          </p:cNvSpPr>
          <p:nvPr>
            <p:ph idx="1"/>
          </p:nvPr>
        </p:nvSpPr>
        <p:spPr/>
        <p:txBody>
          <a:bodyPr>
            <a:normAutofit fontScale="77500" lnSpcReduction="20000"/>
          </a:bodyPr>
          <a:lstStyle/>
          <a:p>
            <a:r>
              <a:rPr lang="fr-BE" dirty="0"/>
              <a:t>Introduction						  3</a:t>
            </a:r>
          </a:p>
          <a:p>
            <a:r>
              <a:rPr lang="fr-BE" dirty="0"/>
              <a:t>Art 1409							  8</a:t>
            </a:r>
          </a:p>
          <a:p>
            <a:r>
              <a:rPr lang="fr-BE" dirty="0"/>
              <a:t>Art 1410							10</a:t>
            </a:r>
          </a:p>
          <a:p>
            <a:r>
              <a:rPr lang="fr-BE" dirty="0"/>
              <a:t>Art  1412							11</a:t>
            </a:r>
          </a:p>
          <a:p>
            <a:r>
              <a:rPr lang="fr-BE" dirty="0"/>
              <a:t>Art 1411							12</a:t>
            </a:r>
          </a:p>
          <a:p>
            <a:r>
              <a:rPr lang="fr-BE" dirty="0"/>
              <a:t>Subrogation CPAS						13</a:t>
            </a:r>
          </a:p>
          <a:p>
            <a:r>
              <a:rPr lang="fr-BE" dirty="0"/>
              <a:t>Guidance budgétaire CPAS				14</a:t>
            </a:r>
          </a:p>
          <a:p>
            <a:r>
              <a:rPr lang="fr-BE" dirty="0"/>
              <a:t>Cession volontaire						16</a:t>
            </a:r>
          </a:p>
          <a:p>
            <a:r>
              <a:rPr lang="fr-BE" dirty="0"/>
              <a:t>Vérité S05							17</a:t>
            </a:r>
          </a:p>
          <a:p>
            <a:r>
              <a:rPr lang="fr-BE" dirty="0"/>
              <a:t>EAC								19</a:t>
            </a:r>
          </a:p>
          <a:p>
            <a:endParaRPr lang="fr-BE" dirty="0"/>
          </a:p>
          <a:p>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a:t>
            </a:fld>
            <a:endParaRPr lang="fr-FR" dirty="0"/>
          </a:p>
        </p:txBody>
      </p:sp>
    </p:spTree>
    <p:extLst>
      <p:ext uri="{BB962C8B-B14F-4D97-AF65-F5344CB8AC3E}">
        <p14:creationId xmlns:p14="http://schemas.microsoft.com/office/powerpoint/2010/main" val="71003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dirty="0"/>
              <a:t>Introduction</a:t>
            </a:r>
          </a:p>
        </p:txBody>
      </p:sp>
      <p:sp>
        <p:nvSpPr>
          <p:cNvPr id="4" name="Espace réservé du contenu 3"/>
          <p:cNvSpPr>
            <a:spLocks noGrp="1"/>
          </p:cNvSpPr>
          <p:nvPr>
            <p:ph idx="1"/>
          </p:nvPr>
        </p:nvSpPr>
        <p:spPr/>
        <p:txBody>
          <a:bodyPr>
            <a:noAutofit/>
          </a:bodyPr>
          <a:lstStyle/>
          <a:p>
            <a:pPr>
              <a:buFont typeface="Wingdings" pitchFamily="2" charset="2"/>
              <a:buChar char="§"/>
            </a:pPr>
            <a:r>
              <a:rPr lang="fr-BE" sz="2800" b="1" dirty="0"/>
              <a:t>Avertissement-extrait de rôle (AER</a:t>
            </a:r>
            <a:r>
              <a:rPr lang="en-US" sz="2800" dirty="0"/>
              <a:t>) :</a:t>
            </a:r>
            <a:endParaRPr lang="fr-BE" sz="2800" dirty="0"/>
          </a:p>
          <a:p>
            <a:pPr marL="365125" indent="0">
              <a:buNone/>
            </a:pPr>
            <a:r>
              <a:rPr lang="en-US" sz="2600" dirty="0"/>
              <a:t>Décision de certaines administrations fiscales (notamment les contributions) ordonnant de payer un impôt : ces décisions forment un titre exécutoire valable.</a:t>
            </a:r>
            <a:endParaRPr lang="fr-BE" sz="2600" dirty="0"/>
          </a:p>
          <a:p>
            <a:endParaRPr lang="en-US" sz="1000" b="1" dirty="0"/>
          </a:p>
          <a:p>
            <a:pPr>
              <a:buFont typeface="Wingdings" pitchFamily="2" charset="2"/>
              <a:buChar char="§"/>
            </a:pPr>
            <a:r>
              <a:rPr lang="en-US" sz="2800" b="1" dirty="0"/>
              <a:t>Contrainte :</a:t>
            </a:r>
            <a:endParaRPr lang="fr-BE" sz="2800" dirty="0"/>
          </a:p>
          <a:p>
            <a:pPr marL="365125" indent="0">
              <a:buNone/>
            </a:pPr>
            <a:r>
              <a:rPr lang="en-US" sz="2600" dirty="0"/>
              <a:t>Décision de certaines administrations publiques (comme les </a:t>
            </a:r>
            <a:r>
              <a:rPr lang="fr-BE" sz="2600" dirty="0"/>
              <a:t>Domaines)</a:t>
            </a:r>
            <a:r>
              <a:rPr lang="en-US" sz="2600" dirty="0"/>
              <a:t> ordonnant de payer des</a:t>
            </a:r>
            <a:r>
              <a:rPr lang="fr-BE" sz="2600" dirty="0"/>
              <a:t> </a:t>
            </a:r>
            <a:r>
              <a:rPr lang="en-US" sz="2600" dirty="0"/>
              <a:t>sommes dues à l’Etat. La contrainte vaut titre exécutoire.</a:t>
            </a:r>
            <a:endParaRPr lang="fr-BE" sz="26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3</a:t>
            </a:fld>
            <a:endParaRPr lang="fr-FR" dirty="0"/>
          </a:p>
        </p:txBody>
      </p:sp>
    </p:spTree>
    <p:extLst>
      <p:ext uri="{BB962C8B-B14F-4D97-AF65-F5344CB8AC3E}">
        <p14:creationId xmlns:p14="http://schemas.microsoft.com/office/powerpoint/2010/main" val="244374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dirty="0"/>
              <a:t>Introduction</a:t>
            </a:r>
          </a:p>
        </p:txBody>
      </p:sp>
      <p:sp>
        <p:nvSpPr>
          <p:cNvPr id="4" name="Espace réservé du contenu 3"/>
          <p:cNvSpPr>
            <a:spLocks noGrp="1"/>
          </p:cNvSpPr>
          <p:nvPr>
            <p:ph idx="1"/>
          </p:nvPr>
        </p:nvSpPr>
        <p:spPr/>
        <p:txBody>
          <a:bodyPr>
            <a:normAutofit/>
          </a:bodyPr>
          <a:lstStyle/>
          <a:p>
            <a:pPr>
              <a:buFont typeface="Wingdings" pitchFamily="2" charset="2"/>
              <a:buChar char="§"/>
            </a:pPr>
            <a:r>
              <a:rPr lang="en-US" sz="2800" b="1" dirty="0"/>
              <a:t>Domaines :</a:t>
            </a:r>
            <a:endParaRPr lang="fr-BE" sz="2800" dirty="0"/>
          </a:p>
          <a:p>
            <a:pPr marL="365125" indent="0">
              <a:buNone/>
            </a:pPr>
            <a:r>
              <a:rPr lang="en-US" sz="2400" dirty="0"/>
              <a:t>L’ Administration des Domaines est notamment chargée de récupérer des sommes dues à </a:t>
            </a:r>
            <a:r>
              <a:rPr lang="fr-BE" sz="2400" dirty="0"/>
              <a:t>l’Etat ou à des Administrations Publiques : l’ONEm et les OP peuvent faire appel à sa collaboration pour récupérer des allocations perçues indument par un chômeur.</a:t>
            </a:r>
          </a:p>
          <a:p>
            <a:pPr>
              <a:buFont typeface="Wingdings" pitchFamily="2" charset="2"/>
              <a:buChar char="§"/>
            </a:pPr>
            <a:r>
              <a:rPr lang="fr-BE" sz="2800" b="1" dirty="0"/>
              <a:t>Exécution forcée </a:t>
            </a:r>
            <a:r>
              <a:rPr lang="en-US" sz="2800" b="1" dirty="0"/>
              <a:t>:</a:t>
            </a:r>
            <a:endParaRPr lang="fr-BE" sz="2800" dirty="0"/>
          </a:p>
          <a:p>
            <a:pPr marL="365125" indent="0">
              <a:buNone/>
            </a:pPr>
            <a:r>
              <a:rPr lang="fr-BE" sz="2400" dirty="0"/>
              <a:t>Procédure légale par laquelle le créancier oblige son débiteur à exécuter s</a:t>
            </a:r>
            <a:r>
              <a:rPr lang="en-US" sz="2400" dirty="0"/>
              <a:t>on obligation (signification</a:t>
            </a:r>
            <a:r>
              <a:rPr lang="fr-BE" sz="2400" dirty="0"/>
              <a:t> </a:t>
            </a:r>
            <a:r>
              <a:rPr lang="en-US" sz="2400" dirty="0"/>
              <a:t>d’un </a:t>
            </a:r>
            <a:r>
              <a:rPr lang="fr-BE" sz="2400" dirty="0"/>
              <a:t>jugement</a:t>
            </a:r>
            <a:r>
              <a:rPr lang="en-US" sz="2400" dirty="0"/>
              <a:t> par </a:t>
            </a:r>
            <a:r>
              <a:rPr lang="fr-BE" sz="2400" dirty="0"/>
              <a:t>exploit d’huissier, </a:t>
            </a:r>
            <a:r>
              <a:rPr lang="en-US" sz="2400" dirty="0"/>
              <a:t>C31, …).</a:t>
            </a:r>
            <a:endParaRPr lang="fr-BE" sz="2400" dirty="0"/>
          </a:p>
          <a:p>
            <a:endParaRPr lang="fr-BE"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4</a:t>
            </a:fld>
            <a:endParaRPr lang="fr-FR" dirty="0"/>
          </a:p>
        </p:txBody>
      </p:sp>
    </p:spTree>
    <p:extLst>
      <p:ext uri="{BB962C8B-B14F-4D97-AF65-F5344CB8AC3E}">
        <p14:creationId xmlns:p14="http://schemas.microsoft.com/office/powerpoint/2010/main" val="198290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dirty="0"/>
              <a:t>Introduction</a:t>
            </a:r>
          </a:p>
        </p:txBody>
      </p:sp>
      <p:sp>
        <p:nvSpPr>
          <p:cNvPr id="4" name="Espace réservé du contenu 3"/>
          <p:cNvSpPr>
            <a:spLocks noGrp="1"/>
          </p:cNvSpPr>
          <p:nvPr>
            <p:ph idx="1"/>
          </p:nvPr>
        </p:nvSpPr>
        <p:spPr/>
        <p:txBody>
          <a:bodyPr>
            <a:noAutofit/>
          </a:bodyPr>
          <a:lstStyle/>
          <a:p>
            <a:pPr>
              <a:buFont typeface="Wingdings" pitchFamily="2" charset="2"/>
              <a:buChar char="§"/>
            </a:pPr>
            <a:r>
              <a:rPr lang="en-US" sz="2800" b="1" dirty="0"/>
              <a:t>Opposition :</a:t>
            </a:r>
            <a:endParaRPr lang="fr-BE" sz="2800" dirty="0"/>
          </a:p>
          <a:p>
            <a:pPr marL="365125" indent="0">
              <a:buNone/>
            </a:pPr>
            <a:r>
              <a:rPr lang="fr-BE" sz="2800" dirty="0"/>
              <a:t>Recours tendant </a:t>
            </a:r>
            <a:r>
              <a:rPr lang="en-US" sz="2800" dirty="0"/>
              <a:t>à faire </a:t>
            </a:r>
            <a:r>
              <a:rPr lang="fr-BE" sz="2800" dirty="0"/>
              <a:t>rejuger une </a:t>
            </a:r>
            <a:r>
              <a:rPr lang="en-US" sz="2800" dirty="0"/>
              <a:t>affaire.</a:t>
            </a:r>
          </a:p>
          <a:p>
            <a:pPr marL="365125" indent="0">
              <a:buNone/>
            </a:pPr>
            <a:r>
              <a:rPr lang="fr-BE" sz="2800" dirty="0"/>
              <a:t>Procédure</a:t>
            </a:r>
            <a:r>
              <a:rPr lang="en-US" sz="2800" dirty="0"/>
              <a:t> </a:t>
            </a:r>
            <a:r>
              <a:rPr lang="fr-BE" sz="2800" dirty="0"/>
              <a:t>permettant de s’opposer à quelque chose (une cession par exemple). </a:t>
            </a:r>
          </a:p>
          <a:p>
            <a:pPr marL="365125" indent="0">
              <a:buNone/>
            </a:pPr>
            <a:r>
              <a:rPr lang="fr-BE" sz="2800" dirty="0"/>
              <a:t>Ordre donné à un débiteur de bloquer l’exécution de sa dette</a:t>
            </a:r>
            <a:r>
              <a:rPr lang="en-US" sz="2800" dirty="0"/>
              <a:t>.</a:t>
            </a:r>
            <a:endParaRPr lang="fr-BE" sz="2800" dirty="0"/>
          </a:p>
          <a:p>
            <a:pPr>
              <a:buFont typeface="Wingdings" pitchFamily="2" charset="2"/>
              <a:buChar char="§"/>
            </a:pPr>
            <a:endParaRPr lang="fr-BE" sz="2400" dirty="0"/>
          </a:p>
          <a:p>
            <a:pPr>
              <a:buFont typeface="Wingdings" pitchFamily="2" charset="2"/>
              <a:buChar char="§"/>
            </a:pPr>
            <a:r>
              <a:rPr lang="en-US" sz="2800" b="1" dirty="0"/>
              <a:t>Signification :</a:t>
            </a:r>
            <a:endParaRPr lang="fr-BE" sz="2800" dirty="0"/>
          </a:p>
          <a:p>
            <a:pPr marL="365125" indent="0">
              <a:buNone/>
            </a:pPr>
            <a:r>
              <a:rPr lang="en-US" sz="2800" dirty="0"/>
              <a:t>Communication d’un </a:t>
            </a:r>
            <a:r>
              <a:rPr lang="fr-BE" sz="2800" dirty="0"/>
              <a:t>acte par l’intermédiaire d’un huissier de justice.</a:t>
            </a:r>
          </a:p>
          <a:p>
            <a:pPr marL="0" indent="0">
              <a:buNone/>
            </a:pPr>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5</a:t>
            </a:fld>
            <a:endParaRPr lang="fr-FR" dirty="0"/>
          </a:p>
        </p:txBody>
      </p:sp>
    </p:spTree>
    <p:extLst>
      <p:ext uri="{BB962C8B-B14F-4D97-AF65-F5344CB8AC3E}">
        <p14:creationId xmlns:p14="http://schemas.microsoft.com/office/powerpoint/2010/main" val="139644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dirty="0"/>
              <a:t>Introduction</a:t>
            </a:r>
          </a:p>
        </p:txBody>
      </p:sp>
      <p:sp>
        <p:nvSpPr>
          <p:cNvPr id="4" name="Espace réservé du contenu 3"/>
          <p:cNvSpPr>
            <a:spLocks noGrp="1"/>
          </p:cNvSpPr>
          <p:nvPr>
            <p:ph idx="1"/>
          </p:nvPr>
        </p:nvSpPr>
        <p:spPr/>
        <p:txBody>
          <a:bodyPr>
            <a:normAutofit/>
          </a:bodyPr>
          <a:lstStyle/>
          <a:p>
            <a:pPr>
              <a:buFont typeface="Wingdings" pitchFamily="2" charset="2"/>
              <a:buChar char="§"/>
            </a:pPr>
            <a:r>
              <a:rPr lang="en-US" sz="2800" b="1" dirty="0"/>
              <a:t>Subrogation :</a:t>
            </a:r>
            <a:endParaRPr lang="fr-BE" sz="2800" b="1" dirty="0"/>
          </a:p>
          <a:p>
            <a:pPr marL="365125" indent="0">
              <a:buNone/>
            </a:pPr>
            <a:r>
              <a:rPr lang="fr-BE" sz="2800" dirty="0"/>
              <a:t>Acte par lequel une personne </a:t>
            </a:r>
            <a:r>
              <a:rPr lang="en-US" sz="2800" dirty="0"/>
              <a:t>(CPAS) </a:t>
            </a:r>
            <a:r>
              <a:rPr lang="fr-BE" sz="2800" dirty="0"/>
              <a:t>prend la place d’une autre personne (chômeur)</a:t>
            </a:r>
            <a:r>
              <a:rPr lang="en-US" sz="2800" dirty="0"/>
              <a:t>.</a:t>
            </a:r>
            <a:endParaRPr lang="fr-BE" sz="2800" dirty="0"/>
          </a:p>
          <a:p>
            <a:pPr>
              <a:buFont typeface="Wingdings" pitchFamily="2" charset="2"/>
              <a:buChar char="§"/>
            </a:pPr>
            <a:endParaRPr lang="fr-BE" sz="2800" dirty="0"/>
          </a:p>
          <a:p>
            <a:pPr>
              <a:buFont typeface="Wingdings" pitchFamily="2" charset="2"/>
              <a:buChar char="§"/>
            </a:pPr>
            <a:r>
              <a:rPr lang="fr-BE" sz="2800" b="1" dirty="0"/>
              <a:t>Titre exécutoire </a:t>
            </a:r>
            <a:r>
              <a:rPr lang="en-US" sz="2800" b="1" dirty="0"/>
              <a:t>:</a:t>
            </a:r>
            <a:endParaRPr lang="fr-BE" sz="2800" dirty="0"/>
          </a:p>
          <a:p>
            <a:pPr marL="365125" indent="0">
              <a:buNone/>
            </a:pPr>
            <a:r>
              <a:rPr lang="en-US" sz="2800" dirty="0"/>
              <a:t>Document en </a:t>
            </a:r>
            <a:r>
              <a:rPr lang="fr-BE" sz="2800" dirty="0"/>
              <a:t>vertu duquel un créancier peut obliger légalement le débiteur à s’acquitter de ses </a:t>
            </a:r>
            <a:r>
              <a:rPr lang="en-US" sz="2800" dirty="0"/>
              <a:t>obligations (</a:t>
            </a:r>
            <a:r>
              <a:rPr lang="fr-BE" sz="2800" dirty="0"/>
              <a:t>jugement, acte notarié, AER </a:t>
            </a:r>
            <a:r>
              <a:rPr lang="en-US" sz="2800" dirty="0"/>
              <a:t>des contributions, C31).</a:t>
            </a:r>
            <a:endParaRPr lang="fr-BE" sz="2800" dirty="0"/>
          </a:p>
          <a:p>
            <a:endParaRPr lang="fr-BE" dirty="0"/>
          </a:p>
          <a:p>
            <a:endParaRPr lang="fr-BE"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6</a:t>
            </a:fld>
            <a:endParaRPr lang="fr-FR" dirty="0"/>
          </a:p>
        </p:txBody>
      </p:sp>
    </p:spTree>
    <p:extLst>
      <p:ext uri="{BB962C8B-B14F-4D97-AF65-F5344CB8AC3E}">
        <p14:creationId xmlns:p14="http://schemas.microsoft.com/office/powerpoint/2010/main" val="39721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dirty="0"/>
              <a:t>Introduction</a:t>
            </a:r>
          </a:p>
        </p:txBody>
      </p:sp>
      <p:sp>
        <p:nvSpPr>
          <p:cNvPr id="4" name="Espace réservé du contenu 3"/>
          <p:cNvSpPr>
            <a:spLocks noGrp="1"/>
          </p:cNvSpPr>
          <p:nvPr>
            <p:ph idx="1"/>
          </p:nvPr>
        </p:nvSpPr>
        <p:spPr/>
        <p:txBody>
          <a:bodyPr>
            <a:normAutofit/>
          </a:bodyPr>
          <a:lstStyle/>
          <a:p>
            <a:pPr>
              <a:buFont typeface="Wingdings" pitchFamily="2" charset="2"/>
              <a:buChar char="§"/>
            </a:pPr>
            <a:r>
              <a:rPr lang="en-US" sz="2800" b="1" dirty="0"/>
              <a:t>Exploit </a:t>
            </a:r>
            <a:r>
              <a:rPr lang="fr-BE" sz="2800" b="1" dirty="0"/>
              <a:t>d’huissier</a:t>
            </a:r>
            <a:r>
              <a:rPr lang="en-US" sz="2800" b="1" dirty="0"/>
              <a:t> :</a:t>
            </a:r>
            <a:endParaRPr lang="fr-BE" sz="2800" dirty="0"/>
          </a:p>
          <a:p>
            <a:pPr marL="365125" indent="0">
              <a:buNone/>
            </a:pPr>
            <a:r>
              <a:rPr lang="fr-BE" sz="2800" dirty="0"/>
              <a:t>Se dit d’un acte d’huissier de justice</a:t>
            </a:r>
            <a:r>
              <a:rPr lang="en-US" sz="2800" dirty="0"/>
              <a:t>.</a:t>
            </a:r>
            <a:endParaRPr lang="fr-BE" sz="2800" dirty="0"/>
          </a:p>
          <a:p>
            <a:pPr marL="0" indent="0">
              <a:buNone/>
            </a:pPr>
            <a:r>
              <a:rPr lang="en-US" sz="2800" dirty="0"/>
              <a:t> </a:t>
            </a:r>
            <a:endParaRPr lang="en-US" sz="2800" b="1" dirty="0"/>
          </a:p>
          <a:p>
            <a:pPr>
              <a:buFont typeface="Wingdings" pitchFamily="2" charset="2"/>
              <a:buChar char="§"/>
            </a:pPr>
            <a:r>
              <a:rPr lang="fr-BE" sz="2800" b="1" dirty="0"/>
              <a:t>Mainlevée</a:t>
            </a:r>
            <a:r>
              <a:rPr lang="en-US" sz="2800" b="1" dirty="0"/>
              <a:t> </a:t>
            </a:r>
            <a:r>
              <a:rPr lang="en-US" sz="2800" dirty="0"/>
              <a:t>:</a:t>
            </a:r>
            <a:endParaRPr lang="fr-BE" sz="2800" dirty="0"/>
          </a:p>
          <a:p>
            <a:pPr marL="365125" indent="0">
              <a:buNone/>
            </a:pPr>
            <a:r>
              <a:rPr lang="fr-BE" sz="2800" dirty="0"/>
              <a:t>La "mainlevée" est le document par lequel un créancier qui a fait procéder à une saisie déclare y renoncer, généralement après avoir été payée par le débiteur qu'il a poursuivi. </a:t>
            </a:r>
          </a:p>
          <a:p>
            <a:pPr>
              <a:buFont typeface="Wingdings" pitchFamily="2" charset="2"/>
              <a:buChar char="§"/>
            </a:pPr>
            <a:endParaRPr lang="fr-BE" sz="2400" dirty="0"/>
          </a:p>
          <a:p>
            <a:pPr marL="0" indent="0">
              <a:buNone/>
            </a:pPr>
            <a:endParaRPr lang="fr-BE" dirty="0"/>
          </a:p>
          <a:p>
            <a:endParaRPr lang="fr-BE"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7</a:t>
            </a:fld>
            <a:endParaRPr lang="fr-FR" dirty="0"/>
          </a:p>
        </p:txBody>
      </p:sp>
    </p:spTree>
    <p:extLst>
      <p:ext uri="{BB962C8B-B14F-4D97-AF65-F5344CB8AC3E}">
        <p14:creationId xmlns:p14="http://schemas.microsoft.com/office/powerpoint/2010/main" val="285589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pPr algn="r"/>
            <a:r>
              <a:rPr lang="fr-BE" b="1" dirty="0"/>
              <a:t>Base légale : Article 1409</a:t>
            </a:r>
          </a:p>
        </p:txBody>
      </p:sp>
      <p:sp>
        <p:nvSpPr>
          <p:cNvPr id="4" name="Espace réservé du contenu 3"/>
          <p:cNvSpPr>
            <a:spLocks noGrp="1"/>
          </p:cNvSpPr>
          <p:nvPr>
            <p:ph idx="1"/>
          </p:nvPr>
        </p:nvSpPr>
        <p:spPr/>
        <p:txBody>
          <a:bodyPr>
            <a:normAutofit lnSpcReduction="10000"/>
          </a:bodyPr>
          <a:lstStyle/>
          <a:p>
            <a:pPr>
              <a:buFont typeface="Wingdings" pitchFamily="2" charset="2"/>
              <a:buChar char="§"/>
            </a:pPr>
            <a:r>
              <a:rPr lang="fr-BE" sz="2800" b="1" u="sng" dirty="0"/>
              <a:t>Article 1409</a:t>
            </a:r>
          </a:p>
          <a:p>
            <a:pPr lvl="1">
              <a:buFont typeface="Wingdings" pitchFamily="2" charset="2"/>
              <a:buChar char="§"/>
            </a:pPr>
            <a:r>
              <a:rPr lang="fr-BE" sz="2400" dirty="0"/>
              <a:t>Prévoit que la rémunération des travailleurs salariés, les revenus tirés d’une activité indépendante, et certains revenus de remplacement ne peuvent être saisis que dans certaines limites.</a:t>
            </a:r>
          </a:p>
          <a:p>
            <a:pPr lvl="1">
              <a:buFont typeface="Wingdings" pitchFamily="2" charset="2"/>
              <a:buChar char="§"/>
            </a:pPr>
            <a:r>
              <a:rPr lang="fr-BE" sz="2400" dirty="0"/>
              <a:t>Cet article fixe : </a:t>
            </a:r>
          </a:p>
          <a:p>
            <a:pPr lvl="2">
              <a:buFont typeface="Wingdings" pitchFamily="2" charset="2"/>
              <a:buChar char="§"/>
            </a:pPr>
            <a:r>
              <a:rPr lang="fr-BE" dirty="0"/>
              <a:t>Un plafond au-delà duquel les sommes peuvent être saisies en totalité;</a:t>
            </a:r>
          </a:p>
          <a:p>
            <a:pPr lvl="2">
              <a:buFont typeface="Wingdings" pitchFamily="2" charset="2"/>
              <a:buChar char="§"/>
            </a:pPr>
            <a:r>
              <a:rPr lang="fr-BE" dirty="0"/>
              <a:t>Des tranches de rémunération sur lesquelles une partie seulement peut être saisie;</a:t>
            </a:r>
          </a:p>
          <a:p>
            <a:pPr lvl="2">
              <a:buFont typeface="Wingdings" pitchFamily="2" charset="2"/>
              <a:buChar char="§"/>
            </a:pPr>
            <a:r>
              <a:rPr lang="fr-BE" dirty="0"/>
              <a:t>Un plafond en dessous duquel les sommes ne peuvent être saisies.</a:t>
            </a:r>
          </a:p>
          <a:p>
            <a:pPr>
              <a:buFont typeface="Wingdings" pitchFamily="2" charset="2"/>
              <a:buChar char="§"/>
            </a:pPr>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8</a:t>
            </a:fld>
            <a:endParaRPr lang="fr-FR" dirty="0"/>
          </a:p>
        </p:txBody>
      </p:sp>
    </p:spTree>
    <p:extLst>
      <p:ext uri="{BB962C8B-B14F-4D97-AF65-F5344CB8AC3E}">
        <p14:creationId xmlns:p14="http://schemas.microsoft.com/office/powerpoint/2010/main" val="57478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pPr algn="r"/>
            <a:r>
              <a:rPr lang="fr-BE" b="1" dirty="0"/>
              <a:t>Base légale : Articles 1409 </a:t>
            </a:r>
          </a:p>
        </p:txBody>
      </p:sp>
      <p:sp>
        <p:nvSpPr>
          <p:cNvPr id="4" name="Espace réservé du contenu 3"/>
          <p:cNvSpPr>
            <a:spLocks noGrp="1"/>
          </p:cNvSpPr>
          <p:nvPr>
            <p:ph idx="1"/>
          </p:nvPr>
        </p:nvSpPr>
        <p:spPr/>
        <p:txBody>
          <a:bodyPr>
            <a:normAutofit/>
          </a:bodyPr>
          <a:lstStyle/>
          <a:p>
            <a:pPr marL="0" indent="0">
              <a:buNone/>
            </a:pPr>
            <a:endParaRPr lang="fr-BE" sz="2400" dirty="0"/>
          </a:p>
          <a:p>
            <a:pPr marL="0" indent="0">
              <a:buNone/>
            </a:pPr>
            <a:r>
              <a:rPr lang="fr-BE" sz="2800" dirty="0"/>
              <a:t>La loi prévoit une indexation de ces montants chaque année compte tenu de l’indice des prix à la consommation.</a:t>
            </a:r>
          </a:p>
          <a:p>
            <a:pPr marL="0" indent="0">
              <a:buNone/>
            </a:pPr>
            <a:endParaRPr lang="fr-BE" sz="2800" dirty="0"/>
          </a:p>
          <a:p>
            <a:pPr marL="0" indent="0">
              <a:buNone/>
            </a:pPr>
            <a:r>
              <a:rPr lang="fr-BE" sz="2800" dirty="0"/>
              <a:t>La quotité saisissable se calcule sur le </a:t>
            </a:r>
            <a:r>
              <a:rPr lang="fr-BE" sz="2800" u="sng" dirty="0"/>
              <a:t>montant net </a:t>
            </a:r>
            <a:r>
              <a:rPr lang="fr-BE" sz="2800" dirty="0"/>
              <a:t>(soit après déduction du précompte professionnel et des retenues de sécurité sociale).</a:t>
            </a:r>
          </a:p>
          <a:p>
            <a:pPr marL="0" indent="0">
              <a:buNone/>
            </a:pPr>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9</a:t>
            </a:fld>
            <a:endParaRPr lang="fr-FR" dirty="0"/>
          </a:p>
        </p:txBody>
      </p:sp>
    </p:spTree>
    <p:extLst>
      <p:ext uri="{BB962C8B-B14F-4D97-AF65-F5344CB8AC3E}">
        <p14:creationId xmlns:p14="http://schemas.microsoft.com/office/powerpoint/2010/main" val="54758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pPr algn="r"/>
            <a:r>
              <a:rPr lang="fr-BE" b="1" dirty="0"/>
              <a:t>Base légale : Articles 1410</a:t>
            </a:r>
          </a:p>
        </p:txBody>
      </p:sp>
      <p:sp>
        <p:nvSpPr>
          <p:cNvPr id="4" name="Espace réservé du contenu 3"/>
          <p:cNvSpPr>
            <a:spLocks noGrp="1"/>
          </p:cNvSpPr>
          <p:nvPr>
            <p:ph idx="1"/>
          </p:nvPr>
        </p:nvSpPr>
        <p:spPr/>
        <p:txBody>
          <a:bodyPr>
            <a:normAutofit/>
          </a:bodyPr>
          <a:lstStyle/>
          <a:p>
            <a:pPr>
              <a:buFont typeface="Wingdings" pitchFamily="2" charset="2"/>
              <a:buChar char="§"/>
            </a:pPr>
            <a:r>
              <a:rPr lang="fr-BE" sz="2800" b="1" u="sng" dirty="0"/>
              <a:t>Article 1410 :</a:t>
            </a:r>
          </a:p>
          <a:p>
            <a:pPr marL="365125" indent="0">
              <a:buNone/>
            </a:pPr>
            <a:r>
              <a:rPr lang="fr-BE" sz="2800" dirty="0"/>
              <a:t>Concerne la plupart des allocations de sécurité sociale. Les prestations payées indûment peuvent être récupérées d’office à concurrence de 10% des prochaines sommes versées à titre d’allocations </a:t>
            </a:r>
            <a:r>
              <a:rPr lang="fr-BE" sz="2800"/>
              <a:t>sociales.</a:t>
            </a:r>
            <a:endParaRPr lang="fr-BE" sz="2800" dirty="0"/>
          </a:p>
          <a:p>
            <a:pPr marL="365125" indent="0">
              <a:buNone/>
            </a:pPr>
            <a:endParaRPr lang="fr-BE" sz="2800" dirty="0"/>
          </a:p>
          <a:p>
            <a:pPr marL="365125" indent="0">
              <a:buNone/>
            </a:pPr>
            <a:r>
              <a:rPr lang="fr-BE" sz="2800" dirty="0"/>
              <a:t>On fixe les 10% sur le </a:t>
            </a:r>
            <a:r>
              <a:rPr lang="fr-BE" sz="2800" u="sng" dirty="0"/>
              <a:t>montant brut</a:t>
            </a:r>
            <a:r>
              <a:rPr lang="fr-BE" sz="2800" dirty="0"/>
              <a:t>.</a:t>
            </a:r>
          </a:p>
          <a:p>
            <a:pPr marL="0" indent="0">
              <a:buNone/>
            </a:pPr>
            <a:endParaRPr lang="fr-BE" sz="2400" dirty="0"/>
          </a:p>
          <a:p>
            <a:pPr marL="0" indent="0">
              <a:buNone/>
            </a:pPr>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10</a:t>
            </a:fld>
            <a:endParaRPr lang="fr-FR" dirty="0"/>
          </a:p>
        </p:txBody>
      </p:sp>
    </p:spTree>
    <p:extLst>
      <p:ext uri="{BB962C8B-B14F-4D97-AF65-F5344CB8AC3E}">
        <p14:creationId xmlns:p14="http://schemas.microsoft.com/office/powerpoint/2010/main" val="131142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539552" y="260648"/>
            <a:ext cx="8229600" cy="1143000"/>
          </a:xfrm>
        </p:spPr>
        <p:txBody>
          <a:bodyPr>
            <a:normAutofit/>
          </a:bodyPr>
          <a:lstStyle/>
          <a:p>
            <a:pPr algn="r"/>
            <a:r>
              <a:rPr lang="fr-BE" b="1" dirty="0"/>
              <a:t>Base légale : Article 1412</a:t>
            </a:r>
          </a:p>
        </p:txBody>
      </p:sp>
      <p:sp>
        <p:nvSpPr>
          <p:cNvPr id="4" name="Espace réservé du contenu 3"/>
          <p:cNvSpPr>
            <a:spLocks noGrp="1"/>
          </p:cNvSpPr>
          <p:nvPr>
            <p:ph idx="1"/>
          </p:nvPr>
        </p:nvSpPr>
        <p:spPr/>
        <p:txBody>
          <a:bodyPr>
            <a:normAutofit/>
          </a:bodyPr>
          <a:lstStyle/>
          <a:p>
            <a:pPr marL="0" indent="0">
              <a:buNone/>
            </a:pPr>
            <a:endParaRPr lang="fr-BE" sz="3000" dirty="0"/>
          </a:p>
          <a:p>
            <a:pPr>
              <a:buFont typeface="Wingdings" pitchFamily="2" charset="2"/>
              <a:buChar char="§"/>
            </a:pPr>
            <a:r>
              <a:rPr lang="fr-BE" sz="3000" b="1" u="sng" dirty="0"/>
              <a:t>Article 1412 :</a:t>
            </a:r>
          </a:p>
          <a:p>
            <a:pPr marL="365125" indent="0">
              <a:buNone/>
            </a:pPr>
            <a:r>
              <a:rPr lang="fr-BE" sz="3000" dirty="0"/>
              <a:t>Les quotités insaisissables ne sont pas applicables lorsque la saisie est justifiée par une obligation alimentaire   </a:t>
            </a:r>
          </a:p>
          <a:p>
            <a:pPr marL="365125" indent="0">
              <a:buNone/>
            </a:pPr>
            <a:r>
              <a:rPr lang="fr-BE" sz="3000" dirty="0">
                <a:sym typeface="Wingdings" panose="05000000000000000000" pitchFamily="2" charset="2"/>
              </a:rPr>
              <a:t></a:t>
            </a:r>
            <a:r>
              <a:rPr lang="fr-BE" sz="3000" dirty="0"/>
              <a:t>   dans ce cas, la totalité est saisissable</a:t>
            </a:r>
            <a:r>
              <a:rPr lang="en-US" sz="3000" dirty="0"/>
              <a:t>.</a:t>
            </a:r>
            <a:endParaRPr lang="fr-BE" sz="3000" dirty="0"/>
          </a:p>
          <a:p>
            <a:pPr marL="0" indent="0">
              <a:buNone/>
            </a:pPr>
            <a:endParaRPr lang="fr-BE" sz="2400" dirty="0"/>
          </a:p>
          <a:p>
            <a:pPr marL="0" indent="0">
              <a:buNone/>
            </a:pPr>
            <a:endParaRPr lang="fr-BE" sz="2400" dirty="0"/>
          </a:p>
          <a:p>
            <a:pPr marL="0" indent="0">
              <a:buNone/>
            </a:pPr>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11</a:t>
            </a:fld>
            <a:endParaRPr lang="fr-FR" dirty="0"/>
          </a:p>
        </p:txBody>
      </p:sp>
    </p:spTree>
    <p:extLst>
      <p:ext uri="{BB962C8B-B14F-4D97-AF65-F5344CB8AC3E}">
        <p14:creationId xmlns:p14="http://schemas.microsoft.com/office/powerpoint/2010/main" val="20493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pPr algn="r"/>
            <a:r>
              <a:rPr lang="fr-BE" b="1" dirty="0"/>
              <a:t>Base légale : Article 1411</a:t>
            </a:r>
            <a:endParaRPr lang="fr-BE" dirty="0"/>
          </a:p>
        </p:txBody>
      </p:sp>
      <p:sp>
        <p:nvSpPr>
          <p:cNvPr id="6" name="Espace réservé du contenu 5"/>
          <p:cNvSpPr>
            <a:spLocks noGrp="1"/>
          </p:cNvSpPr>
          <p:nvPr>
            <p:ph idx="1"/>
          </p:nvPr>
        </p:nvSpPr>
        <p:spPr/>
        <p:txBody>
          <a:bodyPr>
            <a:normAutofit/>
          </a:bodyPr>
          <a:lstStyle/>
          <a:p>
            <a:pPr>
              <a:buFont typeface="Wingdings" pitchFamily="2" charset="2"/>
              <a:buChar char="§"/>
            </a:pPr>
            <a:r>
              <a:rPr lang="fr-BE" sz="2800" dirty="0"/>
              <a:t>Lorsqu’une personne bénéficie à la fois de sommes prévues à l’article 1409 (salaire) et d’allocations sociales prévues à l’articles 1410, les montants peuvent être cumulés pour déterminer la quotité saisissable.  </a:t>
            </a:r>
          </a:p>
          <a:p>
            <a:pPr>
              <a:buFont typeface="Wingdings" pitchFamily="2" charset="2"/>
              <a:buChar char="§"/>
            </a:pPr>
            <a:endParaRPr lang="fr-BE" sz="2800" dirty="0"/>
          </a:p>
          <a:p>
            <a:pPr lvl="0" fontAlgn="base">
              <a:lnSpc>
                <a:spcPct val="90000"/>
              </a:lnSpc>
              <a:spcAft>
                <a:spcPct val="0"/>
              </a:spcAft>
              <a:buFont typeface="Wingdings" pitchFamily="2" charset="2"/>
              <a:buChar char="§"/>
            </a:pPr>
            <a:r>
              <a:rPr lang="fr-BE" sz="2800" b="1" u="sng" kern="0" dirty="0">
                <a:solidFill>
                  <a:srgbClr val="000000"/>
                </a:solidFill>
              </a:rPr>
              <a:t>Le créancier</a:t>
            </a:r>
            <a:r>
              <a:rPr lang="fr-BE" sz="2800" kern="0" dirty="0">
                <a:solidFill>
                  <a:srgbClr val="000000"/>
                </a:solidFill>
              </a:rPr>
              <a:t> peut ordonner au </a:t>
            </a:r>
            <a:r>
              <a:rPr lang="fr-BE" sz="2800" b="1" u="sng" kern="0" dirty="0">
                <a:solidFill>
                  <a:srgbClr val="000000"/>
                </a:solidFill>
              </a:rPr>
              <a:t>tiers saisi</a:t>
            </a:r>
            <a:r>
              <a:rPr lang="fr-BE" sz="2800" kern="0" dirty="0">
                <a:solidFill>
                  <a:srgbClr val="000000"/>
                </a:solidFill>
              </a:rPr>
              <a:t> de fusionner les différents revenus nets sur base de l’Article 1411</a:t>
            </a:r>
            <a:r>
              <a:rPr lang="fr-BE" kern="0" dirty="0">
                <a:solidFill>
                  <a:srgbClr val="000000"/>
                </a:solidFill>
              </a:rPr>
              <a:t>. </a:t>
            </a:r>
          </a:p>
          <a:p>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12</a:t>
            </a:fld>
            <a:endParaRPr lang="fr-FR"/>
          </a:p>
        </p:txBody>
      </p:sp>
    </p:spTree>
    <p:extLst>
      <p:ext uri="{BB962C8B-B14F-4D97-AF65-F5344CB8AC3E}">
        <p14:creationId xmlns:p14="http://schemas.microsoft.com/office/powerpoint/2010/main" val="38089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Subrogation CPAS</a:t>
            </a:r>
          </a:p>
        </p:txBody>
      </p:sp>
      <p:sp>
        <p:nvSpPr>
          <p:cNvPr id="3" name="Espace réservé du contenu 2"/>
          <p:cNvSpPr>
            <a:spLocks noGrp="1"/>
          </p:cNvSpPr>
          <p:nvPr>
            <p:ph idx="1"/>
          </p:nvPr>
        </p:nvSpPr>
        <p:spPr>
          <a:xfrm>
            <a:off x="457200" y="1412776"/>
            <a:ext cx="8229600" cy="4713387"/>
          </a:xfrm>
        </p:spPr>
        <p:txBody>
          <a:bodyPr>
            <a:normAutofit/>
          </a:bodyPr>
          <a:lstStyle/>
          <a:p>
            <a:pPr>
              <a:buFont typeface="Wingdings" pitchFamily="2" charset="2"/>
              <a:buChar char="§"/>
            </a:pPr>
            <a:r>
              <a:rPr lang="fr-BE" sz="2400" dirty="0"/>
              <a:t>Le CPAS est autorisé à accorder des avances sur allocations de chômage et à se </a:t>
            </a:r>
            <a:r>
              <a:rPr lang="fr-BE" sz="2400" u="sng" dirty="0"/>
              <a:t>subroger </a:t>
            </a:r>
            <a:r>
              <a:rPr lang="fr-BE" sz="2400" dirty="0"/>
              <a:t>pour récupérer ces avances sur les sommes que l’OP devra payer au chômeur</a:t>
            </a:r>
            <a:r>
              <a:rPr lang="en-US" sz="2400" dirty="0"/>
              <a:t>.</a:t>
            </a:r>
          </a:p>
          <a:p>
            <a:pPr>
              <a:buFont typeface="Wingdings" pitchFamily="2" charset="2"/>
              <a:buChar char="§"/>
            </a:pPr>
            <a:endParaRPr lang="en-US" sz="2400" dirty="0"/>
          </a:p>
          <a:p>
            <a:pPr>
              <a:buFont typeface="Wingdings" pitchFamily="2" charset="2"/>
              <a:buChar char="§"/>
            </a:pPr>
            <a:r>
              <a:rPr lang="fr-BE" sz="2400" dirty="0"/>
              <a:t>Nous devrons la joindre aux documents de paiement du mois concerné pour le Service Vérification de l’ONEm et ne devrons rien introduire à l’Admissibilité</a:t>
            </a:r>
            <a:r>
              <a:rPr lang="en-US" sz="2400" dirty="0"/>
              <a:t>. </a:t>
            </a:r>
          </a:p>
          <a:p>
            <a:pPr>
              <a:buFont typeface="Wingdings" pitchFamily="2" charset="2"/>
              <a:buChar char="§"/>
            </a:pPr>
            <a:endParaRPr lang="en-US" sz="2400" dirty="0"/>
          </a:p>
          <a:p>
            <a:pPr>
              <a:buFont typeface="Wingdings" pitchFamily="2" charset="2"/>
              <a:buChar char="§"/>
            </a:pPr>
            <a:r>
              <a:rPr lang="fr-BE" sz="2400" dirty="0">
                <a:solidFill>
                  <a:prstClr val="black"/>
                </a:solidFill>
              </a:rPr>
              <a:t>Cette subrogation est limitée au(x) mois concerné(s) par ces avances et doit être récupérée en une seule foi</a:t>
            </a:r>
            <a:r>
              <a:rPr lang="en-US" sz="2400" dirty="0">
                <a:solidFill>
                  <a:prstClr val="black"/>
                </a:solidFill>
              </a:rPr>
              <a:t>s.</a:t>
            </a:r>
          </a:p>
          <a:p>
            <a:pPr>
              <a:buFont typeface="Wingdings" pitchFamily="2" charset="2"/>
              <a:buChar char="§"/>
            </a:pPr>
            <a:endParaRPr lang="fr-BE" sz="2400" dirty="0"/>
          </a:p>
          <a:p>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13</a:t>
            </a:fld>
            <a:endParaRPr lang="fr-FR" dirty="0"/>
          </a:p>
        </p:txBody>
      </p:sp>
    </p:spTree>
    <p:extLst>
      <p:ext uri="{BB962C8B-B14F-4D97-AF65-F5344CB8AC3E}">
        <p14:creationId xmlns:p14="http://schemas.microsoft.com/office/powerpoint/2010/main" val="303318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Guidance budgétaire CPAS</a:t>
            </a:r>
          </a:p>
        </p:txBody>
      </p:sp>
      <p:sp>
        <p:nvSpPr>
          <p:cNvPr id="3" name="Espace réservé du contenu 2"/>
          <p:cNvSpPr>
            <a:spLocks noGrp="1"/>
          </p:cNvSpPr>
          <p:nvPr>
            <p:ph idx="1"/>
          </p:nvPr>
        </p:nvSpPr>
        <p:spPr>
          <a:xfrm>
            <a:off x="395536" y="1600200"/>
            <a:ext cx="8229600" cy="4525963"/>
          </a:xfrm>
        </p:spPr>
        <p:txBody>
          <a:bodyPr>
            <a:normAutofit lnSpcReduction="10000"/>
          </a:bodyPr>
          <a:lstStyle/>
          <a:p>
            <a:r>
              <a:rPr lang="fr-BE" sz="2800" dirty="0"/>
              <a:t>Il s’agit une forme d’aide sociale qui a pour objectif d’aider les personnes à accroître la maitrise de leur budget .</a:t>
            </a:r>
          </a:p>
          <a:p>
            <a:endParaRPr lang="fr-BE" sz="2800" dirty="0"/>
          </a:p>
          <a:p>
            <a:r>
              <a:rPr lang="fr-BE" sz="2800" dirty="0"/>
              <a:t>C’est le CPAS qui s’occupe de la gestion des moyens financiers du chômeur via un compte de gestion. </a:t>
            </a:r>
          </a:p>
          <a:p>
            <a:endParaRPr lang="fr-BE" sz="2800" dirty="0"/>
          </a:p>
          <a:p>
            <a:r>
              <a:rPr lang="fr-BE" sz="2800" dirty="0"/>
              <a:t>L’OP sera averti de cette décision de guidance budgétaire qui devra aussi être communiquée à l’</a:t>
            </a:r>
            <a:r>
              <a:rPr lang="fr-BE" sz="2800" dirty="0" err="1"/>
              <a:t>ONEm</a:t>
            </a:r>
            <a:r>
              <a:rPr lang="fr-BE" sz="2800" dirty="0"/>
              <a:t> pour créer cette saisie. </a:t>
            </a:r>
          </a:p>
          <a:p>
            <a:endParaRPr lang="fr-BE" b="1" u="sng"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14</a:t>
            </a:fld>
            <a:endParaRPr lang="fr-FR" dirty="0"/>
          </a:p>
        </p:txBody>
      </p:sp>
    </p:spTree>
    <p:extLst>
      <p:ext uri="{BB962C8B-B14F-4D97-AF65-F5344CB8AC3E}">
        <p14:creationId xmlns:p14="http://schemas.microsoft.com/office/powerpoint/2010/main" val="395434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Guidance budgétaire CPAS</a:t>
            </a:r>
            <a:endParaRPr lang="fr-BE"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BE" sz="3000" b="1" dirty="0"/>
              <a:t>Quelle est la durée d’une guidance ?</a:t>
            </a:r>
          </a:p>
          <a:p>
            <a:pPr marL="0" indent="0">
              <a:buNone/>
            </a:pPr>
            <a:r>
              <a:rPr lang="fr-BE" sz="3000" dirty="0"/>
              <a:t>Une guidance budgétaire prendra fin pour plusieurs raisons, entre autres : </a:t>
            </a:r>
          </a:p>
          <a:p>
            <a:pPr lvl="1">
              <a:buFont typeface="Wingdings" pitchFamily="2" charset="2"/>
              <a:buChar char="§"/>
            </a:pPr>
            <a:r>
              <a:rPr lang="fr-BE" sz="3000" dirty="0"/>
              <a:t>un accord commun décidé entre le travailleur social et le chômeur ; </a:t>
            </a:r>
          </a:p>
          <a:p>
            <a:pPr lvl="1">
              <a:buFont typeface="Wingdings" pitchFamily="2" charset="2"/>
              <a:buChar char="§"/>
            </a:pPr>
            <a:r>
              <a:rPr lang="fr-BE" sz="3000" dirty="0"/>
              <a:t>la reprise en main, par la personne aidée budgétairement, de sa situation financière ; </a:t>
            </a:r>
          </a:p>
          <a:p>
            <a:pPr lvl="1">
              <a:buFont typeface="Wingdings" pitchFamily="2" charset="2"/>
              <a:buChar char="§"/>
            </a:pPr>
            <a:r>
              <a:rPr lang="fr-BE" sz="3000" dirty="0"/>
              <a:t>une non-collaboration ; </a:t>
            </a:r>
          </a:p>
          <a:p>
            <a:pPr lvl="1">
              <a:buFont typeface="Wingdings" pitchFamily="2" charset="2"/>
              <a:buChar char="§"/>
            </a:pPr>
            <a:r>
              <a:rPr lang="fr-BE" sz="3000" dirty="0"/>
              <a:t>le souhait du chômeur d’arrêter la guidance ; </a:t>
            </a:r>
          </a:p>
          <a:p>
            <a:pPr lvl="1">
              <a:buFont typeface="Wingdings" pitchFamily="2" charset="2"/>
              <a:buChar char="§"/>
            </a:pPr>
            <a:r>
              <a:rPr lang="fr-BE" sz="3000" dirty="0"/>
              <a:t>un déménagement. </a:t>
            </a:r>
          </a:p>
          <a:p>
            <a:endParaRPr lang="fr-BE" dirty="0"/>
          </a:p>
        </p:txBody>
      </p:sp>
      <p:sp>
        <p:nvSpPr>
          <p:cNvPr id="7"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15</a:t>
            </a:fld>
            <a:endParaRPr lang="fr-FR" dirty="0"/>
          </a:p>
        </p:txBody>
      </p:sp>
    </p:spTree>
    <p:extLst>
      <p:ext uri="{BB962C8B-B14F-4D97-AF65-F5344CB8AC3E}">
        <p14:creationId xmlns:p14="http://schemas.microsoft.com/office/powerpoint/2010/main" val="95155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Cession volontaire</a:t>
            </a:r>
          </a:p>
        </p:txBody>
      </p:sp>
      <p:sp>
        <p:nvSpPr>
          <p:cNvPr id="3" name="Espace réservé du contenu 2"/>
          <p:cNvSpPr>
            <a:spLocks noGrp="1"/>
          </p:cNvSpPr>
          <p:nvPr>
            <p:ph idx="1"/>
          </p:nvPr>
        </p:nvSpPr>
        <p:spPr/>
        <p:txBody>
          <a:bodyPr>
            <a:normAutofit fontScale="70000" lnSpcReduction="20000"/>
          </a:bodyPr>
          <a:lstStyle/>
          <a:p>
            <a:pPr>
              <a:buFont typeface="Wingdings" pitchFamily="2" charset="2"/>
              <a:buChar char="§"/>
            </a:pPr>
            <a:r>
              <a:rPr lang="fr-BE" sz="4000" dirty="0"/>
              <a:t>La cession volontaire est une retenue volontaire par laquelle le chômeur « renonce » à la protection fixée par l’article 1409 du Code Judiciaire, soit la quotité saisissable </a:t>
            </a:r>
            <a:r>
              <a:rPr lang="fr-BE" sz="2900" dirty="0">
                <a:sym typeface="Wingdings" pitchFamily="2" charset="2"/>
              </a:rPr>
              <a:t></a:t>
            </a:r>
            <a:r>
              <a:rPr lang="fr-BE" sz="4000" dirty="0">
                <a:sym typeface="Wingdings" pitchFamily="2" charset="2"/>
              </a:rPr>
              <a:t> </a:t>
            </a:r>
            <a:r>
              <a:rPr lang="fr-BE" sz="4000" dirty="0"/>
              <a:t>il accepte que </a:t>
            </a:r>
            <a:r>
              <a:rPr lang="fr-BE" sz="4000" b="1" dirty="0"/>
              <a:t>des retenues </a:t>
            </a:r>
            <a:r>
              <a:rPr lang="fr-BE" sz="4000" dirty="0"/>
              <a:t>soient effectuées </a:t>
            </a:r>
            <a:r>
              <a:rPr lang="fr-BE" sz="4000" b="1" dirty="0"/>
              <a:t>sur la partie non-saisissable </a:t>
            </a:r>
            <a:r>
              <a:rPr lang="fr-BE" sz="4000" dirty="0"/>
              <a:t>de ses revenus</a:t>
            </a:r>
            <a:r>
              <a:rPr lang="en-US" sz="4000" dirty="0"/>
              <a:t>.</a:t>
            </a:r>
            <a:endParaRPr lang="fr-BE" sz="4000" dirty="0"/>
          </a:p>
          <a:p>
            <a:pPr>
              <a:buFont typeface="Wingdings" pitchFamily="2" charset="2"/>
              <a:buChar char="§"/>
            </a:pPr>
            <a:endParaRPr lang="fr-BE" sz="3600" dirty="0"/>
          </a:p>
          <a:p>
            <a:pPr>
              <a:buFont typeface="Wingdings" pitchFamily="2" charset="2"/>
              <a:buChar char="§"/>
            </a:pPr>
            <a:r>
              <a:rPr lang="fr-BE" sz="4000" dirty="0"/>
              <a:t>Cette cession doit être attestée par un document daté et signé par le chômeur, document dans lequel sont précisés les coordonnées du créancier, le motif, le montant et la période pour laquelle il accorde ce mandat</a:t>
            </a:r>
            <a:r>
              <a:rPr lang="en-US" sz="3600" dirty="0"/>
              <a:t>.</a:t>
            </a:r>
            <a:endParaRPr lang="fr-BE" sz="3600" dirty="0"/>
          </a:p>
          <a:p>
            <a:pPr marL="0" indent="0">
              <a:buNone/>
            </a:pPr>
            <a:endParaRPr lang="fr-BE"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16</a:t>
            </a:fld>
            <a:endParaRPr lang="fr-FR" dirty="0"/>
          </a:p>
        </p:txBody>
      </p:sp>
    </p:spTree>
    <p:extLst>
      <p:ext uri="{BB962C8B-B14F-4D97-AF65-F5344CB8AC3E}">
        <p14:creationId xmlns:p14="http://schemas.microsoft.com/office/powerpoint/2010/main" val="15013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a:t>Vérité </a:t>
            </a:r>
            <a:r>
              <a:rPr lang="fr-BE" b="1" dirty="0"/>
              <a:t>S05</a:t>
            </a:r>
          </a:p>
        </p:txBody>
      </p:sp>
      <p:sp>
        <p:nvSpPr>
          <p:cNvPr id="4" name="Espace réservé du contenu 3"/>
          <p:cNvSpPr>
            <a:spLocks noGrp="1"/>
          </p:cNvSpPr>
          <p:nvPr>
            <p:ph idx="1"/>
          </p:nvPr>
        </p:nvSpPr>
        <p:spPr/>
        <p:txBody>
          <a:bodyPr>
            <a:normAutofit/>
          </a:bodyPr>
          <a:lstStyle/>
          <a:p>
            <a:pPr marL="0" indent="0">
              <a:buNone/>
            </a:pPr>
            <a:r>
              <a:rPr lang="fr-BE" sz="3000" dirty="0"/>
              <a:t>Les renseignements concernant les types de saisies précédentes se retrouvent dans le module S05 de la C2 de l’</a:t>
            </a:r>
            <a:r>
              <a:rPr lang="fr-BE" sz="3000" dirty="0" err="1"/>
              <a:t>ONEm</a:t>
            </a:r>
            <a:r>
              <a:rPr lang="fr-BE" sz="3000" dirty="0"/>
              <a:t> puisque c’est l’</a:t>
            </a:r>
            <a:r>
              <a:rPr lang="fr-BE" sz="3000" dirty="0" err="1"/>
              <a:t>ONEm</a:t>
            </a:r>
            <a:r>
              <a:rPr lang="fr-BE" sz="3000" dirty="0"/>
              <a:t> qui gèrent ces saisies</a:t>
            </a:r>
            <a:r>
              <a:rPr lang="en-US" sz="3000" dirty="0"/>
              <a:t>. </a:t>
            </a:r>
          </a:p>
          <a:p>
            <a:pPr marL="0" indent="0">
              <a:buNone/>
            </a:pPr>
            <a:r>
              <a:rPr lang="fr-BE" sz="3000" dirty="0"/>
              <a:t>Tous les autres types de saisies sont gérées par l’Administration Centrale de l’</a:t>
            </a:r>
            <a:r>
              <a:rPr lang="fr-BE" sz="3000" dirty="0" err="1"/>
              <a:t>ONEm</a:t>
            </a:r>
            <a:r>
              <a:rPr lang="fr-BE" sz="3000" dirty="0"/>
              <a:t> qui nous envoient les informations via des CS2.</a:t>
            </a:r>
          </a:p>
          <a:p>
            <a:pPr marL="0" indent="0">
              <a:buNone/>
            </a:pPr>
            <a:r>
              <a:rPr lang="fr-BE" sz="3000" b="1" dirty="0"/>
              <a:t>Toutes</a:t>
            </a:r>
            <a:r>
              <a:rPr lang="fr-BE" sz="3000" dirty="0"/>
              <a:t> les saisies sont reprises dans la vérité “Saisies et retenues” de notre programme</a:t>
            </a:r>
            <a:r>
              <a:rPr lang="en-US" sz="3000" dirty="0"/>
              <a:t>.</a:t>
            </a:r>
            <a:endParaRPr lang="fr-BE" sz="30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17</a:t>
            </a:fld>
            <a:endParaRPr lang="fr-FR" dirty="0"/>
          </a:p>
        </p:txBody>
      </p:sp>
    </p:spTree>
    <p:extLst>
      <p:ext uri="{BB962C8B-B14F-4D97-AF65-F5344CB8AC3E}">
        <p14:creationId xmlns:p14="http://schemas.microsoft.com/office/powerpoint/2010/main" val="246679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dirty="0"/>
              <a:t> </a:t>
            </a:r>
            <a:r>
              <a:rPr lang="fr-BE" b="1" dirty="0"/>
              <a:t>Vérité S05</a:t>
            </a:r>
          </a:p>
        </p:txBody>
      </p:sp>
      <p:sp>
        <p:nvSpPr>
          <p:cNvPr id="6"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18</a:t>
            </a:fld>
            <a:endParaRPr lang="fr-FR" dirty="0"/>
          </a:p>
        </p:txBody>
      </p:sp>
      <p:pic>
        <p:nvPicPr>
          <p:cNvPr id="12" name="Espace réservé du contenu 11">
            <a:extLst>
              <a:ext uri="{FF2B5EF4-FFF2-40B4-BE49-F238E27FC236}">
                <a16:creationId xmlns:a16="http://schemas.microsoft.com/office/drawing/2014/main" id="{B4B186ED-1FD6-4120-80F8-6334DDF31940}"/>
              </a:ext>
            </a:extLst>
          </p:cNvPr>
          <p:cNvPicPr>
            <a:picLocks noGrp="1" noChangeAspect="1"/>
          </p:cNvPicPr>
          <p:nvPr>
            <p:ph idx="1"/>
          </p:nvPr>
        </p:nvPicPr>
        <p:blipFill>
          <a:blip r:embed="rId3"/>
          <a:stretch>
            <a:fillRect/>
          </a:stretch>
        </p:blipFill>
        <p:spPr>
          <a:xfrm>
            <a:off x="611560" y="1321591"/>
            <a:ext cx="8075240" cy="4852128"/>
          </a:xfrm>
        </p:spPr>
      </p:pic>
    </p:spTree>
    <p:extLst>
      <p:ext uri="{BB962C8B-B14F-4D97-AF65-F5344CB8AC3E}">
        <p14:creationId xmlns:p14="http://schemas.microsoft.com/office/powerpoint/2010/main" val="3864530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p:txBody>
          <a:bodyPr>
            <a:normAutofit/>
          </a:bodyPr>
          <a:lstStyle/>
          <a:p>
            <a:pPr>
              <a:buFont typeface="Wingdings" pitchFamily="2" charset="2"/>
              <a:buChar char="§"/>
            </a:pPr>
            <a:r>
              <a:rPr lang="fr-BE" sz="2800" dirty="0"/>
              <a:t>L’ONEm prévoit que le montant saisissable (résultat obtenu après application des limites des montants saisissables des revenus d’allocations sociales et des revenus salariaux) pourrait être diminué de 81,00 € par « enfant à charge » (EAC) (montant au 01.04.23)</a:t>
            </a:r>
          </a:p>
          <a:p>
            <a:pPr>
              <a:buFont typeface="Wingdings" pitchFamily="2" charset="2"/>
              <a:buChar char="§"/>
            </a:pPr>
            <a:endParaRPr lang="fr-BE" sz="2800" dirty="0"/>
          </a:p>
          <a:p>
            <a:pPr>
              <a:buFont typeface="Wingdings" pitchFamily="2" charset="2"/>
              <a:buChar char="§"/>
            </a:pPr>
            <a:r>
              <a:rPr lang="fr-BE" sz="2800" dirty="0"/>
              <a:t>Sur demande du débiteur.</a:t>
            </a:r>
          </a:p>
          <a:p>
            <a:pPr>
              <a:buFont typeface="Wingdings" pitchFamily="2" charset="2"/>
              <a:buChar char="§"/>
            </a:pPr>
            <a:endParaRPr lang="fr-BE"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19</a:t>
            </a:fld>
            <a:endParaRPr lang="fr-FR" dirty="0"/>
          </a:p>
        </p:txBody>
      </p:sp>
    </p:spTree>
    <p:extLst>
      <p:ext uri="{BB962C8B-B14F-4D97-AF65-F5344CB8AC3E}">
        <p14:creationId xmlns:p14="http://schemas.microsoft.com/office/powerpoint/2010/main" val="356502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p:txBody>
          <a:bodyPr>
            <a:normAutofit/>
          </a:bodyPr>
          <a:lstStyle/>
          <a:p>
            <a:pPr marL="0" indent="0">
              <a:buNone/>
            </a:pPr>
            <a:r>
              <a:rPr lang="fr-BE" dirty="0">
                <a:cs typeface="Times New Roman" pitchFamily="18" charset="0"/>
              </a:rPr>
              <a:t>Pour bénéficier de cette majoration pour « enfant à charge », l’intéressé doit remplir les conditions </a:t>
            </a:r>
            <a:r>
              <a:rPr lang="fr-BE" b="1" dirty="0">
                <a:cs typeface="Times New Roman" pitchFamily="18" charset="0"/>
              </a:rPr>
              <a:t>CUMULATIVES </a:t>
            </a:r>
            <a:r>
              <a:rPr lang="fr-BE" dirty="0">
                <a:cs typeface="Times New Roman" pitchFamily="18" charset="0"/>
              </a:rPr>
              <a:t>suivantes : </a:t>
            </a:r>
          </a:p>
          <a:p>
            <a:pPr marL="0" indent="0">
              <a:buNone/>
            </a:pPr>
            <a:endParaRPr lang="fr-BE" sz="3200" dirty="0"/>
          </a:p>
          <a:p>
            <a:pPr marL="715963" lvl="1" indent="-258763">
              <a:buFont typeface="+mj-lt"/>
              <a:buAutoNum type="arabicPeriod"/>
            </a:pPr>
            <a:r>
              <a:rPr lang="fr-BE" sz="3200" dirty="0"/>
              <a:t>	Dans le chef de l’enfant ;</a:t>
            </a:r>
          </a:p>
          <a:p>
            <a:pPr marL="898525" lvl="1" indent="-441325">
              <a:buFont typeface="+mj-lt"/>
              <a:buAutoNum type="arabicPeriod"/>
            </a:pPr>
            <a:r>
              <a:rPr lang="fr-BE" sz="3200" dirty="0"/>
              <a:t>	Dans le chef du débiteur ;</a:t>
            </a:r>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20</a:t>
            </a:fld>
            <a:endParaRPr lang="fr-FR" dirty="0"/>
          </a:p>
        </p:txBody>
      </p:sp>
    </p:spTree>
    <p:extLst>
      <p:ext uri="{BB962C8B-B14F-4D97-AF65-F5344CB8AC3E}">
        <p14:creationId xmlns:p14="http://schemas.microsoft.com/office/powerpoint/2010/main" val="90981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a:xfrm>
            <a:off x="395536" y="1484784"/>
            <a:ext cx="8229600" cy="4525963"/>
          </a:xfrm>
        </p:spPr>
        <p:txBody>
          <a:bodyPr>
            <a:normAutofit/>
          </a:bodyPr>
          <a:lstStyle/>
          <a:p>
            <a:pPr marL="0" indent="0">
              <a:lnSpc>
                <a:spcPct val="90000"/>
              </a:lnSpc>
              <a:buNone/>
              <a:defRPr/>
            </a:pPr>
            <a:r>
              <a:rPr lang="fr-BE" sz="2400" b="1" u="sng" dirty="0">
                <a:solidFill>
                  <a:srgbClr val="C00000"/>
                </a:solidFill>
                <a:cs typeface="Times New Roman" pitchFamily="18" charset="0"/>
              </a:rPr>
              <a:t>1</a:t>
            </a:r>
            <a:r>
              <a:rPr lang="fr-BE" sz="2800" b="1" u="sng" dirty="0">
                <a:solidFill>
                  <a:srgbClr val="C00000"/>
                </a:solidFill>
                <a:cs typeface="Times New Roman" pitchFamily="18" charset="0"/>
              </a:rPr>
              <a:t>. Conditions dans le chef de l’enfant </a:t>
            </a:r>
          </a:p>
          <a:p>
            <a:pPr marL="0" indent="0">
              <a:lnSpc>
                <a:spcPct val="90000"/>
              </a:lnSpc>
              <a:buNone/>
              <a:defRPr/>
            </a:pPr>
            <a:endParaRPr lang="nl-NL" sz="1400" b="1" i="1" dirty="0">
              <a:solidFill>
                <a:srgbClr val="0033CC"/>
              </a:solidFill>
              <a:cs typeface="Times New Roman" pitchFamily="18" charset="0"/>
            </a:endParaRPr>
          </a:p>
          <a:p>
            <a:pPr>
              <a:lnSpc>
                <a:spcPct val="90000"/>
              </a:lnSpc>
              <a:buFont typeface="Wingdings" pitchFamily="2" charset="2"/>
              <a:buChar char="§"/>
              <a:defRPr/>
            </a:pPr>
            <a:r>
              <a:rPr lang="fr-BE" sz="2800" dirty="0">
                <a:cs typeface="Times New Roman" pitchFamily="18" charset="0"/>
              </a:rPr>
              <a:t>Seuls les enfants de moins de 25 ans peuvent entrer en considération.</a:t>
            </a:r>
            <a:endParaRPr lang="fr-FR" sz="2800" dirty="0">
              <a:cs typeface="Times New Roman" pitchFamily="18" charset="0"/>
            </a:endParaRPr>
          </a:p>
          <a:p>
            <a:pPr marL="0" indent="0">
              <a:lnSpc>
                <a:spcPct val="90000"/>
              </a:lnSpc>
              <a:buNone/>
              <a:defRPr/>
            </a:pPr>
            <a:endParaRPr lang="fr-BE" sz="1400" dirty="0">
              <a:cs typeface="Times New Roman" pitchFamily="18" charset="0"/>
            </a:endParaRPr>
          </a:p>
          <a:p>
            <a:pPr>
              <a:lnSpc>
                <a:spcPct val="90000"/>
              </a:lnSpc>
              <a:buFont typeface="Wingdings" pitchFamily="2" charset="2"/>
              <a:buChar char="§"/>
              <a:defRPr/>
            </a:pPr>
            <a:r>
              <a:rPr lang="fr-BE" sz="2800" dirty="0">
                <a:cs typeface="Times New Roman" pitchFamily="18" charset="0"/>
              </a:rPr>
              <a:t>On tient compte de l’âge des enfants à la date du paiement.</a:t>
            </a:r>
          </a:p>
          <a:p>
            <a:pPr marL="0" indent="0">
              <a:lnSpc>
                <a:spcPct val="90000"/>
              </a:lnSpc>
              <a:buNone/>
              <a:defRPr/>
            </a:pPr>
            <a:endParaRPr lang="fr-FR" sz="1400" dirty="0">
              <a:cs typeface="Times New Roman" pitchFamily="18" charset="0"/>
            </a:endParaRPr>
          </a:p>
          <a:p>
            <a:pPr>
              <a:lnSpc>
                <a:spcPct val="90000"/>
              </a:lnSpc>
              <a:buFont typeface="Wingdings" pitchFamily="2" charset="2"/>
              <a:buChar char="§"/>
              <a:defRPr/>
            </a:pPr>
            <a:r>
              <a:rPr lang="fr-BE" sz="2800" i="1" u="sng" dirty="0">
                <a:cs typeface="Times New Roman" pitchFamily="18" charset="0"/>
              </a:rPr>
              <a:t>Exception</a:t>
            </a:r>
            <a:r>
              <a:rPr lang="fr-BE" sz="2800" i="1" dirty="0">
                <a:cs typeface="Times New Roman" pitchFamily="18" charset="0"/>
              </a:rPr>
              <a:t> </a:t>
            </a:r>
            <a:r>
              <a:rPr lang="fr-BE" sz="2800" dirty="0">
                <a:cs typeface="Times New Roman" pitchFamily="18" charset="0"/>
              </a:rPr>
              <a:t>: Une limite d’âge est fixée pour les enfants sous statut de « minorité prolongée ». </a:t>
            </a:r>
            <a:endParaRPr lang="fr-FR" sz="2800" dirty="0">
              <a:cs typeface="Times New Roman" pitchFamily="18" charset="0"/>
            </a:endParaRPr>
          </a:p>
          <a:p>
            <a:endParaRPr lang="fr-BE" sz="2400"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21</a:t>
            </a:fld>
            <a:endParaRPr lang="fr-FR" dirty="0"/>
          </a:p>
        </p:txBody>
      </p:sp>
    </p:spTree>
    <p:extLst>
      <p:ext uri="{BB962C8B-B14F-4D97-AF65-F5344CB8AC3E}">
        <p14:creationId xmlns:p14="http://schemas.microsoft.com/office/powerpoint/2010/main" val="222235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p:txBody>
          <a:bodyPr>
            <a:normAutofit fontScale="92500" lnSpcReduction="10000"/>
          </a:bodyPr>
          <a:lstStyle/>
          <a:p>
            <a:pPr marL="0" indent="0">
              <a:buNone/>
            </a:pPr>
            <a:r>
              <a:rPr lang="fr-BE" sz="3000" b="1" u="sng" dirty="0">
                <a:solidFill>
                  <a:srgbClr val="C00000"/>
                </a:solidFill>
              </a:rPr>
              <a:t>2. </a:t>
            </a:r>
            <a:r>
              <a:rPr lang="fr-BE" sz="3000" b="1" u="sng" dirty="0">
                <a:solidFill>
                  <a:srgbClr val="C00000"/>
                </a:solidFill>
                <a:cs typeface="Times New Roman" pitchFamily="18" charset="0"/>
              </a:rPr>
              <a:t>Conditions dans le chef du débiteur </a:t>
            </a:r>
          </a:p>
          <a:p>
            <a:pPr marL="0" indent="0">
              <a:buNone/>
            </a:pPr>
            <a:endParaRPr lang="fr-BE" sz="1500" b="1" u="sng" dirty="0">
              <a:solidFill>
                <a:srgbClr val="0033CC"/>
              </a:solidFill>
              <a:cs typeface="Times New Roman" pitchFamily="18" charset="0"/>
            </a:endParaRPr>
          </a:p>
          <a:p>
            <a:pPr>
              <a:buNone/>
              <a:defRPr/>
            </a:pPr>
            <a:r>
              <a:rPr lang="fr-BE" sz="3000" b="1" u="sng" dirty="0">
                <a:cs typeface="Times New Roman" pitchFamily="18" charset="0"/>
              </a:rPr>
              <a:t>Intervention financière dans les frais de l’enfant</a:t>
            </a:r>
          </a:p>
          <a:p>
            <a:pPr>
              <a:buNone/>
              <a:defRPr/>
            </a:pPr>
            <a:r>
              <a:rPr lang="fr-BE" sz="3000" b="1" dirty="0">
                <a:solidFill>
                  <a:srgbClr val="C00000"/>
                </a:solidFill>
                <a:cs typeface="Times New Roman" pitchFamily="18" charset="0"/>
              </a:rPr>
              <a:t>SOIT</a:t>
            </a:r>
            <a:r>
              <a:rPr lang="fr-BE" sz="3000" b="1" dirty="0">
                <a:cs typeface="Times New Roman" pitchFamily="18" charset="0"/>
              </a:rPr>
              <a:t> : </a:t>
            </a:r>
            <a:r>
              <a:rPr lang="fr-BE" sz="3000" dirty="0">
                <a:cs typeface="Times New Roman" pitchFamily="18" charset="0"/>
              </a:rPr>
              <a:t>Cohabitation avec l’enfant. </a:t>
            </a:r>
          </a:p>
          <a:p>
            <a:pPr>
              <a:buNone/>
              <a:defRPr/>
            </a:pPr>
            <a:r>
              <a:rPr lang="fr-BE" sz="3000" dirty="0">
                <a:cs typeface="Times New Roman" pitchFamily="18" charset="0"/>
                <a:sym typeface="Wingdings" pitchFamily="2" charset="2"/>
              </a:rPr>
              <a:t> </a:t>
            </a:r>
            <a:r>
              <a:rPr lang="fr-BE" sz="3000" dirty="0">
                <a:cs typeface="Times New Roman" pitchFamily="18" charset="0"/>
              </a:rPr>
              <a:t>Il n’est pas nécessaire que le débiteur cohabite de manière continue avec l’enfant. La garde partagée est donc également assimilée à une cohabitation.</a:t>
            </a:r>
            <a:endParaRPr lang="fr-FR" sz="3000" dirty="0">
              <a:cs typeface="Times New Roman" pitchFamily="18" charset="0"/>
            </a:endParaRPr>
          </a:p>
          <a:p>
            <a:pPr>
              <a:buNone/>
              <a:defRPr/>
            </a:pPr>
            <a:r>
              <a:rPr lang="fr-BE" sz="3000" dirty="0">
                <a:cs typeface="Times New Roman" pitchFamily="18" charset="0"/>
              </a:rPr>
              <a:t>	Les enfants « cohabitants » du partenaire du débiteur peuvent également être pris en considération. </a:t>
            </a:r>
          </a:p>
          <a:p>
            <a:endParaRPr lang="fr-BE" dirty="0">
              <a:solidFill>
                <a:srgbClr val="0033CC"/>
              </a:solidFill>
              <a:cs typeface="Times New Roman" pitchFamily="18" charset="0"/>
            </a:endParaRPr>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22</a:t>
            </a:fld>
            <a:endParaRPr lang="fr-FR" dirty="0"/>
          </a:p>
        </p:txBody>
      </p:sp>
    </p:spTree>
    <p:extLst>
      <p:ext uri="{BB962C8B-B14F-4D97-AF65-F5344CB8AC3E}">
        <p14:creationId xmlns:p14="http://schemas.microsoft.com/office/powerpoint/2010/main" val="28881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p:txBody>
          <a:bodyPr>
            <a:noAutofit/>
          </a:bodyPr>
          <a:lstStyle/>
          <a:p>
            <a:pPr>
              <a:buFont typeface="Wingdings" pitchFamily="2" charset="2"/>
              <a:buChar char="§"/>
              <a:defRPr/>
            </a:pPr>
            <a:r>
              <a:rPr lang="fr-BE" sz="2800" b="1" dirty="0">
                <a:solidFill>
                  <a:srgbClr val="C00000"/>
                </a:solidFill>
                <a:cs typeface="Times New Roman" pitchFamily="18" charset="0"/>
              </a:rPr>
              <a:t>SOIT :  </a:t>
            </a:r>
            <a:r>
              <a:rPr lang="fr-BE" sz="2800" dirty="0">
                <a:cs typeface="Times New Roman" pitchFamily="18" charset="0"/>
              </a:rPr>
              <a:t>Versement d’une pension alimentaire supérieure à la majoration des limites saisissables par enfant à charge (81€/mois).</a:t>
            </a:r>
            <a:endParaRPr lang="fr-FR" sz="2800" dirty="0">
              <a:cs typeface="Times New Roman" pitchFamily="18" charset="0"/>
            </a:endParaRPr>
          </a:p>
          <a:p>
            <a:pPr marL="0" indent="0">
              <a:buNone/>
              <a:defRPr/>
            </a:pPr>
            <a:endParaRPr lang="fr-BE" sz="900" dirty="0">
              <a:cs typeface="Times New Roman" pitchFamily="18" charset="0"/>
            </a:endParaRPr>
          </a:p>
          <a:p>
            <a:pPr>
              <a:buFont typeface="Wingdings" pitchFamily="2" charset="2"/>
              <a:buChar char="§"/>
              <a:defRPr/>
            </a:pPr>
            <a:r>
              <a:rPr lang="fr-BE" sz="2800" dirty="0">
                <a:cs typeface="Times New Roman" pitchFamily="18" charset="0"/>
              </a:rPr>
              <a:t>Lien privilégié avec l’enfant :</a:t>
            </a:r>
          </a:p>
          <a:p>
            <a:pPr lvl="1">
              <a:buFont typeface="Wingdings" pitchFamily="2" charset="2"/>
              <a:buChar char="§"/>
              <a:defRPr/>
            </a:pPr>
            <a:r>
              <a:rPr lang="fr-BE" dirty="0">
                <a:cs typeface="Times New Roman" pitchFamily="18" charset="0"/>
              </a:rPr>
              <a:t>les parents (lien de filiation au premier degré)</a:t>
            </a:r>
          </a:p>
          <a:p>
            <a:pPr lvl="1">
              <a:buFont typeface="Wingdings" pitchFamily="2" charset="2"/>
              <a:buChar char="§"/>
              <a:defRPr/>
            </a:pPr>
            <a:r>
              <a:rPr lang="fr-BE" dirty="0">
                <a:cs typeface="Times New Roman" pitchFamily="18" charset="0"/>
              </a:rPr>
              <a:t>notion étendue au parent social : c.à.d. la personne qui en remplacement du parent s’occupe du logement, de la subsistance, de l’éducation, etc. (ex. Grands-parents, frère, parent adoptif, etc.)</a:t>
            </a:r>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23</a:t>
            </a:fld>
            <a:endParaRPr lang="fr-FR" dirty="0"/>
          </a:p>
        </p:txBody>
      </p:sp>
    </p:spTree>
    <p:extLst>
      <p:ext uri="{BB962C8B-B14F-4D97-AF65-F5344CB8AC3E}">
        <p14:creationId xmlns:p14="http://schemas.microsoft.com/office/powerpoint/2010/main" val="248121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a:xfrm>
            <a:off x="539552" y="1628800"/>
            <a:ext cx="8229600" cy="4525963"/>
          </a:xfrm>
        </p:spPr>
        <p:txBody>
          <a:bodyPr>
            <a:normAutofit/>
          </a:bodyPr>
          <a:lstStyle/>
          <a:p>
            <a:pPr marL="0" indent="0">
              <a:buNone/>
            </a:pPr>
            <a:r>
              <a:rPr lang="fr-BE" sz="3000" dirty="0"/>
              <a:t>Le chômeur a deux options:</a:t>
            </a:r>
          </a:p>
          <a:p>
            <a:pPr marL="0" indent="0">
              <a:buNone/>
            </a:pPr>
            <a:r>
              <a:rPr lang="fr-BE" sz="3000" b="1" dirty="0"/>
              <a:t>1. le chômeur introduit un formulaire de demande via la CSC</a:t>
            </a:r>
            <a:r>
              <a:rPr lang="fr-BE" sz="3000" dirty="0"/>
              <a:t> :</a:t>
            </a:r>
          </a:p>
          <a:p>
            <a:pPr>
              <a:buFont typeface="Wingdings"/>
              <a:buChar char="è"/>
            </a:pPr>
            <a:r>
              <a:rPr lang="fr-BE" sz="2800" dirty="0"/>
              <a:t>Le prestataire de services vérifie si le formulaire est complet : Intégralement rempli + signé + pièces justificatives jointes pour chaque enfant ?</a:t>
            </a:r>
          </a:p>
          <a:p>
            <a:pPr lvl="1">
              <a:buFont typeface="Wingdings" pitchFamily="2" charset="2"/>
              <a:buChar char="§"/>
            </a:pPr>
            <a:r>
              <a:rPr lang="fr-BE" sz="2400" dirty="0"/>
              <a:t>Demande incomplète : renvoyer au chômeur ;</a:t>
            </a:r>
          </a:p>
          <a:p>
            <a:pPr lvl="1">
              <a:buFont typeface="Wingdings" pitchFamily="2" charset="2"/>
              <a:buChar char="§"/>
            </a:pPr>
            <a:r>
              <a:rPr lang="fr-BE" sz="2400" dirty="0"/>
              <a:t>Demande complète :accusé de réception et introduction à l’Administration Centrale (AC) de l’ONEm </a:t>
            </a:r>
            <a:r>
              <a:rPr lang="fr-BE" sz="2400" dirty="0">
                <a:sym typeface="Wingdings" pitchFamily="2" charset="2"/>
              </a:rPr>
              <a:t></a:t>
            </a:r>
            <a:r>
              <a:rPr lang="fr-BE" sz="2400" dirty="0"/>
              <a:t> C9 type 980;</a:t>
            </a:r>
          </a:p>
          <a:p>
            <a:pPr marL="0" indent="0">
              <a:buNone/>
            </a:pPr>
            <a:endParaRPr lang="fr-BE"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24</a:t>
            </a:fld>
            <a:endParaRPr lang="fr-FR" dirty="0"/>
          </a:p>
        </p:txBody>
      </p:sp>
    </p:spTree>
    <p:extLst>
      <p:ext uri="{BB962C8B-B14F-4D97-AF65-F5344CB8AC3E}">
        <p14:creationId xmlns:p14="http://schemas.microsoft.com/office/powerpoint/2010/main" val="35629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sp>
        <p:nvSpPr>
          <p:cNvPr id="3" name="Espace réservé du contenu 2"/>
          <p:cNvSpPr>
            <a:spLocks noGrp="1"/>
          </p:cNvSpPr>
          <p:nvPr>
            <p:ph idx="1"/>
          </p:nvPr>
        </p:nvSpPr>
        <p:spPr/>
        <p:txBody>
          <a:bodyPr/>
          <a:lstStyle/>
          <a:p>
            <a:pPr marL="0" indent="0">
              <a:buNone/>
            </a:pPr>
            <a:endParaRPr lang="fr-BE" dirty="0"/>
          </a:p>
          <a:p>
            <a:pPr marL="0" indent="0">
              <a:buNone/>
            </a:pPr>
            <a:r>
              <a:rPr lang="fr-BE" sz="4000" b="1" dirty="0"/>
              <a:t>2. </a:t>
            </a:r>
            <a:r>
              <a:rPr lang="fr-BE" b="1" dirty="0"/>
              <a:t>le chômeur envoie directement la demande complète à l’Administration Centrale de l’</a:t>
            </a:r>
            <a:r>
              <a:rPr lang="fr-BE" b="1" dirty="0" err="1"/>
              <a:t>ONEm</a:t>
            </a:r>
            <a:r>
              <a:rPr lang="fr-BE" b="1"/>
              <a:t>.  </a:t>
            </a:r>
            <a:endParaRPr lang="fr-BE" b="1" dirty="0"/>
          </a:p>
        </p:txBody>
      </p:sp>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25</a:t>
            </a:fld>
            <a:endParaRPr lang="fr-FR" dirty="0"/>
          </a:p>
        </p:txBody>
      </p:sp>
    </p:spTree>
    <p:extLst>
      <p:ext uri="{BB962C8B-B14F-4D97-AF65-F5344CB8AC3E}">
        <p14:creationId xmlns:p14="http://schemas.microsoft.com/office/powerpoint/2010/main" val="243657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dirty="0"/>
              <a:t>EAC</a:t>
            </a:r>
          </a:p>
        </p:txBody>
      </p:sp>
      <p:pic>
        <p:nvPicPr>
          <p:cNvPr id="307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03648" y="226144"/>
            <a:ext cx="4854417" cy="6573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Espace réservé du numéro de diapositive 1"/>
          <p:cNvSpPr>
            <a:spLocks noGrp="1"/>
          </p:cNvSpPr>
          <p:nvPr>
            <p:ph type="sldNum" sz="quarter" idx="12"/>
          </p:nvPr>
        </p:nvSpPr>
        <p:spPr>
          <a:xfrm>
            <a:off x="6553200" y="6356350"/>
            <a:ext cx="2133600" cy="365125"/>
          </a:xfrm>
        </p:spPr>
        <p:txBody>
          <a:bodyPr/>
          <a:lstStyle/>
          <a:p>
            <a:fld id="{55E9056B-6A30-4F99-BDE9-C450E66AE125}" type="slidenum">
              <a:rPr lang="fr-FR" smtClean="0"/>
              <a:pPr/>
              <a:t>26</a:t>
            </a:fld>
            <a:endParaRPr lang="fr-FR" dirty="0"/>
          </a:p>
        </p:txBody>
      </p:sp>
    </p:spTree>
    <p:extLst>
      <p:ext uri="{BB962C8B-B14F-4D97-AF65-F5344CB8AC3E}">
        <p14:creationId xmlns:p14="http://schemas.microsoft.com/office/powerpoint/2010/main" val="390222987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e832426-6819-49af-b751-404cdfce1567">
      <Value>116</Value>
      <Value>29</Value>
      <Value>26</Value>
      <Value>12</Value>
      <Value>22</Value>
      <Value>120</Value>
      <Value>17</Value>
    </TaxCatchAll>
    <j804b76d84c34da19371d405cb7d8703 xmlns="bdec1399-7c99-4025-bfb6-e1e799e6630a">
      <Terms xmlns="http://schemas.microsoft.com/office/infopath/2007/PartnerControls">
        <TermInfo xmlns="http://schemas.microsoft.com/office/infopath/2007/PartnerControls">
          <TermName xmlns="http://schemas.microsoft.com/office/infopath/2007/PartnerControls">Admissibilité</TermName>
          <TermId xmlns="http://schemas.microsoft.com/office/infopath/2007/PartnerControls">d1ac0b1f-1e4c-4aa8-9a97-5b01e61985ba</TermId>
        </TermInfo>
        <TermInfo xmlns="http://schemas.microsoft.com/office/infopath/2007/PartnerControls">
          <TermName xmlns="http://schemas.microsoft.com/office/infopath/2007/PartnerControls">Indemnisabilité</TermName>
          <TermId xmlns="http://schemas.microsoft.com/office/infopath/2007/PartnerControls">b5f95997-28b8-41b1-bbb7-1a3d8a5995b4</TermId>
        </TermInfo>
        <TermInfo xmlns="http://schemas.microsoft.com/office/infopath/2007/PartnerControls">
          <TermName xmlns="http://schemas.microsoft.com/office/infopath/2007/PartnerControls">Paiement</TermName>
          <TermId xmlns="http://schemas.microsoft.com/office/infopath/2007/PartnerControls">bbe82f01-f3c6-4a35-a642-de01f3e9fac7</TermId>
        </TermInfo>
      </Terms>
    </j804b76d84c34da19371d405cb7d8703>
    <occ5f7d46c654b18859d90e8d617f5d0 xmlns="bdec1399-7c99-4025-bfb6-e1e799e6630a">
      <Terms xmlns="http://schemas.microsoft.com/office/infopath/2007/PartnerControls">
        <TermInfo xmlns="http://schemas.microsoft.com/office/infopath/2007/PartnerControls">
          <TermName xmlns="http://schemas.microsoft.com/office/infopath/2007/PartnerControls">FLT</TermName>
          <TermId xmlns="http://schemas.microsoft.com/office/infopath/2007/PartnerControls">f342c2bc-e504-4fe0-8d5d-34c04f2f783f</TermId>
        </TermInfo>
      </Terms>
    </occ5f7d46c654b18859d90e8d617f5d0>
    <md32eaf952984c26aec09f4d347b7a74 xmlns="bdec1399-7c99-4025-bfb6-e1e799e6630a">
      <Terms xmlns="http://schemas.microsoft.com/office/infopath/2007/PartnerControls">
        <TermInfo xmlns="http://schemas.microsoft.com/office/infopath/2007/PartnerControls">
          <TermName xmlns="http://schemas.microsoft.com/office/infopath/2007/PartnerControls">Présentation</TermName>
          <TermId xmlns="http://schemas.microsoft.com/office/infopath/2007/PartnerControls">66a9a075-20e6-47e0-8483-85d2e9240401</TermId>
        </TermInfo>
      </Terms>
    </md32eaf952984c26aec09f4d347b7a74>
    <k7d10f80c005470c98686ee276ce795b xmlns="bdec1399-7c99-4025-bfb6-e1e799e6630a">
      <Terms xmlns="http://schemas.microsoft.com/office/infopath/2007/PartnerControls">
        <TermInfo xmlns="http://schemas.microsoft.com/office/infopath/2007/PartnerControls">
          <TermName xmlns="http://schemas.microsoft.com/office/infopath/2007/PartnerControls">Saisies - Base</TermName>
          <TermId xmlns="http://schemas.microsoft.com/office/infopath/2007/PartnerControls">91f62e09-f9a8-44b4-8173-78bc957947d9</TermId>
        </TermInfo>
      </Terms>
    </k7d10f80c005470c98686ee276ce795b>
    <Statut xmlns="bdec1399-7c99-4025-bfb6-e1e799e6630a">En cours</Statut>
    <Module xmlns="bdec1399-7c99-4025-bfb6-e1e799e6630a">8</Module>
    <jf19b1af64ba461daa355c445df11db3 xmlns="bdec1399-7c99-4025-bfb6-e1e799e6630a">
      <Terms xmlns="http://schemas.microsoft.com/office/infopath/2007/PartnerControls">
        <TermInfo xmlns="http://schemas.microsoft.com/office/infopath/2007/PartnerControls">
          <TermName xmlns="http://schemas.microsoft.com/office/infopath/2007/PartnerControls">FSP spécifiques</TermName>
          <TermId xmlns="http://schemas.microsoft.com/office/infopath/2007/PartnerControls">90f89cb3-f2e4-433c-ab9e-d60532eedb21</TermId>
        </TermInfo>
      </Terms>
    </jf19b1af64ba461daa355c445df11db3>
    <_dlc_DocIdPersistId xmlns="1e832426-6819-49af-b751-404cdfce1567" xsi:nil="true"/>
    <_dlc_DocId xmlns="1e832426-6819-49af-b751-404cdfce1567">FORMATIONFLT-1274042595-3660</_dlc_DocId>
    <_dlc_DocIdUrl xmlns="1e832426-6819-49af-b751-404cdfce1567">
      <Url>https://acvcsc.sharepoint.com/sites/FLT/_layouts/15/DocIdRedir.aspx?ID=FORMATIONFLT-1274042595-3660</Url>
      <Description>FORMATIONFLT-1274042595-3660</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Matériel Formation" ma:contentTypeID="0x01010011E8FC1629FD884B95A0235DC4123BD80037E0190D7060C1489B20FAF4695DD315" ma:contentTypeVersion="56" ma:contentTypeDescription="" ma:contentTypeScope="" ma:versionID="cd92e5dc8922b9f814c45ae25cc72c2f">
  <xsd:schema xmlns:xsd="http://www.w3.org/2001/XMLSchema" xmlns:xs="http://www.w3.org/2001/XMLSchema" xmlns:p="http://schemas.microsoft.com/office/2006/metadata/properties" xmlns:ns2="bdec1399-7c99-4025-bfb6-e1e799e6630a" xmlns:ns3="7d2a3af0-b854-4018-b3fb-98bf2b75e19a" xmlns:ns4="1e832426-6819-49af-b751-404cdfce1567" targetNamespace="http://schemas.microsoft.com/office/2006/metadata/properties" ma:root="true" ma:fieldsID="f74107414c9e56c27ee6d145e01d70b8" ns2:_="" ns3:_="" ns4:_="">
    <xsd:import namespace="bdec1399-7c99-4025-bfb6-e1e799e6630a"/>
    <xsd:import namespace="7d2a3af0-b854-4018-b3fb-98bf2b75e19a"/>
    <xsd:import namespace="1e832426-6819-49af-b751-404cdfce1567"/>
    <xsd:element name="properties">
      <xsd:complexType>
        <xsd:sequence>
          <xsd:element name="documentManagement">
            <xsd:complexType>
              <xsd:all>
                <xsd:element ref="ns2:Module" minOccurs="0"/>
                <xsd:element ref="ns2:Statut"/>
                <xsd:element ref="ns4:_dlc_DocIdPersistId" minOccurs="0"/>
                <xsd:element ref="ns2:md32eaf952984c26aec09f4d347b7a74" minOccurs="0"/>
                <xsd:element ref="ns4:TaxCatchAll" minOccurs="0"/>
                <xsd:element ref="ns4:TaxCatchAllLabel" minOccurs="0"/>
                <xsd:element ref="ns2:jf19b1af64ba461daa355c445df11db3" minOccurs="0"/>
                <xsd:element ref="ns2:j804b76d84c34da19371d405cb7d8703" minOccurs="0"/>
                <xsd:element ref="ns2:k7d10f80c005470c98686ee276ce795b" minOccurs="0"/>
                <xsd:element ref="ns4:_dlc_DocId" minOccurs="0"/>
                <xsd:element ref="ns2:occ5f7d46c654b18859d90e8d617f5d0" minOccurs="0"/>
                <xsd:element ref="ns4:_dlc_DocIdUrl"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c1399-7c99-4025-bfb6-e1e799e6630a" elementFormDefault="qualified">
    <xsd:import namespace="http://schemas.microsoft.com/office/2006/documentManagement/types"/>
    <xsd:import namespace="http://schemas.microsoft.com/office/infopath/2007/PartnerControls"/>
    <xsd:element name="Module" ma:index="4" nillable="true" ma:displayName="Module" ma:description="Valeurs 1 à 80" ma:indexed="true" ma:internalName="Module" ma:readOnly="false" ma:percentage="FALSE">
      <xsd:simpleType>
        <xsd:restriction base="dms:Number">
          <xsd:maxInclusive value="80"/>
          <xsd:minInclusive value="0"/>
        </xsd:restriction>
      </xsd:simpleType>
    </xsd:element>
    <xsd:element name="Statut" ma:index="5" ma:displayName="Statut" ma:default="En cours" ma:format="RadioButtons" ma:indexed="true" ma:internalName="Statut" ma:readOnly="false">
      <xsd:simpleType>
        <xsd:restriction base="dms:Choice">
          <xsd:enumeration value="En cours"/>
          <xsd:enumeration value="Final"/>
          <xsd:enumeration value="Archive"/>
        </xsd:restriction>
      </xsd:simpleType>
    </xsd:element>
    <xsd:element name="md32eaf952984c26aec09f4d347b7a74" ma:index="11" nillable="true" ma:taxonomy="true" ma:internalName="md32eaf952984c26aec09f4d347b7a74" ma:taxonomyFieldName="Type_x0020_document" ma:displayName="Type document" ma:indexed="true" ma:readOnly="false" ma:fieldId="{6d32eaf9-5298-4c26-aec0-9f4d347b7a74}" ma:sspId="4a2598b1-08ab-4950-8754-92b55e3dff8f" ma:termSetId="2e89b6d9-ed4d-4b29-9fc3-ad84c74cbacb" ma:anchorId="00000000-0000-0000-0000-000000000000" ma:open="false" ma:isKeyword="false">
      <xsd:complexType>
        <xsd:sequence>
          <xsd:element ref="pc:Terms" minOccurs="0" maxOccurs="1"/>
        </xsd:sequence>
      </xsd:complexType>
    </xsd:element>
    <xsd:element name="jf19b1af64ba461daa355c445df11db3" ma:index="15" nillable="true" ma:taxonomy="true" ma:internalName="jf19b1af64ba461daa355c445df11db3" ma:taxonomyFieldName="Type_x0020_formation" ma:displayName="Type formation" ma:indexed="true" ma:readOnly="false" ma:fieldId="{3f19b1af-64ba-461d-aa35-5c445df11db3}" ma:sspId="4a2598b1-08ab-4950-8754-92b55e3dff8f" ma:termSetId="f1b6e414-f9e1-424a-b54b-6296e61f8b60" ma:anchorId="00000000-0000-0000-0000-000000000000" ma:open="false" ma:isKeyword="false">
      <xsd:complexType>
        <xsd:sequence>
          <xsd:element ref="pc:Terms" minOccurs="0" maxOccurs="1"/>
        </xsd:sequence>
      </xsd:complexType>
    </xsd:element>
    <xsd:element name="j804b76d84c34da19371d405cb7d8703" ma:index="19" nillable="true" ma:taxonomy="true" ma:internalName="j804b76d84c34da19371d405cb7d8703" ma:taxonomyFieldName="Domaine" ma:displayName="Domaine" ma:readOnly="false" ma:fieldId="{3804b76d-84c3-4da1-9371-d405cb7d8703}" ma:taxonomyMulti="true" ma:sspId="4a2598b1-08ab-4950-8754-92b55e3dff8f" ma:termSetId="9aa396fc-6b21-4f6c-8f09-b5be8f19703d" ma:anchorId="00000000-0000-0000-0000-000000000000" ma:open="false" ma:isKeyword="false">
      <xsd:complexType>
        <xsd:sequence>
          <xsd:element ref="pc:Terms" minOccurs="0" maxOccurs="1"/>
        </xsd:sequence>
      </xsd:complexType>
    </xsd:element>
    <xsd:element name="k7d10f80c005470c98686ee276ce795b" ma:index="21" nillable="true" ma:taxonomy="true" ma:internalName="k7d10f80c005470c98686ee276ce795b" ma:taxonomyFieldName="Th_x00e8_me" ma:displayName="Thème" ma:readOnly="false" ma:fieldId="{47d10f80-c005-470c-9868-6ee276ce795b}" ma:taxonomyMulti="true" ma:sspId="4a2598b1-08ab-4950-8754-92b55e3dff8f" ma:termSetId="96e8d8b8-5f8c-4d13-a79b-e20e52e17201" ma:anchorId="00000000-0000-0000-0000-000000000000" ma:open="false" ma:isKeyword="false">
      <xsd:complexType>
        <xsd:sequence>
          <xsd:element ref="pc:Terms" minOccurs="0" maxOccurs="1"/>
        </xsd:sequence>
      </xsd:complexType>
    </xsd:element>
    <xsd:element name="occ5f7d46c654b18859d90e8d617f5d0" ma:index="23" nillable="true" ma:taxonomy="true" ma:internalName="occ5f7d46c654b18859d90e8d617f5d0" ma:taxonomyFieldName="Public_x0020_Cible" ma:displayName="Public Cible" ma:readOnly="false" ma:fieldId="{8cc5f7d4-6c65-4b18-859d-90e8d617f5d0}" ma:taxonomyMulti="true" ma:sspId="4a2598b1-08ab-4950-8754-92b55e3dff8f" ma:termSetId="15f25491-8512-4b98-b974-b3af985da75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d2a3af0-b854-4018-b3fb-98bf2b75e19a" elementFormDefault="qualified">
    <xsd:import namespace="http://schemas.microsoft.com/office/2006/documentManagement/types"/>
    <xsd:import namespace="http://schemas.microsoft.com/office/infopath/2007/PartnerControls"/>
    <xsd:element name="MediaServiceMetadata" ma:index="25" nillable="true" ma:displayName="MediaServiceMetadata" ma:hidden="true" ma:internalName="MediaServiceMetadata" ma:readOnly="true">
      <xsd:simpleType>
        <xsd:restriction base="dms:Note"/>
      </xsd:simpleType>
    </xsd:element>
    <xsd:element name="MediaServiceFastMetadata" ma:index="26" nillable="true" ma:displayName="MediaServiceFastMetadata" ma:hidden="true" ma:internalName="MediaServiceFastMetadata" ma:readOnly="true">
      <xsd:simpleType>
        <xsd:restriction base="dms:Note"/>
      </xsd:simpleType>
    </xsd:element>
    <xsd:element name="MediaServiceDateTaken" ma:index="27" nillable="true" ma:displayName="MediaServiceDateTaken" ma:hidden="true" ma:internalName="MediaServiceDateTaken" ma:readOnly="true">
      <xsd:simpleType>
        <xsd:restriction base="dms:Text"/>
      </xsd:simpleType>
    </xsd:element>
    <xsd:element name="MediaServiceAutoTags" ma:index="28" nillable="true" ma:displayName="Tags" ma:internalName="MediaServiceAutoTags" ma:readOnly="true">
      <xsd:simpleType>
        <xsd:restriction base="dms:Text"/>
      </xsd:simpleType>
    </xsd:element>
    <xsd:element name="MediaServiceLocation" ma:index="29" nillable="true" ma:displayName="Location" ma:internalName="MediaServiceLocation" ma:readOnly="true">
      <xsd:simpleType>
        <xsd:restriction base="dms:Text"/>
      </xsd:simpleType>
    </xsd:element>
    <xsd:element name="MediaServiceOCR" ma:index="30" nillable="true" ma:displayName="Extracted Text" ma:internalName="MediaServiceOCR" ma:readOnly="true">
      <xsd:simpleType>
        <xsd:restriction base="dms:Note">
          <xsd:maxLength value="255"/>
        </xsd:restriction>
      </xsd:simpleType>
    </xsd:element>
    <xsd:element name="MediaServiceAutoKeyPoints" ma:index="31" nillable="true" ma:displayName="MediaServiceAutoKeyPoints" ma:hidden="true" ma:internalName="MediaServiceAutoKeyPoints" ma:readOnly="true">
      <xsd:simpleType>
        <xsd:restriction base="dms:Note"/>
      </xsd:simpleType>
    </xsd:element>
    <xsd:element name="MediaServiceKeyPoints" ma:index="3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832426-6819-49af-b751-404cdfce1567" elementFormDefault="qualified">
    <xsd:import namespace="http://schemas.microsoft.com/office/2006/documentManagement/types"/>
    <xsd:import namespace="http://schemas.microsoft.com/office/infopath/2007/PartnerControls"/>
    <xsd:element name="_dlc_DocIdPersistId" ma:index="10" nillable="true" ma:displayName="Id blijven behouden" ma:description="Id behouden tijdens toevoegen." ma:hidden="true" ma:internalName="_dlc_DocIdPersistId" ma:readOnly="true">
      <xsd:simpleType>
        <xsd:restriction base="dms:Boolean"/>
      </xsd:simpleType>
    </xsd:element>
    <xsd:element name="TaxCatchAll" ma:index="12" nillable="true" ma:displayName="Taxonomy Catch All Column" ma:hidden="true" ma:list="{323679a5-830d-4928-9bb5-b6f35125faa4}" ma:internalName="TaxCatchAll" ma:readOnly="false" ma:showField="CatchAllData" ma:web="bdec1399-7c99-4025-bfb6-e1e799e6630a">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323679a5-830d-4928-9bb5-b6f35125faa4}" ma:internalName="TaxCatchAllLabel" ma:readOnly="true" ma:showField="CatchAllDataLabel" ma:web="bdec1399-7c99-4025-bfb6-e1e799e6630a">
      <xsd:complexType>
        <xsd:complexContent>
          <xsd:extension base="dms:MultiChoiceLookup">
            <xsd:sequence>
              <xsd:element name="Value" type="dms:Lookup" maxOccurs="unbounded" minOccurs="0" nillable="true"/>
            </xsd:sequence>
          </xsd:extension>
        </xsd:complexContent>
      </xsd:complexType>
    </xsd:element>
    <xsd:element name="_dlc_DocId" ma:index="22" nillable="true" ma:displayName="Valeur d’ID de document" ma:description="Valeur de l’ID de document affecté à cet élément." ma:internalName="_dlc_DocId" ma:readOnly="true">
      <xsd:simpleType>
        <xsd:restriction base="dms:Text"/>
      </xsd:simpleType>
    </xsd:element>
    <xsd:element name="_dlc_DocIdUrl" ma:index="24"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4"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AC7555-C2DE-4046-9ED7-D9B56D452442}">
  <ds:schemaRefs>
    <ds:schemaRef ds:uri="http://purl.org/dc/elements/1.1/"/>
    <ds:schemaRef ds:uri="http://schemas.microsoft.com/office/2006/metadata/properties"/>
    <ds:schemaRef ds:uri="7d2a3af0-b854-4018-b3fb-98bf2b75e19a"/>
    <ds:schemaRef ds:uri="bdec1399-7c99-4025-bfb6-e1e799e6630a"/>
    <ds:schemaRef ds:uri="1e832426-6819-49af-b751-404cdfce156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180AB8D2-F2E7-404E-8FA3-5AD4AD932EE5}">
  <ds:schemaRefs>
    <ds:schemaRef ds:uri="http://schemas.microsoft.com/sharepoint/v3/contenttype/forms"/>
  </ds:schemaRefs>
</ds:datastoreItem>
</file>

<file path=customXml/itemProps3.xml><?xml version="1.0" encoding="utf-8"?>
<ds:datastoreItem xmlns:ds="http://schemas.openxmlformats.org/officeDocument/2006/customXml" ds:itemID="{91C5A73C-F54F-4778-9D4A-C2E1DFA8A770}">
  <ds:schemaRefs>
    <ds:schemaRef ds:uri="http://schemas.microsoft.com/sharepoint/events"/>
  </ds:schemaRefs>
</ds:datastoreItem>
</file>

<file path=customXml/itemProps4.xml><?xml version="1.0" encoding="utf-8"?>
<ds:datastoreItem xmlns:ds="http://schemas.openxmlformats.org/officeDocument/2006/customXml" ds:itemID="{DBB08D85-E254-4441-ABEB-C0E830FC13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c1399-7c99-4025-bfb6-e1e799e6630a"/>
    <ds:schemaRef ds:uri="7d2a3af0-b854-4018-b3fb-98bf2b75e19a"/>
    <ds:schemaRef ds:uri="1e832426-6819-49af-b751-404cdfce15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6298</TotalTime>
  <Words>1441</Words>
  <Application>Microsoft Office PowerPoint</Application>
  <PresentationFormat>Affichage à l'écran (4:3)</PresentationFormat>
  <Paragraphs>195</Paragraphs>
  <Slides>26</Slides>
  <Notes>26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26</vt:i4>
      </vt:variant>
    </vt:vector>
  </HeadingPairs>
  <TitlesOfParts>
    <vt:vector size="30" baseType="lpstr">
      <vt:lpstr>Arial</vt:lpstr>
      <vt:lpstr>Calibri</vt:lpstr>
      <vt:lpstr>Wingdings</vt:lpstr>
      <vt:lpstr>Thème Office</vt:lpstr>
      <vt:lpstr>Présentation PowerPoint</vt:lpstr>
      <vt:lpstr>Saisies</vt:lpstr>
      <vt:lpstr>Introduction</vt:lpstr>
      <vt:lpstr>Introduction</vt:lpstr>
      <vt:lpstr>Introduction</vt:lpstr>
      <vt:lpstr>Introduction</vt:lpstr>
      <vt:lpstr>Introduction</vt:lpstr>
      <vt:lpstr>Base légale : Article 1409</vt:lpstr>
      <vt:lpstr>Base légale : Articles 1409 </vt:lpstr>
      <vt:lpstr>Base légale : Articles 1410</vt:lpstr>
      <vt:lpstr>Base légale : Article 1412</vt:lpstr>
      <vt:lpstr>Base légale : Article 1411</vt:lpstr>
      <vt:lpstr>Subrogation CPAS</vt:lpstr>
      <vt:lpstr>Guidance budgétaire CPAS</vt:lpstr>
      <vt:lpstr>Guidance budgétaire CPAS</vt:lpstr>
      <vt:lpstr>Cession volontaire</vt:lpstr>
      <vt:lpstr>Vérité S05</vt:lpstr>
      <vt:lpstr> Vérité S05</vt:lpstr>
      <vt:lpstr>EAC</vt:lpstr>
      <vt:lpstr>EAC</vt:lpstr>
      <vt:lpstr>EAC</vt:lpstr>
      <vt:lpstr>EAC</vt:lpstr>
      <vt:lpstr>EAC</vt:lpstr>
      <vt:lpstr>EAC</vt:lpstr>
      <vt:lpstr>EAC</vt:lpstr>
      <vt:lpstr>EAC</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FSP-M08-Saisies (niv. 1)-Participants</dc:title>
  <dc:creator>u99lge</dc:creator>
  <cp:lastModifiedBy>Anja Sobkowiak</cp:lastModifiedBy>
  <cp:revision>289</cp:revision>
  <cp:lastPrinted>2019-03-08T09:20:03Z</cp:lastPrinted>
  <dcterms:created xsi:type="dcterms:W3CDTF">2010-09-22T12:12:06Z</dcterms:created>
  <dcterms:modified xsi:type="dcterms:W3CDTF">2023-06-19T06:22:02Z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0x01010011E8FC1629FD884B95A0235DC4123BD80037E0190D7060C1489B20FAF4695DD315</vt:lpwstr>
  </property>
  <property fmtid="{D5CDD505-2E9C-101B-9397-08002B2CF9AE}" pid="3" name="Type formation">
    <vt:lpwstr>120;#FSP spécifiques|90f89cb3-f2e4-433c-ab9e-d60532eedb21</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17;#Admissibilité|d1ac0b1f-1e4c-4aa8-9a97-5b01e61985ba;#22;#Indemnisabilité|b5f95997-28b8-41b1-bbb7-1a3d8a5995b4;#26;#Paiement|bbe82f01-f3c6-4a35-a642-de01f3e9fac7</vt:lpwstr>
  </property>
  <property fmtid="{D5CDD505-2E9C-101B-9397-08002B2CF9AE}" pid="7" name="Thème">
    <vt:lpwstr>116;#Saisies - Base|91f62e09-f9a8-44b4-8173-78bc957947d9</vt:lpwstr>
  </property>
  <property fmtid="{D5CDD505-2E9C-101B-9397-08002B2CF9AE}" pid="8" name="Order">
    <vt:r8>54300</vt:r8>
  </property>
  <property fmtid="{D5CDD505-2E9C-101B-9397-08002B2CF9AE}" pid="9" name="_dlc_DocIdItemGuid">
    <vt:lpwstr>d1284461-cfaf-44c1-8b60-26f760399dde</vt:lpwstr>
  </property>
</Properties>
</file>