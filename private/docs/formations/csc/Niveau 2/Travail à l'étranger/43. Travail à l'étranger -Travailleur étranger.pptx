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4"/>
  </p:sldMasterIdLst>
  <p:notesMasterIdLst>
    <p:notesMasterId r:id="rId51"/>
  </p:notesMasterIdLst>
  <p:handoutMasterIdLst>
    <p:handoutMasterId r:id="rId52"/>
  </p:handoutMasterIdLst>
  <p:sldIdLst>
    <p:sldId id="256" r:id="rId5"/>
    <p:sldId id="257" r:id="rId6"/>
    <p:sldId id="258" r:id="rId7"/>
    <p:sldId id="260" r:id="rId8"/>
    <p:sldId id="261" r:id="rId9"/>
    <p:sldId id="262" r:id="rId10"/>
    <p:sldId id="263" r:id="rId11"/>
    <p:sldId id="264" r:id="rId12"/>
    <p:sldId id="265" r:id="rId13"/>
    <p:sldId id="309" r:id="rId14"/>
    <p:sldId id="267" r:id="rId15"/>
    <p:sldId id="268" r:id="rId16"/>
    <p:sldId id="269" r:id="rId17"/>
    <p:sldId id="318" r:id="rId18"/>
    <p:sldId id="270" r:id="rId19"/>
    <p:sldId id="271" r:id="rId20"/>
    <p:sldId id="272" r:id="rId21"/>
    <p:sldId id="273" r:id="rId22"/>
    <p:sldId id="310" r:id="rId23"/>
    <p:sldId id="276" r:id="rId24"/>
    <p:sldId id="333" r:id="rId25"/>
    <p:sldId id="277" r:id="rId26"/>
    <p:sldId id="334" r:id="rId27"/>
    <p:sldId id="335" r:id="rId28"/>
    <p:sldId id="278" r:id="rId29"/>
    <p:sldId id="279" r:id="rId30"/>
    <p:sldId id="280" r:id="rId31"/>
    <p:sldId id="281" r:id="rId32"/>
    <p:sldId id="322" r:id="rId33"/>
    <p:sldId id="317" r:id="rId34"/>
    <p:sldId id="282" r:id="rId35"/>
    <p:sldId id="311" r:id="rId36"/>
    <p:sldId id="284" r:id="rId37"/>
    <p:sldId id="315" r:id="rId38"/>
    <p:sldId id="312" r:id="rId39"/>
    <p:sldId id="313" r:id="rId40"/>
    <p:sldId id="287" r:id="rId41"/>
    <p:sldId id="288" r:id="rId42"/>
    <p:sldId id="296" r:id="rId43"/>
    <p:sldId id="297" r:id="rId44"/>
    <p:sldId id="314" r:id="rId45"/>
    <p:sldId id="299" r:id="rId46"/>
    <p:sldId id="300" r:id="rId47"/>
    <p:sldId id="303" r:id="rId48"/>
    <p:sldId id="306" r:id="rId49"/>
    <p:sldId id="307" r:id="rId50"/>
  </p:sldIdLst>
  <p:sldSz cx="9144000" cy="6858000" type="screen4x3"/>
  <p:notesSz cx="6797675" cy="987266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3EA"/>
    <a:srgbClr val="DEE7D1"/>
    <a:srgbClr val="FF9933"/>
    <a:srgbClr val="669900"/>
    <a:srgbClr val="00FF00"/>
    <a:srgbClr val="003399"/>
    <a:srgbClr val="0033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D53991-096B-4426-9B12-F5125000F818}" v="283" dt="2023-03-30T07:07:03.67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327" autoAdjust="0"/>
  </p:normalViewPr>
  <p:slideViewPr>
    <p:cSldViewPr>
      <p:cViewPr varScale="1">
        <p:scale>
          <a:sx n="85" d="100"/>
          <a:sy n="85" d="100"/>
        </p:scale>
        <p:origin x="2364" y="78"/>
      </p:cViewPr>
      <p:guideLst>
        <p:guide orient="horz" pos="2160"/>
        <p:guide pos="2880"/>
      </p:guideLst>
    </p:cSldViewPr>
  </p:slideViewPr>
  <p:notesTextViewPr>
    <p:cViewPr>
      <p:scale>
        <a:sx n="150" d="100"/>
        <a:sy n="15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945659" cy="493634"/>
          </a:xfrm>
          <a:prstGeom prst="rect">
            <a:avLst/>
          </a:prstGeom>
        </p:spPr>
        <p:txBody>
          <a:bodyPr vert="horz" lIns="91815" tIns="45907" rIns="91815" bIns="45907" rtlCol="0"/>
          <a:lstStyle>
            <a:lvl1pPr algn="l">
              <a:defRPr sz="1200"/>
            </a:lvl1pPr>
          </a:lstStyle>
          <a:p>
            <a:endParaRPr lang="fr-FR"/>
          </a:p>
        </p:txBody>
      </p:sp>
      <p:sp>
        <p:nvSpPr>
          <p:cNvPr id="3" name="Espace réservé de la date 2"/>
          <p:cNvSpPr>
            <a:spLocks noGrp="1"/>
          </p:cNvSpPr>
          <p:nvPr>
            <p:ph type="dt" sz="quarter" idx="1"/>
          </p:nvPr>
        </p:nvSpPr>
        <p:spPr>
          <a:xfrm>
            <a:off x="3850443" y="1"/>
            <a:ext cx="2945659" cy="493634"/>
          </a:xfrm>
          <a:prstGeom prst="rect">
            <a:avLst/>
          </a:prstGeom>
        </p:spPr>
        <p:txBody>
          <a:bodyPr vert="horz" lIns="91815" tIns="45907" rIns="91815" bIns="45907" rtlCol="0"/>
          <a:lstStyle>
            <a:lvl1pPr algn="r">
              <a:defRPr sz="1200"/>
            </a:lvl1pPr>
          </a:lstStyle>
          <a:p>
            <a:fld id="{E47068CA-F0DC-447A-B9ED-AE95D731C7D8}" type="datetimeFigureOut">
              <a:rPr lang="fr-FR" smtClean="0"/>
              <a:pPr/>
              <a:t>04/04/2023</a:t>
            </a:fld>
            <a:endParaRPr lang="fr-FR"/>
          </a:p>
        </p:txBody>
      </p:sp>
      <p:sp>
        <p:nvSpPr>
          <p:cNvPr id="4" name="Espace réservé du pied de page 3"/>
          <p:cNvSpPr>
            <a:spLocks noGrp="1"/>
          </p:cNvSpPr>
          <p:nvPr>
            <p:ph type="ftr" sz="quarter" idx="2"/>
          </p:nvPr>
        </p:nvSpPr>
        <p:spPr>
          <a:xfrm>
            <a:off x="0" y="9377317"/>
            <a:ext cx="2945659" cy="493634"/>
          </a:xfrm>
          <a:prstGeom prst="rect">
            <a:avLst/>
          </a:prstGeom>
        </p:spPr>
        <p:txBody>
          <a:bodyPr vert="horz" lIns="91815" tIns="45907" rIns="91815" bIns="45907"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50443" y="9377317"/>
            <a:ext cx="2945659" cy="493634"/>
          </a:xfrm>
          <a:prstGeom prst="rect">
            <a:avLst/>
          </a:prstGeom>
        </p:spPr>
        <p:txBody>
          <a:bodyPr vert="horz" lIns="91815" tIns="45907" rIns="91815" bIns="45907" rtlCol="0" anchor="b"/>
          <a:lstStyle>
            <a:lvl1pPr algn="r">
              <a:defRPr sz="1200"/>
            </a:lvl1pPr>
          </a:lstStyle>
          <a:p>
            <a:fld id="{49110657-391D-4BAF-82B8-BBA3EA77C61C}" type="slidenum">
              <a:rPr lang="fr-FR" smtClean="0"/>
              <a:pPr/>
              <a:t>‹N°›</a:t>
            </a:fld>
            <a:endParaRPr lang="fr-FR"/>
          </a:p>
        </p:txBody>
      </p:sp>
    </p:spTree>
    <p:extLst>
      <p:ext uri="{BB962C8B-B14F-4D97-AF65-F5344CB8AC3E}">
        <p14:creationId xmlns:p14="http://schemas.microsoft.com/office/powerpoint/2010/main" val="26919770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1"/>
            <a:ext cx="2945659" cy="493634"/>
          </a:xfrm>
          <a:prstGeom prst="rect">
            <a:avLst/>
          </a:prstGeom>
        </p:spPr>
        <p:txBody>
          <a:bodyPr vert="horz" lIns="91815" tIns="45907" rIns="91815" bIns="45907" rtlCol="0"/>
          <a:lstStyle>
            <a:lvl1pPr algn="l">
              <a:defRPr sz="1200"/>
            </a:lvl1pPr>
          </a:lstStyle>
          <a:p>
            <a:endParaRPr lang="fr-FR"/>
          </a:p>
        </p:txBody>
      </p:sp>
      <p:sp>
        <p:nvSpPr>
          <p:cNvPr id="3" name="Espace réservé de la date 2"/>
          <p:cNvSpPr>
            <a:spLocks noGrp="1"/>
          </p:cNvSpPr>
          <p:nvPr>
            <p:ph type="dt" idx="1"/>
          </p:nvPr>
        </p:nvSpPr>
        <p:spPr>
          <a:xfrm>
            <a:off x="3850443" y="1"/>
            <a:ext cx="2945659" cy="493634"/>
          </a:xfrm>
          <a:prstGeom prst="rect">
            <a:avLst/>
          </a:prstGeom>
        </p:spPr>
        <p:txBody>
          <a:bodyPr vert="horz" lIns="91815" tIns="45907" rIns="91815" bIns="45907" rtlCol="0"/>
          <a:lstStyle>
            <a:lvl1pPr algn="r">
              <a:defRPr sz="1200"/>
            </a:lvl1pPr>
          </a:lstStyle>
          <a:p>
            <a:fld id="{B000F49C-6693-442B-81D1-9FE7387508D2}" type="datetimeFigureOut">
              <a:rPr lang="fr-FR" smtClean="0"/>
              <a:pPr/>
              <a:t>04/04/2023</a:t>
            </a:fld>
            <a:endParaRPr lang="fr-FR"/>
          </a:p>
        </p:txBody>
      </p:sp>
      <p:sp>
        <p:nvSpPr>
          <p:cNvPr id="4" name="Espace réservé de l'image des diapositives 3"/>
          <p:cNvSpPr>
            <a:spLocks noGrp="1" noRot="1" noChangeAspect="1"/>
          </p:cNvSpPr>
          <p:nvPr>
            <p:ph type="sldImg" idx="2"/>
          </p:nvPr>
        </p:nvSpPr>
        <p:spPr>
          <a:xfrm>
            <a:off x="930275" y="739775"/>
            <a:ext cx="4937125" cy="3703638"/>
          </a:xfrm>
          <a:prstGeom prst="rect">
            <a:avLst/>
          </a:prstGeom>
          <a:noFill/>
          <a:ln w="12700">
            <a:solidFill>
              <a:prstClr val="black"/>
            </a:solidFill>
          </a:ln>
        </p:spPr>
        <p:txBody>
          <a:bodyPr vert="horz" lIns="91815" tIns="45907" rIns="91815" bIns="45907" rtlCol="0" anchor="ctr"/>
          <a:lstStyle/>
          <a:p>
            <a:endParaRPr lang="fr-FR"/>
          </a:p>
        </p:txBody>
      </p:sp>
      <p:sp>
        <p:nvSpPr>
          <p:cNvPr id="5" name="Espace réservé des commentaires 4"/>
          <p:cNvSpPr>
            <a:spLocks noGrp="1"/>
          </p:cNvSpPr>
          <p:nvPr>
            <p:ph type="body" sz="quarter" idx="3"/>
          </p:nvPr>
        </p:nvSpPr>
        <p:spPr>
          <a:xfrm>
            <a:off x="679768" y="4689517"/>
            <a:ext cx="5438140" cy="4442699"/>
          </a:xfrm>
          <a:prstGeom prst="rect">
            <a:avLst/>
          </a:prstGeom>
        </p:spPr>
        <p:txBody>
          <a:bodyPr vert="horz" lIns="91815" tIns="45907" rIns="91815" bIns="45907"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7317"/>
            <a:ext cx="2945659" cy="493634"/>
          </a:xfrm>
          <a:prstGeom prst="rect">
            <a:avLst/>
          </a:prstGeom>
        </p:spPr>
        <p:txBody>
          <a:bodyPr vert="horz" lIns="91815" tIns="45907" rIns="91815" bIns="45907"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377317"/>
            <a:ext cx="2945659" cy="493634"/>
          </a:xfrm>
          <a:prstGeom prst="rect">
            <a:avLst/>
          </a:prstGeom>
        </p:spPr>
        <p:txBody>
          <a:bodyPr vert="horz" lIns="91815" tIns="45907" rIns="91815" bIns="45907" rtlCol="0" anchor="b"/>
          <a:lstStyle>
            <a:lvl1pPr algn="r">
              <a:defRPr sz="1200"/>
            </a:lvl1pPr>
          </a:lstStyle>
          <a:p>
            <a:fld id="{784742A2-A700-4112-A494-09AD92282681}" type="slidenum">
              <a:rPr lang="fr-FR" smtClean="0"/>
              <a:pPr/>
              <a:t>‹N°›</a:t>
            </a:fld>
            <a:endParaRPr lang="fr-FR"/>
          </a:p>
        </p:txBody>
      </p:sp>
    </p:spTree>
    <p:extLst>
      <p:ext uri="{BB962C8B-B14F-4D97-AF65-F5344CB8AC3E}">
        <p14:creationId xmlns:p14="http://schemas.microsoft.com/office/powerpoint/2010/main" val="1422369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0</a:t>
            </a:fld>
            <a:endParaRPr lang="fr-FR" dirty="0"/>
          </a:p>
        </p:txBody>
      </p:sp>
    </p:spTree>
    <p:extLst>
      <p:ext uri="{BB962C8B-B14F-4D97-AF65-F5344CB8AC3E}">
        <p14:creationId xmlns:p14="http://schemas.microsoft.com/office/powerpoint/2010/main" val="1464106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a:t>
            </a:fld>
            <a:endParaRPr lang="fr-FR"/>
          </a:p>
        </p:txBody>
      </p:sp>
    </p:spTree>
    <p:extLst>
      <p:ext uri="{BB962C8B-B14F-4D97-AF65-F5344CB8AC3E}">
        <p14:creationId xmlns:p14="http://schemas.microsoft.com/office/powerpoint/2010/main" val="990744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a:t>
            </a:fld>
            <a:endParaRPr lang="fr-FR"/>
          </a:p>
        </p:txBody>
      </p:sp>
    </p:spTree>
    <p:extLst>
      <p:ext uri="{BB962C8B-B14F-4D97-AF65-F5344CB8AC3E}">
        <p14:creationId xmlns:p14="http://schemas.microsoft.com/office/powerpoint/2010/main" val="1701066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a:t>
            </a:fld>
            <a:endParaRPr lang="fr-FR"/>
          </a:p>
        </p:txBody>
      </p:sp>
    </p:spTree>
    <p:extLst>
      <p:ext uri="{BB962C8B-B14F-4D97-AF65-F5344CB8AC3E}">
        <p14:creationId xmlns:p14="http://schemas.microsoft.com/office/powerpoint/2010/main" val="426163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a:t>
            </a:fld>
            <a:endParaRPr lang="fr-FR"/>
          </a:p>
        </p:txBody>
      </p:sp>
    </p:spTree>
    <p:extLst>
      <p:ext uri="{BB962C8B-B14F-4D97-AF65-F5344CB8AC3E}">
        <p14:creationId xmlns:p14="http://schemas.microsoft.com/office/powerpoint/2010/main" val="3260772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5</a:t>
            </a:fld>
            <a:endParaRPr lang="fr-FR"/>
          </a:p>
        </p:txBody>
      </p:sp>
    </p:spTree>
    <p:extLst>
      <p:ext uri="{BB962C8B-B14F-4D97-AF65-F5344CB8AC3E}">
        <p14:creationId xmlns:p14="http://schemas.microsoft.com/office/powerpoint/2010/main" val="41285999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8</a:t>
            </a:fld>
            <a:endParaRPr lang="fr-FR"/>
          </a:p>
        </p:txBody>
      </p:sp>
    </p:spTree>
    <p:extLst>
      <p:ext uri="{BB962C8B-B14F-4D97-AF65-F5344CB8AC3E}">
        <p14:creationId xmlns:p14="http://schemas.microsoft.com/office/powerpoint/2010/main" val="983078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defTabSz="918149">
              <a:defRPr/>
            </a:pPr>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10</a:t>
            </a:fld>
            <a:endParaRPr lang="fr-FR"/>
          </a:p>
        </p:txBody>
      </p:sp>
    </p:spTree>
    <p:extLst>
      <p:ext uri="{BB962C8B-B14F-4D97-AF65-F5344CB8AC3E}">
        <p14:creationId xmlns:p14="http://schemas.microsoft.com/office/powerpoint/2010/main" val="1590285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14</a:t>
            </a:fld>
            <a:endParaRPr lang="fr-FR"/>
          </a:p>
        </p:txBody>
      </p:sp>
    </p:spTree>
    <p:extLst>
      <p:ext uri="{BB962C8B-B14F-4D97-AF65-F5344CB8AC3E}">
        <p14:creationId xmlns:p14="http://schemas.microsoft.com/office/powerpoint/2010/main" val="11224346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defTabSz="918149">
              <a:defRPr/>
            </a:pPr>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16</a:t>
            </a:fld>
            <a:endParaRPr lang="fr-FR"/>
          </a:p>
        </p:txBody>
      </p:sp>
    </p:spTree>
    <p:extLst>
      <p:ext uri="{BB962C8B-B14F-4D97-AF65-F5344CB8AC3E}">
        <p14:creationId xmlns:p14="http://schemas.microsoft.com/office/powerpoint/2010/main" val="770126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defTabSz="918149">
              <a:defRPr/>
            </a:pPr>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17</a:t>
            </a:fld>
            <a:endParaRPr lang="fr-FR"/>
          </a:p>
        </p:txBody>
      </p:sp>
    </p:spTree>
    <p:extLst>
      <p:ext uri="{BB962C8B-B14F-4D97-AF65-F5344CB8AC3E}">
        <p14:creationId xmlns:p14="http://schemas.microsoft.com/office/powerpoint/2010/main" val="2746610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BE" baseline="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18</a:t>
            </a:fld>
            <a:endParaRPr lang="fr-FR"/>
          </a:p>
        </p:txBody>
      </p:sp>
    </p:spTree>
    <p:extLst>
      <p:ext uri="{BB962C8B-B14F-4D97-AF65-F5344CB8AC3E}">
        <p14:creationId xmlns:p14="http://schemas.microsoft.com/office/powerpoint/2010/main" val="26540585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19</a:t>
            </a:fld>
            <a:endParaRPr lang="fr-FR"/>
          </a:p>
        </p:txBody>
      </p:sp>
    </p:spTree>
    <p:extLst>
      <p:ext uri="{BB962C8B-B14F-4D97-AF65-F5344CB8AC3E}">
        <p14:creationId xmlns:p14="http://schemas.microsoft.com/office/powerpoint/2010/main" val="569323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20</a:t>
            </a:fld>
            <a:endParaRPr lang="fr-FR"/>
          </a:p>
        </p:txBody>
      </p:sp>
    </p:spTree>
    <p:extLst>
      <p:ext uri="{BB962C8B-B14F-4D97-AF65-F5344CB8AC3E}">
        <p14:creationId xmlns:p14="http://schemas.microsoft.com/office/powerpoint/2010/main" val="1030157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21</a:t>
            </a:fld>
            <a:endParaRPr lang="fr-FR"/>
          </a:p>
        </p:txBody>
      </p:sp>
    </p:spTree>
    <p:extLst>
      <p:ext uri="{BB962C8B-B14F-4D97-AF65-F5344CB8AC3E}">
        <p14:creationId xmlns:p14="http://schemas.microsoft.com/office/powerpoint/2010/main" val="3696968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22</a:t>
            </a:fld>
            <a:endParaRPr lang="fr-FR"/>
          </a:p>
        </p:txBody>
      </p:sp>
    </p:spTree>
    <p:extLst>
      <p:ext uri="{BB962C8B-B14F-4D97-AF65-F5344CB8AC3E}">
        <p14:creationId xmlns:p14="http://schemas.microsoft.com/office/powerpoint/2010/main" val="2206050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23</a:t>
            </a:fld>
            <a:endParaRPr lang="fr-FR"/>
          </a:p>
        </p:txBody>
      </p:sp>
    </p:spTree>
    <p:extLst>
      <p:ext uri="{BB962C8B-B14F-4D97-AF65-F5344CB8AC3E}">
        <p14:creationId xmlns:p14="http://schemas.microsoft.com/office/powerpoint/2010/main" val="20893676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24</a:t>
            </a:fld>
            <a:endParaRPr lang="fr-FR"/>
          </a:p>
        </p:txBody>
      </p:sp>
    </p:spTree>
    <p:extLst>
      <p:ext uri="{BB962C8B-B14F-4D97-AF65-F5344CB8AC3E}">
        <p14:creationId xmlns:p14="http://schemas.microsoft.com/office/powerpoint/2010/main" val="122068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25</a:t>
            </a:fld>
            <a:endParaRPr lang="fr-FR"/>
          </a:p>
        </p:txBody>
      </p:sp>
    </p:spTree>
    <p:extLst>
      <p:ext uri="{BB962C8B-B14F-4D97-AF65-F5344CB8AC3E}">
        <p14:creationId xmlns:p14="http://schemas.microsoft.com/office/powerpoint/2010/main" val="1614497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26</a:t>
            </a:fld>
            <a:endParaRPr lang="fr-FR"/>
          </a:p>
        </p:txBody>
      </p:sp>
    </p:spTree>
    <p:extLst>
      <p:ext uri="{BB962C8B-B14F-4D97-AF65-F5344CB8AC3E}">
        <p14:creationId xmlns:p14="http://schemas.microsoft.com/office/powerpoint/2010/main" val="7212998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27</a:t>
            </a:fld>
            <a:endParaRPr lang="fr-FR"/>
          </a:p>
        </p:txBody>
      </p:sp>
    </p:spTree>
    <p:extLst>
      <p:ext uri="{BB962C8B-B14F-4D97-AF65-F5344CB8AC3E}">
        <p14:creationId xmlns:p14="http://schemas.microsoft.com/office/powerpoint/2010/main" val="16371219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28</a:t>
            </a:fld>
            <a:endParaRPr lang="fr-FR"/>
          </a:p>
        </p:txBody>
      </p:sp>
    </p:spTree>
    <p:extLst>
      <p:ext uri="{BB962C8B-B14F-4D97-AF65-F5344CB8AC3E}">
        <p14:creationId xmlns:p14="http://schemas.microsoft.com/office/powerpoint/2010/main" val="3980088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29</a:t>
            </a:fld>
            <a:endParaRPr lang="fr-FR"/>
          </a:p>
        </p:txBody>
      </p:sp>
    </p:spTree>
    <p:extLst>
      <p:ext uri="{BB962C8B-B14F-4D97-AF65-F5344CB8AC3E}">
        <p14:creationId xmlns:p14="http://schemas.microsoft.com/office/powerpoint/2010/main" val="2936438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pPr defTabSz="918149">
              <a:defRPr/>
            </a:pPr>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30</a:t>
            </a:fld>
            <a:endParaRPr lang="fr-FR" dirty="0"/>
          </a:p>
        </p:txBody>
      </p:sp>
    </p:spTree>
    <p:extLst>
      <p:ext uri="{BB962C8B-B14F-4D97-AF65-F5344CB8AC3E}">
        <p14:creationId xmlns:p14="http://schemas.microsoft.com/office/powerpoint/2010/main" val="795653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BE" noProof="0"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31</a:t>
            </a:fld>
            <a:endParaRPr lang="fr-FR"/>
          </a:p>
        </p:txBody>
      </p:sp>
    </p:spTree>
    <p:extLst>
      <p:ext uri="{BB962C8B-B14F-4D97-AF65-F5344CB8AC3E}">
        <p14:creationId xmlns:p14="http://schemas.microsoft.com/office/powerpoint/2010/main" val="23416220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32</a:t>
            </a:fld>
            <a:endParaRPr lang="fr-FR"/>
          </a:p>
        </p:txBody>
      </p:sp>
    </p:spTree>
    <p:extLst>
      <p:ext uri="{BB962C8B-B14F-4D97-AF65-F5344CB8AC3E}">
        <p14:creationId xmlns:p14="http://schemas.microsoft.com/office/powerpoint/2010/main" val="28840473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33</a:t>
            </a:fld>
            <a:endParaRPr lang="fr-FR"/>
          </a:p>
        </p:txBody>
      </p:sp>
    </p:spTree>
    <p:extLst>
      <p:ext uri="{BB962C8B-B14F-4D97-AF65-F5344CB8AC3E}">
        <p14:creationId xmlns:p14="http://schemas.microsoft.com/office/powerpoint/2010/main" val="13392307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34</a:t>
            </a:fld>
            <a:endParaRPr lang="fr-FR"/>
          </a:p>
        </p:txBody>
      </p:sp>
    </p:spTree>
    <p:extLst>
      <p:ext uri="{BB962C8B-B14F-4D97-AF65-F5344CB8AC3E}">
        <p14:creationId xmlns:p14="http://schemas.microsoft.com/office/powerpoint/2010/main" val="34403578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35</a:t>
            </a:fld>
            <a:endParaRPr lang="fr-FR"/>
          </a:p>
        </p:txBody>
      </p:sp>
    </p:spTree>
    <p:extLst>
      <p:ext uri="{BB962C8B-B14F-4D97-AF65-F5344CB8AC3E}">
        <p14:creationId xmlns:p14="http://schemas.microsoft.com/office/powerpoint/2010/main" val="379432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BE" b="1" u="sng"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36</a:t>
            </a:fld>
            <a:endParaRPr lang="fr-FR"/>
          </a:p>
        </p:txBody>
      </p:sp>
    </p:spTree>
    <p:extLst>
      <p:ext uri="{BB962C8B-B14F-4D97-AF65-F5344CB8AC3E}">
        <p14:creationId xmlns:p14="http://schemas.microsoft.com/office/powerpoint/2010/main" val="2047117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BE"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37</a:t>
            </a:fld>
            <a:endParaRPr lang="fr-FR"/>
          </a:p>
        </p:txBody>
      </p:sp>
    </p:spTree>
    <p:extLst>
      <p:ext uri="{BB962C8B-B14F-4D97-AF65-F5344CB8AC3E}">
        <p14:creationId xmlns:p14="http://schemas.microsoft.com/office/powerpoint/2010/main" val="21237961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38</a:t>
            </a:fld>
            <a:endParaRPr lang="fr-FR"/>
          </a:p>
        </p:txBody>
      </p:sp>
    </p:spTree>
    <p:extLst>
      <p:ext uri="{BB962C8B-B14F-4D97-AF65-F5344CB8AC3E}">
        <p14:creationId xmlns:p14="http://schemas.microsoft.com/office/powerpoint/2010/main" val="25536279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39</a:t>
            </a:fld>
            <a:endParaRPr lang="fr-FR"/>
          </a:p>
        </p:txBody>
      </p:sp>
    </p:spTree>
    <p:extLst>
      <p:ext uri="{BB962C8B-B14F-4D97-AF65-F5344CB8AC3E}">
        <p14:creationId xmlns:p14="http://schemas.microsoft.com/office/powerpoint/2010/main" val="280594061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40</a:t>
            </a:fld>
            <a:endParaRPr lang="fr-FR"/>
          </a:p>
        </p:txBody>
      </p:sp>
    </p:spTree>
    <p:extLst>
      <p:ext uri="{BB962C8B-B14F-4D97-AF65-F5344CB8AC3E}">
        <p14:creationId xmlns:p14="http://schemas.microsoft.com/office/powerpoint/2010/main" val="383052075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b="1" i="1"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41</a:t>
            </a:fld>
            <a:endParaRPr lang="fr-FR"/>
          </a:p>
        </p:txBody>
      </p:sp>
    </p:spTree>
    <p:extLst>
      <p:ext uri="{BB962C8B-B14F-4D97-AF65-F5344CB8AC3E}">
        <p14:creationId xmlns:p14="http://schemas.microsoft.com/office/powerpoint/2010/main" val="11766649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42</a:t>
            </a:fld>
            <a:endParaRPr lang="fr-FR"/>
          </a:p>
        </p:txBody>
      </p:sp>
    </p:spTree>
    <p:extLst>
      <p:ext uri="{BB962C8B-B14F-4D97-AF65-F5344CB8AC3E}">
        <p14:creationId xmlns:p14="http://schemas.microsoft.com/office/powerpoint/2010/main" val="25246251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784742A2-A700-4112-A494-09AD92282681}" type="slidenum">
              <a:rPr lang="fr-FR" smtClean="0"/>
              <a:pPr/>
              <a:t>43</a:t>
            </a:fld>
            <a:endParaRPr lang="fr-FR"/>
          </a:p>
        </p:txBody>
      </p:sp>
    </p:spTree>
    <p:extLst>
      <p:ext uri="{BB962C8B-B14F-4D97-AF65-F5344CB8AC3E}">
        <p14:creationId xmlns:p14="http://schemas.microsoft.com/office/powerpoint/2010/main" val="4009907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8C26C787-0F58-4798-ACBC-A310FA830F3C}" type="datetime1">
              <a:rPr lang="fr-FR" smtClean="0"/>
              <a:t>04/04/2023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88DB65BD-89DC-4323-B181-8150165917E0}" type="datetime1">
              <a:rPr lang="fr-FR" smtClean="0"/>
              <a:t>04/04/2023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C26CC70D-ACBF-45A2-BE1E-6F450C84AB01}" type="datetime1">
              <a:rPr lang="fr-FR" smtClean="0"/>
              <a:t>04/04/2023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4D4358E9-01C6-46D4-9C59-C1C3DE13FD3F}" type="datetime1">
              <a:rPr lang="fr-FR" smtClean="0"/>
              <a:t>04/04/2023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2C322421-7ACB-4A9C-906B-1B12A74CE1A6}" type="datetime1">
              <a:rPr lang="fr-FR" smtClean="0"/>
              <a:t>04/04/2023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08473343-E0E2-4C7C-BDC5-504B123846BC}" type="datetime1">
              <a:rPr lang="fr-FR" smtClean="0"/>
              <a:t>04/04/2023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6869849-4534-40B8-8A3D-72FA636EEADE}" type="datetime1">
              <a:rPr lang="fr-FR" smtClean="0"/>
              <a:t>04/04/2023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7834E3FE-6A0C-403F-8E8D-8838E71CF68B}" type="datetime1">
              <a:rPr lang="fr-FR" smtClean="0"/>
              <a:t>04/04/2023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188B9FE6-2A0C-45C7-AFBE-85B5AB37AE0F}" type="datetime1">
              <a:rPr lang="fr-FR" smtClean="0"/>
              <a:t>04/04/2023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139DE434-2741-403B-A7C9-F9C8F6FC4C36}" type="datetime1">
              <a:rPr lang="fr-FR" smtClean="0"/>
              <a:t>04/04/2023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5C465364-AC70-4712-B388-FE57497D1E16}" type="datetime1">
              <a:rPr lang="fr-FR" smtClean="0"/>
              <a:t>04/04/2023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55E9056B-6A30-4F99-BDE9-C450E66AE125}" type="slidenum">
              <a:rPr lang="fr-FR" smtClean="0"/>
              <a:pPr/>
              <a:t>‹N°›</a:t>
            </a:fld>
            <a:endParaRPr lang="fr-FR"/>
          </a:p>
        </p:txBody>
      </p:sp>
    </p:spTree>
  </p:cSld>
  <p:clrMapOvr>
    <a:masterClrMapping/>
  </p:clrMapOvr>
  <p:transition>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re. Texte et image de la bibliothèque">
    <p:spTree>
      <p:nvGrpSpPr>
        <p:cNvPr id="1" name=""/>
        <p:cNvGrpSpPr/>
        <p:nvPr/>
      </p:nvGrpSpPr>
      <p:grpSpPr>
        <a:xfrm>
          <a:off x="0" y="0"/>
          <a:ext cx="0" cy="0"/>
          <a:chOff x="0" y="0"/>
          <a:chExt cx="0" cy="0"/>
        </a:xfrm>
      </p:grpSpPr>
      <p:sp>
        <p:nvSpPr>
          <p:cNvPr id="2" name="Titre 1"/>
          <p:cNvSpPr>
            <a:spLocks noGrp="1"/>
          </p:cNvSpPr>
          <p:nvPr>
            <p:ph type="title"/>
          </p:nvPr>
        </p:nvSpPr>
        <p:spPr>
          <a:xfrm>
            <a:off x="685800" y="609600"/>
            <a:ext cx="7772400" cy="1143000"/>
          </a:xfrm>
        </p:spPr>
        <p:txBody>
          <a:bodyPr/>
          <a:lstStyle/>
          <a:p>
            <a:r>
              <a:rPr lang="fr-FR"/>
              <a:t>Cliquez pour modifier le style du titre</a:t>
            </a:r>
          </a:p>
        </p:txBody>
      </p:sp>
      <p:sp>
        <p:nvSpPr>
          <p:cNvPr id="3" name="Espace réservé du texte 2"/>
          <p:cNvSpPr>
            <a:spLocks noGrp="1"/>
          </p:cNvSpPr>
          <p:nvPr>
            <p:ph type="body" sz="half" idx="1"/>
          </p:nvPr>
        </p:nvSpPr>
        <p:spPr>
          <a:xfrm>
            <a:off x="685800" y="1981200"/>
            <a:ext cx="3810000" cy="4114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image de la bibliothèque 3"/>
          <p:cNvSpPr>
            <a:spLocks noGrp="1"/>
          </p:cNvSpPr>
          <p:nvPr>
            <p:ph type="clipArt" sz="half" idx="2"/>
          </p:nvPr>
        </p:nvSpPr>
        <p:spPr>
          <a:xfrm>
            <a:off x="4648200" y="1981200"/>
            <a:ext cx="3810000" cy="4114800"/>
          </a:xfrm>
        </p:spPr>
        <p:txBody>
          <a:bodyPr/>
          <a:lstStyle/>
          <a:p>
            <a:endParaRPr lang="fr-FR"/>
          </a:p>
        </p:txBody>
      </p:sp>
      <p:sp>
        <p:nvSpPr>
          <p:cNvPr id="5" name="Espace réservé de la date 4"/>
          <p:cNvSpPr>
            <a:spLocks noGrp="1"/>
          </p:cNvSpPr>
          <p:nvPr>
            <p:ph type="dt" sz="half" idx="10"/>
          </p:nvPr>
        </p:nvSpPr>
        <p:spPr>
          <a:xfrm>
            <a:off x="685800" y="6365875"/>
            <a:ext cx="1905000" cy="457200"/>
          </a:xfrm>
        </p:spPr>
        <p:txBody>
          <a:bodyPr/>
          <a:lstStyle>
            <a:lvl1pPr>
              <a:defRPr/>
            </a:lvl1pPr>
          </a:lstStyle>
          <a:p>
            <a:fld id="{E6D266CB-3DFB-4A06-A024-002ED2203087}" type="datetime1">
              <a:rPr lang="fr-FR" smtClean="0"/>
              <a:t>04/04/2023</a:t>
            </a:fld>
            <a:endParaRPr lang="fr-FR"/>
          </a:p>
        </p:txBody>
      </p:sp>
      <p:sp>
        <p:nvSpPr>
          <p:cNvPr id="6" name="Espace réservé du pied de page 5"/>
          <p:cNvSpPr>
            <a:spLocks noGrp="1"/>
          </p:cNvSpPr>
          <p:nvPr>
            <p:ph type="ftr" sz="quarter" idx="11"/>
          </p:nvPr>
        </p:nvSpPr>
        <p:spPr>
          <a:xfrm>
            <a:off x="3124200" y="6365875"/>
            <a:ext cx="2895600" cy="457200"/>
          </a:xfrm>
        </p:spPr>
        <p:txBody>
          <a:bodyPr/>
          <a:lstStyle>
            <a:lvl1pPr>
              <a:defRPr/>
            </a:lvl1pPr>
          </a:lstStyle>
          <a:p>
            <a:endParaRPr lang="fr-FR"/>
          </a:p>
        </p:txBody>
      </p:sp>
      <p:sp>
        <p:nvSpPr>
          <p:cNvPr id="7" name="Espace réservé du numéro de diapositive 6"/>
          <p:cNvSpPr>
            <a:spLocks noGrp="1"/>
          </p:cNvSpPr>
          <p:nvPr>
            <p:ph type="sldNum" sz="quarter" idx="12"/>
          </p:nvPr>
        </p:nvSpPr>
        <p:spPr>
          <a:xfrm>
            <a:off x="6553200" y="6365875"/>
            <a:ext cx="1905000" cy="457200"/>
          </a:xfrm>
        </p:spPr>
        <p:txBody>
          <a:bodyPr/>
          <a:lstStyle>
            <a:lvl1pPr>
              <a:defRPr/>
            </a:lvl1pPr>
          </a:lstStyle>
          <a:p>
            <a:fld id="{3DCDE95E-3EB1-4057-AF34-A4F908CA5247}" type="slidenum">
              <a:rPr lang="fr-FR"/>
              <a:pPr/>
              <a:t>‹N°›</a:t>
            </a:fld>
            <a:endParaRPr lang="fr-FR"/>
          </a:p>
        </p:txBody>
      </p:sp>
    </p:spTree>
    <p:extLst>
      <p:ext uri="{BB962C8B-B14F-4D97-AF65-F5344CB8AC3E}">
        <p14:creationId xmlns:p14="http://schemas.microsoft.com/office/powerpoint/2010/main" val="2992641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alphaModFix amt="16000"/>
            <a:lum/>
          </a:blip>
          <a:srcRect/>
          <a:stretch>
            <a:fillRect l="-7000" r="-7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35F3D3-5A01-4F82-ADE7-9A2C17935AB5}" type="datetime1">
              <a:rPr lang="fr-FR" smtClean="0"/>
              <a:t>04/04/2023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E9056B-6A30-4F99-BDE9-C450E66AE125}"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dissolv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idx="1"/>
          </p:nvPr>
        </p:nvSpPr>
        <p:spPr>
          <a:xfrm>
            <a:off x="467544" y="1700808"/>
            <a:ext cx="8229600" cy="4525963"/>
          </a:xfrm>
        </p:spPr>
        <p:txBody>
          <a:bodyPr/>
          <a:lstStyle/>
          <a:p>
            <a:endParaRPr lang="fr-BE" dirty="0"/>
          </a:p>
          <a:p>
            <a:pPr algn="ctr">
              <a:buNone/>
            </a:pPr>
            <a:r>
              <a:rPr lang="fr-BE" sz="6600" b="1" i="1" dirty="0"/>
              <a:t>AR 43 – AR 69</a:t>
            </a:r>
          </a:p>
          <a:p>
            <a:pPr algn="ctr">
              <a:buNone/>
            </a:pPr>
            <a:endParaRPr lang="fr-BE" sz="1800" b="1" i="1" dirty="0"/>
          </a:p>
          <a:p>
            <a:pPr algn="ctr">
              <a:buNone/>
            </a:pPr>
            <a:r>
              <a:rPr lang="fr-BE" b="1" i="1" dirty="0"/>
              <a:t>Le travail à l’étranger </a:t>
            </a:r>
          </a:p>
          <a:p>
            <a:pPr algn="ctr">
              <a:buNone/>
            </a:pPr>
            <a:r>
              <a:rPr lang="fr-BE" b="1" i="1" dirty="0"/>
              <a:t>&amp; le travailleur étranger </a:t>
            </a:r>
            <a:endParaRPr lang="fr-FR" b="1" i="1" dirty="0"/>
          </a:p>
        </p:txBody>
      </p:sp>
      <p:sp>
        <p:nvSpPr>
          <p:cNvPr id="3" name="ZoneTexte 2"/>
          <p:cNvSpPr txBox="1"/>
          <p:nvPr/>
        </p:nvSpPr>
        <p:spPr>
          <a:xfrm>
            <a:off x="395536" y="6165304"/>
            <a:ext cx="2304256" cy="369332"/>
          </a:xfrm>
          <a:prstGeom prst="rect">
            <a:avLst/>
          </a:prstGeom>
          <a:noFill/>
        </p:spPr>
        <p:txBody>
          <a:bodyPr wrap="square" rtlCol="0">
            <a:spAutoFit/>
          </a:bodyPr>
          <a:lstStyle/>
          <a:p>
            <a:r>
              <a:rPr lang="fr-BE" dirty="0"/>
              <a:t>Version 30.03.2023</a:t>
            </a:r>
          </a:p>
        </p:txBody>
      </p:sp>
    </p:spTree>
    <p:extLst>
      <p:ext uri="{BB962C8B-B14F-4D97-AF65-F5344CB8AC3E}">
        <p14:creationId xmlns:p14="http://schemas.microsoft.com/office/powerpoint/2010/main" val="141257204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nodeType="clickEffect">
                                  <p:stCondLst>
                                    <p:cond delay="0"/>
                                  </p:stCondLst>
                                  <p:childTnLst>
                                    <p:set>
                                      <p:cBhvr>
                                        <p:cTn id="6" dur="1" fill="hold">
                                          <p:stCondLst>
                                            <p:cond delay="0"/>
                                          </p:stCondLst>
                                        </p:cTn>
                                        <p:tgtEl>
                                          <p:spTgt spid="2051">
                                            <p:txEl>
                                              <p:pRg st="1" end="1"/>
                                            </p:txEl>
                                          </p:spTgt>
                                        </p:tgtEl>
                                        <p:attrNameLst>
                                          <p:attrName>style.visibility</p:attrName>
                                        </p:attrNameLst>
                                      </p:cBhvr>
                                      <p:to>
                                        <p:strVal val="visible"/>
                                      </p:to>
                                    </p:set>
                                    <p:anim calcmode="lin" valueType="num">
                                      <p:cBhvr>
                                        <p:cTn id="7" dur="2000" fill="hold"/>
                                        <p:tgtEl>
                                          <p:spTgt spid="2051">
                                            <p:txEl>
                                              <p:pRg st="1" end="1"/>
                                            </p:txEl>
                                          </p:spTgt>
                                        </p:tgtEl>
                                        <p:attrNameLst>
                                          <p:attrName>ppt_w</p:attrName>
                                        </p:attrNameLst>
                                      </p:cBhvr>
                                      <p:tavLst>
                                        <p:tav tm="0">
                                          <p:val>
                                            <p:fltVal val="0"/>
                                          </p:val>
                                        </p:tav>
                                        <p:tav tm="100000">
                                          <p:val>
                                            <p:strVal val="#ppt_w"/>
                                          </p:val>
                                        </p:tav>
                                      </p:tavLst>
                                    </p:anim>
                                    <p:anim calcmode="lin" valueType="num">
                                      <p:cBhvr>
                                        <p:cTn id="8" dur="2000" fill="hold"/>
                                        <p:tgtEl>
                                          <p:spTgt spid="2051">
                                            <p:txEl>
                                              <p:pRg st="1" end="1"/>
                                            </p:txEl>
                                          </p:spTgt>
                                        </p:tgtEl>
                                        <p:attrNameLst>
                                          <p:attrName>ppt_h</p:attrName>
                                        </p:attrNameLst>
                                      </p:cBhvr>
                                      <p:tavLst>
                                        <p:tav tm="0">
                                          <p:val>
                                            <p:fltVal val="0"/>
                                          </p:val>
                                        </p:tav>
                                        <p:tav tm="100000">
                                          <p:val>
                                            <p:strVal val="#ppt_h"/>
                                          </p:val>
                                        </p:tav>
                                      </p:tavLst>
                                    </p:anim>
                                    <p:anim calcmode="lin" valueType="num">
                                      <p:cBhvr>
                                        <p:cTn id="9" dur="2000" fill="hold"/>
                                        <p:tgtEl>
                                          <p:spTgt spid="2051">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10" dur="2000" fill="hold"/>
                                        <p:tgtEl>
                                          <p:spTgt spid="2051">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nodeType="clickEffect">
                                  <p:stCondLst>
                                    <p:cond delay="0"/>
                                  </p:stCondLst>
                                  <p:childTnLst>
                                    <p:set>
                                      <p:cBhvr>
                                        <p:cTn id="14" dur="1" fill="hold">
                                          <p:stCondLst>
                                            <p:cond delay="0"/>
                                          </p:stCondLst>
                                        </p:cTn>
                                        <p:tgtEl>
                                          <p:spTgt spid="2051">
                                            <p:txEl>
                                              <p:pRg st="3" end="3"/>
                                            </p:txEl>
                                          </p:spTgt>
                                        </p:tgtEl>
                                        <p:attrNameLst>
                                          <p:attrName>style.visibility</p:attrName>
                                        </p:attrNameLst>
                                      </p:cBhvr>
                                      <p:to>
                                        <p:strVal val="visible"/>
                                      </p:to>
                                    </p:set>
                                    <p:anim calcmode="lin" valueType="num">
                                      <p:cBhvr>
                                        <p:cTn id="15" dur="2000" fill="hold"/>
                                        <p:tgtEl>
                                          <p:spTgt spid="2051">
                                            <p:txEl>
                                              <p:pRg st="3" end="3"/>
                                            </p:txEl>
                                          </p:spTgt>
                                        </p:tgtEl>
                                        <p:attrNameLst>
                                          <p:attrName>ppt_w</p:attrName>
                                        </p:attrNameLst>
                                      </p:cBhvr>
                                      <p:tavLst>
                                        <p:tav tm="0">
                                          <p:val>
                                            <p:fltVal val="0"/>
                                          </p:val>
                                        </p:tav>
                                        <p:tav tm="100000">
                                          <p:val>
                                            <p:strVal val="#ppt_w"/>
                                          </p:val>
                                        </p:tav>
                                      </p:tavLst>
                                    </p:anim>
                                    <p:anim calcmode="lin" valueType="num">
                                      <p:cBhvr>
                                        <p:cTn id="16" dur="2000" fill="hold"/>
                                        <p:tgtEl>
                                          <p:spTgt spid="2051">
                                            <p:txEl>
                                              <p:pRg st="3" end="3"/>
                                            </p:txEl>
                                          </p:spTgt>
                                        </p:tgtEl>
                                        <p:attrNameLst>
                                          <p:attrName>ppt_h</p:attrName>
                                        </p:attrNameLst>
                                      </p:cBhvr>
                                      <p:tavLst>
                                        <p:tav tm="0">
                                          <p:val>
                                            <p:fltVal val="0"/>
                                          </p:val>
                                        </p:tav>
                                        <p:tav tm="100000">
                                          <p:val>
                                            <p:strVal val="#ppt_h"/>
                                          </p:val>
                                        </p:tav>
                                      </p:tavLst>
                                    </p:anim>
                                    <p:anim calcmode="lin" valueType="num">
                                      <p:cBhvr>
                                        <p:cTn id="17" dur="2000" fill="hold"/>
                                        <p:tgtEl>
                                          <p:spTgt spid="2051">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18" dur="2000" fill="hold"/>
                                        <p:tgtEl>
                                          <p:spTgt spid="2051">
                                            <p:txEl>
                                              <p:pRg st="3" end="3"/>
                                            </p:txEl>
                                          </p:spTgt>
                                        </p:tgtEl>
                                        <p:attrNameLst>
                                          <p:attrName>ppt_y</p:attrName>
                                        </p:attrNameLst>
                                      </p:cBhvr>
                                      <p:tavLst>
                                        <p:tav tm="0" fmla="#ppt_y+(sin(-2*pi*(1-$))*-#ppt_x+cos(-2*pi*(1-$))*(1-#ppt_y))*(1-$)">
                                          <p:val>
                                            <p:fltVal val="0"/>
                                          </p:val>
                                        </p:tav>
                                        <p:tav tm="100000">
                                          <p:val>
                                            <p:fltVal val="1"/>
                                          </p:val>
                                        </p:tav>
                                      </p:tavLst>
                                    </p:anim>
                                  </p:childTnLst>
                                </p:cTn>
                              </p:par>
                              <p:par>
                                <p:cTn id="19" presetID="15" presetClass="entr" presetSubtype="0" fill="hold" nodeType="withEffect">
                                  <p:stCondLst>
                                    <p:cond delay="0"/>
                                  </p:stCondLst>
                                  <p:childTnLst>
                                    <p:set>
                                      <p:cBhvr>
                                        <p:cTn id="20" dur="1" fill="hold">
                                          <p:stCondLst>
                                            <p:cond delay="0"/>
                                          </p:stCondLst>
                                        </p:cTn>
                                        <p:tgtEl>
                                          <p:spTgt spid="2051">
                                            <p:txEl>
                                              <p:pRg st="4" end="4"/>
                                            </p:txEl>
                                          </p:spTgt>
                                        </p:tgtEl>
                                        <p:attrNameLst>
                                          <p:attrName>style.visibility</p:attrName>
                                        </p:attrNameLst>
                                      </p:cBhvr>
                                      <p:to>
                                        <p:strVal val="visible"/>
                                      </p:to>
                                    </p:set>
                                    <p:anim calcmode="lin" valueType="num">
                                      <p:cBhvr>
                                        <p:cTn id="21" dur="2000" fill="hold"/>
                                        <p:tgtEl>
                                          <p:spTgt spid="2051">
                                            <p:txEl>
                                              <p:pRg st="4" end="4"/>
                                            </p:txEl>
                                          </p:spTgt>
                                        </p:tgtEl>
                                        <p:attrNameLst>
                                          <p:attrName>ppt_w</p:attrName>
                                        </p:attrNameLst>
                                      </p:cBhvr>
                                      <p:tavLst>
                                        <p:tav tm="0">
                                          <p:val>
                                            <p:fltVal val="0"/>
                                          </p:val>
                                        </p:tav>
                                        <p:tav tm="100000">
                                          <p:val>
                                            <p:strVal val="#ppt_w"/>
                                          </p:val>
                                        </p:tav>
                                      </p:tavLst>
                                    </p:anim>
                                    <p:anim calcmode="lin" valueType="num">
                                      <p:cBhvr>
                                        <p:cTn id="22" dur="2000" fill="hold"/>
                                        <p:tgtEl>
                                          <p:spTgt spid="2051">
                                            <p:txEl>
                                              <p:pRg st="4" end="4"/>
                                            </p:txEl>
                                          </p:spTgt>
                                        </p:tgtEl>
                                        <p:attrNameLst>
                                          <p:attrName>ppt_h</p:attrName>
                                        </p:attrNameLst>
                                      </p:cBhvr>
                                      <p:tavLst>
                                        <p:tav tm="0">
                                          <p:val>
                                            <p:fltVal val="0"/>
                                          </p:val>
                                        </p:tav>
                                        <p:tav tm="100000">
                                          <p:val>
                                            <p:strVal val="#ppt_h"/>
                                          </p:val>
                                        </p:tav>
                                      </p:tavLst>
                                    </p:anim>
                                    <p:anim calcmode="lin" valueType="num">
                                      <p:cBhvr>
                                        <p:cTn id="23" dur="2000" fill="hold"/>
                                        <p:tgtEl>
                                          <p:spTgt spid="2051">
                                            <p:txEl>
                                              <p:pRg st="4" end="4"/>
                                            </p:txEl>
                                          </p:spTgt>
                                        </p:tgtEl>
                                        <p:attrNameLst>
                                          <p:attrName>ppt_x</p:attrName>
                                        </p:attrNameLst>
                                      </p:cBhvr>
                                      <p:tavLst>
                                        <p:tav tm="0" fmla="#ppt_x+(cos(-2*pi*(1-$))*-#ppt_x-sin(-2*pi*(1-$))*(1-#ppt_y))*(1-$)">
                                          <p:val>
                                            <p:fltVal val="0"/>
                                          </p:val>
                                        </p:tav>
                                        <p:tav tm="100000">
                                          <p:val>
                                            <p:fltVal val="1"/>
                                          </p:val>
                                        </p:tav>
                                      </p:tavLst>
                                    </p:anim>
                                    <p:anim calcmode="lin" valueType="num">
                                      <p:cBhvr>
                                        <p:cTn id="24" dur="2000" fill="hold"/>
                                        <p:tgtEl>
                                          <p:spTgt spid="2051">
                                            <p:txEl>
                                              <p:pRg st="4" end="4"/>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p:cNvSpPr>
            <a:spLocks noGrp="1"/>
          </p:cNvSpPr>
          <p:nvPr>
            <p:ph type="title"/>
          </p:nvPr>
        </p:nvSpPr>
        <p:spPr/>
        <p:txBody>
          <a:bodyPr/>
          <a:lstStyle/>
          <a:p>
            <a:r>
              <a:rPr lang="fr-BE" b="1" i="1" dirty="0">
                <a:solidFill>
                  <a:srgbClr val="C00000"/>
                </a:solidFill>
              </a:rPr>
              <a:t>Table des matières</a:t>
            </a:r>
            <a:endParaRPr lang="fr-FR" b="1" i="1" dirty="0">
              <a:solidFill>
                <a:srgbClr val="C00000"/>
              </a:solidFill>
            </a:endParaRPr>
          </a:p>
        </p:txBody>
      </p:sp>
      <p:sp>
        <p:nvSpPr>
          <p:cNvPr id="15" name="Espace réservé du contenu 14"/>
          <p:cNvSpPr>
            <a:spLocks noGrp="1"/>
          </p:cNvSpPr>
          <p:nvPr>
            <p:ph idx="1"/>
          </p:nvPr>
        </p:nvSpPr>
        <p:spPr/>
        <p:txBody>
          <a:bodyPr>
            <a:noAutofit/>
          </a:bodyPr>
          <a:lstStyle/>
          <a:p>
            <a:pPr>
              <a:spcBef>
                <a:spcPts val="0"/>
              </a:spcBef>
              <a:buNone/>
            </a:pPr>
            <a:r>
              <a:rPr lang="fr-BE" sz="2200" b="1" dirty="0"/>
              <a:t>1. Le travail à l’étranger </a:t>
            </a:r>
            <a:r>
              <a:rPr lang="fr-BE" sz="2200" dirty="0"/>
              <a:t>					</a:t>
            </a:r>
            <a:r>
              <a:rPr lang="fr-BE" sz="1800" dirty="0" err="1"/>
              <a:t>pg</a:t>
            </a:r>
            <a:r>
              <a:rPr lang="fr-BE" sz="1800" dirty="0"/>
              <a:t>. 3</a:t>
            </a:r>
          </a:p>
          <a:p>
            <a:pPr marL="263525" indent="0">
              <a:spcBef>
                <a:spcPts val="0"/>
              </a:spcBef>
              <a:buNone/>
            </a:pPr>
            <a:r>
              <a:rPr lang="fr-BE" sz="1800" dirty="0"/>
              <a:t>1.1. Jours pris en considération</a:t>
            </a:r>
            <a:r>
              <a:rPr lang="fr-BE" sz="2000" dirty="0"/>
              <a:t>	</a:t>
            </a:r>
            <a:r>
              <a:rPr lang="fr-BE" sz="1800" dirty="0"/>
              <a:t>			                 	</a:t>
            </a:r>
            <a:r>
              <a:rPr lang="fr-BE" sz="1800" dirty="0" err="1"/>
              <a:t>pg</a:t>
            </a:r>
            <a:r>
              <a:rPr lang="fr-BE" sz="1800" dirty="0"/>
              <a:t>. 5</a:t>
            </a:r>
          </a:p>
          <a:p>
            <a:pPr marL="263525" indent="0">
              <a:spcBef>
                <a:spcPts val="0"/>
              </a:spcBef>
              <a:buNone/>
            </a:pPr>
            <a:r>
              <a:rPr lang="fr-BE" sz="1800" dirty="0"/>
              <a:t>1.2. Le régime d’indemnisation					</a:t>
            </a:r>
            <a:r>
              <a:rPr lang="fr-BE" sz="1800" dirty="0" err="1"/>
              <a:t>pg</a:t>
            </a:r>
            <a:r>
              <a:rPr lang="fr-BE" sz="1800" dirty="0"/>
              <a:t>. 17</a:t>
            </a:r>
          </a:p>
          <a:p>
            <a:pPr marL="263525" indent="0">
              <a:spcBef>
                <a:spcPts val="0"/>
              </a:spcBef>
              <a:buNone/>
            </a:pPr>
            <a:r>
              <a:rPr lang="fr-BE" sz="1800" dirty="0"/>
              <a:t>1.3. Le code chiffré						</a:t>
            </a:r>
            <a:r>
              <a:rPr lang="fr-BE" sz="1800" dirty="0" err="1"/>
              <a:t>pg</a:t>
            </a:r>
            <a:r>
              <a:rPr lang="fr-BE" sz="1800" dirty="0"/>
              <a:t>. 18</a:t>
            </a:r>
          </a:p>
          <a:p>
            <a:pPr marL="263525" indent="0">
              <a:spcBef>
                <a:spcPts val="0"/>
              </a:spcBef>
              <a:buNone/>
            </a:pPr>
            <a:r>
              <a:rPr lang="fr-BE" sz="1800" dirty="0"/>
              <a:t>1.4. Documents et suivi du dossier	</a:t>
            </a:r>
            <a:r>
              <a:rPr lang="fr-BE" sz="2200" dirty="0"/>
              <a:t>				</a:t>
            </a:r>
            <a:r>
              <a:rPr lang="fr-BE" sz="1800" dirty="0" err="1"/>
              <a:t>pg</a:t>
            </a:r>
            <a:r>
              <a:rPr lang="fr-BE" sz="1800" dirty="0"/>
              <a:t>. 19</a:t>
            </a:r>
          </a:p>
          <a:p>
            <a:pPr marL="263525" indent="0">
              <a:spcBef>
                <a:spcPts val="0"/>
              </a:spcBef>
              <a:buNone/>
            </a:pPr>
            <a:r>
              <a:rPr lang="fr-BE" sz="1800" dirty="0"/>
              <a:t>1.5. Nouvelle demande sans prestation</a:t>
            </a:r>
            <a:r>
              <a:rPr lang="fr-BE" sz="2000" dirty="0"/>
              <a:t>	</a:t>
            </a:r>
            <a:r>
              <a:rPr lang="fr-BE" sz="2200" dirty="0"/>
              <a:t>	</a:t>
            </a:r>
            <a:r>
              <a:rPr lang="fr-BE" sz="1800" dirty="0"/>
              <a:t>	                 </a:t>
            </a:r>
            <a:r>
              <a:rPr lang="fr-BE" sz="1800" dirty="0" err="1"/>
              <a:t>pg</a:t>
            </a:r>
            <a:r>
              <a:rPr lang="fr-BE" sz="1800" dirty="0"/>
              <a:t>. 26</a:t>
            </a:r>
          </a:p>
          <a:p>
            <a:pPr marL="263525" indent="0">
              <a:spcBef>
                <a:spcPts val="0"/>
              </a:spcBef>
              <a:buNone/>
            </a:pPr>
            <a:r>
              <a:rPr lang="fr-BE" sz="1800" dirty="0"/>
              <a:t>1.6. Nouvelle demande après prestation</a:t>
            </a:r>
            <a:r>
              <a:rPr lang="fr-BE" sz="2200" dirty="0"/>
              <a:t>	</a:t>
            </a:r>
            <a:r>
              <a:rPr lang="fr-BE" sz="1800" dirty="0"/>
              <a:t>	                   </a:t>
            </a:r>
            <a:r>
              <a:rPr lang="fr-BE" sz="1400" dirty="0"/>
              <a:t>	</a:t>
            </a:r>
            <a:r>
              <a:rPr lang="fr-BE" sz="1800" dirty="0" err="1"/>
              <a:t>pg</a:t>
            </a:r>
            <a:r>
              <a:rPr lang="fr-BE" sz="1800" dirty="0"/>
              <a:t>. 27</a:t>
            </a:r>
          </a:p>
          <a:p>
            <a:pPr marL="263525" indent="0">
              <a:spcBef>
                <a:spcPts val="0"/>
              </a:spcBef>
              <a:buNone/>
            </a:pPr>
            <a:r>
              <a:rPr lang="fr-BE" sz="1800" dirty="0"/>
              <a:t>1.7. Travail à l’étranger et vacances					</a:t>
            </a:r>
            <a:r>
              <a:rPr lang="fr-BE" sz="1800" dirty="0" err="1"/>
              <a:t>pg</a:t>
            </a:r>
            <a:r>
              <a:rPr lang="fr-BE" sz="1800" dirty="0"/>
              <a:t>. 28</a:t>
            </a:r>
          </a:p>
          <a:p>
            <a:pPr marL="0" indent="0">
              <a:spcBef>
                <a:spcPts val="0"/>
              </a:spcBef>
              <a:buNone/>
            </a:pPr>
            <a:endParaRPr lang="fr-BE" sz="1800" dirty="0"/>
          </a:p>
          <a:p>
            <a:pPr>
              <a:spcBef>
                <a:spcPts val="0"/>
              </a:spcBef>
              <a:buNone/>
            </a:pPr>
            <a:r>
              <a:rPr lang="fr-BE" sz="2200" b="1" dirty="0"/>
              <a:t>2. 	Droit aux allocation pour les travailleurs étrangers</a:t>
            </a:r>
            <a:r>
              <a:rPr lang="fr-BE" sz="2200" dirty="0"/>
              <a:t>		</a:t>
            </a:r>
            <a:r>
              <a:rPr lang="fr-BE" sz="1800" dirty="0" err="1"/>
              <a:t>pg</a:t>
            </a:r>
            <a:r>
              <a:rPr lang="fr-BE" sz="1800" dirty="0"/>
              <a:t>. 29</a:t>
            </a:r>
          </a:p>
          <a:p>
            <a:pPr>
              <a:spcBef>
                <a:spcPts val="0"/>
              </a:spcBef>
              <a:buNone/>
            </a:pPr>
            <a:r>
              <a:rPr lang="fr-BE" sz="1800" dirty="0"/>
              <a:t>	2.1. Préambule							</a:t>
            </a:r>
            <a:r>
              <a:rPr lang="fr-BE" sz="1800" dirty="0" err="1"/>
              <a:t>pg</a:t>
            </a:r>
            <a:r>
              <a:rPr lang="fr-BE" sz="1800" dirty="0"/>
              <a:t>. 30</a:t>
            </a:r>
          </a:p>
          <a:p>
            <a:pPr>
              <a:spcBef>
                <a:spcPts val="0"/>
              </a:spcBef>
              <a:buNone/>
            </a:pPr>
            <a:r>
              <a:rPr lang="fr-BE" sz="1800" dirty="0"/>
              <a:t>	2.2. Permis/Titres de séjour					</a:t>
            </a:r>
            <a:r>
              <a:rPr lang="fr-BE" sz="1800" dirty="0" err="1"/>
              <a:t>pg</a:t>
            </a:r>
            <a:r>
              <a:rPr lang="fr-BE" sz="1800" dirty="0"/>
              <a:t>. 31</a:t>
            </a:r>
          </a:p>
          <a:p>
            <a:pPr>
              <a:spcBef>
                <a:spcPts val="0"/>
              </a:spcBef>
              <a:buNone/>
            </a:pPr>
            <a:r>
              <a:rPr lang="fr-BE" sz="1800" dirty="0"/>
              <a:t>	2.3. Autorisation de travail					</a:t>
            </a:r>
            <a:r>
              <a:rPr lang="fr-BE" sz="1800" dirty="0" err="1"/>
              <a:t>pg</a:t>
            </a:r>
            <a:r>
              <a:rPr lang="fr-BE" sz="1800" dirty="0"/>
              <a:t>. 32</a:t>
            </a:r>
          </a:p>
          <a:p>
            <a:pPr>
              <a:spcBef>
                <a:spcPts val="0"/>
              </a:spcBef>
              <a:buNone/>
            </a:pPr>
            <a:r>
              <a:rPr lang="fr-BE" sz="1800" dirty="0"/>
              <a:t>	2.4. Procédure pratique et suivi					</a:t>
            </a:r>
            <a:r>
              <a:rPr lang="fr-BE" sz="1800" dirty="0" err="1"/>
              <a:t>pg</a:t>
            </a:r>
            <a:r>
              <a:rPr lang="fr-BE" sz="1800" dirty="0"/>
              <a:t>. 33</a:t>
            </a:r>
          </a:p>
          <a:p>
            <a:pPr>
              <a:spcBef>
                <a:spcPts val="0"/>
              </a:spcBef>
              <a:buNone/>
            </a:pPr>
            <a:r>
              <a:rPr lang="fr-BE" sz="1800" dirty="0"/>
              <a:t>	2.5. Indemnisation du travailleur étranger				</a:t>
            </a:r>
            <a:r>
              <a:rPr lang="fr-BE" sz="1800" dirty="0" err="1"/>
              <a:t>pg</a:t>
            </a:r>
            <a:r>
              <a:rPr lang="fr-BE" sz="1800" dirty="0"/>
              <a:t>. 37</a:t>
            </a:r>
          </a:p>
          <a:p>
            <a:pPr>
              <a:spcBef>
                <a:spcPts val="0"/>
              </a:spcBef>
              <a:buNone/>
            </a:pPr>
            <a:r>
              <a:rPr lang="fr-BE" sz="1800" dirty="0"/>
              <a:t>		</a:t>
            </a:r>
            <a:r>
              <a:rPr lang="fr-BE" sz="1400" dirty="0"/>
              <a:t>		</a:t>
            </a:r>
            <a:r>
              <a:rPr lang="fr-BE" sz="1800" dirty="0"/>
              <a:t>	</a:t>
            </a:r>
          </a:p>
          <a:p>
            <a:pPr>
              <a:buNone/>
            </a:pPr>
            <a:r>
              <a:rPr lang="fr-BE" sz="1800" dirty="0"/>
              <a:t>	</a:t>
            </a:r>
          </a:p>
          <a:p>
            <a:pPr>
              <a:buNone/>
            </a:pPr>
            <a:r>
              <a:rPr lang="fr-BE" sz="1800" dirty="0"/>
              <a:t>	</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a:t>
            </a:fld>
            <a:endParaRPr lang="fr-FR"/>
          </a:p>
        </p:txBody>
      </p:sp>
    </p:spTree>
    <p:extLst>
      <p:ext uri="{BB962C8B-B14F-4D97-AF65-F5344CB8AC3E}">
        <p14:creationId xmlns:p14="http://schemas.microsoft.com/office/powerpoint/2010/main" val="917422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p:cNvSpPr>
            <a:spLocks noGrp="1"/>
          </p:cNvSpPr>
          <p:nvPr>
            <p:ph type="title"/>
          </p:nvPr>
        </p:nvSpPr>
        <p:spPr/>
        <p:txBody>
          <a:bodyPr/>
          <a:lstStyle/>
          <a:p>
            <a:r>
              <a:rPr lang="fr-BE" b="1" i="1" dirty="0">
                <a:solidFill>
                  <a:srgbClr val="C00000"/>
                </a:solidFill>
              </a:rPr>
              <a:t>Table des matières</a:t>
            </a:r>
            <a:endParaRPr lang="fr-FR" b="1" i="1" dirty="0">
              <a:solidFill>
                <a:srgbClr val="C00000"/>
              </a:solidFill>
            </a:endParaRPr>
          </a:p>
        </p:txBody>
      </p:sp>
      <p:sp>
        <p:nvSpPr>
          <p:cNvPr id="15" name="Espace réservé du contenu 14"/>
          <p:cNvSpPr>
            <a:spLocks noGrp="1"/>
          </p:cNvSpPr>
          <p:nvPr>
            <p:ph idx="1"/>
          </p:nvPr>
        </p:nvSpPr>
        <p:spPr>
          <a:xfrm>
            <a:off x="457200" y="1412776"/>
            <a:ext cx="8229600" cy="4525963"/>
          </a:xfrm>
        </p:spPr>
        <p:txBody>
          <a:bodyPr>
            <a:noAutofit/>
          </a:bodyPr>
          <a:lstStyle/>
          <a:p>
            <a:pPr>
              <a:spcBef>
                <a:spcPts val="0"/>
              </a:spcBef>
              <a:buNone/>
            </a:pPr>
            <a:r>
              <a:rPr lang="fr-BE" sz="2200" b="1" dirty="0"/>
              <a:t>3. L’exportation des droits					</a:t>
            </a:r>
            <a:r>
              <a:rPr lang="fr-BE" sz="1800" dirty="0"/>
              <a:t>pg. 38</a:t>
            </a:r>
          </a:p>
          <a:p>
            <a:pPr marL="263525" indent="0">
              <a:spcBef>
                <a:spcPts val="0"/>
              </a:spcBef>
              <a:buNone/>
            </a:pPr>
            <a:r>
              <a:rPr lang="fr-BE" sz="1800" dirty="0"/>
              <a:t>3.1. Conditions							pg. 39</a:t>
            </a:r>
          </a:p>
          <a:p>
            <a:pPr marL="263525" indent="0">
              <a:spcBef>
                <a:spcPts val="0"/>
              </a:spcBef>
              <a:buNone/>
            </a:pPr>
            <a:r>
              <a:rPr lang="fr-BE" sz="1800" dirty="0"/>
              <a:t>3.2. Aperçu des régimes existants					pg. 40</a:t>
            </a:r>
          </a:p>
          <a:p>
            <a:pPr marL="263525" indent="0">
              <a:spcBef>
                <a:spcPts val="0"/>
              </a:spcBef>
              <a:buNone/>
            </a:pPr>
            <a:r>
              <a:rPr lang="fr-BE" sz="1800" dirty="0"/>
              <a:t>3.3. Le régime U2						</a:t>
            </a:r>
            <a:r>
              <a:rPr lang="fr-BE" sz="1800" dirty="0" err="1"/>
              <a:t>pg</a:t>
            </a:r>
            <a:r>
              <a:rPr lang="fr-BE" sz="1800" dirty="0"/>
              <a:t>. 41</a:t>
            </a:r>
          </a:p>
          <a:p>
            <a:pPr marL="263525" indent="0">
              <a:spcBef>
                <a:spcPts val="0"/>
              </a:spcBef>
              <a:buNone/>
            </a:pPr>
            <a:r>
              <a:rPr lang="fr-BE" sz="1800" dirty="0"/>
              <a:t>3.4. Le retour en Belgique						</a:t>
            </a:r>
            <a:r>
              <a:rPr lang="fr-BE" sz="1800" dirty="0" err="1"/>
              <a:t>pg</a:t>
            </a:r>
            <a:r>
              <a:rPr lang="fr-BE" sz="1800" dirty="0"/>
              <a:t>. 43</a:t>
            </a:r>
          </a:p>
          <a:p>
            <a:pPr marL="263525" indent="0">
              <a:spcBef>
                <a:spcPts val="0"/>
              </a:spcBef>
              <a:buNone/>
            </a:pPr>
            <a:endParaRPr lang="fr-BE" sz="1800" dirty="0"/>
          </a:p>
          <a:p>
            <a:pPr>
              <a:spcBef>
                <a:spcPts val="0"/>
              </a:spcBef>
              <a:buNone/>
            </a:pPr>
            <a:r>
              <a:rPr lang="fr-BE" sz="2200" b="1" dirty="0"/>
              <a:t>4. Frontalier: Chômage temporaire				</a:t>
            </a:r>
            <a:r>
              <a:rPr lang="fr-BE" sz="1800" dirty="0" err="1"/>
              <a:t>pg</a:t>
            </a:r>
            <a:r>
              <a:rPr lang="fr-BE" sz="1800" dirty="0"/>
              <a:t>. 44</a:t>
            </a:r>
          </a:p>
          <a:p>
            <a:pPr marL="263525" indent="0">
              <a:spcBef>
                <a:spcPts val="0"/>
              </a:spcBef>
              <a:buNone/>
            </a:pPr>
            <a:endParaRPr lang="fr-BE" sz="1800" dirty="0"/>
          </a:p>
          <a:p>
            <a:pPr>
              <a:spcBef>
                <a:spcPts val="0"/>
              </a:spcBef>
              <a:buNone/>
            </a:pPr>
            <a:r>
              <a:rPr lang="fr-BE" sz="1800" dirty="0"/>
              <a:t>			</a:t>
            </a:r>
            <a:endParaRPr lang="fr-BE" sz="2200" dirty="0"/>
          </a:p>
          <a:p>
            <a:pPr>
              <a:buNone/>
            </a:pPr>
            <a:r>
              <a:rPr lang="fr-BE" sz="2200" dirty="0"/>
              <a:t>		</a:t>
            </a:r>
            <a:endParaRPr lang="fr-BE" sz="1800" dirty="0"/>
          </a:p>
          <a:p>
            <a:pPr>
              <a:buNone/>
            </a:pPr>
            <a:r>
              <a:rPr lang="fr-BE" sz="1800" dirty="0"/>
              <a:t>	</a:t>
            </a:r>
          </a:p>
          <a:p>
            <a:pPr>
              <a:buNone/>
            </a:pPr>
            <a:r>
              <a:rPr lang="fr-BE" sz="1800" dirty="0"/>
              <a:t>	</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a:t>
            </a:fld>
            <a:endParaRPr lang="fr-FR"/>
          </a:p>
        </p:txBody>
      </p:sp>
    </p:spTree>
    <p:extLst>
      <p:ext uri="{BB962C8B-B14F-4D97-AF65-F5344CB8AC3E}">
        <p14:creationId xmlns:p14="http://schemas.microsoft.com/office/powerpoint/2010/main" val="1514432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a:bodyPr>
          <a:lstStyle/>
          <a:p>
            <a:pPr algn="r"/>
            <a:r>
              <a:rPr lang="fr-BE" b="1" i="1" dirty="0"/>
              <a:t>1.  Le travail à l’étranger </a:t>
            </a:r>
            <a:endParaRPr lang="fr-FR" b="1" i="1" dirty="0"/>
          </a:p>
        </p:txBody>
      </p:sp>
      <p:sp>
        <p:nvSpPr>
          <p:cNvPr id="14339" name="Rectangle 3"/>
          <p:cNvSpPr>
            <a:spLocks noGrp="1" noChangeArrowheads="1"/>
          </p:cNvSpPr>
          <p:nvPr>
            <p:ph type="body" idx="1"/>
          </p:nvPr>
        </p:nvSpPr>
        <p:spPr/>
        <p:txBody>
          <a:bodyPr/>
          <a:lstStyle/>
          <a:p>
            <a:endParaRPr lang="fr-BE" dirty="0"/>
          </a:p>
          <a:p>
            <a:endParaRPr lang="fr-FR"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a:t>
            </a:fld>
            <a:endParaRPr lang="fr-FR"/>
          </a:p>
        </p:txBody>
      </p:sp>
      <p:pic>
        <p:nvPicPr>
          <p:cNvPr id="7" name="Espace réservé du contenu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125" y="1731962"/>
            <a:ext cx="7143750" cy="4310063"/>
          </a:xfrm>
          <a:prstGeom prst="rect">
            <a:avLst/>
          </a:prstGeom>
        </p:spPr>
      </p:pic>
    </p:spTree>
    <p:extLst>
      <p:ext uri="{BB962C8B-B14F-4D97-AF65-F5344CB8AC3E}">
        <p14:creationId xmlns:p14="http://schemas.microsoft.com/office/powerpoint/2010/main" val="3491189320"/>
      </p:ext>
    </p:extLst>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lgn="r"/>
            <a:r>
              <a:rPr lang="fr-BE" b="1" i="1" dirty="0"/>
              <a:t>1. Le travail à l’étranger</a:t>
            </a:r>
            <a:endParaRPr lang="fr-FR" b="1" i="1" dirty="0"/>
          </a:p>
        </p:txBody>
      </p:sp>
      <p:sp>
        <p:nvSpPr>
          <p:cNvPr id="5123" name="Rectangle 3"/>
          <p:cNvSpPr>
            <a:spLocks noGrp="1" noChangeArrowheads="1"/>
          </p:cNvSpPr>
          <p:nvPr>
            <p:ph type="body" idx="1"/>
          </p:nvPr>
        </p:nvSpPr>
        <p:spPr/>
        <p:txBody>
          <a:bodyPr/>
          <a:lstStyle/>
          <a:p>
            <a:pPr>
              <a:buNone/>
            </a:pPr>
            <a:endParaRPr lang="fr-BE" dirty="0"/>
          </a:p>
          <a:p>
            <a:pPr>
              <a:buClr>
                <a:schemeClr val="tx1"/>
              </a:buClr>
              <a:buFont typeface="Wingdings" pitchFamily="2" charset="2"/>
              <a:buChar char="ü"/>
            </a:pPr>
            <a:r>
              <a:rPr lang="fr-BE" dirty="0"/>
              <a:t>En cas de première demande;</a:t>
            </a:r>
          </a:p>
          <a:p>
            <a:pPr marL="514350" indent="-514350">
              <a:buClr>
                <a:schemeClr val="tx1"/>
              </a:buClr>
              <a:buNone/>
            </a:pPr>
            <a:endParaRPr lang="fr-BE" dirty="0"/>
          </a:p>
          <a:p>
            <a:pPr>
              <a:buClr>
                <a:schemeClr val="tx1"/>
              </a:buClr>
              <a:buFont typeface="Wingdings" pitchFamily="2" charset="2"/>
              <a:buChar char="ü"/>
            </a:pPr>
            <a:r>
              <a:rPr lang="fr-BE" dirty="0"/>
              <a:t>En cas de nouvelle demande sans prestations;</a:t>
            </a:r>
          </a:p>
          <a:p>
            <a:pPr>
              <a:buClr>
                <a:schemeClr val="tx1"/>
              </a:buClr>
              <a:buNone/>
            </a:pPr>
            <a:endParaRPr lang="fr-BE" dirty="0"/>
          </a:p>
          <a:p>
            <a:pPr>
              <a:buClr>
                <a:schemeClr val="tx1"/>
              </a:buClr>
              <a:buFont typeface="Wingdings" pitchFamily="2" charset="2"/>
              <a:buChar char="ü"/>
            </a:pPr>
            <a:r>
              <a:rPr lang="fr-BE" dirty="0"/>
              <a:t>En cas de nouvelle demande avec prestations;</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a:t>
            </a:fld>
            <a:endParaRPr lang="fr-FR"/>
          </a:p>
        </p:txBody>
      </p:sp>
    </p:spTree>
    <p:extLst>
      <p:ext uri="{BB962C8B-B14F-4D97-AF65-F5344CB8AC3E}">
        <p14:creationId xmlns:p14="http://schemas.microsoft.com/office/powerpoint/2010/main" val="2647220554"/>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fade">
                                      <p:cBhvr>
                                        <p:cTn id="7" dur="1000"/>
                                        <p:tgtEl>
                                          <p:spTgt spid="51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3">
                                            <p:txEl>
                                              <p:pRg st="3" end="3"/>
                                            </p:txEl>
                                          </p:spTgt>
                                        </p:tgtEl>
                                        <p:attrNameLst>
                                          <p:attrName>style.visibility</p:attrName>
                                        </p:attrNameLst>
                                      </p:cBhvr>
                                      <p:to>
                                        <p:strVal val="visible"/>
                                      </p:to>
                                    </p:set>
                                    <p:animEffect transition="in" filter="fade">
                                      <p:cBhvr>
                                        <p:cTn id="12" dur="1000"/>
                                        <p:tgtEl>
                                          <p:spTgt spid="512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23">
                                            <p:txEl>
                                              <p:pRg st="5" end="5"/>
                                            </p:txEl>
                                          </p:spTgt>
                                        </p:tgtEl>
                                        <p:attrNameLst>
                                          <p:attrName>style.visibility</p:attrName>
                                        </p:attrNameLst>
                                      </p:cBhvr>
                                      <p:to>
                                        <p:strVal val="visible"/>
                                      </p:to>
                                    </p:set>
                                    <p:animEffect transition="in" filter="fade">
                                      <p:cBhvr>
                                        <p:cTn id="17" dur="1000"/>
                                        <p:tgtEl>
                                          <p:spTgt spid="51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pPr algn="r"/>
            <a:r>
              <a:rPr lang="fr-BE" b="1" i="1" dirty="0"/>
              <a:t>1.1 Jours pris en considération</a:t>
            </a:r>
            <a:endParaRPr lang="fr-FR" b="1" i="1" dirty="0"/>
          </a:p>
        </p:txBody>
      </p:sp>
      <p:sp>
        <p:nvSpPr>
          <p:cNvPr id="7171" name="Rectangle 3"/>
          <p:cNvSpPr>
            <a:spLocks noGrp="1" noChangeArrowheads="1"/>
          </p:cNvSpPr>
          <p:nvPr>
            <p:ph type="body" idx="1"/>
          </p:nvPr>
        </p:nvSpPr>
        <p:spPr/>
        <p:txBody>
          <a:bodyPr>
            <a:normAutofit lnSpcReduction="10000"/>
          </a:bodyPr>
          <a:lstStyle/>
          <a:p>
            <a:pPr marL="0" indent="0">
              <a:buClr>
                <a:schemeClr val="tx1"/>
              </a:buClr>
              <a:buNone/>
            </a:pPr>
            <a:r>
              <a:rPr lang="fr-BE" sz="2800" dirty="0">
                <a:ea typeface="Times New Roman" panose="02020603050405020304" pitchFamily="18" charset="0"/>
              </a:rPr>
              <a:t>Le </a:t>
            </a:r>
            <a:r>
              <a:rPr lang="fr-BE" sz="2800" b="1" u="sng" dirty="0">
                <a:ea typeface="Times New Roman" panose="02020603050405020304" pitchFamily="18" charset="0"/>
              </a:rPr>
              <a:t>travail</a:t>
            </a:r>
            <a:r>
              <a:rPr lang="fr-BE" sz="2800" dirty="0">
                <a:ea typeface="Times New Roman" panose="02020603050405020304" pitchFamily="18" charset="0"/>
              </a:rPr>
              <a:t> effectué à l'étranger et </a:t>
            </a:r>
            <a:r>
              <a:rPr lang="fr-BE" sz="2800" b="1" u="sng" dirty="0">
                <a:ea typeface="Times New Roman" panose="02020603050405020304" pitchFamily="18" charset="0"/>
              </a:rPr>
              <a:t>les journées assimilées </a:t>
            </a:r>
            <a:r>
              <a:rPr lang="fr-BE" sz="2800" dirty="0">
                <a:ea typeface="Times New Roman" panose="02020603050405020304" pitchFamily="18" charset="0"/>
              </a:rPr>
              <a:t>à l’étranger </a:t>
            </a:r>
            <a:r>
              <a:rPr lang="fr-BE" sz="2800" b="1" u="sng" dirty="0">
                <a:ea typeface="Times New Roman" panose="02020603050405020304" pitchFamily="18" charset="0"/>
              </a:rPr>
              <a:t>ne sont pris en considération que dans les limites des conventions bilatérales et internationales</a:t>
            </a:r>
            <a:r>
              <a:rPr lang="fr-BE" sz="2800" dirty="0">
                <a:ea typeface="Times New Roman" panose="02020603050405020304" pitchFamily="18" charset="0"/>
              </a:rPr>
              <a:t>  et pour autant que le travailleur ait, </a:t>
            </a:r>
            <a:r>
              <a:rPr lang="fr-BE" sz="2800" b="1" u="sng" dirty="0">
                <a:ea typeface="Times New Roman" panose="02020603050405020304" pitchFamily="18" charset="0"/>
              </a:rPr>
              <a:t>après le travail effectué à l'étranger</a:t>
            </a:r>
            <a:r>
              <a:rPr lang="fr-BE" sz="2800" dirty="0">
                <a:ea typeface="Times New Roman" panose="02020603050405020304" pitchFamily="18" charset="0"/>
              </a:rPr>
              <a:t>, accompli des périodes de </a:t>
            </a:r>
            <a:r>
              <a:rPr lang="fr-BE" sz="2800" b="1" u="sng" dirty="0">
                <a:ea typeface="Times New Roman" panose="02020603050405020304" pitchFamily="18" charset="0"/>
              </a:rPr>
              <a:t>travail comme salarié selon la réglementation belge, pendant au moins trois mois</a:t>
            </a:r>
            <a:r>
              <a:rPr lang="fr-BE" sz="2800" dirty="0">
                <a:ea typeface="Times New Roman" panose="02020603050405020304" pitchFamily="18" charset="0"/>
              </a:rPr>
              <a:t> </a:t>
            </a:r>
            <a:r>
              <a:rPr lang="fr-BE" sz="2800" dirty="0"/>
              <a:t>(AR 37§2 et 38§2) </a:t>
            </a:r>
          </a:p>
          <a:p>
            <a:pPr marL="0" indent="0">
              <a:buClr>
                <a:schemeClr val="tx1"/>
              </a:buClr>
              <a:buNone/>
            </a:pPr>
            <a:endParaRPr lang="fr-BE" sz="2800" dirty="0"/>
          </a:p>
          <a:p>
            <a:pPr marL="0" indent="0">
              <a:buClr>
                <a:schemeClr val="tx1"/>
              </a:buClr>
              <a:buNone/>
            </a:pPr>
            <a:r>
              <a:rPr lang="fr-BE" sz="2800" dirty="0">
                <a:sym typeface="Wingdings" panose="05000000000000000000" pitchFamily="2" charset="2"/>
              </a:rPr>
              <a:t></a:t>
            </a:r>
            <a:r>
              <a:rPr lang="fr-BE" sz="2800" b="1" dirty="0">
                <a:sym typeface="Wingdings" panose="05000000000000000000" pitchFamily="2" charset="2"/>
              </a:rPr>
              <a:t>2 conditions: </a:t>
            </a:r>
            <a:r>
              <a:rPr lang="fr-BE" sz="2800" b="1" dirty="0">
                <a:solidFill>
                  <a:srgbClr val="C00000"/>
                </a:solidFill>
                <a:sym typeface="Wingdings" panose="05000000000000000000" pitchFamily="2" charset="2"/>
              </a:rPr>
              <a:t>« être situé dans un pays partie à convention »</a:t>
            </a:r>
            <a:r>
              <a:rPr lang="fr-BE" sz="2800" dirty="0">
                <a:solidFill>
                  <a:srgbClr val="FF0000"/>
                </a:solidFill>
                <a:sym typeface="Wingdings" panose="05000000000000000000" pitchFamily="2" charset="2"/>
              </a:rPr>
              <a:t> </a:t>
            </a:r>
            <a:r>
              <a:rPr lang="fr-BE" sz="2800" dirty="0">
                <a:sym typeface="Wingdings" panose="05000000000000000000" pitchFamily="2" charset="2"/>
              </a:rPr>
              <a:t>et </a:t>
            </a:r>
            <a:r>
              <a:rPr lang="fr-BE" sz="2800" b="1" dirty="0">
                <a:solidFill>
                  <a:srgbClr val="C00000"/>
                </a:solidFill>
                <a:sym typeface="Wingdings" panose="05000000000000000000" pitchFamily="2" charset="2"/>
              </a:rPr>
              <a:t>« suivi d’au moins 3 mois de travail » </a:t>
            </a:r>
            <a:endParaRPr lang="fr-BE" sz="2800" b="1" dirty="0">
              <a:solidFill>
                <a:srgbClr val="C00000"/>
              </a:solidFill>
            </a:endParaRPr>
          </a:p>
          <a:p>
            <a:pPr>
              <a:buClr>
                <a:schemeClr val="tx1"/>
              </a:buClr>
            </a:pPr>
            <a:endParaRPr lang="fr-BE" dirty="0"/>
          </a:p>
          <a:p>
            <a:pPr marL="0" indent="0">
              <a:buNone/>
            </a:pPr>
            <a:endParaRPr lang="fr-FR" sz="28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5</a:t>
            </a:fld>
            <a:endParaRPr lang="fr-FR"/>
          </a:p>
        </p:txBody>
      </p:sp>
    </p:spTree>
    <p:extLst>
      <p:ext uri="{BB962C8B-B14F-4D97-AF65-F5344CB8AC3E}">
        <p14:creationId xmlns:p14="http://schemas.microsoft.com/office/powerpoint/2010/main" val="167193902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fade">
                                      <p:cBhvr>
                                        <p:cTn id="7" dur="10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71">
                                            <p:txEl>
                                              <p:pRg st="2" end="2"/>
                                            </p:txEl>
                                          </p:spTgt>
                                        </p:tgtEl>
                                        <p:attrNameLst>
                                          <p:attrName>style.visibility</p:attrName>
                                        </p:attrNameLst>
                                      </p:cBhvr>
                                      <p:to>
                                        <p:strVal val="visible"/>
                                      </p:to>
                                    </p:set>
                                    <p:animEffect transition="in" filter="fade">
                                      <p:cBhvr>
                                        <p:cTn id="12" dur="1000"/>
                                        <p:tgtEl>
                                          <p:spTgt spid="71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dirty="0"/>
          </a:p>
        </p:txBody>
      </p:sp>
      <p:sp>
        <p:nvSpPr>
          <p:cNvPr id="3" name="Espace réservé du contenu 2"/>
          <p:cNvSpPr>
            <a:spLocks noGrp="1"/>
          </p:cNvSpPr>
          <p:nvPr>
            <p:ph idx="1"/>
          </p:nvPr>
        </p:nvSpPr>
        <p:spPr/>
        <p:txBody>
          <a:bodyPr/>
          <a:lstStyle/>
          <a:p>
            <a:r>
              <a:rPr lang="fr-BE" dirty="0"/>
              <a:t>1</a:t>
            </a:r>
            <a:r>
              <a:rPr lang="fr-BE" baseline="30000" dirty="0"/>
              <a:t>ère</a:t>
            </a:r>
            <a:r>
              <a:rPr lang="fr-BE" dirty="0"/>
              <a:t> condition</a:t>
            </a:r>
            <a:r>
              <a:rPr lang="fr-BE" b="1" dirty="0">
                <a:solidFill>
                  <a:srgbClr val="C00000"/>
                </a:solidFill>
              </a:rPr>
              <a:t>: « être situé dans un  pays partie à convention »</a:t>
            </a:r>
          </a:p>
          <a:p>
            <a:pPr lvl="2">
              <a:buFont typeface="Wingdings" panose="05000000000000000000" pitchFamily="2" charset="2"/>
              <a:buChar char="v"/>
            </a:pPr>
            <a:r>
              <a:rPr lang="fr-BE" sz="2800" dirty="0"/>
              <a:t>Définition:</a:t>
            </a:r>
          </a:p>
          <a:p>
            <a:pPr lvl="3">
              <a:buFont typeface="Wingdings" panose="05000000000000000000" pitchFamily="2" charset="2"/>
              <a:buChar char="Ø"/>
            </a:pPr>
            <a:r>
              <a:rPr lang="fr-BE" sz="2400" b="1" dirty="0"/>
              <a:t>« Pays partie à convention »</a:t>
            </a:r>
            <a:r>
              <a:rPr lang="fr-BE" sz="2400" dirty="0"/>
              <a:t>=pays avec lesquels la Belgique a conclu un accord en vertu duquel les périodes prestées sont (réciproquement) prises en compte pour l'assurance chômage.</a:t>
            </a:r>
          </a:p>
          <a:p>
            <a:pPr lvl="3">
              <a:buFont typeface="Wingdings" panose="05000000000000000000" pitchFamily="2" charset="2"/>
              <a:buChar char="Ø"/>
            </a:pPr>
            <a:r>
              <a:rPr lang="fr-BE" sz="2400" b="1" dirty="0"/>
              <a:t>« être situé »</a:t>
            </a:r>
            <a:r>
              <a:rPr lang="fr-BE" sz="2400" dirty="0"/>
              <a:t>=être assujetti au régime de sécurité sociale du pays concerné</a:t>
            </a:r>
          </a:p>
          <a:p>
            <a:pPr marL="363538" lvl="3" indent="0">
              <a:buNone/>
            </a:pPr>
            <a:endParaRPr lang="fr-BE" dirty="0"/>
          </a:p>
          <a:p>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6</a:t>
            </a:fld>
            <a:endParaRPr lang="fr-FR"/>
          </a:p>
        </p:txBody>
      </p:sp>
    </p:spTree>
    <p:extLst>
      <p:ext uri="{BB962C8B-B14F-4D97-AF65-F5344CB8AC3E}">
        <p14:creationId xmlns:p14="http://schemas.microsoft.com/office/powerpoint/2010/main" val="112893607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dirty="0"/>
          </a:p>
        </p:txBody>
      </p:sp>
      <p:sp>
        <p:nvSpPr>
          <p:cNvPr id="3" name="Espace réservé du contenu 2"/>
          <p:cNvSpPr>
            <a:spLocks noGrp="1"/>
          </p:cNvSpPr>
          <p:nvPr>
            <p:ph idx="1"/>
          </p:nvPr>
        </p:nvSpPr>
        <p:spPr/>
        <p:txBody>
          <a:bodyPr>
            <a:normAutofit fontScale="85000" lnSpcReduction="20000"/>
          </a:bodyPr>
          <a:lstStyle/>
          <a:p>
            <a:pPr marL="457200" lvl="2" indent="-457200">
              <a:buFont typeface="Wingdings" panose="05000000000000000000" pitchFamily="2" charset="2"/>
              <a:buChar char="v"/>
            </a:pPr>
            <a:r>
              <a:rPr lang="fr-BE" sz="3000" b="1" u="sng" dirty="0"/>
              <a:t>Implications:</a:t>
            </a:r>
          </a:p>
          <a:p>
            <a:pPr marL="1082675" lvl="3">
              <a:buFont typeface="Wingdings" panose="05000000000000000000" pitchFamily="2" charset="2"/>
              <a:buChar char="Ø"/>
            </a:pPr>
            <a:r>
              <a:rPr lang="fr-BE" sz="2500" dirty="0"/>
              <a:t>Prestations effectuées dans un pays pour lequel </a:t>
            </a:r>
            <a:r>
              <a:rPr lang="fr-BE" sz="2500" b="1" dirty="0"/>
              <a:t>aucune convention</a:t>
            </a:r>
            <a:r>
              <a:rPr lang="fr-BE" sz="2500" dirty="0"/>
              <a:t> n’existe ne sont </a:t>
            </a:r>
            <a:r>
              <a:rPr lang="fr-BE" sz="2500" b="1" dirty="0"/>
              <a:t>jamais prises en compte</a:t>
            </a:r>
            <a:r>
              <a:rPr lang="fr-BE" sz="2500" dirty="0"/>
              <a:t> comme journées de travail ou journées assimilées</a:t>
            </a:r>
          </a:p>
          <a:p>
            <a:pPr marL="1371600" lvl="3" indent="0">
              <a:buNone/>
            </a:pPr>
            <a:endParaRPr lang="fr-BE" sz="2500" dirty="0"/>
          </a:p>
          <a:p>
            <a:pPr marL="1082675" lvl="3">
              <a:buFont typeface="Wingdings" panose="05000000000000000000" pitchFamily="2" charset="2"/>
              <a:buChar char="Ø"/>
            </a:pPr>
            <a:r>
              <a:rPr lang="fr-BE" sz="2500" dirty="0"/>
              <a:t>Les périodes de travail ou les périodes assimilées dans un pays partie à convention sont prises en compte si elles sont </a:t>
            </a:r>
            <a:r>
              <a:rPr lang="fr-BE" sz="2500" b="1" dirty="0"/>
              <a:t>considérées comme « période d’assurance » </a:t>
            </a:r>
            <a:r>
              <a:rPr lang="fr-BE" sz="2500" dirty="0"/>
              <a:t>par le pays dans lequel elles ont eu lieu et varient en fonction de ce que les conventions prévoient</a:t>
            </a:r>
          </a:p>
          <a:p>
            <a:pPr marL="0" indent="0">
              <a:buClr>
                <a:schemeClr val="tx1"/>
              </a:buClr>
              <a:buNone/>
            </a:pPr>
            <a:endParaRPr lang="fr-FR" sz="2500" dirty="0"/>
          </a:p>
          <a:p>
            <a:pPr marL="0" indent="0">
              <a:buClr>
                <a:schemeClr val="tx1"/>
              </a:buClr>
              <a:buNone/>
            </a:pPr>
            <a:r>
              <a:rPr lang="fr-FR" sz="2500" dirty="0">
                <a:sym typeface="Wingdings" panose="05000000000000000000" pitchFamily="2" charset="2"/>
              </a:rPr>
              <a:t>	 </a:t>
            </a:r>
            <a:r>
              <a:rPr lang="fr-FR" sz="2500" dirty="0"/>
              <a:t>Cela implique des </a:t>
            </a:r>
            <a:r>
              <a:rPr lang="fr-FR" sz="2500" b="1" dirty="0"/>
              <a:t>restrictions</a:t>
            </a:r>
            <a:r>
              <a:rPr lang="fr-FR" sz="2500" dirty="0"/>
              <a:t> en fonction:</a:t>
            </a:r>
          </a:p>
          <a:p>
            <a:pPr marL="1624013" lvl="5">
              <a:buClr>
                <a:schemeClr val="tx1"/>
              </a:buClr>
              <a:buFont typeface="Wingdings" pitchFamily="2" charset="2"/>
              <a:buChar char="§"/>
            </a:pPr>
            <a:r>
              <a:rPr lang="fr-FR" sz="2500" dirty="0"/>
              <a:t>De la </a:t>
            </a:r>
            <a:r>
              <a:rPr lang="fr-FR" sz="2500" b="1" dirty="0">
                <a:solidFill>
                  <a:srgbClr val="C00000"/>
                </a:solidFill>
              </a:rPr>
              <a:t>nationalité</a:t>
            </a:r>
            <a:r>
              <a:rPr lang="fr-FR" sz="2500" dirty="0"/>
              <a:t> de l’intéressé ;</a:t>
            </a:r>
          </a:p>
          <a:p>
            <a:pPr marL="1624013" lvl="5">
              <a:buClr>
                <a:schemeClr val="tx1"/>
              </a:buClr>
              <a:buFont typeface="Wingdings" pitchFamily="2" charset="2"/>
              <a:buChar char="§"/>
            </a:pPr>
            <a:r>
              <a:rPr lang="fr-BE" sz="2500" dirty="0"/>
              <a:t>Du </a:t>
            </a:r>
            <a:r>
              <a:rPr lang="fr-BE" sz="2500" b="1" dirty="0">
                <a:solidFill>
                  <a:srgbClr val="C00000"/>
                </a:solidFill>
              </a:rPr>
              <a:t>pays de prestation</a:t>
            </a:r>
            <a:endParaRPr lang="fr-BE" sz="2400" b="1" dirty="0">
              <a:solidFill>
                <a:srgbClr val="C00000"/>
              </a:solidFill>
            </a:endParaRP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7</a:t>
            </a:fld>
            <a:endParaRPr lang="fr-FR"/>
          </a:p>
        </p:txBody>
      </p:sp>
    </p:spTree>
    <p:extLst>
      <p:ext uri="{BB962C8B-B14F-4D97-AF65-F5344CB8AC3E}">
        <p14:creationId xmlns:p14="http://schemas.microsoft.com/office/powerpoint/2010/main" val="223792198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10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10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dirty="0"/>
          </a:p>
        </p:txBody>
      </p:sp>
      <p:sp>
        <p:nvSpPr>
          <p:cNvPr id="3" name="Espace réservé du contenu 2"/>
          <p:cNvSpPr>
            <a:spLocks noGrp="1"/>
          </p:cNvSpPr>
          <p:nvPr>
            <p:ph idx="1"/>
          </p:nvPr>
        </p:nvSpPr>
        <p:spPr/>
        <p:txBody>
          <a:bodyPr>
            <a:normAutofit/>
          </a:bodyPr>
          <a:lstStyle/>
          <a:p>
            <a:pPr lvl="1">
              <a:buFont typeface="Wingdings" panose="05000000000000000000" pitchFamily="2" charset="2"/>
              <a:buChar char="v"/>
            </a:pPr>
            <a:r>
              <a:rPr lang="fr-BE" dirty="0"/>
              <a:t>Liste des pays partie à convention:</a:t>
            </a:r>
          </a:p>
          <a:p>
            <a:pPr lvl="2">
              <a:buFont typeface="Wingdings" panose="05000000000000000000" pitchFamily="2" charset="2"/>
              <a:buChar char="Ø"/>
            </a:pPr>
            <a:r>
              <a:rPr lang="fr-BE" u="sng" dirty="0"/>
              <a:t>Espace Economique </a:t>
            </a:r>
            <a:r>
              <a:rPr lang="fr-BE" u="sng" dirty="0" err="1"/>
              <a:t>Europée</a:t>
            </a:r>
            <a:r>
              <a:rPr lang="fr-BE" u="sng" dirty="0"/>
              <a:t> (EEE</a:t>
            </a:r>
            <a:r>
              <a:rPr lang="fr-BE" dirty="0"/>
              <a:t>):</a:t>
            </a:r>
          </a:p>
          <a:p>
            <a:pPr marL="1165225" lvl="2" indent="12700" defTabSz="901700">
              <a:buNone/>
            </a:pPr>
            <a:r>
              <a:rPr lang="fr-BE" b="1" dirty="0" err="1">
                <a:solidFill>
                  <a:srgbClr val="C00000"/>
                </a:solidFill>
              </a:rPr>
              <a:t>UE+Islande</a:t>
            </a:r>
            <a:r>
              <a:rPr lang="fr-BE" b="1" dirty="0">
                <a:solidFill>
                  <a:srgbClr val="C00000"/>
                </a:solidFill>
              </a:rPr>
              <a:t>, Liechtenstein, Norvège</a:t>
            </a:r>
          </a:p>
          <a:p>
            <a:pPr marL="1165225" lvl="2" indent="12700" defTabSz="901700">
              <a:buNone/>
            </a:pPr>
            <a:r>
              <a:rPr lang="fr-BE" sz="1800" dirty="0"/>
              <a:t>(UE=Allemagne, Autriche, Belgique, Bulgarie, Chypre, Croatie, Danemark, Espagne, Estonie, Finlande, France, Grèce, Hongrie, Irlande, Italie, Lettonie, Lituanie, Luxembourg, Malte, Pays-Bas, Pologne, Portugal, Roumanie, Slovaquie, Slovénie, Suède , Tchéquie)</a:t>
            </a:r>
          </a:p>
          <a:p>
            <a:pPr marL="1165225" lvl="2" indent="-363538" defTabSz="901700">
              <a:buFont typeface="Wingdings" panose="05000000000000000000" pitchFamily="2" charset="2"/>
              <a:buChar char="Ø"/>
              <a:tabLst>
                <a:tab pos="1165225" algn="l"/>
              </a:tabLst>
            </a:pPr>
            <a:r>
              <a:rPr lang="fr-BE" u="sng" dirty="0"/>
              <a:t>Autres pays</a:t>
            </a:r>
            <a:r>
              <a:rPr lang="fr-BE" dirty="0"/>
              <a:t>:</a:t>
            </a:r>
          </a:p>
          <a:p>
            <a:pPr marL="1165225" lvl="2" indent="0" defTabSz="901700">
              <a:buNone/>
              <a:tabLst>
                <a:tab pos="1165225" algn="l"/>
              </a:tabLst>
            </a:pPr>
            <a:r>
              <a:rPr lang="fr-BE" b="1" dirty="0">
                <a:solidFill>
                  <a:srgbClr val="C00000"/>
                </a:solidFill>
              </a:rPr>
              <a:t>Algérie, ARY de Macédoine, Bosnie-Herzégovine, Monténégro, Royaume-Uni </a:t>
            </a:r>
            <a:r>
              <a:rPr lang="fr-BE" sz="1600" i="1" dirty="0">
                <a:solidFill>
                  <a:srgbClr val="C00000"/>
                </a:solidFill>
              </a:rPr>
              <a:t>(suite Brexit)</a:t>
            </a:r>
            <a:r>
              <a:rPr lang="fr-BE" b="1" i="1" dirty="0">
                <a:solidFill>
                  <a:srgbClr val="C00000"/>
                </a:solidFill>
              </a:rPr>
              <a:t>,</a:t>
            </a:r>
            <a:r>
              <a:rPr lang="fr-BE" b="1" dirty="0">
                <a:solidFill>
                  <a:srgbClr val="C00000"/>
                </a:solidFill>
              </a:rPr>
              <a:t> Saint-Marin, Suisse, Tunisie, Turquie</a:t>
            </a:r>
          </a:p>
          <a:p>
            <a:pPr marL="1165225" lvl="2" indent="12700" defTabSz="901700">
              <a:buNone/>
            </a:pPr>
            <a:endParaRPr lang="fr-BE" sz="1800" dirty="0"/>
          </a:p>
          <a:p>
            <a:pPr marL="1165225" lvl="2" indent="12700" defTabSz="901700">
              <a:buNone/>
            </a:pPr>
            <a:endParaRPr lang="fr-BE" dirty="0"/>
          </a:p>
          <a:p>
            <a:pPr lvl="2">
              <a:buFont typeface="Wingdings" panose="05000000000000000000" pitchFamily="2" charset="2"/>
              <a:buChar char="Ø"/>
            </a:pPr>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8</a:t>
            </a:fld>
            <a:endParaRPr lang="fr-FR"/>
          </a:p>
        </p:txBody>
      </p:sp>
    </p:spTree>
    <p:extLst>
      <p:ext uri="{BB962C8B-B14F-4D97-AF65-F5344CB8AC3E}">
        <p14:creationId xmlns:p14="http://schemas.microsoft.com/office/powerpoint/2010/main" val="197735780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1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838297"/>
          </a:xfrm>
        </p:spPr>
        <p:txBody>
          <a:bodyPr>
            <a:normAutofit/>
          </a:bodyPr>
          <a:lstStyle/>
          <a:p>
            <a:pPr algn="r"/>
            <a:r>
              <a:rPr lang="fr-BE" b="1" i="1" dirty="0">
                <a:solidFill>
                  <a:prstClr val="black"/>
                </a:solidFill>
              </a:rPr>
              <a:t>1.1. Jours pris en considération</a:t>
            </a:r>
            <a:endParaRPr lang="fr-BE" dirty="0"/>
          </a:p>
        </p:txBody>
      </p:sp>
      <p:graphicFrame>
        <p:nvGraphicFramePr>
          <p:cNvPr id="6" name="Espace réservé du contenu 5"/>
          <p:cNvGraphicFramePr>
            <a:graphicFrameLocks noGrp="1"/>
          </p:cNvGraphicFramePr>
          <p:nvPr>
            <p:ph idx="1"/>
          </p:nvPr>
        </p:nvGraphicFramePr>
        <p:xfrm>
          <a:off x="457200" y="1268760"/>
          <a:ext cx="8229600" cy="4632762"/>
        </p:xfrm>
        <a:graphic>
          <a:graphicData uri="http://schemas.openxmlformats.org/drawingml/2006/table">
            <a:tbl>
              <a:tblPr firstRow="1" bandRow="1">
                <a:tableStyleId>{F5AB1C69-6EDB-4FF4-983F-18BD219EF322}</a:tableStyleId>
              </a:tblPr>
              <a:tblGrid>
                <a:gridCol w="2530624">
                  <a:extLst>
                    <a:ext uri="{9D8B030D-6E8A-4147-A177-3AD203B41FA5}">
                      <a16:colId xmlns:a16="http://schemas.microsoft.com/office/drawing/2014/main" val="20000"/>
                    </a:ext>
                  </a:extLst>
                </a:gridCol>
                <a:gridCol w="3672408">
                  <a:extLst>
                    <a:ext uri="{9D8B030D-6E8A-4147-A177-3AD203B41FA5}">
                      <a16:colId xmlns:a16="http://schemas.microsoft.com/office/drawing/2014/main" val="20001"/>
                    </a:ext>
                  </a:extLst>
                </a:gridCol>
                <a:gridCol w="2026568">
                  <a:extLst>
                    <a:ext uri="{9D8B030D-6E8A-4147-A177-3AD203B41FA5}">
                      <a16:colId xmlns:a16="http://schemas.microsoft.com/office/drawing/2014/main" val="20002"/>
                    </a:ext>
                  </a:extLst>
                </a:gridCol>
              </a:tblGrid>
              <a:tr h="379391">
                <a:tc>
                  <a:txBody>
                    <a:bodyPr/>
                    <a:lstStyle/>
                    <a:p>
                      <a:pPr algn="ctr"/>
                      <a:r>
                        <a:rPr lang="fr-BE" sz="1800" dirty="0">
                          <a:solidFill>
                            <a:schemeClr val="tx1"/>
                          </a:solidFill>
                        </a:rPr>
                        <a:t>Pays de prestations ?</a:t>
                      </a:r>
                    </a:p>
                  </a:txBody>
                  <a:tcPr>
                    <a:solidFill>
                      <a:schemeClr val="accent3">
                        <a:lumMod val="60000"/>
                        <a:lumOff val="40000"/>
                      </a:schemeClr>
                    </a:solidFill>
                  </a:tcPr>
                </a:tc>
                <a:tc>
                  <a:txBody>
                    <a:bodyPr/>
                    <a:lstStyle/>
                    <a:p>
                      <a:pPr algn="ctr"/>
                      <a:r>
                        <a:rPr lang="fr-BE" sz="1800" dirty="0">
                          <a:solidFill>
                            <a:schemeClr val="tx1"/>
                          </a:solidFill>
                        </a:rPr>
                        <a:t>Quelle nationalité ?</a:t>
                      </a:r>
                    </a:p>
                  </a:txBody>
                  <a:tcPr>
                    <a:solidFill>
                      <a:schemeClr val="accent3">
                        <a:lumMod val="60000"/>
                        <a:lumOff val="40000"/>
                      </a:schemeClr>
                    </a:solidFill>
                  </a:tcPr>
                </a:tc>
                <a:tc>
                  <a:txBody>
                    <a:bodyPr/>
                    <a:lstStyle/>
                    <a:p>
                      <a:pPr algn="ctr"/>
                      <a:r>
                        <a:rPr lang="fr-BE" sz="1800" dirty="0">
                          <a:solidFill>
                            <a:schemeClr val="tx1"/>
                          </a:solidFill>
                        </a:rPr>
                        <a:t>Quelles périodes ?</a:t>
                      </a:r>
                    </a:p>
                  </a:txBody>
                  <a:tcPr>
                    <a:solidFill>
                      <a:schemeClr val="accent3">
                        <a:lumMod val="60000"/>
                        <a:lumOff val="40000"/>
                      </a:schemeClr>
                    </a:solidFill>
                  </a:tcPr>
                </a:tc>
                <a:extLst>
                  <a:ext uri="{0D108BD9-81ED-4DB2-BD59-A6C34878D82A}">
                    <a16:rowId xmlns:a16="http://schemas.microsoft.com/office/drawing/2014/main" val="10000"/>
                  </a:ext>
                </a:extLst>
              </a:tr>
              <a:tr h="600702">
                <a:tc>
                  <a:txBody>
                    <a:bodyPr/>
                    <a:lstStyle/>
                    <a:p>
                      <a:r>
                        <a:rPr lang="fr-BE" sz="1600" dirty="0"/>
                        <a:t>UE</a:t>
                      </a:r>
                    </a:p>
                  </a:txBody>
                  <a:tcPr anchor="ctr"/>
                </a:tc>
                <a:tc>
                  <a:txBody>
                    <a:bodyPr/>
                    <a:lstStyle/>
                    <a:p>
                      <a:r>
                        <a:rPr lang="fr-BE" sz="1600" dirty="0"/>
                        <a:t>EEE </a:t>
                      </a:r>
                      <a:r>
                        <a:rPr lang="fr-BE" sz="1200" dirty="0"/>
                        <a:t>/</a:t>
                      </a:r>
                      <a:r>
                        <a:rPr lang="fr-BE" sz="1600" dirty="0"/>
                        <a:t> Suisse</a:t>
                      </a:r>
                      <a:r>
                        <a:rPr lang="fr-BE" sz="1600" baseline="0" dirty="0"/>
                        <a:t> </a:t>
                      </a:r>
                      <a:r>
                        <a:rPr lang="fr-BE" sz="1200" baseline="0" dirty="0"/>
                        <a:t>/</a:t>
                      </a:r>
                      <a:r>
                        <a:rPr lang="fr-BE" sz="1600" baseline="0" dirty="0"/>
                        <a:t> réfugié reconnu </a:t>
                      </a:r>
                      <a:r>
                        <a:rPr lang="fr-BE" sz="1200" baseline="0" dirty="0"/>
                        <a:t>/</a:t>
                      </a:r>
                      <a:r>
                        <a:rPr lang="fr-BE" sz="1600" baseline="0" dirty="0"/>
                        <a:t> apatride </a:t>
                      </a:r>
                      <a:r>
                        <a:rPr lang="fr-BE" sz="1200" baseline="0" dirty="0"/>
                        <a:t>/</a:t>
                      </a:r>
                      <a:r>
                        <a:rPr lang="fr-BE" sz="1600" baseline="0" dirty="0"/>
                        <a:t> Toutes</a:t>
                      </a:r>
                      <a:r>
                        <a:rPr lang="fr-BE" sz="1600" baseline="30000" dirty="0"/>
                        <a:t>(*)</a:t>
                      </a:r>
                    </a:p>
                  </a:txBody>
                  <a:tcPr anchor="ctr"/>
                </a:tc>
                <a:tc>
                  <a:txBody>
                    <a:bodyPr/>
                    <a:lstStyle/>
                    <a:p>
                      <a:r>
                        <a:rPr lang="fr-BE" sz="1600" dirty="0"/>
                        <a:t>Assurance + emploi</a:t>
                      </a:r>
                    </a:p>
                  </a:txBody>
                  <a:tcPr anchor="ctr"/>
                </a:tc>
                <a:extLst>
                  <a:ext uri="{0D108BD9-81ED-4DB2-BD59-A6C34878D82A}">
                    <a16:rowId xmlns:a16="http://schemas.microsoft.com/office/drawing/2014/main" val="10001"/>
                  </a:ext>
                </a:extLst>
              </a:tr>
              <a:tr h="600702">
                <a:tc>
                  <a:txBody>
                    <a:bodyPr/>
                    <a:lstStyle/>
                    <a:p>
                      <a:r>
                        <a:rPr lang="fr-BE" sz="1600" dirty="0"/>
                        <a:t>Royaume-Uni</a:t>
                      </a:r>
                    </a:p>
                  </a:txBody>
                  <a:tcPr anchor="ctr"/>
                </a:tc>
                <a:tc>
                  <a:txBody>
                    <a:bodyPr/>
                    <a:lstStyle/>
                    <a:p>
                      <a:r>
                        <a:rPr lang="fr-BE" sz="1600" dirty="0"/>
                        <a:t>Toutes</a:t>
                      </a:r>
                    </a:p>
                  </a:txBody>
                  <a:tcPr anchor="ctr"/>
                </a:tc>
                <a:tc>
                  <a:txBody>
                    <a:bodyPr/>
                    <a:lstStyle/>
                    <a:p>
                      <a:r>
                        <a:rPr lang="fr-BE" sz="1600" dirty="0"/>
                        <a:t>Assurance + emploi</a:t>
                      </a:r>
                    </a:p>
                  </a:txBody>
                  <a:tcPr anchor="ctr"/>
                </a:tc>
                <a:extLst>
                  <a:ext uri="{0D108BD9-81ED-4DB2-BD59-A6C34878D82A}">
                    <a16:rowId xmlns:a16="http://schemas.microsoft.com/office/drawing/2014/main" val="357851957"/>
                  </a:ext>
                </a:extLst>
              </a:tr>
              <a:tr h="600702">
                <a:tc>
                  <a:txBody>
                    <a:bodyPr/>
                    <a:lstStyle/>
                    <a:p>
                      <a:r>
                        <a:rPr lang="fr-BE" sz="1600" dirty="0"/>
                        <a:t>Islande</a:t>
                      </a:r>
                      <a:r>
                        <a:rPr lang="fr-BE" sz="1600" baseline="0" dirty="0"/>
                        <a:t> </a:t>
                      </a:r>
                      <a:r>
                        <a:rPr lang="fr-BE" sz="1200" baseline="0" dirty="0"/>
                        <a:t>/</a:t>
                      </a:r>
                      <a:r>
                        <a:rPr lang="fr-BE" sz="1600" baseline="0" dirty="0"/>
                        <a:t> Norvège </a:t>
                      </a:r>
                      <a:r>
                        <a:rPr lang="fr-BE" sz="1200" baseline="0" dirty="0"/>
                        <a:t>/</a:t>
                      </a:r>
                      <a:r>
                        <a:rPr lang="fr-BE" sz="1600" baseline="0" dirty="0"/>
                        <a:t> Liechtenstein</a:t>
                      </a:r>
                      <a:endParaRPr lang="fr-BE" sz="1600" dirty="0"/>
                    </a:p>
                  </a:txBody>
                  <a:tcPr anchor="ctr"/>
                </a:tc>
                <a:tc>
                  <a:txBody>
                    <a:bodyPr/>
                    <a:lstStyle/>
                    <a:p>
                      <a:r>
                        <a:rPr lang="fr-BE" sz="1600" dirty="0"/>
                        <a:t>EEE </a:t>
                      </a:r>
                      <a:r>
                        <a:rPr lang="fr-BE" sz="1200" dirty="0"/>
                        <a:t>/</a:t>
                      </a:r>
                      <a:r>
                        <a:rPr lang="fr-BE" sz="1600" dirty="0"/>
                        <a:t> réfugié reconnu </a:t>
                      </a:r>
                      <a:r>
                        <a:rPr lang="fr-BE" sz="1200" dirty="0"/>
                        <a:t>/</a:t>
                      </a:r>
                      <a:r>
                        <a:rPr lang="fr-BE" sz="1600" dirty="0"/>
                        <a:t> apatride</a:t>
                      </a:r>
                    </a:p>
                  </a:txBody>
                  <a:tcPr anchor="ctr"/>
                </a:tc>
                <a:tc>
                  <a:txBody>
                    <a:bodyPr/>
                    <a:lstStyle/>
                    <a:p>
                      <a:r>
                        <a:rPr lang="fr-BE" sz="1600" dirty="0"/>
                        <a:t>Assurance + emploi</a:t>
                      </a:r>
                    </a:p>
                  </a:txBody>
                  <a:tcPr anchor="ctr"/>
                </a:tc>
                <a:extLst>
                  <a:ext uri="{0D108BD9-81ED-4DB2-BD59-A6C34878D82A}">
                    <a16:rowId xmlns:a16="http://schemas.microsoft.com/office/drawing/2014/main" val="10002"/>
                  </a:ext>
                </a:extLst>
              </a:tr>
              <a:tr h="374429">
                <a:tc>
                  <a:txBody>
                    <a:bodyPr/>
                    <a:lstStyle/>
                    <a:p>
                      <a:r>
                        <a:rPr lang="fr-BE" sz="1600" dirty="0"/>
                        <a:t>Suisse</a:t>
                      </a:r>
                    </a:p>
                  </a:txBody>
                  <a:tcPr anchor="ctr"/>
                </a:tc>
                <a:tc>
                  <a:txBody>
                    <a:bodyPr/>
                    <a:lstStyle/>
                    <a:p>
                      <a:r>
                        <a:rPr lang="fr-BE" sz="1600" dirty="0"/>
                        <a:t>EEE </a:t>
                      </a:r>
                      <a:r>
                        <a:rPr lang="fr-BE" sz="1200" dirty="0"/>
                        <a:t>/</a:t>
                      </a:r>
                      <a:r>
                        <a:rPr lang="fr-BE" sz="1600" dirty="0"/>
                        <a:t> Suisse </a:t>
                      </a:r>
                      <a:r>
                        <a:rPr lang="fr-BE" sz="1200" baseline="0" dirty="0"/>
                        <a:t>/</a:t>
                      </a:r>
                      <a:r>
                        <a:rPr lang="fr-BE" sz="1600" baseline="0" dirty="0"/>
                        <a:t> réfugié reconnu </a:t>
                      </a:r>
                      <a:r>
                        <a:rPr lang="fr-BE" sz="1200" baseline="0" dirty="0"/>
                        <a:t>/</a:t>
                      </a:r>
                      <a:r>
                        <a:rPr lang="fr-BE" sz="1600" baseline="0" dirty="0"/>
                        <a:t> apatride</a:t>
                      </a:r>
                      <a:endParaRPr lang="fr-BE" sz="1600" dirty="0"/>
                    </a:p>
                  </a:txBody>
                  <a:tcPr anchor="ctr"/>
                </a:tc>
                <a:tc>
                  <a:txBody>
                    <a:bodyPr/>
                    <a:lstStyle/>
                    <a:p>
                      <a:r>
                        <a:rPr lang="fr-BE" sz="1600" dirty="0"/>
                        <a:t>Assurance + emploi</a:t>
                      </a:r>
                    </a:p>
                  </a:txBody>
                  <a:tcPr anchor="ctr"/>
                </a:tc>
                <a:extLst>
                  <a:ext uri="{0D108BD9-81ED-4DB2-BD59-A6C34878D82A}">
                    <a16:rowId xmlns:a16="http://schemas.microsoft.com/office/drawing/2014/main" val="10003"/>
                  </a:ext>
                </a:extLst>
              </a:tr>
              <a:tr h="374429">
                <a:tc>
                  <a:txBody>
                    <a:bodyPr/>
                    <a:lstStyle/>
                    <a:p>
                      <a:r>
                        <a:rPr lang="fr-BE" sz="1600" dirty="0"/>
                        <a:t>Turquie</a:t>
                      </a:r>
                    </a:p>
                  </a:txBody>
                  <a:tcPr anchor="ctr"/>
                </a:tc>
                <a:tc>
                  <a:txBody>
                    <a:bodyPr/>
                    <a:lstStyle/>
                    <a:p>
                      <a:r>
                        <a:rPr lang="fr-BE" sz="1600" dirty="0"/>
                        <a:t>UE </a:t>
                      </a:r>
                      <a:r>
                        <a:rPr lang="fr-BE" sz="1200" dirty="0"/>
                        <a:t>/</a:t>
                      </a:r>
                      <a:r>
                        <a:rPr lang="fr-BE" sz="1600" dirty="0"/>
                        <a:t> Turque </a:t>
                      </a:r>
                      <a:r>
                        <a:rPr lang="fr-BE" sz="1200" dirty="0"/>
                        <a:t>/</a:t>
                      </a:r>
                      <a:r>
                        <a:rPr lang="fr-BE" sz="1600" dirty="0"/>
                        <a:t> réfugié reconnu </a:t>
                      </a:r>
                      <a:r>
                        <a:rPr lang="fr-BE" sz="1200" dirty="0"/>
                        <a:t>/</a:t>
                      </a:r>
                      <a:r>
                        <a:rPr lang="fr-BE" sz="1600" dirty="0"/>
                        <a:t> apatride</a:t>
                      </a:r>
                    </a:p>
                  </a:txBody>
                  <a:tcPr anchor="ctr"/>
                </a:tc>
                <a:tc>
                  <a:txBody>
                    <a:bodyPr/>
                    <a:lstStyle/>
                    <a:p>
                      <a:r>
                        <a:rPr lang="fr-BE" sz="1600" dirty="0"/>
                        <a:t>Assurance + emploi</a:t>
                      </a:r>
                    </a:p>
                  </a:txBody>
                  <a:tcPr anchor="ctr"/>
                </a:tc>
                <a:extLst>
                  <a:ext uri="{0D108BD9-81ED-4DB2-BD59-A6C34878D82A}">
                    <a16:rowId xmlns:a16="http://schemas.microsoft.com/office/drawing/2014/main" val="10004"/>
                  </a:ext>
                </a:extLst>
              </a:tr>
              <a:tr h="374429">
                <a:tc>
                  <a:txBody>
                    <a:bodyPr/>
                    <a:lstStyle/>
                    <a:p>
                      <a:r>
                        <a:rPr lang="fr-BE" sz="1600" dirty="0"/>
                        <a:t>Bosnie-Herzégovine, ARY de Macédoine, Monténégro</a:t>
                      </a:r>
                    </a:p>
                  </a:txBody>
                  <a:tcPr anchor="ctr"/>
                </a:tc>
                <a:tc>
                  <a:txBody>
                    <a:bodyPr/>
                    <a:lstStyle/>
                    <a:p>
                      <a:r>
                        <a:rPr lang="fr-BE" sz="1600" dirty="0"/>
                        <a:t>Toutes</a:t>
                      </a:r>
                    </a:p>
                  </a:txBody>
                  <a:tcPr anchor="ctr"/>
                </a:tc>
                <a:tc>
                  <a:txBody>
                    <a:bodyPr/>
                    <a:lstStyle/>
                    <a:p>
                      <a:r>
                        <a:rPr lang="fr-BE" sz="1600" dirty="0"/>
                        <a:t>Assurance + emploi</a:t>
                      </a:r>
                    </a:p>
                  </a:txBody>
                  <a:tcPr anchor="ctr"/>
                </a:tc>
                <a:extLst>
                  <a:ext uri="{0D108BD9-81ED-4DB2-BD59-A6C34878D82A}">
                    <a16:rowId xmlns:a16="http://schemas.microsoft.com/office/drawing/2014/main" val="10005"/>
                  </a:ext>
                </a:extLst>
              </a:tr>
              <a:tr h="374429">
                <a:tc>
                  <a:txBody>
                    <a:bodyPr/>
                    <a:lstStyle/>
                    <a:p>
                      <a:r>
                        <a:rPr lang="fr-BE" sz="1600" dirty="0"/>
                        <a:t>Saint-Marin</a:t>
                      </a:r>
                    </a:p>
                  </a:txBody>
                  <a:tcPr anchor="ctr"/>
                </a:tc>
                <a:tc>
                  <a:txBody>
                    <a:bodyPr/>
                    <a:lstStyle/>
                    <a:p>
                      <a:r>
                        <a:rPr lang="fr-BE" sz="1600" dirty="0"/>
                        <a:t>UE</a:t>
                      </a:r>
                      <a:r>
                        <a:rPr lang="fr-BE" sz="1200" dirty="0"/>
                        <a:t>/</a:t>
                      </a:r>
                      <a:r>
                        <a:rPr lang="fr-BE" sz="1600" dirty="0"/>
                        <a:t> Saint Marinais</a:t>
                      </a:r>
                    </a:p>
                  </a:txBody>
                  <a:tcPr anchor="ctr"/>
                </a:tc>
                <a:tc>
                  <a:txBody>
                    <a:bodyPr/>
                    <a:lstStyle/>
                    <a:p>
                      <a:r>
                        <a:rPr lang="fr-BE" sz="1600" dirty="0"/>
                        <a:t>Assurance</a:t>
                      </a:r>
                    </a:p>
                  </a:txBody>
                  <a:tcPr anchor="ctr"/>
                </a:tc>
                <a:extLst>
                  <a:ext uri="{0D108BD9-81ED-4DB2-BD59-A6C34878D82A}">
                    <a16:rowId xmlns:a16="http://schemas.microsoft.com/office/drawing/2014/main" val="10009"/>
                  </a:ext>
                </a:extLst>
              </a:tr>
              <a:tr h="374429">
                <a:tc>
                  <a:txBody>
                    <a:bodyPr/>
                    <a:lstStyle/>
                    <a:p>
                      <a:r>
                        <a:rPr lang="fr-BE" sz="1600" dirty="0"/>
                        <a:t>Algérie</a:t>
                      </a:r>
                    </a:p>
                  </a:txBody>
                  <a:tcPr anchor="ctr"/>
                </a:tc>
                <a:tc>
                  <a:txBody>
                    <a:bodyPr/>
                    <a:lstStyle/>
                    <a:p>
                      <a:r>
                        <a:rPr lang="fr-BE" sz="1600" dirty="0"/>
                        <a:t>UE </a:t>
                      </a:r>
                      <a:r>
                        <a:rPr lang="fr-BE" sz="1050" dirty="0"/>
                        <a:t>/</a:t>
                      </a:r>
                      <a:r>
                        <a:rPr lang="fr-BE" sz="1600" dirty="0"/>
                        <a:t> Algérien</a:t>
                      </a:r>
                    </a:p>
                  </a:txBody>
                  <a:tcPr anchor="ctr"/>
                </a:tc>
                <a:tc>
                  <a:txBody>
                    <a:bodyPr/>
                    <a:lstStyle/>
                    <a:p>
                      <a:r>
                        <a:rPr lang="fr-BE" sz="1600" dirty="0"/>
                        <a:t>Assurance</a:t>
                      </a:r>
                    </a:p>
                  </a:txBody>
                  <a:tcPr anchor="ctr"/>
                </a:tc>
                <a:extLst>
                  <a:ext uri="{0D108BD9-81ED-4DB2-BD59-A6C34878D82A}">
                    <a16:rowId xmlns:a16="http://schemas.microsoft.com/office/drawing/2014/main" val="10010"/>
                  </a:ext>
                </a:extLst>
              </a:tr>
              <a:tr h="374429">
                <a:tc>
                  <a:txBody>
                    <a:bodyPr/>
                    <a:lstStyle/>
                    <a:p>
                      <a:r>
                        <a:rPr lang="fr-BE" sz="1600" b="0" dirty="0"/>
                        <a:t>Tunisie</a:t>
                      </a:r>
                    </a:p>
                  </a:txBody>
                  <a:tcPr anchor="ctr"/>
                </a:tc>
                <a:tc>
                  <a:txBody>
                    <a:bodyPr/>
                    <a:lstStyle/>
                    <a:p>
                      <a:r>
                        <a:rPr lang="fr-BE" sz="1600" b="0" dirty="0"/>
                        <a:t>UE </a:t>
                      </a:r>
                      <a:r>
                        <a:rPr lang="fr-BE" sz="1200" b="0" dirty="0"/>
                        <a:t>/</a:t>
                      </a:r>
                      <a:r>
                        <a:rPr lang="fr-BE" sz="1600" b="0" dirty="0"/>
                        <a:t> Tunisien </a:t>
                      </a:r>
                      <a:r>
                        <a:rPr lang="fr-BE" sz="1200" b="0" dirty="0"/>
                        <a:t>/</a:t>
                      </a:r>
                      <a:r>
                        <a:rPr lang="fr-BE" sz="1600" b="0" dirty="0"/>
                        <a:t> réfugié reconnu </a:t>
                      </a:r>
                      <a:r>
                        <a:rPr lang="fr-BE" sz="1200" b="0" dirty="0"/>
                        <a:t>/</a:t>
                      </a:r>
                      <a:r>
                        <a:rPr lang="fr-BE" sz="1600" b="0" dirty="0"/>
                        <a:t> apatride</a:t>
                      </a:r>
                    </a:p>
                  </a:txBody>
                  <a:tcPr anchor="ctr"/>
                </a:tc>
                <a:tc>
                  <a:txBody>
                    <a:bodyPr/>
                    <a:lstStyle/>
                    <a:p>
                      <a:r>
                        <a:rPr lang="fr-BE" sz="1600" b="0" dirty="0"/>
                        <a:t>Assurance</a:t>
                      </a:r>
                    </a:p>
                  </a:txBody>
                  <a:tcPr anchor="ctr"/>
                </a:tc>
                <a:extLst>
                  <a:ext uri="{0D108BD9-81ED-4DB2-BD59-A6C34878D82A}">
                    <a16:rowId xmlns:a16="http://schemas.microsoft.com/office/drawing/2014/main" val="10011"/>
                  </a:ext>
                </a:extLst>
              </a:tr>
            </a:tbl>
          </a:graphicData>
        </a:graphic>
      </p:graphicFrame>
      <p:sp>
        <p:nvSpPr>
          <p:cNvPr id="4" name="Espace réservé du numéro de diapositive 3"/>
          <p:cNvSpPr>
            <a:spLocks noGrp="1"/>
          </p:cNvSpPr>
          <p:nvPr>
            <p:ph type="sldNum" sz="quarter" idx="12"/>
          </p:nvPr>
        </p:nvSpPr>
        <p:spPr>
          <a:xfrm>
            <a:off x="6553200" y="6334884"/>
            <a:ext cx="2133600" cy="365125"/>
          </a:xfrm>
        </p:spPr>
        <p:txBody>
          <a:bodyPr/>
          <a:lstStyle/>
          <a:p>
            <a:fld id="{55E9056B-6A30-4F99-BDE9-C450E66AE125}" type="slidenum">
              <a:rPr lang="fr-FR" smtClean="0"/>
              <a:pPr/>
              <a:t>9</a:t>
            </a:fld>
            <a:endParaRPr lang="fr-FR"/>
          </a:p>
        </p:txBody>
      </p:sp>
      <p:sp>
        <p:nvSpPr>
          <p:cNvPr id="7" name="ZoneTexte 6"/>
          <p:cNvSpPr txBox="1"/>
          <p:nvPr/>
        </p:nvSpPr>
        <p:spPr>
          <a:xfrm>
            <a:off x="611560" y="6088559"/>
            <a:ext cx="7863656" cy="338554"/>
          </a:xfrm>
          <a:prstGeom prst="rect">
            <a:avLst/>
          </a:prstGeom>
          <a:noFill/>
        </p:spPr>
        <p:txBody>
          <a:bodyPr wrap="square" rtlCol="0">
            <a:spAutoFit/>
          </a:bodyPr>
          <a:lstStyle/>
          <a:p>
            <a:r>
              <a:rPr lang="fr-BE" sz="1600" dirty="0"/>
              <a:t>(*) Sauf prestations au Danemark pour le ressortissants des pays tiers</a:t>
            </a:r>
          </a:p>
        </p:txBody>
      </p:sp>
    </p:spTree>
    <p:extLst>
      <p:ext uri="{BB962C8B-B14F-4D97-AF65-F5344CB8AC3E}">
        <p14:creationId xmlns:p14="http://schemas.microsoft.com/office/powerpoint/2010/main" val="24781105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normAutofit/>
          </a:bodyPr>
          <a:lstStyle/>
          <a:p>
            <a:pPr algn="r"/>
            <a:r>
              <a:rPr lang="fr-BE" b="1" i="1" dirty="0"/>
              <a:t>1.1 Jours pris en considération</a:t>
            </a:r>
            <a:endParaRPr lang="en-GB" b="1" i="1" dirty="0"/>
          </a:p>
        </p:txBody>
      </p:sp>
      <p:sp>
        <p:nvSpPr>
          <p:cNvPr id="58371" name="Rectangle 3"/>
          <p:cNvSpPr>
            <a:spLocks noGrp="1" noChangeArrowheads="1"/>
          </p:cNvSpPr>
          <p:nvPr>
            <p:ph type="body" idx="1"/>
          </p:nvPr>
        </p:nvSpPr>
        <p:spPr/>
        <p:txBody>
          <a:bodyPr>
            <a:noAutofit/>
          </a:bodyPr>
          <a:lstStyle/>
          <a:p>
            <a:pPr>
              <a:lnSpc>
                <a:spcPct val="90000"/>
              </a:lnSpc>
              <a:buClr>
                <a:schemeClr val="tx1"/>
              </a:buClr>
            </a:pPr>
            <a:r>
              <a:rPr lang="fr-BE" dirty="0"/>
              <a:t>2</a:t>
            </a:r>
            <a:r>
              <a:rPr lang="fr-BE" baseline="30000" dirty="0"/>
              <a:t>ème</a:t>
            </a:r>
            <a:r>
              <a:rPr lang="fr-BE" dirty="0"/>
              <a:t> condition: </a:t>
            </a:r>
            <a:r>
              <a:rPr lang="fr-BE" b="1" dirty="0">
                <a:solidFill>
                  <a:srgbClr val="C00000"/>
                </a:solidFill>
              </a:rPr>
              <a:t>« suivi d’</a:t>
            </a:r>
            <a:r>
              <a:rPr lang="fr-BE" b="1" u="sng" dirty="0">
                <a:solidFill>
                  <a:srgbClr val="C00000"/>
                </a:solidFill>
              </a:rPr>
              <a:t>au moins</a:t>
            </a:r>
            <a:r>
              <a:rPr lang="fr-BE" b="1" dirty="0">
                <a:solidFill>
                  <a:srgbClr val="C00000"/>
                </a:solidFill>
              </a:rPr>
              <a:t> 3 mois de travail »</a:t>
            </a:r>
          </a:p>
          <a:p>
            <a:pPr lvl="1">
              <a:lnSpc>
                <a:spcPct val="90000"/>
              </a:lnSpc>
              <a:buClr>
                <a:schemeClr val="tx1"/>
              </a:buClr>
              <a:buFont typeface="Wingdings" panose="05000000000000000000" pitchFamily="2" charset="2"/>
              <a:buChar char="v"/>
            </a:pPr>
            <a:r>
              <a:rPr lang="fr-BE" dirty="0"/>
              <a:t>Principe:</a:t>
            </a:r>
          </a:p>
          <a:p>
            <a:pPr marL="457200" lvl="1" indent="0">
              <a:lnSpc>
                <a:spcPct val="90000"/>
              </a:lnSpc>
              <a:buClr>
                <a:schemeClr val="tx1"/>
              </a:buClr>
              <a:buNone/>
            </a:pPr>
            <a:r>
              <a:rPr lang="fr-BE" dirty="0"/>
              <a:t>Les périodes à l’étranger peuvent uniquement être prises en compte si elles sont </a:t>
            </a:r>
            <a:r>
              <a:rPr lang="fr-BE" u="sng" dirty="0"/>
              <a:t>suivies</a:t>
            </a:r>
            <a:r>
              <a:rPr lang="fr-BE" dirty="0"/>
              <a:t> </a:t>
            </a:r>
            <a:r>
              <a:rPr lang="fr-BE" b="1" dirty="0"/>
              <a:t>d'au moins 3 mois</a:t>
            </a:r>
            <a:r>
              <a:rPr lang="fr-BE" dirty="0"/>
              <a:t> de travail en vertu de la réglementation belge </a:t>
            </a:r>
            <a:r>
              <a:rPr lang="fr-BE" dirty="0">
                <a:solidFill>
                  <a:srgbClr val="C00000"/>
                </a:solidFill>
              </a:rPr>
              <a:t>(= travail assujetti à ONSS secteur chômage)</a:t>
            </a:r>
          </a:p>
          <a:p>
            <a:pPr lvl="1">
              <a:lnSpc>
                <a:spcPct val="90000"/>
              </a:lnSpc>
              <a:buClr>
                <a:schemeClr val="tx1"/>
              </a:buClr>
              <a:buFont typeface="Wingdings" panose="05000000000000000000" pitchFamily="2" charset="2"/>
              <a:buChar char="è"/>
            </a:pPr>
            <a:r>
              <a:rPr lang="fr-BE" sz="2400" b="1" dirty="0">
                <a:sym typeface="Wingdings" panose="05000000000000000000" pitchFamily="2" charset="2"/>
              </a:rPr>
              <a:t>Pris en compte: </a:t>
            </a:r>
            <a:r>
              <a:rPr lang="fr-BE" sz="2400" dirty="0">
                <a:sym typeface="Wingdings" panose="05000000000000000000" pitchFamily="2" charset="2"/>
              </a:rPr>
              <a:t>jours prestés, jours rémunérés mais non prestés (J.F, salaire garanti, jours de vacances couverts par pécule,…)</a:t>
            </a:r>
          </a:p>
          <a:p>
            <a:pPr lvl="1">
              <a:lnSpc>
                <a:spcPct val="90000"/>
              </a:lnSpc>
              <a:buClr>
                <a:schemeClr val="tx1"/>
              </a:buClr>
              <a:buFont typeface="Wingdings" panose="05000000000000000000" pitchFamily="2" charset="2"/>
              <a:buChar char="è"/>
            </a:pPr>
            <a:r>
              <a:rPr lang="fr-BE" sz="2400" b="1" dirty="0">
                <a:sym typeface="Wingdings" panose="05000000000000000000" pitchFamily="2" charset="2"/>
              </a:rPr>
              <a:t>Pas pris en compte: </a:t>
            </a:r>
            <a:r>
              <a:rPr lang="fr-BE" sz="2400" dirty="0">
                <a:sym typeface="Wingdings" panose="05000000000000000000" pitchFamily="2" charset="2"/>
              </a:rPr>
              <a:t>chômage temporaire, maladie non-indemnisée, absences non-rémunérées  </a:t>
            </a:r>
            <a:endParaRPr lang="fr-BE" sz="2400" dirty="0"/>
          </a:p>
          <a:p>
            <a:pPr lvl="2">
              <a:lnSpc>
                <a:spcPct val="90000"/>
              </a:lnSpc>
              <a:buClr>
                <a:schemeClr val="tx1"/>
              </a:buClr>
              <a:buFont typeface="Wingdings" panose="05000000000000000000" pitchFamily="2" charset="2"/>
              <a:buChar char="Ø"/>
            </a:pPr>
            <a:endParaRPr lang="fr-BE" dirty="0"/>
          </a:p>
          <a:p>
            <a:pPr marL="914400" lvl="2" indent="0">
              <a:lnSpc>
                <a:spcPct val="90000"/>
              </a:lnSpc>
              <a:buClr>
                <a:schemeClr val="tx1"/>
              </a:buClr>
              <a:buNone/>
            </a:pPr>
            <a:endParaRPr lang="fr-BE" dirty="0"/>
          </a:p>
          <a:p>
            <a:pPr marL="914400" lvl="2" indent="0">
              <a:lnSpc>
                <a:spcPct val="90000"/>
              </a:lnSpc>
              <a:buClr>
                <a:schemeClr val="tx1"/>
              </a:buClr>
              <a:buNone/>
            </a:pPr>
            <a:endParaRPr lang="fr-BE" dirty="0"/>
          </a:p>
          <a:p>
            <a:pPr lvl="1">
              <a:lnSpc>
                <a:spcPct val="90000"/>
              </a:lnSpc>
              <a:buClr>
                <a:schemeClr val="tx1"/>
              </a:buClr>
              <a:buFont typeface="Wingdings" panose="05000000000000000000" pitchFamily="2" charset="2"/>
              <a:buChar char="v"/>
            </a:pPr>
            <a:endParaRPr lang="fr-BE" sz="2400" u="sng"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10</a:t>
            </a:fld>
            <a:endParaRPr lang="fr-FR"/>
          </a:p>
        </p:txBody>
      </p:sp>
    </p:spTree>
    <p:extLst>
      <p:ext uri="{BB962C8B-B14F-4D97-AF65-F5344CB8AC3E}">
        <p14:creationId xmlns:p14="http://schemas.microsoft.com/office/powerpoint/2010/main" val="183319570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Effect transition="in" filter="fade">
                                      <p:cBhvr>
                                        <p:cTn id="7" dur="1000"/>
                                        <p:tgtEl>
                                          <p:spTgt spid="583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8371">
                                            <p:txEl>
                                              <p:pRg st="1" end="1"/>
                                            </p:txEl>
                                          </p:spTgt>
                                        </p:tgtEl>
                                        <p:attrNameLst>
                                          <p:attrName>style.visibility</p:attrName>
                                        </p:attrNameLst>
                                      </p:cBhvr>
                                      <p:to>
                                        <p:strVal val="visible"/>
                                      </p:to>
                                    </p:set>
                                    <p:animEffect transition="in" filter="fade">
                                      <p:cBhvr>
                                        <p:cTn id="12" dur="1000"/>
                                        <p:tgtEl>
                                          <p:spTgt spid="583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Effect transition="in" filter="fade">
                                      <p:cBhvr>
                                        <p:cTn id="17" dur="1000"/>
                                        <p:tgtEl>
                                          <p:spTgt spid="583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8371">
                                            <p:txEl>
                                              <p:pRg st="3" end="3"/>
                                            </p:txEl>
                                          </p:spTgt>
                                        </p:tgtEl>
                                        <p:attrNameLst>
                                          <p:attrName>style.visibility</p:attrName>
                                        </p:attrNameLst>
                                      </p:cBhvr>
                                      <p:to>
                                        <p:strVal val="visible"/>
                                      </p:to>
                                    </p:set>
                                    <p:animEffect transition="in" filter="fade">
                                      <p:cBhvr>
                                        <p:cTn id="22" dur="1000"/>
                                        <p:tgtEl>
                                          <p:spTgt spid="583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8371">
                                            <p:txEl>
                                              <p:pRg st="4" end="4"/>
                                            </p:txEl>
                                          </p:spTgt>
                                        </p:tgtEl>
                                        <p:attrNameLst>
                                          <p:attrName>style.visibility</p:attrName>
                                        </p:attrNameLst>
                                      </p:cBhvr>
                                      <p:to>
                                        <p:strVal val="visible"/>
                                      </p:to>
                                    </p:set>
                                    <p:animEffect transition="in" filter="fade">
                                      <p:cBhvr>
                                        <p:cTn id="27" dur="1000"/>
                                        <p:tgtEl>
                                          <p:spTgt spid="583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dirty="0"/>
          </a:p>
        </p:txBody>
      </p:sp>
      <p:sp>
        <p:nvSpPr>
          <p:cNvPr id="3" name="Espace réservé du contenu 2"/>
          <p:cNvSpPr>
            <a:spLocks noGrp="1"/>
          </p:cNvSpPr>
          <p:nvPr>
            <p:ph idx="1"/>
          </p:nvPr>
        </p:nvSpPr>
        <p:spPr/>
        <p:txBody>
          <a:bodyPr/>
          <a:lstStyle/>
          <a:p>
            <a:pPr marL="457200" lvl="1" indent="0">
              <a:buNone/>
            </a:pPr>
            <a:r>
              <a:rPr lang="fr-BE" sz="3200" b="1" dirty="0"/>
              <a:t>Restriction</a:t>
            </a:r>
            <a:r>
              <a:rPr lang="fr-BE" sz="3200" dirty="0"/>
              <a:t> pour la période de 3 mois </a:t>
            </a:r>
            <a:r>
              <a:rPr lang="fr-BE" sz="3200" b="1" u="sng" dirty="0">
                <a:solidFill>
                  <a:srgbClr val="C00000"/>
                </a:solidFill>
              </a:rPr>
              <a:t>MINIMUM</a:t>
            </a:r>
          </a:p>
          <a:p>
            <a:pPr marL="544513" lvl="3" indent="0">
              <a:buNone/>
            </a:pPr>
            <a:endParaRPr lang="fr-BE" sz="2800" dirty="0"/>
          </a:p>
          <a:p>
            <a:pPr marL="887413" lvl="3" indent="-342900">
              <a:buFont typeface="Wingdings" panose="05000000000000000000" pitchFamily="2" charset="2"/>
              <a:buChar char="v"/>
            </a:pPr>
            <a:endParaRPr lang="fr-BE" sz="2800" dirty="0"/>
          </a:p>
          <a:p>
            <a:pPr marL="887413" lvl="3" indent="-342900">
              <a:buFont typeface="Wingdings" panose="05000000000000000000" pitchFamily="2" charset="2"/>
              <a:buChar char="v"/>
            </a:pPr>
            <a:endParaRPr lang="fr-BE" sz="28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11</a:t>
            </a:fld>
            <a:endParaRPr lang="fr-FR"/>
          </a:p>
        </p:txBody>
      </p:sp>
      <p:graphicFrame>
        <p:nvGraphicFramePr>
          <p:cNvPr id="6" name="Tableau 5"/>
          <p:cNvGraphicFramePr>
            <a:graphicFrameLocks noGrp="1"/>
          </p:cNvGraphicFramePr>
          <p:nvPr/>
        </p:nvGraphicFramePr>
        <p:xfrm>
          <a:off x="647564" y="2877575"/>
          <a:ext cx="7848872" cy="3256178"/>
        </p:xfrm>
        <a:graphic>
          <a:graphicData uri="http://schemas.openxmlformats.org/drawingml/2006/table">
            <a:tbl>
              <a:tblPr firstRow="1" bandRow="1">
                <a:tableStyleId>{F5AB1C69-6EDB-4FF4-983F-18BD219EF322}</a:tableStyleId>
              </a:tblPr>
              <a:tblGrid>
                <a:gridCol w="4680520">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tblGrid>
              <a:tr h="685301">
                <a:tc>
                  <a:txBody>
                    <a:bodyPr/>
                    <a:lstStyle/>
                    <a:p>
                      <a:pPr algn="ctr"/>
                      <a:r>
                        <a:rPr lang="fr-BE" sz="2800" i="1" dirty="0">
                          <a:solidFill>
                            <a:schemeClr val="tx1"/>
                          </a:solidFill>
                        </a:rPr>
                        <a:t>Pays</a:t>
                      </a:r>
                    </a:p>
                  </a:txBody>
                  <a:tcPr anchor="ctr">
                    <a:solidFill>
                      <a:schemeClr val="accent3">
                        <a:lumMod val="60000"/>
                        <a:lumOff val="40000"/>
                      </a:schemeClr>
                    </a:solidFill>
                  </a:tcPr>
                </a:tc>
                <a:tc>
                  <a:txBody>
                    <a:bodyPr/>
                    <a:lstStyle/>
                    <a:p>
                      <a:pPr algn="ctr"/>
                      <a:r>
                        <a:rPr lang="fr-BE" sz="2800" i="1" dirty="0">
                          <a:solidFill>
                            <a:schemeClr val="tx1"/>
                          </a:solidFill>
                        </a:rPr>
                        <a:t>Durée requises</a:t>
                      </a:r>
                    </a:p>
                  </a:txBody>
                  <a:tcPr anchor="ctr">
                    <a:solidFill>
                      <a:schemeClr val="accent3">
                        <a:lumMod val="60000"/>
                        <a:lumOff val="40000"/>
                      </a:schemeClr>
                    </a:solidFill>
                  </a:tcPr>
                </a:tc>
                <a:extLst>
                  <a:ext uri="{0D108BD9-81ED-4DB2-BD59-A6C34878D82A}">
                    <a16:rowId xmlns:a16="http://schemas.microsoft.com/office/drawing/2014/main" val="10000"/>
                  </a:ext>
                </a:extLst>
              </a:tr>
              <a:tr h="1199277">
                <a:tc>
                  <a:txBody>
                    <a:bodyPr/>
                    <a:lstStyle/>
                    <a:p>
                      <a:pPr algn="l"/>
                      <a:r>
                        <a:rPr lang="fr-BE" sz="2800" dirty="0"/>
                        <a:t>EEE + Royaume-Uni + Suisse</a:t>
                      </a:r>
                      <a:r>
                        <a:rPr lang="fr-BE" sz="2800" baseline="0" dirty="0"/>
                        <a:t> + Algérie + Turquie + Saint-Marin</a:t>
                      </a:r>
                      <a:endParaRPr lang="fr-BE" sz="2800" dirty="0"/>
                    </a:p>
                  </a:txBody>
                  <a:tcPr anchor="ctr"/>
                </a:tc>
                <a:tc>
                  <a:txBody>
                    <a:bodyPr/>
                    <a:lstStyle/>
                    <a:p>
                      <a:pPr algn="ctr"/>
                      <a:r>
                        <a:rPr lang="fr-BE" sz="2800" b="1" dirty="0">
                          <a:solidFill>
                            <a:srgbClr val="C00000"/>
                          </a:solidFill>
                        </a:rPr>
                        <a:t>3 mois</a:t>
                      </a:r>
                    </a:p>
                  </a:txBody>
                  <a:tcPr anchor="ctr"/>
                </a:tc>
                <a:extLst>
                  <a:ext uri="{0D108BD9-81ED-4DB2-BD59-A6C34878D82A}">
                    <a16:rowId xmlns:a16="http://schemas.microsoft.com/office/drawing/2014/main" val="10001"/>
                  </a:ext>
                </a:extLst>
              </a:tr>
              <a:tr h="1199277">
                <a:tc>
                  <a:txBody>
                    <a:bodyPr/>
                    <a:lstStyle/>
                    <a:p>
                      <a:pPr algn="l"/>
                      <a:r>
                        <a:rPr lang="fr-BE" sz="2800" dirty="0"/>
                        <a:t>Bosnie-Herzégovine + ARY</a:t>
                      </a:r>
                      <a:r>
                        <a:rPr lang="fr-BE" sz="2800" baseline="0" dirty="0"/>
                        <a:t> de Macédoine + Monténégro + </a:t>
                      </a:r>
                      <a:r>
                        <a:rPr lang="fr-BE" sz="2800" b="0" baseline="0" dirty="0"/>
                        <a:t>Tunisie</a:t>
                      </a:r>
                      <a:endParaRPr lang="fr-BE" sz="2800" b="0" dirty="0"/>
                    </a:p>
                  </a:txBody>
                  <a:tcPr anchor="ctr"/>
                </a:tc>
                <a:tc>
                  <a:txBody>
                    <a:bodyPr/>
                    <a:lstStyle/>
                    <a:p>
                      <a:pPr algn="ctr"/>
                      <a:r>
                        <a:rPr lang="fr-BE" sz="2800" b="1" dirty="0">
                          <a:solidFill>
                            <a:srgbClr val="C00000"/>
                          </a:solidFill>
                        </a:rPr>
                        <a:t>6 mois</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2089068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dirty="0"/>
          </a:p>
        </p:txBody>
      </p:sp>
      <p:sp>
        <p:nvSpPr>
          <p:cNvPr id="3" name="Espace réservé du contenu 2"/>
          <p:cNvSpPr>
            <a:spLocks noGrp="1"/>
          </p:cNvSpPr>
          <p:nvPr>
            <p:ph idx="1"/>
          </p:nvPr>
        </p:nvSpPr>
        <p:spPr/>
        <p:txBody>
          <a:bodyPr/>
          <a:lstStyle/>
          <a:p>
            <a:pPr lvl="1">
              <a:buFont typeface="Wingdings" panose="05000000000000000000" pitchFamily="2" charset="2"/>
              <a:buChar char="v"/>
            </a:pPr>
            <a:r>
              <a:rPr lang="fr-BE" b="1" dirty="0"/>
              <a:t>Méthode de calcul </a:t>
            </a:r>
            <a:r>
              <a:rPr lang="fr-BE" dirty="0"/>
              <a:t>de l’occupation en Belgique:</a:t>
            </a:r>
          </a:p>
          <a:p>
            <a:pPr lvl="2">
              <a:buFont typeface="Wingdings" panose="05000000000000000000" pitchFamily="2" charset="2"/>
              <a:buChar char="Ø"/>
            </a:pPr>
            <a:r>
              <a:rPr lang="fr-BE" dirty="0"/>
              <a:t>Peu importe le Q/S</a:t>
            </a:r>
          </a:p>
          <a:p>
            <a:pPr lvl="2">
              <a:buFont typeface="Wingdings" panose="05000000000000000000" pitchFamily="2" charset="2"/>
              <a:buChar char="Ø"/>
            </a:pPr>
            <a:r>
              <a:rPr lang="fr-BE" dirty="0"/>
              <a:t>Peu importe les interruptions et/ou les changements d’employeurs</a:t>
            </a:r>
          </a:p>
          <a:p>
            <a:pPr lvl="2">
              <a:buFont typeface="Wingdings" panose="05000000000000000000" pitchFamily="2" charset="2"/>
              <a:buChar char="Ø"/>
            </a:pPr>
            <a:r>
              <a:rPr lang="fr-BE" dirty="0"/>
              <a:t>Période de référence non définie </a:t>
            </a:r>
            <a:r>
              <a:rPr lang="fr-BE" b="1" dirty="0">
                <a:solidFill>
                  <a:srgbClr val="C00000"/>
                </a:solidFill>
              </a:rPr>
              <a:t>(Sauf condition de 6 mois </a:t>
            </a:r>
            <a:r>
              <a:rPr lang="fr-BE" b="1" dirty="0">
                <a:solidFill>
                  <a:srgbClr val="C00000"/>
                </a:solidFill>
                <a:sym typeface="Wingdings" panose="05000000000000000000" pitchFamily="2" charset="2"/>
              </a:rPr>
              <a:t> période de référence=1an) </a:t>
            </a:r>
            <a:r>
              <a:rPr lang="fr-BE" b="1" dirty="0">
                <a:solidFill>
                  <a:srgbClr val="C00000"/>
                </a:solidFill>
              </a:rPr>
              <a:t> </a:t>
            </a:r>
            <a:r>
              <a:rPr lang="fr-BE" dirty="0">
                <a:solidFill>
                  <a:srgbClr val="C00000"/>
                </a:solidFill>
              </a:rPr>
              <a:t> </a:t>
            </a:r>
          </a:p>
          <a:p>
            <a:pPr lvl="2">
              <a:buFont typeface="Wingdings" panose="05000000000000000000" pitchFamily="2" charset="2"/>
              <a:buChar char="Ø"/>
            </a:pPr>
            <a:r>
              <a:rPr lang="fr-BE" dirty="0"/>
              <a:t>Calcul des jours:</a:t>
            </a:r>
          </a:p>
          <a:p>
            <a:pPr lvl="3">
              <a:buFontTx/>
              <a:buChar char="-"/>
            </a:pPr>
            <a:r>
              <a:rPr lang="fr-BE" b="1" dirty="0"/>
              <a:t>3 ou 6 mois </a:t>
            </a:r>
            <a:r>
              <a:rPr lang="fr-BE" dirty="0"/>
              <a:t>de date à date</a:t>
            </a:r>
          </a:p>
          <a:p>
            <a:pPr lvl="3">
              <a:buFontTx/>
              <a:buChar char="-"/>
            </a:pPr>
            <a:r>
              <a:rPr lang="fr-BE" b="1" dirty="0"/>
              <a:t>78 ou 156 jours </a:t>
            </a:r>
            <a:r>
              <a:rPr lang="fr-BE" dirty="0"/>
              <a:t>calendrier R6</a:t>
            </a:r>
          </a:p>
          <a:p>
            <a:pPr lvl="3">
              <a:buFontTx/>
              <a:buChar char="-"/>
            </a:pPr>
            <a:r>
              <a:rPr lang="fr-BE" b="1" dirty="0"/>
              <a:t>65 ou 130 jours </a:t>
            </a:r>
            <a:r>
              <a:rPr lang="fr-BE" dirty="0"/>
              <a:t>calendrier R5</a:t>
            </a:r>
          </a:p>
          <a:p>
            <a:pPr lvl="3">
              <a:buFontTx/>
              <a:buChar char="-"/>
            </a:pPr>
            <a:r>
              <a:rPr lang="fr-BE" b="1" dirty="0"/>
              <a:t>78 ou 156 jours </a:t>
            </a:r>
            <a:r>
              <a:rPr lang="fr-BE" dirty="0"/>
              <a:t>sur base art. 37 (=formules DMFA)</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12</a:t>
            </a:fld>
            <a:endParaRPr lang="fr-FR"/>
          </a:p>
        </p:txBody>
      </p:sp>
    </p:spTree>
    <p:extLst>
      <p:ext uri="{BB962C8B-B14F-4D97-AF65-F5344CB8AC3E}">
        <p14:creationId xmlns:p14="http://schemas.microsoft.com/office/powerpoint/2010/main" val="367185833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100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1000"/>
                                        <p:tgtEl>
                                          <p:spTgt spid="3">
                                            <p:txEl>
                                              <p:pRg st="5" end="5"/>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10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10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dirty="0"/>
          </a:p>
        </p:txBody>
      </p:sp>
      <p:sp>
        <p:nvSpPr>
          <p:cNvPr id="3" name="Espace réservé du contenu 2"/>
          <p:cNvSpPr>
            <a:spLocks noGrp="1"/>
          </p:cNvSpPr>
          <p:nvPr>
            <p:ph idx="1"/>
          </p:nvPr>
        </p:nvSpPr>
        <p:spPr/>
        <p:txBody>
          <a:bodyPr>
            <a:normAutofit/>
          </a:bodyPr>
          <a:lstStyle/>
          <a:p>
            <a:pPr marL="0" lvl="1" indent="0">
              <a:buNone/>
            </a:pPr>
            <a:r>
              <a:rPr lang="fr-BE" sz="3600" b="1" i="1" u="sng" dirty="0"/>
              <a:t>Exemple</a:t>
            </a:r>
            <a:r>
              <a:rPr lang="fr-BE" sz="3600" b="1" i="1" dirty="0"/>
              <a:t>:</a:t>
            </a:r>
          </a:p>
          <a:p>
            <a:pPr marL="457200" lvl="1" indent="-457200">
              <a:buFont typeface="Wingdings" panose="05000000000000000000" pitchFamily="2" charset="2"/>
              <a:buChar char="§"/>
            </a:pPr>
            <a:r>
              <a:rPr lang="fr-BE" sz="3200" dirty="0"/>
              <a:t>Occupation à 19/38 pendant 8 semaines</a:t>
            </a:r>
          </a:p>
          <a:p>
            <a:pPr marL="0" lvl="1" indent="0">
              <a:buNone/>
            </a:pPr>
            <a:r>
              <a:rPr lang="fr-BE" sz="3200" dirty="0"/>
              <a:t>Ensuite </a:t>
            </a:r>
          </a:p>
          <a:p>
            <a:pPr marL="457200" lvl="1" indent="-457200">
              <a:buFont typeface="Wingdings" panose="05000000000000000000" pitchFamily="2" charset="2"/>
              <a:buChar char="§"/>
            </a:pPr>
            <a:r>
              <a:rPr lang="fr-BE" sz="3200" dirty="0"/>
              <a:t>Occupation à 38/38 pendant 5 semaines</a:t>
            </a:r>
          </a:p>
          <a:p>
            <a:pPr marL="0" lvl="1" indent="0">
              <a:buNone/>
            </a:pPr>
            <a:r>
              <a:rPr lang="fr-BE" dirty="0"/>
              <a:t>Total = 8 sem. X 5 jours + 5 sem. X 5 jours = </a:t>
            </a:r>
            <a:r>
              <a:rPr lang="fr-BE" b="1" dirty="0"/>
              <a:t>65 jours</a:t>
            </a:r>
            <a:r>
              <a:rPr lang="fr-BE" sz="3600" b="1" dirty="0"/>
              <a:t> </a:t>
            </a:r>
          </a:p>
          <a:p>
            <a:pPr marL="0" lvl="1" indent="0">
              <a:buNone/>
            </a:pPr>
            <a:r>
              <a:rPr lang="fr-BE" sz="3200" b="1" dirty="0">
                <a:solidFill>
                  <a:srgbClr val="C00000"/>
                </a:solidFill>
                <a:sym typeface="Wingdings" panose="05000000000000000000" pitchFamily="2" charset="2"/>
              </a:rPr>
              <a:t> Condition des 3 mois est remplie</a:t>
            </a:r>
            <a:endParaRPr lang="fr-BE" sz="3200" b="1" dirty="0">
              <a:solidFill>
                <a:srgbClr val="C00000"/>
              </a:solidFill>
            </a:endParaRPr>
          </a:p>
          <a:p>
            <a:pPr marL="0" lvl="1" indent="0">
              <a:buNone/>
            </a:pPr>
            <a:endParaRPr lang="fr-BE" sz="3200" dirty="0"/>
          </a:p>
          <a:p>
            <a:pPr marL="0" lvl="1" indent="0">
              <a:buNone/>
            </a:pPr>
            <a:endParaRPr lang="fr-BE" sz="32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13</a:t>
            </a:fld>
            <a:endParaRPr lang="fr-FR"/>
          </a:p>
        </p:txBody>
      </p:sp>
    </p:spTree>
    <p:extLst>
      <p:ext uri="{BB962C8B-B14F-4D97-AF65-F5344CB8AC3E}">
        <p14:creationId xmlns:p14="http://schemas.microsoft.com/office/powerpoint/2010/main" val="162939985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b="1" dirty="0"/>
          </a:p>
        </p:txBody>
      </p:sp>
      <p:sp>
        <p:nvSpPr>
          <p:cNvPr id="3" name="Espace réservé du contenu 2"/>
          <p:cNvSpPr>
            <a:spLocks noGrp="1"/>
          </p:cNvSpPr>
          <p:nvPr>
            <p:ph idx="1"/>
          </p:nvPr>
        </p:nvSpPr>
        <p:spPr/>
        <p:txBody>
          <a:bodyPr/>
          <a:lstStyle/>
          <a:p>
            <a:pPr lvl="1">
              <a:buFont typeface="Wingdings" panose="05000000000000000000" pitchFamily="2" charset="2"/>
              <a:buChar char="v"/>
            </a:pPr>
            <a:r>
              <a:rPr lang="fr-BE" b="1" dirty="0"/>
              <a:t>Assouplissements</a:t>
            </a:r>
            <a:r>
              <a:rPr lang="fr-BE" dirty="0"/>
              <a:t> à la condition des 6 mois:</a:t>
            </a:r>
          </a:p>
          <a:p>
            <a:pPr marL="457200" lvl="1" indent="0">
              <a:buNone/>
            </a:pPr>
            <a:r>
              <a:rPr lang="fr-BE" u="sng" dirty="0"/>
              <a:t>Une occupation de plus courte durée satisfait également aux conditions si:</a:t>
            </a:r>
            <a:endParaRPr lang="fr-BE" dirty="0"/>
          </a:p>
          <a:p>
            <a:pPr lvl="2">
              <a:buFont typeface="Wingdings" panose="05000000000000000000" pitchFamily="2" charset="2"/>
              <a:buChar char="Ø"/>
            </a:pPr>
            <a:r>
              <a:rPr lang="fr-BE" dirty="0"/>
              <a:t>Il est satisfait à la </a:t>
            </a:r>
            <a:r>
              <a:rPr lang="fr-BE" b="1" dirty="0"/>
              <a:t>condition des 3 mois</a:t>
            </a:r>
            <a:r>
              <a:rPr lang="fr-BE" dirty="0"/>
              <a:t> </a:t>
            </a:r>
          </a:p>
          <a:p>
            <a:pPr marL="914400" lvl="2" indent="0">
              <a:buNone/>
            </a:pPr>
            <a:r>
              <a:rPr lang="fr-BE" b="1" u="sng" dirty="0">
                <a:solidFill>
                  <a:srgbClr val="C00000"/>
                </a:solidFill>
              </a:rPr>
              <a:t>Et:</a:t>
            </a:r>
          </a:p>
          <a:p>
            <a:pPr lvl="3">
              <a:buFont typeface="Arial" panose="020B0604020202020204" pitchFamily="34" charset="0"/>
              <a:buChar char="•"/>
            </a:pPr>
            <a:r>
              <a:rPr lang="fr-BE" sz="2400" dirty="0"/>
              <a:t>Soit</a:t>
            </a:r>
            <a:r>
              <a:rPr lang="fr-BE" sz="2400" b="1" dirty="0"/>
              <a:t> CDI</a:t>
            </a:r>
            <a:r>
              <a:rPr lang="fr-BE" sz="2400" dirty="0"/>
              <a:t> prend fin avant les 6 mois sans attitude fautive</a:t>
            </a:r>
            <a:endParaRPr lang="fr-BE" sz="2400" b="1" dirty="0"/>
          </a:p>
          <a:p>
            <a:pPr lvl="3">
              <a:buFont typeface="Arial" panose="020B0604020202020204" pitchFamily="34" charset="0"/>
              <a:buChar char="•"/>
            </a:pPr>
            <a:r>
              <a:rPr lang="fr-BE" sz="2400" dirty="0"/>
              <a:t>Soit</a:t>
            </a:r>
            <a:r>
              <a:rPr lang="fr-BE" sz="2400" b="1" dirty="0"/>
              <a:t> CDD de minimum 6 mois </a:t>
            </a:r>
            <a:r>
              <a:rPr lang="fr-BE" sz="2400" dirty="0"/>
              <a:t>prend fin avant les 6 mois sans attitude fautive</a:t>
            </a:r>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14</a:t>
            </a:fld>
            <a:endParaRPr lang="fr-FR"/>
          </a:p>
        </p:txBody>
      </p:sp>
    </p:spTree>
    <p:extLst>
      <p:ext uri="{BB962C8B-B14F-4D97-AF65-F5344CB8AC3E}">
        <p14:creationId xmlns:p14="http://schemas.microsoft.com/office/powerpoint/2010/main" val="46064530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10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pPr algn="r"/>
            <a:r>
              <a:rPr lang="fr-BE" b="1" i="1" dirty="0"/>
              <a:t>1.1 Jours pris en considération</a:t>
            </a:r>
            <a:endParaRPr lang="fr-BE" b="1" dirty="0"/>
          </a:p>
        </p:txBody>
      </p:sp>
      <p:sp>
        <p:nvSpPr>
          <p:cNvPr id="3" name="Espace réservé du contenu 2"/>
          <p:cNvSpPr>
            <a:spLocks noGrp="1"/>
          </p:cNvSpPr>
          <p:nvPr>
            <p:ph idx="1"/>
          </p:nvPr>
        </p:nvSpPr>
        <p:spPr>
          <a:xfrm>
            <a:off x="457200" y="1600200"/>
            <a:ext cx="8229600" cy="4756150"/>
          </a:xfrm>
        </p:spPr>
        <p:txBody>
          <a:bodyPr>
            <a:normAutofit fontScale="62500" lnSpcReduction="20000"/>
          </a:bodyPr>
          <a:lstStyle/>
          <a:p>
            <a:pPr marL="457200" lvl="1" indent="-457200">
              <a:buFont typeface="Arial" panose="020B0604020202020204" pitchFamily="34" charset="0"/>
              <a:buChar char="•"/>
            </a:pPr>
            <a:r>
              <a:rPr lang="fr-BE" sz="3100" b="1" u="sng" dirty="0"/>
              <a:t>Cas particulier</a:t>
            </a:r>
            <a:r>
              <a:rPr lang="fr-BE" sz="3100" b="1" dirty="0"/>
              <a:t>: </a:t>
            </a:r>
          </a:p>
          <a:p>
            <a:pPr lvl="1">
              <a:buClr>
                <a:schemeClr val="tx1"/>
              </a:buClr>
              <a:buFont typeface="Wingdings" panose="05000000000000000000" pitchFamily="2" charset="2"/>
              <a:buChar char="Ø"/>
            </a:pPr>
            <a:r>
              <a:rPr lang="fr-BE" dirty="0"/>
              <a:t>Le travail à l’étranger </a:t>
            </a:r>
            <a:r>
              <a:rPr lang="fr-BE" b="1" i="1" dirty="0">
                <a:solidFill>
                  <a:srgbClr val="C00000"/>
                </a:solidFill>
              </a:rPr>
              <a:t>détaché à partir de la Belgique</a:t>
            </a:r>
            <a:r>
              <a:rPr lang="fr-BE" dirty="0"/>
              <a:t>, avec cotisations ONSS secteur chômage ;</a:t>
            </a:r>
          </a:p>
          <a:p>
            <a:pPr marL="457200" lvl="1" indent="0">
              <a:buClr>
                <a:schemeClr val="tx1"/>
              </a:buClr>
              <a:buNone/>
            </a:pPr>
            <a:endParaRPr lang="fr-BE" sz="1300" dirty="0"/>
          </a:p>
          <a:p>
            <a:pPr lvl="1">
              <a:buClr>
                <a:schemeClr val="tx1"/>
              </a:buClr>
              <a:buFont typeface="Wingdings" panose="05000000000000000000" pitchFamily="2" charset="2"/>
              <a:buChar char="Ø"/>
            </a:pPr>
            <a:r>
              <a:rPr lang="fr-BE" dirty="0"/>
              <a:t> Le travail salarié dans un pays de l’EEE si l’intéressé </a:t>
            </a:r>
            <a:r>
              <a:rPr lang="fr-BE" b="1" dirty="0"/>
              <a:t>a conservé/établi ses centres d’intérêts en Belgique</a:t>
            </a:r>
            <a:r>
              <a:rPr lang="fr-BE" dirty="0"/>
              <a:t> et que l’intéressé :</a:t>
            </a:r>
          </a:p>
          <a:p>
            <a:pPr lvl="2">
              <a:buClr>
                <a:schemeClr val="tx1"/>
              </a:buClr>
              <a:buFont typeface="Wingdings" panose="05000000000000000000" pitchFamily="2" charset="2"/>
              <a:buChar char="v"/>
            </a:pPr>
            <a:r>
              <a:rPr lang="fr-BE" sz="2900" dirty="0"/>
              <a:t>revient journalièrement ou au moins une fois par semaine en Belgique = </a:t>
            </a:r>
            <a:r>
              <a:rPr lang="fr-BE" sz="2900" b="1" i="1" dirty="0">
                <a:solidFill>
                  <a:srgbClr val="C00000"/>
                </a:solidFill>
              </a:rPr>
              <a:t>Travail frontalier.</a:t>
            </a:r>
          </a:p>
          <a:p>
            <a:pPr lvl="2">
              <a:buClr>
                <a:schemeClr val="tx1"/>
              </a:buClr>
              <a:buFont typeface="Wingdings" panose="05000000000000000000" pitchFamily="2" charset="2"/>
              <a:buChar char="v"/>
            </a:pPr>
            <a:r>
              <a:rPr lang="fr-BE" sz="2900" b="1" i="1" dirty="0"/>
              <a:t>Séjourne temporairement </a:t>
            </a:r>
            <a:r>
              <a:rPr lang="fr-BE" sz="2900" i="1" dirty="0"/>
              <a:t>dans un autre état membre (pays d’activité) et revient en Belgique à l’issue de son occupation</a:t>
            </a:r>
            <a:endParaRPr lang="fr-BE" sz="2900" b="1" i="1" dirty="0">
              <a:solidFill>
                <a:srgbClr val="C00000"/>
              </a:solidFill>
            </a:endParaRPr>
          </a:p>
          <a:p>
            <a:pPr marL="457200" lvl="1" indent="0">
              <a:buClr>
                <a:schemeClr val="tx1"/>
              </a:buClr>
              <a:buNone/>
            </a:pPr>
            <a:endParaRPr lang="fr-BE" sz="1300" b="1" i="1" dirty="0">
              <a:solidFill>
                <a:srgbClr val="C00000"/>
              </a:solidFill>
            </a:endParaRPr>
          </a:p>
          <a:p>
            <a:pPr marL="457200" lvl="1" indent="0">
              <a:buClr>
                <a:schemeClr val="tx1"/>
              </a:buClr>
              <a:buNone/>
            </a:pPr>
            <a:r>
              <a:rPr lang="fr-BE" b="1" i="1" dirty="0">
                <a:solidFill>
                  <a:srgbClr val="C00000"/>
                </a:solidFill>
                <a:sym typeface="Wingdings" panose="05000000000000000000" pitchFamily="2" charset="2"/>
              </a:rPr>
              <a:t> Dans ces 3 cas aucune occupation en Belgique n’est requise</a:t>
            </a:r>
          </a:p>
          <a:p>
            <a:pPr marL="457200" lvl="1" indent="0">
              <a:buClr>
                <a:schemeClr val="tx1"/>
              </a:buClr>
              <a:buNone/>
            </a:pPr>
            <a:endParaRPr lang="fr-BE" b="1" i="1" dirty="0">
              <a:solidFill>
                <a:srgbClr val="C00000"/>
              </a:solidFill>
            </a:endParaRPr>
          </a:p>
          <a:p>
            <a:pPr marL="857250" lvl="2" indent="-457200">
              <a:buFont typeface="Wingdings" panose="05000000000000000000" pitchFamily="2" charset="2"/>
              <a:buChar char="Ø"/>
            </a:pPr>
            <a:r>
              <a:rPr lang="fr-BE" sz="2800" dirty="0">
                <a:sym typeface="Wingdings" panose="05000000000000000000" pitchFamily="2" charset="2"/>
              </a:rPr>
              <a:t>P</a:t>
            </a:r>
            <a:r>
              <a:rPr lang="fr-BE" sz="2800" dirty="0"/>
              <a:t>restations hors EEE, Suisse ou Royaume-Uni avec cotisations </a:t>
            </a:r>
            <a:r>
              <a:rPr lang="fr-BE" sz="2800" b="1" dirty="0">
                <a:solidFill>
                  <a:srgbClr val="C00000"/>
                </a:solidFill>
              </a:rPr>
              <a:t>sécurité sociale d’outre-mer </a:t>
            </a:r>
            <a:r>
              <a:rPr lang="fr-BE" sz="2800" dirty="0"/>
              <a:t>(ancien OSSOM)</a:t>
            </a:r>
            <a:r>
              <a:rPr lang="fr-BE" sz="2800" dirty="0">
                <a:sym typeface="Wingdings" panose="05000000000000000000" pitchFamily="2" charset="2"/>
              </a:rPr>
              <a:t>:</a:t>
            </a:r>
          </a:p>
          <a:p>
            <a:pPr marL="1200150" lvl="3" indent="-342900">
              <a:buFont typeface="Wingdings" panose="05000000000000000000" pitchFamily="2" charset="2"/>
              <a:buChar char="v"/>
            </a:pPr>
            <a:r>
              <a:rPr lang="fr-BE" sz="2800" b="1" dirty="0">
                <a:sym typeface="Wingdings" panose="05000000000000000000" pitchFamily="2" charset="2"/>
              </a:rPr>
              <a:t>doivent être </a:t>
            </a:r>
            <a:r>
              <a:rPr lang="fr-BE" sz="2800" b="1" dirty="0"/>
              <a:t>suivies d’un jour de travail en Belgique </a:t>
            </a:r>
            <a:r>
              <a:rPr lang="fr-BE" sz="2800" dirty="0"/>
              <a:t>peu importe la date de début de l’occupation</a:t>
            </a:r>
          </a:p>
          <a:p>
            <a:pPr marL="1200150" lvl="3" indent="-342900">
              <a:buFont typeface="Wingdings" panose="05000000000000000000" pitchFamily="2" charset="2"/>
              <a:buChar char="v"/>
            </a:pPr>
            <a:r>
              <a:rPr lang="fr-BE" sz="2800" b="1" dirty="0">
                <a:sym typeface="Wingdings" panose="05000000000000000000" pitchFamily="2" charset="2"/>
              </a:rPr>
              <a:t>Peu importe le pays </a:t>
            </a:r>
            <a:r>
              <a:rPr lang="fr-BE" sz="2800" dirty="0">
                <a:sym typeface="Wingdings" panose="05000000000000000000" pitchFamily="2" charset="2"/>
              </a:rPr>
              <a:t>où elles ont été effectuées (ne doit pas être partie à convention avec la Belgique)</a:t>
            </a:r>
          </a:p>
          <a:p>
            <a:pPr marL="857250" lvl="3" indent="0">
              <a:buNone/>
            </a:pPr>
            <a:endParaRPr lang="fr-BE" sz="2800" b="1" dirty="0"/>
          </a:p>
          <a:p>
            <a:pPr marL="1201738" lvl="2" indent="0">
              <a:buNone/>
            </a:pPr>
            <a:endParaRPr lang="fr-BE"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15</a:t>
            </a:fld>
            <a:endParaRPr lang="fr-FR"/>
          </a:p>
        </p:txBody>
      </p:sp>
    </p:spTree>
    <p:extLst>
      <p:ext uri="{BB962C8B-B14F-4D97-AF65-F5344CB8AC3E}">
        <p14:creationId xmlns:p14="http://schemas.microsoft.com/office/powerpoint/2010/main" val="125358473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10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10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1000"/>
                                        <p:tgtEl>
                                          <p:spTgt spid="3">
                                            <p:txEl>
                                              <p:pRg st="7" end="7"/>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Effect transition="in" filter="fade">
                                      <p:cBhvr>
                                        <p:cTn id="31" dur="1000"/>
                                        <p:tgtEl>
                                          <p:spTgt spid="3">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fade">
                                      <p:cBhvr>
                                        <p:cTn id="36" dur="1000"/>
                                        <p:tgtEl>
                                          <p:spTgt spid="3">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animEffect transition="in" filter="fade">
                                      <p:cBhvr>
                                        <p:cTn id="41" dur="1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a:bodyPr>
          <a:lstStyle/>
          <a:p>
            <a:pPr algn="r"/>
            <a:r>
              <a:rPr lang="fr-BE" b="1" i="1" dirty="0"/>
              <a:t>1.1 Jours pris en considération</a:t>
            </a:r>
            <a:endParaRPr lang="en-GB" b="1" i="1" dirty="0"/>
          </a:p>
        </p:txBody>
      </p:sp>
      <p:sp>
        <p:nvSpPr>
          <p:cNvPr id="65539" name="Rectangle 3"/>
          <p:cNvSpPr>
            <a:spLocks noGrp="1" noChangeArrowheads="1"/>
          </p:cNvSpPr>
          <p:nvPr>
            <p:ph type="body" idx="1"/>
          </p:nvPr>
        </p:nvSpPr>
        <p:spPr/>
        <p:txBody>
          <a:bodyPr>
            <a:normAutofit/>
          </a:bodyPr>
          <a:lstStyle/>
          <a:p>
            <a:pPr>
              <a:buClr>
                <a:schemeClr val="tx1"/>
              </a:buClr>
              <a:buFont typeface="Wingdings" pitchFamily="2" charset="2"/>
              <a:buChar char="§"/>
            </a:pPr>
            <a:r>
              <a:rPr lang="fr-BE" i="1" u="sng" dirty="0"/>
              <a:t>Si le </a:t>
            </a:r>
            <a:r>
              <a:rPr lang="fr-BE" b="1" i="1" u="sng" dirty="0"/>
              <a:t>travail à l’étranger ne peut pas être pris en compte</a:t>
            </a:r>
            <a:r>
              <a:rPr lang="fr-BE" i="1" u="sng" dirty="0"/>
              <a:t> pour une admissibilité :</a:t>
            </a:r>
          </a:p>
          <a:p>
            <a:pPr indent="11113">
              <a:buClr>
                <a:schemeClr val="tx1"/>
              </a:buClr>
              <a:buFont typeface="Wingdings" pitchFamily="2" charset="2"/>
              <a:buNone/>
            </a:pPr>
            <a:r>
              <a:rPr lang="fr-BE" dirty="0"/>
              <a:t>Le considérer comme du </a:t>
            </a:r>
            <a:r>
              <a:rPr lang="fr-BE" b="1" dirty="0">
                <a:solidFill>
                  <a:srgbClr val="C00000"/>
                </a:solidFill>
              </a:rPr>
              <a:t>travail sans ONSS secteur chômage</a:t>
            </a:r>
            <a:r>
              <a:rPr lang="fr-BE" dirty="0"/>
              <a:t> </a:t>
            </a:r>
          </a:p>
          <a:p>
            <a:pPr indent="11113">
              <a:buClr>
                <a:schemeClr val="tx1"/>
              </a:buClr>
              <a:buFont typeface="Wingdings" pitchFamily="2" charset="2"/>
              <a:buNone/>
            </a:pPr>
            <a:endParaRPr lang="fr-BE" dirty="0"/>
          </a:p>
          <a:p>
            <a:pPr>
              <a:buClr>
                <a:schemeClr val="tx1"/>
              </a:buClr>
              <a:buFont typeface="Wingdings" panose="05000000000000000000" pitchFamily="2" charset="2"/>
              <a:buChar char="è"/>
            </a:pPr>
            <a:r>
              <a:rPr lang="fr-BE" dirty="0">
                <a:sym typeface="Wingdings" pitchFamily="2" charset="2"/>
              </a:rPr>
              <a:t>Ce qui permet de prolonger la période de référence </a:t>
            </a:r>
            <a:r>
              <a:rPr lang="fr-BE" sz="2800" dirty="0">
                <a:sym typeface="Wingdings" pitchFamily="2" charset="2"/>
              </a:rPr>
              <a:t>(AR 30 à 33)</a:t>
            </a:r>
          </a:p>
          <a:p>
            <a:pPr marL="0" indent="0">
              <a:buClr>
                <a:schemeClr val="tx1"/>
              </a:buClr>
              <a:buNone/>
            </a:pPr>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16</a:t>
            </a:fld>
            <a:endParaRPr lang="fr-FR"/>
          </a:p>
        </p:txBody>
      </p:sp>
    </p:spTree>
    <p:extLst>
      <p:ext uri="{BB962C8B-B14F-4D97-AF65-F5344CB8AC3E}">
        <p14:creationId xmlns:p14="http://schemas.microsoft.com/office/powerpoint/2010/main" val="62898228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fade">
                                      <p:cBhvr>
                                        <p:cTn id="7" dur="10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539">
                                            <p:txEl>
                                              <p:pRg st="1" end="1"/>
                                            </p:txEl>
                                          </p:spTgt>
                                        </p:tgtEl>
                                        <p:attrNameLst>
                                          <p:attrName>style.visibility</p:attrName>
                                        </p:attrNameLst>
                                      </p:cBhvr>
                                      <p:to>
                                        <p:strVal val="visible"/>
                                      </p:to>
                                    </p:set>
                                    <p:animEffect transition="in" filter="fade">
                                      <p:cBhvr>
                                        <p:cTn id="12" dur="1000"/>
                                        <p:tgtEl>
                                          <p:spTgt spid="655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539">
                                            <p:txEl>
                                              <p:pRg st="3" end="3"/>
                                            </p:txEl>
                                          </p:spTgt>
                                        </p:tgtEl>
                                        <p:attrNameLst>
                                          <p:attrName>style.visibility</p:attrName>
                                        </p:attrNameLst>
                                      </p:cBhvr>
                                      <p:to>
                                        <p:strVal val="visible"/>
                                      </p:to>
                                    </p:set>
                                    <p:animEffect transition="in" filter="fade">
                                      <p:cBhvr>
                                        <p:cTn id="17" dur="1000"/>
                                        <p:tgtEl>
                                          <p:spTgt spid="655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2"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a:bodyPr>
          <a:lstStyle/>
          <a:p>
            <a:pPr algn="r"/>
            <a:r>
              <a:rPr lang="fr-BE" b="1" i="1" dirty="0"/>
              <a:t>1.2. Le régime d’indemnisation</a:t>
            </a:r>
            <a:endParaRPr lang="en-GB" b="1" i="1" dirty="0"/>
          </a:p>
        </p:txBody>
      </p:sp>
      <p:sp>
        <p:nvSpPr>
          <p:cNvPr id="65539" name="Rectangle 3"/>
          <p:cNvSpPr>
            <a:spLocks noGrp="1" noChangeArrowheads="1"/>
          </p:cNvSpPr>
          <p:nvPr>
            <p:ph type="body" idx="1"/>
          </p:nvPr>
        </p:nvSpPr>
        <p:spPr/>
        <p:txBody>
          <a:bodyPr>
            <a:normAutofit/>
          </a:bodyPr>
          <a:lstStyle/>
          <a:p>
            <a:pPr>
              <a:buClr>
                <a:schemeClr val="tx1"/>
              </a:buClr>
              <a:buFont typeface="Wingdings" pitchFamily="2" charset="2"/>
              <a:buChar char="§"/>
            </a:pPr>
            <a:r>
              <a:rPr lang="fr-BE" sz="3000" i="1" u="sng" dirty="0"/>
              <a:t>Le régime d’indemnisation </a:t>
            </a:r>
            <a:r>
              <a:rPr lang="fr-BE" sz="2000" i="1" u="sng" dirty="0"/>
              <a:t>(AR 100) </a:t>
            </a:r>
            <a:r>
              <a:rPr lang="fr-BE" sz="2800" i="1" u="sng" dirty="0"/>
              <a:t>:</a:t>
            </a:r>
          </a:p>
          <a:p>
            <a:pPr>
              <a:buClr>
                <a:schemeClr val="tx1"/>
              </a:buClr>
              <a:buNone/>
            </a:pPr>
            <a:endParaRPr lang="fr-BE" sz="3000" i="1" u="sng" dirty="0"/>
          </a:p>
          <a:p>
            <a:pPr>
              <a:buClr>
                <a:schemeClr val="tx1"/>
              </a:buClr>
              <a:buFont typeface="Wingdings" pitchFamily="2" charset="2"/>
              <a:buNone/>
            </a:pPr>
            <a:r>
              <a:rPr lang="fr-BE" sz="3000" dirty="0"/>
              <a:t>	Il est déterminé sur base de la dernière occupation d’au moins une semaine en Belgique, </a:t>
            </a:r>
            <a:r>
              <a:rPr lang="fr-BE" sz="3000" b="1" i="1" dirty="0"/>
              <a:t>OU</a:t>
            </a:r>
          </a:p>
          <a:p>
            <a:pPr>
              <a:buClr>
                <a:schemeClr val="tx1"/>
              </a:buClr>
              <a:buFont typeface="Wingdings" pitchFamily="2" charset="2"/>
              <a:buNone/>
            </a:pPr>
            <a:r>
              <a:rPr lang="fr-BE" sz="3000" dirty="0"/>
              <a:t>	Sur base de la dernière occupation d’au moins une semaine à l’étranger si moins d’une semaine de travail en Belgique.</a:t>
            </a:r>
          </a:p>
          <a:p>
            <a:pPr>
              <a:buClr>
                <a:schemeClr val="tx1"/>
              </a:buClr>
              <a:buNone/>
            </a:pPr>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17</a:t>
            </a:fld>
            <a:endParaRPr lang="fr-FR"/>
          </a:p>
        </p:txBody>
      </p:sp>
    </p:spTree>
    <p:extLst>
      <p:ext uri="{BB962C8B-B14F-4D97-AF65-F5344CB8AC3E}">
        <p14:creationId xmlns:p14="http://schemas.microsoft.com/office/powerpoint/2010/main" val="16245157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fade">
                                      <p:cBhvr>
                                        <p:cTn id="7" dur="10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539">
                                            <p:txEl>
                                              <p:pRg st="2" end="2"/>
                                            </p:txEl>
                                          </p:spTgt>
                                        </p:tgtEl>
                                        <p:attrNameLst>
                                          <p:attrName>style.visibility</p:attrName>
                                        </p:attrNameLst>
                                      </p:cBhvr>
                                      <p:to>
                                        <p:strVal val="visible"/>
                                      </p:to>
                                    </p:set>
                                    <p:animEffect transition="in" filter="fade">
                                      <p:cBhvr>
                                        <p:cTn id="12" dur="1000"/>
                                        <p:tgtEl>
                                          <p:spTgt spid="655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539">
                                            <p:txEl>
                                              <p:pRg st="3" end="3"/>
                                            </p:txEl>
                                          </p:spTgt>
                                        </p:tgtEl>
                                        <p:attrNameLst>
                                          <p:attrName>style.visibility</p:attrName>
                                        </p:attrNameLst>
                                      </p:cBhvr>
                                      <p:to>
                                        <p:strVal val="visible"/>
                                      </p:to>
                                    </p:set>
                                    <p:animEffect transition="in" filter="fade">
                                      <p:cBhvr>
                                        <p:cTn id="17" dur="1000"/>
                                        <p:tgtEl>
                                          <p:spTgt spid="655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algn="r"/>
            <a:r>
              <a:rPr lang="fr-BE" b="1" i="1" dirty="0"/>
              <a:t>1.3 Le code chiffré…</a:t>
            </a:r>
            <a:endParaRPr lang="en-GB" b="1" i="1" dirty="0"/>
          </a:p>
        </p:txBody>
      </p:sp>
      <p:sp>
        <p:nvSpPr>
          <p:cNvPr id="37891" name="Rectangle 3"/>
          <p:cNvSpPr>
            <a:spLocks noGrp="1" noChangeArrowheads="1"/>
          </p:cNvSpPr>
          <p:nvPr>
            <p:ph type="body" idx="1"/>
          </p:nvPr>
        </p:nvSpPr>
        <p:spPr>
          <a:xfrm>
            <a:off x="438411" y="1632046"/>
            <a:ext cx="8229600" cy="4525963"/>
          </a:xfrm>
        </p:spPr>
        <p:txBody>
          <a:bodyPr>
            <a:normAutofit/>
          </a:bodyPr>
          <a:lstStyle/>
          <a:p>
            <a:pPr>
              <a:buClr>
                <a:schemeClr val="tx1"/>
              </a:buClr>
            </a:pPr>
            <a:r>
              <a:rPr lang="fr-BE" sz="2800" b="1" i="1" dirty="0"/>
              <a:t>Détermination du code chiffré</a:t>
            </a:r>
            <a:r>
              <a:rPr lang="fr-BE" b="1" i="1" dirty="0"/>
              <a:t>:</a:t>
            </a:r>
          </a:p>
          <a:p>
            <a:pPr>
              <a:buClr>
                <a:schemeClr val="tx1"/>
              </a:buClr>
            </a:pPr>
            <a:endParaRPr lang="fr-BE" b="1" i="1"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18</a:t>
            </a:fld>
            <a:endParaRPr lang="fr-FR"/>
          </a:p>
        </p:txBody>
      </p:sp>
      <p:sp>
        <p:nvSpPr>
          <p:cNvPr id="6" name="ZoneTexte 5"/>
          <p:cNvSpPr txBox="1"/>
          <p:nvPr/>
        </p:nvSpPr>
        <p:spPr>
          <a:xfrm>
            <a:off x="755577" y="6183378"/>
            <a:ext cx="7488832" cy="369332"/>
          </a:xfrm>
          <a:prstGeom prst="rect">
            <a:avLst/>
          </a:prstGeom>
          <a:noFill/>
        </p:spPr>
        <p:txBody>
          <a:bodyPr wrap="square" rtlCol="0">
            <a:spAutoFit/>
          </a:bodyPr>
          <a:lstStyle/>
          <a:p>
            <a:r>
              <a:rPr lang="fr-BE" dirty="0"/>
              <a:t>(*) Peu importe la durée de l’occupation en Belgique</a:t>
            </a:r>
          </a:p>
        </p:txBody>
      </p:sp>
      <p:graphicFrame>
        <p:nvGraphicFramePr>
          <p:cNvPr id="8" name="Tableau 7"/>
          <p:cNvGraphicFramePr>
            <a:graphicFrameLocks noGrp="1" noChangeAspect="1"/>
          </p:cNvGraphicFramePr>
          <p:nvPr/>
        </p:nvGraphicFramePr>
        <p:xfrm>
          <a:off x="551280" y="2348880"/>
          <a:ext cx="7704855" cy="3581727"/>
        </p:xfrm>
        <a:graphic>
          <a:graphicData uri="http://schemas.openxmlformats.org/drawingml/2006/table">
            <a:tbl>
              <a:tblPr firstRow="1" bandRow="1">
                <a:tableStyleId>{F5AB1C69-6EDB-4FF4-983F-18BD219EF322}</a:tableStyleId>
              </a:tblPr>
              <a:tblGrid>
                <a:gridCol w="2568285">
                  <a:extLst>
                    <a:ext uri="{9D8B030D-6E8A-4147-A177-3AD203B41FA5}">
                      <a16:colId xmlns:a16="http://schemas.microsoft.com/office/drawing/2014/main" val="20000"/>
                    </a:ext>
                  </a:extLst>
                </a:gridCol>
                <a:gridCol w="2568285">
                  <a:extLst>
                    <a:ext uri="{9D8B030D-6E8A-4147-A177-3AD203B41FA5}">
                      <a16:colId xmlns:a16="http://schemas.microsoft.com/office/drawing/2014/main" val="20001"/>
                    </a:ext>
                  </a:extLst>
                </a:gridCol>
                <a:gridCol w="2568285">
                  <a:extLst>
                    <a:ext uri="{9D8B030D-6E8A-4147-A177-3AD203B41FA5}">
                      <a16:colId xmlns:a16="http://schemas.microsoft.com/office/drawing/2014/main" val="20002"/>
                    </a:ext>
                  </a:extLst>
                </a:gridCol>
              </a:tblGrid>
              <a:tr h="1287080">
                <a:tc>
                  <a:txBody>
                    <a:bodyPr/>
                    <a:lstStyle/>
                    <a:p>
                      <a:pPr algn="ctr"/>
                      <a:r>
                        <a:rPr lang="fr-BE" sz="2000" dirty="0"/>
                        <a:t>Prestations  à l’étranger…</a:t>
                      </a:r>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tcPr>
                </a:tc>
                <a:tc>
                  <a:txBody>
                    <a:bodyPr/>
                    <a:lstStyle/>
                    <a:p>
                      <a:pPr algn="ctr"/>
                      <a:r>
                        <a:rPr lang="fr-BE" sz="2000"/>
                        <a:t>Suivi</a:t>
                      </a:r>
                      <a:r>
                        <a:rPr lang="fr-BE" sz="2000" baseline="0"/>
                        <a:t> d’une</a:t>
                      </a:r>
                      <a:r>
                        <a:rPr lang="fr-BE" sz="2000"/>
                        <a:t> </a:t>
                      </a:r>
                      <a:r>
                        <a:rPr lang="fr-BE" sz="2000" dirty="0"/>
                        <a:t>occupation comme salarié en BE</a:t>
                      </a:r>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B w="28575" cap="flat" cmpd="sng" algn="ctr">
                      <a:solidFill>
                        <a:schemeClr val="bg1"/>
                      </a:solidFill>
                      <a:prstDash val="solid"/>
                      <a:round/>
                      <a:headEnd type="none" w="med" len="med"/>
                      <a:tailEnd type="none" w="med" len="med"/>
                    </a:lnB>
                  </a:tcPr>
                </a:tc>
                <a:tc>
                  <a:txBody>
                    <a:bodyPr/>
                    <a:lstStyle/>
                    <a:p>
                      <a:pPr algn="ctr"/>
                      <a:r>
                        <a:rPr lang="fr-BE" sz="2000" dirty="0"/>
                        <a:t>Base du salaire journalier</a:t>
                      </a:r>
                      <a:r>
                        <a:rPr lang="fr-BE" dirty="0"/>
                        <a:t> </a:t>
                      </a:r>
                      <a:endParaRPr lang="fr-BE" baseline="30000" dirty="0"/>
                    </a:p>
                  </a:txBody>
                  <a:tcPr anchor="ctr" anchorCtr="1">
                    <a:lnL w="28575" cap="flat" cmpd="sng" algn="ctr">
                      <a:solidFill>
                        <a:schemeClr val="bg1"/>
                      </a:solidFill>
                      <a:prstDash val="solid"/>
                      <a:round/>
                      <a:headEnd type="none" w="med" len="med"/>
                      <a:tailEnd type="none" w="med" len="med"/>
                    </a:lnL>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401525">
                <a:tc>
                  <a:txBody>
                    <a:bodyPr/>
                    <a:lstStyle/>
                    <a:p>
                      <a:pPr algn="ctr"/>
                      <a:r>
                        <a:rPr lang="fr-BE" sz="2000" b="1" dirty="0"/>
                        <a:t>Tous pays</a:t>
                      </a:r>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fr-BE" sz="2000" b="1" dirty="0"/>
                        <a:t>≥</a:t>
                      </a:r>
                      <a:r>
                        <a:rPr lang="fr-BE" sz="2000" b="1" baseline="0" dirty="0"/>
                        <a:t> 4 semaines</a:t>
                      </a:r>
                      <a:endParaRPr lang="fr-BE" sz="2000" b="1" dirty="0"/>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fr-BE" sz="2000" b="1" dirty="0"/>
                        <a:t>BE</a:t>
                      </a:r>
                    </a:p>
                  </a:txBody>
                  <a:tcPr anchor="ctr" anchorCtr="1">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1"/>
                  </a:ext>
                </a:extLst>
              </a:tr>
              <a:tr h="396024">
                <a:tc>
                  <a:txBody>
                    <a:bodyPr/>
                    <a:lstStyle/>
                    <a:p>
                      <a:pPr algn="ctr"/>
                      <a:r>
                        <a:rPr lang="fr-BE" sz="2000" b="1" dirty="0" err="1"/>
                        <a:t>EEE+Turquie</a:t>
                      </a:r>
                      <a:endParaRPr lang="fr-BE" sz="2000" b="1" dirty="0"/>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20000"/>
                        <a:lumOff val="80000"/>
                      </a:schemeClr>
                    </a:solidFill>
                  </a:tcPr>
                </a:tc>
                <a:tc rowSpan="2">
                  <a:txBody>
                    <a:bodyPr/>
                    <a:lstStyle/>
                    <a:p>
                      <a:pPr algn="ctr"/>
                      <a:r>
                        <a:rPr lang="fr-BE" sz="2000" b="1" dirty="0"/>
                        <a:t>&lt;</a:t>
                      </a:r>
                      <a:r>
                        <a:rPr lang="fr-BE" sz="2000" b="1" baseline="0" dirty="0"/>
                        <a:t> 4 semaines</a:t>
                      </a:r>
                      <a:endParaRPr lang="fr-BE" sz="2000" b="1" dirty="0"/>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algn="ctr"/>
                      <a:r>
                        <a:rPr lang="fr-BE" sz="2000" b="1" dirty="0"/>
                        <a:t>BE </a:t>
                      </a:r>
                      <a:r>
                        <a:rPr lang="fr-BE" sz="2000" b="1" baseline="38000" dirty="0"/>
                        <a:t>(*)</a:t>
                      </a:r>
                    </a:p>
                  </a:txBody>
                  <a:tcPr anchor="ctr" anchorCtr="1">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2"/>
                  </a:ext>
                </a:extLst>
              </a:tr>
              <a:tr h="396024">
                <a:tc>
                  <a:txBody>
                    <a:bodyPr/>
                    <a:lstStyle/>
                    <a:p>
                      <a:pPr algn="ctr"/>
                      <a:r>
                        <a:rPr lang="fr-BE" sz="2000" b="1" dirty="0"/>
                        <a:t>Pays tiers</a:t>
                      </a:r>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20000"/>
                        <a:lumOff val="80000"/>
                      </a:schemeClr>
                    </a:solidFill>
                  </a:tcPr>
                </a:tc>
                <a:tc vMerge="1">
                  <a:txBody>
                    <a:bodyPr/>
                    <a:lstStyle/>
                    <a:p>
                      <a:endParaRPr lang="fr-BE" dirty="0"/>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20000"/>
                        <a:lumOff val="80000"/>
                      </a:schemeClr>
                    </a:solidFill>
                  </a:tcPr>
                </a:tc>
                <a:tc>
                  <a:txBody>
                    <a:bodyPr/>
                    <a:lstStyle/>
                    <a:p>
                      <a:pPr algn="ctr"/>
                      <a:r>
                        <a:rPr lang="fr-BE" sz="2000" b="1" dirty="0"/>
                        <a:t>Sal. réf.</a:t>
                      </a:r>
                    </a:p>
                  </a:txBody>
                  <a:tcPr anchor="ctr" anchorCtr="1">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3"/>
                  </a:ext>
                </a:extLst>
              </a:tr>
              <a:tr h="1100642">
                <a:tc>
                  <a:txBody>
                    <a:bodyPr/>
                    <a:lstStyle/>
                    <a:p>
                      <a:pPr algn="ctr"/>
                      <a:r>
                        <a:rPr lang="fr-BE" sz="2000" b="1" dirty="0"/>
                        <a:t>Pays frontalier ou pays de détachement</a:t>
                      </a:r>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fr-BE" sz="2000" b="1" dirty="0"/>
                        <a:t>aucune</a:t>
                      </a:r>
                    </a:p>
                  </a:txBody>
                  <a:tcPr anchor="ctr" anchorCtr="1">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fr-BE" sz="2000" b="1" dirty="0"/>
                        <a:t>Sal. étranger</a:t>
                      </a:r>
                    </a:p>
                  </a:txBody>
                  <a:tcPr anchor="ctr" anchorCtr="1">
                    <a:lnL w="28575" cap="flat" cmpd="sng" algn="ctr">
                      <a:solidFill>
                        <a:schemeClr val="bg1"/>
                      </a:solidFill>
                      <a:prstDash val="solid"/>
                      <a:round/>
                      <a:headEnd type="none" w="med" len="med"/>
                      <a:tailEnd type="none" w="med" len="med"/>
                    </a:lnL>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40000"/>
                        <a:lumOff val="60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6237937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Effect transition="in" filter="fade">
                                      <p:cBhvr>
                                        <p:cTn id="7" dur="1000"/>
                                        <p:tgtEl>
                                          <p:spTgt spid="37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25624" y="182860"/>
            <a:ext cx="8136904" cy="1143000"/>
          </a:xfrm>
        </p:spPr>
        <p:txBody>
          <a:bodyPr>
            <a:normAutofit/>
          </a:bodyPr>
          <a:lstStyle/>
          <a:p>
            <a:pPr algn="r"/>
            <a:r>
              <a:rPr lang="fr-BE" b="1" i="1" dirty="0"/>
              <a:t>1.4. Documents et suivi du dossier</a:t>
            </a:r>
            <a:endParaRPr lang="fr-FR" b="1" i="1" dirty="0"/>
          </a:p>
        </p:txBody>
      </p:sp>
      <p:sp>
        <p:nvSpPr>
          <p:cNvPr id="12291" name="Rectangle 3"/>
          <p:cNvSpPr>
            <a:spLocks noGrp="1" noChangeArrowheads="1"/>
          </p:cNvSpPr>
          <p:nvPr>
            <p:ph type="body" sz="half" idx="1"/>
          </p:nvPr>
        </p:nvSpPr>
        <p:spPr>
          <a:xfrm>
            <a:off x="525624" y="1788467"/>
            <a:ext cx="8136904" cy="4114800"/>
          </a:xfrm>
        </p:spPr>
        <p:txBody>
          <a:bodyPr>
            <a:normAutofit/>
          </a:bodyPr>
          <a:lstStyle/>
          <a:p>
            <a:pPr marL="0" indent="0">
              <a:buNone/>
            </a:pPr>
            <a:r>
              <a:rPr lang="fr-BE" sz="2800" b="1" dirty="0">
                <a:solidFill>
                  <a:srgbClr val="C00000"/>
                </a:solidFill>
              </a:rPr>
              <a:t>Travail EEE + Royaume-Uni et Suisse</a:t>
            </a:r>
            <a:r>
              <a:rPr lang="fr-BE" sz="2800" b="1" dirty="0"/>
              <a:t>: </a:t>
            </a:r>
          </a:p>
          <a:p>
            <a:pPr marL="0" indent="0">
              <a:buFont typeface="Wingdings" pitchFamily="2" charset="2"/>
              <a:buNone/>
            </a:pPr>
            <a:r>
              <a:rPr lang="fr-BE" sz="2800" dirty="0"/>
              <a:t>Les prestations de travail effectuées </a:t>
            </a:r>
            <a:r>
              <a:rPr lang="fr-BE" sz="2800" b="1" u="sng" dirty="0"/>
              <a:t>dans un des pays de l’EEE, au Royaume-Uni ou en Suisse </a:t>
            </a:r>
            <a:r>
              <a:rPr lang="fr-BE" sz="2800" dirty="0">
                <a:sym typeface="Wingdings" pitchFamily="2" charset="2"/>
              </a:rPr>
              <a:t>doivent être justifiées au moyen de:</a:t>
            </a:r>
          </a:p>
          <a:p>
            <a:pPr>
              <a:buFontTx/>
              <a:buChar char="-"/>
            </a:pPr>
            <a:r>
              <a:rPr lang="fr-BE" sz="2800" dirty="0"/>
              <a:t>Formulaire </a:t>
            </a:r>
            <a:r>
              <a:rPr lang="fr-BE" sz="2800" b="1" u="sng" dirty="0"/>
              <a:t>U1 ORIGINAL</a:t>
            </a:r>
            <a:r>
              <a:rPr lang="fr-BE" sz="2800" b="1" dirty="0"/>
              <a:t>  </a:t>
            </a:r>
            <a:r>
              <a:rPr lang="fr-BE" sz="2800" dirty="0"/>
              <a:t>complété par l’autorité étrangère compétente (équivalent </a:t>
            </a:r>
            <a:r>
              <a:rPr lang="fr-BE" sz="2800" dirty="0" err="1"/>
              <a:t>ONEm</a:t>
            </a:r>
            <a:r>
              <a:rPr lang="fr-BE" sz="2800" dirty="0"/>
              <a:t>)</a:t>
            </a:r>
            <a:endParaRPr lang="fr-BE" sz="2000" dirty="0"/>
          </a:p>
          <a:p>
            <a:pPr>
              <a:buFontTx/>
              <a:buChar char="-"/>
            </a:pPr>
            <a:r>
              <a:rPr lang="fr-BE" sz="2800" dirty="0">
                <a:sym typeface="Wingdings" pitchFamily="2" charset="2"/>
              </a:rPr>
              <a:t>Document de D.A (C109, C4,…)</a:t>
            </a:r>
          </a:p>
          <a:p>
            <a:pPr>
              <a:buFontTx/>
              <a:buChar char="-"/>
            </a:pPr>
            <a:r>
              <a:rPr lang="fr-BE" sz="2800" dirty="0">
                <a:sym typeface="Wingdings" pitchFamily="2" charset="2"/>
              </a:rPr>
              <a:t>Documents complémentaires éventuels</a:t>
            </a:r>
          </a:p>
        </p:txBody>
      </p:sp>
      <p:sp>
        <p:nvSpPr>
          <p:cNvPr id="2" name="Espace réservé du numéro de diapositive 1"/>
          <p:cNvSpPr>
            <a:spLocks noGrp="1"/>
          </p:cNvSpPr>
          <p:nvPr>
            <p:ph type="sldNum" sz="quarter" idx="12"/>
          </p:nvPr>
        </p:nvSpPr>
        <p:spPr/>
        <p:txBody>
          <a:bodyPr/>
          <a:lstStyle/>
          <a:p>
            <a:fld id="{3DCDE95E-3EB1-4057-AF34-A4F908CA5247}" type="slidenum">
              <a:rPr lang="fr-FR" smtClean="0"/>
              <a:pPr/>
              <a:t>19</a:t>
            </a:fld>
            <a:endParaRPr lang="fr-FR"/>
          </a:p>
        </p:txBody>
      </p:sp>
    </p:spTree>
    <p:extLst>
      <p:ext uri="{BB962C8B-B14F-4D97-AF65-F5344CB8AC3E}">
        <p14:creationId xmlns:p14="http://schemas.microsoft.com/office/powerpoint/2010/main" val="305384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10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10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fade">
                                      <p:cBhvr>
                                        <p:cTn id="17" dur="1000"/>
                                        <p:tgtEl>
                                          <p:spTgt spid="12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291">
                                            <p:txEl>
                                              <p:pRg st="3" end="3"/>
                                            </p:txEl>
                                          </p:spTgt>
                                        </p:tgtEl>
                                        <p:attrNameLst>
                                          <p:attrName>style.visibility</p:attrName>
                                        </p:attrNameLst>
                                      </p:cBhvr>
                                      <p:to>
                                        <p:strVal val="visible"/>
                                      </p:to>
                                    </p:set>
                                    <p:animEffect transition="in" filter="fade">
                                      <p:cBhvr>
                                        <p:cTn id="22" dur="1000"/>
                                        <p:tgtEl>
                                          <p:spTgt spid="122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291">
                                            <p:txEl>
                                              <p:pRg st="4" end="4"/>
                                            </p:txEl>
                                          </p:spTgt>
                                        </p:tgtEl>
                                        <p:attrNameLst>
                                          <p:attrName>style.visibility</p:attrName>
                                        </p:attrNameLst>
                                      </p:cBhvr>
                                      <p:to>
                                        <p:strVal val="visible"/>
                                      </p:to>
                                    </p:set>
                                    <p:animEffect transition="in" filter="fade">
                                      <p:cBhvr>
                                        <p:cTn id="27" dur="1000"/>
                                        <p:tgtEl>
                                          <p:spTgt spid="122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25624" y="182860"/>
            <a:ext cx="8136904" cy="1143000"/>
          </a:xfrm>
        </p:spPr>
        <p:txBody>
          <a:bodyPr>
            <a:normAutofit/>
          </a:bodyPr>
          <a:lstStyle/>
          <a:p>
            <a:pPr algn="r"/>
            <a:r>
              <a:rPr lang="fr-BE" b="1" i="1" dirty="0"/>
              <a:t>1.4. Documents et suivi du dossier</a:t>
            </a:r>
            <a:endParaRPr lang="fr-FR" b="1" i="1" dirty="0"/>
          </a:p>
        </p:txBody>
      </p:sp>
      <p:sp>
        <p:nvSpPr>
          <p:cNvPr id="12291" name="Rectangle 3"/>
          <p:cNvSpPr>
            <a:spLocks noGrp="1" noChangeArrowheads="1"/>
          </p:cNvSpPr>
          <p:nvPr>
            <p:ph type="body" sz="half" idx="1"/>
          </p:nvPr>
        </p:nvSpPr>
        <p:spPr>
          <a:xfrm>
            <a:off x="525624" y="1772816"/>
            <a:ext cx="8136904" cy="4114800"/>
          </a:xfrm>
        </p:spPr>
        <p:txBody>
          <a:bodyPr>
            <a:noAutofit/>
          </a:bodyPr>
          <a:lstStyle/>
          <a:p>
            <a:pPr marL="0" indent="0">
              <a:buNone/>
            </a:pPr>
            <a:r>
              <a:rPr lang="fr-BE" sz="2400" b="1" u="sng" dirty="0">
                <a:solidFill>
                  <a:srgbClr val="C00000"/>
                </a:solidFill>
                <a:sym typeface="Wingdings" pitchFamily="2" charset="2"/>
              </a:rPr>
              <a:t>IMPORTANT</a:t>
            </a:r>
            <a:r>
              <a:rPr lang="fr-BE" sz="2400" b="1" dirty="0">
                <a:solidFill>
                  <a:srgbClr val="C00000"/>
                </a:solidFill>
                <a:sym typeface="Wingdings" pitchFamily="2" charset="2"/>
              </a:rPr>
              <a:t>:</a:t>
            </a:r>
            <a:endParaRPr lang="fr-BE" sz="2400" b="1" u="sng" dirty="0">
              <a:solidFill>
                <a:srgbClr val="C00000"/>
              </a:solidFill>
              <a:sym typeface="Wingdings" pitchFamily="2" charset="2"/>
            </a:endParaRPr>
          </a:p>
          <a:p>
            <a:pPr marL="0" indent="0">
              <a:buNone/>
            </a:pPr>
            <a:r>
              <a:rPr lang="fr-BE" sz="2400" dirty="0">
                <a:sym typeface="Wingdings" pitchFamily="2" charset="2"/>
              </a:rPr>
              <a:t>Si nous le </a:t>
            </a:r>
            <a:r>
              <a:rPr lang="fr-BE" sz="2400" b="1" dirty="0">
                <a:sym typeface="Wingdings" pitchFamily="2" charset="2"/>
              </a:rPr>
              <a:t>document U1 ne peut être fourni</a:t>
            </a:r>
            <a:r>
              <a:rPr lang="fr-BE" sz="2400" dirty="0">
                <a:sym typeface="Wingdings" pitchFamily="2" charset="2"/>
              </a:rPr>
              <a:t> les données relatives aux </a:t>
            </a:r>
            <a:r>
              <a:rPr lang="fr-BE" sz="2400" b="1" dirty="0">
                <a:sym typeface="Wingdings" pitchFamily="2" charset="2"/>
              </a:rPr>
              <a:t>périodes d’assurance et de travail </a:t>
            </a:r>
            <a:r>
              <a:rPr lang="fr-BE" sz="1800" i="1" dirty="0">
                <a:sym typeface="Wingdings" pitchFamily="2" charset="2"/>
              </a:rPr>
              <a:t>(= flux U002/U017) </a:t>
            </a:r>
            <a:r>
              <a:rPr lang="fr-BE" sz="2400" i="1" dirty="0">
                <a:sym typeface="Wingdings" pitchFamily="2" charset="2"/>
              </a:rPr>
              <a:t>doivent être réclamées </a:t>
            </a:r>
            <a:r>
              <a:rPr lang="fr-BE" sz="2400" dirty="0">
                <a:sym typeface="Wingdings" pitchFamily="2" charset="2"/>
              </a:rPr>
              <a:t> directement auprès de l’institution étrangère compétente via l’application </a:t>
            </a:r>
            <a:r>
              <a:rPr lang="fr-BE" sz="2400" b="1" u="sng" dirty="0">
                <a:solidFill>
                  <a:srgbClr val="C00000"/>
                </a:solidFill>
                <a:sym typeface="Wingdings" pitchFamily="2" charset="2"/>
              </a:rPr>
              <a:t>RINA</a:t>
            </a:r>
          </a:p>
          <a:p>
            <a:pPr marL="0" indent="0">
              <a:buNone/>
            </a:pPr>
            <a:endParaRPr lang="fr-BE" sz="1100" b="1" u="sng" dirty="0">
              <a:solidFill>
                <a:srgbClr val="C00000"/>
              </a:solidFill>
              <a:sym typeface="Wingdings" pitchFamily="2" charset="2"/>
            </a:endParaRPr>
          </a:p>
          <a:p>
            <a:pPr marL="0" indent="0">
              <a:buNone/>
            </a:pPr>
            <a:r>
              <a:rPr lang="fr-BE" sz="2400" b="1" u="sng" dirty="0">
                <a:sym typeface="Wingdings" pitchFamily="2" charset="2"/>
              </a:rPr>
              <a:t>En pratique l’OP:</a:t>
            </a:r>
          </a:p>
          <a:p>
            <a:pPr marL="514350" indent="-514350">
              <a:buFont typeface="+mj-lt"/>
              <a:buAutoNum type="arabicPeriod"/>
            </a:pPr>
            <a:r>
              <a:rPr lang="fr-BE" sz="2200" b="1" dirty="0">
                <a:sym typeface="Wingdings" pitchFamily="2" charset="2"/>
              </a:rPr>
              <a:t>Complète</a:t>
            </a:r>
            <a:r>
              <a:rPr lang="fr-BE" sz="2200" dirty="0">
                <a:sym typeface="Wingdings" pitchFamily="2" charset="2"/>
              </a:rPr>
              <a:t> la demande dans Rina </a:t>
            </a:r>
            <a:r>
              <a:rPr lang="fr-BE" sz="1800" i="1" dirty="0">
                <a:sym typeface="Wingdings" pitchFamily="2" charset="2"/>
              </a:rPr>
              <a:t>(= Introduction SED U001/U001CB)</a:t>
            </a:r>
          </a:p>
          <a:p>
            <a:pPr marL="514350" indent="-514350">
              <a:buFont typeface="+mj-lt"/>
              <a:buAutoNum type="arabicPeriod"/>
            </a:pPr>
            <a:r>
              <a:rPr lang="fr-BE" sz="2200" b="1" dirty="0">
                <a:sym typeface="Wingdings" pitchFamily="2" charset="2"/>
              </a:rPr>
              <a:t>Forwarde directement </a:t>
            </a:r>
            <a:r>
              <a:rPr lang="fr-BE" sz="2200" dirty="0">
                <a:sym typeface="Wingdings" pitchFamily="2" charset="2"/>
              </a:rPr>
              <a:t>le dossier Rina au BC compétent sans attendre la réponse de l’institution étrangère</a:t>
            </a:r>
            <a:r>
              <a:rPr lang="fr-BE" sz="2400" dirty="0">
                <a:sym typeface="Wingdings" pitchFamily="2" charset="2"/>
              </a:rPr>
              <a:t>  </a:t>
            </a:r>
            <a:r>
              <a:rPr lang="fr-BE" sz="1800" i="1" dirty="0">
                <a:sym typeface="Wingdings" pitchFamily="2" charset="2"/>
              </a:rPr>
              <a:t>(= envoi flux X007)</a:t>
            </a:r>
            <a:endParaRPr lang="fr-BE" sz="2000" i="1" dirty="0">
              <a:sym typeface="Wingdings" pitchFamily="2" charset="2"/>
            </a:endParaRPr>
          </a:p>
          <a:p>
            <a:pPr marL="514350" indent="-514350">
              <a:buFont typeface="+mj-lt"/>
              <a:buAutoNum type="arabicPeriod"/>
            </a:pPr>
            <a:r>
              <a:rPr lang="fr-BE" sz="2200" b="1" dirty="0">
                <a:sym typeface="Wingdings" pitchFamily="2" charset="2"/>
              </a:rPr>
              <a:t>Indique la mention </a:t>
            </a:r>
            <a:r>
              <a:rPr lang="fr-BE" sz="2200" b="1" i="1" dirty="0">
                <a:solidFill>
                  <a:srgbClr val="C00000"/>
                </a:solidFill>
                <a:sym typeface="Wingdings" pitchFamily="2" charset="2"/>
              </a:rPr>
              <a:t>«Voir dossier Rina n° » </a:t>
            </a:r>
            <a:r>
              <a:rPr lang="fr-BE" sz="2200" dirty="0">
                <a:sym typeface="Wingdings" pitchFamily="2" charset="2"/>
              </a:rPr>
              <a:t>sur le bordereau C9 lors de l’envoi du dossier papier</a:t>
            </a:r>
          </a:p>
        </p:txBody>
      </p:sp>
      <p:sp>
        <p:nvSpPr>
          <p:cNvPr id="2" name="Espace réservé du numéro de diapositive 1"/>
          <p:cNvSpPr>
            <a:spLocks noGrp="1"/>
          </p:cNvSpPr>
          <p:nvPr>
            <p:ph type="sldNum" sz="quarter" idx="12"/>
          </p:nvPr>
        </p:nvSpPr>
        <p:spPr/>
        <p:txBody>
          <a:bodyPr/>
          <a:lstStyle/>
          <a:p>
            <a:fld id="{3DCDE95E-3EB1-4057-AF34-A4F908CA5247}" type="slidenum">
              <a:rPr lang="fr-FR" smtClean="0"/>
              <a:pPr/>
              <a:t>20</a:t>
            </a:fld>
            <a:endParaRPr lang="fr-FR"/>
          </a:p>
        </p:txBody>
      </p:sp>
    </p:spTree>
    <p:extLst>
      <p:ext uri="{BB962C8B-B14F-4D97-AF65-F5344CB8AC3E}">
        <p14:creationId xmlns:p14="http://schemas.microsoft.com/office/powerpoint/2010/main" val="3684640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fade">
                                      <p:cBhvr>
                                        <p:cTn id="7" dur="10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fade">
                                      <p:cBhvr>
                                        <p:cTn id="12" dur="10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291">
                                            <p:txEl>
                                              <p:pRg st="3" end="3"/>
                                            </p:txEl>
                                          </p:spTgt>
                                        </p:tgtEl>
                                        <p:attrNameLst>
                                          <p:attrName>style.visibility</p:attrName>
                                        </p:attrNameLst>
                                      </p:cBhvr>
                                      <p:to>
                                        <p:strVal val="visible"/>
                                      </p:to>
                                    </p:set>
                                    <p:animEffect transition="in" filter="fade">
                                      <p:cBhvr>
                                        <p:cTn id="17" dur="1000"/>
                                        <p:tgtEl>
                                          <p:spTgt spid="1229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291">
                                            <p:txEl>
                                              <p:pRg st="4" end="4"/>
                                            </p:txEl>
                                          </p:spTgt>
                                        </p:tgtEl>
                                        <p:attrNameLst>
                                          <p:attrName>style.visibility</p:attrName>
                                        </p:attrNameLst>
                                      </p:cBhvr>
                                      <p:to>
                                        <p:strVal val="visible"/>
                                      </p:to>
                                    </p:set>
                                    <p:animEffect transition="in" filter="fade">
                                      <p:cBhvr>
                                        <p:cTn id="22" dur="1000"/>
                                        <p:tgtEl>
                                          <p:spTgt spid="1229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291">
                                            <p:txEl>
                                              <p:pRg st="5" end="5"/>
                                            </p:txEl>
                                          </p:spTgt>
                                        </p:tgtEl>
                                        <p:attrNameLst>
                                          <p:attrName>style.visibility</p:attrName>
                                        </p:attrNameLst>
                                      </p:cBhvr>
                                      <p:to>
                                        <p:strVal val="visible"/>
                                      </p:to>
                                    </p:set>
                                    <p:animEffect transition="in" filter="fade">
                                      <p:cBhvr>
                                        <p:cTn id="27" dur="1000"/>
                                        <p:tgtEl>
                                          <p:spTgt spid="12291">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2291">
                                            <p:txEl>
                                              <p:pRg st="6" end="6"/>
                                            </p:txEl>
                                          </p:spTgt>
                                        </p:tgtEl>
                                        <p:attrNameLst>
                                          <p:attrName>style.visibility</p:attrName>
                                        </p:attrNameLst>
                                      </p:cBhvr>
                                      <p:to>
                                        <p:strVal val="visible"/>
                                      </p:to>
                                    </p:set>
                                    <p:animEffect transition="in" filter="fade">
                                      <p:cBhvr>
                                        <p:cTn id="32" dur="1000"/>
                                        <p:tgtEl>
                                          <p:spTgt spid="12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algn="r"/>
            <a:r>
              <a:rPr lang="fr-BE" b="1" i="1" dirty="0"/>
              <a:t>1.4. Documents et suivi du dossier</a:t>
            </a:r>
            <a:endParaRPr lang="fr-FR" b="1" i="1" dirty="0"/>
          </a:p>
        </p:txBody>
      </p:sp>
      <p:sp>
        <p:nvSpPr>
          <p:cNvPr id="34819" name="Rectangle 3"/>
          <p:cNvSpPr>
            <a:spLocks noGrp="1" noChangeArrowheads="1"/>
          </p:cNvSpPr>
          <p:nvPr>
            <p:ph idx="1"/>
          </p:nvPr>
        </p:nvSpPr>
        <p:spPr/>
        <p:txBody>
          <a:bodyPr>
            <a:noAutofit/>
          </a:bodyPr>
          <a:lstStyle/>
          <a:p>
            <a:pPr marL="0" indent="0">
              <a:buClr>
                <a:schemeClr val="tx1"/>
              </a:buClr>
              <a:buNone/>
            </a:pPr>
            <a:r>
              <a:rPr lang="fr-BE" b="1" u="sng" dirty="0">
                <a:sym typeface="Wingdings" pitchFamily="2" charset="2"/>
              </a:rPr>
              <a:t>Traitement des prestations à l’étranger par le BC</a:t>
            </a:r>
            <a:endParaRPr lang="fr-BE" sz="2800" b="1" dirty="0">
              <a:sym typeface="Wingdings" pitchFamily="2" charset="2"/>
            </a:endParaRPr>
          </a:p>
          <a:p>
            <a:pPr>
              <a:buClr>
                <a:schemeClr val="tx1"/>
              </a:buClr>
              <a:buFont typeface="Wingdings" panose="05000000000000000000" pitchFamily="2" charset="2"/>
              <a:buChar char="§"/>
            </a:pPr>
            <a:r>
              <a:rPr lang="fr-BE" sz="2800" b="1" dirty="0">
                <a:solidFill>
                  <a:srgbClr val="C00000"/>
                </a:solidFill>
                <a:sym typeface="Wingdings" pitchFamily="2" charset="2"/>
              </a:rPr>
              <a:t>U1 fourni + documents complémentaires éventuels</a:t>
            </a:r>
          </a:p>
          <a:p>
            <a:pPr marL="0" indent="0">
              <a:buClr>
                <a:schemeClr val="tx1"/>
              </a:buClr>
              <a:buNone/>
            </a:pPr>
            <a:r>
              <a:rPr lang="fr-BE" sz="2400" dirty="0">
                <a:sym typeface="Wingdings" pitchFamily="2" charset="2"/>
              </a:rPr>
              <a:t> Le BC traitera le dossier sans attendre d’informations complémentaires </a:t>
            </a:r>
            <a:endParaRPr lang="fr-BE" sz="1000" b="1" u="sng" dirty="0">
              <a:sym typeface="Wingdings" pitchFamily="2" charset="2"/>
            </a:endParaRPr>
          </a:p>
          <a:p>
            <a:pPr marL="0" indent="0">
              <a:buClr>
                <a:schemeClr val="tx1"/>
              </a:buClr>
              <a:buNone/>
            </a:pPr>
            <a:r>
              <a:rPr lang="fr-BE" sz="2400" b="1" u="sng" dirty="0" err="1">
                <a:sym typeface="Wingdings" pitchFamily="2" charset="2"/>
              </a:rPr>
              <a:t>Rmq</a:t>
            </a:r>
            <a:r>
              <a:rPr lang="fr-BE" sz="2400" b="1" dirty="0">
                <a:sym typeface="Wingdings" pitchFamily="2" charset="2"/>
              </a:rPr>
              <a:t>: </a:t>
            </a:r>
            <a:r>
              <a:rPr lang="fr-BE" sz="2400" dirty="0">
                <a:sym typeface="Wingdings" pitchFamily="2" charset="2"/>
              </a:rPr>
              <a:t>Si des informations complémentaires sont nécessaires pour prendre la décision </a:t>
            </a:r>
            <a:r>
              <a:rPr lang="fr-BE" sz="2400" b="1" dirty="0">
                <a:solidFill>
                  <a:srgbClr val="C00000"/>
                </a:solidFill>
                <a:sym typeface="Wingdings" pitchFamily="2" charset="2"/>
              </a:rPr>
              <a:t> possibilité d’envoi d’un C51 ou d’octroi d’un code 73/</a:t>
            </a:r>
          </a:p>
          <a:p>
            <a:pPr marL="0" indent="0">
              <a:buClr>
                <a:schemeClr val="tx1"/>
              </a:buClr>
              <a:buNone/>
            </a:pPr>
            <a:endParaRPr lang="fr-BE" sz="2400" b="1" dirty="0">
              <a:sym typeface="Wingdings" pitchFamily="2" charset="2"/>
            </a:endParaRPr>
          </a:p>
          <a:p>
            <a:pPr marL="0" indent="0">
              <a:buClr>
                <a:schemeClr val="tx1"/>
              </a:buClr>
              <a:buNone/>
            </a:pPr>
            <a:r>
              <a:rPr lang="fr-BE" sz="2400" b="1" dirty="0">
                <a:solidFill>
                  <a:srgbClr val="C00000"/>
                </a:solidFill>
                <a:latin typeface="Segoe UI Emoji" panose="020B0502040204020203" pitchFamily="34" charset="0"/>
                <a:ea typeface="Segoe UI Emoji" panose="020B0502040204020203" pitchFamily="34" charset="0"/>
                <a:sym typeface="Wingdings" pitchFamily="2" charset="2"/>
              </a:rPr>
              <a:t>⚠ U1 </a:t>
            </a:r>
            <a:r>
              <a:rPr lang="fr-BE" sz="2400" b="1" dirty="0">
                <a:solidFill>
                  <a:srgbClr val="C00000"/>
                </a:solidFill>
                <a:sym typeface="Wingdings" pitchFamily="2" charset="2"/>
              </a:rPr>
              <a:t>non original ou incomplet = </a:t>
            </a:r>
            <a:r>
              <a:rPr lang="fr-BE" sz="2400" b="1" dirty="0">
                <a:sym typeface="Wingdings" pitchFamily="2" charset="2"/>
              </a:rPr>
              <a:t>U1 manquant</a:t>
            </a:r>
            <a:r>
              <a:rPr lang="fr-BE" sz="2400" dirty="0">
                <a:sym typeface="Wingdings" pitchFamily="2" charset="2"/>
              </a:rPr>
              <a:t>  introduire une demande via Rina</a:t>
            </a:r>
            <a:r>
              <a:rPr lang="fr-BE" sz="2400" dirty="0">
                <a:solidFill>
                  <a:srgbClr val="C00000"/>
                </a:solidFill>
                <a:sym typeface="Wingdings" pitchFamily="2" charset="2"/>
              </a:rPr>
              <a:t> </a:t>
            </a:r>
            <a:r>
              <a:rPr lang="fr-BE" sz="2400" dirty="0">
                <a:sym typeface="Wingdings" pitchFamily="2" charset="2"/>
              </a:rPr>
              <a:t>(le BC peut s’en charger si cela n’a pas été fait)</a:t>
            </a:r>
            <a:endParaRPr lang="fr-BE" sz="2400" dirty="0">
              <a:solidFill>
                <a:srgbClr val="C00000"/>
              </a:solidFill>
              <a:sym typeface="Wingdings" pitchFamily="2" charset="2"/>
            </a:endParaRPr>
          </a:p>
          <a:p>
            <a:pPr marL="0" indent="0">
              <a:buClr>
                <a:schemeClr val="tx1"/>
              </a:buClr>
              <a:buFont typeface="Wingdings" pitchFamily="2" charset="2"/>
              <a:buNone/>
            </a:pPr>
            <a:endParaRPr lang="fr-BE" sz="1400" dirty="0">
              <a:sym typeface="Wingdings" pitchFamily="2" charset="2"/>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21</a:t>
            </a:fld>
            <a:endParaRPr lang="fr-FR"/>
          </a:p>
        </p:txBody>
      </p:sp>
    </p:spTree>
    <p:extLst>
      <p:ext uri="{BB962C8B-B14F-4D97-AF65-F5344CB8AC3E}">
        <p14:creationId xmlns:p14="http://schemas.microsoft.com/office/powerpoint/2010/main" val="295568160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fade">
                                      <p:cBhvr>
                                        <p:cTn id="7" dur="10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10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fade">
                                      <p:cBhvr>
                                        <p:cTn id="17" dur="1000"/>
                                        <p:tgtEl>
                                          <p:spTgt spid="348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4819">
                                            <p:txEl>
                                              <p:pRg st="3" end="3"/>
                                            </p:txEl>
                                          </p:spTgt>
                                        </p:tgtEl>
                                        <p:attrNameLst>
                                          <p:attrName>style.visibility</p:attrName>
                                        </p:attrNameLst>
                                      </p:cBhvr>
                                      <p:to>
                                        <p:strVal val="visible"/>
                                      </p:to>
                                    </p:set>
                                    <p:animEffect transition="in" filter="fade">
                                      <p:cBhvr>
                                        <p:cTn id="22" dur="1000"/>
                                        <p:tgtEl>
                                          <p:spTgt spid="348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819">
                                            <p:txEl>
                                              <p:pRg st="5" end="5"/>
                                            </p:txEl>
                                          </p:spTgt>
                                        </p:tgtEl>
                                        <p:attrNameLst>
                                          <p:attrName>style.visibility</p:attrName>
                                        </p:attrNameLst>
                                      </p:cBhvr>
                                      <p:to>
                                        <p:strVal val="visible"/>
                                      </p:to>
                                    </p:set>
                                    <p:animEffect transition="in" filter="fade">
                                      <p:cBhvr>
                                        <p:cTn id="27" dur="10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algn="r"/>
            <a:r>
              <a:rPr lang="fr-BE" b="1" i="1" dirty="0"/>
              <a:t>1.4. Documents et suivi du dossier</a:t>
            </a:r>
            <a:endParaRPr lang="fr-FR" b="1" i="1" dirty="0"/>
          </a:p>
        </p:txBody>
      </p:sp>
      <p:sp>
        <p:nvSpPr>
          <p:cNvPr id="34819" name="Rectangle 3"/>
          <p:cNvSpPr>
            <a:spLocks noGrp="1" noChangeArrowheads="1"/>
          </p:cNvSpPr>
          <p:nvPr>
            <p:ph idx="1"/>
          </p:nvPr>
        </p:nvSpPr>
        <p:spPr/>
        <p:txBody>
          <a:bodyPr>
            <a:noAutofit/>
          </a:bodyPr>
          <a:lstStyle/>
          <a:p>
            <a:pPr>
              <a:buClr>
                <a:schemeClr val="tx1"/>
              </a:buClr>
              <a:buFont typeface="Wingdings" panose="05000000000000000000" pitchFamily="2" charset="2"/>
              <a:buChar char="§"/>
            </a:pPr>
            <a:r>
              <a:rPr lang="fr-BE" sz="2800" b="1" dirty="0">
                <a:solidFill>
                  <a:srgbClr val="C00000"/>
                </a:solidFill>
                <a:sym typeface="Wingdings" pitchFamily="2" charset="2"/>
              </a:rPr>
              <a:t>Si U1 manquant et documents complémentaires suffisants (et dossier Rina introduit) : </a:t>
            </a:r>
          </a:p>
          <a:p>
            <a:pPr>
              <a:buClr>
                <a:schemeClr val="tx1"/>
              </a:buClr>
              <a:buFont typeface="Wingdings" panose="05000000000000000000" pitchFamily="2" charset="2"/>
              <a:buChar char="è"/>
            </a:pPr>
            <a:r>
              <a:rPr lang="fr-BE" sz="2400" b="1" dirty="0">
                <a:sym typeface="Wingdings" pitchFamily="2" charset="2"/>
              </a:rPr>
              <a:t>Si réponse reçue Rina reçue et informations suffisantes </a:t>
            </a:r>
            <a:r>
              <a:rPr lang="fr-BE" sz="2400" dirty="0">
                <a:sym typeface="Wingdings" pitchFamily="2" charset="2"/>
              </a:rPr>
              <a:t>: le BC traitera le dossier </a:t>
            </a:r>
          </a:p>
          <a:p>
            <a:pPr>
              <a:buClr>
                <a:schemeClr val="tx1"/>
              </a:buClr>
              <a:buFont typeface="Wingdings" panose="05000000000000000000" pitchFamily="2" charset="2"/>
              <a:buChar char="è"/>
            </a:pPr>
            <a:r>
              <a:rPr lang="fr-BE" sz="2400" b="1" dirty="0">
                <a:sym typeface="Wingdings" pitchFamily="2" charset="2"/>
              </a:rPr>
              <a:t>Si pas de réponse Rina et/ou informations complémentaires nécessaire:</a:t>
            </a:r>
            <a:r>
              <a:rPr lang="fr-BE" sz="2400" dirty="0">
                <a:sym typeface="Wingdings" pitchFamily="2" charset="2"/>
              </a:rPr>
              <a:t> </a:t>
            </a:r>
          </a:p>
          <a:p>
            <a:pPr lvl="1">
              <a:buClr>
                <a:schemeClr val="tx1"/>
              </a:buClr>
              <a:buFont typeface="Courier New" panose="02070309020205020404" pitchFamily="49" charset="0"/>
              <a:buChar char="o"/>
            </a:pPr>
            <a:r>
              <a:rPr lang="fr-BE" sz="2200" dirty="0">
                <a:sym typeface="Wingdings" pitchFamily="2" charset="2"/>
              </a:rPr>
              <a:t>le BC demandera au </a:t>
            </a:r>
            <a:r>
              <a:rPr lang="fr-BE" sz="2200" b="1" dirty="0">
                <a:sym typeface="Wingdings" pitchFamily="2" charset="2"/>
              </a:rPr>
              <a:t>service étranger  de fournir le U1 </a:t>
            </a:r>
            <a:r>
              <a:rPr lang="fr-BE" sz="2200" dirty="0">
                <a:sym typeface="Wingdings" pitchFamily="2" charset="2"/>
              </a:rPr>
              <a:t>et/ou </a:t>
            </a:r>
            <a:r>
              <a:rPr lang="fr-BE" sz="2200" b="1" dirty="0">
                <a:sym typeface="Wingdings" pitchFamily="2" charset="2"/>
              </a:rPr>
              <a:t>les SED nécessaires </a:t>
            </a:r>
            <a:r>
              <a:rPr lang="fr-BE" sz="2200" dirty="0">
                <a:sym typeface="Wingdings" pitchFamily="2" charset="2"/>
              </a:rPr>
              <a:t>autres que ceux demandés dans Rina </a:t>
            </a:r>
          </a:p>
          <a:p>
            <a:pPr lvl="1">
              <a:buClr>
                <a:schemeClr val="tx1"/>
              </a:buClr>
              <a:buFont typeface="Courier New" panose="02070309020205020404" pitchFamily="49" charset="0"/>
              <a:buChar char="o"/>
            </a:pPr>
            <a:r>
              <a:rPr lang="fr-BE" sz="2200" dirty="0">
                <a:sym typeface="Wingdings" pitchFamily="2" charset="2"/>
              </a:rPr>
              <a:t>attendra la réponse pendant </a:t>
            </a:r>
            <a:r>
              <a:rPr lang="fr-BE" sz="2200" b="1" dirty="0">
                <a:sym typeface="Wingdings" pitchFamily="2" charset="2"/>
              </a:rPr>
              <a:t>6 semaines au maximum </a:t>
            </a:r>
            <a:r>
              <a:rPr lang="fr-BE" sz="2200" b="1" dirty="0">
                <a:solidFill>
                  <a:srgbClr val="C00000"/>
                </a:solidFill>
                <a:sym typeface="Wingdings" pitchFamily="2" charset="2"/>
              </a:rPr>
              <a:t>(= code 73/)</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22</a:t>
            </a:fld>
            <a:endParaRPr lang="fr-FR"/>
          </a:p>
        </p:txBody>
      </p:sp>
    </p:spTree>
    <p:extLst>
      <p:ext uri="{BB962C8B-B14F-4D97-AF65-F5344CB8AC3E}">
        <p14:creationId xmlns:p14="http://schemas.microsoft.com/office/powerpoint/2010/main" val="2687712058"/>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fade">
                                      <p:cBhvr>
                                        <p:cTn id="7" dur="10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10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fade">
                                      <p:cBhvr>
                                        <p:cTn id="17" dur="1000"/>
                                        <p:tgtEl>
                                          <p:spTgt spid="34819">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4819">
                                            <p:txEl>
                                              <p:pRg st="3" end="3"/>
                                            </p:txEl>
                                          </p:spTgt>
                                        </p:tgtEl>
                                        <p:attrNameLst>
                                          <p:attrName>style.visibility</p:attrName>
                                        </p:attrNameLst>
                                      </p:cBhvr>
                                      <p:to>
                                        <p:strVal val="visible"/>
                                      </p:to>
                                    </p:set>
                                    <p:animEffect transition="in" filter="fade">
                                      <p:cBhvr>
                                        <p:cTn id="20" dur="1000"/>
                                        <p:tgtEl>
                                          <p:spTgt spid="34819">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4819">
                                            <p:txEl>
                                              <p:pRg st="4" end="4"/>
                                            </p:txEl>
                                          </p:spTgt>
                                        </p:tgtEl>
                                        <p:attrNameLst>
                                          <p:attrName>style.visibility</p:attrName>
                                        </p:attrNameLst>
                                      </p:cBhvr>
                                      <p:to>
                                        <p:strVal val="visible"/>
                                      </p:to>
                                    </p:set>
                                    <p:animEffect transition="in" filter="fade">
                                      <p:cBhvr>
                                        <p:cTn id="23" dur="1000"/>
                                        <p:tgtEl>
                                          <p:spTgt spid="348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algn="r"/>
            <a:r>
              <a:rPr lang="fr-BE" b="1" i="1" dirty="0"/>
              <a:t>1.4. Documents et suivi du dossier</a:t>
            </a:r>
            <a:endParaRPr lang="fr-FR" b="1" i="1" dirty="0"/>
          </a:p>
        </p:txBody>
      </p:sp>
      <p:sp>
        <p:nvSpPr>
          <p:cNvPr id="34819" name="Rectangle 3"/>
          <p:cNvSpPr>
            <a:spLocks noGrp="1" noChangeArrowheads="1"/>
          </p:cNvSpPr>
          <p:nvPr>
            <p:ph idx="1"/>
          </p:nvPr>
        </p:nvSpPr>
        <p:spPr/>
        <p:txBody>
          <a:bodyPr>
            <a:noAutofit/>
          </a:bodyPr>
          <a:lstStyle/>
          <a:p>
            <a:pPr>
              <a:buClr>
                <a:schemeClr val="tx1"/>
              </a:buClr>
              <a:buFont typeface="Wingdings" panose="05000000000000000000" pitchFamily="2" charset="2"/>
              <a:buChar char="§"/>
            </a:pPr>
            <a:r>
              <a:rPr lang="fr-BE" sz="2800" b="1" dirty="0">
                <a:solidFill>
                  <a:srgbClr val="C00000"/>
                </a:solidFill>
                <a:sym typeface="Wingdings" pitchFamily="2" charset="2"/>
              </a:rPr>
              <a:t>Si U1 manquant et que les documents complémentaires insuffisants </a:t>
            </a:r>
          </a:p>
          <a:p>
            <a:pPr marL="0" indent="0">
              <a:buClr>
                <a:schemeClr val="tx1"/>
              </a:buClr>
              <a:buNone/>
            </a:pPr>
            <a:r>
              <a:rPr lang="fr-BE" sz="2400" dirty="0">
                <a:sym typeface="Wingdings" panose="05000000000000000000" pitchFamily="2" charset="2"/>
              </a:rPr>
              <a:t> Un </a:t>
            </a:r>
            <a:r>
              <a:rPr lang="fr-BE" sz="2400" b="1" dirty="0">
                <a:sym typeface="Wingdings" pitchFamily="2" charset="2"/>
              </a:rPr>
              <a:t>C51</a:t>
            </a:r>
            <a:r>
              <a:rPr lang="fr-BE" sz="2400" dirty="0">
                <a:sym typeface="Wingdings" pitchFamily="2" charset="2"/>
              </a:rPr>
              <a:t> sera envoyé pour réclamer les infos complémentaires manquantes</a:t>
            </a:r>
          </a:p>
          <a:p>
            <a:pPr>
              <a:buClr>
                <a:schemeClr val="tx1"/>
              </a:buClr>
              <a:buFont typeface="Wingdings" panose="05000000000000000000" pitchFamily="2" charset="2"/>
              <a:buChar char="è"/>
            </a:pPr>
            <a:r>
              <a:rPr lang="fr-BE" sz="2400" dirty="0">
                <a:sym typeface="Wingdings" pitchFamily="2" charset="2"/>
              </a:rPr>
              <a:t>Le BC attendra le retour du dossier complet avant d’éventuellement demander le </a:t>
            </a:r>
            <a:r>
              <a:rPr lang="fr-BE" sz="2400" b="1" dirty="0">
                <a:sym typeface="Wingdings" pitchFamily="2" charset="2"/>
              </a:rPr>
              <a:t>U1 </a:t>
            </a:r>
            <a:r>
              <a:rPr lang="fr-BE" sz="2400" dirty="0">
                <a:sym typeface="Wingdings" pitchFamily="2" charset="2"/>
              </a:rPr>
              <a:t>et/ou</a:t>
            </a:r>
            <a:r>
              <a:rPr lang="fr-BE" sz="2400" b="1" dirty="0">
                <a:sym typeface="Wingdings" pitchFamily="2" charset="2"/>
              </a:rPr>
              <a:t> les SED nécessaires </a:t>
            </a:r>
            <a:r>
              <a:rPr lang="fr-BE" sz="2400" dirty="0">
                <a:sym typeface="Wingdings" pitchFamily="2" charset="2"/>
              </a:rPr>
              <a:t>auprès du service étranger  </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23</a:t>
            </a:fld>
            <a:endParaRPr lang="fr-FR"/>
          </a:p>
        </p:txBody>
      </p:sp>
    </p:spTree>
    <p:extLst>
      <p:ext uri="{BB962C8B-B14F-4D97-AF65-F5344CB8AC3E}">
        <p14:creationId xmlns:p14="http://schemas.microsoft.com/office/powerpoint/2010/main" val="1062703011"/>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fade">
                                      <p:cBhvr>
                                        <p:cTn id="7" dur="10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1" end="1"/>
                                            </p:txEl>
                                          </p:spTgt>
                                        </p:tgtEl>
                                        <p:attrNameLst>
                                          <p:attrName>style.visibility</p:attrName>
                                        </p:attrNameLst>
                                      </p:cBhvr>
                                      <p:to>
                                        <p:strVal val="visible"/>
                                      </p:to>
                                    </p:set>
                                    <p:animEffect transition="in" filter="fade">
                                      <p:cBhvr>
                                        <p:cTn id="12" dur="1000"/>
                                        <p:tgtEl>
                                          <p:spTgt spid="348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4819">
                                            <p:txEl>
                                              <p:pRg st="2" end="2"/>
                                            </p:txEl>
                                          </p:spTgt>
                                        </p:tgtEl>
                                        <p:attrNameLst>
                                          <p:attrName>style.visibility</p:attrName>
                                        </p:attrNameLst>
                                      </p:cBhvr>
                                      <p:to>
                                        <p:strVal val="visible"/>
                                      </p:to>
                                    </p:set>
                                    <p:animEffect transition="in" filter="fade">
                                      <p:cBhvr>
                                        <p:cTn id="17" dur="1000"/>
                                        <p:tgtEl>
                                          <p:spTgt spid="348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66700" y="256582"/>
            <a:ext cx="8229600" cy="1143000"/>
          </a:xfrm>
        </p:spPr>
        <p:txBody>
          <a:bodyPr>
            <a:normAutofit/>
          </a:bodyPr>
          <a:lstStyle/>
          <a:p>
            <a:pPr algn="r"/>
            <a:r>
              <a:rPr lang="fr-BE" b="1" i="1" dirty="0"/>
              <a:t>1.4. Documents et suivi du dossier</a:t>
            </a:r>
            <a:endParaRPr lang="fr-FR" b="1" i="1" dirty="0"/>
          </a:p>
        </p:txBody>
      </p:sp>
      <p:sp>
        <p:nvSpPr>
          <p:cNvPr id="11267" name="Rectangle 3"/>
          <p:cNvSpPr>
            <a:spLocks noGrp="1" noChangeArrowheads="1"/>
          </p:cNvSpPr>
          <p:nvPr>
            <p:ph idx="1"/>
          </p:nvPr>
        </p:nvSpPr>
        <p:spPr>
          <a:xfrm>
            <a:off x="457200" y="1636564"/>
            <a:ext cx="8229600" cy="4525963"/>
          </a:xfrm>
        </p:spPr>
        <p:txBody>
          <a:bodyPr>
            <a:normAutofit fontScale="92500" lnSpcReduction="10000"/>
          </a:bodyPr>
          <a:lstStyle/>
          <a:p>
            <a:pPr marL="0" indent="0">
              <a:buNone/>
            </a:pPr>
            <a:r>
              <a:rPr lang="fr-BE" sz="3000" b="1" dirty="0">
                <a:solidFill>
                  <a:srgbClr val="C00000"/>
                </a:solidFill>
              </a:rPr>
              <a:t>Travail Pays tiers: </a:t>
            </a:r>
          </a:p>
          <a:p>
            <a:pPr>
              <a:buFontTx/>
              <a:buChar char="-"/>
            </a:pPr>
            <a:r>
              <a:rPr lang="fr-BE" sz="3000" dirty="0"/>
              <a:t>Contrat(s)</a:t>
            </a:r>
          </a:p>
          <a:p>
            <a:pPr>
              <a:buFontTx/>
              <a:buChar char="-"/>
            </a:pPr>
            <a:r>
              <a:rPr lang="fr-BE" sz="3000" dirty="0"/>
              <a:t>Attestation patronale précisant :</a:t>
            </a:r>
          </a:p>
          <a:p>
            <a:pPr lvl="1">
              <a:buClr>
                <a:schemeClr val="tx1"/>
              </a:buClr>
              <a:buFont typeface="Wingdings" pitchFamily="2" charset="2"/>
              <a:buChar char="§"/>
            </a:pPr>
            <a:r>
              <a:rPr lang="fr-BE" sz="2600" dirty="0"/>
              <a:t>La période de travail ;</a:t>
            </a:r>
          </a:p>
          <a:p>
            <a:pPr lvl="1">
              <a:buClr>
                <a:schemeClr val="tx1"/>
              </a:buClr>
              <a:buFont typeface="Wingdings" pitchFamily="2" charset="2"/>
              <a:buChar char="§"/>
            </a:pPr>
            <a:r>
              <a:rPr lang="fr-BE" sz="2600" dirty="0"/>
              <a:t>Le régime de travail (Q/S) ;</a:t>
            </a:r>
          </a:p>
          <a:p>
            <a:pPr lvl="1">
              <a:buClr>
                <a:schemeClr val="tx1"/>
              </a:buClr>
              <a:buFont typeface="Wingdings" pitchFamily="2" charset="2"/>
              <a:buChar char="§"/>
            </a:pPr>
            <a:r>
              <a:rPr lang="fr-BE" sz="2600" dirty="0"/>
              <a:t>La rémunération brute ;</a:t>
            </a:r>
          </a:p>
          <a:p>
            <a:pPr lvl="1">
              <a:buClr>
                <a:schemeClr val="tx1"/>
              </a:buClr>
              <a:buFont typeface="Wingdings" pitchFamily="2" charset="2"/>
              <a:buChar char="§"/>
            </a:pPr>
            <a:r>
              <a:rPr lang="fr-BE" sz="2600" dirty="0"/>
              <a:t>La nature du travail effectué ; </a:t>
            </a:r>
          </a:p>
          <a:p>
            <a:pPr lvl="1">
              <a:buClr>
                <a:schemeClr val="tx1"/>
              </a:buClr>
              <a:buFont typeface="Wingdings" pitchFamily="2" charset="2"/>
              <a:buChar char="§"/>
            </a:pPr>
            <a:r>
              <a:rPr lang="fr-BE" sz="2600" dirty="0"/>
              <a:t>Le motif de la fin d’occupation.</a:t>
            </a:r>
            <a:endParaRPr lang="fr-BE" sz="2600" b="1" i="1" dirty="0">
              <a:solidFill>
                <a:srgbClr val="C00000"/>
              </a:solidFill>
              <a:sym typeface="Wingdings" pitchFamily="2" charset="2"/>
            </a:endParaRPr>
          </a:p>
          <a:p>
            <a:pPr>
              <a:buClr>
                <a:schemeClr val="tx1"/>
              </a:buClr>
              <a:buFontTx/>
              <a:buChar char="-"/>
            </a:pPr>
            <a:r>
              <a:rPr lang="fr-BE" sz="3000" dirty="0"/>
              <a:t>Document de D.A (C109, C4,…)</a:t>
            </a:r>
          </a:p>
          <a:p>
            <a:pPr>
              <a:buClr>
                <a:schemeClr val="tx1"/>
              </a:buClr>
              <a:buFontTx/>
              <a:buChar char="-"/>
            </a:pPr>
            <a:r>
              <a:rPr lang="fr-BE" sz="3000" dirty="0"/>
              <a:t>Documents complémentaires éventuels</a:t>
            </a:r>
          </a:p>
          <a:p>
            <a:pPr>
              <a:buClr>
                <a:schemeClr val="tx1"/>
              </a:buClr>
              <a:buFont typeface="Wingdings" pitchFamily="2" charset="2"/>
              <a:buNone/>
            </a:pPr>
            <a:endParaRPr lang="fr-BE" sz="3000" b="1" i="1" dirty="0">
              <a:solidFill>
                <a:srgbClr val="C00000"/>
              </a:solidFill>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24</a:t>
            </a:fld>
            <a:endParaRPr lang="fr-FR"/>
          </a:p>
        </p:txBody>
      </p:sp>
    </p:spTree>
    <p:extLst>
      <p:ext uri="{BB962C8B-B14F-4D97-AF65-F5344CB8AC3E}">
        <p14:creationId xmlns:p14="http://schemas.microsoft.com/office/powerpoint/2010/main" val="96101754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10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fade">
                                      <p:cBhvr>
                                        <p:cTn id="12" dur="1000"/>
                                        <p:tgtEl>
                                          <p:spTgt spid="11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fade">
                                      <p:cBhvr>
                                        <p:cTn id="17" dur="1000"/>
                                        <p:tgtEl>
                                          <p:spTgt spid="11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267">
                                            <p:txEl>
                                              <p:pRg st="3" end="3"/>
                                            </p:txEl>
                                          </p:spTgt>
                                        </p:tgtEl>
                                        <p:attrNameLst>
                                          <p:attrName>style.visibility</p:attrName>
                                        </p:attrNameLst>
                                      </p:cBhvr>
                                      <p:to>
                                        <p:strVal val="visible"/>
                                      </p:to>
                                    </p:set>
                                    <p:animEffect transition="in" filter="fade">
                                      <p:cBhvr>
                                        <p:cTn id="22" dur="1000"/>
                                        <p:tgtEl>
                                          <p:spTgt spid="11267">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267">
                                            <p:txEl>
                                              <p:pRg st="4" end="4"/>
                                            </p:txEl>
                                          </p:spTgt>
                                        </p:tgtEl>
                                        <p:attrNameLst>
                                          <p:attrName>style.visibility</p:attrName>
                                        </p:attrNameLst>
                                      </p:cBhvr>
                                      <p:to>
                                        <p:strVal val="visible"/>
                                      </p:to>
                                    </p:set>
                                    <p:animEffect transition="in" filter="fade">
                                      <p:cBhvr>
                                        <p:cTn id="25" dur="1000"/>
                                        <p:tgtEl>
                                          <p:spTgt spid="11267">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267">
                                            <p:txEl>
                                              <p:pRg st="5" end="5"/>
                                            </p:txEl>
                                          </p:spTgt>
                                        </p:tgtEl>
                                        <p:attrNameLst>
                                          <p:attrName>style.visibility</p:attrName>
                                        </p:attrNameLst>
                                      </p:cBhvr>
                                      <p:to>
                                        <p:strVal val="visible"/>
                                      </p:to>
                                    </p:set>
                                    <p:animEffect transition="in" filter="fade">
                                      <p:cBhvr>
                                        <p:cTn id="28" dur="1000"/>
                                        <p:tgtEl>
                                          <p:spTgt spid="11267">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267">
                                            <p:txEl>
                                              <p:pRg st="6" end="6"/>
                                            </p:txEl>
                                          </p:spTgt>
                                        </p:tgtEl>
                                        <p:attrNameLst>
                                          <p:attrName>style.visibility</p:attrName>
                                        </p:attrNameLst>
                                      </p:cBhvr>
                                      <p:to>
                                        <p:strVal val="visible"/>
                                      </p:to>
                                    </p:set>
                                    <p:animEffect transition="in" filter="fade">
                                      <p:cBhvr>
                                        <p:cTn id="31" dur="1000"/>
                                        <p:tgtEl>
                                          <p:spTgt spid="11267">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267">
                                            <p:txEl>
                                              <p:pRg st="7" end="7"/>
                                            </p:txEl>
                                          </p:spTgt>
                                        </p:tgtEl>
                                        <p:attrNameLst>
                                          <p:attrName>style.visibility</p:attrName>
                                        </p:attrNameLst>
                                      </p:cBhvr>
                                      <p:to>
                                        <p:strVal val="visible"/>
                                      </p:to>
                                    </p:set>
                                    <p:animEffect transition="in" filter="fade">
                                      <p:cBhvr>
                                        <p:cTn id="34" dur="1000"/>
                                        <p:tgtEl>
                                          <p:spTgt spid="11267">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267">
                                            <p:txEl>
                                              <p:pRg st="8" end="8"/>
                                            </p:txEl>
                                          </p:spTgt>
                                        </p:tgtEl>
                                        <p:attrNameLst>
                                          <p:attrName>style.visibility</p:attrName>
                                        </p:attrNameLst>
                                      </p:cBhvr>
                                      <p:to>
                                        <p:strVal val="visible"/>
                                      </p:to>
                                    </p:set>
                                    <p:animEffect transition="in" filter="fade">
                                      <p:cBhvr>
                                        <p:cTn id="39" dur="1000"/>
                                        <p:tgtEl>
                                          <p:spTgt spid="11267">
                                            <p:txEl>
                                              <p:pRg st="8" end="8"/>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1267">
                                            <p:txEl>
                                              <p:pRg st="9" end="9"/>
                                            </p:txEl>
                                          </p:spTgt>
                                        </p:tgtEl>
                                        <p:attrNameLst>
                                          <p:attrName>style.visibility</p:attrName>
                                        </p:attrNameLst>
                                      </p:cBhvr>
                                      <p:to>
                                        <p:strVal val="visible"/>
                                      </p:to>
                                    </p:set>
                                    <p:animEffect transition="in" filter="fade">
                                      <p:cBhvr>
                                        <p:cTn id="44" dur="1000"/>
                                        <p:tgtEl>
                                          <p:spTgt spid="1126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normAutofit/>
          </a:bodyPr>
          <a:lstStyle/>
          <a:p>
            <a:pPr algn="r"/>
            <a:r>
              <a:rPr lang="fr-BE" b="1" i="1" dirty="0"/>
              <a:t>1.4. Documents et suivi du dossier</a:t>
            </a:r>
            <a:endParaRPr lang="fr-FR" b="1" i="1" dirty="0"/>
          </a:p>
        </p:txBody>
      </p:sp>
      <p:sp>
        <p:nvSpPr>
          <p:cNvPr id="34819" name="Rectangle 3"/>
          <p:cNvSpPr>
            <a:spLocks noGrp="1" noChangeArrowheads="1"/>
          </p:cNvSpPr>
          <p:nvPr>
            <p:ph type="body" idx="1"/>
          </p:nvPr>
        </p:nvSpPr>
        <p:spPr>
          <a:xfrm>
            <a:off x="395536" y="1628800"/>
            <a:ext cx="8229600" cy="4525963"/>
          </a:xfrm>
        </p:spPr>
        <p:txBody>
          <a:bodyPr>
            <a:noAutofit/>
          </a:bodyPr>
          <a:lstStyle/>
          <a:p>
            <a:pPr marL="0" indent="0">
              <a:buClr>
                <a:schemeClr val="tx1"/>
              </a:buClr>
              <a:buFont typeface="Wingdings" pitchFamily="2" charset="2"/>
              <a:buNone/>
            </a:pPr>
            <a:r>
              <a:rPr lang="fr-BE" sz="2600" dirty="0">
                <a:sym typeface="Wingdings" pitchFamily="2" charset="2"/>
              </a:rPr>
              <a:t>Pour la traduction des documents établis dans une langue de l’EEE, le BC peut faire appel au service linguistique. </a:t>
            </a:r>
          </a:p>
          <a:p>
            <a:pPr marL="0" indent="0">
              <a:buClr>
                <a:schemeClr val="tx1"/>
              </a:buClr>
              <a:buFont typeface="Wingdings" pitchFamily="2" charset="2"/>
              <a:buNone/>
            </a:pPr>
            <a:endParaRPr lang="fr-BE" sz="2600" dirty="0">
              <a:sym typeface="Wingdings" pitchFamily="2" charset="2"/>
            </a:endParaRPr>
          </a:p>
          <a:p>
            <a:pPr marL="0" indent="0">
              <a:buClr>
                <a:schemeClr val="tx1"/>
              </a:buClr>
              <a:buFont typeface="Wingdings" pitchFamily="2" charset="2"/>
              <a:buNone/>
            </a:pPr>
            <a:r>
              <a:rPr lang="fr-BE" sz="2600" dirty="0">
                <a:sym typeface="Wingdings" pitchFamily="2" charset="2"/>
              </a:rPr>
              <a:t>S’il s’agit d’une autre langue, le chômeur doit se charger de les faire traduire dans une des 3 langues nationales par un </a:t>
            </a:r>
            <a:r>
              <a:rPr lang="fr-BE" sz="2600" b="1" u="sng" dirty="0">
                <a:solidFill>
                  <a:srgbClr val="C00000"/>
                </a:solidFill>
                <a:sym typeface="Wingdings" pitchFamily="2" charset="2"/>
              </a:rPr>
              <a:t>traducteur assermenté</a:t>
            </a:r>
            <a:r>
              <a:rPr lang="fr-BE" sz="2600" dirty="0">
                <a:solidFill>
                  <a:srgbClr val="C00000"/>
                </a:solidFill>
                <a:sym typeface="Wingdings" pitchFamily="2" charset="2"/>
              </a:rPr>
              <a:t>. </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25</a:t>
            </a:fld>
            <a:endParaRPr lang="fr-FR"/>
          </a:p>
        </p:txBody>
      </p:sp>
    </p:spTree>
    <p:extLst>
      <p:ext uri="{BB962C8B-B14F-4D97-AF65-F5344CB8AC3E}">
        <p14:creationId xmlns:p14="http://schemas.microsoft.com/office/powerpoint/2010/main" val="729217524"/>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animEffect transition="in" filter="fade">
                                      <p:cBhvr>
                                        <p:cTn id="7" dur="1000"/>
                                        <p:tgtEl>
                                          <p:spTgt spid="348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819">
                                            <p:txEl>
                                              <p:pRg st="2" end="2"/>
                                            </p:txEl>
                                          </p:spTgt>
                                        </p:tgtEl>
                                        <p:attrNameLst>
                                          <p:attrName>style.visibility</p:attrName>
                                        </p:attrNameLst>
                                      </p:cBhvr>
                                      <p:to>
                                        <p:strVal val="visible"/>
                                      </p:to>
                                    </p:set>
                                    <p:animEffect transition="in" filter="fade">
                                      <p:cBhvr>
                                        <p:cTn id="12" dur="1000"/>
                                        <p:tgtEl>
                                          <p:spTgt spid="348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7544" y="476672"/>
            <a:ext cx="8229600" cy="1143000"/>
          </a:xfrm>
        </p:spPr>
        <p:txBody>
          <a:bodyPr>
            <a:normAutofit fontScale="90000"/>
          </a:bodyPr>
          <a:lstStyle/>
          <a:p>
            <a:pPr algn="r"/>
            <a:r>
              <a:rPr lang="fr-BE" sz="4000" b="1" i="1" dirty="0"/>
              <a:t>1.5   Nouvelle demande sans prestation</a:t>
            </a:r>
            <a:r>
              <a:rPr lang="fr-BE" b="1" i="1" dirty="0"/>
              <a:t> </a:t>
            </a:r>
            <a:endParaRPr lang="fr-FR" b="1" i="1" dirty="0"/>
          </a:p>
        </p:txBody>
      </p:sp>
      <p:sp>
        <p:nvSpPr>
          <p:cNvPr id="16387" name="Rectangle 3"/>
          <p:cNvSpPr>
            <a:spLocks noGrp="1" noChangeArrowheads="1"/>
          </p:cNvSpPr>
          <p:nvPr>
            <p:ph idx="1"/>
          </p:nvPr>
        </p:nvSpPr>
        <p:spPr/>
        <p:txBody>
          <a:bodyPr/>
          <a:lstStyle/>
          <a:p>
            <a:pPr>
              <a:buClr>
                <a:schemeClr val="tx1"/>
              </a:buClr>
              <a:buNone/>
            </a:pPr>
            <a:endParaRPr lang="fr-BE" sz="2800" dirty="0"/>
          </a:p>
          <a:p>
            <a:pPr>
              <a:buClr>
                <a:schemeClr val="tx1"/>
              </a:buClr>
              <a:buFont typeface="Wingdings" pitchFamily="2" charset="2"/>
              <a:buChar char="§"/>
            </a:pPr>
            <a:r>
              <a:rPr lang="fr-BE" dirty="0">
                <a:sym typeface="Wingdings" pitchFamily="2" charset="2"/>
              </a:rPr>
              <a:t>P</a:t>
            </a:r>
            <a:r>
              <a:rPr lang="fr-BE" dirty="0"/>
              <a:t>eu importe le motif du séjour à l’étranger, une </a:t>
            </a:r>
            <a:r>
              <a:rPr lang="fr-BE" b="1" i="1" dirty="0">
                <a:solidFill>
                  <a:srgbClr val="C00000"/>
                </a:solidFill>
              </a:rPr>
              <a:t>réadmission sur base de l’AR 42 </a:t>
            </a:r>
            <a:r>
              <a:rPr lang="fr-BE" dirty="0"/>
              <a:t>est toujours possible</a:t>
            </a:r>
            <a:r>
              <a:rPr lang="fr-BE" b="1" i="1" dirty="0">
                <a:solidFill>
                  <a:srgbClr val="C00000"/>
                </a:solidFill>
              </a:rPr>
              <a:t> </a:t>
            </a:r>
            <a:r>
              <a:rPr lang="fr-BE" dirty="0"/>
              <a:t>si l’intéressé justifie un dernier jour indemnisé dans la période de référence de 3 ans de date à date qui précède immédiatement la DA.</a:t>
            </a:r>
          </a:p>
          <a:p>
            <a:pPr>
              <a:buClr>
                <a:schemeClr val="tx1"/>
              </a:buClr>
              <a:buFont typeface="Wingdings" pitchFamily="2" charset="2"/>
              <a:buChar char="§"/>
            </a:pPr>
            <a:endParaRPr lang="fr-FR" sz="28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26</a:t>
            </a:fld>
            <a:endParaRPr lang="fr-FR"/>
          </a:p>
        </p:txBody>
      </p:sp>
    </p:spTree>
    <p:extLst>
      <p:ext uri="{BB962C8B-B14F-4D97-AF65-F5344CB8AC3E}">
        <p14:creationId xmlns:p14="http://schemas.microsoft.com/office/powerpoint/2010/main" val="393461828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animEffect transition="in" filter="fade">
                                      <p:cBhvr>
                                        <p:cTn id="7" dur="1000"/>
                                        <p:tgtEl>
                                          <p:spTgt spid="163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39552" y="404664"/>
            <a:ext cx="8229600" cy="1143000"/>
          </a:xfrm>
        </p:spPr>
        <p:txBody>
          <a:bodyPr>
            <a:normAutofit fontScale="90000"/>
          </a:bodyPr>
          <a:lstStyle/>
          <a:p>
            <a:pPr algn="r"/>
            <a:r>
              <a:rPr lang="fr-BE" sz="4000" b="1" i="1" dirty="0"/>
              <a:t>1.6  Nouvelle demande après prestations</a:t>
            </a:r>
            <a:endParaRPr lang="fr-FR" sz="4000" b="1" i="1" dirty="0"/>
          </a:p>
        </p:txBody>
      </p:sp>
      <p:sp>
        <p:nvSpPr>
          <p:cNvPr id="18435" name="Rectangle 3"/>
          <p:cNvSpPr>
            <a:spLocks noGrp="1" noChangeArrowheads="1"/>
          </p:cNvSpPr>
          <p:nvPr>
            <p:ph type="body" idx="1"/>
          </p:nvPr>
        </p:nvSpPr>
        <p:spPr>
          <a:xfrm>
            <a:off x="467544" y="1700808"/>
            <a:ext cx="8229600" cy="4525963"/>
          </a:xfrm>
        </p:spPr>
        <p:txBody>
          <a:bodyPr>
            <a:normAutofit fontScale="92500" lnSpcReduction="10000"/>
          </a:bodyPr>
          <a:lstStyle/>
          <a:p>
            <a:pPr>
              <a:lnSpc>
                <a:spcPct val="90000"/>
              </a:lnSpc>
              <a:buClr>
                <a:schemeClr val="tx1"/>
              </a:buClr>
              <a:buFont typeface="Wingdings" pitchFamily="2" charset="2"/>
              <a:buChar char="§"/>
            </a:pPr>
            <a:r>
              <a:rPr lang="fr-BE" sz="2800" b="1" i="1" u="sng" dirty="0">
                <a:solidFill>
                  <a:srgbClr val="C00000"/>
                </a:solidFill>
              </a:rPr>
              <a:t>Occupation salariée + travail insuffisant en Belgique:</a:t>
            </a:r>
            <a:r>
              <a:rPr lang="fr-BE" sz="2800" dirty="0"/>
              <a:t> </a:t>
            </a:r>
            <a:r>
              <a:rPr lang="fr-BE" sz="2800" b="1" dirty="0"/>
              <a:t>Assimilation à une activité sans ONSS  </a:t>
            </a:r>
            <a:r>
              <a:rPr lang="fr-BE" sz="2800" dirty="0">
                <a:sym typeface="Wingdings" panose="05000000000000000000" pitchFamily="2" charset="2"/>
              </a:rPr>
              <a:t>pour l’a</a:t>
            </a:r>
            <a:r>
              <a:rPr lang="fr-BE" sz="2800" dirty="0"/>
              <a:t>pplication des AR 30, 42 et 116</a:t>
            </a:r>
          </a:p>
          <a:p>
            <a:pPr marL="354013" indent="0">
              <a:lnSpc>
                <a:spcPct val="90000"/>
              </a:lnSpc>
              <a:buClr>
                <a:schemeClr val="tx1"/>
              </a:buClr>
              <a:buNone/>
            </a:pPr>
            <a:r>
              <a:rPr lang="fr-BE" sz="2800" b="1" dirty="0"/>
              <a:t>Remarque</a:t>
            </a:r>
            <a:r>
              <a:rPr lang="fr-BE" sz="2800" dirty="0"/>
              <a:t>: Cela vaut aussi pour les prestations à l’étranger ne pouvant être prises en compte en raison de la nature de l’activité (ex: travail indépendant)</a:t>
            </a:r>
          </a:p>
          <a:p>
            <a:pPr marL="354013" indent="0">
              <a:lnSpc>
                <a:spcPct val="90000"/>
              </a:lnSpc>
              <a:buClr>
                <a:schemeClr val="tx1"/>
              </a:buClr>
              <a:buNone/>
            </a:pPr>
            <a:endParaRPr lang="fr-BE" sz="2800" dirty="0"/>
          </a:p>
          <a:p>
            <a:pPr>
              <a:lnSpc>
                <a:spcPct val="90000"/>
              </a:lnSpc>
              <a:buClr>
                <a:schemeClr val="tx1"/>
              </a:buClr>
              <a:buFont typeface="Wingdings" pitchFamily="2" charset="2"/>
              <a:buChar char="§"/>
            </a:pPr>
            <a:r>
              <a:rPr lang="fr-BE" sz="2800" b="1" i="1" u="sng" dirty="0">
                <a:solidFill>
                  <a:srgbClr val="C00000"/>
                </a:solidFill>
              </a:rPr>
              <a:t>Occupation salariée + travail suffisant en Belgique</a:t>
            </a:r>
            <a:r>
              <a:rPr lang="fr-BE" sz="2800" i="1" dirty="0">
                <a:solidFill>
                  <a:srgbClr val="C00000"/>
                </a:solidFill>
              </a:rPr>
              <a:t> </a:t>
            </a:r>
            <a:r>
              <a:rPr lang="fr-BE" sz="2800" dirty="0"/>
              <a:t>: Prestations prises en considération pour un retour, une prolongation et/ou une révision du code chiffré de la même façon que les prestations effectuées en Belgique, si occupation suffisante en Belgique après le travail à l’étranger et avant la DA.</a:t>
            </a:r>
            <a:endParaRPr lang="fr-FR" sz="2800" u="sng"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27</a:t>
            </a:fld>
            <a:endParaRPr lang="fr-FR"/>
          </a:p>
        </p:txBody>
      </p:sp>
    </p:spTree>
    <p:extLst>
      <p:ext uri="{BB962C8B-B14F-4D97-AF65-F5344CB8AC3E}">
        <p14:creationId xmlns:p14="http://schemas.microsoft.com/office/powerpoint/2010/main" val="3919301143"/>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fade">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fade">
                                      <p:cBhvr>
                                        <p:cTn id="12" dur="500"/>
                                        <p:tgtEl>
                                          <p:spTgt spid="184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435">
                                            <p:txEl>
                                              <p:pRg st="3" end="3"/>
                                            </p:txEl>
                                          </p:spTgt>
                                        </p:tgtEl>
                                        <p:attrNameLst>
                                          <p:attrName>style.visibility</p:attrName>
                                        </p:attrNameLst>
                                      </p:cBhvr>
                                      <p:to>
                                        <p:strVal val="visible"/>
                                      </p:to>
                                    </p:set>
                                    <p:animEffect transition="in" filter="fade">
                                      <p:cBhvr>
                                        <p:cTn id="17"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39552" y="404664"/>
            <a:ext cx="8229600" cy="1143000"/>
          </a:xfrm>
        </p:spPr>
        <p:txBody>
          <a:bodyPr>
            <a:normAutofit/>
          </a:bodyPr>
          <a:lstStyle/>
          <a:p>
            <a:pPr algn="r"/>
            <a:r>
              <a:rPr lang="fr-BE" sz="4000" b="1" i="1" dirty="0"/>
              <a:t>1.7  Travail à l’étranger et vacances</a:t>
            </a:r>
            <a:endParaRPr lang="fr-FR" sz="4000" b="1" i="1" dirty="0"/>
          </a:p>
        </p:txBody>
      </p:sp>
      <p:sp>
        <p:nvSpPr>
          <p:cNvPr id="18435" name="Rectangle 3"/>
          <p:cNvSpPr>
            <a:spLocks noGrp="1" noChangeArrowheads="1"/>
          </p:cNvSpPr>
          <p:nvPr>
            <p:ph type="body" idx="1"/>
          </p:nvPr>
        </p:nvSpPr>
        <p:spPr>
          <a:xfrm>
            <a:off x="467544" y="1700808"/>
            <a:ext cx="8229600" cy="4525963"/>
          </a:xfrm>
        </p:spPr>
        <p:txBody>
          <a:bodyPr>
            <a:normAutofit/>
          </a:bodyPr>
          <a:lstStyle/>
          <a:p>
            <a:pPr marL="0" indent="0">
              <a:lnSpc>
                <a:spcPct val="90000"/>
              </a:lnSpc>
              <a:buClr>
                <a:schemeClr val="tx1"/>
              </a:buClr>
              <a:buNone/>
            </a:pPr>
            <a:r>
              <a:rPr lang="fr-FR" sz="2800" i="1" dirty="0">
                <a:sym typeface="Wingdings" panose="05000000000000000000" pitchFamily="2" charset="2"/>
              </a:rPr>
              <a:t>Incidence d’une</a:t>
            </a:r>
            <a:r>
              <a:rPr lang="fr-FR" sz="2800" b="1" i="1" dirty="0">
                <a:sym typeface="Wingdings" panose="05000000000000000000" pitchFamily="2" charset="2"/>
              </a:rPr>
              <a:t> occupation à l’étranger </a:t>
            </a:r>
            <a:r>
              <a:rPr lang="fr-FR" sz="2800" i="1" dirty="0">
                <a:sym typeface="Wingdings" panose="05000000000000000000" pitchFamily="2" charset="2"/>
              </a:rPr>
              <a:t>sur le </a:t>
            </a:r>
            <a:r>
              <a:rPr lang="fr-FR" sz="2800" b="1" i="1" dirty="0">
                <a:solidFill>
                  <a:srgbClr val="C00000"/>
                </a:solidFill>
                <a:sym typeface="Wingdings" panose="05000000000000000000" pitchFamily="2" charset="2"/>
              </a:rPr>
              <a:t>facteur J:</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28</a:t>
            </a:fld>
            <a:endParaRPr lang="fr-FR"/>
          </a:p>
        </p:txBody>
      </p:sp>
      <p:graphicFrame>
        <p:nvGraphicFramePr>
          <p:cNvPr id="3" name="Tableau 3">
            <a:extLst>
              <a:ext uri="{FF2B5EF4-FFF2-40B4-BE49-F238E27FC236}">
                <a16:creationId xmlns:a16="http://schemas.microsoft.com/office/drawing/2014/main" id="{0BD919B2-1851-4E5B-8A17-823CA3BE0FAF}"/>
              </a:ext>
            </a:extLst>
          </p:cNvPr>
          <p:cNvGraphicFramePr>
            <a:graphicFrameLocks noGrp="1"/>
          </p:cNvGraphicFramePr>
          <p:nvPr/>
        </p:nvGraphicFramePr>
        <p:xfrm>
          <a:off x="346298" y="2209404"/>
          <a:ext cx="8229600" cy="3749040"/>
        </p:xfrm>
        <a:graphic>
          <a:graphicData uri="http://schemas.openxmlformats.org/drawingml/2006/table">
            <a:tbl>
              <a:tblPr firstRow="1" bandRow="1">
                <a:tableStyleId>{F5AB1C69-6EDB-4FF4-983F-18BD219EF322}</a:tableStyleId>
              </a:tblPr>
              <a:tblGrid>
                <a:gridCol w="4114800">
                  <a:extLst>
                    <a:ext uri="{9D8B030D-6E8A-4147-A177-3AD203B41FA5}">
                      <a16:colId xmlns:a16="http://schemas.microsoft.com/office/drawing/2014/main" val="3646714890"/>
                    </a:ext>
                  </a:extLst>
                </a:gridCol>
                <a:gridCol w="4114800">
                  <a:extLst>
                    <a:ext uri="{9D8B030D-6E8A-4147-A177-3AD203B41FA5}">
                      <a16:colId xmlns:a16="http://schemas.microsoft.com/office/drawing/2014/main" val="722985525"/>
                    </a:ext>
                  </a:extLst>
                </a:gridCol>
              </a:tblGrid>
              <a:tr h="421641">
                <a:tc>
                  <a:txBody>
                    <a:bodyPr/>
                    <a:lstStyle/>
                    <a:p>
                      <a:pPr algn="ctr"/>
                      <a:r>
                        <a:rPr lang="fr-BE" sz="2400" dirty="0"/>
                        <a:t>Pays de prestations</a:t>
                      </a:r>
                    </a:p>
                  </a:txBody>
                  <a:tcPr/>
                </a:tc>
                <a:tc>
                  <a:txBody>
                    <a:bodyPr/>
                    <a:lstStyle/>
                    <a:p>
                      <a:pPr algn="ctr"/>
                      <a:r>
                        <a:rPr lang="fr-BE" sz="2400" dirty="0"/>
                        <a:t>Facteur J</a:t>
                      </a:r>
                    </a:p>
                  </a:txBody>
                  <a:tcPr/>
                </a:tc>
                <a:extLst>
                  <a:ext uri="{0D108BD9-81ED-4DB2-BD59-A6C34878D82A}">
                    <a16:rowId xmlns:a16="http://schemas.microsoft.com/office/drawing/2014/main" val="3690608860"/>
                  </a:ext>
                </a:extLst>
              </a:tr>
              <a:tr h="421641">
                <a:tc>
                  <a:txBody>
                    <a:bodyPr/>
                    <a:lstStyle/>
                    <a:p>
                      <a:pPr algn="l"/>
                      <a:r>
                        <a:rPr lang="fr-BE" sz="2400" b="1" dirty="0"/>
                        <a:t>France</a:t>
                      </a:r>
                    </a:p>
                  </a:txBody>
                  <a:tcPr anchor="ctr"/>
                </a:tc>
                <a:tc>
                  <a:txBody>
                    <a:bodyPr/>
                    <a:lstStyle/>
                    <a:p>
                      <a:r>
                        <a:rPr lang="fr-BE" sz="2400" b="1" dirty="0">
                          <a:solidFill>
                            <a:srgbClr val="C00000"/>
                          </a:solidFill>
                        </a:rPr>
                        <a:t>Secteur privé</a:t>
                      </a:r>
                    </a:p>
                  </a:txBody>
                  <a:tcPr/>
                </a:tc>
                <a:extLst>
                  <a:ext uri="{0D108BD9-81ED-4DB2-BD59-A6C34878D82A}">
                    <a16:rowId xmlns:a16="http://schemas.microsoft.com/office/drawing/2014/main" val="3702798772"/>
                  </a:ext>
                </a:extLst>
              </a:tr>
              <a:tr h="727763">
                <a:tc>
                  <a:txBody>
                    <a:bodyPr/>
                    <a:lstStyle/>
                    <a:p>
                      <a:pPr algn="l"/>
                      <a:r>
                        <a:rPr lang="fr-BE" sz="2400" b="1" dirty="0"/>
                        <a:t>Allemagne</a:t>
                      </a:r>
                    </a:p>
                  </a:txBody>
                  <a:tcPr anchor="ctr"/>
                </a:tc>
                <a:tc>
                  <a:txBody>
                    <a:bodyPr/>
                    <a:lstStyle/>
                    <a:p>
                      <a:r>
                        <a:rPr lang="fr-BE" sz="2400" b="1" dirty="0">
                          <a:solidFill>
                            <a:srgbClr val="C00000"/>
                          </a:solidFill>
                        </a:rPr>
                        <a:t>Secteur privé </a:t>
                      </a:r>
                      <a:r>
                        <a:rPr lang="fr-BE" sz="2400" b="0" dirty="0">
                          <a:solidFill>
                            <a:schemeClr val="tx1"/>
                          </a:solidFill>
                        </a:rPr>
                        <a:t>sauf mention explicite sur U1</a:t>
                      </a:r>
                    </a:p>
                  </a:txBody>
                  <a:tcPr/>
                </a:tc>
                <a:extLst>
                  <a:ext uri="{0D108BD9-81ED-4DB2-BD59-A6C34878D82A}">
                    <a16:rowId xmlns:a16="http://schemas.microsoft.com/office/drawing/2014/main" val="1385579041"/>
                  </a:ext>
                </a:extLst>
              </a:tr>
              <a:tr h="421641">
                <a:tc>
                  <a:txBody>
                    <a:bodyPr/>
                    <a:lstStyle/>
                    <a:p>
                      <a:pPr algn="l"/>
                      <a:r>
                        <a:rPr lang="fr-BE" sz="2400" b="1" dirty="0"/>
                        <a:t>G.D du Luxembourg et Pays-Bas</a:t>
                      </a:r>
                    </a:p>
                  </a:txBody>
                  <a:tcPr anchor="ctr"/>
                </a:tc>
                <a:tc>
                  <a:txBody>
                    <a:bodyPr/>
                    <a:lstStyle/>
                    <a:p>
                      <a:r>
                        <a:rPr lang="fr-BE" sz="2400" b="1" dirty="0">
                          <a:solidFill>
                            <a:srgbClr val="C00000"/>
                          </a:solidFill>
                        </a:rPr>
                        <a:t>Secteur public</a:t>
                      </a:r>
                    </a:p>
                  </a:txBody>
                  <a:tcPr/>
                </a:tc>
                <a:extLst>
                  <a:ext uri="{0D108BD9-81ED-4DB2-BD59-A6C34878D82A}">
                    <a16:rowId xmlns:a16="http://schemas.microsoft.com/office/drawing/2014/main" val="1699030116"/>
                  </a:ext>
                </a:extLst>
              </a:tr>
              <a:tr h="727763">
                <a:tc>
                  <a:txBody>
                    <a:bodyPr/>
                    <a:lstStyle/>
                    <a:p>
                      <a:pPr algn="l"/>
                      <a:r>
                        <a:rPr lang="fr-BE" sz="2400" b="1" dirty="0"/>
                        <a:t>Autres pays EEE + Suisse</a:t>
                      </a:r>
                    </a:p>
                  </a:txBody>
                  <a:tcPr anchor="ctr"/>
                </a:tc>
                <a:tc>
                  <a:txBody>
                    <a:bodyPr/>
                    <a:lstStyle/>
                    <a:p>
                      <a:r>
                        <a:rPr lang="fr-BE" sz="2400" b="1" dirty="0">
                          <a:solidFill>
                            <a:srgbClr val="C00000"/>
                          </a:solidFill>
                        </a:rPr>
                        <a:t>En fonction du U1 </a:t>
                      </a:r>
                      <a:r>
                        <a:rPr lang="fr-BE" sz="2400" b="0" dirty="0">
                          <a:solidFill>
                            <a:schemeClr val="tx1"/>
                          </a:solidFill>
                        </a:rPr>
                        <a:t>(point 4.3) mais généralement</a:t>
                      </a:r>
                      <a:r>
                        <a:rPr lang="fr-BE" sz="2400" b="1" dirty="0">
                          <a:solidFill>
                            <a:srgbClr val="C00000"/>
                          </a:solidFill>
                        </a:rPr>
                        <a:t> secteur privé</a:t>
                      </a:r>
                    </a:p>
                  </a:txBody>
                  <a:tcPr/>
                </a:tc>
                <a:extLst>
                  <a:ext uri="{0D108BD9-81ED-4DB2-BD59-A6C34878D82A}">
                    <a16:rowId xmlns:a16="http://schemas.microsoft.com/office/drawing/2014/main" val="427562951"/>
                  </a:ext>
                </a:extLst>
              </a:tr>
            </a:tbl>
          </a:graphicData>
        </a:graphic>
      </p:graphicFrame>
      <p:sp>
        <p:nvSpPr>
          <p:cNvPr id="4" name="ZoneTexte 3">
            <a:extLst>
              <a:ext uri="{FF2B5EF4-FFF2-40B4-BE49-F238E27FC236}">
                <a16:creationId xmlns:a16="http://schemas.microsoft.com/office/drawing/2014/main" id="{385359AE-FF3C-4424-8D23-09539887CE9A}"/>
              </a:ext>
            </a:extLst>
          </p:cNvPr>
          <p:cNvSpPr txBox="1"/>
          <p:nvPr/>
        </p:nvSpPr>
        <p:spPr>
          <a:xfrm>
            <a:off x="318492" y="5997535"/>
            <a:ext cx="7748314" cy="646331"/>
          </a:xfrm>
          <a:prstGeom prst="rect">
            <a:avLst/>
          </a:prstGeom>
          <a:noFill/>
        </p:spPr>
        <p:txBody>
          <a:bodyPr wrap="square" rtlCol="0">
            <a:spAutoFit/>
          </a:bodyPr>
          <a:lstStyle/>
          <a:p>
            <a:r>
              <a:rPr lang="fr-BE" b="1" dirty="0">
                <a:sym typeface="Wingdings" panose="05000000000000000000" pitchFamily="2" charset="2"/>
              </a:rPr>
              <a:t> </a:t>
            </a:r>
            <a:r>
              <a:rPr lang="fr-BE" dirty="0">
                <a:sym typeface="Wingdings" panose="05000000000000000000" pitchFamily="2" charset="2"/>
              </a:rPr>
              <a:t>Possibilité d’ajouter une </a:t>
            </a:r>
            <a:r>
              <a:rPr lang="fr-BE" b="1" dirty="0">
                <a:sym typeface="Wingdings" panose="05000000000000000000" pitchFamily="2" charset="2"/>
              </a:rPr>
              <a:t>déclaration sur l’honneur précisant le régime à appliquer (privé ou public)</a:t>
            </a:r>
            <a:endParaRPr lang="fr-BE" b="1" dirty="0"/>
          </a:p>
        </p:txBody>
      </p:sp>
    </p:spTree>
    <p:extLst>
      <p:ext uri="{BB962C8B-B14F-4D97-AF65-F5344CB8AC3E}">
        <p14:creationId xmlns:p14="http://schemas.microsoft.com/office/powerpoint/2010/main" val="1648944374"/>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fade">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algn="r"/>
            <a:r>
              <a:rPr lang="fr-BE" b="1" i="1" dirty="0"/>
              <a:t>2. Droit aux allocations pour les travailleurs étrangers </a:t>
            </a:r>
            <a:endParaRPr lang="fr-FR" b="1" i="1" dirty="0"/>
          </a:p>
        </p:txBody>
      </p:sp>
      <p:sp>
        <p:nvSpPr>
          <p:cNvPr id="14339" name="Rectangle 3"/>
          <p:cNvSpPr>
            <a:spLocks noGrp="1" noChangeArrowheads="1"/>
          </p:cNvSpPr>
          <p:nvPr>
            <p:ph type="body" idx="1"/>
          </p:nvPr>
        </p:nvSpPr>
        <p:spPr/>
        <p:txBody>
          <a:bodyPr/>
          <a:lstStyle/>
          <a:p>
            <a:endParaRPr lang="fr-BE" dirty="0"/>
          </a:p>
          <a:p>
            <a:endParaRPr lang="fr-FR"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29</a:t>
            </a:fld>
            <a:endParaRPr lang="fr-FR"/>
          </a:p>
        </p:txBody>
      </p:sp>
      <p:pic>
        <p:nvPicPr>
          <p:cNvPr id="1026" name="Picture 2" descr="Salarié étranger en France-obligation de contrôle de l&amp;amp;#39;employeur avant  l&amp;amp;#39;embauche - alzas-claudine-expert-comptable-formatrice">
            <a:extLst>
              <a:ext uri="{FF2B5EF4-FFF2-40B4-BE49-F238E27FC236}">
                <a16:creationId xmlns:a16="http://schemas.microsoft.com/office/drawing/2014/main" id="{1B45EC60-1E50-4528-919B-6E4581AE3E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8822" y="1624330"/>
            <a:ext cx="5515506" cy="4732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472988"/>
      </p:ext>
    </p:extLst>
  </p:cSld>
  <p:clrMapOvr>
    <a:masterClrMapping/>
  </p:clrMapOvr>
  <p:transition>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p:cNvSpPr>
            <a:spLocks noGrp="1"/>
          </p:cNvSpPr>
          <p:nvPr>
            <p:ph type="title"/>
          </p:nvPr>
        </p:nvSpPr>
        <p:spPr/>
        <p:txBody>
          <a:bodyPr>
            <a:normAutofit/>
          </a:bodyPr>
          <a:lstStyle/>
          <a:p>
            <a:pPr algn="r"/>
            <a:r>
              <a:rPr lang="fr-BE" b="1" i="1" dirty="0"/>
              <a:t>2.1. Préambule</a:t>
            </a:r>
            <a:endParaRPr lang="fr-BE" i="1" dirty="0"/>
          </a:p>
        </p:txBody>
      </p:sp>
      <p:sp>
        <p:nvSpPr>
          <p:cNvPr id="10" name="Espace réservé du contenu 9"/>
          <p:cNvSpPr>
            <a:spLocks noGrp="1"/>
          </p:cNvSpPr>
          <p:nvPr>
            <p:ph idx="1"/>
          </p:nvPr>
        </p:nvSpPr>
        <p:spPr/>
        <p:txBody>
          <a:bodyPr>
            <a:normAutofit lnSpcReduction="10000"/>
          </a:bodyPr>
          <a:lstStyle/>
          <a:p>
            <a:pPr marL="0" indent="0">
              <a:buNone/>
            </a:pPr>
            <a:r>
              <a:rPr lang="fr-FR" sz="2800" dirty="0"/>
              <a:t>Le </a:t>
            </a:r>
            <a:r>
              <a:rPr lang="fr-FR" sz="2800" b="1" dirty="0">
                <a:solidFill>
                  <a:srgbClr val="C00000"/>
                </a:solidFill>
              </a:rPr>
              <a:t>chômeur étranger</a:t>
            </a:r>
            <a:r>
              <a:rPr lang="fr-FR" sz="2800" dirty="0"/>
              <a:t> doit satisfaire à la législation relative aux étrangers et à celle relative à l'occupation de la main-d'œuvre étrangère : </a:t>
            </a:r>
          </a:p>
          <a:p>
            <a:pPr marL="0" indent="0">
              <a:buNone/>
            </a:pPr>
            <a:endParaRPr lang="en-US" sz="2000" dirty="0"/>
          </a:p>
          <a:p>
            <a:pPr lvl="1">
              <a:buFont typeface="Wingdings" pitchFamily="2" charset="2"/>
              <a:buChar char="§"/>
            </a:pPr>
            <a:r>
              <a:rPr lang="fr-FR" b="1" dirty="0"/>
              <a:t>Pendant les prestations de travail</a:t>
            </a:r>
            <a:r>
              <a:rPr lang="fr-FR" dirty="0"/>
              <a:t> en Belgique,</a:t>
            </a:r>
          </a:p>
          <a:p>
            <a:pPr lvl="1">
              <a:buFont typeface="Wingdings" pitchFamily="2" charset="2"/>
              <a:buChar char="§"/>
            </a:pPr>
            <a:r>
              <a:rPr lang="fr-FR" b="1" dirty="0"/>
              <a:t>Au moment de l’admission</a:t>
            </a:r>
            <a:r>
              <a:rPr lang="fr-FR" dirty="0"/>
              <a:t> au bénéfice des AC,</a:t>
            </a:r>
          </a:p>
          <a:p>
            <a:pPr lvl="1">
              <a:buFont typeface="Wingdings" pitchFamily="2" charset="2"/>
              <a:buChar char="§"/>
            </a:pPr>
            <a:r>
              <a:rPr lang="fr-FR" b="1" dirty="0"/>
              <a:t>Pendant toute la durée</a:t>
            </a:r>
            <a:r>
              <a:rPr lang="fr-FR" dirty="0"/>
              <a:t> du chômage</a:t>
            </a:r>
            <a:r>
              <a:rPr lang="fr-FR" b="1" dirty="0"/>
              <a:t>.</a:t>
            </a:r>
          </a:p>
          <a:p>
            <a:pPr marL="457200" lvl="1" indent="0">
              <a:buNone/>
            </a:pPr>
            <a:endParaRPr lang="fr-FR" b="1" dirty="0"/>
          </a:p>
          <a:p>
            <a:pPr marL="457200" lvl="1" indent="0">
              <a:buNone/>
            </a:pPr>
            <a:r>
              <a:rPr lang="fr-FR" b="1" dirty="0">
                <a:latin typeface="Segoe UI Emoji" panose="020B0502040204020203" pitchFamily="34" charset="0"/>
                <a:ea typeface="Segoe UI Emoji" panose="020B0502040204020203" pitchFamily="34" charset="0"/>
              </a:rPr>
              <a:t>⚠ </a:t>
            </a:r>
            <a:r>
              <a:rPr lang="fr-FR" b="1" dirty="0">
                <a:solidFill>
                  <a:srgbClr val="C00000"/>
                </a:solidFill>
                <a:ea typeface="Segoe UI Emoji" panose="020B0502040204020203" pitchFamily="34" charset="0"/>
              </a:rPr>
              <a:t>Depuis le 01.07.2022 cette obligation n’est plus contrôlée pour le CT et les VJ/VS</a:t>
            </a:r>
            <a:endParaRPr lang="fr-FR" b="1" dirty="0">
              <a:solidFill>
                <a:srgbClr val="C00000"/>
              </a:solidFill>
            </a:endParaRPr>
          </a:p>
          <a:p>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30</a:t>
            </a:fld>
            <a:endParaRPr lang="fr-FR"/>
          </a:p>
        </p:txBody>
      </p:sp>
    </p:spTree>
    <p:extLst>
      <p:ext uri="{BB962C8B-B14F-4D97-AF65-F5344CB8AC3E}">
        <p14:creationId xmlns:p14="http://schemas.microsoft.com/office/powerpoint/2010/main" val="235537728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animEffect transition="in" filter="fade">
                                      <p:cBhvr>
                                        <p:cTn id="17" dur="1000"/>
                                        <p:tgtEl>
                                          <p:spTgt spid="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4" end="4"/>
                                            </p:txEl>
                                          </p:spTgt>
                                        </p:tgtEl>
                                        <p:attrNameLst>
                                          <p:attrName>style.visibility</p:attrName>
                                        </p:attrNameLst>
                                      </p:cBhvr>
                                      <p:to>
                                        <p:strVal val="visible"/>
                                      </p:to>
                                    </p:set>
                                    <p:animEffect transition="in" filter="fade">
                                      <p:cBhvr>
                                        <p:cTn id="22" dur="1000"/>
                                        <p:tgtEl>
                                          <p:spTgt spid="1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fade">
                                      <p:cBhvr>
                                        <p:cTn id="27" dur="10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normAutofit/>
          </a:bodyPr>
          <a:lstStyle/>
          <a:p>
            <a:pPr algn="r"/>
            <a:r>
              <a:rPr lang="fr-BE" b="1" i="1" dirty="0"/>
              <a:t>2.2 Permis/Titres de séjour</a:t>
            </a:r>
            <a:endParaRPr lang="fr-BE" i="1" dirty="0"/>
          </a:p>
        </p:txBody>
      </p:sp>
      <p:sp>
        <p:nvSpPr>
          <p:cNvPr id="3" name="Espace réservé du numéro de diapositive 2"/>
          <p:cNvSpPr>
            <a:spLocks noGrp="1"/>
          </p:cNvSpPr>
          <p:nvPr>
            <p:ph type="sldNum" sz="quarter" idx="12"/>
          </p:nvPr>
        </p:nvSpPr>
        <p:spPr/>
        <p:txBody>
          <a:bodyPr/>
          <a:lstStyle/>
          <a:p>
            <a:fld id="{55E9056B-6A30-4F99-BDE9-C450E66AE125}" type="slidenum">
              <a:rPr lang="fr-FR" smtClean="0"/>
              <a:pPr/>
              <a:t>31</a:t>
            </a:fld>
            <a:endParaRPr lang="fr-FR"/>
          </a:p>
        </p:txBody>
      </p:sp>
      <p:sp>
        <p:nvSpPr>
          <p:cNvPr id="2" name="Espace réservé du contenu 1"/>
          <p:cNvSpPr>
            <a:spLocks noGrp="1"/>
          </p:cNvSpPr>
          <p:nvPr>
            <p:ph idx="1"/>
          </p:nvPr>
        </p:nvSpPr>
        <p:spPr>
          <a:xfrm>
            <a:off x="457200" y="1417638"/>
            <a:ext cx="8229600" cy="4708525"/>
          </a:xfrm>
        </p:spPr>
        <p:txBody>
          <a:bodyPr/>
          <a:lstStyle/>
          <a:p>
            <a:r>
              <a:rPr lang="fr-BE" sz="2800" b="1" dirty="0"/>
              <a:t>Aperçu :</a:t>
            </a:r>
          </a:p>
          <a:p>
            <a:endParaRPr lang="fr-BE" b="1" dirty="0"/>
          </a:p>
        </p:txBody>
      </p:sp>
      <p:graphicFrame>
        <p:nvGraphicFramePr>
          <p:cNvPr id="5" name="Tableau 4"/>
          <p:cNvGraphicFramePr>
            <a:graphicFrameLocks noGrp="1"/>
          </p:cNvGraphicFramePr>
          <p:nvPr/>
        </p:nvGraphicFramePr>
        <p:xfrm>
          <a:off x="435446" y="2011362"/>
          <a:ext cx="8229600" cy="4267200"/>
        </p:xfrm>
        <a:graphic>
          <a:graphicData uri="http://schemas.openxmlformats.org/drawingml/2006/table">
            <a:tbl>
              <a:tblPr firstRow="1" bandRow="1">
                <a:tableStyleId>{F5AB1C69-6EDB-4FF4-983F-18BD219EF322}</a:tableStyleId>
              </a:tblPr>
              <a:tblGrid>
                <a:gridCol w="3159579">
                  <a:extLst>
                    <a:ext uri="{9D8B030D-6E8A-4147-A177-3AD203B41FA5}">
                      <a16:colId xmlns:a16="http://schemas.microsoft.com/office/drawing/2014/main" val="20000"/>
                    </a:ext>
                  </a:extLst>
                </a:gridCol>
                <a:gridCol w="5070021">
                  <a:extLst>
                    <a:ext uri="{9D8B030D-6E8A-4147-A177-3AD203B41FA5}">
                      <a16:colId xmlns:a16="http://schemas.microsoft.com/office/drawing/2014/main" val="20001"/>
                    </a:ext>
                  </a:extLst>
                </a:gridCol>
              </a:tblGrid>
              <a:tr h="198932">
                <a:tc>
                  <a:txBody>
                    <a:bodyPr/>
                    <a:lstStyle/>
                    <a:p>
                      <a:pPr algn="ctr"/>
                      <a:r>
                        <a:rPr lang="fr-BE" sz="2000" dirty="0"/>
                        <a:t>Types de carte</a:t>
                      </a:r>
                    </a:p>
                  </a:txBody>
                  <a:tcPr/>
                </a:tc>
                <a:tc>
                  <a:txBody>
                    <a:bodyPr/>
                    <a:lstStyle/>
                    <a:p>
                      <a:pPr algn="ctr"/>
                      <a:r>
                        <a:rPr lang="fr-BE" sz="2000" dirty="0"/>
                        <a:t>Intitulé</a:t>
                      </a:r>
                    </a:p>
                  </a:txBody>
                  <a:tcPr/>
                </a:tc>
                <a:extLst>
                  <a:ext uri="{0D108BD9-81ED-4DB2-BD59-A6C34878D82A}">
                    <a16:rowId xmlns:a16="http://schemas.microsoft.com/office/drawing/2014/main" val="10000"/>
                  </a:ext>
                </a:extLst>
              </a:tr>
              <a:tr h="354507">
                <a:tc>
                  <a:txBody>
                    <a:bodyPr/>
                    <a:lstStyle/>
                    <a:p>
                      <a:pPr algn="ctr"/>
                      <a:r>
                        <a:rPr lang="fr-BE" sz="2000" dirty="0"/>
                        <a:t>Carte A</a:t>
                      </a:r>
                    </a:p>
                  </a:txBody>
                  <a:tcPr/>
                </a:tc>
                <a:tc>
                  <a:txBody>
                    <a:bodyPr/>
                    <a:lstStyle/>
                    <a:p>
                      <a:pPr algn="ctr"/>
                      <a:r>
                        <a:rPr lang="fr-BE" sz="2000" dirty="0"/>
                        <a:t>Séjour limité</a:t>
                      </a:r>
                    </a:p>
                  </a:txBody>
                  <a:tcPr/>
                </a:tc>
                <a:extLst>
                  <a:ext uri="{0D108BD9-81ED-4DB2-BD59-A6C34878D82A}">
                    <a16:rowId xmlns:a16="http://schemas.microsoft.com/office/drawing/2014/main" val="10001"/>
                  </a:ext>
                </a:extLst>
              </a:tr>
              <a:tr h="354507">
                <a:tc>
                  <a:txBody>
                    <a:bodyPr/>
                    <a:lstStyle/>
                    <a:p>
                      <a:pPr algn="ctr"/>
                      <a:r>
                        <a:rPr lang="fr-BE" sz="2000" dirty="0"/>
                        <a:t>Carte B</a:t>
                      </a:r>
                    </a:p>
                  </a:txBody>
                  <a:tcPr/>
                </a:tc>
                <a:tc>
                  <a:txBody>
                    <a:bodyPr/>
                    <a:lstStyle/>
                    <a:p>
                      <a:pPr algn="ctr"/>
                      <a:r>
                        <a:rPr lang="fr-BE" sz="2000" baseline="0" dirty="0"/>
                        <a:t>Séjour illimité</a:t>
                      </a:r>
                      <a:endParaRPr lang="fr-BE" sz="2000" dirty="0"/>
                    </a:p>
                  </a:txBody>
                  <a:tcPr/>
                </a:tc>
                <a:extLst>
                  <a:ext uri="{0D108BD9-81ED-4DB2-BD59-A6C34878D82A}">
                    <a16:rowId xmlns:a16="http://schemas.microsoft.com/office/drawing/2014/main" val="10002"/>
                  </a:ext>
                </a:extLst>
              </a:tr>
              <a:tr h="354507">
                <a:tc>
                  <a:txBody>
                    <a:bodyPr/>
                    <a:lstStyle/>
                    <a:p>
                      <a:pPr algn="ctr"/>
                      <a:r>
                        <a:rPr lang="fr-BE" sz="2000" dirty="0"/>
                        <a:t>Carte K (anciennement C)</a:t>
                      </a:r>
                    </a:p>
                  </a:txBody>
                  <a:tcPr/>
                </a:tc>
                <a:tc>
                  <a:txBody>
                    <a:bodyPr/>
                    <a:lstStyle/>
                    <a:p>
                      <a:pPr algn="ctr"/>
                      <a:r>
                        <a:rPr lang="fr-BE" sz="2000" dirty="0"/>
                        <a:t>Etablissement</a:t>
                      </a:r>
                    </a:p>
                  </a:txBody>
                  <a:tcPr/>
                </a:tc>
                <a:extLst>
                  <a:ext uri="{0D108BD9-81ED-4DB2-BD59-A6C34878D82A}">
                    <a16:rowId xmlns:a16="http://schemas.microsoft.com/office/drawing/2014/main" val="10003"/>
                  </a:ext>
                </a:extLst>
              </a:tr>
              <a:tr h="354507">
                <a:tc>
                  <a:txBody>
                    <a:bodyPr/>
                    <a:lstStyle/>
                    <a:p>
                      <a:pPr algn="ctr"/>
                      <a:r>
                        <a:rPr lang="fr-BE" sz="2000" dirty="0"/>
                        <a:t>Carte L (anciennement D)</a:t>
                      </a:r>
                    </a:p>
                  </a:txBody>
                  <a:tcPr/>
                </a:tc>
                <a:tc>
                  <a:txBody>
                    <a:bodyPr/>
                    <a:lstStyle/>
                    <a:p>
                      <a:pPr algn="ctr"/>
                      <a:r>
                        <a:rPr lang="fr-BE" sz="2000" dirty="0"/>
                        <a:t>Résident de longue durée - UE</a:t>
                      </a:r>
                    </a:p>
                  </a:txBody>
                  <a:tcPr/>
                </a:tc>
                <a:extLst>
                  <a:ext uri="{0D108BD9-81ED-4DB2-BD59-A6C34878D82A}">
                    <a16:rowId xmlns:a16="http://schemas.microsoft.com/office/drawing/2014/main" val="10004"/>
                  </a:ext>
                </a:extLst>
              </a:tr>
              <a:tr h="354507">
                <a:tc>
                  <a:txBody>
                    <a:bodyPr/>
                    <a:lstStyle/>
                    <a:p>
                      <a:pPr algn="ctr"/>
                      <a:r>
                        <a:rPr lang="fr-BE" sz="2000" dirty="0"/>
                        <a:t>Carte</a:t>
                      </a:r>
                      <a:r>
                        <a:rPr lang="fr-BE" sz="2000" baseline="0" dirty="0"/>
                        <a:t> E</a:t>
                      </a:r>
                      <a:endParaRPr lang="fr-BE" sz="2000" dirty="0"/>
                    </a:p>
                  </a:txBody>
                  <a:tcPr/>
                </a:tc>
                <a:tc>
                  <a:txBody>
                    <a:bodyPr/>
                    <a:lstStyle/>
                    <a:p>
                      <a:pPr algn="ctr"/>
                      <a:r>
                        <a:rPr lang="fr-BE" sz="2000" dirty="0"/>
                        <a:t>EU. Enregistrement – art. 8 DIR 2004/38/CE</a:t>
                      </a:r>
                    </a:p>
                  </a:txBody>
                  <a:tcPr/>
                </a:tc>
                <a:extLst>
                  <a:ext uri="{0D108BD9-81ED-4DB2-BD59-A6C34878D82A}">
                    <a16:rowId xmlns:a16="http://schemas.microsoft.com/office/drawing/2014/main" val="10005"/>
                  </a:ext>
                </a:extLst>
              </a:tr>
              <a:tr h="354507">
                <a:tc>
                  <a:txBody>
                    <a:bodyPr/>
                    <a:lstStyle/>
                    <a:p>
                      <a:pPr algn="ctr"/>
                      <a:r>
                        <a:rPr lang="fr-BE" sz="2000" dirty="0"/>
                        <a:t>Carte</a:t>
                      </a:r>
                      <a:r>
                        <a:rPr lang="fr-BE" sz="2000" baseline="0" dirty="0"/>
                        <a:t> E+</a:t>
                      </a:r>
                      <a:endParaRPr lang="fr-BE"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EU+. Séjour permanent – art. 19 DIR 2004/38/CE</a:t>
                      </a:r>
                    </a:p>
                  </a:txBody>
                  <a:tcPr/>
                </a:tc>
                <a:extLst>
                  <a:ext uri="{0D108BD9-81ED-4DB2-BD59-A6C34878D82A}">
                    <a16:rowId xmlns:a16="http://schemas.microsoft.com/office/drawing/2014/main" val="10006"/>
                  </a:ext>
                </a:extLst>
              </a:tr>
              <a:tr h="396000">
                <a:tc>
                  <a:txBody>
                    <a:bodyPr/>
                    <a:lstStyle/>
                    <a:p>
                      <a:pPr algn="ctr"/>
                      <a:r>
                        <a:rPr lang="fr-BE" sz="2000" dirty="0"/>
                        <a:t>Carte</a:t>
                      </a:r>
                      <a:r>
                        <a:rPr lang="fr-BE" sz="2000" baseline="0" dirty="0"/>
                        <a:t> F</a:t>
                      </a:r>
                      <a:endParaRPr lang="fr-BE" sz="2000" dirty="0"/>
                    </a:p>
                  </a:txBody>
                  <a:tcPr/>
                </a:tc>
                <a:tc>
                  <a:txBody>
                    <a:bodyPr/>
                    <a:lstStyle/>
                    <a:p>
                      <a:pPr algn="ctr"/>
                      <a:r>
                        <a:rPr lang="fr-BE" sz="2000" dirty="0"/>
                        <a:t>Membre famille UE art. 10 DIR 2004/38/CE</a:t>
                      </a:r>
                    </a:p>
                  </a:txBody>
                  <a:tcPr/>
                </a:tc>
                <a:extLst>
                  <a:ext uri="{0D108BD9-81ED-4DB2-BD59-A6C34878D82A}">
                    <a16:rowId xmlns:a16="http://schemas.microsoft.com/office/drawing/2014/main" val="10007"/>
                  </a:ext>
                </a:extLst>
              </a:tr>
              <a:tr h="396000">
                <a:tc>
                  <a:txBody>
                    <a:bodyPr/>
                    <a:lstStyle/>
                    <a:p>
                      <a:pPr algn="ctr"/>
                      <a:r>
                        <a:rPr lang="fr-BE" sz="2000" dirty="0"/>
                        <a:t>Carte</a:t>
                      </a:r>
                      <a:r>
                        <a:rPr lang="fr-BE" sz="2000" baseline="0" dirty="0"/>
                        <a:t> F+</a:t>
                      </a:r>
                      <a:endParaRPr lang="fr-BE" sz="20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Membre famille UE art. 20 DIR 2004/38/CE</a:t>
                      </a:r>
                    </a:p>
                  </a:txBody>
                  <a:tcPr/>
                </a:tc>
                <a:extLst>
                  <a:ext uri="{0D108BD9-81ED-4DB2-BD59-A6C34878D82A}">
                    <a16:rowId xmlns:a16="http://schemas.microsoft.com/office/drawing/2014/main" val="10008"/>
                  </a:ext>
                </a:extLst>
              </a:tr>
              <a:tr h="354507">
                <a:tc>
                  <a:txBody>
                    <a:bodyPr/>
                    <a:lstStyle/>
                    <a:p>
                      <a:pPr algn="ctr"/>
                      <a:r>
                        <a:rPr lang="fr-BE" sz="2000" dirty="0"/>
                        <a:t>Carte 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Article 50 TUE</a:t>
                      </a:r>
                    </a:p>
                  </a:txBody>
                  <a:tcPr/>
                </a:tc>
                <a:extLst>
                  <a:ext uri="{0D108BD9-81ED-4DB2-BD59-A6C34878D82A}">
                    <a16:rowId xmlns:a16="http://schemas.microsoft.com/office/drawing/2014/main" val="42612527"/>
                  </a:ext>
                </a:extLst>
              </a:tr>
            </a:tbl>
          </a:graphicData>
        </a:graphic>
      </p:graphicFrame>
    </p:spTree>
    <p:extLst>
      <p:ext uri="{BB962C8B-B14F-4D97-AF65-F5344CB8AC3E}">
        <p14:creationId xmlns:p14="http://schemas.microsoft.com/office/powerpoint/2010/main" val="410527781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normAutofit/>
          </a:bodyPr>
          <a:lstStyle/>
          <a:p>
            <a:pPr algn="r"/>
            <a:r>
              <a:rPr lang="fr-BE" b="1" i="1" dirty="0"/>
              <a:t>2.3 Autorisation de travail</a:t>
            </a:r>
            <a:endParaRPr lang="fr-BE" i="1" dirty="0"/>
          </a:p>
        </p:txBody>
      </p:sp>
      <p:sp>
        <p:nvSpPr>
          <p:cNvPr id="10" name="Espace réservé du contenu 9"/>
          <p:cNvSpPr>
            <a:spLocks noGrp="1"/>
          </p:cNvSpPr>
          <p:nvPr>
            <p:ph idx="1"/>
          </p:nvPr>
        </p:nvSpPr>
        <p:spPr>
          <a:xfrm>
            <a:off x="457200" y="1628800"/>
            <a:ext cx="8229600" cy="4525963"/>
          </a:xfrm>
        </p:spPr>
        <p:txBody>
          <a:bodyPr>
            <a:normAutofit fontScale="85000" lnSpcReduction="10000"/>
          </a:bodyPr>
          <a:lstStyle/>
          <a:p>
            <a:pPr marL="0" indent="0">
              <a:lnSpc>
                <a:spcPct val="90000"/>
              </a:lnSpc>
              <a:buNone/>
            </a:pPr>
            <a:r>
              <a:rPr lang="fr-BE" sz="3000" b="1" dirty="0">
                <a:solidFill>
                  <a:srgbClr val="C00000"/>
                </a:solidFill>
              </a:rPr>
              <a:t>Depuis le 01.01.2019</a:t>
            </a:r>
            <a:r>
              <a:rPr lang="fr-BE" sz="1900" b="1" i="1" baseline="80000" dirty="0">
                <a:solidFill>
                  <a:srgbClr val="C00000"/>
                </a:solidFill>
              </a:rPr>
              <a:t>(*)</a:t>
            </a:r>
            <a:r>
              <a:rPr lang="fr-BE" sz="3000" dirty="0"/>
              <a:t>, les autorisations de séjour et de travail sont reprises sur un seul et même acte, le « </a:t>
            </a:r>
            <a:r>
              <a:rPr lang="fr-BE" sz="3000" b="1" dirty="0">
                <a:solidFill>
                  <a:srgbClr val="C00000"/>
                </a:solidFill>
              </a:rPr>
              <a:t>permis unique</a:t>
            </a:r>
            <a:r>
              <a:rPr lang="fr-BE" sz="3000" dirty="0"/>
              <a:t> » reprenant une mention relative à l’accès au marché du travail.</a:t>
            </a:r>
          </a:p>
          <a:p>
            <a:pPr marL="0" indent="0">
              <a:lnSpc>
                <a:spcPct val="90000"/>
              </a:lnSpc>
              <a:buNone/>
            </a:pPr>
            <a:endParaRPr lang="fr-BE" sz="1100" dirty="0"/>
          </a:p>
          <a:p>
            <a:pPr>
              <a:lnSpc>
                <a:spcPct val="90000"/>
              </a:lnSpc>
              <a:buFont typeface="Wingdings" panose="05000000000000000000" pitchFamily="2" charset="2"/>
              <a:buChar char="è"/>
            </a:pPr>
            <a:r>
              <a:rPr lang="fr-BE" sz="3000" dirty="0"/>
              <a:t>Mentions possibles : </a:t>
            </a:r>
            <a:r>
              <a:rPr lang="fr-FR" sz="3000" b="1" i="1" dirty="0">
                <a:sym typeface="Wingdings" panose="05000000000000000000" pitchFamily="2" charset="2"/>
              </a:rPr>
              <a:t>« illimité »</a:t>
            </a:r>
            <a:r>
              <a:rPr lang="fr-FR" sz="3000" i="1" dirty="0">
                <a:sym typeface="Wingdings" panose="05000000000000000000" pitchFamily="2" charset="2"/>
              </a:rPr>
              <a:t>, </a:t>
            </a:r>
            <a:r>
              <a:rPr lang="fr-FR" sz="3000" b="1" i="1" dirty="0">
                <a:sym typeface="Wingdings" panose="05000000000000000000" pitchFamily="2" charset="2"/>
              </a:rPr>
              <a:t>« limité » </a:t>
            </a:r>
            <a:r>
              <a:rPr lang="fr-FR" sz="3000" i="1" dirty="0">
                <a:sym typeface="Wingdings" panose="05000000000000000000" pitchFamily="2" charset="2"/>
              </a:rPr>
              <a:t>ou </a:t>
            </a:r>
            <a:r>
              <a:rPr lang="fr-FR" sz="3000" b="1" i="1" dirty="0">
                <a:sym typeface="Wingdings" panose="05000000000000000000" pitchFamily="2" charset="2"/>
              </a:rPr>
              <a:t>« non »</a:t>
            </a:r>
            <a:r>
              <a:rPr lang="fr-BE" sz="3000" dirty="0"/>
              <a:t> </a:t>
            </a:r>
          </a:p>
          <a:p>
            <a:pPr marL="0" indent="0">
              <a:lnSpc>
                <a:spcPct val="90000"/>
              </a:lnSpc>
              <a:buNone/>
            </a:pPr>
            <a:endParaRPr lang="fr-BE" sz="2800" dirty="0"/>
          </a:p>
          <a:p>
            <a:pPr marL="0" indent="0">
              <a:lnSpc>
                <a:spcPct val="90000"/>
              </a:lnSpc>
              <a:buNone/>
            </a:pPr>
            <a:r>
              <a:rPr lang="fr-BE" sz="3000" dirty="0"/>
              <a:t>Certaines catégories de personnes </a:t>
            </a:r>
            <a:r>
              <a:rPr lang="fr-FR" sz="3000" i="1" dirty="0"/>
              <a:t>obtiennent une </a:t>
            </a:r>
            <a:r>
              <a:rPr lang="fr-FR" sz="3000" b="1" i="1" dirty="0">
                <a:solidFill>
                  <a:srgbClr val="C00000"/>
                </a:solidFill>
              </a:rPr>
              <a:t>autorisation automatique </a:t>
            </a:r>
            <a:r>
              <a:rPr lang="fr-FR" sz="3000" b="1" i="1" dirty="0"/>
              <a:t>d’accès illimité au marché travail</a:t>
            </a:r>
          </a:p>
          <a:p>
            <a:pPr marL="0" indent="0">
              <a:lnSpc>
                <a:spcPct val="90000"/>
              </a:lnSpc>
              <a:buNone/>
            </a:pPr>
            <a:endParaRPr lang="fr-BE" sz="1000" b="1" dirty="0"/>
          </a:p>
          <a:p>
            <a:pPr>
              <a:lnSpc>
                <a:spcPct val="90000"/>
              </a:lnSpc>
              <a:buFont typeface="Wingdings" panose="05000000000000000000" pitchFamily="2" charset="2"/>
              <a:buChar char="è"/>
            </a:pPr>
            <a:r>
              <a:rPr lang="fr-BE" sz="3000" dirty="0">
                <a:sym typeface="Wingdings" panose="05000000000000000000" pitchFamily="2" charset="2"/>
              </a:rPr>
              <a:t> Elles se voient alors délivrer un </a:t>
            </a:r>
            <a:r>
              <a:rPr lang="fr-BE" sz="3000" b="1" dirty="0">
                <a:sym typeface="Wingdings" panose="05000000000000000000" pitchFamily="2" charset="2"/>
              </a:rPr>
              <a:t>« </a:t>
            </a:r>
            <a:r>
              <a:rPr lang="fr-BE" sz="3000" b="1" dirty="0">
                <a:solidFill>
                  <a:srgbClr val="C00000"/>
                </a:solidFill>
                <a:sym typeface="Wingdings" panose="05000000000000000000" pitchFamily="2" charset="2"/>
              </a:rPr>
              <a:t>titre unique </a:t>
            </a:r>
            <a:r>
              <a:rPr lang="fr-BE" sz="3000" b="1" dirty="0">
                <a:sym typeface="Wingdings" panose="05000000000000000000" pitchFamily="2" charset="2"/>
              </a:rPr>
              <a:t>»</a:t>
            </a:r>
            <a:endParaRPr lang="fr-BE" sz="2800" dirty="0"/>
          </a:p>
          <a:p>
            <a:pPr marL="0" indent="0">
              <a:lnSpc>
                <a:spcPct val="90000"/>
              </a:lnSpc>
              <a:buNone/>
            </a:pPr>
            <a:endParaRPr lang="fr-BE" sz="2800" dirty="0"/>
          </a:p>
          <a:p>
            <a:pPr marL="0" indent="0">
              <a:lnSpc>
                <a:spcPct val="90000"/>
              </a:lnSpc>
              <a:buNone/>
            </a:pPr>
            <a:r>
              <a:rPr lang="fr-BE" sz="1800" i="1" dirty="0"/>
              <a:t>(*)Les PS &amp; PT délivrés avant le 01.01.2019 restent </a:t>
            </a:r>
            <a:r>
              <a:rPr lang="fr-BE" sz="1800" b="1" i="1" dirty="0">
                <a:solidFill>
                  <a:srgbClr val="C00000"/>
                </a:solidFill>
              </a:rPr>
              <a:t>valables jusqu’à leur expiration</a:t>
            </a:r>
            <a:r>
              <a:rPr lang="fr-BE" sz="1800" i="1" dirty="0">
                <a:solidFill>
                  <a:srgbClr val="C00000"/>
                </a:solidFill>
              </a:rPr>
              <a:t>.</a:t>
            </a:r>
          </a:p>
          <a:p>
            <a:pPr marL="0" indent="0">
              <a:lnSpc>
                <a:spcPct val="90000"/>
              </a:lnSpc>
              <a:buNone/>
            </a:pPr>
            <a:endParaRPr lang="fr-BE" sz="2800" b="1" i="1" dirty="0"/>
          </a:p>
          <a:p>
            <a:pPr marL="0" indent="0">
              <a:lnSpc>
                <a:spcPct val="90000"/>
              </a:lnSpc>
              <a:buNone/>
            </a:pPr>
            <a:endParaRPr lang="fr-BE" sz="2800" dirty="0"/>
          </a:p>
          <a:p>
            <a:pPr>
              <a:lnSpc>
                <a:spcPct val="90000"/>
              </a:lnSpc>
              <a:buFont typeface="Wingdings" panose="05000000000000000000" pitchFamily="2" charset="2"/>
              <a:buChar char="è"/>
            </a:pPr>
            <a:endParaRPr lang="fr-BE" sz="2800" dirty="0"/>
          </a:p>
          <a:p>
            <a:pPr marL="0" indent="0">
              <a:lnSpc>
                <a:spcPct val="90000"/>
              </a:lnSpc>
              <a:buNone/>
            </a:pPr>
            <a:endParaRPr lang="fr-BE" sz="2800" dirty="0"/>
          </a:p>
          <a:p>
            <a:pPr marL="0" indent="0">
              <a:lnSpc>
                <a:spcPct val="90000"/>
              </a:lnSpc>
              <a:buNone/>
            </a:pPr>
            <a:endParaRPr lang="fr-BE" sz="2800" dirty="0"/>
          </a:p>
          <a:p>
            <a:pPr marL="0" indent="0">
              <a:lnSpc>
                <a:spcPct val="90000"/>
              </a:lnSpc>
              <a:buNone/>
            </a:pPr>
            <a:endParaRPr lang="fr-FR" sz="3500" b="1" i="1" u="sng"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32</a:t>
            </a:fld>
            <a:endParaRPr lang="fr-FR"/>
          </a:p>
        </p:txBody>
      </p:sp>
    </p:spTree>
    <p:extLst>
      <p:ext uri="{BB962C8B-B14F-4D97-AF65-F5344CB8AC3E}">
        <p14:creationId xmlns:p14="http://schemas.microsoft.com/office/powerpoint/2010/main" val="98063221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fade">
                                      <p:cBhvr>
                                        <p:cTn id="12" dur="10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1000"/>
                                        <p:tgtEl>
                                          <p:spTgt spid="10">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6" end="6"/>
                                            </p:txEl>
                                          </p:spTgt>
                                        </p:tgtEl>
                                        <p:attrNameLst>
                                          <p:attrName>style.visibility</p:attrName>
                                        </p:attrNameLst>
                                      </p:cBhvr>
                                      <p:to>
                                        <p:strVal val="visible"/>
                                      </p:to>
                                    </p:set>
                                    <p:animEffect transition="in" filter="fade">
                                      <p:cBhvr>
                                        <p:cTn id="22" dur="1000"/>
                                        <p:tgtEl>
                                          <p:spTgt spid="10">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8" end="8"/>
                                            </p:txEl>
                                          </p:spTgt>
                                        </p:tgtEl>
                                        <p:attrNameLst>
                                          <p:attrName>style.visibility</p:attrName>
                                        </p:attrNameLst>
                                      </p:cBhvr>
                                      <p:to>
                                        <p:strVal val="visible"/>
                                      </p:to>
                                    </p:set>
                                    <p:animEffect transition="in" filter="fade">
                                      <p:cBhvr>
                                        <p:cTn id="27" dur="1000"/>
                                        <p:tgtEl>
                                          <p:spTgt spid="1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p:cNvSpPr>
            <a:spLocks noGrp="1"/>
          </p:cNvSpPr>
          <p:nvPr>
            <p:ph type="title"/>
          </p:nvPr>
        </p:nvSpPr>
        <p:spPr/>
        <p:txBody>
          <a:bodyPr>
            <a:normAutofit/>
          </a:bodyPr>
          <a:lstStyle/>
          <a:p>
            <a:pPr algn="r"/>
            <a:r>
              <a:rPr lang="fr-BE" b="1" i="1" dirty="0"/>
              <a:t>2.3 Autorisation de travail</a:t>
            </a:r>
            <a:endParaRPr lang="fr-BE" i="1" dirty="0"/>
          </a:p>
        </p:txBody>
      </p:sp>
      <p:sp>
        <p:nvSpPr>
          <p:cNvPr id="10" name="Espace réservé du contenu 9"/>
          <p:cNvSpPr>
            <a:spLocks noGrp="1"/>
          </p:cNvSpPr>
          <p:nvPr>
            <p:ph idx="1"/>
          </p:nvPr>
        </p:nvSpPr>
        <p:spPr>
          <a:xfrm>
            <a:off x="468610" y="1420035"/>
            <a:ext cx="8229600" cy="4525963"/>
          </a:xfrm>
        </p:spPr>
        <p:txBody>
          <a:bodyPr>
            <a:normAutofit/>
          </a:bodyPr>
          <a:lstStyle/>
          <a:p>
            <a:pPr marL="0" indent="0">
              <a:buNone/>
            </a:pPr>
            <a:r>
              <a:rPr lang="fr-BE" b="1" u="sng" dirty="0"/>
              <a:t>Aperçu</a:t>
            </a:r>
            <a:r>
              <a:rPr lang="fr-BE" b="1" dirty="0"/>
              <a:t>:</a:t>
            </a:r>
          </a:p>
          <a:p>
            <a:pPr marL="457200" lvl="1" indent="0">
              <a:buNone/>
            </a:pPr>
            <a:endParaRPr lang="fr-BE"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33</a:t>
            </a:fld>
            <a:endParaRPr lang="fr-FR"/>
          </a:p>
        </p:txBody>
      </p:sp>
      <p:graphicFrame>
        <p:nvGraphicFramePr>
          <p:cNvPr id="3" name="Tableau 3">
            <a:extLst>
              <a:ext uri="{FF2B5EF4-FFF2-40B4-BE49-F238E27FC236}">
                <a16:creationId xmlns:a16="http://schemas.microsoft.com/office/drawing/2014/main" id="{714A43CC-E608-473B-BF6E-CC08557CC258}"/>
              </a:ext>
            </a:extLst>
          </p:cNvPr>
          <p:cNvGraphicFramePr>
            <a:graphicFrameLocks noGrp="1"/>
          </p:cNvGraphicFramePr>
          <p:nvPr/>
        </p:nvGraphicFramePr>
        <p:xfrm>
          <a:off x="480020" y="2064232"/>
          <a:ext cx="8229600" cy="4057380"/>
        </p:xfrm>
        <a:graphic>
          <a:graphicData uri="http://schemas.openxmlformats.org/drawingml/2006/table">
            <a:tbl>
              <a:tblPr firstRow="1" bandRow="1">
                <a:tableStyleId>{F5AB1C69-6EDB-4FF4-983F-18BD219EF322}</a:tableStyleId>
              </a:tblPr>
              <a:tblGrid>
                <a:gridCol w="2147764">
                  <a:extLst>
                    <a:ext uri="{9D8B030D-6E8A-4147-A177-3AD203B41FA5}">
                      <a16:colId xmlns:a16="http://schemas.microsoft.com/office/drawing/2014/main" val="539086213"/>
                    </a:ext>
                  </a:extLst>
                </a:gridCol>
                <a:gridCol w="1967036">
                  <a:extLst>
                    <a:ext uri="{9D8B030D-6E8A-4147-A177-3AD203B41FA5}">
                      <a16:colId xmlns:a16="http://schemas.microsoft.com/office/drawing/2014/main" val="916278327"/>
                    </a:ext>
                  </a:extLst>
                </a:gridCol>
                <a:gridCol w="1489348">
                  <a:extLst>
                    <a:ext uri="{9D8B030D-6E8A-4147-A177-3AD203B41FA5}">
                      <a16:colId xmlns:a16="http://schemas.microsoft.com/office/drawing/2014/main" val="2546184780"/>
                    </a:ext>
                  </a:extLst>
                </a:gridCol>
                <a:gridCol w="2625452">
                  <a:extLst>
                    <a:ext uri="{9D8B030D-6E8A-4147-A177-3AD203B41FA5}">
                      <a16:colId xmlns:a16="http://schemas.microsoft.com/office/drawing/2014/main" val="1463419739"/>
                    </a:ext>
                  </a:extLst>
                </a:gridCol>
              </a:tblGrid>
              <a:tr h="421760">
                <a:tc>
                  <a:txBody>
                    <a:bodyPr/>
                    <a:lstStyle/>
                    <a:p>
                      <a:pPr algn="ctr"/>
                      <a:r>
                        <a:rPr lang="nl-BE" dirty="0"/>
                        <a:t>Document</a:t>
                      </a:r>
                      <a:endParaRPr lang="fr-BE" dirty="0"/>
                    </a:p>
                  </a:txBody>
                  <a:tcPr/>
                </a:tc>
                <a:tc>
                  <a:txBody>
                    <a:bodyPr/>
                    <a:lstStyle/>
                    <a:p>
                      <a:pPr algn="ctr"/>
                      <a:r>
                        <a:rPr lang="fr-BE" dirty="0"/>
                        <a:t>Mention</a:t>
                      </a:r>
                    </a:p>
                  </a:txBody>
                  <a:tcPr/>
                </a:tc>
                <a:tc>
                  <a:txBody>
                    <a:bodyPr/>
                    <a:lstStyle/>
                    <a:p>
                      <a:pPr algn="ctr"/>
                      <a:r>
                        <a:rPr lang="fr-BE" dirty="0"/>
                        <a:t>S16 </a:t>
                      </a:r>
                      <a:r>
                        <a:rPr lang="fr-BE" sz="1400" baseline="46000" dirty="0"/>
                        <a:t>(*)</a:t>
                      </a:r>
                      <a:endParaRPr lang="fr-BE" baseline="46000" dirty="0"/>
                    </a:p>
                  </a:txBody>
                  <a:tcPr/>
                </a:tc>
                <a:tc>
                  <a:txBody>
                    <a:bodyPr/>
                    <a:lstStyle/>
                    <a:p>
                      <a:pPr algn="ctr"/>
                      <a:r>
                        <a:rPr lang="fr-BE" dirty="0"/>
                        <a:t>Incidence</a:t>
                      </a:r>
                    </a:p>
                  </a:txBody>
                  <a:tcPr/>
                </a:tc>
                <a:extLst>
                  <a:ext uri="{0D108BD9-81ED-4DB2-BD59-A6C34878D82A}">
                    <a16:rowId xmlns:a16="http://schemas.microsoft.com/office/drawing/2014/main" val="792109032"/>
                  </a:ext>
                </a:extLst>
              </a:tr>
              <a:tr h="421760">
                <a:tc rowSpan="3">
                  <a:txBody>
                    <a:bodyPr/>
                    <a:lstStyle/>
                    <a:p>
                      <a:r>
                        <a:rPr lang="fr-BE" b="1" dirty="0">
                          <a:solidFill>
                            <a:schemeClr val="tx1"/>
                          </a:solidFill>
                        </a:rPr>
                        <a:t>Permis unique</a:t>
                      </a:r>
                    </a:p>
                  </a:txBody>
                  <a:tcPr anchor="ctr"/>
                </a:tc>
                <a:tc>
                  <a:txBody>
                    <a:bodyPr/>
                    <a:lstStyle/>
                    <a:p>
                      <a:r>
                        <a:rPr lang="fr-BE" dirty="0"/>
                        <a:t>Accès </a:t>
                      </a:r>
                      <a:r>
                        <a:rPr lang="fr-BE" b="1" dirty="0">
                          <a:solidFill>
                            <a:srgbClr val="C00000"/>
                          </a:solidFill>
                        </a:rPr>
                        <a:t>« illimité »</a:t>
                      </a:r>
                      <a:endParaRPr lang="fr-BE" dirty="0">
                        <a:solidFill>
                          <a:srgbClr val="C00000"/>
                        </a:solidFill>
                      </a:endParaRPr>
                    </a:p>
                  </a:txBody>
                  <a:tcPr/>
                </a:tc>
                <a:tc>
                  <a:txBody>
                    <a:bodyPr/>
                    <a:lstStyle/>
                    <a:p>
                      <a:pPr algn="ctr"/>
                      <a:r>
                        <a:rPr lang="fr-BE" b="1" dirty="0"/>
                        <a:t>MARAL</a:t>
                      </a:r>
                    </a:p>
                  </a:txBody>
                  <a:tcPr/>
                </a:tc>
                <a:tc>
                  <a:txBody>
                    <a:bodyPr/>
                    <a:lstStyle/>
                    <a:p>
                      <a:r>
                        <a:rPr lang="nl-BE" dirty="0"/>
                        <a:t>CC+AGR+CT</a:t>
                      </a:r>
                      <a:endParaRPr lang="fr-BE" dirty="0"/>
                    </a:p>
                  </a:txBody>
                  <a:tcPr/>
                </a:tc>
                <a:extLst>
                  <a:ext uri="{0D108BD9-81ED-4DB2-BD59-A6C34878D82A}">
                    <a16:rowId xmlns:a16="http://schemas.microsoft.com/office/drawing/2014/main" val="249040586"/>
                  </a:ext>
                </a:extLst>
              </a:tr>
              <a:tr h="421760">
                <a:tc vMerge="1">
                  <a:txBody>
                    <a:bodyPr/>
                    <a:lstStyle/>
                    <a:p>
                      <a:endParaRPr lang="fr-BE" b="1" dirty="0">
                        <a:solidFill>
                          <a:srgbClr val="C00000"/>
                        </a:solidFill>
                      </a:endParaRPr>
                    </a:p>
                  </a:txBody>
                  <a:tcPr/>
                </a:tc>
                <a:tc>
                  <a:txBody>
                    <a:bodyPr/>
                    <a:lstStyle/>
                    <a:p>
                      <a:r>
                        <a:rPr lang="fr-BE" dirty="0"/>
                        <a:t>Accès </a:t>
                      </a:r>
                      <a:r>
                        <a:rPr lang="fr-BE" b="1" dirty="0">
                          <a:solidFill>
                            <a:srgbClr val="C00000"/>
                          </a:solidFill>
                        </a:rPr>
                        <a:t>« limité »</a:t>
                      </a:r>
                    </a:p>
                  </a:txBody>
                  <a:tcPr/>
                </a:tc>
                <a:tc>
                  <a:txBody>
                    <a:bodyPr/>
                    <a:lstStyle/>
                    <a:p>
                      <a:pPr algn="ctr"/>
                      <a:r>
                        <a:rPr lang="fr-BE" b="1" dirty="0"/>
                        <a:t>MARLI</a:t>
                      </a:r>
                    </a:p>
                  </a:txBody>
                  <a:tcPr/>
                </a:tc>
                <a:tc>
                  <a:txBody>
                    <a:bodyPr/>
                    <a:lstStyle/>
                    <a:p>
                      <a:r>
                        <a:rPr lang="nl-BE" dirty="0"/>
                        <a:t>CT+AGR si </a:t>
                      </a:r>
                      <a:r>
                        <a:rPr lang="nl-BE" dirty="0" err="1"/>
                        <a:t>occupation</a:t>
                      </a:r>
                      <a:r>
                        <a:rPr lang="nl-BE" dirty="0"/>
                        <a:t> correspondent à la </a:t>
                      </a:r>
                      <a:r>
                        <a:rPr lang="nl-BE" dirty="0" err="1"/>
                        <a:t>limitation</a:t>
                      </a:r>
                      <a:endParaRPr lang="fr-BE" dirty="0"/>
                    </a:p>
                  </a:txBody>
                  <a:tcPr/>
                </a:tc>
                <a:extLst>
                  <a:ext uri="{0D108BD9-81ED-4DB2-BD59-A6C34878D82A}">
                    <a16:rowId xmlns:a16="http://schemas.microsoft.com/office/drawing/2014/main" val="3300107965"/>
                  </a:ext>
                </a:extLst>
              </a:tr>
              <a:tr h="421760">
                <a:tc vMerge="1">
                  <a:txBody>
                    <a:bodyPr/>
                    <a:lstStyle/>
                    <a:p>
                      <a:endParaRPr lang="fr-BE" dirty="0">
                        <a:solidFill>
                          <a:srgbClr val="C00000"/>
                        </a:solidFill>
                      </a:endParaRPr>
                    </a:p>
                  </a:txBody>
                  <a:tcPr/>
                </a:tc>
                <a:tc>
                  <a:txBody>
                    <a:bodyPr/>
                    <a:lstStyle/>
                    <a:p>
                      <a:r>
                        <a:rPr lang="fr-BE" dirty="0"/>
                        <a:t>Accès </a:t>
                      </a:r>
                      <a:r>
                        <a:rPr lang="fr-BE" b="1" dirty="0">
                          <a:solidFill>
                            <a:srgbClr val="C00000"/>
                          </a:solidFill>
                        </a:rPr>
                        <a:t>« Non »</a:t>
                      </a:r>
                      <a:endParaRPr lang="fr-BE" dirty="0">
                        <a:solidFill>
                          <a:srgbClr val="C00000"/>
                        </a:solidFill>
                      </a:endParaRPr>
                    </a:p>
                  </a:txBody>
                  <a:tcPr/>
                </a:tc>
                <a:tc>
                  <a:txBody>
                    <a:bodyPr/>
                    <a:lstStyle/>
                    <a:p>
                      <a:pPr algn="ctr"/>
                      <a:r>
                        <a:rPr lang="fr-BE" b="1" dirty="0"/>
                        <a:t>MARNO</a:t>
                      </a:r>
                    </a:p>
                  </a:txBody>
                  <a:tcPr/>
                </a:tc>
                <a:tc>
                  <a:txBody>
                    <a:bodyPr/>
                    <a:lstStyle/>
                    <a:p>
                      <a:r>
                        <a:rPr lang="nl-BE" dirty="0"/>
                        <a:t>Pas </a:t>
                      </a:r>
                      <a:r>
                        <a:rPr lang="nl-BE" dirty="0" err="1"/>
                        <a:t>d’allocation</a:t>
                      </a:r>
                      <a:endParaRPr lang="fr-BE" dirty="0"/>
                    </a:p>
                  </a:txBody>
                  <a:tcPr/>
                </a:tc>
                <a:extLst>
                  <a:ext uri="{0D108BD9-81ED-4DB2-BD59-A6C34878D82A}">
                    <a16:rowId xmlns:a16="http://schemas.microsoft.com/office/drawing/2014/main" val="1301462297"/>
                  </a:ext>
                </a:extLst>
              </a:tr>
              <a:tr h="727970">
                <a:tc>
                  <a:txBody>
                    <a:bodyPr/>
                    <a:lstStyle/>
                    <a:p>
                      <a:r>
                        <a:rPr lang="fr-BE" b="1" dirty="0"/>
                        <a:t>Titre Unique/Carte M</a:t>
                      </a:r>
                    </a:p>
                  </a:txBody>
                  <a:tcPr anchor="ctr"/>
                </a:tc>
                <a:tc>
                  <a:txBody>
                    <a:bodyPr/>
                    <a:lstStyle/>
                    <a:p>
                      <a:r>
                        <a:rPr lang="fr-BE" dirty="0"/>
                        <a:t>aucune</a:t>
                      </a:r>
                    </a:p>
                  </a:txBody>
                  <a:tcPr/>
                </a:tc>
                <a:tc>
                  <a:txBody>
                    <a:bodyPr/>
                    <a:lstStyle/>
                    <a:p>
                      <a:pPr algn="ctr"/>
                      <a:r>
                        <a:rPr lang="nl-BE" b="1" dirty="0"/>
                        <a:t>MARAL</a:t>
                      </a:r>
                      <a:endParaRPr lang="fr-BE"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CC+AGR+CT</a:t>
                      </a:r>
                      <a:endParaRPr lang="fr-BE" dirty="0"/>
                    </a:p>
                  </a:txBody>
                  <a:tcPr/>
                </a:tc>
                <a:extLst>
                  <a:ext uri="{0D108BD9-81ED-4DB2-BD59-A6C34878D82A}">
                    <a16:rowId xmlns:a16="http://schemas.microsoft.com/office/drawing/2014/main" val="1767409646"/>
                  </a:ext>
                </a:extLst>
              </a:tr>
              <a:tr h="421760">
                <a:tc>
                  <a:txBody>
                    <a:bodyPr/>
                    <a:lstStyle/>
                    <a:p>
                      <a:r>
                        <a:rPr lang="fr-BE" b="1" dirty="0"/>
                        <a:t>Annexe 51</a:t>
                      </a:r>
                    </a:p>
                  </a:txBody>
                  <a:tcPr anchor="ctr"/>
                </a:tc>
                <a:tc>
                  <a:txBody>
                    <a:bodyPr/>
                    <a:lstStyle/>
                    <a:p>
                      <a:r>
                        <a:rPr lang="nl-BE" dirty="0" err="1"/>
                        <a:t>Aucune</a:t>
                      </a:r>
                      <a:endParaRPr lang="fr-BE" dirty="0"/>
                    </a:p>
                  </a:txBody>
                  <a:tcPr/>
                </a:tc>
                <a:tc>
                  <a:txBody>
                    <a:bodyPr/>
                    <a:lstStyle/>
                    <a:p>
                      <a:pPr algn="ctr"/>
                      <a:r>
                        <a:rPr lang="nl-BE" b="1" dirty="0"/>
                        <a:t>MAR51</a:t>
                      </a:r>
                      <a:endParaRPr lang="fr-BE" b="1" dirty="0"/>
                    </a:p>
                  </a:txBody>
                  <a:tcPr/>
                </a:tc>
                <a:tc>
                  <a:txBody>
                    <a:bodyPr/>
                    <a:lstStyle/>
                    <a:p>
                      <a:r>
                        <a:rPr lang="nl-BE" dirty="0"/>
                        <a:t>CC max. 60 jours</a:t>
                      </a:r>
                      <a:endParaRPr lang="fr-BE" dirty="0"/>
                    </a:p>
                  </a:txBody>
                  <a:tcPr/>
                </a:tc>
                <a:extLst>
                  <a:ext uri="{0D108BD9-81ED-4DB2-BD59-A6C34878D82A}">
                    <a16:rowId xmlns:a16="http://schemas.microsoft.com/office/drawing/2014/main" val="1361724692"/>
                  </a:ext>
                </a:extLst>
              </a:tr>
              <a:tr h="727970">
                <a:tc>
                  <a:txBody>
                    <a:bodyPr/>
                    <a:lstStyle/>
                    <a:p>
                      <a:r>
                        <a:rPr lang="nl-BE" b="1" dirty="0"/>
                        <a:t>Permis </a:t>
                      </a:r>
                      <a:r>
                        <a:rPr lang="nl-BE" b="1" dirty="0" err="1"/>
                        <a:t>séparés</a:t>
                      </a:r>
                      <a:endParaRPr lang="fr-BE" b="1" dirty="0"/>
                    </a:p>
                  </a:txBody>
                  <a:tcPr anchor="ctr"/>
                </a:tc>
                <a:tc>
                  <a:txBody>
                    <a:bodyPr/>
                    <a:lstStyle/>
                    <a:p>
                      <a:r>
                        <a:rPr lang="nl-BE" dirty="0" err="1"/>
                        <a:t>Aucune</a:t>
                      </a:r>
                      <a:r>
                        <a:rPr lang="nl-BE" dirty="0"/>
                        <a:t> </a:t>
                      </a:r>
                      <a:endParaRPr lang="fr-BE" dirty="0"/>
                    </a:p>
                  </a:txBody>
                  <a:tcPr/>
                </a:tc>
                <a:tc>
                  <a:txBody>
                    <a:bodyPr/>
                    <a:lstStyle/>
                    <a:p>
                      <a:pPr algn="ctr"/>
                      <a:r>
                        <a:rPr lang="nl-BE" b="1" dirty="0" err="1"/>
                        <a:t>Aucun</a:t>
                      </a:r>
                      <a:r>
                        <a:rPr lang="nl-BE" b="1" dirty="0"/>
                        <a:t> </a:t>
                      </a:r>
                      <a:endParaRPr lang="fr-BE" b="1" dirty="0"/>
                    </a:p>
                  </a:txBody>
                  <a:tcPr/>
                </a:tc>
                <a:tc>
                  <a:txBody>
                    <a:bodyPr/>
                    <a:lstStyle/>
                    <a:p>
                      <a:r>
                        <a:rPr lang="nl-BE" dirty="0"/>
                        <a:t>CC+AGR+CT si permis en </a:t>
                      </a:r>
                      <a:r>
                        <a:rPr lang="nl-BE" dirty="0" err="1"/>
                        <a:t>ordre</a:t>
                      </a:r>
                      <a:endParaRPr lang="fr-BE" dirty="0"/>
                    </a:p>
                  </a:txBody>
                  <a:tcPr/>
                </a:tc>
                <a:extLst>
                  <a:ext uri="{0D108BD9-81ED-4DB2-BD59-A6C34878D82A}">
                    <a16:rowId xmlns:a16="http://schemas.microsoft.com/office/drawing/2014/main" val="4250985692"/>
                  </a:ext>
                </a:extLst>
              </a:tr>
            </a:tbl>
          </a:graphicData>
        </a:graphic>
      </p:graphicFrame>
      <p:sp>
        <p:nvSpPr>
          <p:cNvPr id="7" name="ZoneTexte 6">
            <a:extLst>
              <a:ext uri="{FF2B5EF4-FFF2-40B4-BE49-F238E27FC236}">
                <a16:creationId xmlns:a16="http://schemas.microsoft.com/office/drawing/2014/main" id="{9A9094E2-B9FB-465F-855E-96DE9F57BE38}"/>
              </a:ext>
            </a:extLst>
          </p:cNvPr>
          <p:cNvSpPr txBox="1"/>
          <p:nvPr/>
        </p:nvSpPr>
        <p:spPr>
          <a:xfrm>
            <a:off x="457200" y="6137214"/>
            <a:ext cx="5904656" cy="400110"/>
          </a:xfrm>
          <a:prstGeom prst="rect">
            <a:avLst/>
          </a:prstGeom>
          <a:noFill/>
        </p:spPr>
        <p:txBody>
          <a:bodyPr wrap="square" rtlCol="0">
            <a:spAutoFit/>
          </a:bodyPr>
          <a:lstStyle/>
          <a:p>
            <a:r>
              <a:rPr lang="fr-BE" sz="2000" dirty="0"/>
              <a:t>* Eventuellement art. B34,1 ou B34,2 </a:t>
            </a:r>
            <a:endParaRPr lang="en-US" sz="2000" dirty="0"/>
          </a:p>
        </p:txBody>
      </p:sp>
    </p:spTree>
    <p:extLst>
      <p:ext uri="{BB962C8B-B14F-4D97-AF65-F5344CB8AC3E}">
        <p14:creationId xmlns:p14="http://schemas.microsoft.com/office/powerpoint/2010/main" val="191306751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a:bodyPr>
          <a:lstStyle/>
          <a:p>
            <a:pPr algn="r"/>
            <a:r>
              <a:rPr lang="fr-BE" b="1" i="1" dirty="0"/>
              <a:t>2.4 Procédure pratique et suivi</a:t>
            </a:r>
            <a:endParaRPr lang="fr-FR" b="1" i="1" dirty="0"/>
          </a:p>
        </p:txBody>
      </p:sp>
      <p:sp>
        <p:nvSpPr>
          <p:cNvPr id="5" name="ZoneTexte 4"/>
          <p:cNvSpPr txBox="1"/>
          <p:nvPr/>
        </p:nvSpPr>
        <p:spPr>
          <a:xfrm>
            <a:off x="648544" y="6104805"/>
            <a:ext cx="5904656" cy="400110"/>
          </a:xfrm>
          <a:prstGeom prst="rect">
            <a:avLst/>
          </a:prstGeom>
          <a:noFill/>
        </p:spPr>
        <p:txBody>
          <a:bodyPr wrap="square" rtlCol="0">
            <a:spAutoFit/>
          </a:bodyPr>
          <a:lstStyle/>
          <a:p>
            <a:r>
              <a:rPr lang="fr-BE" sz="2000" dirty="0"/>
              <a:t>* Dispense d’introduction possible</a:t>
            </a:r>
            <a:endParaRPr lang="en-US" sz="2000"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34</a:t>
            </a:fld>
            <a:endParaRPr lang="fr-FR"/>
          </a:p>
        </p:txBody>
      </p:sp>
      <p:sp>
        <p:nvSpPr>
          <p:cNvPr id="2" name="Espace réservé du contenu 1"/>
          <p:cNvSpPr>
            <a:spLocks noGrp="1"/>
          </p:cNvSpPr>
          <p:nvPr>
            <p:ph idx="1"/>
          </p:nvPr>
        </p:nvSpPr>
        <p:spPr/>
        <p:txBody>
          <a:bodyPr/>
          <a:lstStyle/>
          <a:p>
            <a:r>
              <a:rPr lang="fr-BE" b="1" u="sng" dirty="0"/>
              <a:t>Permis/titre unique: Introduction</a:t>
            </a:r>
          </a:p>
        </p:txBody>
      </p:sp>
      <p:graphicFrame>
        <p:nvGraphicFramePr>
          <p:cNvPr id="4" name="Tableau 3"/>
          <p:cNvGraphicFramePr>
            <a:graphicFrameLocks noGrp="1"/>
          </p:cNvGraphicFramePr>
          <p:nvPr/>
        </p:nvGraphicFramePr>
        <p:xfrm>
          <a:off x="1681434" y="2192630"/>
          <a:ext cx="5914844" cy="3719855"/>
        </p:xfrm>
        <a:graphic>
          <a:graphicData uri="http://schemas.openxmlformats.org/drawingml/2006/table">
            <a:tbl>
              <a:tblPr firstRow="1" bandRow="1">
                <a:tableStyleId>{F5AB1C69-6EDB-4FF4-983F-18BD219EF322}</a:tableStyleId>
              </a:tblPr>
              <a:tblGrid>
                <a:gridCol w="2026412">
                  <a:extLst>
                    <a:ext uri="{9D8B030D-6E8A-4147-A177-3AD203B41FA5}">
                      <a16:colId xmlns:a16="http://schemas.microsoft.com/office/drawing/2014/main" val="20000"/>
                    </a:ext>
                  </a:extLst>
                </a:gridCol>
                <a:gridCol w="3888432">
                  <a:extLst>
                    <a:ext uri="{9D8B030D-6E8A-4147-A177-3AD203B41FA5}">
                      <a16:colId xmlns:a16="http://schemas.microsoft.com/office/drawing/2014/main" val="20001"/>
                    </a:ext>
                  </a:extLst>
                </a:gridCol>
              </a:tblGrid>
              <a:tr h="514519">
                <a:tc>
                  <a:txBody>
                    <a:bodyPr/>
                    <a:lstStyle/>
                    <a:p>
                      <a:pPr algn="ctr"/>
                      <a:r>
                        <a:rPr lang="fr-BE" sz="2200" dirty="0"/>
                        <a:t>Types de cartes</a:t>
                      </a:r>
                    </a:p>
                  </a:txBody>
                  <a:tcPr/>
                </a:tc>
                <a:tc>
                  <a:txBody>
                    <a:bodyPr/>
                    <a:lstStyle/>
                    <a:p>
                      <a:pPr algn="ctr"/>
                      <a:r>
                        <a:rPr lang="fr-BE" sz="2200" dirty="0"/>
                        <a:t>Introduction</a:t>
                      </a:r>
                      <a:r>
                        <a:rPr lang="fr-BE" sz="2200" baseline="0" dirty="0"/>
                        <a:t> Permis/titre</a:t>
                      </a:r>
                      <a:endParaRPr lang="fr-BE" sz="2200" dirty="0"/>
                    </a:p>
                  </a:txBody>
                  <a:tcPr/>
                </a:tc>
                <a:extLst>
                  <a:ext uri="{0D108BD9-81ED-4DB2-BD59-A6C34878D82A}">
                    <a16:rowId xmlns:a16="http://schemas.microsoft.com/office/drawing/2014/main" val="10000"/>
                  </a:ext>
                </a:extLst>
              </a:tr>
              <a:tr h="370840">
                <a:tc>
                  <a:txBody>
                    <a:bodyPr/>
                    <a:lstStyle/>
                    <a:p>
                      <a:pPr algn="ctr"/>
                      <a:r>
                        <a:rPr lang="fr-BE" sz="2000" b="1" dirty="0"/>
                        <a:t>A</a:t>
                      </a:r>
                    </a:p>
                  </a:txBody>
                  <a:tcPr/>
                </a:tc>
                <a:tc>
                  <a:txBody>
                    <a:bodyPr/>
                    <a:lstStyle/>
                    <a:p>
                      <a:pPr algn="ctr"/>
                      <a:r>
                        <a:rPr lang="fr-BE" sz="2000" dirty="0"/>
                        <a:t>OUI</a:t>
                      </a:r>
                    </a:p>
                  </a:txBody>
                  <a:tcPr/>
                </a:tc>
                <a:extLst>
                  <a:ext uri="{0D108BD9-81ED-4DB2-BD59-A6C34878D82A}">
                    <a16:rowId xmlns:a16="http://schemas.microsoft.com/office/drawing/2014/main" val="10001"/>
                  </a:ext>
                </a:extLst>
              </a:tr>
              <a:tr h="276895">
                <a:tc>
                  <a:txBody>
                    <a:bodyPr/>
                    <a:lstStyle/>
                    <a:p>
                      <a:pPr algn="ctr"/>
                      <a:r>
                        <a:rPr lang="fr-BE" sz="2000" b="1" dirty="0"/>
                        <a:t>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OUI</a:t>
                      </a:r>
                    </a:p>
                  </a:txBody>
                  <a:tcPr/>
                </a:tc>
                <a:extLst>
                  <a:ext uri="{0D108BD9-81ED-4DB2-BD59-A6C34878D82A}">
                    <a16:rowId xmlns:a16="http://schemas.microsoft.com/office/drawing/2014/main" val="10002"/>
                  </a:ext>
                </a:extLst>
              </a:tr>
              <a:tr h="431656">
                <a:tc>
                  <a:txBody>
                    <a:bodyPr/>
                    <a:lstStyle/>
                    <a:p>
                      <a:pPr algn="ctr"/>
                      <a:r>
                        <a:rPr lang="fr-BE" sz="2000" b="1" dirty="0"/>
                        <a:t>C</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OUI</a:t>
                      </a:r>
                    </a:p>
                  </a:txBody>
                  <a:tcPr/>
                </a:tc>
                <a:extLst>
                  <a:ext uri="{0D108BD9-81ED-4DB2-BD59-A6C34878D82A}">
                    <a16:rowId xmlns:a16="http://schemas.microsoft.com/office/drawing/2014/main" val="10003"/>
                  </a:ext>
                </a:extLst>
              </a:tr>
              <a:tr h="370840">
                <a:tc>
                  <a:txBody>
                    <a:bodyPr/>
                    <a:lstStyle/>
                    <a:p>
                      <a:pPr algn="ctr"/>
                      <a:r>
                        <a:rPr lang="fr-BE" sz="2000" b="1" dirty="0"/>
                        <a:t>D</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OUI</a:t>
                      </a:r>
                    </a:p>
                  </a:txBody>
                  <a:tcPr/>
                </a:tc>
                <a:extLst>
                  <a:ext uri="{0D108BD9-81ED-4DB2-BD59-A6C34878D82A}">
                    <a16:rowId xmlns:a16="http://schemas.microsoft.com/office/drawing/2014/main" val="10004"/>
                  </a:ext>
                </a:extLst>
              </a:tr>
              <a:tr h="370840">
                <a:tc>
                  <a:txBody>
                    <a:bodyPr/>
                    <a:lstStyle/>
                    <a:p>
                      <a:pPr algn="ctr"/>
                      <a:r>
                        <a:rPr lang="fr-BE" sz="2000" b="1" dirty="0"/>
                        <a:t>E/E+</a:t>
                      </a:r>
                    </a:p>
                  </a:txBody>
                  <a:tcPr/>
                </a:tc>
                <a:tc>
                  <a:txBody>
                    <a:bodyPr/>
                    <a:lstStyle/>
                    <a:p>
                      <a:pPr algn="ctr"/>
                      <a:r>
                        <a:rPr lang="fr-BE" sz="2000" dirty="0"/>
                        <a:t>NON</a:t>
                      </a:r>
                    </a:p>
                  </a:txBody>
                  <a:tcPr/>
                </a:tc>
                <a:extLst>
                  <a:ext uri="{0D108BD9-81ED-4DB2-BD59-A6C34878D82A}">
                    <a16:rowId xmlns:a16="http://schemas.microsoft.com/office/drawing/2014/main" val="10005"/>
                  </a:ext>
                </a:extLst>
              </a:tr>
              <a:tr h="370840">
                <a:tc>
                  <a:txBody>
                    <a:bodyPr/>
                    <a:lstStyle/>
                    <a:p>
                      <a:pPr algn="ctr"/>
                      <a:r>
                        <a:rPr lang="fr-BE" sz="2000" b="1" dirty="0"/>
                        <a:t>F/F+</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OUI</a:t>
                      </a:r>
                      <a:r>
                        <a:rPr lang="fr-BE" sz="2000" baseline="30000" dirty="0"/>
                        <a:t>*</a:t>
                      </a:r>
                    </a:p>
                  </a:txBody>
                  <a:tcPr/>
                </a:tc>
                <a:extLst>
                  <a:ext uri="{0D108BD9-81ED-4DB2-BD59-A6C34878D82A}">
                    <a16:rowId xmlns:a16="http://schemas.microsoft.com/office/drawing/2014/main" val="10007"/>
                  </a:ext>
                </a:extLst>
              </a:tr>
              <a:tr h="370840">
                <a:tc>
                  <a:txBody>
                    <a:bodyPr/>
                    <a:lstStyle/>
                    <a:p>
                      <a:pPr algn="ctr"/>
                      <a:r>
                        <a:rPr lang="nl-BE" sz="2000" b="1" dirty="0"/>
                        <a:t>Réfugié/apatride</a:t>
                      </a:r>
                      <a:endParaRPr lang="fr-BE" sz="2000"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OUI (1</a:t>
                      </a:r>
                      <a:r>
                        <a:rPr lang="fr-BE" sz="2000" baseline="30000" dirty="0"/>
                        <a:t>er</a:t>
                      </a:r>
                      <a:r>
                        <a:rPr lang="fr-BE" sz="2000" dirty="0"/>
                        <a:t> dossier)</a:t>
                      </a:r>
                      <a:endParaRPr lang="fr-BE" sz="2000" baseline="30000" dirty="0"/>
                    </a:p>
                  </a:txBody>
                  <a:tcPr/>
                </a:tc>
                <a:extLst>
                  <a:ext uri="{0D108BD9-81ED-4DB2-BD59-A6C34878D82A}">
                    <a16:rowId xmlns:a16="http://schemas.microsoft.com/office/drawing/2014/main" val="10008"/>
                  </a:ext>
                </a:extLst>
              </a:tr>
              <a:tr h="370840">
                <a:tc>
                  <a:txBody>
                    <a:bodyPr/>
                    <a:lstStyle/>
                    <a:p>
                      <a:pPr algn="ctr"/>
                      <a:r>
                        <a:rPr lang="fr-BE" sz="2000" b="1" dirty="0"/>
                        <a:t>M</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BE" sz="2000" dirty="0"/>
                        <a:t>OUI</a:t>
                      </a:r>
                    </a:p>
                  </a:txBody>
                  <a:tcPr/>
                </a:tc>
                <a:extLst>
                  <a:ext uri="{0D108BD9-81ED-4DB2-BD59-A6C34878D82A}">
                    <a16:rowId xmlns:a16="http://schemas.microsoft.com/office/drawing/2014/main" val="173056225"/>
                  </a:ext>
                </a:extLst>
              </a:tr>
            </a:tbl>
          </a:graphicData>
        </a:graphic>
      </p:graphicFrame>
    </p:spTree>
    <p:extLst>
      <p:ext uri="{BB962C8B-B14F-4D97-AF65-F5344CB8AC3E}">
        <p14:creationId xmlns:p14="http://schemas.microsoft.com/office/powerpoint/2010/main" val="91627901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a:bodyPr>
          <a:lstStyle/>
          <a:p>
            <a:pPr algn="r"/>
            <a:r>
              <a:rPr lang="fr-BE" b="1" i="1" dirty="0"/>
              <a:t>2.4 Procédure pratique et suivi</a:t>
            </a:r>
            <a:endParaRPr lang="fr-FR" b="1" i="1" dirty="0"/>
          </a:p>
        </p:txBody>
      </p:sp>
      <p:sp>
        <p:nvSpPr>
          <p:cNvPr id="7" name="Espace réservé du numéro de diapositive 6"/>
          <p:cNvSpPr>
            <a:spLocks noGrp="1"/>
          </p:cNvSpPr>
          <p:nvPr>
            <p:ph type="sldNum" sz="quarter" idx="12"/>
          </p:nvPr>
        </p:nvSpPr>
        <p:spPr/>
        <p:txBody>
          <a:bodyPr/>
          <a:lstStyle/>
          <a:p>
            <a:fld id="{55E9056B-6A30-4F99-BDE9-C450E66AE125}" type="slidenum">
              <a:rPr lang="fr-FR" smtClean="0"/>
              <a:pPr/>
              <a:t>35</a:t>
            </a:fld>
            <a:endParaRPr lang="fr-FR"/>
          </a:p>
        </p:txBody>
      </p:sp>
      <p:sp>
        <p:nvSpPr>
          <p:cNvPr id="2" name="Espace réservé du contenu 1"/>
          <p:cNvSpPr>
            <a:spLocks noGrp="1"/>
          </p:cNvSpPr>
          <p:nvPr>
            <p:ph idx="1"/>
          </p:nvPr>
        </p:nvSpPr>
        <p:spPr/>
        <p:txBody>
          <a:bodyPr/>
          <a:lstStyle/>
          <a:p>
            <a:r>
              <a:rPr lang="fr-BE" b="1" dirty="0"/>
              <a:t>Module S08 et S16:</a:t>
            </a:r>
          </a:p>
          <a:p>
            <a:pPr marL="0" indent="0">
              <a:buNone/>
            </a:pPr>
            <a:endParaRPr lang="fr-BE" b="1" dirty="0"/>
          </a:p>
        </p:txBody>
      </p:sp>
      <p:graphicFrame>
        <p:nvGraphicFramePr>
          <p:cNvPr id="3" name="Tableau 2"/>
          <p:cNvGraphicFramePr>
            <a:graphicFrameLocks noGrp="1"/>
          </p:cNvGraphicFramePr>
          <p:nvPr/>
        </p:nvGraphicFramePr>
        <p:xfrm>
          <a:off x="570384" y="2205990"/>
          <a:ext cx="8003232" cy="3862485"/>
        </p:xfrm>
        <a:graphic>
          <a:graphicData uri="http://schemas.openxmlformats.org/drawingml/2006/table">
            <a:tbl>
              <a:tblPr firstRow="1" bandRow="1">
                <a:tableStyleId>{F5AB1C69-6EDB-4FF4-983F-18BD219EF322}</a:tableStyleId>
              </a:tblPr>
              <a:tblGrid>
                <a:gridCol w="2448272">
                  <a:extLst>
                    <a:ext uri="{9D8B030D-6E8A-4147-A177-3AD203B41FA5}">
                      <a16:colId xmlns:a16="http://schemas.microsoft.com/office/drawing/2014/main" val="20000"/>
                    </a:ext>
                  </a:extLst>
                </a:gridCol>
                <a:gridCol w="2880320">
                  <a:extLst>
                    <a:ext uri="{9D8B030D-6E8A-4147-A177-3AD203B41FA5}">
                      <a16:colId xmlns:a16="http://schemas.microsoft.com/office/drawing/2014/main" val="20001"/>
                    </a:ext>
                  </a:extLst>
                </a:gridCol>
                <a:gridCol w="2674640">
                  <a:extLst>
                    <a:ext uri="{9D8B030D-6E8A-4147-A177-3AD203B41FA5}">
                      <a16:colId xmlns:a16="http://schemas.microsoft.com/office/drawing/2014/main" val="20002"/>
                    </a:ext>
                  </a:extLst>
                </a:gridCol>
              </a:tblGrid>
              <a:tr h="470213">
                <a:tc>
                  <a:txBody>
                    <a:bodyPr/>
                    <a:lstStyle/>
                    <a:p>
                      <a:r>
                        <a:rPr lang="fr-BE" sz="2000" dirty="0"/>
                        <a:t>Nationalité</a:t>
                      </a:r>
                    </a:p>
                  </a:txBody>
                  <a:tcPr/>
                </a:tc>
                <a:tc>
                  <a:txBody>
                    <a:bodyPr/>
                    <a:lstStyle/>
                    <a:p>
                      <a:pPr algn="ctr"/>
                      <a:r>
                        <a:rPr lang="fr-BE" sz="2000" dirty="0"/>
                        <a:t>S08</a:t>
                      </a:r>
                    </a:p>
                  </a:txBody>
                  <a:tcPr/>
                </a:tc>
                <a:tc>
                  <a:txBody>
                    <a:bodyPr/>
                    <a:lstStyle/>
                    <a:p>
                      <a:pPr algn="ctr"/>
                      <a:r>
                        <a:rPr lang="fr-BE" sz="2000" dirty="0"/>
                        <a:t>S16</a:t>
                      </a:r>
                    </a:p>
                  </a:txBody>
                  <a:tcPr/>
                </a:tc>
                <a:extLst>
                  <a:ext uri="{0D108BD9-81ED-4DB2-BD59-A6C34878D82A}">
                    <a16:rowId xmlns:a16="http://schemas.microsoft.com/office/drawing/2014/main" val="10000"/>
                  </a:ext>
                </a:extLst>
              </a:tr>
              <a:tr h="440072">
                <a:tc>
                  <a:txBody>
                    <a:bodyPr/>
                    <a:lstStyle/>
                    <a:p>
                      <a:pPr algn="l"/>
                      <a:r>
                        <a:rPr lang="fr-BE" b="1" dirty="0"/>
                        <a:t>EEE</a:t>
                      </a:r>
                    </a:p>
                  </a:txBody>
                  <a:tcPr anchor="ctr"/>
                </a:tc>
                <a:tc>
                  <a:txBody>
                    <a:bodyPr/>
                    <a:lstStyle/>
                    <a:p>
                      <a:pPr algn="ctr"/>
                      <a:r>
                        <a:rPr lang="fr-BE" b="1" dirty="0"/>
                        <a:t>NON</a:t>
                      </a:r>
                    </a:p>
                  </a:txBody>
                  <a:tcPr anchor="ctr" anchorCtr="1"/>
                </a:tc>
                <a:tc>
                  <a:txBody>
                    <a:bodyPr/>
                    <a:lstStyle/>
                    <a:p>
                      <a:pPr algn="ctr"/>
                      <a:r>
                        <a:rPr lang="fr-BE" b="1" dirty="0"/>
                        <a:t>NON</a:t>
                      </a:r>
                    </a:p>
                  </a:txBody>
                  <a:tcPr anchor="ctr" anchorCtr="1"/>
                </a:tc>
                <a:extLst>
                  <a:ext uri="{0D108BD9-81ED-4DB2-BD59-A6C34878D82A}">
                    <a16:rowId xmlns:a16="http://schemas.microsoft.com/office/drawing/2014/main" val="10001"/>
                  </a:ext>
                </a:extLst>
              </a:tr>
              <a:tr h="440072">
                <a:tc>
                  <a:txBody>
                    <a:bodyPr/>
                    <a:lstStyle/>
                    <a:p>
                      <a:pPr algn="l"/>
                      <a:r>
                        <a:rPr lang="fr-BE" b="1" dirty="0"/>
                        <a:t>Carte M</a:t>
                      </a:r>
                    </a:p>
                  </a:txBody>
                  <a:tcPr anchor="ctr"/>
                </a:tc>
                <a:tc>
                  <a:txBody>
                    <a:bodyPr/>
                    <a:lstStyle/>
                    <a:p>
                      <a:pPr algn="ctr"/>
                      <a:r>
                        <a:rPr lang="fr-BE" sz="1800" b="1" dirty="0"/>
                        <a:t>PS+PT</a:t>
                      </a:r>
                    </a:p>
                  </a:txBody>
                  <a:tcPr anchor="ctr" anchorCtr="1"/>
                </a:tc>
                <a:tc>
                  <a:txBody>
                    <a:bodyPr/>
                    <a:lstStyle/>
                    <a:p>
                      <a:pPr algn="ctr"/>
                      <a:r>
                        <a:rPr lang="fr-BE" b="1" dirty="0"/>
                        <a:t>Marché travail</a:t>
                      </a:r>
                    </a:p>
                  </a:txBody>
                  <a:tcPr anchor="ctr" anchorCtr="1"/>
                </a:tc>
                <a:extLst>
                  <a:ext uri="{0D108BD9-81ED-4DB2-BD59-A6C34878D82A}">
                    <a16:rowId xmlns:a16="http://schemas.microsoft.com/office/drawing/2014/main" val="3512062078"/>
                  </a:ext>
                </a:extLst>
              </a:tr>
              <a:tr h="440072">
                <a:tc>
                  <a:txBody>
                    <a:bodyPr/>
                    <a:lstStyle/>
                    <a:p>
                      <a:pPr algn="l"/>
                      <a:r>
                        <a:rPr lang="fr-BE" b="1" dirty="0"/>
                        <a:t>Suisse</a:t>
                      </a:r>
                    </a:p>
                  </a:txBody>
                  <a:tcPr anchor="ctr"/>
                </a:tc>
                <a:tc>
                  <a:txBody>
                    <a:bodyPr/>
                    <a:lstStyle/>
                    <a:p>
                      <a:pPr algn="ctr"/>
                      <a:r>
                        <a:rPr lang="fr-BE" b="1" dirty="0"/>
                        <a:t>PS</a:t>
                      </a:r>
                    </a:p>
                  </a:txBody>
                  <a:tcPr anchor="ctr" anchorCtr="1"/>
                </a:tc>
                <a:tc>
                  <a:txBody>
                    <a:bodyPr/>
                    <a:lstStyle/>
                    <a:p>
                      <a:pPr algn="ctr"/>
                      <a:r>
                        <a:rPr lang="fr-BE" b="1" dirty="0"/>
                        <a:t>NON</a:t>
                      </a:r>
                    </a:p>
                  </a:txBody>
                  <a:tcPr anchor="ctr" anchorCtr="1"/>
                </a:tc>
                <a:extLst>
                  <a:ext uri="{0D108BD9-81ED-4DB2-BD59-A6C34878D82A}">
                    <a16:rowId xmlns:a16="http://schemas.microsoft.com/office/drawing/2014/main" val="10002"/>
                  </a:ext>
                </a:extLst>
              </a:tr>
              <a:tr h="440072">
                <a:tc>
                  <a:txBody>
                    <a:bodyPr/>
                    <a:lstStyle/>
                    <a:p>
                      <a:pPr algn="l"/>
                      <a:r>
                        <a:rPr lang="nl-BE" b="1" dirty="0"/>
                        <a:t>Réfugié </a:t>
                      </a:r>
                      <a:r>
                        <a:rPr lang="nl-BE" b="1" dirty="0" err="1"/>
                        <a:t>ou</a:t>
                      </a:r>
                      <a:r>
                        <a:rPr lang="nl-BE" b="1" dirty="0"/>
                        <a:t> apatride</a:t>
                      </a:r>
                      <a:endParaRPr lang="fr-BE" b="1" dirty="0"/>
                    </a:p>
                  </a:txBody>
                  <a:tcPr anchor="ctr"/>
                </a:tc>
                <a:tc>
                  <a:txBody>
                    <a:bodyPr/>
                    <a:lstStyle/>
                    <a:p>
                      <a:pPr algn="ctr"/>
                      <a:r>
                        <a:rPr lang="nl-BE" b="1" dirty="0"/>
                        <a:t>PS</a:t>
                      </a:r>
                      <a:endParaRPr lang="fr-BE" b="1" dirty="0"/>
                    </a:p>
                  </a:txBody>
                  <a:tcPr anchor="ctr" anchorCtr="1"/>
                </a:tc>
                <a:tc>
                  <a:txBody>
                    <a:bodyPr/>
                    <a:lstStyle/>
                    <a:p>
                      <a:pPr algn="ctr"/>
                      <a:endParaRPr lang="fr-BE" b="1" dirty="0"/>
                    </a:p>
                  </a:txBody>
                  <a:tcPr anchor="ctr" anchorCtr="1"/>
                </a:tc>
                <a:extLst>
                  <a:ext uri="{0D108BD9-81ED-4DB2-BD59-A6C34878D82A}">
                    <a16:rowId xmlns:a16="http://schemas.microsoft.com/office/drawing/2014/main" val="1242249346"/>
                  </a:ext>
                </a:extLst>
              </a:tr>
              <a:tr h="944749">
                <a:tc>
                  <a:txBody>
                    <a:bodyPr/>
                    <a:lstStyle/>
                    <a:p>
                      <a:pPr algn="l"/>
                      <a:r>
                        <a:rPr lang="fr-BE" b="1" dirty="0"/>
                        <a:t>Pays Tiers</a:t>
                      </a:r>
                    </a:p>
                    <a:p>
                      <a:pPr marL="93663" indent="0" algn="l"/>
                      <a:r>
                        <a:rPr lang="fr-BE" sz="1400" dirty="0"/>
                        <a:t>-Conjoint, descendant ou ascendant= EEE</a:t>
                      </a:r>
                    </a:p>
                  </a:txBody>
                  <a:tcPr anchor="ctr"/>
                </a:tc>
                <a:tc>
                  <a:txBody>
                    <a:bodyPr/>
                    <a:lstStyle/>
                    <a:p>
                      <a:pPr algn="ctr"/>
                      <a:r>
                        <a:rPr lang="fr-BE" b="1" dirty="0"/>
                        <a:t>NON</a:t>
                      </a:r>
                    </a:p>
                  </a:txBody>
                  <a:tcPr anchor="ctr" anchorCtr="1"/>
                </a:tc>
                <a:tc>
                  <a:txBody>
                    <a:bodyPr/>
                    <a:lstStyle/>
                    <a:p>
                      <a:pPr algn="ctr"/>
                      <a:r>
                        <a:rPr lang="fr-BE" b="1" dirty="0"/>
                        <a:t>Marché travail+B34,2 </a:t>
                      </a:r>
                    </a:p>
                  </a:txBody>
                  <a:tcPr anchor="ctr" anchorCtr="1"/>
                </a:tc>
                <a:extLst>
                  <a:ext uri="{0D108BD9-81ED-4DB2-BD59-A6C34878D82A}">
                    <a16:rowId xmlns:a16="http://schemas.microsoft.com/office/drawing/2014/main" val="10003"/>
                  </a:ext>
                </a:extLst>
              </a:tr>
              <a:tr h="687235">
                <a:tc>
                  <a:txBody>
                    <a:bodyPr/>
                    <a:lstStyle/>
                    <a:p>
                      <a:pPr algn="l"/>
                      <a:r>
                        <a:rPr lang="fr-BE" b="1" dirty="0"/>
                        <a:t>Pays</a:t>
                      </a:r>
                      <a:r>
                        <a:rPr lang="fr-BE" b="1" baseline="0" dirty="0"/>
                        <a:t> </a:t>
                      </a:r>
                      <a:r>
                        <a:rPr lang="fr-BE" b="1" dirty="0"/>
                        <a:t>Tiers</a:t>
                      </a:r>
                    </a:p>
                    <a:p>
                      <a:pPr marL="93663" indent="0" algn="l"/>
                      <a:r>
                        <a:rPr lang="fr-BE" sz="1400" dirty="0"/>
                        <a:t>Autre</a:t>
                      </a:r>
                    </a:p>
                  </a:txBody>
                  <a:tcPr anchor="ctr"/>
                </a:tc>
                <a:tc>
                  <a:txBody>
                    <a:bodyPr/>
                    <a:lstStyle/>
                    <a:p>
                      <a:pPr algn="ctr"/>
                      <a:r>
                        <a:rPr lang="fr-BE" b="1" dirty="0"/>
                        <a:t>PS+PT</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BE" sz="1400" dirty="0"/>
                    </a:p>
                  </a:txBody>
                  <a:tcPr anchor="ctr" anchorCtr="1"/>
                </a:tc>
                <a:tc>
                  <a:txBody>
                    <a:bodyPr/>
                    <a:lstStyle/>
                    <a:p>
                      <a:pPr algn="ctr"/>
                      <a:r>
                        <a:rPr lang="fr-BE" b="1" baseline="0" dirty="0"/>
                        <a:t>Marché du travail (éventuellement B34,1)</a:t>
                      </a:r>
                    </a:p>
                  </a:txBody>
                  <a:tcPr anchor="ctr" anchorCtr="1"/>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413534629"/>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normAutofit/>
          </a:bodyPr>
          <a:lstStyle/>
          <a:p>
            <a:pPr algn="r"/>
            <a:r>
              <a:rPr lang="fr-BE" b="1" i="1" dirty="0"/>
              <a:t>2.4 Procédure pratique et suivi</a:t>
            </a:r>
          </a:p>
        </p:txBody>
      </p:sp>
      <p:sp>
        <p:nvSpPr>
          <p:cNvPr id="6" name="Espace réservé du contenu 5"/>
          <p:cNvSpPr>
            <a:spLocks noGrp="1"/>
          </p:cNvSpPr>
          <p:nvPr>
            <p:ph idx="1"/>
          </p:nvPr>
        </p:nvSpPr>
        <p:spPr>
          <a:xfrm>
            <a:off x="444872" y="1556792"/>
            <a:ext cx="8229600" cy="4525963"/>
          </a:xfrm>
        </p:spPr>
        <p:txBody>
          <a:bodyPr>
            <a:normAutofit fontScale="92500" lnSpcReduction="20000"/>
          </a:bodyPr>
          <a:lstStyle/>
          <a:p>
            <a:r>
              <a:rPr lang="fr-BE" b="1" u="sng" dirty="0"/>
              <a:t>Données PS/PT</a:t>
            </a:r>
            <a:r>
              <a:rPr lang="fr-BE" b="1" dirty="0"/>
              <a:t>:</a:t>
            </a:r>
          </a:p>
          <a:p>
            <a:pPr lvl="1">
              <a:buFont typeface="Wingdings" panose="05000000000000000000" pitchFamily="2" charset="2"/>
              <a:buChar char="Ø"/>
            </a:pPr>
            <a:r>
              <a:rPr lang="fr-BE" b="1" dirty="0"/>
              <a:t> </a:t>
            </a:r>
            <a:r>
              <a:rPr lang="fr-BE" b="1" dirty="0">
                <a:solidFill>
                  <a:srgbClr val="C00000"/>
                </a:solidFill>
              </a:rPr>
              <a:t>Flux Elec08 si PS </a:t>
            </a:r>
            <a:r>
              <a:rPr lang="fr-BE" dirty="0"/>
              <a:t>= B, C, D, F, F+, K, L et M</a:t>
            </a:r>
          </a:p>
          <a:p>
            <a:pPr marL="457200" lvl="1" indent="0">
              <a:buNone/>
            </a:pPr>
            <a:endParaRPr lang="fr-BE" sz="900" dirty="0"/>
          </a:p>
          <a:p>
            <a:pPr lvl="1">
              <a:buFont typeface="Wingdings" panose="05000000000000000000" pitchFamily="2" charset="2"/>
              <a:buChar char="Ø"/>
            </a:pPr>
            <a:r>
              <a:rPr lang="fr-BE" b="1" dirty="0"/>
              <a:t> </a:t>
            </a:r>
            <a:r>
              <a:rPr lang="fr-BE" b="1" dirty="0">
                <a:solidFill>
                  <a:srgbClr val="C00000"/>
                </a:solidFill>
              </a:rPr>
              <a:t>Document papier si PS </a:t>
            </a:r>
            <a:r>
              <a:rPr lang="fr-BE" dirty="0"/>
              <a:t>= A ou autre document</a:t>
            </a:r>
          </a:p>
          <a:p>
            <a:pPr marL="457200" lvl="1" indent="0">
              <a:buNone/>
            </a:pPr>
            <a:endParaRPr lang="fr-BE" sz="1400" dirty="0"/>
          </a:p>
          <a:p>
            <a:pPr marL="457200" lvl="1" indent="0">
              <a:spcBef>
                <a:spcPts val="0"/>
              </a:spcBef>
              <a:buNone/>
            </a:pPr>
            <a:endParaRPr lang="fr-BE" sz="1400" dirty="0"/>
          </a:p>
          <a:p>
            <a:pPr>
              <a:spcBef>
                <a:spcPts val="0"/>
              </a:spcBef>
            </a:pPr>
            <a:r>
              <a:rPr lang="fr-BE" b="1" u="sng" dirty="0"/>
              <a:t>Pratique:</a:t>
            </a:r>
          </a:p>
          <a:p>
            <a:pPr marL="0" indent="0">
              <a:spcBef>
                <a:spcPts val="0"/>
              </a:spcBef>
              <a:buNone/>
            </a:pPr>
            <a:endParaRPr lang="fr-BE" sz="1200" dirty="0">
              <a:sym typeface="Wingdings" pitchFamily="2" charset="2"/>
            </a:endParaRPr>
          </a:p>
          <a:p>
            <a:pPr lvl="1">
              <a:spcBef>
                <a:spcPts val="0"/>
              </a:spcBef>
              <a:buFont typeface="Wingdings" panose="05000000000000000000" pitchFamily="2" charset="2"/>
              <a:buChar char="Ø"/>
            </a:pPr>
            <a:r>
              <a:rPr lang="fr-BE" dirty="0">
                <a:sym typeface="Wingdings" pitchFamily="2" charset="2"/>
              </a:rPr>
              <a:t> Lors d’une </a:t>
            </a:r>
            <a:r>
              <a:rPr lang="fr-BE" b="1" dirty="0">
                <a:solidFill>
                  <a:srgbClr val="C00000"/>
                </a:solidFill>
                <a:sym typeface="Wingdings" pitchFamily="2" charset="2"/>
              </a:rPr>
              <a:t>première DA </a:t>
            </a:r>
            <a:r>
              <a:rPr lang="fr-BE" sz="2400" dirty="0">
                <a:sym typeface="Wingdings" pitchFamily="2" charset="2"/>
              </a:rPr>
              <a:t>(ou D.A après interruption)</a:t>
            </a:r>
            <a:r>
              <a:rPr lang="fr-BE" dirty="0">
                <a:sym typeface="Wingdings" pitchFamily="2" charset="2"/>
              </a:rPr>
              <a:t> : </a:t>
            </a:r>
          </a:p>
          <a:p>
            <a:pPr marL="914400" lvl="2" indent="0">
              <a:spcBef>
                <a:spcPts val="0"/>
              </a:spcBef>
              <a:buNone/>
            </a:pPr>
            <a:r>
              <a:rPr lang="fr-BE" b="1" dirty="0">
                <a:sym typeface="Wingdings" panose="05000000000000000000" pitchFamily="2" charset="2"/>
              </a:rPr>
              <a:t> C1 + données PS/PT en cours de validité </a:t>
            </a:r>
            <a:r>
              <a:rPr lang="fr-BE" dirty="0">
                <a:sym typeface="Wingdings" pitchFamily="2" charset="2"/>
              </a:rPr>
              <a:t>(flux ou documents)</a:t>
            </a:r>
          </a:p>
          <a:p>
            <a:pPr marL="457200" lvl="1" indent="0">
              <a:spcBef>
                <a:spcPts val="0"/>
              </a:spcBef>
              <a:buNone/>
            </a:pPr>
            <a:endParaRPr lang="fr-BE" sz="900" dirty="0">
              <a:sym typeface="Wingdings" pitchFamily="2" charset="2"/>
            </a:endParaRPr>
          </a:p>
          <a:p>
            <a:pPr lvl="1">
              <a:buFont typeface="Wingdings" panose="05000000000000000000" pitchFamily="2" charset="2"/>
              <a:buChar char="Ø"/>
            </a:pPr>
            <a:r>
              <a:rPr lang="fr-BE" b="1" dirty="0">
                <a:sym typeface="Wingdings" pitchFamily="2" charset="2"/>
              </a:rPr>
              <a:t> </a:t>
            </a:r>
            <a:r>
              <a:rPr lang="fr-BE" b="1" dirty="0">
                <a:solidFill>
                  <a:srgbClr val="C00000"/>
                </a:solidFill>
                <a:sym typeface="Wingdings" pitchFamily="2" charset="2"/>
              </a:rPr>
              <a:t>Expiration en cours e chômage :</a:t>
            </a:r>
            <a:r>
              <a:rPr lang="fr-BE" b="1" dirty="0">
                <a:sym typeface="Wingdings" pitchFamily="2" charset="2"/>
              </a:rPr>
              <a:t> </a:t>
            </a:r>
          </a:p>
          <a:p>
            <a:pPr lvl="2">
              <a:buFont typeface="Wingdings" panose="05000000000000000000" pitchFamily="2" charset="2"/>
              <a:buChar char="è"/>
            </a:pPr>
            <a:r>
              <a:rPr lang="fr-BE" b="1" dirty="0">
                <a:sym typeface="Wingdings" pitchFamily="2" charset="2"/>
              </a:rPr>
              <a:t>script 0.1 </a:t>
            </a:r>
            <a:r>
              <a:rPr lang="fr-BE" b="1" dirty="0">
                <a:solidFill>
                  <a:srgbClr val="C00000"/>
                </a:solidFill>
                <a:sym typeface="Wingdings" pitchFamily="2" charset="2"/>
              </a:rPr>
              <a:t>(type C9 420)</a:t>
            </a:r>
            <a:r>
              <a:rPr lang="fr-BE" b="1" dirty="0">
                <a:sym typeface="Wingdings" pitchFamily="2" charset="2"/>
              </a:rPr>
              <a:t> </a:t>
            </a:r>
            <a:r>
              <a:rPr lang="fr-BE" dirty="0">
                <a:sym typeface="Wingdings" pitchFamily="2" charset="2"/>
              </a:rPr>
              <a:t>avec </a:t>
            </a:r>
            <a:r>
              <a:rPr lang="fr-BE" b="1" dirty="0">
                <a:sym typeface="Wingdings" pitchFamily="2" charset="2"/>
              </a:rPr>
              <a:t>Données PS/PT </a:t>
            </a:r>
            <a:r>
              <a:rPr lang="fr-BE" dirty="0">
                <a:sym typeface="Wingdings" pitchFamily="2" charset="2"/>
              </a:rPr>
              <a:t>(flux ou documents)</a:t>
            </a:r>
            <a:r>
              <a:rPr lang="fr-BE" b="1" dirty="0">
                <a:sym typeface="Wingdings" pitchFamily="2" charset="2"/>
              </a:rPr>
              <a:t> + C8 (facultatif) </a:t>
            </a:r>
          </a:p>
          <a:p>
            <a:pPr marL="914400" lvl="2" indent="0">
              <a:buNone/>
            </a:pPr>
            <a:r>
              <a:rPr lang="fr-BE" sz="2400" dirty="0">
                <a:latin typeface="Segoe UI Emoji" panose="020B0502040204020203" pitchFamily="34" charset="0"/>
                <a:ea typeface="Segoe UI Emoji" panose="020B0502040204020203" pitchFamily="34" charset="0"/>
                <a:sym typeface="Wingdings" pitchFamily="2" charset="2"/>
              </a:rPr>
              <a:t>⚠</a:t>
            </a:r>
            <a:r>
              <a:rPr lang="fr-BE" sz="2400" dirty="0">
                <a:ea typeface="Segoe UI Emoji" panose="020B0502040204020203" pitchFamily="34" charset="0"/>
                <a:sym typeface="Wingdings" pitchFamily="2" charset="2"/>
              </a:rPr>
              <a:t>Si pas de document papier</a:t>
            </a:r>
            <a:r>
              <a:rPr lang="fr-BE" sz="2400" b="1" dirty="0">
                <a:solidFill>
                  <a:srgbClr val="C00000"/>
                </a:solidFill>
                <a:ea typeface="Segoe UI Emoji" panose="020B0502040204020203" pitchFamily="34" charset="0"/>
                <a:sym typeface="Wingdings" pitchFamily="2" charset="2"/>
              </a:rPr>
              <a:t>C9 full électronique</a:t>
            </a:r>
            <a:endParaRPr lang="fr-BE" sz="3200" b="1" dirty="0">
              <a:solidFill>
                <a:srgbClr val="C00000"/>
              </a:solidFill>
              <a:sym typeface="Wingdings" pitchFamily="2" charset="2"/>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36</a:t>
            </a:fld>
            <a:endParaRPr lang="fr-FR"/>
          </a:p>
        </p:txBody>
      </p:sp>
    </p:spTree>
    <p:extLst>
      <p:ext uri="{BB962C8B-B14F-4D97-AF65-F5344CB8AC3E}">
        <p14:creationId xmlns:p14="http://schemas.microsoft.com/office/powerpoint/2010/main" val="3829200534"/>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fade">
                                      <p:cBhvr>
                                        <p:cTn id="17" dur="10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fade">
                                      <p:cBhvr>
                                        <p:cTn id="22" dur="10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animEffect transition="in" filter="fade">
                                      <p:cBhvr>
                                        <p:cTn id="27" dur="1000"/>
                                        <p:tgtEl>
                                          <p:spTgt spid="6">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xEl>
                                              <p:pRg st="9" end="9"/>
                                            </p:txEl>
                                          </p:spTgt>
                                        </p:tgtEl>
                                        <p:attrNameLst>
                                          <p:attrName>style.visibility</p:attrName>
                                        </p:attrNameLst>
                                      </p:cBhvr>
                                      <p:to>
                                        <p:strVal val="visible"/>
                                      </p:to>
                                    </p:set>
                                    <p:animEffect transition="in" filter="fade">
                                      <p:cBhvr>
                                        <p:cTn id="32" dur="1000"/>
                                        <p:tgtEl>
                                          <p:spTgt spid="6">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
                                            <p:txEl>
                                              <p:pRg st="11" end="11"/>
                                            </p:txEl>
                                          </p:spTgt>
                                        </p:tgtEl>
                                        <p:attrNameLst>
                                          <p:attrName>style.visibility</p:attrName>
                                        </p:attrNameLst>
                                      </p:cBhvr>
                                      <p:to>
                                        <p:strVal val="visible"/>
                                      </p:to>
                                    </p:set>
                                    <p:animEffect transition="in" filter="fade">
                                      <p:cBhvr>
                                        <p:cTn id="37" dur="1000"/>
                                        <p:tgtEl>
                                          <p:spTgt spid="6">
                                            <p:txEl>
                                              <p:pRg st="11" end="1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
                                            <p:txEl>
                                              <p:pRg st="12" end="12"/>
                                            </p:txEl>
                                          </p:spTgt>
                                        </p:tgtEl>
                                        <p:attrNameLst>
                                          <p:attrName>style.visibility</p:attrName>
                                        </p:attrNameLst>
                                      </p:cBhvr>
                                      <p:to>
                                        <p:strVal val="visible"/>
                                      </p:to>
                                    </p:set>
                                    <p:animEffect transition="in" filter="fade">
                                      <p:cBhvr>
                                        <p:cTn id="42" dur="1000"/>
                                        <p:tgtEl>
                                          <p:spTgt spid="6">
                                            <p:txEl>
                                              <p:pRg st="12" end="1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6">
                                            <p:txEl>
                                              <p:pRg st="13" end="13"/>
                                            </p:txEl>
                                          </p:spTgt>
                                        </p:tgtEl>
                                        <p:attrNameLst>
                                          <p:attrName>style.visibility</p:attrName>
                                        </p:attrNameLst>
                                      </p:cBhvr>
                                      <p:to>
                                        <p:strVal val="visible"/>
                                      </p:to>
                                    </p:set>
                                    <p:animEffect transition="in" filter="fade">
                                      <p:cBhvr>
                                        <p:cTn id="47" dur="1000"/>
                                        <p:tgtEl>
                                          <p:spTgt spid="6">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274638"/>
            <a:ext cx="8507288" cy="1143000"/>
          </a:xfrm>
        </p:spPr>
        <p:txBody>
          <a:bodyPr>
            <a:normAutofit fontScale="90000"/>
          </a:bodyPr>
          <a:lstStyle/>
          <a:p>
            <a:pPr algn="r"/>
            <a:r>
              <a:rPr lang="fr-BE" b="1" i="1" dirty="0"/>
              <a:t>    2.5 Indemnisation du travailleur étranger</a:t>
            </a:r>
            <a:endParaRPr lang="fr-FR" b="1" i="1" dirty="0"/>
          </a:p>
        </p:txBody>
      </p:sp>
      <p:sp>
        <p:nvSpPr>
          <p:cNvPr id="28675" name="Rectangle 3"/>
          <p:cNvSpPr>
            <a:spLocks noGrp="1" noChangeArrowheads="1"/>
          </p:cNvSpPr>
          <p:nvPr>
            <p:ph type="body" idx="1"/>
          </p:nvPr>
        </p:nvSpPr>
        <p:spPr/>
        <p:txBody>
          <a:bodyPr>
            <a:noAutofit/>
          </a:bodyPr>
          <a:lstStyle/>
          <a:p>
            <a:pPr marL="0" indent="0">
              <a:buClr>
                <a:schemeClr val="tx1"/>
              </a:buClr>
              <a:buNone/>
            </a:pPr>
            <a:r>
              <a:rPr lang="fr-BE" sz="2600" dirty="0"/>
              <a:t>Ce sont les mêmes conditions d’indemnisation que pour les travailleurs belges ET l’intéressé doit également :</a:t>
            </a:r>
          </a:p>
          <a:p>
            <a:pPr marL="0" indent="0">
              <a:buClr>
                <a:schemeClr val="tx1"/>
              </a:buClr>
              <a:buNone/>
            </a:pPr>
            <a:endParaRPr lang="fr-BE" sz="1400" dirty="0"/>
          </a:p>
          <a:p>
            <a:pPr marL="457200" lvl="1" indent="-457200">
              <a:lnSpc>
                <a:spcPct val="90000"/>
              </a:lnSpc>
              <a:buClr>
                <a:schemeClr val="tx1"/>
              </a:buClr>
              <a:buFont typeface="Wingdings" panose="05000000000000000000" pitchFamily="2" charset="2"/>
              <a:buChar char="Ø"/>
            </a:pPr>
            <a:r>
              <a:rPr lang="fr-BE" sz="2600" b="1" dirty="0">
                <a:solidFill>
                  <a:srgbClr val="C00000"/>
                </a:solidFill>
              </a:rPr>
              <a:t>Etre en possession d’une autorisation de travail </a:t>
            </a:r>
            <a:r>
              <a:rPr lang="fr-BE" sz="2600" dirty="0"/>
              <a:t>en règle pendant toute la durée d’indemnisation.</a:t>
            </a:r>
          </a:p>
          <a:p>
            <a:pPr marL="444500" lvl="1" indent="-342900">
              <a:lnSpc>
                <a:spcPct val="90000"/>
              </a:lnSpc>
              <a:buClr>
                <a:schemeClr val="tx1"/>
              </a:buClr>
              <a:buNone/>
            </a:pPr>
            <a:r>
              <a:rPr lang="fr-BE" sz="2600" dirty="0"/>
              <a:t>	</a:t>
            </a:r>
            <a:r>
              <a:rPr lang="fr-BE" sz="2600" i="1" dirty="0"/>
              <a:t>Si l’autorisation expire, perte du droit aux allocations après 60 jours calendriers. (cf. annexe 51)</a:t>
            </a:r>
          </a:p>
          <a:p>
            <a:pPr marL="342900" lvl="1" indent="-342900">
              <a:lnSpc>
                <a:spcPct val="90000"/>
              </a:lnSpc>
              <a:buClr>
                <a:schemeClr val="tx1"/>
              </a:buClr>
              <a:buNone/>
            </a:pPr>
            <a:endParaRPr lang="fr-BE" sz="2000" b="1" dirty="0">
              <a:solidFill>
                <a:srgbClr val="C00000"/>
              </a:solidFill>
            </a:endParaRPr>
          </a:p>
          <a:p>
            <a:pPr>
              <a:lnSpc>
                <a:spcPct val="90000"/>
              </a:lnSpc>
              <a:buClr>
                <a:schemeClr val="tx1"/>
              </a:buClr>
              <a:buFont typeface="Wingdings" panose="05000000000000000000" pitchFamily="2" charset="2"/>
              <a:buChar char="Ø"/>
            </a:pPr>
            <a:r>
              <a:rPr lang="fr-BE" sz="2600" b="1" dirty="0">
                <a:solidFill>
                  <a:srgbClr val="C00000"/>
                </a:solidFill>
              </a:rPr>
              <a:t>Etre en possession d’un permis de séjour </a:t>
            </a:r>
            <a:r>
              <a:rPr lang="fr-BE" sz="2600" dirty="0"/>
              <a:t>en règle pendant toute la durée d’indemnisation.</a:t>
            </a:r>
          </a:p>
          <a:p>
            <a:pPr>
              <a:lnSpc>
                <a:spcPct val="90000"/>
              </a:lnSpc>
              <a:buClr>
                <a:schemeClr val="tx1"/>
              </a:buClr>
              <a:buNone/>
            </a:pPr>
            <a:r>
              <a:rPr lang="fr-BE" sz="2600" dirty="0"/>
              <a:t>	</a:t>
            </a:r>
            <a:r>
              <a:rPr lang="fr-BE" sz="2600" i="1" dirty="0"/>
              <a:t>Si le PS expire </a:t>
            </a:r>
            <a:r>
              <a:rPr lang="fr-BE" sz="2600" i="1" dirty="0">
                <a:sym typeface="Wingdings" pitchFamily="2" charset="2"/>
              </a:rPr>
              <a:t></a:t>
            </a:r>
            <a:r>
              <a:rPr lang="fr-BE" sz="2600" i="1" dirty="0"/>
              <a:t> Perte du droit aux allocations de chômage immédiatement.</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37</a:t>
            </a:fld>
            <a:endParaRPr lang="fr-FR"/>
          </a:p>
        </p:txBody>
      </p:sp>
    </p:spTree>
    <p:extLst>
      <p:ext uri="{BB962C8B-B14F-4D97-AF65-F5344CB8AC3E}">
        <p14:creationId xmlns:p14="http://schemas.microsoft.com/office/powerpoint/2010/main" val="1484816206"/>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fade">
                                      <p:cBhvr>
                                        <p:cTn id="7" dur="1000"/>
                                        <p:tgtEl>
                                          <p:spTgt spid="2867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675">
                                            <p:txEl>
                                              <p:pRg st="2" end="2"/>
                                            </p:txEl>
                                          </p:spTgt>
                                        </p:tgtEl>
                                        <p:attrNameLst>
                                          <p:attrName>style.visibility</p:attrName>
                                        </p:attrNameLst>
                                      </p:cBhvr>
                                      <p:to>
                                        <p:strVal val="visible"/>
                                      </p:to>
                                    </p:set>
                                    <p:animEffect transition="in" filter="fade">
                                      <p:cBhvr>
                                        <p:cTn id="10" dur="1000"/>
                                        <p:tgtEl>
                                          <p:spTgt spid="2867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animEffect transition="in" filter="fade">
                                      <p:cBhvr>
                                        <p:cTn id="13" dur="1000"/>
                                        <p:tgtEl>
                                          <p:spTgt spid="2867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8675">
                                            <p:txEl>
                                              <p:pRg st="5" end="5"/>
                                            </p:txEl>
                                          </p:spTgt>
                                        </p:tgtEl>
                                        <p:attrNameLst>
                                          <p:attrName>style.visibility</p:attrName>
                                        </p:attrNameLst>
                                      </p:cBhvr>
                                      <p:to>
                                        <p:strVal val="visible"/>
                                      </p:to>
                                    </p:set>
                                    <p:animEffect transition="in" filter="fade">
                                      <p:cBhvr>
                                        <p:cTn id="18" dur="1000"/>
                                        <p:tgtEl>
                                          <p:spTgt spid="2867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675">
                                            <p:txEl>
                                              <p:pRg st="6" end="6"/>
                                            </p:txEl>
                                          </p:spTgt>
                                        </p:tgtEl>
                                        <p:attrNameLst>
                                          <p:attrName>style.visibility</p:attrName>
                                        </p:attrNameLst>
                                      </p:cBhvr>
                                      <p:to>
                                        <p:strVal val="visible"/>
                                      </p:to>
                                    </p:set>
                                    <p:animEffect transition="in" filter="fade">
                                      <p:cBhvr>
                                        <p:cTn id="23" dur="1000"/>
                                        <p:tgtEl>
                                          <p:spTgt spid="286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r"/>
            <a:r>
              <a:rPr lang="fr-BE" b="1" i="1" dirty="0"/>
              <a:t>3. L’exportation des droits</a:t>
            </a:r>
            <a:endParaRPr lang="fr-FR" b="1" i="1" dirty="0"/>
          </a:p>
        </p:txBody>
      </p:sp>
      <p:sp>
        <p:nvSpPr>
          <p:cNvPr id="20483" name="Rectangle 3"/>
          <p:cNvSpPr>
            <a:spLocks noGrp="1" noChangeArrowheads="1"/>
          </p:cNvSpPr>
          <p:nvPr>
            <p:ph idx="1"/>
          </p:nvPr>
        </p:nvSpPr>
        <p:spPr/>
        <p:txBody>
          <a:bodyPr>
            <a:normAutofit/>
          </a:bodyPr>
          <a:lstStyle/>
          <a:p>
            <a:pPr marL="0" indent="0">
              <a:buClr>
                <a:schemeClr val="tx1"/>
              </a:buClr>
              <a:buNone/>
            </a:pPr>
            <a:r>
              <a:rPr lang="fr-BE" sz="3000" dirty="0"/>
              <a:t>Le chômeur complet qui se rend dans un ou plusieurs pays de </a:t>
            </a:r>
            <a:r>
              <a:rPr lang="fr-BE" sz="3000" b="1" dirty="0">
                <a:solidFill>
                  <a:srgbClr val="C00000"/>
                </a:solidFill>
              </a:rPr>
              <a:t>l’EEE (+ Suisse) </a:t>
            </a:r>
            <a:r>
              <a:rPr lang="fr-BE" sz="3000" dirty="0"/>
              <a:t>pour y rechercher un emploi peut conserver </a:t>
            </a:r>
            <a:r>
              <a:rPr lang="fr-BE" sz="3000" b="1" dirty="0">
                <a:solidFill>
                  <a:srgbClr val="CC0000"/>
                </a:solidFill>
              </a:rPr>
              <a:t>durant 3 mois maximum </a:t>
            </a:r>
            <a:r>
              <a:rPr lang="fr-BE" sz="3000" dirty="0"/>
              <a:t>de date à date (prolongeable à 6 mois) le bénéfice des allocations de chômage à l’étranger. </a:t>
            </a:r>
            <a:endParaRPr lang="fr-BE" sz="3000" b="1" i="1" dirty="0">
              <a:solidFill>
                <a:srgbClr val="C00000"/>
              </a:solidFill>
            </a:endParaRP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38</a:t>
            </a:fld>
            <a:endParaRPr lang="fr-FR"/>
          </a:p>
        </p:txBody>
      </p:sp>
    </p:spTree>
    <p:extLst>
      <p:ext uri="{BB962C8B-B14F-4D97-AF65-F5344CB8AC3E}">
        <p14:creationId xmlns:p14="http://schemas.microsoft.com/office/powerpoint/2010/main" val="189501742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fade">
                                      <p:cBhvr>
                                        <p:cTn id="7" dur="1000"/>
                                        <p:tgtEl>
                                          <p:spTgt spid="204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r"/>
            <a:r>
              <a:rPr lang="fr-BE" b="1" i="1" dirty="0"/>
              <a:t> 3.1 Conditions</a:t>
            </a:r>
            <a:endParaRPr lang="fr-FR" i="1" dirty="0"/>
          </a:p>
        </p:txBody>
      </p:sp>
      <p:sp>
        <p:nvSpPr>
          <p:cNvPr id="21507" name="Rectangle 3"/>
          <p:cNvSpPr>
            <a:spLocks noGrp="1" noChangeArrowheads="1"/>
          </p:cNvSpPr>
          <p:nvPr>
            <p:ph type="body" idx="1"/>
          </p:nvPr>
        </p:nvSpPr>
        <p:spPr/>
        <p:txBody>
          <a:bodyPr>
            <a:noAutofit/>
          </a:bodyPr>
          <a:lstStyle/>
          <a:p>
            <a:pPr>
              <a:buClr>
                <a:schemeClr val="tx1"/>
              </a:buClr>
              <a:buFont typeface="Wingdings" pitchFamily="2" charset="2"/>
              <a:buChar char="§"/>
            </a:pPr>
            <a:r>
              <a:rPr lang="fr-BE" sz="2600" dirty="0"/>
              <a:t>Etre </a:t>
            </a:r>
            <a:r>
              <a:rPr lang="fr-BE" sz="2600" b="1" i="1" dirty="0">
                <a:solidFill>
                  <a:srgbClr val="C00000"/>
                </a:solidFill>
              </a:rPr>
              <a:t>chômeur complet indemnisé durant au moins 4 semaines</a:t>
            </a:r>
            <a:r>
              <a:rPr lang="fr-BE" sz="2600" dirty="0">
                <a:solidFill>
                  <a:srgbClr val="C00000"/>
                </a:solidFill>
              </a:rPr>
              <a:t> </a:t>
            </a:r>
            <a:r>
              <a:rPr lang="fr-BE" sz="2600" dirty="0"/>
              <a:t>avant le départ et être IDE ;</a:t>
            </a:r>
          </a:p>
          <a:p>
            <a:pPr>
              <a:buClr>
                <a:schemeClr val="tx1"/>
              </a:buClr>
              <a:buFont typeface="Wingdings" pitchFamily="2" charset="2"/>
              <a:buChar char="§"/>
            </a:pPr>
            <a:r>
              <a:rPr lang="fr-BE" sz="2600" b="1" i="1" dirty="0">
                <a:solidFill>
                  <a:srgbClr val="C00000"/>
                </a:solidFill>
              </a:rPr>
              <a:t>Etre IDE dans les 7 jours </a:t>
            </a:r>
            <a:r>
              <a:rPr lang="fr-BE" sz="2600" dirty="0"/>
              <a:t>auprès des services compétents de l’état de destination (assimilé à 8 jours) ;</a:t>
            </a:r>
          </a:p>
          <a:p>
            <a:pPr>
              <a:buClr>
                <a:schemeClr val="tx1"/>
              </a:buClr>
              <a:buFont typeface="Wingdings" pitchFamily="2" charset="2"/>
              <a:buChar char="§"/>
            </a:pPr>
            <a:r>
              <a:rPr lang="fr-BE" sz="2600" b="1" i="1" dirty="0">
                <a:solidFill>
                  <a:srgbClr val="C00000"/>
                </a:solidFill>
              </a:rPr>
              <a:t>Se soumettre aux conditions d’octroi</a:t>
            </a:r>
            <a:r>
              <a:rPr lang="fr-BE" sz="2600" dirty="0">
                <a:solidFill>
                  <a:srgbClr val="C00000"/>
                </a:solidFill>
              </a:rPr>
              <a:t> </a:t>
            </a:r>
            <a:r>
              <a:rPr lang="fr-BE" sz="2600" dirty="0"/>
              <a:t>de l’état pour lequel l’exportation des droits est faite (pointage, IDE, …);</a:t>
            </a:r>
          </a:p>
          <a:p>
            <a:pPr>
              <a:buClr>
                <a:schemeClr val="tx1"/>
              </a:buClr>
              <a:buFont typeface="Wingdings" pitchFamily="2" charset="2"/>
              <a:buChar char="§"/>
            </a:pPr>
            <a:r>
              <a:rPr lang="fr-BE" sz="2600" dirty="0"/>
              <a:t>Pour </a:t>
            </a:r>
            <a:r>
              <a:rPr lang="fr-BE" sz="2600" b="1" dirty="0">
                <a:solidFill>
                  <a:srgbClr val="C00000"/>
                </a:solidFill>
              </a:rPr>
              <a:t>exporter à nouveau</a:t>
            </a:r>
            <a:r>
              <a:rPr lang="fr-BE" sz="2600" dirty="0"/>
              <a:t> ses droits durant 3 mois, l’intéressé doit justifier une période de travail en Belgique ainsi qu’une période de 4 semaines au moins d’IDE.</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39</a:t>
            </a:fld>
            <a:endParaRPr lang="fr-FR"/>
          </a:p>
        </p:txBody>
      </p:sp>
    </p:spTree>
    <p:extLst>
      <p:ext uri="{BB962C8B-B14F-4D97-AF65-F5344CB8AC3E}">
        <p14:creationId xmlns:p14="http://schemas.microsoft.com/office/powerpoint/2010/main" val="3582004777"/>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10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fade">
                                      <p:cBhvr>
                                        <p:cTn id="12" dur="10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fade">
                                      <p:cBhvr>
                                        <p:cTn id="17" dur="10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fade">
                                      <p:cBhvr>
                                        <p:cTn id="22" dur="1000"/>
                                        <p:tgtEl>
                                          <p:spTgt spid="21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r"/>
            <a:r>
              <a:rPr lang="fr-FR" b="1" i="1" dirty="0"/>
              <a:t> 3.2 Aperçu des régimes existants</a:t>
            </a:r>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40</a:t>
            </a:fld>
            <a:endParaRPr lang="fr-FR"/>
          </a:p>
        </p:txBody>
      </p:sp>
      <p:graphicFrame>
        <p:nvGraphicFramePr>
          <p:cNvPr id="4" name="Tableau 3"/>
          <p:cNvGraphicFramePr>
            <a:graphicFrameLocks noGrp="1"/>
          </p:cNvGraphicFramePr>
          <p:nvPr/>
        </p:nvGraphicFramePr>
        <p:xfrm>
          <a:off x="457200" y="1397000"/>
          <a:ext cx="8229600" cy="5037647"/>
        </p:xfrm>
        <a:graphic>
          <a:graphicData uri="http://schemas.openxmlformats.org/drawingml/2006/table">
            <a:tbl>
              <a:tblPr firstRow="1" bandRow="1">
                <a:tableStyleId>{F5AB1C69-6EDB-4FF4-983F-18BD219EF322}</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18051">
                <a:tc gridSpan="2">
                  <a:txBody>
                    <a:bodyPr/>
                    <a:lstStyle/>
                    <a:p>
                      <a:r>
                        <a:rPr lang="fr-BE" sz="2400" dirty="0"/>
                        <a:t>Régime U2</a:t>
                      </a:r>
                    </a:p>
                  </a:txBody>
                  <a:tcPr anchor="ctr" anchorCtr="1"/>
                </a:tc>
                <a:tc hMerge="1">
                  <a:txBody>
                    <a:bodyPr/>
                    <a:lstStyle/>
                    <a:p>
                      <a:endParaRPr lang="fr-BE"/>
                    </a:p>
                  </a:txBody>
                  <a:tcPr/>
                </a:tc>
                <a:extLst>
                  <a:ext uri="{0D108BD9-81ED-4DB2-BD59-A6C34878D82A}">
                    <a16:rowId xmlns:a16="http://schemas.microsoft.com/office/drawing/2014/main" val="10000"/>
                  </a:ext>
                </a:extLst>
              </a:tr>
              <a:tr h="1030812">
                <a:tc>
                  <a:txBody>
                    <a:bodyPr/>
                    <a:lstStyle/>
                    <a:p>
                      <a:r>
                        <a:rPr lang="fr-BE" sz="2400" b="1" dirty="0"/>
                        <a:t>Ressortissants de…</a:t>
                      </a:r>
                    </a:p>
                  </a:txBody>
                  <a:tcPr anchor="ctr" anchorCtr="1"/>
                </a:tc>
                <a:tc>
                  <a:txBody>
                    <a:bodyPr/>
                    <a:lstStyle/>
                    <a:p>
                      <a:r>
                        <a:rPr lang="fr-BE" sz="2400" b="1" dirty="0"/>
                        <a:t>Exportations des droits</a:t>
                      </a:r>
                      <a:r>
                        <a:rPr lang="fr-BE" sz="2400" b="1" baseline="0" dirty="0"/>
                        <a:t> vers…</a:t>
                      </a:r>
                      <a:endParaRPr lang="fr-BE" sz="2400" b="1" dirty="0"/>
                    </a:p>
                  </a:txBody>
                  <a:tcPr anchor="ctr" anchorCtr="1"/>
                </a:tc>
                <a:extLst>
                  <a:ext uri="{0D108BD9-81ED-4DB2-BD59-A6C34878D82A}">
                    <a16:rowId xmlns:a16="http://schemas.microsoft.com/office/drawing/2014/main" val="10001"/>
                  </a:ext>
                </a:extLst>
              </a:tr>
              <a:tr h="1340055">
                <a:tc>
                  <a:txBody>
                    <a:bodyPr/>
                    <a:lstStyle/>
                    <a:p>
                      <a:r>
                        <a:rPr lang="fr-BE" sz="2400" dirty="0"/>
                        <a:t>UE</a:t>
                      </a:r>
                    </a:p>
                  </a:txBody>
                  <a:tcPr anchor="ctr" anchorCtr="1"/>
                </a:tc>
                <a:tc>
                  <a:txBody>
                    <a:bodyPr/>
                    <a:lstStyle/>
                    <a:p>
                      <a:r>
                        <a:rPr lang="fr-BE" sz="2400" b="1" dirty="0">
                          <a:solidFill>
                            <a:srgbClr val="C00000"/>
                          </a:solidFill>
                        </a:rPr>
                        <a:t>UE + Norvège, Islande, Liechtenstein,</a:t>
                      </a:r>
                      <a:r>
                        <a:rPr lang="fr-BE" sz="2400" b="1" baseline="0" dirty="0">
                          <a:solidFill>
                            <a:srgbClr val="C00000"/>
                          </a:solidFill>
                        </a:rPr>
                        <a:t> Suisse</a:t>
                      </a:r>
                      <a:endParaRPr lang="fr-BE" sz="2400" b="1" dirty="0">
                        <a:solidFill>
                          <a:srgbClr val="C00000"/>
                        </a:solidFill>
                      </a:endParaRPr>
                    </a:p>
                  </a:txBody>
                  <a:tcPr anchor="ctr" anchorCtr="1"/>
                </a:tc>
                <a:extLst>
                  <a:ext uri="{0D108BD9-81ED-4DB2-BD59-A6C34878D82A}">
                    <a16:rowId xmlns:a16="http://schemas.microsoft.com/office/drawing/2014/main" val="10002"/>
                  </a:ext>
                </a:extLst>
              </a:tr>
              <a:tr h="721568">
                <a:tc>
                  <a:txBody>
                    <a:bodyPr/>
                    <a:lstStyle/>
                    <a:p>
                      <a:r>
                        <a:rPr lang="fr-BE" sz="2400" dirty="0"/>
                        <a:t>Pays tiers</a:t>
                      </a:r>
                    </a:p>
                  </a:txBody>
                  <a:tcPr anchor="ctr" anchorCtr="1"/>
                </a:tc>
                <a:tc>
                  <a:txBody>
                    <a:bodyPr/>
                    <a:lstStyle/>
                    <a:p>
                      <a:r>
                        <a:rPr lang="fr-BE" sz="2400" b="1" dirty="0">
                          <a:solidFill>
                            <a:srgbClr val="C00000"/>
                          </a:solidFill>
                        </a:rPr>
                        <a:t>UE sauf Danemark</a:t>
                      </a:r>
                    </a:p>
                  </a:txBody>
                  <a:tcPr anchor="ctr" anchorCtr="1"/>
                </a:tc>
                <a:extLst>
                  <a:ext uri="{0D108BD9-81ED-4DB2-BD59-A6C34878D82A}">
                    <a16:rowId xmlns:a16="http://schemas.microsoft.com/office/drawing/2014/main" val="10003"/>
                  </a:ext>
                </a:extLst>
              </a:tr>
              <a:tr h="1030812">
                <a:tc>
                  <a:txBody>
                    <a:bodyPr/>
                    <a:lstStyle/>
                    <a:p>
                      <a:r>
                        <a:rPr lang="fr-BE" sz="2400" dirty="0"/>
                        <a:t>Norvège, Islande, Liechtenstein</a:t>
                      </a:r>
                    </a:p>
                  </a:txBody>
                  <a:tcPr anchor="ctr" anchorCtr="1"/>
                </a:tc>
                <a:tc>
                  <a:txBody>
                    <a:bodyPr/>
                    <a:lstStyle/>
                    <a:p>
                      <a:r>
                        <a:rPr lang="fr-BE" sz="2400" b="1" dirty="0">
                          <a:solidFill>
                            <a:srgbClr val="C00000"/>
                          </a:solidFill>
                        </a:rPr>
                        <a:t>UE + Norvège, Islande, Liechtenstein</a:t>
                      </a:r>
                    </a:p>
                  </a:txBody>
                  <a:tcPr anchor="ctr" anchorCtr="1"/>
                </a:tc>
                <a:extLst>
                  <a:ext uri="{0D108BD9-81ED-4DB2-BD59-A6C34878D82A}">
                    <a16:rowId xmlns:a16="http://schemas.microsoft.com/office/drawing/2014/main" val="10004"/>
                  </a:ext>
                </a:extLst>
              </a:tr>
              <a:tr h="418051">
                <a:tc>
                  <a:txBody>
                    <a:bodyPr/>
                    <a:lstStyle/>
                    <a:p>
                      <a:r>
                        <a:rPr lang="fr-BE" sz="2400" dirty="0"/>
                        <a:t>Suisse</a:t>
                      </a:r>
                    </a:p>
                  </a:txBody>
                  <a:tcPr anchor="ctr" anchorCtr="1"/>
                </a:tc>
                <a:tc>
                  <a:txBody>
                    <a:bodyPr/>
                    <a:lstStyle/>
                    <a:p>
                      <a:r>
                        <a:rPr lang="fr-BE" sz="2400" b="1" dirty="0">
                          <a:solidFill>
                            <a:srgbClr val="C00000"/>
                          </a:solidFill>
                        </a:rPr>
                        <a:t>UE + Suisse</a:t>
                      </a:r>
                    </a:p>
                  </a:txBody>
                  <a:tcPr anchor="ctr" anchorCtr="1"/>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562527418"/>
      </p:ext>
    </p:extLst>
  </p:cSld>
  <p:clrMapOvr>
    <a:masterClrMapping/>
  </p:clrMapOvr>
  <p:transition>
    <p:dissolve/>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r"/>
            <a:r>
              <a:rPr lang="fr-BE" b="1" i="1" dirty="0"/>
              <a:t>3.3 Le régime U2</a:t>
            </a:r>
            <a:r>
              <a:rPr lang="fr-BE" i="1" dirty="0"/>
              <a:t>  </a:t>
            </a:r>
            <a:endParaRPr lang="fr-FR" i="1" dirty="0"/>
          </a:p>
        </p:txBody>
      </p:sp>
      <p:sp>
        <p:nvSpPr>
          <p:cNvPr id="21507" name="Rectangle 3"/>
          <p:cNvSpPr>
            <a:spLocks noGrp="1" noChangeArrowheads="1"/>
          </p:cNvSpPr>
          <p:nvPr>
            <p:ph type="body" idx="1"/>
          </p:nvPr>
        </p:nvSpPr>
        <p:spPr/>
        <p:txBody>
          <a:bodyPr>
            <a:noAutofit/>
          </a:bodyPr>
          <a:lstStyle/>
          <a:p>
            <a:pPr>
              <a:buClr>
                <a:schemeClr val="tx1"/>
              </a:buClr>
              <a:buFont typeface="Wingdings" pitchFamily="2" charset="2"/>
              <a:buChar char="§"/>
            </a:pPr>
            <a:r>
              <a:rPr lang="fr-BE" sz="2800" dirty="0"/>
              <a:t>Dans le cadre de l’exportation des droits, le paiement des allocations de chômage est effectué par le </a:t>
            </a:r>
            <a:r>
              <a:rPr lang="fr-BE" sz="2800" b="1" dirty="0"/>
              <a:t>pays exportant.</a:t>
            </a:r>
            <a:endParaRPr lang="fr-BE" sz="1050" b="1" dirty="0"/>
          </a:p>
          <a:p>
            <a:pPr>
              <a:buClr>
                <a:schemeClr val="tx1"/>
              </a:buClr>
              <a:buFont typeface="Wingdings" pitchFamily="2" charset="2"/>
              <a:buChar char="§"/>
            </a:pPr>
            <a:r>
              <a:rPr lang="fr-BE" sz="2800" b="1" dirty="0"/>
              <a:t>Montant journalier </a:t>
            </a:r>
            <a:r>
              <a:rPr lang="fr-BE" sz="2800" dirty="0"/>
              <a:t>identique à celui perçu  en Belgique</a:t>
            </a:r>
            <a:endParaRPr lang="fr-BE" sz="1000" dirty="0"/>
          </a:p>
          <a:p>
            <a:pPr>
              <a:buClr>
                <a:schemeClr val="tx1"/>
              </a:buClr>
              <a:buFont typeface="Wingdings" pitchFamily="2" charset="2"/>
              <a:buChar char="§"/>
              <a:defRPr/>
            </a:pPr>
            <a:r>
              <a:rPr lang="fr-BE" sz="2800" dirty="0"/>
              <a:t>En pratique : Introduction le formulaire de </a:t>
            </a:r>
            <a:r>
              <a:rPr lang="fr-BE" sz="2800" b="1" dirty="0">
                <a:solidFill>
                  <a:srgbClr val="C00000"/>
                </a:solidFill>
              </a:rPr>
              <a:t>« </a:t>
            </a:r>
            <a:r>
              <a:rPr lang="fr-BE" sz="2800" b="1" i="1" dirty="0">
                <a:solidFill>
                  <a:srgbClr val="C00000"/>
                </a:solidFill>
              </a:rPr>
              <a:t>Demande U2 »</a:t>
            </a:r>
            <a:r>
              <a:rPr lang="fr-BE" sz="2800" b="1" dirty="0">
                <a:solidFill>
                  <a:srgbClr val="C00000"/>
                </a:solidFill>
              </a:rPr>
              <a:t> </a:t>
            </a:r>
            <a:r>
              <a:rPr lang="fr-BE" sz="2800" dirty="0"/>
              <a:t>à l’ONEm via son OP au moyen d’un </a:t>
            </a:r>
            <a:r>
              <a:rPr lang="fr-BE" sz="2800" b="1" dirty="0">
                <a:solidFill>
                  <a:srgbClr val="C00000"/>
                </a:solidFill>
              </a:rPr>
              <a:t>script 9.2.4 </a:t>
            </a:r>
            <a:r>
              <a:rPr lang="fr-BE" sz="2800" dirty="0"/>
              <a:t>avec </a:t>
            </a:r>
            <a:r>
              <a:rPr lang="fr-BE" sz="2800" b="1" dirty="0"/>
              <a:t>un type C9 </a:t>
            </a:r>
            <a:r>
              <a:rPr lang="fr-BE" sz="2800" b="1" dirty="0">
                <a:solidFill>
                  <a:srgbClr val="C00000"/>
                </a:solidFill>
              </a:rPr>
              <a:t>660</a:t>
            </a:r>
            <a:r>
              <a:rPr lang="fr-BE" sz="2800"/>
              <a:t>. </a:t>
            </a:r>
          </a:p>
          <a:p>
            <a:pPr>
              <a:buClr>
                <a:schemeClr val="tx1"/>
              </a:buClr>
              <a:buFont typeface="Wingdings" pitchFamily="2" charset="2"/>
              <a:buChar char="§"/>
              <a:defRPr/>
            </a:pPr>
            <a:r>
              <a:rPr lang="fr-BE" sz="2800" b="1"/>
              <a:t>Délai</a:t>
            </a:r>
            <a:r>
              <a:rPr lang="fr-BE" sz="2800" dirty="0"/>
              <a:t>: Au plus tôt </a:t>
            </a:r>
            <a:r>
              <a:rPr lang="fr-BE" sz="2800" b="1" dirty="0">
                <a:solidFill>
                  <a:srgbClr val="C00000"/>
                </a:solidFill>
              </a:rPr>
              <a:t>4 semaines</a:t>
            </a:r>
            <a:r>
              <a:rPr lang="fr-BE" sz="2800" dirty="0"/>
              <a:t> avant le début de l’exportation des droits.</a:t>
            </a:r>
            <a:br>
              <a:rPr lang="fr-BE" sz="2800" dirty="0"/>
            </a:br>
            <a:r>
              <a:rPr lang="fr-BE" sz="2800" dirty="0"/>
              <a:t>	</a:t>
            </a:r>
            <a:endParaRPr lang="fr-BE" sz="26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41</a:t>
            </a:fld>
            <a:endParaRPr lang="fr-FR"/>
          </a:p>
        </p:txBody>
      </p:sp>
    </p:spTree>
    <p:extLst>
      <p:ext uri="{BB962C8B-B14F-4D97-AF65-F5344CB8AC3E}">
        <p14:creationId xmlns:p14="http://schemas.microsoft.com/office/powerpoint/2010/main" val="287055523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10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fade">
                                      <p:cBhvr>
                                        <p:cTn id="12" dur="10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fade">
                                      <p:cBhvr>
                                        <p:cTn id="17" dur="10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fade">
                                      <p:cBhvr>
                                        <p:cTn id="22" dur="1000"/>
                                        <p:tgtEl>
                                          <p:spTgt spid="21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r"/>
            <a:r>
              <a:rPr lang="fr-BE" b="1" i="1" dirty="0"/>
              <a:t>3.3 Le régime U2</a:t>
            </a:r>
            <a:r>
              <a:rPr lang="fr-BE" i="1" dirty="0"/>
              <a:t>  </a:t>
            </a:r>
            <a:endParaRPr lang="fr-FR" i="1" dirty="0"/>
          </a:p>
        </p:txBody>
      </p:sp>
      <p:sp>
        <p:nvSpPr>
          <p:cNvPr id="21507" name="Rectangle 3"/>
          <p:cNvSpPr>
            <a:spLocks noGrp="1" noChangeArrowheads="1"/>
          </p:cNvSpPr>
          <p:nvPr>
            <p:ph type="body" idx="1"/>
          </p:nvPr>
        </p:nvSpPr>
        <p:spPr/>
        <p:txBody>
          <a:bodyPr>
            <a:noAutofit/>
          </a:bodyPr>
          <a:lstStyle/>
          <a:p>
            <a:pPr>
              <a:buClr>
                <a:schemeClr val="tx1"/>
              </a:buClr>
              <a:buFont typeface="Wingdings" pitchFamily="2" charset="2"/>
              <a:buChar char="§"/>
              <a:defRPr/>
            </a:pPr>
            <a:r>
              <a:rPr lang="fr-BE" sz="2800" dirty="0"/>
              <a:t>Si l’intéressé satisfait aux conditions </a:t>
            </a:r>
            <a:r>
              <a:rPr lang="fr-BE" sz="2800" dirty="0">
                <a:sym typeface="Wingdings" pitchFamily="2" charset="2"/>
              </a:rPr>
              <a:t> </a:t>
            </a:r>
            <a:r>
              <a:rPr lang="fr-BE" sz="2800" dirty="0"/>
              <a:t>l’</a:t>
            </a:r>
            <a:r>
              <a:rPr lang="fr-BE" sz="2800" dirty="0" err="1"/>
              <a:t>ONEm</a:t>
            </a:r>
            <a:r>
              <a:rPr lang="fr-BE" sz="2800" dirty="0"/>
              <a:t> renvoie :</a:t>
            </a:r>
          </a:p>
          <a:p>
            <a:pPr lvl="1">
              <a:buClr>
                <a:schemeClr val="tx1"/>
              </a:buClr>
              <a:buFont typeface="Wingdings" panose="05000000000000000000" pitchFamily="2" charset="2"/>
              <a:buChar char="ü"/>
              <a:defRPr/>
            </a:pPr>
            <a:r>
              <a:rPr lang="fr-BE" dirty="0"/>
              <a:t>Le </a:t>
            </a:r>
            <a:r>
              <a:rPr lang="fr-BE" b="1" dirty="0">
                <a:solidFill>
                  <a:srgbClr val="C00000"/>
                </a:solidFill>
              </a:rPr>
              <a:t>formulaire U2</a:t>
            </a:r>
            <a:r>
              <a:rPr lang="fr-BE" dirty="0"/>
              <a:t> complété avec la période d’exportation des droits accordée</a:t>
            </a:r>
          </a:p>
          <a:p>
            <a:pPr lvl="1">
              <a:buClr>
                <a:schemeClr val="tx1"/>
              </a:buClr>
              <a:buFont typeface="Wingdings" panose="05000000000000000000" pitchFamily="2" charset="2"/>
              <a:buChar char="ü"/>
              <a:defRPr/>
            </a:pPr>
            <a:r>
              <a:rPr lang="fr-BE" dirty="0"/>
              <a:t>Les cartes de contrôle </a:t>
            </a:r>
            <a:r>
              <a:rPr lang="fr-BE" b="1" dirty="0">
                <a:solidFill>
                  <a:srgbClr val="C00000"/>
                </a:solidFill>
              </a:rPr>
              <a:t>C3-Export</a:t>
            </a:r>
            <a:r>
              <a:rPr lang="fr-BE" dirty="0"/>
              <a:t> nécessaires pour la durée de l’exportation des droits. </a:t>
            </a:r>
          </a:p>
          <a:p>
            <a:pPr>
              <a:buClr>
                <a:schemeClr val="tx1"/>
              </a:buClr>
              <a:buFont typeface="Wingdings" pitchFamily="2" charset="2"/>
              <a:buChar char="§"/>
              <a:defRPr/>
            </a:pPr>
            <a:r>
              <a:rPr lang="fr-BE" sz="2800" dirty="0"/>
              <a:t>Si l’intéressé ne satisfait pas aux conditions , une décision négative mentionnant le motif du refus est notifiée.</a:t>
            </a:r>
          </a:p>
          <a:p>
            <a:pPr>
              <a:buClr>
                <a:schemeClr val="tx1"/>
              </a:buClr>
              <a:buNone/>
            </a:pPr>
            <a:endParaRPr lang="fr-BE" sz="26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42</a:t>
            </a:fld>
            <a:endParaRPr lang="fr-FR"/>
          </a:p>
        </p:txBody>
      </p:sp>
    </p:spTree>
    <p:extLst>
      <p:ext uri="{BB962C8B-B14F-4D97-AF65-F5344CB8AC3E}">
        <p14:creationId xmlns:p14="http://schemas.microsoft.com/office/powerpoint/2010/main" val="2553138192"/>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10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fade">
                                      <p:cBhvr>
                                        <p:cTn id="12" dur="10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fade">
                                      <p:cBhvr>
                                        <p:cTn id="17" dur="10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fade">
                                      <p:cBhvr>
                                        <p:cTn id="22" dur="1000"/>
                                        <p:tgtEl>
                                          <p:spTgt spid="215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lgn="r"/>
            <a:r>
              <a:rPr lang="fr-BE" b="1" i="1" dirty="0"/>
              <a:t>3.4 Le retour en Belgique</a:t>
            </a:r>
            <a:endParaRPr lang="fr-FR" i="1" dirty="0"/>
          </a:p>
        </p:txBody>
      </p:sp>
      <p:sp>
        <p:nvSpPr>
          <p:cNvPr id="21507" name="Rectangle 3"/>
          <p:cNvSpPr>
            <a:spLocks noGrp="1" noChangeArrowheads="1"/>
          </p:cNvSpPr>
          <p:nvPr>
            <p:ph type="body" idx="1"/>
          </p:nvPr>
        </p:nvSpPr>
        <p:spPr/>
        <p:txBody>
          <a:bodyPr>
            <a:noAutofit/>
          </a:bodyPr>
          <a:lstStyle/>
          <a:p>
            <a:pPr>
              <a:buClr>
                <a:schemeClr val="tx1"/>
              </a:buClr>
              <a:buFont typeface="Wingdings" pitchFamily="2" charset="2"/>
              <a:buChar char="§"/>
              <a:defRPr/>
            </a:pPr>
            <a:r>
              <a:rPr lang="fr-FR" sz="2600" dirty="0"/>
              <a:t>Lors de son retour en Belgique, le chômeur doit: </a:t>
            </a:r>
          </a:p>
          <a:p>
            <a:pPr lvl="1">
              <a:buClr>
                <a:schemeClr val="tx1"/>
              </a:buClr>
              <a:buFont typeface="Wingdings" pitchFamily="2" charset="2"/>
              <a:buChar char="§"/>
              <a:defRPr/>
            </a:pPr>
            <a:r>
              <a:rPr lang="fr-FR" sz="2600" b="1" dirty="0">
                <a:solidFill>
                  <a:srgbClr val="C00000"/>
                </a:solidFill>
              </a:rPr>
              <a:t>Se réinscrire comme demandeur d'emploi </a:t>
            </a:r>
            <a:r>
              <a:rPr lang="fr-FR" sz="2600" dirty="0"/>
              <a:t>dans les </a:t>
            </a:r>
            <a:r>
              <a:rPr lang="fr-FR" sz="2600" b="1" dirty="0">
                <a:solidFill>
                  <a:srgbClr val="C00000"/>
                </a:solidFill>
              </a:rPr>
              <a:t>8 jours calendrier </a:t>
            </a:r>
            <a:r>
              <a:rPr lang="fr-FR" sz="2600" dirty="0"/>
              <a:t>; </a:t>
            </a:r>
          </a:p>
          <a:p>
            <a:pPr lvl="1">
              <a:buClr>
                <a:schemeClr val="tx1"/>
              </a:buClr>
              <a:buFont typeface="Wingdings" pitchFamily="2" charset="2"/>
              <a:buChar char="§"/>
              <a:defRPr/>
            </a:pPr>
            <a:r>
              <a:rPr lang="fr-FR" sz="2600" dirty="0"/>
              <a:t>Introduire une </a:t>
            </a:r>
            <a:r>
              <a:rPr lang="fr-FR" sz="2600" b="1" dirty="0">
                <a:solidFill>
                  <a:srgbClr val="C00000"/>
                </a:solidFill>
              </a:rPr>
              <a:t>nouvelle DA </a:t>
            </a:r>
            <a:r>
              <a:rPr lang="fr-FR" sz="2600" dirty="0"/>
              <a:t>avec un C109 ;</a:t>
            </a:r>
          </a:p>
          <a:p>
            <a:pPr lvl="1">
              <a:buClr>
                <a:schemeClr val="tx1"/>
              </a:buClr>
              <a:buFont typeface="Wingdings" pitchFamily="2" charset="2"/>
              <a:buChar char="§"/>
              <a:defRPr/>
            </a:pPr>
            <a:r>
              <a:rPr lang="fr-FR" sz="2600" dirty="0"/>
              <a:t>Utiliser une carte de contrôle ordinaire ou repasser au </a:t>
            </a:r>
            <a:r>
              <a:rPr lang="fr-FR" sz="2600" dirty="0" err="1"/>
              <a:t>sytème</a:t>
            </a:r>
            <a:r>
              <a:rPr lang="fr-FR" sz="2600" dirty="0"/>
              <a:t> EC3 ;</a:t>
            </a:r>
          </a:p>
          <a:p>
            <a:pPr lvl="1">
              <a:buClr>
                <a:schemeClr val="tx1"/>
              </a:buClr>
              <a:buNone/>
              <a:defRPr/>
            </a:pPr>
            <a:endParaRPr lang="fr-FR" sz="2600" dirty="0"/>
          </a:p>
          <a:p>
            <a:pPr>
              <a:buClr>
                <a:schemeClr val="tx1"/>
              </a:buClr>
              <a:buFont typeface="Wingdings" pitchFamily="2" charset="2"/>
              <a:buChar char="§"/>
              <a:defRPr/>
            </a:pPr>
            <a:r>
              <a:rPr lang="fr-FR" sz="2600" dirty="0"/>
              <a:t>En cas de retour avant la fin de la période d'exportation prévue, le module S16 concerné est clôturé au jour qui précède la DA.</a:t>
            </a:r>
            <a:endParaRPr lang="fr-BE" sz="2600" dirty="0"/>
          </a:p>
        </p:txBody>
      </p:sp>
      <p:sp>
        <p:nvSpPr>
          <p:cNvPr id="2" name="Espace réservé du numéro de diapositive 1"/>
          <p:cNvSpPr>
            <a:spLocks noGrp="1"/>
          </p:cNvSpPr>
          <p:nvPr>
            <p:ph type="sldNum" sz="quarter" idx="12"/>
          </p:nvPr>
        </p:nvSpPr>
        <p:spPr/>
        <p:txBody>
          <a:bodyPr/>
          <a:lstStyle/>
          <a:p>
            <a:fld id="{55E9056B-6A30-4F99-BDE9-C450E66AE125}" type="slidenum">
              <a:rPr lang="fr-FR" smtClean="0"/>
              <a:pPr/>
              <a:t>43</a:t>
            </a:fld>
            <a:endParaRPr lang="fr-FR"/>
          </a:p>
        </p:txBody>
      </p:sp>
    </p:spTree>
    <p:extLst>
      <p:ext uri="{BB962C8B-B14F-4D97-AF65-F5344CB8AC3E}">
        <p14:creationId xmlns:p14="http://schemas.microsoft.com/office/powerpoint/2010/main" val="976036067"/>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fade">
                                      <p:cBhvr>
                                        <p:cTn id="7" dur="10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fade">
                                      <p:cBhvr>
                                        <p:cTn id="12" dur="10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fade">
                                      <p:cBhvr>
                                        <p:cTn id="17" dur="10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fade">
                                      <p:cBhvr>
                                        <p:cTn id="22" dur="1000"/>
                                        <p:tgtEl>
                                          <p:spTgt spid="215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507">
                                            <p:txEl>
                                              <p:pRg st="5" end="5"/>
                                            </p:txEl>
                                          </p:spTgt>
                                        </p:tgtEl>
                                        <p:attrNameLst>
                                          <p:attrName>style.visibility</p:attrName>
                                        </p:attrNameLst>
                                      </p:cBhvr>
                                      <p:to>
                                        <p:strVal val="visible"/>
                                      </p:to>
                                    </p:set>
                                    <p:animEffect transition="in" filter="fade">
                                      <p:cBhvr>
                                        <p:cTn id="27" dur="10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 4. Frontaliers: Chômage temporaire</a:t>
            </a:r>
            <a:endParaRPr lang="fr-BE" dirty="0"/>
          </a:p>
        </p:txBody>
      </p:sp>
      <p:sp>
        <p:nvSpPr>
          <p:cNvPr id="3" name="Espace réservé du contenu 2"/>
          <p:cNvSpPr>
            <a:spLocks noGrp="1"/>
          </p:cNvSpPr>
          <p:nvPr>
            <p:ph idx="1"/>
          </p:nvPr>
        </p:nvSpPr>
        <p:spPr/>
        <p:txBody>
          <a:bodyPr>
            <a:normAutofit lnSpcReduction="10000"/>
          </a:bodyPr>
          <a:lstStyle/>
          <a:p>
            <a:r>
              <a:rPr lang="fr-BE" b="1" u="sng" dirty="0"/>
              <a:t>AM 39:</a:t>
            </a:r>
          </a:p>
          <a:p>
            <a:pPr marL="0" indent="0">
              <a:buNone/>
            </a:pPr>
            <a:r>
              <a:rPr lang="fr-BE" sz="2600" b="1" dirty="0"/>
              <a:t>« </a:t>
            </a:r>
            <a:r>
              <a:rPr lang="fr-BE" sz="2600" dirty="0"/>
              <a:t>Le chômeur qui ne réside pas effectivement en Belgique peut bénéficier d'allocations (…) s'il s'agit d'un </a:t>
            </a:r>
            <a:r>
              <a:rPr lang="fr-BE" sz="2600" b="1" dirty="0">
                <a:solidFill>
                  <a:srgbClr val="C00000"/>
                </a:solidFill>
              </a:rPr>
              <a:t>travailleur frontalier</a:t>
            </a:r>
            <a:r>
              <a:rPr lang="fr-BE" sz="2600" dirty="0"/>
              <a:t>, domicilié à l'étranger qui est </a:t>
            </a:r>
            <a:r>
              <a:rPr lang="fr-BE" sz="2600" b="1" dirty="0"/>
              <a:t>mis temporairement en chômage en Belgique</a:t>
            </a:r>
            <a:r>
              <a:rPr lang="fr-BE" sz="2600" dirty="0"/>
              <a:t> »</a:t>
            </a:r>
          </a:p>
          <a:p>
            <a:pPr marL="0" indent="0">
              <a:buNone/>
            </a:pPr>
            <a:endParaRPr lang="fr-BE" sz="2800" b="1" u="sng" dirty="0"/>
          </a:p>
          <a:p>
            <a:pPr marL="0" indent="0">
              <a:buNone/>
            </a:pPr>
            <a:r>
              <a:rPr lang="fr-BE" sz="2800" dirty="0">
                <a:sym typeface="Wingdings" panose="05000000000000000000" pitchFamily="2" charset="2"/>
              </a:rPr>
              <a:t> </a:t>
            </a:r>
            <a:r>
              <a:rPr lang="fr-BE" sz="2800" b="1" dirty="0">
                <a:solidFill>
                  <a:srgbClr val="C00000"/>
                </a:solidFill>
                <a:sym typeface="Wingdings" panose="05000000000000000000" pitchFamily="2" charset="2"/>
              </a:rPr>
              <a:t>Frontalier=</a:t>
            </a:r>
            <a:r>
              <a:rPr lang="fr-BE" sz="2800" dirty="0">
                <a:solidFill>
                  <a:srgbClr val="C00000"/>
                </a:solidFill>
                <a:sym typeface="Wingdings" panose="05000000000000000000" pitchFamily="2" charset="2"/>
              </a:rPr>
              <a:t> </a:t>
            </a:r>
            <a:r>
              <a:rPr lang="fr-BE" sz="2800" dirty="0">
                <a:sym typeface="Wingdings" panose="05000000000000000000" pitchFamily="2" charset="2"/>
              </a:rPr>
              <a:t>« Tout travailleur qui exerce son activité professionnelle sur le territoire d'un Etat membre et réside sur le territoire d'un autre Etat membre, où il retourne en principe chaque jour ou, au moins, une fois par semaine »</a:t>
            </a:r>
          </a:p>
          <a:p>
            <a:pPr marL="0" indent="0">
              <a:buNone/>
            </a:pPr>
            <a:endParaRPr lang="fr-BE" sz="2800"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44</a:t>
            </a:fld>
            <a:endParaRPr lang="fr-FR"/>
          </a:p>
        </p:txBody>
      </p:sp>
    </p:spTree>
    <p:extLst>
      <p:ext uri="{BB962C8B-B14F-4D97-AF65-F5344CB8AC3E}">
        <p14:creationId xmlns:p14="http://schemas.microsoft.com/office/powerpoint/2010/main" val="82307573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pPr algn="r"/>
            <a:r>
              <a:rPr lang="fr-BE" b="1" i="1" dirty="0"/>
              <a:t> 4. Frontaliers: Chômage temporaire</a:t>
            </a:r>
            <a:endParaRPr lang="fr-BE" dirty="0"/>
          </a:p>
        </p:txBody>
      </p:sp>
      <p:sp>
        <p:nvSpPr>
          <p:cNvPr id="3" name="Espace réservé du contenu 2"/>
          <p:cNvSpPr>
            <a:spLocks noGrp="1"/>
          </p:cNvSpPr>
          <p:nvPr>
            <p:ph idx="1"/>
          </p:nvPr>
        </p:nvSpPr>
        <p:spPr/>
        <p:txBody>
          <a:bodyPr>
            <a:normAutofit/>
          </a:bodyPr>
          <a:lstStyle/>
          <a:p>
            <a:r>
              <a:rPr lang="fr-BE" b="1" dirty="0"/>
              <a:t>Même conditions </a:t>
            </a:r>
            <a:r>
              <a:rPr lang="fr-BE" dirty="0"/>
              <a:t>d’admissibilité et d’octroi que les travailleurs </a:t>
            </a:r>
            <a:r>
              <a:rPr lang="fr-BE" b="1" dirty="0"/>
              <a:t>résidant en Belgique </a:t>
            </a:r>
            <a:r>
              <a:rPr lang="fr-BE" sz="2800" dirty="0"/>
              <a:t>(admission, </a:t>
            </a:r>
            <a:r>
              <a:rPr lang="fr-BE" sz="2800" dirty="0" err="1"/>
              <a:t>Wech</a:t>
            </a:r>
            <a:r>
              <a:rPr lang="fr-BE" sz="2800" dirty="0"/>
              <a:t> 502 et 505, carte de contrôle,…)</a:t>
            </a:r>
            <a:endParaRPr lang="fr-BE" b="1" dirty="0"/>
          </a:p>
          <a:p>
            <a:r>
              <a:rPr lang="fr-BE" dirty="0"/>
              <a:t>Script 9.2.2</a:t>
            </a:r>
          </a:p>
          <a:p>
            <a:r>
              <a:rPr lang="fr-BE" dirty="0"/>
              <a:t>Type C9= 640</a:t>
            </a:r>
          </a:p>
          <a:p>
            <a:r>
              <a:rPr lang="fr-BE" dirty="0"/>
              <a:t>Possibilité de </a:t>
            </a:r>
            <a:r>
              <a:rPr lang="fr-BE" b="1" dirty="0">
                <a:solidFill>
                  <a:srgbClr val="C00000"/>
                </a:solidFill>
              </a:rPr>
              <a:t>dispense de précompte </a:t>
            </a:r>
            <a:r>
              <a:rPr lang="fr-BE" dirty="0"/>
              <a:t>professionnel pour les travailleurs </a:t>
            </a:r>
            <a:r>
              <a:rPr lang="fr-BE" b="1" dirty="0"/>
              <a:t>frontaliers résidant en France</a:t>
            </a:r>
            <a:r>
              <a:rPr lang="fr-BE" b="1" dirty="0">
                <a:sym typeface="Wingdings" panose="05000000000000000000" pitchFamily="2" charset="2"/>
              </a:rPr>
              <a:t></a:t>
            </a:r>
            <a:r>
              <a:rPr lang="fr-BE" dirty="0">
                <a:sym typeface="Wingdings" panose="05000000000000000000" pitchFamily="2" charset="2"/>
              </a:rPr>
              <a:t> </a:t>
            </a:r>
            <a:r>
              <a:rPr lang="fr-BE" dirty="0">
                <a:solidFill>
                  <a:srgbClr val="C00000"/>
                </a:solidFill>
                <a:sym typeface="Wingdings" panose="05000000000000000000" pitchFamily="2" charset="2"/>
              </a:rPr>
              <a:t>formulaire </a:t>
            </a:r>
            <a:r>
              <a:rPr lang="fr-BE" b="1" dirty="0">
                <a:solidFill>
                  <a:srgbClr val="C00000"/>
                </a:solidFill>
                <a:sym typeface="Wingdings" panose="05000000000000000000" pitchFamily="2" charset="2"/>
              </a:rPr>
              <a:t>276F</a:t>
            </a:r>
            <a:endParaRPr lang="fr-BE" b="1" dirty="0">
              <a:solidFill>
                <a:srgbClr val="C00000"/>
              </a:solidFill>
            </a:endParaRPr>
          </a:p>
          <a:p>
            <a:endParaRPr lang="fr-BE" sz="2800" b="1" dirty="0"/>
          </a:p>
        </p:txBody>
      </p:sp>
      <p:sp>
        <p:nvSpPr>
          <p:cNvPr id="4" name="Espace réservé du numéro de diapositive 3"/>
          <p:cNvSpPr>
            <a:spLocks noGrp="1"/>
          </p:cNvSpPr>
          <p:nvPr>
            <p:ph type="sldNum" sz="quarter" idx="12"/>
          </p:nvPr>
        </p:nvSpPr>
        <p:spPr/>
        <p:txBody>
          <a:bodyPr/>
          <a:lstStyle/>
          <a:p>
            <a:fld id="{55E9056B-6A30-4F99-BDE9-C450E66AE125}" type="slidenum">
              <a:rPr lang="fr-FR" smtClean="0"/>
              <a:pPr/>
              <a:t>45</a:t>
            </a:fld>
            <a:endParaRPr lang="fr-FR"/>
          </a:p>
        </p:txBody>
      </p:sp>
    </p:spTree>
    <p:extLst>
      <p:ext uri="{BB962C8B-B14F-4D97-AF65-F5344CB8AC3E}">
        <p14:creationId xmlns:p14="http://schemas.microsoft.com/office/powerpoint/2010/main" val="1818801035"/>
      </p:ext>
    </p:extLst>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D8C07EE20480F44AE4960B9D2A32DA0" ma:contentTypeVersion="4" ma:contentTypeDescription="Crée un document." ma:contentTypeScope="" ma:versionID="f91216ef509c6a584f12053dcd624016">
  <xsd:schema xmlns:xsd="http://www.w3.org/2001/XMLSchema" xmlns:xs="http://www.w3.org/2001/XMLSchema" xmlns:p="http://schemas.microsoft.com/office/2006/metadata/properties" xmlns:ns2="badce1e3-4228-484a-9cea-a1abab477a44" xmlns:ns3="f1b85f46-8f47-4c7a-8346-9752567dac4a" targetNamespace="http://schemas.microsoft.com/office/2006/metadata/properties" ma:root="true" ma:fieldsID="0302afb9b051af15bdd7c100f38d2307" ns2:_="" ns3:_="">
    <xsd:import namespace="badce1e3-4228-484a-9cea-a1abab477a44"/>
    <xsd:import namespace="f1b85f46-8f47-4c7a-8346-9752567dac4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adce1e3-4228-484a-9cea-a1abab477a44"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1b85f46-8f47-4c7a-8346-9752567dac4a"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DDBE6E-CCEC-42DF-8D31-010C89D19D2E}">
  <ds:schemaRefs>
    <ds:schemaRef ds:uri="http://purl.org/dc/terms/"/>
    <ds:schemaRef ds:uri="7d2a3af0-b854-4018-b3fb-98bf2b75e19a"/>
    <ds:schemaRef ds:uri="http://schemas.microsoft.com/office/2006/documentManagement/types"/>
    <ds:schemaRef ds:uri="1e832426-6819-49af-b751-404cdfce1567"/>
    <ds:schemaRef ds:uri="http://purl.org/dc/elements/1.1/"/>
    <ds:schemaRef ds:uri="http://schemas.openxmlformats.org/package/2006/metadata/core-properties"/>
    <ds:schemaRef ds:uri="bdec1399-7c99-4025-bfb6-e1e799e6630a"/>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09AFBC06-BDAE-4534-9B80-ABBE46AB0A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adce1e3-4228-484a-9cea-a1abab477a44"/>
    <ds:schemaRef ds:uri="f1b85f46-8f47-4c7a-8346-9752567dac4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0756CF-5DDF-4D35-8480-D2C94D70C6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17872</TotalTime>
  <Words>3463</Words>
  <Application>Microsoft Office PowerPoint</Application>
  <PresentationFormat>Affichage à l'écran (4:3)</PresentationFormat>
  <Paragraphs>522</Paragraphs>
  <Slides>46</Slides>
  <Notes>37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46</vt:i4>
      </vt:variant>
    </vt:vector>
  </HeadingPairs>
  <TitlesOfParts>
    <vt:vector size="52" baseType="lpstr">
      <vt:lpstr>Arial</vt:lpstr>
      <vt:lpstr>Calibri</vt:lpstr>
      <vt:lpstr>Courier New</vt:lpstr>
      <vt:lpstr>Segoe UI Emoji</vt:lpstr>
      <vt:lpstr>Wingdings</vt:lpstr>
      <vt:lpstr>Thème Office</vt:lpstr>
      <vt:lpstr>Présentation PowerPoint</vt:lpstr>
      <vt:lpstr>Table des matières</vt:lpstr>
      <vt:lpstr>Table des matières</vt:lpstr>
      <vt:lpstr>1.  Le travail à l’étranger </vt:lpstr>
      <vt:lpstr>1. Le travail à l’étranger</vt:lpstr>
      <vt:lpstr>1.1 Jours pris en considération</vt:lpstr>
      <vt:lpstr>1.1 Jours pris en considération</vt:lpstr>
      <vt:lpstr>1.1 Jours pris en considération</vt:lpstr>
      <vt:lpstr>1.1 Jours pris en considération</vt:lpstr>
      <vt:lpstr>1.1. Jours pris en considération</vt:lpstr>
      <vt:lpstr>1.1 Jours pris en considération</vt:lpstr>
      <vt:lpstr>1.1 Jours pris en considération</vt:lpstr>
      <vt:lpstr>1.1 Jours pris en considération</vt:lpstr>
      <vt:lpstr>1.1 Jours pris en considération</vt:lpstr>
      <vt:lpstr>1.1 Jours pris en considération</vt:lpstr>
      <vt:lpstr>1.1 Jours pris en considération</vt:lpstr>
      <vt:lpstr>1.1 Jours pris en considération</vt:lpstr>
      <vt:lpstr>1.2. Le régime d’indemnisation</vt:lpstr>
      <vt:lpstr>1.3 Le code chiffré…</vt:lpstr>
      <vt:lpstr>1.4. Documents et suivi du dossier</vt:lpstr>
      <vt:lpstr>1.4. Documents et suivi du dossier</vt:lpstr>
      <vt:lpstr>1.4. Documents et suivi du dossier</vt:lpstr>
      <vt:lpstr>1.4. Documents et suivi du dossier</vt:lpstr>
      <vt:lpstr>1.4. Documents et suivi du dossier</vt:lpstr>
      <vt:lpstr>1.4. Documents et suivi du dossier</vt:lpstr>
      <vt:lpstr>1.4. Documents et suivi du dossier</vt:lpstr>
      <vt:lpstr>1.5   Nouvelle demande sans prestation </vt:lpstr>
      <vt:lpstr>1.6  Nouvelle demande après prestations</vt:lpstr>
      <vt:lpstr>1.7  Travail à l’étranger et vacances</vt:lpstr>
      <vt:lpstr>2. Droit aux allocations pour les travailleurs étrangers </vt:lpstr>
      <vt:lpstr>2.1. Préambule</vt:lpstr>
      <vt:lpstr>2.2 Permis/Titres de séjour</vt:lpstr>
      <vt:lpstr>2.3 Autorisation de travail</vt:lpstr>
      <vt:lpstr>2.3 Autorisation de travail</vt:lpstr>
      <vt:lpstr>2.4 Procédure pratique et suivi</vt:lpstr>
      <vt:lpstr>2.4 Procédure pratique et suivi</vt:lpstr>
      <vt:lpstr>2.4 Procédure pratique et suivi</vt:lpstr>
      <vt:lpstr>    2.5 Indemnisation du travailleur étranger</vt:lpstr>
      <vt:lpstr>3. L’exportation des droits</vt:lpstr>
      <vt:lpstr> 3.1 Conditions</vt:lpstr>
      <vt:lpstr> 3.2 Aperçu des régimes existants</vt:lpstr>
      <vt:lpstr>3.3 Le régime U2  </vt:lpstr>
      <vt:lpstr>3.3 Le régime U2  </vt:lpstr>
      <vt:lpstr>3.4 Le retour en Belgique</vt:lpstr>
      <vt:lpstr> 4. Frontaliers: Chômage temporaire</vt:lpstr>
      <vt:lpstr> 4. Frontaliers: Chômage temporaire</vt:lpstr>
    </vt:vector>
  </TitlesOfParts>
  <Company>ACV-CSC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FCS-M01-Travail à l'étranger-Travailleur étranger</dc:title>
  <dc:creator>u99lge</dc:creator>
  <cp:lastModifiedBy>Anja Sobkowiak</cp:lastModifiedBy>
  <cp:revision>720</cp:revision>
  <cp:lastPrinted>2022-03-25T08:03:41Z</cp:lastPrinted>
  <dcterms:created xsi:type="dcterms:W3CDTF">2010-09-22T12:12:06Z</dcterms:created>
  <dcterms:modified xsi:type="dcterms:W3CDTF">2023-04-04T12:06:16Z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0x01010011E8FC1629FD884B95A0235DC4123BD80037E0190D7060C1489B20FAF4695DD315</vt:lpwstr>
  </property>
  <property fmtid="{D5CDD505-2E9C-101B-9397-08002B2CF9AE}" pid="3" name="Type formation">
    <vt:lpwstr>139;#FCS formation senior|7e1aeef4-3046-4f78-a284-cec5c2bef1bf</vt:lpwstr>
  </property>
  <property fmtid="{D5CDD505-2E9C-101B-9397-08002B2CF9AE}" pid="4" name="Type document">
    <vt:lpwstr>29;#Présentation|66a9a075-20e6-47e0-8483-85d2e9240401</vt:lpwstr>
  </property>
  <property fmtid="{D5CDD505-2E9C-101B-9397-08002B2CF9AE}" pid="5" name="Public Cible">
    <vt:lpwstr>12;#FLT|f342c2bc-e504-4fe0-8d5d-34c04f2f783f</vt:lpwstr>
  </property>
  <property fmtid="{D5CDD505-2E9C-101B-9397-08002B2CF9AE}" pid="6" name="Domaine">
    <vt:lpwstr>17;#Admissibilité|d1ac0b1f-1e4c-4aa8-9a97-5b01e61985ba</vt:lpwstr>
  </property>
  <property fmtid="{D5CDD505-2E9C-101B-9397-08002B2CF9AE}" pid="7" name="Thème">
    <vt:lpwstr>20;#Travailleur étranger - Travail à l'étranger|bcf02c56-05dd-4389-bb9a-4ac06886d499</vt:lpwstr>
  </property>
  <property fmtid="{D5CDD505-2E9C-101B-9397-08002B2CF9AE}" pid="8" name="Order">
    <vt:r8>53700</vt:r8>
  </property>
  <property fmtid="{D5CDD505-2E9C-101B-9397-08002B2CF9AE}" pid="9" name="_dlc_DocIdItemGuid">
    <vt:lpwstr>c83a948b-67aa-42ac-905f-99092bd06297</vt:lpwstr>
  </property>
</Properties>
</file>