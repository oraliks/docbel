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34"/>
  </p:notesMasterIdLst>
  <p:handoutMasterIdLst>
    <p:handoutMasterId r:id="rId35"/>
  </p:handoutMasterIdLst>
  <p:sldIdLst>
    <p:sldId id="284" r:id="rId5"/>
    <p:sldId id="328" r:id="rId6"/>
    <p:sldId id="313" r:id="rId7"/>
    <p:sldId id="285" r:id="rId8"/>
    <p:sldId id="292" r:id="rId9"/>
    <p:sldId id="291" r:id="rId10"/>
    <p:sldId id="295" r:id="rId11"/>
    <p:sldId id="288" r:id="rId12"/>
    <p:sldId id="294" r:id="rId13"/>
    <p:sldId id="324" r:id="rId14"/>
    <p:sldId id="325" r:id="rId15"/>
    <p:sldId id="327" r:id="rId16"/>
    <p:sldId id="315" r:id="rId17"/>
    <p:sldId id="296" r:id="rId18"/>
    <p:sldId id="316" r:id="rId19"/>
    <p:sldId id="317" r:id="rId20"/>
    <p:sldId id="318" r:id="rId21"/>
    <p:sldId id="303" r:id="rId22"/>
    <p:sldId id="331" r:id="rId23"/>
    <p:sldId id="286" r:id="rId24"/>
    <p:sldId id="319" r:id="rId25"/>
    <p:sldId id="297" r:id="rId26"/>
    <p:sldId id="323" r:id="rId27"/>
    <p:sldId id="321" r:id="rId28"/>
    <p:sldId id="320" r:id="rId29"/>
    <p:sldId id="299" r:id="rId30"/>
    <p:sldId id="332" r:id="rId31"/>
    <p:sldId id="333" r:id="rId32"/>
    <p:sldId id="334" r:id="rId33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9900"/>
    <a:srgbClr val="669900"/>
    <a:srgbClr val="FF9933"/>
    <a:srgbClr val="00FF00"/>
    <a:srgbClr val="003399"/>
    <a:srgbClr val="0033CC"/>
    <a:srgbClr val="008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Style moyen 2 - Accentuation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7614" autoAdjust="0"/>
    <p:restoredTop sz="90485" autoAdjust="0"/>
  </p:normalViewPr>
  <p:slideViewPr>
    <p:cSldViewPr>
      <p:cViewPr varScale="1">
        <p:scale>
          <a:sx n="104" d="100"/>
          <a:sy n="104" d="100"/>
        </p:scale>
        <p:origin x="510" y="114"/>
      </p:cViewPr>
      <p:guideLst>
        <p:guide orient="horz" pos="216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tableStyles" Target="tableStyles.xml"/><Relationship Id="rId21" Type="http://schemas.openxmlformats.org/officeDocument/2006/relationships/slide" Target="slides/slide17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handoutMaster" Target="handoutMasters/handoutMaster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47068CA-F0DC-447A-B9ED-AE95D731C7D8}" type="datetimeFigureOut">
              <a:rPr lang="fr-FR" smtClean="0"/>
              <a:pPr/>
              <a:t>10/09/2023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9110657-391D-4BAF-82B8-BBA3EA77C61C}" type="slidenum">
              <a:rPr lang="fr-FR" smtClean="0"/>
              <a:pPr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338295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000F49C-6693-442B-81D1-9FE7387508D2}" type="datetimeFigureOut">
              <a:rPr lang="fr-FR" smtClean="0"/>
              <a:pPr/>
              <a:t>10/09/2023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84742A2-A700-4112-A494-09AD92282681}" type="slidenum">
              <a:rPr lang="fr-FR" smtClean="0"/>
              <a:pPr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106511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4742A2-A700-4112-A494-09AD92282681}" type="slidenum">
              <a:rPr lang="fr-FR" smtClean="0"/>
              <a:pPr/>
              <a:t>1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72659045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4742A2-A700-4112-A494-09AD92282681}" type="slidenum">
              <a:rPr lang="fr-FR" smtClean="0"/>
              <a:pPr/>
              <a:t>2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75319149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4742A2-A700-4112-A494-09AD92282681}" type="slidenum">
              <a:rPr lang="fr-FR" smtClean="0"/>
              <a:pPr/>
              <a:t>3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77542281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4742A2-A700-4112-A494-09AD92282681}" type="slidenum">
              <a:rPr lang="fr-FR" smtClean="0"/>
              <a:pPr/>
              <a:t>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5636876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4742A2-A700-4112-A494-09AD92282681}" type="slidenum">
              <a:rPr lang="fr-FR" smtClean="0"/>
              <a:pPr/>
              <a:t>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7427818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4742A2-A700-4112-A494-09AD92282681}" type="slidenum">
              <a:rPr lang="fr-FR" smtClean="0"/>
              <a:pPr/>
              <a:t>6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0367018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4742A2-A700-4112-A494-09AD92282681}" type="slidenum">
              <a:rPr lang="fr-FR" smtClean="0"/>
              <a:pPr/>
              <a:t>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2144374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4742A2-A700-4112-A494-09AD92282681}" type="slidenum">
              <a:rPr lang="fr-FR" smtClean="0"/>
              <a:pPr/>
              <a:t>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6857474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4742A2-A700-4112-A494-09AD92282681}" type="slidenum">
              <a:rPr lang="fr-FR" smtClean="0"/>
              <a:pPr/>
              <a:t>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6822740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4742A2-A700-4112-A494-09AD92282681}" type="slidenum">
              <a:rPr lang="fr-FR" smtClean="0"/>
              <a:pPr/>
              <a:t>10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86585943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4742A2-A700-4112-A494-09AD92282681}" type="slidenum">
              <a:rPr lang="fr-FR" smtClean="0"/>
              <a:pPr/>
              <a:t>11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45723910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 i="0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4742A2-A700-4112-A494-09AD92282681}" type="slidenum">
              <a:rPr lang="fr-FR" smtClean="0"/>
              <a:pPr/>
              <a:t>12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37094459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4742A2-A700-4112-A494-09AD92282681}" type="slidenum">
              <a:rPr lang="fr-FR" smtClean="0"/>
              <a:pPr/>
              <a:t>13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34504142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4742A2-A700-4112-A494-09AD92282681}" type="slidenum">
              <a:rPr lang="fr-FR" smtClean="0"/>
              <a:pPr/>
              <a:t>14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7129171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4742A2-A700-4112-A494-09AD92282681}" type="slidenum">
              <a:rPr lang="fr-FR" smtClean="0"/>
              <a:pPr/>
              <a:t>15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9867538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4742A2-A700-4112-A494-09AD92282681}" type="slidenum">
              <a:rPr lang="fr-FR" smtClean="0"/>
              <a:pPr/>
              <a:t>16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3112794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fr-BE" dirty="0"/>
              <a:t> </a:t>
            </a:r>
          </a:p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4742A2-A700-4112-A494-09AD92282681}" type="slidenum">
              <a:rPr lang="fr-FR" smtClean="0"/>
              <a:pPr/>
              <a:t>17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3829044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4742A2-A700-4112-A494-09AD92282681}" type="slidenum">
              <a:rPr lang="fr-FR" smtClean="0"/>
              <a:pPr/>
              <a:t>18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6713191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4742A2-A700-4112-A494-09AD92282681}" type="slidenum">
              <a:rPr lang="fr-FR" smtClean="0"/>
              <a:pPr/>
              <a:t>20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880899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4742A2-A700-4112-A494-09AD92282681}" type="slidenum">
              <a:rPr lang="fr-FR" smtClean="0"/>
              <a:pPr/>
              <a:t>21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8843683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4742A2-A700-4112-A494-09AD92282681}" type="slidenum">
              <a:rPr lang="fr-FR" smtClean="0"/>
              <a:pPr/>
              <a:t>22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2629785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4742A2-A700-4112-A494-09AD92282681}" type="slidenum">
              <a:rPr lang="fr-FR" smtClean="0"/>
              <a:pPr/>
              <a:t>23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2989557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4742A2-A700-4112-A494-09AD92282681}" type="slidenum">
              <a:rPr lang="fr-FR" smtClean="0"/>
              <a:pPr/>
              <a:t>24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517207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4742A2-A700-4112-A494-09AD92282681}" type="slidenum">
              <a:rPr lang="fr-FR" smtClean="0"/>
              <a:pPr/>
              <a:t>25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32293453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4742A2-A700-4112-A494-09AD92282681}" type="slidenum">
              <a:rPr lang="fr-FR" smtClean="0"/>
              <a:pPr/>
              <a:t>26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273594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Cliquez pour modifier le style des sous-titres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D01021-B567-4223-B7E5-492C4F29ABB1}" type="datetime1">
              <a:rPr lang="fr-FR" smtClean="0"/>
              <a:t>10/09/2023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770AE-7CE8-46DD-A63C-19B6532C2B43}" type="datetime1">
              <a:rPr lang="fr-FR" smtClean="0"/>
              <a:t>10/09/2023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E0EF00-1FAE-4D3E-B8F3-2D841AE32DB5}" type="datetime1">
              <a:rPr lang="fr-FR" smtClean="0"/>
              <a:t>10/09/2023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6AE50D-518D-45CC-9802-2E3B47A167C7}" type="datetime1">
              <a:rPr lang="fr-FR" smtClean="0"/>
              <a:t>10/09/2023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2B0059-B056-4936-B032-34405618169A}" type="datetime1">
              <a:rPr lang="fr-FR" smtClean="0"/>
              <a:t>10/09/2023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415180-277A-4777-B233-394A65985D26}" type="datetime1">
              <a:rPr lang="fr-FR" smtClean="0"/>
              <a:t>10/09/2023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DC18DC-A654-4DED-AEC6-6E0A8DFBBAAA}" type="datetime1">
              <a:rPr lang="fr-FR" smtClean="0"/>
              <a:t>10/09/2023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3BCCC5-2F6A-4479-B566-38CC8ABD7379}" type="datetime1">
              <a:rPr lang="fr-FR" smtClean="0"/>
              <a:t>10/09/2023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08E7FB-CEA2-4B79-A76D-F6B562BA9CF2}" type="datetime1">
              <a:rPr lang="fr-FR" smtClean="0"/>
              <a:t>10/09/2023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A51CE8-318E-4342-AE49-EDC38D92984E}" type="datetime1">
              <a:rPr lang="fr-FR" smtClean="0"/>
              <a:t>10/09/2023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7D86A4-4692-4FE7-AA50-4D411361847D}" type="datetime1">
              <a:rPr lang="fr-FR" smtClean="0"/>
              <a:t>10/09/2023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alphaModFix amt="17000"/>
            <a:lum/>
          </a:blip>
          <a:srcRect/>
          <a:stretch>
            <a:fillRect l="-7000" r="-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976C23-134F-40CF-863E-904FDC948688}" type="datetime1">
              <a:rPr lang="fr-FR" smtClean="0"/>
              <a:t>10/09/2023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E9056B-6A30-4F99-BDE9-C450E66AE125}" type="slidenum">
              <a:rPr lang="fr-FR" smtClean="0"/>
              <a:pPr/>
              <a:t>‹#›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457200" y="1866361"/>
            <a:ext cx="8229600" cy="4525963"/>
          </a:xfrm>
        </p:spPr>
        <p:txBody>
          <a:bodyPr>
            <a:normAutofit lnSpcReduction="10000"/>
          </a:bodyPr>
          <a:lstStyle/>
          <a:p>
            <a:pPr marL="0" indent="0" algn="ctr" defTabSz="233363">
              <a:buNone/>
            </a:pPr>
            <a:r>
              <a:rPr lang="fr-BE" sz="6000" b="1" i="1" dirty="0"/>
              <a:t>Cycle complet de la vérification</a:t>
            </a:r>
          </a:p>
          <a:p>
            <a:pPr marL="0" indent="0" algn="ctr" defTabSz="233363">
              <a:buNone/>
            </a:pPr>
            <a:endParaRPr lang="fr-BE" sz="6000" b="1" i="1" dirty="0"/>
          </a:p>
          <a:p>
            <a:pPr marL="0" lvl="0" indent="0" algn="ctr">
              <a:buNone/>
            </a:pPr>
            <a:r>
              <a:rPr lang="fr-BE" sz="4800" b="1" i="1" dirty="0">
                <a:solidFill>
                  <a:srgbClr val="C0504D">
                    <a:lumMod val="75000"/>
                  </a:srgbClr>
                </a:solidFill>
              </a:rPr>
              <a:t>Art. 160 </a:t>
            </a:r>
            <a:r>
              <a:rPr lang="fr-BE" sz="4800" b="1" i="1" dirty="0"/>
              <a:t>à</a:t>
            </a:r>
            <a:r>
              <a:rPr lang="fr-BE" sz="4800" b="1" i="1" dirty="0">
                <a:solidFill>
                  <a:srgbClr val="C0504D">
                    <a:lumMod val="75000"/>
                  </a:srgbClr>
                </a:solidFill>
              </a:rPr>
              <a:t> 168bis </a:t>
            </a:r>
            <a:r>
              <a:rPr lang="fr-BE" sz="4800" b="1" i="1" dirty="0">
                <a:solidFill>
                  <a:prstClr val="black"/>
                </a:solidFill>
              </a:rPr>
              <a:t>de l’</a:t>
            </a:r>
            <a:r>
              <a:rPr lang="fr-BE" sz="4800" b="1" i="1" dirty="0">
                <a:solidFill>
                  <a:srgbClr val="C0504D">
                    <a:lumMod val="75000"/>
                  </a:srgbClr>
                </a:solidFill>
              </a:rPr>
              <a:t>AR</a:t>
            </a:r>
            <a:r>
              <a:rPr lang="fr-BE" sz="4800" b="1" i="1" dirty="0">
                <a:solidFill>
                  <a:prstClr val="black"/>
                </a:solidFill>
              </a:rPr>
              <a:t> du 25.11.1991</a:t>
            </a:r>
          </a:p>
          <a:p>
            <a:pPr marL="0" indent="0" algn="ctr" defTabSz="233363">
              <a:buNone/>
            </a:pPr>
            <a:endParaRPr lang="fr-BE" sz="6000" b="1" i="1" dirty="0"/>
          </a:p>
        </p:txBody>
      </p:sp>
      <p:sp>
        <p:nvSpPr>
          <p:cNvPr id="47" name="Espace réservé du numéro de diapositive 4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55E9056B-6A30-4F99-BDE9-C450E66AE125}" type="slidenum">
              <a:rPr lang="fr-FR" smtClean="0"/>
              <a:pPr algn="ctr"/>
              <a:t>1</a:t>
            </a:fld>
            <a:endParaRPr lang="fr-FR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 b="1" dirty="0"/>
              <a:t>Table des matières</a:t>
            </a: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fr-BE" dirty="0"/>
              <a:t>1. Paiement					          </a:t>
            </a:r>
            <a:r>
              <a:rPr lang="fr-BE" sz="2000" dirty="0" err="1"/>
              <a:t>pg</a:t>
            </a:r>
            <a:r>
              <a:rPr lang="fr-BE" sz="2000" dirty="0"/>
              <a:t>. 3</a:t>
            </a:r>
          </a:p>
          <a:p>
            <a:pPr marL="0" indent="0">
              <a:buNone/>
            </a:pPr>
            <a:endParaRPr lang="fr-BE" dirty="0"/>
          </a:p>
          <a:p>
            <a:pPr marL="0" indent="0">
              <a:buNone/>
            </a:pPr>
            <a:r>
              <a:rPr lang="fr-BE" dirty="0"/>
              <a:t>2. Procédure de Vérification		          </a:t>
            </a:r>
            <a:r>
              <a:rPr lang="fr-BE" sz="2000" dirty="0" err="1"/>
              <a:t>pg</a:t>
            </a:r>
            <a:r>
              <a:rPr lang="fr-BE" sz="2000" dirty="0"/>
              <a:t>. 13</a:t>
            </a:r>
          </a:p>
          <a:p>
            <a:endParaRPr lang="fr-BE" dirty="0"/>
          </a:p>
          <a:p>
            <a:pPr marL="0" indent="0">
              <a:buNone/>
            </a:pPr>
            <a:r>
              <a:rPr lang="fr-BE" dirty="0"/>
              <a:t>3. Récupération				                    </a:t>
            </a:r>
            <a:r>
              <a:rPr lang="fr-BE" sz="2000" dirty="0" err="1"/>
              <a:t>pg</a:t>
            </a:r>
            <a:r>
              <a:rPr lang="fr-BE" sz="2000" dirty="0"/>
              <a:t>. </a:t>
            </a:r>
            <a:r>
              <a:rPr lang="fr-BE" sz="2000"/>
              <a:t>21</a:t>
            </a:r>
            <a:endParaRPr lang="fr-BE" sz="2000" dirty="0"/>
          </a:p>
        </p:txBody>
      </p:sp>
      <p:sp>
        <p:nvSpPr>
          <p:cNvPr id="47" name="Espace réservé du numéro de diapositive 4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55E9056B-6A30-4F99-BDE9-C450E66AE125}" type="slidenum">
              <a:rPr lang="fr-FR" smtClean="0"/>
              <a:pPr algn="ctr"/>
              <a:t>2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8655100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re 5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fr-BE" sz="5000" b="1" i="1" dirty="0"/>
              <a:t>1. Paiement</a:t>
            </a:r>
          </a:p>
        </p:txBody>
      </p:sp>
      <p:sp>
        <p:nvSpPr>
          <p:cNvPr id="7" name="Sous-titre 6"/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endParaRPr lang="fr-BE" dirty="0">
              <a:solidFill>
                <a:schemeClr val="tx1"/>
              </a:solidFill>
            </a:endParaRPr>
          </a:p>
          <a:p>
            <a:endParaRPr lang="fr-BE" dirty="0">
              <a:solidFill>
                <a:schemeClr val="tx1"/>
              </a:solidFill>
            </a:endParaRPr>
          </a:p>
          <a:p>
            <a:r>
              <a:rPr lang="fr-BE" sz="4000" b="1" i="1" dirty="0">
                <a:solidFill>
                  <a:schemeClr val="tx1"/>
                </a:solidFill>
              </a:rPr>
              <a:t>Art </a:t>
            </a:r>
            <a:r>
              <a:rPr lang="fr-BE" sz="4000" b="1" i="1" dirty="0">
                <a:solidFill>
                  <a:schemeClr val="accent2">
                    <a:lumMod val="75000"/>
                  </a:schemeClr>
                </a:solidFill>
              </a:rPr>
              <a:t>160</a:t>
            </a:r>
            <a:r>
              <a:rPr lang="fr-BE" sz="4000" b="1" i="1" dirty="0">
                <a:solidFill>
                  <a:schemeClr val="tx1"/>
                </a:solidFill>
              </a:rPr>
              <a:t> à </a:t>
            </a:r>
            <a:r>
              <a:rPr lang="fr-BE" sz="4000" b="1" i="1" dirty="0">
                <a:solidFill>
                  <a:schemeClr val="accent2">
                    <a:lumMod val="75000"/>
                  </a:schemeClr>
                </a:solidFill>
              </a:rPr>
              <a:t>163Bis</a:t>
            </a:r>
            <a:r>
              <a:rPr lang="fr-BE" sz="4000" b="1" i="1" dirty="0">
                <a:solidFill>
                  <a:schemeClr val="tx1"/>
                </a:solidFill>
              </a:rPr>
              <a:t> </a:t>
            </a:r>
          </a:p>
          <a:p>
            <a:endParaRPr lang="fr-BE" dirty="0"/>
          </a:p>
        </p:txBody>
      </p:sp>
      <p:sp>
        <p:nvSpPr>
          <p:cNvPr id="47" name="Espace réservé du numéro de diapositive 4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55E9056B-6A30-4F99-BDE9-C450E66AE125}" type="slidenum">
              <a:rPr lang="fr-FR" smtClean="0"/>
              <a:pPr algn="ctr"/>
              <a:t>3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4801537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fr-BE" b="1" i="1" dirty="0"/>
              <a:t>Paiement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fr-BE" dirty="0"/>
              <a:t>L‘OP ne peut payer des allocations que sur </a:t>
            </a:r>
            <a:r>
              <a:rPr lang="fr-BE" b="1" dirty="0">
                <a:solidFill>
                  <a:schemeClr val="accent2">
                    <a:lumMod val="75000"/>
                  </a:schemeClr>
                </a:solidFill>
              </a:rPr>
              <a:t>base d'une carte d'allocations </a:t>
            </a:r>
            <a:r>
              <a:rPr lang="fr-BE" dirty="0"/>
              <a:t>valable qui accorde le droit aux allocations.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fr-BE" dirty="0"/>
              <a:t>L‘OP paie les allocations en </a:t>
            </a:r>
            <a:r>
              <a:rPr lang="fr-BE" b="1" dirty="0"/>
              <a:t>se conformant aux </a:t>
            </a:r>
            <a:r>
              <a:rPr lang="fr-BE" b="1" dirty="0">
                <a:solidFill>
                  <a:schemeClr val="accent2">
                    <a:lumMod val="75000"/>
                  </a:schemeClr>
                </a:solidFill>
              </a:rPr>
              <a:t>dispositions légales et réglementaires</a:t>
            </a:r>
            <a:r>
              <a:rPr lang="fr-BE" b="1" dirty="0"/>
              <a:t>.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fr-BE" dirty="0"/>
              <a:t>L‘OP </a:t>
            </a:r>
            <a:r>
              <a:rPr lang="fr-BE" b="1" dirty="0"/>
              <a:t>introduit la </a:t>
            </a:r>
            <a:r>
              <a:rPr lang="fr-BE" b="1" dirty="0">
                <a:solidFill>
                  <a:schemeClr val="accent2">
                    <a:lumMod val="75000"/>
                  </a:schemeClr>
                </a:solidFill>
              </a:rPr>
              <a:t>carte de contrôle </a:t>
            </a:r>
            <a:r>
              <a:rPr lang="fr-BE" dirty="0"/>
              <a:t>et/ou les autres pièces justificatives auprès de l’</a:t>
            </a:r>
            <a:r>
              <a:rPr lang="fr-BE" dirty="0" err="1"/>
              <a:t>Onem</a:t>
            </a:r>
            <a:endParaRPr lang="fr-BE" dirty="0"/>
          </a:p>
        </p:txBody>
      </p:sp>
      <p:sp>
        <p:nvSpPr>
          <p:cNvPr id="47" name="Espace réservé du numéro de diapositive 4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55E9056B-6A30-4F99-BDE9-C450E66AE125}" type="slidenum">
              <a:rPr lang="fr-FR" smtClean="0"/>
              <a:pPr algn="ctr"/>
              <a:t>4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6901859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fr-BE" b="1" i="1" dirty="0"/>
              <a:t>Paiement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fr-BE" dirty="0"/>
              <a:t>L‘OP </a:t>
            </a:r>
            <a:r>
              <a:rPr lang="fr-BE" b="1" dirty="0"/>
              <a:t>peut</a:t>
            </a:r>
            <a:r>
              <a:rPr lang="fr-BE" dirty="0"/>
              <a:t>, à titre provisoire et sous sa propre responsabilité, </a:t>
            </a:r>
            <a:r>
              <a:rPr lang="fr-BE" b="1" dirty="0">
                <a:solidFill>
                  <a:schemeClr val="accent2">
                    <a:lumMod val="75000"/>
                  </a:schemeClr>
                </a:solidFill>
              </a:rPr>
              <a:t>payer</a:t>
            </a:r>
            <a:r>
              <a:rPr lang="fr-BE" b="1" dirty="0"/>
              <a:t> des allocations </a:t>
            </a:r>
            <a:r>
              <a:rPr lang="fr-BE" dirty="0"/>
              <a:t>lorsqu'une demande d'allocations ou une déclaration d'événement modificatif a été introduite au bureau du chômage et que cet organisme </a:t>
            </a:r>
            <a:r>
              <a:rPr lang="fr-BE" b="1" dirty="0"/>
              <a:t>n’a pas encore été informé</a:t>
            </a:r>
            <a:r>
              <a:rPr lang="fr-BE" dirty="0"/>
              <a:t> de la décision concernant le droit aux allocations</a:t>
            </a:r>
          </a:p>
        </p:txBody>
      </p:sp>
      <p:sp>
        <p:nvSpPr>
          <p:cNvPr id="47" name="Espace réservé du numéro de diapositive 4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55E9056B-6A30-4F99-BDE9-C450E66AE125}" type="slidenum">
              <a:rPr lang="fr-FR" smtClean="0"/>
              <a:pPr algn="ctr"/>
              <a:t>5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6982725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fr-BE" b="1" i="1" dirty="0"/>
              <a:t>Paiement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fr-BE" dirty="0"/>
              <a:t>Les allocations sont payées </a:t>
            </a:r>
            <a:r>
              <a:rPr lang="fr-BE" b="1" dirty="0"/>
              <a:t>une fois par mois à </a:t>
            </a:r>
            <a:r>
              <a:rPr lang="fr-BE" b="1" dirty="0">
                <a:solidFill>
                  <a:schemeClr val="accent2">
                    <a:lumMod val="75000"/>
                  </a:schemeClr>
                </a:solidFill>
              </a:rPr>
              <a:t>terme échu</a:t>
            </a:r>
            <a:r>
              <a:rPr lang="fr-BE" b="1" dirty="0"/>
              <a:t>.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fr-BE" dirty="0"/>
              <a:t>Le paiement est effectué </a:t>
            </a:r>
            <a:r>
              <a:rPr lang="fr-BE" b="1" dirty="0"/>
              <a:t>au plus tard dans un délai  </a:t>
            </a:r>
            <a:r>
              <a:rPr lang="fr-BE" b="1" dirty="0">
                <a:solidFill>
                  <a:schemeClr val="accent2">
                    <a:lumMod val="75000"/>
                  </a:schemeClr>
                </a:solidFill>
              </a:rPr>
              <a:t>d'un mois</a:t>
            </a:r>
            <a:r>
              <a:rPr lang="fr-BE" b="1" dirty="0"/>
              <a:t>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fr-BE" dirty="0"/>
              <a:t>Le </a:t>
            </a:r>
            <a:r>
              <a:rPr lang="fr-BE" b="1" dirty="0"/>
              <a:t>dépassement</a:t>
            </a:r>
            <a:r>
              <a:rPr lang="fr-BE" dirty="0"/>
              <a:t> de ce délai de paiement peut entraîner </a:t>
            </a:r>
            <a:r>
              <a:rPr lang="fr-BE" b="1" dirty="0">
                <a:solidFill>
                  <a:schemeClr val="accent2">
                    <a:lumMod val="75000"/>
                  </a:schemeClr>
                </a:solidFill>
              </a:rPr>
              <a:t>l'octroi d'intérêts </a:t>
            </a:r>
            <a:r>
              <a:rPr lang="fr-BE" dirty="0"/>
              <a:t>en application de l'article 163bis, § 2 de l'AR</a:t>
            </a:r>
          </a:p>
          <a:p>
            <a:pPr marL="0" indent="0">
              <a:buNone/>
            </a:pPr>
            <a:endParaRPr lang="fr-BE" dirty="0"/>
          </a:p>
        </p:txBody>
      </p:sp>
      <p:sp>
        <p:nvSpPr>
          <p:cNvPr id="47" name="Espace réservé du numéro de diapositive 4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55E9056B-6A30-4F99-BDE9-C450E66AE125}" type="slidenum">
              <a:rPr lang="fr-FR" smtClean="0"/>
              <a:pPr algn="ctr"/>
              <a:t>6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5591961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fr-BE" b="1" i="1" dirty="0"/>
              <a:t>Paiement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fr-BE" dirty="0"/>
              <a:t>Pour les paiements, on utilise </a:t>
            </a:r>
            <a:r>
              <a:rPr lang="fr-BE" b="1" u="sng" dirty="0"/>
              <a:t>2</a:t>
            </a:r>
            <a:r>
              <a:rPr lang="fr-BE" dirty="0"/>
              <a:t> dénominations courantes :</a:t>
            </a:r>
          </a:p>
          <a:p>
            <a:pPr marL="0" indent="0">
              <a:buNone/>
            </a:pPr>
            <a:endParaRPr lang="fr-BE" dirty="0"/>
          </a:p>
          <a:p>
            <a:pPr>
              <a:buFont typeface="Wingdings" panose="05000000000000000000" pitchFamily="2" charset="2"/>
              <a:buChar char="Ø"/>
            </a:pPr>
            <a:r>
              <a:rPr lang="fr-BE" dirty="0"/>
              <a:t> </a:t>
            </a:r>
            <a:r>
              <a:rPr lang="fr-BE" b="1" i="1" dirty="0"/>
              <a:t>"</a:t>
            </a:r>
            <a:r>
              <a:rPr lang="fr-BE" b="1" i="1" dirty="0">
                <a:solidFill>
                  <a:schemeClr val="accent2">
                    <a:lumMod val="75000"/>
                  </a:schemeClr>
                </a:solidFill>
              </a:rPr>
              <a:t>mois de référence</a:t>
            </a:r>
            <a:r>
              <a:rPr lang="fr-BE" b="1" i="1" dirty="0"/>
              <a:t>" </a:t>
            </a:r>
            <a:r>
              <a:rPr lang="fr-BE" dirty="0"/>
              <a:t>: le mois de chômage auquel le paiement se rapporte = </a:t>
            </a:r>
            <a:r>
              <a:rPr lang="fr-BE" b="1" dirty="0"/>
              <a:t>mois d’émargement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fr-BE" b="1" i="1" dirty="0"/>
              <a:t>"</a:t>
            </a:r>
            <a:r>
              <a:rPr lang="fr-BE" b="1" i="1" dirty="0">
                <a:solidFill>
                  <a:schemeClr val="accent2">
                    <a:lumMod val="75000"/>
                  </a:schemeClr>
                </a:solidFill>
              </a:rPr>
              <a:t>mois d'introduction</a:t>
            </a:r>
            <a:r>
              <a:rPr lang="fr-BE" b="1" i="1" dirty="0"/>
              <a:t>": </a:t>
            </a:r>
            <a:r>
              <a:rPr lang="fr-BE" dirty="0"/>
              <a:t>le mois au cours duquel l'organisme de paiement a effectué le paiement  =  </a:t>
            </a:r>
            <a:r>
              <a:rPr lang="fr-BE" b="1" dirty="0"/>
              <a:t>mois C10</a:t>
            </a:r>
            <a:r>
              <a:rPr lang="fr-BE" dirty="0"/>
              <a:t>.</a:t>
            </a:r>
          </a:p>
          <a:p>
            <a:endParaRPr lang="fr-BE" dirty="0"/>
          </a:p>
          <a:p>
            <a:endParaRPr lang="fr-BE" dirty="0"/>
          </a:p>
        </p:txBody>
      </p:sp>
      <p:sp>
        <p:nvSpPr>
          <p:cNvPr id="47" name="Espace réservé du numéro de diapositive 4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55E9056B-6A30-4F99-BDE9-C450E66AE125}" type="slidenum">
              <a:rPr lang="fr-FR" smtClean="0"/>
              <a:pPr algn="ctr"/>
              <a:t>7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7209752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fr-BE" b="1" i="1" dirty="0"/>
              <a:t>Paiement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fr-BE" dirty="0"/>
              <a:t>L‘OP regroupe dans des fichiers de données  "C10" les dépenses effectuées au cours d'un mois.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fr-BE" dirty="0"/>
              <a:t>L‘OP transmet les fichiers de données C10 à </a:t>
            </a:r>
            <a:r>
              <a:rPr lang="fr-BE" b="1" dirty="0"/>
              <a:t>l'Administration centrale </a:t>
            </a:r>
            <a:r>
              <a:rPr lang="fr-BE" dirty="0"/>
              <a:t>de l'Office contre accusé de réception.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fr-BE" dirty="0"/>
              <a:t>Cette introduction s'effectue </a:t>
            </a:r>
            <a:r>
              <a:rPr lang="fr-BE" b="1" dirty="0">
                <a:solidFill>
                  <a:schemeClr val="accent2">
                    <a:lumMod val="75000"/>
                  </a:schemeClr>
                </a:solidFill>
              </a:rPr>
              <a:t>au plus tard le vingt du mois calendrier qui suit le mois d'introduction</a:t>
            </a:r>
          </a:p>
        </p:txBody>
      </p:sp>
      <p:sp>
        <p:nvSpPr>
          <p:cNvPr id="47" name="Espace réservé du numéro de diapositive 4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55E9056B-6A30-4F99-BDE9-C450E66AE125}" type="slidenum">
              <a:rPr lang="fr-FR" smtClean="0"/>
              <a:pPr algn="ctr"/>
              <a:t>8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0680249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fr-BE" b="1" i="1" dirty="0"/>
              <a:t>Paiement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fr-BE" sz="3000" dirty="0"/>
              <a:t>Les données relatives aux paiements effectués par les organismes financiers agissant sur ordre de l’OP sont regroupées dans des fichiers de données "OF". </a:t>
            </a:r>
          </a:p>
          <a:p>
            <a:r>
              <a:rPr lang="fr-BE" sz="3000" dirty="0"/>
              <a:t>L’</a:t>
            </a:r>
            <a:r>
              <a:rPr lang="fr-BE" sz="3000" b="1" dirty="0"/>
              <a:t>O</a:t>
            </a:r>
            <a:r>
              <a:rPr lang="fr-BE" sz="3000" dirty="0"/>
              <a:t>rganisme </a:t>
            </a:r>
            <a:r>
              <a:rPr lang="fr-BE" sz="3000" b="1" dirty="0"/>
              <a:t>F</a:t>
            </a:r>
            <a:r>
              <a:rPr lang="fr-BE" sz="3000" dirty="0"/>
              <a:t>inancier transmet ces fichiers de données à l’AC </a:t>
            </a:r>
            <a:r>
              <a:rPr lang="fr-BE" sz="3000" b="1" dirty="0"/>
              <a:t>au plus tard le </a:t>
            </a:r>
            <a:r>
              <a:rPr lang="fr-BE" sz="3000" b="1" dirty="0">
                <a:solidFill>
                  <a:schemeClr val="accent2">
                    <a:lumMod val="75000"/>
                  </a:schemeClr>
                </a:solidFill>
              </a:rPr>
              <a:t>quinzième jour </a:t>
            </a:r>
            <a:r>
              <a:rPr lang="fr-BE" sz="3000" b="1" dirty="0"/>
              <a:t>calendrier du </a:t>
            </a:r>
            <a:r>
              <a:rPr lang="fr-BE" sz="3000" b="1" dirty="0">
                <a:solidFill>
                  <a:schemeClr val="accent2">
                    <a:lumMod val="75000"/>
                  </a:schemeClr>
                </a:solidFill>
              </a:rPr>
              <a:t>troisième mois calendrier qui suit </a:t>
            </a:r>
            <a:r>
              <a:rPr lang="fr-BE" sz="3000" b="1" dirty="0"/>
              <a:t>le mois d'introduction.</a:t>
            </a:r>
          </a:p>
          <a:p>
            <a:r>
              <a:rPr lang="fr-BE" sz="3000" dirty="0"/>
              <a:t>Dans ce </a:t>
            </a:r>
            <a:r>
              <a:rPr lang="fr-BE" sz="3000" b="1" dirty="0"/>
              <a:t>même délai </a:t>
            </a:r>
            <a:r>
              <a:rPr lang="fr-BE" sz="3000" dirty="0"/>
              <a:t>les documents de paiement doivent être </a:t>
            </a:r>
            <a:r>
              <a:rPr lang="fr-BE" sz="3000" b="1" dirty="0"/>
              <a:t>introduits au BC compétent</a:t>
            </a:r>
            <a:r>
              <a:rPr lang="fr-BE" sz="3000" dirty="0"/>
              <a:t>.</a:t>
            </a:r>
          </a:p>
          <a:p>
            <a:endParaRPr lang="fr-BE" dirty="0"/>
          </a:p>
        </p:txBody>
      </p:sp>
      <p:sp>
        <p:nvSpPr>
          <p:cNvPr id="47" name="Espace réservé du numéro de diapositive 4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55E9056B-6A30-4F99-BDE9-C450E66AE125}" type="slidenum">
              <a:rPr lang="fr-FR" smtClean="0"/>
              <a:pPr algn="ctr"/>
              <a:t>9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916732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fr-BE" b="1" i="1" dirty="0"/>
              <a:t>Paiement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57200" y="1417638"/>
            <a:ext cx="8229600" cy="503569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BE" b="1" u="sng" dirty="0"/>
              <a:t>Délai de prescription de l’action de paiement </a:t>
            </a:r>
            <a:r>
              <a:rPr lang="fr-BE" b="1" dirty="0"/>
              <a:t>: </a:t>
            </a:r>
          </a:p>
          <a:p>
            <a:pPr marL="0" indent="0">
              <a:buNone/>
            </a:pPr>
            <a:endParaRPr lang="fr-BE" b="1" dirty="0"/>
          </a:p>
          <a:p>
            <a:pPr>
              <a:buFont typeface="Wingdings" panose="05000000000000000000" pitchFamily="2" charset="2"/>
              <a:buChar char="§"/>
            </a:pPr>
            <a:r>
              <a:rPr lang="fr-BE" sz="3000" dirty="0"/>
              <a:t>Le chômeur qui n'a pas perçu les allocations qui lui sont dues dispose, pour en réclamer le paiement, d’un certain délai appelé « </a:t>
            </a:r>
            <a:r>
              <a:rPr lang="fr-BE" sz="3000" b="1" dirty="0">
                <a:solidFill>
                  <a:schemeClr val="accent2">
                    <a:lumMod val="75000"/>
                  </a:schemeClr>
                </a:solidFill>
              </a:rPr>
              <a:t>délai de prescription</a:t>
            </a:r>
            <a:r>
              <a:rPr lang="fr-BE" sz="3000" b="1" dirty="0"/>
              <a:t> </a:t>
            </a:r>
            <a:r>
              <a:rPr lang="fr-BE" sz="3000" dirty="0"/>
              <a:t>»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fr-BE" sz="3000" dirty="0"/>
              <a:t>L'organisme de paiement du chômeur dispose du </a:t>
            </a:r>
            <a:r>
              <a:rPr lang="fr-BE" sz="3000" b="1" dirty="0">
                <a:solidFill>
                  <a:schemeClr val="accent2">
                    <a:lumMod val="75000"/>
                  </a:schemeClr>
                </a:solidFill>
              </a:rPr>
              <a:t>même délai </a:t>
            </a:r>
            <a:r>
              <a:rPr lang="fr-BE" sz="3000" dirty="0"/>
              <a:t>pour effectuer le paiement des allocations dues au chômeur.</a:t>
            </a:r>
          </a:p>
          <a:p>
            <a:pPr marL="971550" lvl="1" indent="-514350">
              <a:buFont typeface="+mj-lt"/>
              <a:buAutoNum type="arabicPeriod"/>
            </a:pPr>
            <a:endParaRPr lang="fr-BE" sz="2600" dirty="0"/>
          </a:p>
          <a:p>
            <a:endParaRPr lang="fr-BE" dirty="0"/>
          </a:p>
        </p:txBody>
      </p:sp>
      <p:sp>
        <p:nvSpPr>
          <p:cNvPr id="47" name="Espace réservé du numéro de diapositive 4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55E9056B-6A30-4F99-BDE9-C450E66AE125}" type="slidenum">
              <a:rPr lang="fr-FR" smtClean="0"/>
              <a:pPr algn="ctr"/>
              <a:t>10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1613356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fr-BE" b="1" i="1" dirty="0"/>
              <a:t>Paiement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fr-BE" sz="3000" dirty="0"/>
              <a:t>L'action en paiement d'allocations de chômage se prescrit par trois ans ce qui signifie que le chômeur a </a:t>
            </a:r>
            <a:r>
              <a:rPr lang="fr-BE" sz="3000" b="1" dirty="0"/>
              <a:t>un délai de </a:t>
            </a:r>
            <a:r>
              <a:rPr lang="fr-BE" sz="3000" b="1" dirty="0">
                <a:solidFill>
                  <a:schemeClr val="accent2">
                    <a:lumMod val="75000"/>
                  </a:schemeClr>
                </a:solidFill>
              </a:rPr>
              <a:t>3 ans </a:t>
            </a:r>
            <a:r>
              <a:rPr lang="fr-BE" sz="3000" b="1" dirty="0"/>
              <a:t>pour réclamer son paiement</a:t>
            </a:r>
            <a:r>
              <a:rPr lang="fr-BE" sz="3000" dirty="0"/>
              <a:t>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fr-BE" sz="3000" dirty="0"/>
              <a:t>Le délai de prescription de trois ans prend cours </a:t>
            </a:r>
            <a:r>
              <a:rPr lang="fr-BE" sz="3000" b="1" dirty="0">
                <a:solidFill>
                  <a:schemeClr val="accent2">
                    <a:lumMod val="75000"/>
                  </a:schemeClr>
                </a:solidFill>
              </a:rPr>
              <a:t>le 1er jour du trimestre civil qui suit </a:t>
            </a:r>
            <a:r>
              <a:rPr lang="fr-BE" sz="3000" dirty="0"/>
              <a:t>celui auquel les allocations se rapportent.</a:t>
            </a:r>
          </a:p>
          <a:p>
            <a:pPr marL="457200" lvl="1" indent="0">
              <a:buNone/>
            </a:pPr>
            <a:r>
              <a:rPr lang="fr-BE" sz="3000" dirty="0"/>
              <a:t> </a:t>
            </a:r>
          </a:p>
          <a:p>
            <a:endParaRPr lang="fr-BE" dirty="0"/>
          </a:p>
        </p:txBody>
      </p:sp>
      <p:sp>
        <p:nvSpPr>
          <p:cNvPr id="47" name="Espace réservé du numéro de diapositive 4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55E9056B-6A30-4F99-BDE9-C450E66AE125}" type="slidenum">
              <a:rPr lang="fr-FR" smtClean="0"/>
              <a:pPr algn="ctr"/>
              <a:t>11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439015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fr-BE" b="1" i="1" dirty="0"/>
              <a:t>Paiement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57150" indent="0">
              <a:buNone/>
            </a:pPr>
            <a:r>
              <a:rPr lang="fr-BE" b="1" u="sng" dirty="0"/>
              <a:t>Interruption de la prescription</a:t>
            </a:r>
          </a:p>
          <a:p>
            <a:pPr marL="457200" lvl="1" indent="0">
              <a:buNone/>
            </a:pPr>
            <a:endParaRPr lang="fr-BE" u="sng" dirty="0"/>
          </a:p>
          <a:p>
            <a:pPr>
              <a:buFont typeface="Wingdings" panose="05000000000000000000" pitchFamily="2" charset="2"/>
              <a:buChar char="§"/>
            </a:pPr>
            <a:r>
              <a:rPr lang="fr-BE" dirty="0"/>
              <a:t>Le délai de prescription </a:t>
            </a:r>
            <a:r>
              <a:rPr lang="fr-BE" b="1" dirty="0"/>
              <a:t>peut être interrompu </a:t>
            </a:r>
            <a:r>
              <a:rPr lang="fr-BE" dirty="0"/>
              <a:t>par lettre recommandée : </a:t>
            </a:r>
            <a:r>
              <a:rPr lang="fr-BE" b="1" dirty="0">
                <a:solidFill>
                  <a:schemeClr val="accent2">
                    <a:lumMod val="75000"/>
                  </a:schemeClr>
                </a:solidFill>
              </a:rPr>
              <a:t>nouveau délai de 3 ans</a:t>
            </a:r>
            <a:r>
              <a:rPr lang="fr-BE" dirty="0"/>
              <a:t> à partir du lendemain.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fr-BE" dirty="0"/>
              <a:t>Autres modes d’interruption du code civil : citation en Justice, reconnaissance du droit par l’</a:t>
            </a:r>
            <a:r>
              <a:rPr lang="fr-BE" dirty="0" err="1"/>
              <a:t>Onem</a:t>
            </a:r>
            <a:r>
              <a:rPr lang="fr-BE" dirty="0"/>
              <a:t>, commandement par huissier d’une décision,..</a:t>
            </a:r>
          </a:p>
          <a:p>
            <a:pPr lvl="1">
              <a:buFontTx/>
              <a:buChar char="-"/>
            </a:pPr>
            <a:endParaRPr lang="fr-BE" dirty="0"/>
          </a:p>
          <a:p>
            <a:pPr lvl="1">
              <a:buFontTx/>
              <a:buChar char="-"/>
            </a:pPr>
            <a:endParaRPr lang="fr-BE" dirty="0"/>
          </a:p>
        </p:txBody>
      </p:sp>
      <p:sp>
        <p:nvSpPr>
          <p:cNvPr id="47" name="Espace réservé du numéro de diapositive 4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55E9056B-6A30-4F99-BDE9-C450E66AE125}" type="slidenum">
              <a:rPr lang="fr-FR" smtClean="0"/>
              <a:pPr algn="ctr"/>
              <a:t>12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836999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re 5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fr-BE" sz="5000" b="1" i="1" dirty="0"/>
              <a:t>2.  Procédure de Vérification</a:t>
            </a:r>
          </a:p>
        </p:txBody>
      </p:sp>
      <p:sp>
        <p:nvSpPr>
          <p:cNvPr id="7" name="Sous-titre 6"/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endParaRPr lang="fr-BE" dirty="0"/>
          </a:p>
          <a:p>
            <a:endParaRPr lang="fr-BE" dirty="0"/>
          </a:p>
          <a:p>
            <a:r>
              <a:rPr lang="fr-BE" sz="4000" b="1" i="1" dirty="0">
                <a:solidFill>
                  <a:schemeClr val="tx1"/>
                </a:solidFill>
              </a:rPr>
              <a:t>Art </a:t>
            </a:r>
            <a:r>
              <a:rPr lang="fr-BE" sz="4000" b="1" i="1" dirty="0">
                <a:solidFill>
                  <a:schemeClr val="accent2">
                    <a:lumMod val="75000"/>
                  </a:schemeClr>
                </a:solidFill>
              </a:rPr>
              <a:t>164</a:t>
            </a:r>
            <a:r>
              <a:rPr lang="fr-BE" sz="4000" b="1" i="1" dirty="0">
                <a:solidFill>
                  <a:schemeClr val="tx1"/>
                </a:solidFill>
              </a:rPr>
              <a:t> à </a:t>
            </a:r>
            <a:r>
              <a:rPr lang="fr-BE" sz="4000" b="1" i="1" dirty="0">
                <a:solidFill>
                  <a:schemeClr val="accent2">
                    <a:lumMod val="75000"/>
                  </a:schemeClr>
                </a:solidFill>
              </a:rPr>
              <a:t>168Bis</a:t>
            </a:r>
            <a:r>
              <a:rPr lang="fr-BE" sz="4000" b="1" i="1" dirty="0">
                <a:solidFill>
                  <a:schemeClr val="tx1"/>
                </a:solidFill>
              </a:rPr>
              <a:t> </a:t>
            </a:r>
          </a:p>
        </p:txBody>
      </p:sp>
      <p:sp>
        <p:nvSpPr>
          <p:cNvPr id="47" name="Espace réservé du numéro de diapositive 4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55E9056B-6A30-4F99-BDE9-C450E66AE125}" type="slidenum">
              <a:rPr lang="fr-FR" smtClean="0"/>
              <a:pPr algn="ctr"/>
              <a:t>13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79971891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fr-BE" b="1" i="1" dirty="0"/>
              <a:t>Procédure de Vérification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fr-FR" dirty="0"/>
              <a:t>Les paiements effectués par l’OP sont </a:t>
            </a:r>
            <a:r>
              <a:rPr lang="fr-FR" b="1" dirty="0">
                <a:solidFill>
                  <a:schemeClr val="accent2">
                    <a:lumMod val="75000"/>
                  </a:schemeClr>
                </a:solidFill>
              </a:rPr>
              <a:t>vérifiés</a:t>
            </a:r>
            <a:r>
              <a:rPr lang="fr-FR" dirty="0"/>
              <a:t> par l’</a:t>
            </a:r>
            <a:r>
              <a:rPr lang="fr-FR" dirty="0" err="1"/>
              <a:t>Onem</a:t>
            </a:r>
            <a:r>
              <a:rPr lang="fr-FR" dirty="0"/>
              <a:t>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fr-FR" dirty="0"/>
              <a:t>Celui-ci nous transmet le résultat de cette vérification par voie électronique.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fr-FR" dirty="0"/>
              <a:t>La procédure de vérification </a:t>
            </a:r>
            <a:r>
              <a:rPr lang="fr-FR" b="1" dirty="0"/>
              <a:t>doit respecter les </a:t>
            </a:r>
            <a:r>
              <a:rPr lang="fr-FR" b="1" dirty="0">
                <a:solidFill>
                  <a:schemeClr val="accent2">
                    <a:lumMod val="75000"/>
                  </a:schemeClr>
                </a:solidFill>
              </a:rPr>
              <a:t>délais imposés</a:t>
            </a:r>
            <a:r>
              <a:rPr lang="fr-FR" b="1" dirty="0"/>
              <a:t>.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fr-BE" dirty="0"/>
              <a:t>l’</a:t>
            </a:r>
            <a:r>
              <a:rPr lang="fr-BE" dirty="0" err="1"/>
              <a:t>ONEm</a:t>
            </a:r>
            <a:r>
              <a:rPr lang="fr-BE" dirty="0"/>
              <a:t> peut </a:t>
            </a:r>
            <a:r>
              <a:rPr lang="fr-BE" b="1" dirty="0">
                <a:solidFill>
                  <a:schemeClr val="accent2">
                    <a:lumMod val="75000"/>
                  </a:schemeClr>
                </a:solidFill>
              </a:rPr>
              <a:t>refuser</a:t>
            </a:r>
            <a:r>
              <a:rPr lang="fr-BE" dirty="0"/>
              <a:t> certains de nos paiements pour différents motifs</a:t>
            </a:r>
          </a:p>
        </p:txBody>
      </p:sp>
      <p:sp>
        <p:nvSpPr>
          <p:cNvPr id="47" name="Espace réservé du numéro de diapositive 4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55E9056B-6A30-4F99-BDE9-C450E66AE125}" type="slidenum">
              <a:rPr lang="fr-FR" smtClean="0"/>
              <a:pPr algn="ctr"/>
              <a:t>14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7867665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3002EB0-3753-41E3-8C29-7FA8278EBF0E}"/>
              </a:ext>
            </a:extLst>
          </p:cNvPr>
          <p:cNvSpPr/>
          <p:nvPr/>
        </p:nvSpPr>
        <p:spPr>
          <a:xfrm>
            <a:off x="755576" y="3140968"/>
            <a:ext cx="7632848" cy="1728192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BE"/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fr-BE" b="1" i="1" dirty="0"/>
              <a:t>Procédure de Vérification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57200" y="1610953"/>
            <a:ext cx="8229600" cy="4525963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fr-FR" dirty="0"/>
              <a:t>Le résultat de cette vérification de l’</a:t>
            </a:r>
            <a:r>
              <a:rPr lang="fr-FR" dirty="0" err="1"/>
              <a:t>Onem</a:t>
            </a:r>
            <a:r>
              <a:rPr lang="fr-FR" dirty="0"/>
              <a:t> nous est transmis par voie électronique sous forme de </a:t>
            </a:r>
            <a:r>
              <a:rPr lang="fr-FR" b="1" dirty="0"/>
              <a:t>C12</a:t>
            </a:r>
            <a:r>
              <a:rPr lang="fr-FR" dirty="0"/>
              <a:t>, </a:t>
            </a:r>
            <a:r>
              <a:rPr lang="fr-FR" b="1" dirty="0"/>
              <a:t>C13</a:t>
            </a:r>
            <a:r>
              <a:rPr lang="fr-FR" dirty="0"/>
              <a:t> et </a:t>
            </a:r>
            <a:r>
              <a:rPr lang="fr-FR" b="1" dirty="0"/>
              <a:t>C14</a:t>
            </a:r>
            <a:r>
              <a:rPr lang="fr-FR" dirty="0"/>
              <a:t>: 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fr-FR" sz="3000" b="1" dirty="0"/>
              <a:t>C12</a:t>
            </a:r>
            <a:r>
              <a:rPr lang="fr-FR" sz="3000" dirty="0"/>
              <a:t> = paiement </a:t>
            </a:r>
            <a:r>
              <a:rPr lang="fr-FR" sz="3000" b="1" dirty="0">
                <a:solidFill>
                  <a:schemeClr val="accent2">
                    <a:lumMod val="75000"/>
                  </a:schemeClr>
                </a:solidFill>
              </a:rPr>
              <a:t>éliminé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fr-FR" sz="3000" b="1" dirty="0"/>
              <a:t>C13</a:t>
            </a:r>
            <a:r>
              <a:rPr lang="fr-FR" sz="3000" dirty="0"/>
              <a:t> = paiement </a:t>
            </a:r>
            <a:r>
              <a:rPr lang="fr-FR" sz="3000" b="1" dirty="0">
                <a:solidFill>
                  <a:schemeClr val="accent2">
                    <a:lumMod val="75000"/>
                  </a:schemeClr>
                </a:solidFill>
              </a:rPr>
              <a:t>rejeté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fr-FR" sz="3000" b="1" dirty="0"/>
              <a:t>C14</a:t>
            </a:r>
            <a:r>
              <a:rPr lang="fr-FR" sz="3000" dirty="0"/>
              <a:t> = proposition de </a:t>
            </a:r>
            <a:r>
              <a:rPr lang="fr-FR" sz="3000" b="1" dirty="0">
                <a:solidFill>
                  <a:schemeClr val="accent2">
                    <a:lumMod val="75000"/>
                  </a:schemeClr>
                </a:solidFill>
              </a:rPr>
              <a:t>complément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fr-BE" dirty="0"/>
              <a:t>Ceux-ci sont convertis en tâches dans Horizon.</a:t>
            </a:r>
          </a:p>
          <a:p>
            <a:endParaRPr lang="fr-BE" dirty="0"/>
          </a:p>
          <a:p>
            <a:endParaRPr lang="fr-BE" dirty="0"/>
          </a:p>
        </p:txBody>
      </p:sp>
      <p:sp>
        <p:nvSpPr>
          <p:cNvPr id="47" name="Espace réservé du numéro de diapositive 4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55E9056B-6A30-4F99-BDE9-C450E66AE125}" type="slidenum">
              <a:rPr lang="fr-FR" smtClean="0"/>
              <a:pPr algn="ctr"/>
              <a:t>15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4159747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3" grpId="0" uiExpand="1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43F6378-8840-4ADC-896E-DC88F5CF1FC2}"/>
              </a:ext>
            </a:extLst>
          </p:cNvPr>
          <p:cNvSpPr/>
          <p:nvPr/>
        </p:nvSpPr>
        <p:spPr>
          <a:xfrm>
            <a:off x="539552" y="3140968"/>
            <a:ext cx="8064896" cy="2376264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BE"/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fr-BE" b="1" i="1" dirty="0"/>
              <a:t>Procédure de Vérification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74848" y="1624012"/>
            <a:ext cx="8229600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BE" dirty="0"/>
              <a:t>Pour situer globalement les différentes étapes de la vérification, un paiement chômage peut être :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fr-BE" dirty="0"/>
              <a:t> </a:t>
            </a:r>
            <a:r>
              <a:rPr lang="fr-BE" sz="3000" b="1" dirty="0"/>
              <a:t>accepté 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fr-BE" sz="3000" dirty="0"/>
              <a:t> totalement ou partiellement </a:t>
            </a:r>
            <a:r>
              <a:rPr lang="fr-BE" sz="3000" b="1" dirty="0"/>
              <a:t>éliminé</a:t>
            </a:r>
            <a:r>
              <a:rPr lang="fr-BE" sz="3000" dirty="0"/>
              <a:t> = </a:t>
            </a:r>
            <a:r>
              <a:rPr lang="fr-BE" sz="3000" b="1" dirty="0">
                <a:solidFill>
                  <a:schemeClr val="accent2">
                    <a:lumMod val="75000"/>
                  </a:schemeClr>
                </a:solidFill>
              </a:rPr>
              <a:t>C12</a:t>
            </a:r>
            <a:r>
              <a:rPr lang="fr-BE" sz="3000" dirty="0"/>
              <a:t> </a:t>
            </a:r>
          </a:p>
          <a:p>
            <a:pPr marL="457200" lvl="1" indent="0">
              <a:buNone/>
            </a:pPr>
            <a:r>
              <a:rPr lang="fr-BE" sz="3000" dirty="0"/>
              <a:t>pour des raisons liées à une discordance entre nos données et celles de l’</a:t>
            </a:r>
            <a:r>
              <a:rPr lang="fr-BE" sz="3000" dirty="0" err="1"/>
              <a:t>ONEm</a:t>
            </a:r>
            <a:endParaRPr lang="fr-BE" sz="3000" dirty="0"/>
          </a:p>
        </p:txBody>
      </p:sp>
      <p:sp>
        <p:nvSpPr>
          <p:cNvPr id="47" name="Espace réservé du numéro de diapositive 4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55E9056B-6A30-4F99-BDE9-C450E66AE125}" type="slidenum">
              <a:rPr lang="fr-FR" smtClean="0"/>
              <a:pPr algn="ctr"/>
              <a:t>16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0577204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3" grpId="0" uiExpand="1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FF23A962-4A59-4580-873A-3E7DC44D69A6}"/>
              </a:ext>
            </a:extLst>
          </p:cNvPr>
          <p:cNvSpPr/>
          <p:nvPr/>
        </p:nvSpPr>
        <p:spPr>
          <a:xfrm>
            <a:off x="611560" y="3068960"/>
            <a:ext cx="8229600" cy="2620888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BE"/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fr-BE" b="1" i="1" dirty="0"/>
              <a:t>Procédure de Vérification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57200" y="1628800"/>
            <a:ext cx="8229600" cy="4525963"/>
          </a:xfrm>
        </p:spPr>
        <p:txBody>
          <a:bodyPr>
            <a:normAutofit/>
          </a:bodyPr>
          <a:lstStyle/>
          <a:p>
            <a:pPr marL="57150" indent="0">
              <a:buNone/>
            </a:pPr>
            <a:r>
              <a:rPr lang="fr-BE" dirty="0"/>
              <a:t>Un paiement accepté </a:t>
            </a:r>
            <a:r>
              <a:rPr lang="fr-BE" i="1" dirty="0"/>
              <a:t>(pas de C12) </a:t>
            </a:r>
            <a:r>
              <a:rPr lang="fr-BE" dirty="0"/>
              <a:t>peut être ensuite : 	</a:t>
            </a:r>
          </a:p>
          <a:p>
            <a:pPr marL="57150" indent="0">
              <a:buNone/>
            </a:pPr>
            <a:endParaRPr lang="fr-BE" dirty="0"/>
          </a:p>
          <a:p>
            <a:pPr marL="914400" lvl="1" indent="-457200">
              <a:buFont typeface="Wingdings" panose="05000000000000000000" pitchFamily="2" charset="2"/>
              <a:buChar char="Ø"/>
            </a:pPr>
            <a:r>
              <a:rPr lang="fr-BE" sz="3000" b="1" dirty="0">
                <a:solidFill>
                  <a:schemeClr val="accent2">
                    <a:lumMod val="75000"/>
                  </a:schemeClr>
                </a:solidFill>
              </a:rPr>
              <a:t>approuvé</a:t>
            </a:r>
            <a:r>
              <a:rPr lang="fr-BE" sz="3000" dirty="0"/>
              <a:t> totalement </a:t>
            </a:r>
          </a:p>
          <a:p>
            <a:pPr marL="914400" lvl="1" indent="-457200">
              <a:buFont typeface="Wingdings" panose="05000000000000000000" pitchFamily="2" charset="2"/>
              <a:buChar char="Ø"/>
            </a:pPr>
            <a:r>
              <a:rPr lang="fr-BE" sz="3000" b="1" dirty="0">
                <a:solidFill>
                  <a:schemeClr val="accent2">
                    <a:lumMod val="75000"/>
                  </a:schemeClr>
                </a:solidFill>
              </a:rPr>
              <a:t>rejeté</a:t>
            </a:r>
            <a:r>
              <a:rPr lang="fr-BE" sz="3000" dirty="0"/>
              <a:t> partiellement ou totalement (</a:t>
            </a:r>
            <a:r>
              <a:rPr lang="fr-BE" sz="3000" b="1" dirty="0">
                <a:solidFill>
                  <a:schemeClr val="accent2">
                    <a:lumMod val="75000"/>
                  </a:schemeClr>
                </a:solidFill>
              </a:rPr>
              <a:t>C13</a:t>
            </a:r>
            <a:r>
              <a:rPr lang="fr-BE" sz="3000" dirty="0"/>
              <a:t>) </a:t>
            </a:r>
          </a:p>
          <a:p>
            <a:pPr marL="914400" lvl="1" indent="-457200">
              <a:buFont typeface="Wingdings" panose="05000000000000000000" pitchFamily="2" charset="2"/>
              <a:buChar char="Ø"/>
            </a:pPr>
            <a:r>
              <a:rPr lang="fr-BE" sz="3000" dirty="0"/>
              <a:t>faire l’objet d’une proposition de </a:t>
            </a:r>
            <a:r>
              <a:rPr lang="fr-BE" sz="3000" b="1" dirty="0">
                <a:solidFill>
                  <a:schemeClr val="accent2">
                    <a:lumMod val="75000"/>
                  </a:schemeClr>
                </a:solidFill>
              </a:rPr>
              <a:t>complément</a:t>
            </a:r>
            <a:r>
              <a:rPr lang="fr-BE" sz="3000" dirty="0"/>
              <a:t>  (</a:t>
            </a:r>
            <a:r>
              <a:rPr lang="fr-BE" sz="3000" b="1" dirty="0">
                <a:solidFill>
                  <a:schemeClr val="accent2">
                    <a:lumMod val="75000"/>
                  </a:schemeClr>
                </a:solidFill>
              </a:rPr>
              <a:t>C14</a:t>
            </a:r>
            <a:r>
              <a:rPr lang="fr-BE" sz="3000" dirty="0"/>
              <a:t>). </a:t>
            </a:r>
          </a:p>
          <a:p>
            <a:pPr marL="457200" lvl="1" indent="0">
              <a:buNone/>
            </a:pPr>
            <a:endParaRPr lang="fr-BE" sz="3000" dirty="0"/>
          </a:p>
          <a:p>
            <a:endParaRPr lang="fr-BE" dirty="0"/>
          </a:p>
        </p:txBody>
      </p:sp>
      <p:sp>
        <p:nvSpPr>
          <p:cNvPr id="47" name="Espace réservé du numéro de diapositive 4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55E9056B-6A30-4F99-BDE9-C450E66AE125}" type="slidenum">
              <a:rPr lang="fr-FR" smtClean="0"/>
              <a:pPr algn="ctr"/>
              <a:t>17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5497751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fr-BE" b="1" i="1" dirty="0"/>
              <a:t>Procédure de Vérification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57200" y="1916832"/>
            <a:ext cx="8229600" cy="420933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BE" dirty="0"/>
              <a:t>Les différentes étapes du cheminement d’un paiement entre O.P. et ONEm montrent comment les </a:t>
            </a:r>
            <a:r>
              <a:rPr lang="fr-BE" b="1" dirty="0">
                <a:solidFill>
                  <a:schemeClr val="accent2">
                    <a:lumMod val="75000"/>
                  </a:schemeClr>
                </a:solidFill>
              </a:rPr>
              <a:t>contrôles</a:t>
            </a:r>
            <a:r>
              <a:rPr lang="fr-BE" dirty="0"/>
              <a:t> sont effectués, ainsi que l’importance (respect des délais) de traiter le plus </a:t>
            </a:r>
            <a:r>
              <a:rPr lang="fr-BE" b="1" dirty="0">
                <a:solidFill>
                  <a:schemeClr val="accent2">
                    <a:lumMod val="75000"/>
                  </a:schemeClr>
                </a:solidFill>
              </a:rPr>
              <a:t>correctement</a:t>
            </a:r>
            <a:r>
              <a:rPr lang="fr-BE" dirty="0"/>
              <a:t> et le plus </a:t>
            </a:r>
            <a:r>
              <a:rPr lang="fr-BE" b="1" dirty="0">
                <a:solidFill>
                  <a:schemeClr val="accent2">
                    <a:lumMod val="75000"/>
                  </a:schemeClr>
                </a:solidFill>
              </a:rPr>
              <a:t>complètement</a:t>
            </a:r>
            <a:r>
              <a:rPr lang="fr-BE" dirty="0"/>
              <a:t> possible les propositions de la Vérification </a:t>
            </a:r>
            <a:r>
              <a:rPr lang="fr-BE" b="1" dirty="0">
                <a:solidFill>
                  <a:schemeClr val="accent2">
                    <a:lumMod val="75000"/>
                  </a:schemeClr>
                </a:solidFill>
              </a:rPr>
              <a:t>dès la première réception.</a:t>
            </a:r>
          </a:p>
        </p:txBody>
      </p:sp>
      <p:sp>
        <p:nvSpPr>
          <p:cNvPr id="47" name="Espace réservé du numéro de diapositive 4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55E9056B-6A30-4F99-BDE9-C450E66AE125}" type="slidenum">
              <a:rPr lang="fr-FR" smtClean="0"/>
              <a:pPr algn="ctr"/>
              <a:t>18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1153194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Rectangle 38">
            <a:extLst>
              <a:ext uri="{FF2B5EF4-FFF2-40B4-BE49-F238E27FC236}">
                <a16:creationId xmlns:a16="http://schemas.microsoft.com/office/drawing/2014/main" id="{7A5AA130-069A-42C3-B93C-00D0657D66F1}"/>
              </a:ext>
            </a:extLst>
          </p:cNvPr>
          <p:cNvSpPr/>
          <p:nvPr/>
        </p:nvSpPr>
        <p:spPr>
          <a:xfrm>
            <a:off x="5394855" y="5864469"/>
            <a:ext cx="576064" cy="369327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9525"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BE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1BC15709-3D47-44CE-A425-D6A6B913F64D}"/>
              </a:ext>
            </a:extLst>
          </p:cNvPr>
          <p:cNvSpPr/>
          <p:nvPr/>
        </p:nvSpPr>
        <p:spPr>
          <a:xfrm>
            <a:off x="4319972" y="5864494"/>
            <a:ext cx="576064" cy="369307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9525"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BE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66061558-7B3A-4B49-A8BB-07C7880D3720}"/>
              </a:ext>
            </a:extLst>
          </p:cNvPr>
          <p:cNvSpPr/>
          <p:nvPr/>
        </p:nvSpPr>
        <p:spPr>
          <a:xfrm>
            <a:off x="2987824" y="5864494"/>
            <a:ext cx="576064" cy="357161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9525"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BE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FAA9A219-0A8D-4563-98A2-F024E71CA80D}"/>
              </a:ext>
            </a:extLst>
          </p:cNvPr>
          <p:cNvSpPr/>
          <p:nvPr/>
        </p:nvSpPr>
        <p:spPr>
          <a:xfrm>
            <a:off x="2051720" y="5864498"/>
            <a:ext cx="437285" cy="369328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9525"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BE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26412980-B314-4128-8F09-A9B42C984B14}"/>
              </a:ext>
            </a:extLst>
          </p:cNvPr>
          <p:cNvSpPr/>
          <p:nvPr/>
        </p:nvSpPr>
        <p:spPr>
          <a:xfrm>
            <a:off x="5669702" y="4409881"/>
            <a:ext cx="576064" cy="369331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9525"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BE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A5341043-ABCC-4FC6-BEB9-8844BE37B819}"/>
              </a:ext>
            </a:extLst>
          </p:cNvPr>
          <p:cNvSpPr/>
          <p:nvPr/>
        </p:nvSpPr>
        <p:spPr>
          <a:xfrm>
            <a:off x="4597152" y="4401030"/>
            <a:ext cx="576064" cy="36933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9525"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BE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296AC145-B4CE-4808-AACD-A841727369F4}"/>
              </a:ext>
            </a:extLst>
          </p:cNvPr>
          <p:cNvSpPr/>
          <p:nvPr/>
        </p:nvSpPr>
        <p:spPr>
          <a:xfrm>
            <a:off x="2987824" y="4400272"/>
            <a:ext cx="1332148" cy="388948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9525"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BE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8257515D-0DCD-41FC-8761-83CAE9346B13}"/>
              </a:ext>
            </a:extLst>
          </p:cNvPr>
          <p:cNvSpPr/>
          <p:nvPr/>
        </p:nvSpPr>
        <p:spPr>
          <a:xfrm>
            <a:off x="2322172" y="4400257"/>
            <a:ext cx="576064" cy="388963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9525"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BE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471B9DB3-5F7B-401A-8FC7-978831BC67A9}"/>
              </a:ext>
            </a:extLst>
          </p:cNvPr>
          <p:cNvSpPr/>
          <p:nvPr/>
        </p:nvSpPr>
        <p:spPr>
          <a:xfrm>
            <a:off x="1665710" y="4408490"/>
            <a:ext cx="576064" cy="36187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9525"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BE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358F5185-E4E3-4CAF-A404-47FB49CB4E67}"/>
              </a:ext>
            </a:extLst>
          </p:cNvPr>
          <p:cNvSpPr/>
          <p:nvPr/>
        </p:nvSpPr>
        <p:spPr>
          <a:xfrm>
            <a:off x="6854756" y="2837637"/>
            <a:ext cx="576064" cy="388957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9525"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BE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12F59715-E954-4775-8B8E-59F60C0C27E4}"/>
              </a:ext>
            </a:extLst>
          </p:cNvPr>
          <p:cNvSpPr/>
          <p:nvPr/>
        </p:nvSpPr>
        <p:spPr>
          <a:xfrm>
            <a:off x="4579911" y="2835346"/>
            <a:ext cx="576064" cy="369326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9525"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BE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60D48E3E-66E3-4A33-A7E0-2FC981E77F37}"/>
              </a:ext>
            </a:extLst>
          </p:cNvPr>
          <p:cNvSpPr/>
          <p:nvPr/>
        </p:nvSpPr>
        <p:spPr>
          <a:xfrm>
            <a:off x="2555776" y="2829557"/>
            <a:ext cx="576064" cy="36933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9525"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BE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FC0D616-626C-4266-9807-DB935CD25254}"/>
              </a:ext>
            </a:extLst>
          </p:cNvPr>
          <p:cNvSpPr/>
          <p:nvPr/>
        </p:nvSpPr>
        <p:spPr>
          <a:xfrm>
            <a:off x="3851920" y="1228690"/>
            <a:ext cx="1440160" cy="400109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BE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EF3C617B-BCEF-4484-A4DE-91678DD160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fr-BE" b="1" i="1" dirty="0"/>
              <a:t>Procédure de Vérification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59FF4F37-AE37-47D7-96F5-BF013915DE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19</a:t>
            </a:fld>
            <a:endParaRPr lang="fr-FR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97B11EC2-8044-466D-A2F1-202D94B53DF4}"/>
              </a:ext>
            </a:extLst>
          </p:cNvPr>
          <p:cNvSpPr txBox="1"/>
          <p:nvPr/>
        </p:nvSpPr>
        <p:spPr>
          <a:xfrm>
            <a:off x="3995936" y="1232972"/>
            <a:ext cx="23762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BE" sz="2000" b="1" dirty="0"/>
              <a:t>Paiement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796CC3F7-9D2C-4F55-971A-D6346EFF2A14}"/>
              </a:ext>
            </a:extLst>
          </p:cNvPr>
          <p:cNvSpPr txBox="1"/>
          <p:nvPr/>
        </p:nvSpPr>
        <p:spPr>
          <a:xfrm>
            <a:off x="395536" y="1844824"/>
            <a:ext cx="16561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BE" dirty="0"/>
              <a:t>VERIF 1</a:t>
            </a:r>
          </a:p>
          <a:p>
            <a:r>
              <a:rPr lang="fr-BE" dirty="0"/>
              <a:t>Rejets Phase 1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7A7E7FB9-9AFA-481C-8C92-91470E8E1FE4}"/>
              </a:ext>
            </a:extLst>
          </p:cNvPr>
          <p:cNvSpPr txBox="1"/>
          <p:nvPr/>
        </p:nvSpPr>
        <p:spPr>
          <a:xfrm>
            <a:off x="395536" y="3240662"/>
            <a:ext cx="16561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BE" dirty="0"/>
              <a:t>DISC 1</a:t>
            </a:r>
          </a:p>
          <a:p>
            <a:r>
              <a:rPr lang="fr-BE" dirty="0"/>
              <a:t>Rejets Phase 2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D45148A7-C168-4B97-80EA-7B0CD1401A71}"/>
              </a:ext>
            </a:extLst>
          </p:cNvPr>
          <p:cNvSpPr txBox="1"/>
          <p:nvPr/>
        </p:nvSpPr>
        <p:spPr>
          <a:xfrm>
            <a:off x="429816" y="4941168"/>
            <a:ext cx="16561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BE" dirty="0"/>
              <a:t>DISC 2</a:t>
            </a:r>
          </a:p>
          <a:p>
            <a:r>
              <a:rPr lang="fr-BE" dirty="0"/>
              <a:t>Rejets Phase 3</a:t>
            </a:r>
          </a:p>
        </p:txBody>
      </p:sp>
      <p:cxnSp>
        <p:nvCxnSpPr>
          <p:cNvPr id="10" name="Connecteur droit 9">
            <a:extLst>
              <a:ext uri="{FF2B5EF4-FFF2-40B4-BE49-F238E27FC236}">
                <a16:creationId xmlns:a16="http://schemas.microsoft.com/office/drawing/2014/main" id="{319BF6DC-14A3-4124-8236-8D402377C26D}"/>
              </a:ext>
            </a:extLst>
          </p:cNvPr>
          <p:cNvCxnSpPr>
            <a:cxnSpLocks/>
          </p:cNvCxnSpPr>
          <p:nvPr/>
        </p:nvCxnSpPr>
        <p:spPr>
          <a:xfrm>
            <a:off x="323528" y="2491155"/>
            <a:ext cx="8424936" cy="0"/>
          </a:xfrm>
          <a:prstGeom prst="line">
            <a:avLst/>
          </a:prstGeom>
          <a:ln w="38100" cap="flat" cmpd="sng" algn="ctr">
            <a:solidFill>
              <a:schemeClr val="accent3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2" name="Connecteur droit 11">
            <a:extLst>
              <a:ext uri="{FF2B5EF4-FFF2-40B4-BE49-F238E27FC236}">
                <a16:creationId xmlns:a16="http://schemas.microsoft.com/office/drawing/2014/main" id="{EBE9BC7C-9F20-489F-B010-A5AB38B8C584}"/>
              </a:ext>
            </a:extLst>
          </p:cNvPr>
          <p:cNvCxnSpPr>
            <a:cxnSpLocks/>
          </p:cNvCxnSpPr>
          <p:nvPr/>
        </p:nvCxnSpPr>
        <p:spPr>
          <a:xfrm>
            <a:off x="321161" y="3906618"/>
            <a:ext cx="8424936" cy="0"/>
          </a:xfrm>
          <a:prstGeom prst="line">
            <a:avLst/>
          </a:prstGeom>
          <a:ln w="38100" cap="flat" cmpd="sng" algn="ctr">
            <a:solidFill>
              <a:schemeClr val="accent3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3" name="Connecteur droit 12">
            <a:extLst>
              <a:ext uri="{FF2B5EF4-FFF2-40B4-BE49-F238E27FC236}">
                <a16:creationId xmlns:a16="http://schemas.microsoft.com/office/drawing/2014/main" id="{5703446C-BC94-4744-B98F-153C5AD50A85}"/>
              </a:ext>
            </a:extLst>
          </p:cNvPr>
          <p:cNvCxnSpPr>
            <a:cxnSpLocks/>
          </p:cNvCxnSpPr>
          <p:nvPr/>
        </p:nvCxnSpPr>
        <p:spPr>
          <a:xfrm>
            <a:off x="359532" y="5587499"/>
            <a:ext cx="8424936" cy="0"/>
          </a:xfrm>
          <a:prstGeom prst="line">
            <a:avLst/>
          </a:prstGeom>
          <a:ln w="38100" cap="flat" cmpd="sng" algn="ctr">
            <a:solidFill>
              <a:schemeClr val="accent3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5" name="ZoneTexte 14">
            <a:extLst>
              <a:ext uri="{FF2B5EF4-FFF2-40B4-BE49-F238E27FC236}">
                <a16:creationId xmlns:a16="http://schemas.microsoft.com/office/drawing/2014/main" id="{C8534C0E-467A-40C5-9346-1D6DF20D3DA3}"/>
              </a:ext>
            </a:extLst>
          </p:cNvPr>
          <p:cNvSpPr txBox="1"/>
          <p:nvPr/>
        </p:nvSpPr>
        <p:spPr>
          <a:xfrm>
            <a:off x="2562064" y="2831119"/>
            <a:ext cx="5760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BE" dirty="0"/>
              <a:t>C12</a:t>
            </a:r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AE47E23C-4DCE-4752-863F-C90E59D15A1E}"/>
              </a:ext>
            </a:extLst>
          </p:cNvPr>
          <p:cNvSpPr txBox="1"/>
          <p:nvPr/>
        </p:nvSpPr>
        <p:spPr>
          <a:xfrm>
            <a:off x="6864695" y="2834922"/>
            <a:ext cx="5760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BE" dirty="0"/>
              <a:t>C14</a:t>
            </a:r>
          </a:p>
        </p:txBody>
      </p:sp>
      <p:sp>
        <p:nvSpPr>
          <p:cNvPr id="18" name="ZoneTexte 17">
            <a:extLst>
              <a:ext uri="{FF2B5EF4-FFF2-40B4-BE49-F238E27FC236}">
                <a16:creationId xmlns:a16="http://schemas.microsoft.com/office/drawing/2014/main" id="{F4F6693D-8BDA-450A-B906-E2B4418F179F}"/>
              </a:ext>
            </a:extLst>
          </p:cNvPr>
          <p:cNvSpPr txBox="1"/>
          <p:nvPr/>
        </p:nvSpPr>
        <p:spPr>
          <a:xfrm>
            <a:off x="2987824" y="4419888"/>
            <a:ext cx="13321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BE" dirty="0"/>
              <a:t>C12 </a:t>
            </a:r>
            <a:r>
              <a:rPr lang="fr-BE" sz="1600" dirty="0"/>
              <a:t>Définitifs</a:t>
            </a:r>
          </a:p>
        </p:txBody>
      </p:sp>
      <p:sp>
        <p:nvSpPr>
          <p:cNvPr id="19" name="ZoneTexte 18">
            <a:extLst>
              <a:ext uri="{FF2B5EF4-FFF2-40B4-BE49-F238E27FC236}">
                <a16:creationId xmlns:a16="http://schemas.microsoft.com/office/drawing/2014/main" id="{AC7B639F-A0EB-40E2-9295-191767D61B46}"/>
              </a:ext>
            </a:extLst>
          </p:cNvPr>
          <p:cNvSpPr txBox="1"/>
          <p:nvPr/>
        </p:nvSpPr>
        <p:spPr>
          <a:xfrm>
            <a:off x="2322172" y="4409682"/>
            <a:ext cx="5760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BE" dirty="0"/>
              <a:t>C13</a:t>
            </a:r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D17347A5-C4C2-4EF6-B125-6CAED505F0D2}"/>
              </a:ext>
            </a:extLst>
          </p:cNvPr>
          <p:cNvSpPr txBox="1"/>
          <p:nvPr/>
        </p:nvSpPr>
        <p:spPr>
          <a:xfrm>
            <a:off x="1656520" y="4408494"/>
            <a:ext cx="5760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BE" dirty="0"/>
              <a:t>C14</a:t>
            </a:r>
          </a:p>
        </p:txBody>
      </p:sp>
      <p:sp>
        <p:nvSpPr>
          <p:cNvPr id="21" name="ZoneTexte 20">
            <a:extLst>
              <a:ext uri="{FF2B5EF4-FFF2-40B4-BE49-F238E27FC236}">
                <a16:creationId xmlns:a16="http://schemas.microsoft.com/office/drawing/2014/main" id="{E9D4022D-4B68-4CAC-8E18-C5253AE36820}"/>
              </a:ext>
            </a:extLst>
          </p:cNvPr>
          <p:cNvSpPr txBox="1"/>
          <p:nvPr/>
        </p:nvSpPr>
        <p:spPr>
          <a:xfrm>
            <a:off x="4608004" y="4409163"/>
            <a:ext cx="5760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BE" dirty="0"/>
              <a:t>C13</a:t>
            </a:r>
          </a:p>
        </p:txBody>
      </p:sp>
      <p:sp>
        <p:nvSpPr>
          <p:cNvPr id="22" name="ZoneTexte 21">
            <a:extLst>
              <a:ext uri="{FF2B5EF4-FFF2-40B4-BE49-F238E27FC236}">
                <a16:creationId xmlns:a16="http://schemas.microsoft.com/office/drawing/2014/main" id="{E6174FCC-62F3-4D4A-924D-49F5A992DC41}"/>
              </a:ext>
            </a:extLst>
          </p:cNvPr>
          <p:cNvSpPr txBox="1"/>
          <p:nvPr/>
        </p:nvSpPr>
        <p:spPr>
          <a:xfrm>
            <a:off x="1979712" y="5864498"/>
            <a:ext cx="5760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BE" dirty="0"/>
              <a:t>C13</a:t>
            </a:r>
          </a:p>
        </p:txBody>
      </p:sp>
      <p:sp>
        <p:nvSpPr>
          <p:cNvPr id="23" name="ZoneTexte 22">
            <a:extLst>
              <a:ext uri="{FF2B5EF4-FFF2-40B4-BE49-F238E27FC236}">
                <a16:creationId xmlns:a16="http://schemas.microsoft.com/office/drawing/2014/main" id="{A56A146B-EDD3-4123-A5A2-A3165E288241}"/>
              </a:ext>
            </a:extLst>
          </p:cNvPr>
          <p:cNvSpPr txBox="1"/>
          <p:nvPr/>
        </p:nvSpPr>
        <p:spPr>
          <a:xfrm>
            <a:off x="4319972" y="5864469"/>
            <a:ext cx="5760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BE" dirty="0"/>
              <a:t>C13</a:t>
            </a:r>
          </a:p>
        </p:txBody>
      </p:sp>
      <p:sp>
        <p:nvSpPr>
          <p:cNvPr id="24" name="ZoneTexte 23">
            <a:extLst>
              <a:ext uri="{FF2B5EF4-FFF2-40B4-BE49-F238E27FC236}">
                <a16:creationId xmlns:a16="http://schemas.microsoft.com/office/drawing/2014/main" id="{CDC58975-D926-470D-8F8D-B8F1796B6CB7}"/>
              </a:ext>
            </a:extLst>
          </p:cNvPr>
          <p:cNvSpPr txBox="1"/>
          <p:nvPr/>
        </p:nvSpPr>
        <p:spPr>
          <a:xfrm>
            <a:off x="5680554" y="4400257"/>
            <a:ext cx="5760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BE" dirty="0"/>
              <a:t>C14</a:t>
            </a:r>
          </a:p>
        </p:txBody>
      </p:sp>
      <p:sp>
        <p:nvSpPr>
          <p:cNvPr id="25" name="ZoneTexte 24">
            <a:extLst>
              <a:ext uri="{FF2B5EF4-FFF2-40B4-BE49-F238E27FC236}">
                <a16:creationId xmlns:a16="http://schemas.microsoft.com/office/drawing/2014/main" id="{63D8D8D2-E301-42D8-AF40-90EB3C99D6EA}"/>
              </a:ext>
            </a:extLst>
          </p:cNvPr>
          <p:cNvSpPr txBox="1"/>
          <p:nvPr/>
        </p:nvSpPr>
        <p:spPr>
          <a:xfrm>
            <a:off x="2987824" y="5864498"/>
            <a:ext cx="5760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BE" dirty="0"/>
              <a:t>C14</a:t>
            </a:r>
          </a:p>
        </p:txBody>
      </p:sp>
      <p:sp>
        <p:nvSpPr>
          <p:cNvPr id="26" name="ZoneTexte 25">
            <a:extLst>
              <a:ext uri="{FF2B5EF4-FFF2-40B4-BE49-F238E27FC236}">
                <a16:creationId xmlns:a16="http://schemas.microsoft.com/office/drawing/2014/main" id="{AFCB32DD-3978-4705-B111-26BC8CB394DB}"/>
              </a:ext>
            </a:extLst>
          </p:cNvPr>
          <p:cNvSpPr txBox="1"/>
          <p:nvPr/>
        </p:nvSpPr>
        <p:spPr>
          <a:xfrm>
            <a:off x="5394855" y="5864498"/>
            <a:ext cx="5760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BE" dirty="0"/>
              <a:t>C14</a:t>
            </a:r>
          </a:p>
        </p:txBody>
      </p:sp>
      <p:sp>
        <p:nvSpPr>
          <p:cNvPr id="30" name="ZoneTexte 29">
            <a:extLst>
              <a:ext uri="{FF2B5EF4-FFF2-40B4-BE49-F238E27FC236}">
                <a16:creationId xmlns:a16="http://schemas.microsoft.com/office/drawing/2014/main" id="{2AEA71AB-5DA2-47DA-8E09-C9518538673E}"/>
              </a:ext>
            </a:extLst>
          </p:cNvPr>
          <p:cNvSpPr txBox="1"/>
          <p:nvPr/>
        </p:nvSpPr>
        <p:spPr>
          <a:xfrm>
            <a:off x="4589850" y="2847450"/>
            <a:ext cx="5760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BE" dirty="0"/>
              <a:t>C13</a:t>
            </a:r>
          </a:p>
        </p:txBody>
      </p:sp>
      <p:cxnSp>
        <p:nvCxnSpPr>
          <p:cNvPr id="41" name="Connecteur droit avec flèche 40">
            <a:extLst>
              <a:ext uri="{FF2B5EF4-FFF2-40B4-BE49-F238E27FC236}">
                <a16:creationId xmlns:a16="http://schemas.microsoft.com/office/drawing/2014/main" id="{E14A56DA-658F-43B8-A6D1-1F79E7F98183}"/>
              </a:ext>
            </a:extLst>
          </p:cNvPr>
          <p:cNvCxnSpPr>
            <a:cxnSpLocks/>
          </p:cNvCxnSpPr>
          <p:nvPr/>
        </p:nvCxnSpPr>
        <p:spPr>
          <a:xfrm flipH="1">
            <a:off x="3131840" y="1719853"/>
            <a:ext cx="864096" cy="985395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45" name="Connecteur droit avec flèche 44">
            <a:extLst>
              <a:ext uri="{FF2B5EF4-FFF2-40B4-BE49-F238E27FC236}">
                <a16:creationId xmlns:a16="http://schemas.microsoft.com/office/drawing/2014/main" id="{A5C3A596-6F85-41E1-B83E-A6D85F96E3C0}"/>
              </a:ext>
            </a:extLst>
          </p:cNvPr>
          <p:cNvCxnSpPr/>
          <p:nvPr/>
        </p:nvCxnSpPr>
        <p:spPr>
          <a:xfrm>
            <a:off x="4788024" y="1756039"/>
            <a:ext cx="0" cy="957792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47" name="Connecteur droit avec flèche 46">
            <a:extLst>
              <a:ext uri="{FF2B5EF4-FFF2-40B4-BE49-F238E27FC236}">
                <a16:creationId xmlns:a16="http://schemas.microsoft.com/office/drawing/2014/main" id="{470EE267-A337-474E-BC15-D4EEB540F6C4}"/>
              </a:ext>
            </a:extLst>
          </p:cNvPr>
          <p:cNvCxnSpPr/>
          <p:nvPr/>
        </p:nvCxnSpPr>
        <p:spPr>
          <a:xfrm>
            <a:off x="5292080" y="1719853"/>
            <a:ext cx="1440160" cy="985395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49" name="Connecteur droit avec flèche 48">
            <a:extLst>
              <a:ext uri="{FF2B5EF4-FFF2-40B4-BE49-F238E27FC236}">
                <a16:creationId xmlns:a16="http://schemas.microsoft.com/office/drawing/2014/main" id="{3541465A-1DC0-41EB-865E-7DEC16F2C89F}"/>
              </a:ext>
            </a:extLst>
          </p:cNvPr>
          <p:cNvCxnSpPr/>
          <p:nvPr/>
        </p:nvCxnSpPr>
        <p:spPr>
          <a:xfrm flipH="1">
            <a:off x="1979712" y="3240662"/>
            <a:ext cx="630492" cy="1052434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51" name="Connecteur droit avec flèche 50">
            <a:extLst>
              <a:ext uri="{FF2B5EF4-FFF2-40B4-BE49-F238E27FC236}">
                <a16:creationId xmlns:a16="http://schemas.microsoft.com/office/drawing/2014/main" id="{DB5F52D3-3800-4511-99C2-1CD9AA2ADC89}"/>
              </a:ext>
            </a:extLst>
          </p:cNvPr>
          <p:cNvCxnSpPr/>
          <p:nvPr/>
        </p:nvCxnSpPr>
        <p:spPr>
          <a:xfrm flipH="1">
            <a:off x="2699792" y="3240662"/>
            <a:ext cx="72008" cy="1052434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53" name="Connecteur droit avec flèche 52">
            <a:extLst>
              <a:ext uri="{FF2B5EF4-FFF2-40B4-BE49-F238E27FC236}">
                <a16:creationId xmlns:a16="http://schemas.microsoft.com/office/drawing/2014/main" id="{60C9A6C6-C2E1-452B-A3A3-AC015B1B58DC}"/>
              </a:ext>
            </a:extLst>
          </p:cNvPr>
          <p:cNvCxnSpPr/>
          <p:nvPr/>
        </p:nvCxnSpPr>
        <p:spPr>
          <a:xfrm>
            <a:off x="3070988" y="3270240"/>
            <a:ext cx="288032" cy="1030638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55" name="Connecteur droit avec flèche 54">
            <a:extLst>
              <a:ext uri="{FF2B5EF4-FFF2-40B4-BE49-F238E27FC236}">
                <a16:creationId xmlns:a16="http://schemas.microsoft.com/office/drawing/2014/main" id="{7E81D384-87EF-41EE-A80A-0BA8A056CCE9}"/>
              </a:ext>
            </a:extLst>
          </p:cNvPr>
          <p:cNvCxnSpPr/>
          <p:nvPr/>
        </p:nvCxnSpPr>
        <p:spPr>
          <a:xfrm>
            <a:off x="4867943" y="3262458"/>
            <a:ext cx="0" cy="1030638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57" name="Connecteur droit avec flèche 56">
            <a:extLst>
              <a:ext uri="{FF2B5EF4-FFF2-40B4-BE49-F238E27FC236}">
                <a16:creationId xmlns:a16="http://schemas.microsoft.com/office/drawing/2014/main" id="{A1D19CE9-CD51-47CC-87DB-518B4F6D5DBE}"/>
              </a:ext>
            </a:extLst>
          </p:cNvPr>
          <p:cNvCxnSpPr/>
          <p:nvPr/>
        </p:nvCxnSpPr>
        <p:spPr>
          <a:xfrm>
            <a:off x="5155975" y="3262458"/>
            <a:ext cx="640161" cy="1030638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59" name="Connecteur droit avec flèche 58">
            <a:extLst>
              <a:ext uri="{FF2B5EF4-FFF2-40B4-BE49-F238E27FC236}">
                <a16:creationId xmlns:a16="http://schemas.microsoft.com/office/drawing/2014/main" id="{5FDF7B01-F3DC-487F-BF72-0D1828A38125}"/>
              </a:ext>
            </a:extLst>
          </p:cNvPr>
          <p:cNvCxnSpPr/>
          <p:nvPr/>
        </p:nvCxnSpPr>
        <p:spPr>
          <a:xfrm flipH="1">
            <a:off x="2294958" y="4877523"/>
            <a:ext cx="260818" cy="924068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61" name="Connecteur droit avec flèche 60">
            <a:extLst>
              <a:ext uri="{FF2B5EF4-FFF2-40B4-BE49-F238E27FC236}">
                <a16:creationId xmlns:a16="http://schemas.microsoft.com/office/drawing/2014/main" id="{04708F7A-2696-42CF-907A-FCB2E2BB7354}"/>
              </a:ext>
            </a:extLst>
          </p:cNvPr>
          <p:cNvCxnSpPr/>
          <p:nvPr/>
        </p:nvCxnSpPr>
        <p:spPr>
          <a:xfrm>
            <a:off x="2735796" y="4896381"/>
            <a:ext cx="540060" cy="875413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63" name="Connecteur droit avec flèche 62">
            <a:extLst>
              <a:ext uri="{FF2B5EF4-FFF2-40B4-BE49-F238E27FC236}">
                <a16:creationId xmlns:a16="http://schemas.microsoft.com/office/drawing/2014/main" id="{3CD94896-41C3-4D0C-8D4C-AFCF54E4099D}"/>
              </a:ext>
            </a:extLst>
          </p:cNvPr>
          <p:cNvCxnSpPr/>
          <p:nvPr/>
        </p:nvCxnSpPr>
        <p:spPr>
          <a:xfrm flipH="1">
            <a:off x="4608004" y="4877523"/>
            <a:ext cx="180020" cy="894271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65" name="Connecteur droit avec flèche 64">
            <a:extLst>
              <a:ext uri="{FF2B5EF4-FFF2-40B4-BE49-F238E27FC236}">
                <a16:creationId xmlns:a16="http://schemas.microsoft.com/office/drawing/2014/main" id="{302479D5-DED5-47A1-AB96-025FD73CA26A}"/>
              </a:ext>
            </a:extLst>
          </p:cNvPr>
          <p:cNvCxnSpPr/>
          <p:nvPr/>
        </p:nvCxnSpPr>
        <p:spPr>
          <a:xfrm>
            <a:off x="5004048" y="4877523"/>
            <a:ext cx="576064" cy="894271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1063624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fr-BE" b="1" i="1" dirty="0"/>
              <a:t>Procédure de Vérification</a:t>
            </a:r>
          </a:p>
        </p:txBody>
      </p:sp>
      <p:sp>
        <p:nvSpPr>
          <p:cNvPr id="47" name="Espace réservé du numéro de diapositive 4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55E9056B-6A30-4F99-BDE9-C450E66AE125}" type="slidenum">
              <a:rPr lang="fr-FR" smtClean="0"/>
              <a:pPr algn="ctr"/>
              <a:t>20</a:t>
            </a:fld>
            <a:endParaRPr lang="fr-FR" dirty="0"/>
          </a:p>
        </p:txBody>
      </p:sp>
      <p:graphicFrame>
        <p:nvGraphicFramePr>
          <p:cNvPr id="6" name="Tableau 6">
            <a:extLst>
              <a:ext uri="{FF2B5EF4-FFF2-40B4-BE49-F238E27FC236}">
                <a16:creationId xmlns:a16="http://schemas.microsoft.com/office/drawing/2014/main" id="{247DB158-1AC1-4493-8A84-AF6E960590C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44909907"/>
              </p:ext>
            </p:extLst>
          </p:nvPr>
        </p:nvGraphicFramePr>
        <p:xfrm>
          <a:off x="215516" y="1268760"/>
          <a:ext cx="8712968" cy="5535528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2178242">
                  <a:extLst>
                    <a:ext uri="{9D8B030D-6E8A-4147-A177-3AD203B41FA5}">
                      <a16:colId xmlns:a16="http://schemas.microsoft.com/office/drawing/2014/main" val="850110964"/>
                    </a:ext>
                  </a:extLst>
                </a:gridCol>
                <a:gridCol w="1890210">
                  <a:extLst>
                    <a:ext uri="{9D8B030D-6E8A-4147-A177-3AD203B41FA5}">
                      <a16:colId xmlns:a16="http://schemas.microsoft.com/office/drawing/2014/main" val="810871075"/>
                    </a:ext>
                  </a:extLst>
                </a:gridCol>
                <a:gridCol w="2052228">
                  <a:extLst>
                    <a:ext uri="{9D8B030D-6E8A-4147-A177-3AD203B41FA5}">
                      <a16:colId xmlns:a16="http://schemas.microsoft.com/office/drawing/2014/main" val="2687900148"/>
                    </a:ext>
                  </a:extLst>
                </a:gridCol>
                <a:gridCol w="2592288">
                  <a:extLst>
                    <a:ext uri="{9D8B030D-6E8A-4147-A177-3AD203B41FA5}">
                      <a16:colId xmlns:a16="http://schemas.microsoft.com/office/drawing/2014/main" val="824684632"/>
                    </a:ext>
                  </a:extLst>
                </a:gridCol>
              </a:tblGrid>
              <a:tr h="447824">
                <a:tc>
                  <a:txBody>
                    <a:bodyPr/>
                    <a:lstStyle/>
                    <a:p>
                      <a:pPr algn="ctr"/>
                      <a:r>
                        <a:rPr lang="fr-BE" dirty="0"/>
                        <a:t>CHEMINEMENT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BE" dirty="0"/>
                        <a:t>DELAIS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BE" dirty="0"/>
                        <a:t>TYPES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BE" dirty="0"/>
                        <a:t>RESULTATS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42472050"/>
                  </a:ext>
                </a:extLst>
              </a:tr>
              <a:tr h="48828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fr-BE" b="1" dirty="0"/>
                        <a:t>Intro. Dépenses</a:t>
                      </a:r>
                    </a:p>
                  </a:txBody>
                  <a:tcP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fr-BE" dirty="0"/>
                        <a:t>2 mois ½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B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B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23464704"/>
                  </a:ext>
                </a:extLst>
              </a:tr>
              <a:tr h="576064">
                <a:tc>
                  <a:txBody>
                    <a:bodyPr/>
                    <a:lstStyle/>
                    <a:p>
                      <a:pPr algn="ctr"/>
                      <a:r>
                        <a:rPr lang="fr-BE" b="1" dirty="0"/>
                        <a:t>Première vérification</a:t>
                      </a:r>
                    </a:p>
                  </a:txBody>
                  <a:tcP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fr-BE" dirty="0"/>
                        <a:t>2 mois ½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BE" sz="1500" dirty="0"/>
                        <a:t>C12-C13-C14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B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2673060"/>
                  </a:ext>
                </a:extLst>
              </a:tr>
              <a:tr h="708479">
                <a:tc>
                  <a:txBody>
                    <a:bodyPr/>
                    <a:lstStyle/>
                    <a:p>
                      <a:pPr algn="ctr"/>
                      <a:r>
                        <a:rPr lang="fr-BE" b="1" dirty="0"/>
                        <a:t>Traitement par l’OP</a:t>
                      </a:r>
                    </a:p>
                  </a:txBody>
                  <a:tcP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fr-BE" dirty="0"/>
                        <a:t>4 mois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BE" sz="1500" dirty="0"/>
                        <a:t>C12 Phase 1</a:t>
                      </a:r>
                    </a:p>
                    <a:p>
                      <a:r>
                        <a:rPr lang="fr-BE" sz="1500" dirty="0"/>
                        <a:t>C13 Phase 1</a:t>
                      </a:r>
                    </a:p>
                    <a:p>
                      <a:r>
                        <a:rPr lang="fr-BE" sz="1500" dirty="0"/>
                        <a:t>C14 Phase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BE" sz="1500" dirty="0"/>
                        <a:t>REINTRO ou RECUP (C64)</a:t>
                      </a:r>
                    </a:p>
                    <a:p>
                      <a:r>
                        <a:rPr lang="fr-BE" sz="1500" dirty="0"/>
                        <a:t>REINTRO (Rappel) ou C64</a:t>
                      </a:r>
                    </a:p>
                    <a:p>
                      <a:r>
                        <a:rPr lang="fr-BE" sz="1500" dirty="0"/>
                        <a:t>CPLT PAYE ou REFUSE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4863073"/>
                  </a:ext>
                </a:extLst>
              </a:tr>
              <a:tr h="708479">
                <a:tc>
                  <a:txBody>
                    <a:bodyPr/>
                    <a:lstStyle/>
                    <a:p>
                      <a:pPr algn="ctr"/>
                      <a:r>
                        <a:rPr lang="fr-BE" b="1" dirty="0"/>
                        <a:t>Deuxième vérification</a:t>
                      </a:r>
                    </a:p>
                  </a:txBody>
                  <a:tcP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fr-BE" dirty="0"/>
                        <a:t>2 mois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BE" sz="1500" dirty="0"/>
                        <a:t>C12 Définitif</a:t>
                      </a:r>
                    </a:p>
                    <a:p>
                      <a:r>
                        <a:rPr lang="fr-BE" sz="1500" dirty="0"/>
                        <a:t>C13 ou C14/C12</a:t>
                      </a:r>
                    </a:p>
                    <a:p>
                      <a:r>
                        <a:rPr lang="fr-BE" sz="1500" dirty="0"/>
                        <a:t>C13 « DEFIN. »</a:t>
                      </a:r>
                    </a:p>
                    <a:p>
                      <a:r>
                        <a:rPr lang="fr-BE" sz="1500" dirty="0"/>
                        <a:t>C14/C13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BE" sz="15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20852675"/>
                  </a:ext>
                </a:extLst>
              </a:tr>
              <a:tr h="708479">
                <a:tc>
                  <a:txBody>
                    <a:bodyPr/>
                    <a:lstStyle/>
                    <a:p>
                      <a:pPr algn="ctr"/>
                      <a:r>
                        <a:rPr lang="fr-BE" b="1" dirty="0"/>
                        <a:t>Traitement par l’OP</a:t>
                      </a:r>
                    </a:p>
                    <a:p>
                      <a:pPr algn="ctr"/>
                      <a:endParaRPr lang="fr-BE" b="1" dirty="0"/>
                    </a:p>
                  </a:txBody>
                  <a:tcP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300000"/>
                        </a:lnSpc>
                      </a:pPr>
                      <a:r>
                        <a:rPr lang="fr-BE" dirty="0"/>
                        <a:t>1 mois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500" dirty="0"/>
                        <a:t>C12           Phase2</a:t>
                      </a:r>
                    </a:p>
                    <a:p>
                      <a:r>
                        <a:rPr lang="en-US" sz="1500" dirty="0"/>
                        <a:t>C13/C12  Phase2</a:t>
                      </a:r>
                    </a:p>
                    <a:p>
                      <a:r>
                        <a:rPr lang="en-US" sz="1500" dirty="0"/>
                        <a:t>C14/C12  Phase2</a:t>
                      </a:r>
                    </a:p>
                    <a:p>
                      <a:r>
                        <a:rPr lang="en-US" sz="1500" dirty="0"/>
                        <a:t> </a:t>
                      </a:r>
                    </a:p>
                    <a:p>
                      <a:r>
                        <a:rPr lang="en-US" sz="1500" dirty="0"/>
                        <a:t>C13           Phase2</a:t>
                      </a:r>
                    </a:p>
                    <a:p>
                      <a:r>
                        <a:rPr lang="en-US" sz="1500" dirty="0"/>
                        <a:t>C14/C13  Phase2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BE" sz="1500" dirty="0"/>
                        <a:t>RECUPERATION (C64)</a:t>
                      </a:r>
                    </a:p>
                    <a:p>
                      <a:r>
                        <a:rPr lang="fr-BE" sz="1500" dirty="0"/>
                        <a:t>REINTRO ou RECUP. (C64)</a:t>
                      </a:r>
                    </a:p>
                    <a:p>
                      <a:r>
                        <a:rPr lang="fr-BE" sz="1500" dirty="0"/>
                        <a:t>CPLT PAYE ou REFUSE</a:t>
                      </a:r>
                    </a:p>
                    <a:p>
                      <a:r>
                        <a:rPr lang="fr-BE" sz="1500" dirty="0"/>
                        <a:t> </a:t>
                      </a:r>
                    </a:p>
                    <a:p>
                      <a:r>
                        <a:rPr lang="fr-BE" sz="1500" dirty="0"/>
                        <a:t>REINTRO ou RECUP. (C64)</a:t>
                      </a:r>
                    </a:p>
                    <a:p>
                      <a:r>
                        <a:rPr lang="fr-BE" sz="1500" dirty="0"/>
                        <a:t>CPLT PAYE ou REFUSE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34945302"/>
                  </a:ext>
                </a:extLst>
              </a:tr>
              <a:tr h="708479">
                <a:tc>
                  <a:txBody>
                    <a:bodyPr/>
                    <a:lstStyle/>
                    <a:p>
                      <a:pPr algn="ctr"/>
                      <a:r>
                        <a:rPr lang="fr-BE" b="1" dirty="0"/>
                        <a:t>Troisième vérification</a:t>
                      </a:r>
                    </a:p>
                  </a:txBody>
                  <a:tcP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fr-BE" dirty="0"/>
                        <a:t>1 mois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BE" sz="1500" dirty="0"/>
                        <a:t>C13/C12         Phase3</a:t>
                      </a:r>
                    </a:p>
                    <a:p>
                      <a:r>
                        <a:rPr lang="fr-BE" sz="1500" dirty="0"/>
                        <a:t>C13 définitif  Phase3</a:t>
                      </a:r>
                    </a:p>
                    <a:p>
                      <a:r>
                        <a:rPr lang="fr-BE" sz="1500" dirty="0"/>
                        <a:t>C14 définitif  Phase3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BE" sz="1500" dirty="0"/>
                        <a:t>RECUPERATION (C64)</a:t>
                      </a:r>
                    </a:p>
                    <a:p>
                      <a:r>
                        <a:rPr lang="fr-BE" sz="1500" dirty="0"/>
                        <a:t>RECUPERATION (C64)</a:t>
                      </a:r>
                    </a:p>
                    <a:p>
                      <a:r>
                        <a:rPr lang="fr-BE" sz="1500" dirty="0"/>
                        <a:t>COMPLEMENTS A PAYER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982407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4995223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re 5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fr-BE" sz="5000" b="1" i="1" dirty="0"/>
              <a:t>3.  Récupération</a:t>
            </a:r>
          </a:p>
        </p:txBody>
      </p:sp>
      <p:sp>
        <p:nvSpPr>
          <p:cNvPr id="47" name="Espace réservé du numéro de diapositive 4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55E9056B-6A30-4F99-BDE9-C450E66AE125}" type="slidenum">
              <a:rPr lang="fr-FR" smtClean="0"/>
              <a:pPr algn="ctr"/>
              <a:t>21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50925361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fr-BE" b="1" i="1" dirty="0"/>
              <a:t>Récupération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 fontScale="40000" lnSpcReduction="20000"/>
          </a:bodyPr>
          <a:lstStyle/>
          <a:p>
            <a:pPr marL="0" indent="0">
              <a:buNone/>
            </a:pPr>
            <a:r>
              <a:rPr lang="fr-FR" sz="8600" dirty="0"/>
              <a:t>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fr-FR" sz="8000" dirty="0"/>
              <a:t>Une </a:t>
            </a:r>
            <a:r>
              <a:rPr lang="fr-FR" sz="8000" b="1" dirty="0">
                <a:solidFill>
                  <a:schemeClr val="accent2">
                    <a:lumMod val="50000"/>
                  </a:schemeClr>
                </a:solidFill>
              </a:rPr>
              <a:t>Récupération</a:t>
            </a:r>
            <a:r>
              <a:rPr lang="fr-FR" sz="8000" dirty="0"/>
              <a:t> nécessaire apparaît lorsqu'une </a:t>
            </a:r>
            <a:r>
              <a:rPr lang="fr-FR" sz="8000" b="1" dirty="0"/>
              <a:t>nouvelle version </a:t>
            </a:r>
            <a:r>
              <a:rPr lang="fr-FR" sz="8000" dirty="0"/>
              <a:t>de l’</a:t>
            </a:r>
            <a:r>
              <a:rPr lang="fr-FR" sz="8000" dirty="0" err="1"/>
              <a:t>indemnisabilité</a:t>
            </a:r>
            <a:r>
              <a:rPr lang="fr-FR" sz="8000" dirty="0"/>
              <a:t> est créée et génère un paiement d’un </a:t>
            </a:r>
            <a:r>
              <a:rPr lang="fr-FR" sz="8000" b="1" dirty="0">
                <a:solidFill>
                  <a:schemeClr val="accent2">
                    <a:lumMod val="50000"/>
                  </a:schemeClr>
                </a:solidFill>
              </a:rPr>
              <a:t>montant  inférieur </a:t>
            </a:r>
            <a:r>
              <a:rPr lang="fr-FR" sz="8000" dirty="0"/>
              <a:t>à celui de la version précédente.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fr-FR" sz="8000" dirty="0"/>
              <a:t>Une Récupération nécessaire est une proposition de récupération calculée par le système.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fr-FR" sz="7600" dirty="0"/>
              <a:t>Le montant payé initialement était trop élevé. </a:t>
            </a:r>
            <a:endParaRPr lang="fr-BE" sz="7600" dirty="0"/>
          </a:p>
          <a:p>
            <a:pPr marL="0" indent="0">
              <a:buNone/>
            </a:pPr>
            <a:endParaRPr lang="fr-BE" sz="8000" dirty="0"/>
          </a:p>
          <a:p>
            <a:endParaRPr lang="fr-BE" sz="8600" dirty="0"/>
          </a:p>
          <a:p>
            <a:pPr marL="0" indent="0">
              <a:buNone/>
            </a:pPr>
            <a:endParaRPr lang="fr-BE" sz="7000" dirty="0"/>
          </a:p>
          <a:p>
            <a:endParaRPr lang="fr-BE" dirty="0"/>
          </a:p>
        </p:txBody>
      </p:sp>
      <p:sp>
        <p:nvSpPr>
          <p:cNvPr id="47" name="Espace réservé du numéro de diapositive 4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55E9056B-6A30-4F99-BDE9-C450E66AE125}" type="slidenum">
              <a:rPr lang="fr-FR" smtClean="0"/>
              <a:pPr algn="ctr"/>
              <a:t>22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7558700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395536" y="0"/>
            <a:ext cx="8229600" cy="1143000"/>
          </a:xfrm>
        </p:spPr>
        <p:txBody>
          <a:bodyPr/>
          <a:lstStyle/>
          <a:p>
            <a:pPr algn="r"/>
            <a:r>
              <a:rPr lang="fr-BE" b="1" i="1" dirty="0"/>
              <a:t>Récupération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fr-FR" sz="6300" dirty="0"/>
              <a:t>Si cette récupération est </a:t>
            </a:r>
            <a:r>
              <a:rPr lang="fr-FR" sz="6300" b="1" dirty="0">
                <a:solidFill>
                  <a:schemeClr val="accent2">
                    <a:lumMod val="75000"/>
                  </a:schemeClr>
                </a:solidFill>
              </a:rPr>
              <a:t>justifiée</a:t>
            </a:r>
            <a:r>
              <a:rPr lang="fr-FR" sz="6300" dirty="0"/>
              <a:t>, nous réclamons le remboursement de l’indu au chômeur.</a:t>
            </a:r>
          </a:p>
          <a:p>
            <a:pPr marL="0" indent="0">
              <a:buNone/>
            </a:pPr>
            <a:endParaRPr lang="fr-BE" sz="6300" dirty="0"/>
          </a:p>
          <a:p>
            <a:pPr>
              <a:buFont typeface="Wingdings" panose="05000000000000000000" pitchFamily="2" charset="2"/>
              <a:buChar char="§"/>
            </a:pPr>
            <a:r>
              <a:rPr lang="fr-BE" sz="6300" dirty="0"/>
              <a:t>Il arrive que le chômeur déclare </a:t>
            </a:r>
            <a:r>
              <a:rPr lang="fr-BE" sz="6300" b="1" dirty="0">
                <a:solidFill>
                  <a:schemeClr val="accent2">
                    <a:lumMod val="75000"/>
                  </a:schemeClr>
                </a:solidFill>
              </a:rPr>
              <a:t>spontanément</a:t>
            </a:r>
            <a:r>
              <a:rPr lang="fr-BE" sz="6300" dirty="0"/>
              <a:t> qu’il a bénéficié d’un montant indu. Dans ce cas, il est possible pour l’</a:t>
            </a:r>
            <a:r>
              <a:rPr lang="fr-BE" sz="6300" dirty="0" err="1"/>
              <a:t>ONem</a:t>
            </a:r>
            <a:r>
              <a:rPr lang="fr-BE" sz="6300" dirty="0"/>
              <a:t> de récupérer ce montant sans audition du chômeur et sans appliquer une sanction 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fr-BE" sz="6300" dirty="0"/>
              <a:t>procédure</a:t>
            </a:r>
            <a:r>
              <a:rPr lang="fr-BE" sz="6700" dirty="0"/>
              <a:t> </a:t>
            </a:r>
            <a:r>
              <a:rPr lang="fr-BE" sz="6700" b="1" dirty="0">
                <a:solidFill>
                  <a:schemeClr val="accent2">
                    <a:lumMod val="75000"/>
                  </a:schemeClr>
                </a:solidFill>
              </a:rPr>
              <a:t>C144 B</a:t>
            </a:r>
            <a:endParaRPr lang="fr-FR" sz="7000" dirty="0"/>
          </a:p>
          <a:p>
            <a:pPr marL="0" indent="0">
              <a:buNone/>
            </a:pPr>
            <a:endParaRPr lang="fr-BE" sz="7000" dirty="0"/>
          </a:p>
          <a:p>
            <a:endParaRPr lang="fr-BE" sz="8600" dirty="0"/>
          </a:p>
          <a:p>
            <a:pPr marL="0" indent="0">
              <a:buNone/>
            </a:pPr>
            <a:endParaRPr lang="fr-BE" sz="7000" dirty="0"/>
          </a:p>
          <a:p>
            <a:endParaRPr lang="fr-BE" dirty="0"/>
          </a:p>
        </p:txBody>
      </p:sp>
      <p:sp>
        <p:nvSpPr>
          <p:cNvPr id="47" name="Espace réservé du numéro de diapositive 4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55E9056B-6A30-4F99-BDE9-C450E66AE125}" type="slidenum">
              <a:rPr lang="fr-FR" smtClean="0"/>
              <a:pPr algn="ctr"/>
              <a:t>23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4810078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fr-BE" b="1" i="1" dirty="0"/>
              <a:t>Récupération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fr-FR" dirty="0"/>
              <a:t>Lors du traitement du rejet C12 ou C13, deux possibilités de réponse pour l’</a:t>
            </a:r>
            <a:r>
              <a:rPr lang="fr-FR" dirty="0" err="1"/>
              <a:t>Onem</a:t>
            </a:r>
            <a:r>
              <a:rPr lang="fr-FR" dirty="0"/>
              <a:t> : </a:t>
            </a:r>
          </a:p>
          <a:p>
            <a:endParaRPr lang="fr-FR" sz="2800" dirty="0"/>
          </a:p>
          <a:p>
            <a:pPr lvl="1">
              <a:buFont typeface="Wingdings" panose="05000000000000000000" pitchFamily="2" charset="2"/>
              <a:buChar char="Ø"/>
            </a:pPr>
            <a:r>
              <a:rPr lang="fr-FR" dirty="0"/>
              <a:t> </a:t>
            </a:r>
            <a:r>
              <a:rPr lang="fr-FR" sz="3000" dirty="0"/>
              <a:t>soit on n’est </a:t>
            </a:r>
            <a:r>
              <a:rPr lang="fr-FR" sz="3000" b="1" dirty="0">
                <a:solidFill>
                  <a:schemeClr val="accent2">
                    <a:lumMod val="75000"/>
                  </a:schemeClr>
                </a:solidFill>
              </a:rPr>
              <a:t>pas d’accord </a:t>
            </a:r>
            <a:r>
              <a:rPr lang="fr-FR" sz="3000" dirty="0"/>
              <a:t>avec l’Onem et on réintroduit en joignant les pièces nécessaires</a:t>
            </a:r>
          </a:p>
          <a:p>
            <a:pPr lvl="1"/>
            <a:endParaRPr lang="fr-FR" sz="3000" dirty="0"/>
          </a:p>
          <a:p>
            <a:pPr lvl="1">
              <a:buFont typeface="Wingdings" panose="05000000000000000000" pitchFamily="2" charset="2"/>
              <a:buChar char="Ø"/>
            </a:pPr>
            <a:r>
              <a:rPr lang="fr-FR" sz="3000" dirty="0"/>
              <a:t> soit on est </a:t>
            </a:r>
            <a:r>
              <a:rPr lang="fr-FR" sz="3000" b="1" dirty="0">
                <a:solidFill>
                  <a:schemeClr val="accent2">
                    <a:lumMod val="75000"/>
                  </a:schemeClr>
                </a:solidFill>
              </a:rPr>
              <a:t>d’accord</a:t>
            </a:r>
            <a:r>
              <a:rPr lang="fr-FR" sz="3000" dirty="0"/>
              <a:t> avec l’</a:t>
            </a:r>
            <a:r>
              <a:rPr lang="fr-FR" sz="3000" dirty="0" err="1"/>
              <a:t>Onem</a:t>
            </a:r>
            <a:r>
              <a:rPr lang="fr-FR" sz="3000" dirty="0"/>
              <a:t> et nous créons une récupération nécessaire</a:t>
            </a:r>
            <a:r>
              <a:rPr lang="fr-FR" dirty="0"/>
              <a:t>. </a:t>
            </a:r>
          </a:p>
          <a:p>
            <a:endParaRPr lang="fr-BE" sz="8600" dirty="0"/>
          </a:p>
          <a:p>
            <a:pPr marL="0" indent="0">
              <a:buNone/>
            </a:pPr>
            <a:endParaRPr lang="fr-BE" sz="7000" dirty="0"/>
          </a:p>
          <a:p>
            <a:endParaRPr lang="fr-BE" sz="8600" dirty="0"/>
          </a:p>
          <a:p>
            <a:pPr marL="0" indent="0">
              <a:buNone/>
            </a:pPr>
            <a:endParaRPr lang="fr-BE" sz="7000" dirty="0"/>
          </a:p>
          <a:p>
            <a:endParaRPr lang="fr-BE" dirty="0"/>
          </a:p>
        </p:txBody>
      </p:sp>
      <p:sp>
        <p:nvSpPr>
          <p:cNvPr id="47" name="Espace réservé du numéro de diapositive 4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55E9056B-6A30-4F99-BDE9-C450E66AE125}" type="slidenum">
              <a:rPr lang="fr-FR" smtClean="0"/>
              <a:pPr algn="ctr"/>
              <a:t>24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5348930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fr-BE" b="1" i="1" dirty="0"/>
              <a:t>Récupération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fr-BE" dirty="0"/>
              <a:t>Lorsque le rejet est traité : la récupération devient une  « </a:t>
            </a:r>
            <a:r>
              <a:rPr lang="fr-BE" b="1" dirty="0">
                <a:solidFill>
                  <a:schemeClr val="accent2">
                    <a:lumMod val="75000"/>
                  </a:schemeClr>
                </a:solidFill>
              </a:rPr>
              <a:t>récupération nécessaire </a:t>
            </a:r>
            <a:r>
              <a:rPr lang="fr-BE" dirty="0"/>
              <a:t>»  et obtient un statut « </a:t>
            </a:r>
            <a:r>
              <a:rPr lang="fr-BE" b="1" dirty="0">
                <a:solidFill>
                  <a:schemeClr val="accent2">
                    <a:lumMod val="75000"/>
                  </a:schemeClr>
                </a:solidFill>
              </a:rPr>
              <a:t>en cours </a:t>
            </a:r>
            <a:r>
              <a:rPr lang="fr-BE" dirty="0"/>
              <a:t>» 	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fr-BE" dirty="0"/>
              <a:t>Dès le jour de la validation du mois de C13, C12 par le responsable et Horizon ( vers le 20 du mois)  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fr-BE" sz="3200" dirty="0"/>
              <a:t>la récupération obtient le statut 	« </a:t>
            </a:r>
            <a:r>
              <a:rPr lang="fr-BE" sz="3200" b="1" dirty="0">
                <a:solidFill>
                  <a:schemeClr val="accent2">
                    <a:lumMod val="75000"/>
                  </a:schemeClr>
                </a:solidFill>
              </a:rPr>
              <a:t>récupération définitive </a:t>
            </a:r>
            <a:r>
              <a:rPr lang="fr-BE" sz="3200" dirty="0"/>
              <a:t>»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fr-BE" dirty="0"/>
              <a:t>A partir de cette date, une 2</a:t>
            </a:r>
            <a:r>
              <a:rPr lang="fr-BE" baseline="30000" dirty="0"/>
              <a:t>ème</a:t>
            </a:r>
            <a:r>
              <a:rPr lang="fr-BE" dirty="0"/>
              <a:t> lettre est envoyée par recommandé: </a:t>
            </a:r>
            <a:r>
              <a:rPr lang="fr-BE" b="1" dirty="0">
                <a:solidFill>
                  <a:schemeClr val="accent2">
                    <a:lumMod val="75000"/>
                  </a:schemeClr>
                </a:solidFill>
              </a:rPr>
              <a:t>C64</a:t>
            </a:r>
            <a:r>
              <a:rPr lang="fr-BE" dirty="0"/>
              <a:t>.</a:t>
            </a:r>
          </a:p>
          <a:p>
            <a:endParaRPr lang="fr-BE" dirty="0"/>
          </a:p>
        </p:txBody>
      </p:sp>
      <p:sp>
        <p:nvSpPr>
          <p:cNvPr id="47" name="Espace réservé du numéro de diapositive 4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55E9056B-6A30-4F99-BDE9-C450E66AE125}" type="slidenum">
              <a:rPr lang="fr-FR" smtClean="0"/>
              <a:pPr algn="ctr"/>
              <a:t>25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0582014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fr-BE" b="1" i="1" dirty="0"/>
              <a:t>Récupération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fr-BE" b="1" dirty="0">
                <a:solidFill>
                  <a:schemeClr val="accent2">
                    <a:lumMod val="75000"/>
                  </a:schemeClr>
                </a:solidFill>
              </a:rPr>
              <a:t>90 jours </a:t>
            </a:r>
            <a:r>
              <a:rPr lang="fr-BE" dirty="0"/>
              <a:t>après cette date, la saisie prend le statut « active » et la récupération se fera par tranches de 10% ( légal)  </a:t>
            </a:r>
          </a:p>
          <a:p>
            <a:pPr marL="0" indent="0">
              <a:buNone/>
            </a:pPr>
            <a:r>
              <a:rPr lang="fr-BE" i="1" u="sng" dirty="0"/>
              <a:t>Remarque</a:t>
            </a:r>
            <a:r>
              <a:rPr lang="fr-BE" i="1" dirty="0"/>
              <a:t> :  on ne pourra plus changer le statut de la saisie sauf par un plan de remboursement !!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fr-BE" b="1" dirty="0">
                <a:solidFill>
                  <a:schemeClr val="accent2">
                    <a:lumMod val="75000"/>
                  </a:schemeClr>
                </a:solidFill>
              </a:rPr>
              <a:t>6 mois </a:t>
            </a:r>
            <a:r>
              <a:rPr lang="fr-BE" dirty="0"/>
              <a:t>après la date d’envoi du C64 , une tâche C38 (ou pré-C38) prévient </a:t>
            </a:r>
            <a:r>
              <a:rPr lang="fr-BE"/>
              <a:t>le MBO </a:t>
            </a:r>
            <a:r>
              <a:rPr lang="fr-BE" dirty="0"/>
              <a:t>d’une démarche à faire pour déclencher l’envoi aux Domaines.</a:t>
            </a:r>
          </a:p>
          <a:p>
            <a:endParaRPr lang="fr-BE" dirty="0"/>
          </a:p>
        </p:txBody>
      </p:sp>
      <p:sp>
        <p:nvSpPr>
          <p:cNvPr id="47" name="Espace réservé du numéro de diapositive 4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55E9056B-6A30-4F99-BDE9-C450E66AE125}" type="slidenum">
              <a:rPr lang="fr-FR" smtClean="0"/>
              <a:pPr algn="ctr"/>
              <a:t>26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9799304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3168EA1-BE12-4210-A92C-38774AED82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fr-BE" b="1" i="1" dirty="0"/>
              <a:t>Procédure de vérification: exemple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9F6068FB-8EDA-4986-A5E5-CA48DAE44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27</a:t>
            </a:fld>
            <a:endParaRPr lang="fr-FR"/>
          </a:p>
        </p:txBody>
      </p:sp>
      <p:graphicFrame>
        <p:nvGraphicFramePr>
          <p:cNvPr id="5" name="Tableau 5">
            <a:extLst>
              <a:ext uri="{FF2B5EF4-FFF2-40B4-BE49-F238E27FC236}">
                <a16:creationId xmlns:a16="http://schemas.microsoft.com/office/drawing/2014/main" id="{4A429100-D938-4962-8143-8F2084CE1A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39804103"/>
              </p:ext>
            </p:extLst>
          </p:nvPr>
        </p:nvGraphicFramePr>
        <p:xfrm>
          <a:off x="107504" y="1397000"/>
          <a:ext cx="8928990" cy="4370776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864096">
                  <a:extLst>
                    <a:ext uri="{9D8B030D-6E8A-4147-A177-3AD203B41FA5}">
                      <a16:colId xmlns:a16="http://schemas.microsoft.com/office/drawing/2014/main" val="2102948798"/>
                    </a:ext>
                  </a:extLst>
                </a:gridCol>
                <a:gridCol w="936104">
                  <a:extLst>
                    <a:ext uri="{9D8B030D-6E8A-4147-A177-3AD203B41FA5}">
                      <a16:colId xmlns:a16="http://schemas.microsoft.com/office/drawing/2014/main" val="3869704143"/>
                    </a:ext>
                  </a:extLst>
                </a:gridCol>
                <a:gridCol w="936104">
                  <a:extLst>
                    <a:ext uri="{9D8B030D-6E8A-4147-A177-3AD203B41FA5}">
                      <a16:colId xmlns:a16="http://schemas.microsoft.com/office/drawing/2014/main" val="3388416260"/>
                    </a:ext>
                  </a:extLst>
                </a:gridCol>
                <a:gridCol w="792088">
                  <a:extLst>
                    <a:ext uri="{9D8B030D-6E8A-4147-A177-3AD203B41FA5}">
                      <a16:colId xmlns:a16="http://schemas.microsoft.com/office/drawing/2014/main" val="4276033346"/>
                    </a:ext>
                  </a:extLst>
                </a:gridCol>
                <a:gridCol w="1296144">
                  <a:extLst>
                    <a:ext uri="{9D8B030D-6E8A-4147-A177-3AD203B41FA5}">
                      <a16:colId xmlns:a16="http://schemas.microsoft.com/office/drawing/2014/main" val="2070868395"/>
                    </a:ext>
                  </a:extLst>
                </a:gridCol>
                <a:gridCol w="1008112">
                  <a:extLst>
                    <a:ext uri="{9D8B030D-6E8A-4147-A177-3AD203B41FA5}">
                      <a16:colId xmlns:a16="http://schemas.microsoft.com/office/drawing/2014/main" val="1365006138"/>
                    </a:ext>
                  </a:extLst>
                </a:gridCol>
                <a:gridCol w="1008112">
                  <a:extLst>
                    <a:ext uri="{9D8B030D-6E8A-4147-A177-3AD203B41FA5}">
                      <a16:colId xmlns:a16="http://schemas.microsoft.com/office/drawing/2014/main" val="2510492270"/>
                    </a:ext>
                  </a:extLst>
                </a:gridCol>
                <a:gridCol w="1096120">
                  <a:extLst>
                    <a:ext uri="{9D8B030D-6E8A-4147-A177-3AD203B41FA5}">
                      <a16:colId xmlns:a16="http://schemas.microsoft.com/office/drawing/2014/main" val="277715137"/>
                    </a:ext>
                  </a:extLst>
                </a:gridCol>
                <a:gridCol w="992110">
                  <a:extLst>
                    <a:ext uri="{9D8B030D-6E8A-4147-A177-3AD203B41FA5}">
                      <a16:colId xmlns:a16="http://schemas.microsoft.com/office/drawing/2014/main" val="1029842592"/>
                    </a:ext>
                  </a:extLst>
                </a:gridCol>
              </a:tblGrid>
              <a:tr h="1239912">
                <a:tc>
                  <a:txBody>
                    <a:bodyPr/>
                    <a:lstStyle/>
                    <a:p>
                      <a:r>
                        <a:rPr lang="fr-BE" sz="1500" dirty="0"/>
                        <a:t>Mois Intro</a:t>
                      </a:r>
                    </a:p>
                  </a:txBody>
                  <a:tcPr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BE" sz="1500" dirty="0"/>
                        <a:t>DPs au BC</a:t>
                      </a:r>
                    </a:p>
                  </a:txBody>
                  <a:tcPr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BE" sz="1500" dirty="0"/>
                        <a:t>Trait. au BC</a:t>
                      </a:r>
                    </a:p>
                  </a:txBody>
                  <a:tcPr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BE" sz="1500" dirty="0"/>
                        <a:t>Trait. rejets Presta</a:t>
                      </a:r>
                    </a:p>
                  </a:txBody>
                  <a:tcPr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BE" sz="1500" dirty="0"/>
                        <a:t>C64 recommandé</a:t>
                      </a:r>
                    </a:p>
                  </a:txBody>
                  <a:tcPr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BE" sz="1500" dirty="0"/>
                        <a:t>Retenue 10%</a:t>
                      </a:r>
                    </a:p>
                  </a:txBody>
                  <a:tcPr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BE" sz="1500" dirty="0"/>
                        <a:t>C38 Domaines</a:t>
                      </a:r>
                    </a:p>
                  </a:txBody>
                  <a:tcPr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BE" sz="1500" dirty="0"/>
                        <a:t>Prise à charge</a:t>
                      </a:r>
                    </a:p>
                  </a:txBody>
                  <a:tcPr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BE" sz="1500" dirty="0"/>
                        <a:t>Provision d’intérêts</a:t>
                      </a:r>
                    </a:p>
                  </a:txBody>
                  <a:tcPr>
                    <a:solidFill>
                      <a:schemeClr val="accent3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8598954"/>
                  </a:ext>
                </a:extLst>
              </a:tr>
              <a:tr h="1565432">
                <a:tc>
                  <a:txBody>
                    <a:bodyPr/>
                    <a:lstStyle/>
                    <a:p>
                      <a:endParaRPr lang="fr-BE" dirty="0"/>
                    </a:p>
                  </a:txBody>
                  <a:tcP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BE" sz="1500" dirty="0"/>
                        <a:t>2,5 mois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BE" sz="1500" dirty="0"/>
                        <a:t>2,5 mois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BE" sz="1500" dirty="0"/>
                        <a:t>4 mois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BE" sz="1500" dirty="0"/>
                        <a:t>Après clôture bande magnétique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BE" sz="1500" dirty="0"/>
                        <a:t>90 jours après envoi C64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BE" sz="1500" dirty="0"/>
                        <a:t>6 mois après envoi C64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BE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BE" dirty="0"/>
                    </a:p>
                  </a:txBody>
                  <a:tcP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340111"/>
                  </a:ext>
                </a:extLst>
              </a:tr>
              <a:tr h="1565432">
                <a:tc>
                  <a:txBody>
                    <a:bodyPr/>
                    <a:lstStyle/>
                    <a:p>
                      <a:r>
                        <a:rPr lang="fr-BE" sz="1400" dirty="0"/>
                        <a:t>09/2023</a:t>
                      </a:r>
                    </a:p>
                  </a:txBody>
                  <a:tcP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BE" sz="1400" dirty="0"/>
                    </a:p>
                  </a:txBody>
                  <a:tcP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BE" sz="1400" dirty="0"/>
                    </a:p>
                  </a:txBody>
                  <a:tcP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BE" sz="1400" dirty="0"/>
                    </a:p>
                  </a:txBody>
                  <a:tcP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BE" sz="1400" dirty="0"/>
                    </a:p>
                  </a:txBody>
                  <a:tcP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BE" sz="1400" dirty="0"/>
                    </a:p>
                  </a:txBody>
                  <a:tcP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BE" sz="1400" dirty="0"/>
                    </a:p>
                  </a:txBody>
                  <a:tcP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BE" sz="1400" dirty="0"/>
                    </a:p>
                  </a:txBody>
                  <a:tcP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BE" sz="1400" dirty="0"/>
                    </a:p>
                  </a:txBody>
                  <a:tcP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6378413"/>
                  </a:ext>
                </a:extLst>
              </a:tr>
            </a:tbl>
          </a:graphicData>
        </a:graphic>
      </p:graphicFrame>
      <p:sp>
        <p:nvSpPr>
          <p:cNvPr id="11" name="ZoneTexte 10">
            <a:extLst>
              <a:ext uri="{FF2B5EF4-FFF2-40B4-BE49-F238E27FC236}">
                <a16:creationId xmlns:a16="http://schemas.microsoft.com/office/drawing/2014/main" id="{4E2C6358-E4B8-40D8-B3A0-DB669E8522E1}"/>
              </a:ext>
            </a:extLst>
          </p:cNvPr>
          <p:cNvSpPr txBox="1"/>
          <p:nvPr/>
        </p:nvSpPr>
        <p:spPr>
          <a:xfrm>
            <a:off x="7020782" y="4167338"/>
            <a:ext cx="936104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BE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C13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BE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30 mois après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BE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Clôture 1</a:t>
            </a:r>
            <a:r>
              <a:rPr kumimoji="0" lang="fr-BE" sz="14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ère</a:t>
            </a:r>
            <a:r>
              <a:rPr kumimoji="0" lang="fr-BE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vérif BC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F67AD705-CB94-4147-8F72-8F7E0A6DBF00}"/>
              </a:ext>
            </a:extLst>
          </p:cNvPr>
          <p:cNvSpPr txBox="1"/>
          <p:nvPr/>
        </p:nvSpPr>
        <p:spPr>
          <a:xfrm>
            <a:off x="8064392" y="4237753"/>
            <a:ext cx="115212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BE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36 mois après date C64</a:t>
            </a: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66DAA25C-1CAF-4621-BAD3-04090D96BC50}"/>
              </a:ext>
            </a:extLst>
          </p:cNvPr>
          <p:cNvSpPr txBox="1"/>
          <p:nvPr/>
        </p:nvSpPr>
        <p:spPr>
          <a:xfrm>
            <a:off x="8064392" y="2625758"/>
            <a:ext cx="115212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BE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36 mois après date C64</a:t>
            </a:r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01D2CD2E-CEBA-4F68-95F3-E127B856C76B}"/>
              </a:ext>
            </a:extLst>
          </p:cNvPr>
          <p:cNvSpPr txBox="1"/>
          <p:nvPr/>
        </p:nvSpPr>
        <p:spPr>
          <a:xfrm>
            <a:off x="6988317" y="2574387"/>
            <a:ext cx="1152128" cy="12464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BE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C12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BE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12 mois après clôture 1</a:t>
            </a:r>
            <a:r>
              <a:rPr kumimoji="0" lang="fr-BE" sz="15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er</a:t>
            </a:r>
            <a:r>
              <a:rPr kumimoji="0" lang="fr-BE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vérif BC </a:t>
            </a:r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26654359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15" grpId="0"/>
      <p:bldP spid="17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3168EA1-BE12-4210-A92C-38774AED82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fr-BE" b="1" i="1" dirty="0"/>
              <a:t>Procédure de vérification: Exercice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9F6068FB-8EDA-4986-A5E5-CA48DAE44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5E9056B-6A30-4F99-BDE9-C450E66AE125}" type="slidenum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28</a:t>
            </a:fld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graphicFrame>
        <p:nvGraphicFramePr>
          <p:cNvPr id="5" name="Tableau 5">
            <a:extLst>
              <a:ext uri="{FF2B5EF4-FFF2-40B4-BE49-F238E27FC236}">
                <a16:creationId xmlns:a16="http://schemas.microsoft.com/office/drawing/2014/main" id="{4A429100-D938-4962-8143-8F2084CE1A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68336453"/>
              </p:ext>
            </p:extLst>
          </p:nvPr>
        </p:nvGraphicFramePr>
        <p:xfrm>
          <a:off x="107504" y="1397000"/>
          <a:ext cx="8928990" cy="4370776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864096">
                  <a:extLst>
                    <a:ext uri="{9D8B030D-6E8A-4147-A177-3AD203B41FA5}">
                      <a16:colId xmlns:a16="http://schemas.microsoft.com/office/drawing/2014/main" val="2102948798"/>
                    </a:ext>
                  </a:extLst>
                </a:gridCol>
                <a:gridCol w="936104">
                  <a:extLst>
                    <a:ext uri="{9D8B030D-6E8A-4147-A177-3AD203B41FA5}">
                      <a16:colId xmlns:a16="http://schemas.microsoft.com/office/drawing/2014/main" val="3869704143"/>
                    </a:ext>
                  </a:extLst>
                </a:gridCol>
                <a:gridCol w="936104">
                  <a:extLst>
                    <a:ext uri="{9D8B030D-6E8A-4147-A177-3AD203B41FA5}">
                      <a16:colId xmlns:a16="http://schemas.microsoft.com/office/drawing/2014/main" val="3388416260"/>
                    </a:ext>
                  </a:extLst>
                </a:gridCol>
                <a:gridCol w="864096">
                  <a:extLst>
                    <a:ext uri="{9D8B030D-6E8A-4147-A177-3AD203B41FA5}">
                      <a16:colId xmlns:a16="http://schemas.microsoft.com/office/drawing/2014/main" val="4276033346"/>
                    </a:ext>
                  </a:extLst>
                </a:gridCol>
                <a:gridCol w="1224136">
                  <a:extLst>
                    <a:ext uri="{9D8B030D-6E8A-4147-A177-3AD203B41FA5}">
                      <a16:colId xmlns:a16="http://schemas.microsoft.com/office/drawing/2014/main" val="2070868395"/>
                    </a:ext>
                  </a:extLst>
                </a:gridCol>
                <a:gridCol w="1008112">
                  <a:extLst>
                    <a:ext uri="{9D8B030D-6E8A-4147-A177-3AD203B41FA5}">
                      <a16:colId xmlns:a16="http://schemas.microsoft.com/office/drawing/2014/main" val="1365006138"/>
                    </a:ext>
                  </a:extLst>
                </a:gridCol>
                <a:gridCol w="1008112">
                  <a:extLst>
                    <a:ext uri="{9D8B030D-6E8A-4147-A177-3AD203B41FA5}">
                      <a16:colId xmlns:a16="http://schemas.microsoft.com/office/drawing/2014/main" val="2510492270"/>
                    </a:ext>
                  </a:extLst>
                </a:gridCol>
                <a:gridCol w="1096120">
                  <a:extLst>
                    <a:ext uri="{9D8B030D-6E8A-4147-A177-3AD203B41FA5}">
                      <a16:colId xmlns:a16="http://schemas.microsoft.com/office/drawing/2014/main" val="277715137"/>
                    </a:ext>
                  </a:extLst>
                </a:gridCol>
                <a:gridCol w="992110">
                  <a:extLst>
                    <a:ext uri="{9D8B030D-6E8A-4147-A177-3AD203B41FA5}">
                      <a16:colId xmlns:a16="http://schemas.microsoft.com/office/drawing/2014/main" val="1029842592"/>
                    </a:ext>
                  </a:extLst>
                </a:gridCol>
              </a:tblGrid>
              <a:tr h="1239912">
                <a:tc>
                  <a:txBody>
                    <a:bodyPr/>
                    <a:lstStyle/>
                    <a:p>
                      <a:r>
                        <a:rPr lang="fr-BE" sz="1500" dirty="0"/>
                        <a:t>Mois Intro</a:t>
                      </a:r>
                    </a:p>
                  </a:txBody>
                  <a:tcPr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BE" sz="1500" dirty="0"/>
                        <a:t>DPs au BC</a:t>
                      </a:r>
                    </a:p>
                  </a:txBody>
                  <a:tcPr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BE" sz="1500" dirty="0"/>
                        <a:t>Trait. au BC</a:t>
                      </a:r>
                    </a:p>
                  </a:txBody>
                  <a:tcPr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BE" sz="1500" dirty="0"/>
                        <a:t>Trait. rejets Presta</a:t>
                      </a:r>
                    </a:p>
                  </a:txBody>
                  <a:tcPr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BE" sz="1500" dirty="0"/>
                        <a:t>C64 recommandé</a:t>
                      </a:r>
                    </a:p>
                  </a:txBody>
                  <a:tcPr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BE" sz="1500" dirty="0"/>
                        <a:t>Retenue 10%</a:t>
                      </a:r>
                    </a:p>
                  </a:txBody>
                  <a:tcPr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BE" sz="1500" dirty="0"/>
                        <a:t>C38 Domaines</a:t>
                      </a:r>
                    </a:p>
                  </a:txBody>
                  <a:tcPr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BE" sz="1500" dirty="0"/>
                        <a:t>Prise à charge</a:t>
                      </a:r>
                    </a:p>
                  </a:txBody>
                  <a:tcPr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BE" sz="1500" dirty="0"/>
                        <a:t>Provision d’intérêts</a:t>
                      </a:r>
                    </a:p>
                  </a:txBody>
                  <a:tcPr>
                    <a:solidFill>
                      <a:schemeClr val="accent3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8598954"/>
                  </a:ext>
                </a:extLst>
              </a:tr>
              <a:tr h="1565432">
                <a:tc>
                  <a:txBody>
                    <a:bodyPr/>
                    <a:lstStyle/>
                    <a:p>
                      <a:endParaRPr lang="fr-BE" dirty="0"/>
                    </a:p>
                  </a:txBody>
                  <a:tcP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BE" sz="1500" dirty="0"/>
                        <a:t>2,5 mois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BE" sz="1500" dirty="0"/>
                        <a:t>2,5 mois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BE" sz="1500" dirty="0"/>
                        <a:t>4 mois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BE" sz="1500" dirty="0"/>
                        <a:t>Après clôture bande magnétique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BE" sz="1500" dirty="0"/>
                        <a:t>90 jours après envoi C64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BE" sz="1500" dirty="0"/>
                        <a:t>6 mois après envoi C64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BE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BE" dirty="0"/>
                    </a:p>
                  </a:txBody>
                  <a:tcP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340111"/>
                  </a:ext>
                </a:extLst>
              </a:tr>
              <a:tr h="1565432">
                <a:tc>
                  <a:txBody>
                    <a:bodyPr/>
                    <a:lstStyle/>
                    <a:p>
                      <a:r>
                        <a:rPr lang="fr-BE" sz="1400" dirty="0"/>
                        <a:t>08/2022</a:t>
                      </a:r>
                    </a:p>
                  </a:txBody>
                  <a:tcP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BE" sz="1400" dirty="0"/>
                    </a:p>
                  </a:txBody>
                  <a:tcP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BE" sz="1400" dirty="0"/>
                    </a:p>
                  </a:txBody>
                  <a:tcP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BE" sz="1400" dirty="0"/>
                    </a:p>
                  </a:txBody>
                  <a:tcP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BE" sz="1400" dirty="0"/>
                    </a:p>
                  </a:txBody>
                  <a:tcP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BE" sz="1400" dirty="0"/>
                    </a:p>
                  </a:txBody>
                  <a:tcP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BE" sz="1400" dirty="0"/>
                    </a:p>
                  </a:txBody>
                  <a:tcP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BE" sz="1400" dirty="0"/>
                    </a:p>
                  </a:txBody>
                  <a:tcP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BE" sz="1400" dirty="0"/>
                    </a:p>
                  </a:txBody>
                  <a:tcP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6378413"/>
                  </a:ext>
                </a:extLst>
              </a:tr>
            </a:tbl>
          </a:graphicData>
        </a:graphic>
      </p:graphicFrame>
      <p:sp>
        <p:nvSpPr>
          <p:cNvPr id="11" name="ZoneTexte 10">
            <a:extLst>
              <a:ext uri="{FF2B5EF4-FFF2-40B4-BE49-F238E27FC236}">
                <a16:creationId xmlns:a16="http://schemas.microsoft.com/office/drawing/2014/main" id="{4E2C6358-E4B8-40D8-B3A0-DB669E8522E1}"/>
              </a:ext>
            </a:extLst>
          </p:cNvPr>
          <p:cNvSpPr txBox="1"/>
          <p:nvPr/>
        </p:nvSpPr>
        <p:spPr>
          <a:xfrm>
            <a:off x="7020782" y="4167338"/>
            <a:ext cx="936104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BE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C13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BE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30 mois après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BE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Clôture 1</a:t>
            </a:r>
            <a:r>
              <a:rPr kumimoji="0" lang="fr-BE" sz="14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ère</a:t>
            </a:r>
            <a:r>
              <a:rPr kumimoji="0" lang="fr-BE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vérif BC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F67AD705-CB94-4147-8F72-8F7E0A6DBF00}"/>
              </a:ext>
            </a:extLst>
          </p:cNvPr>
          <p:cNvSpPr txBox="1"/>
          <p:nvPr/>
        </p:nvSpPr>
        <p:spPr>
          <a:xfrm>
            <a:off x="8064392" y="4237753"/>
            <a:ext cx="115212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BE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36 mois après date C64</a:t>
            </a: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66DAA25C-1CAF-4621-BAD3-04090D96BC50}"/>
              </a:ext>
            </a:extLst>
          </p:cNvPr>
          <p:cNvSpPr txBox="1"/>
          <p:nvPr/>
        </p:nvSpPr>
        <p:spPr>
          <a:xfrm>
            <a:off x="8064392" y="2625758"/>
            <a:ext cx="115212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BE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36 mois après date C64</a:t>
            </a:r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01D2CD2E-CEBA-4F68-95F3-E127B856C76B}"/>
              </a:ext>
            </a:extLst>
          </p:cNvPr>
          <p:cNvSpPr txBox="1"/>
          <p:nvPr/>
        </p:nvSpPr>
        <p:spPr>
          <a:xfrm>
            <a:off x="6988317" y="2574387"/>
            <a:ext cx="1152128" cy="12464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BE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C12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BE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12 mois après clôture 1</a:t>
            </a:r>
            <a:r>
              <a:rPr kumimoji="0" lang="fr-BE" sz="15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er</a:t>
            </a:r>
            <a:r>
              <a:rPr kumimoji="0" lang="fr-BE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vérif BC </a:t>
            </a:r>
            <a:endParaRPr kumimoji="0" lang="fr-BE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141642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15" grpId="0"/>
      <p:bldP spid="17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3168EA1-BE12-4210-A92C-38774AED82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fr-BE" b="1" i="1" dirty="0"/>
              <a:t>Exercice </a:t>
            </a:r>
            <a:r>
              <a:rPr lang="fr-BE" b="1" i="1" dirty="0" err="1"/>
              <a:t>Recap</a:t>
            </a:r>
            <a:endParaRPr lang="fr-BE" b="1" i="1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9F6068FB-8EDA-4986-A5E5-CA48DAE44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5E9056B-6A30-4F99-BDE9-C450E66AE125}" type="slidenum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29</a:t>
            </a:fld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graphicFrame>
        <p:nvGraphicFramePr>
          <p:cNvPr id="5" name="Tableau 5">
            <a:extLst>
              <a:ext uri="{FF2B5EF4-FFF2-40B4-BE49-F238E27FC236}">
                <a16:creationId xmlns:a16="http://schemas.microsoft.com/office/drawing/2014/main" id="{4A429100-D938-4962-8143-8F2084CE1A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05842291"/>
              </p:ext>
            </p:extLst>
          </p:nvPr>
        </p:nvGraphicFramePr>
        <p:xfrm>
          <a:off x="107504" y="1397000"/>
          <a:ext cx="8928990" cy="4370776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864096">
                  <a:extLst>
                    <a:ext uri="{9D8B030D-6E8A-4147-A177-3AD203B41FA5}">
                      <a16:colId xmlns:a16="http://schemas.microsoft.com/office/drawing/2014/main" val="2102948798"/>
                    </a:ext>
                  </a:extLst>
                </a:gridCol>
                <a:gridCol w="936104">
                  <a:extLst>
                    <a:ext uri="{9D8B030D-6E8A-4147-A177-3AD203B41FA5}">
                      <a16:colId xmlns:a16="http://schemas.microsoft.com/office/drawing/2014/main" val="3869704143"/>
                    </a:ext>
                  </a:extLst>
                </a:gridCol>
                <a:gridCol w="936104">
                  <a:extLst>
                    <a:ext uri="{9D8B030D-6E8A-4147-A177-3AD203B41FA5}">
                      <a16:colId xmlns:a16="http://schemas.microsoft.com/office/drawing/2014/main" val="3388416260"/>
                    </a:ext>
                  </a:extLst>
                </a:gridCol>
                <a:gridCol w="864096">
                  <a:extLst>
                    <a:ext uri="{9D8B030D-6E8A-4147-A177-3AD203B41FA5}">
                      <a16:colId xmlns:a16="http://schemas.microsoft.com/office/drawing/2014/main" val="4276033346"/>
                    </a:ext>
                  </a:extLst>
                </a:gridCol>
                <a:gridCol w="1224136">
                  <a:extLst>
                    <a:ext uri="{9D8B030D-6E8A-4147-A177-3AD203B41FA5}">
                      <a16:colId xmlns:a16="http://schemas.microsoft.com/office/drawing/2014/main" val="2070868395"/>
                    </a:ext>
                  </a:extLst>
                </a:gridCol>
                <a:gridCol w="1008112">
                  <a:extLst>
                    <a:ext uri="{9D8B030D-6E8A-4147-A177-3AD203B41FA5}">
                      <a16:colId xmlns:a16="http://schemas.microsoft.com/office/drawing/2014/main" val="1365006138"/>
                    </a:ext>
                  </a:extLst>
                </a:gridCol>
                <a:gridCol w="1008112">
                  <a:extLst>
                    <a:ext uri="{9D8B030D-6E8A-4147-A177-3AD203B41FA5}">
                      <a16:colId xmlns:a16="http://schemas.microsoft.com/office/drawing/2014/main" val="2510492270"/>
                    </a:ext>
                  </a:extLst>
                </a:gridCol>
                <a:gridCol w="1096120">
                  <a:extLst>
                    <a:ext uri="{9D8B030D-6E8A-4147-A177-3AD203B41FA5}">
                      <a16:colId xmlns:a16="http://schemas.microsoft.com/office/drawing/2014/main" val="277715137"/>
                    </a:ext>
                  </a:extLst>
                </a:gridCol>
                <a:gridCol w="992110">
                  <a:extLst>
                    <a:ext uri="{9D8B030D-6E8A-4147-A177-3AD203B41FA5}">
                      <a16:colId xmlns:a16="http://schemas.microsoft.com/office/drawing/2014/main" val="1029842592"/>
                    </a:ext>
                  </a:extLst>
                </a:gridCol>
              </a:tblGrid>
              <a:tr h="1239912">
                <a:tc>
                  <a:txBody>
                    <a:bodyPr/>
                    <a:lstStyle/>
                    <a:p>
                      <a:r>
                        <a:rPr lang="fr-BE" sz="1500" dirty="0"/>
                        <a:t>Mois Intro</a:t>
                      </a:r>
                    </a:p>
                  </a:txBody>
                  <a:tcPr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BE" sz="1500" dirty="0"/>
                        <a:t>DPs au BC</a:t>
                      </a:r>
                    </a:p>
                  </a:txBody>
                  <a:tcPr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BE" sz="1500" dirty="0"/>
                        <a:t>Trait. au BC</a:t>
                      </a:r>
                    </a:p>
                  </a:txBody>
                  <a:tcPr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BE" sz="1500" dirty="0"/>
                        <a:t>Trait. rejets Presta</a:t>
                      </a:r>
                    </a:p>
                  </a:txBody>
                  <a:tcPr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BE" sz="1500" dirty="0"/>
                        <a:t>C64 recommandé</a:t>
                      </a:r>
                    </a:p>
                  </a:txBody>
                  <a:tcPr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BE" sz="1500" dirty="0"/>
                        <a:t>Retenue 10%</a:t>
                      </a:r>
                    </a:p>
                  </a:txBody>
                  <a:tcPr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BE" sz="1500" dirty="0"/>
                        <a:t>C38 Domaines</a:t>
                      </a:r>
                    </a:p>
                  </a:txBody>
                  <a:tcPr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BE" sz="1500" dirty="0"/>
                        <a:t>Prise à charge</a:t>
                      </a:r>
                    </a:p>
                  </a:txBody>
                  <a:tcPr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BE" sz="1500" dirty="0"/>
                        <a:t>Provision d’intérêts</a:t>
                      </a:r>
                    </a:p>
                  </a:txBody>
                  <a:tcPr>
                    <a:solidFill>
                      <a:schemeClr val="accent3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8598954"/>
                  </a:ext>
                </a:extLst>
              </a:tr>
              <a:tr h="1565432">
                <a:tc>
                  <a:txBody>
                    <a:bodyPr/>
                    <a:lstStyle/>
                    <a:p>
                      <a:endParaRPr lang="fr-BE" dirty="0"/>
                    </a:p>
                  </a:txBody>
                  <a:tcP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BE" sz="1500" dirty="0"/>
                        <a:t>2,5 mois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BE" sz="1500" dirty="0"/>
                        <a:t>2,5 mois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BE" sz="1500" dirty="0"/>
                        <a:t>4 mois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BE" sz="1500" dirty="0"/>
                        <a:t>Après clôture bande magnétique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BE" sz="1500" dirty="0"/>
                        <a:t>90 jours après envoi C64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BE" sz="1500" dirty="0"/>
                        <a:t>6 mois après envoi C64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BE" sz="1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BE" dirty="0"/>
                    </a:p>
                  </a:txBody>
                  <a:tcP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340111"/>
                  </a:ext>
                </a:extLst>
              </a:tr>
              <a:tr h="1565432">
                <a:tc>
                  <a:txBody>
                    <a:bodyPr/>
                    <a:lstStyle/>
                    <a:p>
                      <a:endParaRPr lang="fr-BE" sz="1400" dirty="0"/>
                    </a:p>
                  </a:txBody>
                  <a:tcP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BE" sz="1400" dirty="0"/>
                    </a:p>
                  </a:txBody>
                  <a:tcP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BE" sz="1400" dirty="0"/>
                    </a:p>
                  </a:txBody>
                  <a:tcP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BE" sz="1400" dirty="0"/>
                    </a:p>
                  </a:txBody>
                  <a:tcP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BE" sz="1400" dirty="0"/>
                    </a:p>
                  </a:txBody>
                  <a:tcP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BE" sz="1400" dirty="0"/>
                    </a:p>
                  </a:txBody>
                  <a:tcP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BE" sz="1400" dirty="0"/>
                    </a:p>
                  </a:txBody>
                  <a:tcP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BE" sz="1400" dirty="0"/>
                    </a:p>
                  </a:txBody>
                  <a:tcP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BE" sz="1400" dirty="0"/>
                    </a:p>
                  </a:txBody>
                  <a:tcP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6378413"/>
                  </a:ext>
                </a:extLst>
              </a:tr>
            </a:tbl>
          </a:graphicData>
        </a:graphic>
      </p:graphicFrame>
      <p:sp>
        <p:nvSpPr>
          <p:cNvPr id="11" name="ZoneTexte 10">
            <a:extLst>
              <a:ext uri="{FF2B5EF4-FFF2-40B4-BE49-F238E27FC236}">
                <a16:creationId xmlns:a16="http://schemas.microsoft.com/office/drawing/2014/main" id="{4E2C6358-E4B8-40D8-B3A0-DB669E8522E1}"/>
              </a:ext>
            </a:extLst>
          </p:cNvPr>
          <p:cNvSpPr txBox="1"/>
          <p:nvPr/>
        </p:nvSpPr>
        <p:spPr>
          <a:xfrm>
            <a:off x="7020782" y="4167338"/>
            <a:ext cx="936104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BE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C13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BE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30 mois après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BE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Clôture 1</a:t>
            </a:r>
            <a:r>
              <a:rPr kumimoji="0" lang="fr-BE" sz="14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ère</a:t>
            </a:r>
            <a:r>
              <a:rPr kumimoji="0" lang="fr-BE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vérif BC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F67AD705-CB94-4147-8F72-8F7E0A6DBF00}"/>
              </a:ext>
            </a:extLst>
          </p:cNvPr>
          <p:cNvSpPr txBox="1"/>
          <p:nvPr/>
        </p:nvSpPr>
        <p:spPr>
          <a:xfrm>
            <a:off x="8064392" y="4237753"/>
            <a:ext cx="115212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BE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36 mois après date C64</a:t>
            </a:r>
          </a:p>
        </p:txBody>
      </p:sp>
    </p:spTree>
    <p:extLst>
      <p:ext uri="{BB962C8B-B14F-4D97-AF65-F5344CB8AC3E}">
        <p14:creationId xmlns:p14="http://schemas.microsoft.com/office/powerpoint/2010/main" val="21352044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</p:bldLst>
  </p:timing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D8C07EE20480F44AE4960B9D2A32DA0" ma:contentTypeVersion="5" ma:contentTypeDescription="Crée un document." ma:contentTypeScope="" ma:versionID="d4244a7d8751254152acbe39de457eaf">
  <xsd:schema xmlns:xsd="http://www.w3.org/2001/XMLSchema" xmlns:xs="http://www.w3.org/2001/XMLSchema" xmlns:p="http://schemas.microsoft.com/office/2006/metadata/properties" xmlns:ns2="badce1e3-4228-484a-9cea-a1abab477a44" xmlns:ns3="f1b85f46-8f47-4c7a-8346-9752567dac4a" targetNamespace="http://schemas.microsoft.com/office/2006/metadata/properties" ma:root="true" ma:fieldsID="6f809ffd179f214ffaf2bf983589f92f" ns2:_="" ns3:_="">
    <xsd:import namespace="badce1e3-4228-484a-9cea-a1abab477a44"/>
    <xsd:import namespace="f1b85f46-8f47-4c7a-8346-9752567dac4a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adce1e3-4228-484a-9cea-a1abab477a44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Partagé avec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Partagé avec dé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1b85f46-8f47-4c7a-8346-9752567dac4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B8CB1BC7-D499-4034-974E-4F40FB17D7F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adce1e3-4228-484a-9cea-a1abab477a44"/>
    <ds:schemaRef ds:uri="f1b85f46-8f47-4c7a-8346-9752567dac4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7B8CB30F-5BAB-4BAA-AF68-383678B3449D}">
  <ds:schemaRefs>
    <ds:schemaRef ds:uri="http://purl.org/dc/elements/1.1/"/>
    <ds:schemaRef ds:uri="http://schemas.microsoft.com/office/2006/metadata/properties"/>
    <ds:schemaRef ds:uri="7d2a3af0-b854-4018-b3fb-98bf2b75e19a"/>
    <ds:schemaRef ds:uri="bdec1399-7c99-4025-bfb6-e1e799e6630a"/>
    <ds:schemaRef ds:uri="1e832426-6819-49af-b751-404cdfce1567"/>
    <ds:schemaRef ds:uri="http://purl.org/dc/terms/"/>
    <ds:schemaRef ds:uri="http://schemas.openxmlformats.org/package/2006/metadata/core-properties"/>
    <ds:schemaRef ds:uri="http://schemas.microsoft.com/office/2006/documentManagement/types"/>
    <ds:schemaRef ds:uri="http://schemas.microsoft.com/office/infopath/2007/PartnerControls"/>
    <ds:schemaRef ds:uri="http://www.w3.org/XML/1998/namespace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DE7FFC78-103F-451A-A0F7-0638A82812A0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8161</TotalTime>
  <Words>1518</Words>
  <Application>Microsoft Office PowerPoint</Application>
  <PresentationFormat>On-screen Show (4:3)</PresentationFormat>
  <Paragraphs>300</Paragraphs>
  <Slides>29</Slides>
  <Notes>25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0" baseType="lpstr">
      <vt:lpstr>Thème Office</vt:lpstr>
      <vt:lpstr>PowerPoint Presentation</vt:lpstr>
      <vt:lpstr>Table des matières</vt:lpstr>
      <vt:lpstr>1. Paiement</vt:lpstr>
      <vt:lpstr>Paiement</vt:lpstr>
      <vt:lpstr>Paiement</vt:lpstr>
      <vt:lpstr>Paiement</vt:lpstr>
      <vt:lpstr>Paiement</vt:lpstr>
      <vt:lpstr>Paiement</vt:lpstr>
      <vt:lpstr>Paiement</vt:lpstr>
      <vt:lpstr>Paiement</vt:lpstr>
      <vt:lpstr>Paiement</vt:lpstr>
      <vt:lpstr>Paiement</vt:lpstr>
      <vt:lpstr>2.  Procédure de Vérification</vt:lpstr>
      <vt:lpstr>Procédure de Vérification</vt:lpstr>
      <vt:lpstr>Procédure de Vérification</vt:lpstr>
      <vt:lpstr>Procédure de Vérification</vt:lpstr>
      <vt:lpstr>Procédure de Vérification</vt:lpstr>
      <vt:lpstr>Procédure de Vérification</vt:lpstr>
      <vt:lpstr>Procédure de Vérification</vt:lpstr>
      <vt:lpstr>Procédure de Vérification</vt:lpstr>
      <vt:lpstr>3.  Récupération</vt:lpstr>
      <vt:lpstr>Récupération</vt:lpstr>
      <vt:lpstr>Récupération</vt:lpstr>
      <vt:lpstr>Récupération</vt:lpstr>
      <vt:lpstr>Récupération</vt:lpstr>
      <vt:lpstr>Récupération</vt:lpstr>
      <vt:lpstr>Procédure de vérification: exemple</vt:lpstr>
      <vt:lpstr>Procédure de vérification: Exercice</vt:lpstr>
      <vt:lpstr>Exercice Recap</vt:lpstr>
    </vt:vector>
  </TitlesOfParts>
  <Company>ACV-CSC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FCS-M12-Cycle Verif-Participants</dc:title>
  <dc:creator>u99lge</dc:creator>
  <cp:lastModifiedBy>Antonella Mimmo</cp:lastModifiedBy>
  <cp:revision>267</cp:revision>
  <dcterms:created xsi:type="dcterms:W3CDTF">2010-09-22T12:12:06Z</dcterms:created>
  <dcterms:modified xsi:type="dcterms:W3CDTF">2023-09-11T06:35:41Z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0x010100BD8C07EE20480F44AE4960B9D2A32DA0</vt:lpwstr>
  </property>
  <property fmtid="{D5CDD505-2E9C-101B-9397-08002B2CF9AE}" pid="3" name="Type formation">
    <vt:lpwstr>139;#FCS formation senior|7e1aeef4-3046-4f78-a284-cec5c2bef1bf</vt:lpwstr>
  </property>
  <property fmtid="{D5CDD505-2E9C-101B-9397-08002B2CF9AE}" pid="4" name="Type document">
    <vt:lpwstr>29;#Présentation|66a9a075-20e6-47e0-8483-85d2e9240401</vt:lpwstr>
  </property>
  <property fmtid="{D5CDD505-2E9C-101B-9397-08002B2CF9AE}" pid="5" name="Public Cible">
    <vt:lpwstr>12;#FLT|f342c2bc-e504-4fe0-8d5d-34c04f2f783f</vt:lpwstr>
  </property>
  <property fmtid="{D5CDD505-2E9C-101B-9397-08002B2CF9AE}" pid="6" name="Domaine">
    <vt:lpwstr>26;#Paiement|bbe82f01-f3c6-4a35-a642-de01f3e9fac7;#13;#Tâches|addb87cc-e52a-4e6f-a061-fdea8baf7830</vt:lpwstr>
  </property>
  <property fmtid="{D5CDD505-2E9C-101B-9397-08002B2CF9AE}" pid="7" name="Thème">
    <vt:lpwstr>25;#Cycle complet de la vérification|d4a8d96d-a40d-47ec-893d-c5ab852a9601</vt:lpwstr>
  </property>
  <property fmtid="{D5CDD505-2E9C-101B-9397-08002B2CF9AE}" pid="8" name="Order">
    <vt:r8>55000</vt:r8>
  </property>
  <property fmtid="{D5CDD505-2E9C-101B-9397-08002B2CF9AE}" pid="9" name="_dlc_DocIdItemGuid">
    <vt:lpwstr>611efec4-edae-466b-99dc-47a7d02437de</vt:lpwstr>
  </property>
</Properties>
</file>