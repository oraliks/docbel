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7"/>
  </p:notesMasterIdLst>
  <p:handoutMasterIdLst>
    <p:handoutMasterId r:id="rId78"/>
  </p:handoutMasterIdLst>
  <p:sldIdLst>
    <p:sldId id="424" r:id="rId5"/>
    <p:sldId id="555" r:id="rId6"/>
    <p:sldId id="557" r:id="rId7"/>
    <p:sldId id="323" r:id="rId8"/>
    <p:sldId id="746" r:id="rId9"/>
    <p:sldId id="751" r:id="rId10"/>
    <p:sldId id="661" r:id="rId11"/>
    <p:sldId id="662" r:id="rId12"/>
    <p:sldId id="663" r:id="rId13"/>
    <p:sldId id="664" r:id="rId14"/>
    <p:sldId id="665" r:id="rId15"/>
    <p:sldId id="666" r:id="rId16"/>
    <p:sldId id="667" r:id="rId17"/>
    <p:sldId id="668" r:id="rId18"/>
    <p:sldId id="669" r:id="rId19"/>
    <p:sldId id="670" r:id="rId20"/>
    <p:sldId id="671" r:id="rId21"/>
    <p:sldId id="672" r:id="rId22"/>
    <p:sldId id="673" r:id="rId23"/>
    <p:sldId id="674" r:id="rId24"/>
    <p:sldId id="675" r:id="rId25"/>
    <p:sldId id="676" r:id="rId26"/>
    <p:sldId id="677" r:id="rId27"/>
    <p:sldId id="678" r:id="rId28"/>
    <p:sldId id="679" r:id="rId29"/>
    <p:sldId id="680" r:id="rId30"/>
    <p:sldId id="681" r:id="rId31"/>
    <p:sldId id="682" r:id="rId32"/>
    <p:sldId id="683" r:id="rId33"/>
    <p:sldId id="684" r:id="rId34"/>
    <p:sldId id="685" r:id="rId35"/>
    <p:sldId id="686" r:id="rId36"/>
    <p:sldId id="687" r:id="rId37"/>
    <p:sldId id="688" r:id="rId38"/>
    <p:sldId id="689" r:id="rId39"/>
    <p:sldId id="753" r:id="rId40"/>
    <p:sldId id="691" r:id="rId41"/>
    <p:sldId id="754" r:id="rId42"/>
    <p:sldId id="693" r:id="rId43"/>
    <p:sldId id="755" r:id="rId44"/>
    <p:sldId id="733" r:id="rId45"/>
    <p:sldId id="696" r:id="rId46"/>
    <p:sldId id="756" r:id="rId47"/>
    <p:sldId id="757" r:id="rId48"/>
    <p:sldId id="700" r:id="rId49"/>
    <p:sldId id="589" r:id="rId50"/>
    <p:sldId id="637" r:id="rId51"/>
    <p:sldId id="638" r:id="rId52"/>
    <p:sldId id="590" r:id="rId53"/>
    <p:sldId id="591" r:id="rId54"/>
    <p:sldId id="592" r:id="rId55"/>
    <p:sldId id="593" r:id="rId56"/>
    <p:sldId id="616" r:id="rId57"/>
    <p:sldId id="752" r:id="rId58"/>
    <p:sldId id="598" r:id="rId59"/>
    <p:sldId id="599" r:id="rId60"/>
    <p:sldId id="600" r:id="rId61"/>
    <p:sldId id="351" r:id="rId62"/>
    <p:sldId id="352" r:id="rId63"/>
    <p:sldId id="759" r:id="rId64"/>
    <p:sldId id="758" r:id="rId65"/>
    <p:sldId id="736" r:id="rId66"/>
    <p:sldId id="619" r:id="rId67"/>
    <p:sldId id="620" r:id="rId68"/>
    <p:sldId id="621" r:id="rId69"/>
    <p:sldId id="622" r:id="rId70"/>
    <p:sldId id="636" r:id="rId71"/>
    <p:sldId id="646" r:id="rId72"/>
    <p:sldId id="639" r:id="rId73"/>
    <p:sldId id="641" r:id="rId74"/>
    <p:sldId id="642" r:id="rId75"/>
    <p:sldId id="745" r:id="rId76"/>
  </p:sldIdLst>
  <p:sldSz cx="9144000" cy="6858000" type="screen4x3"/>
  <p:notesSz cx="6669088" cy="9906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nassakis Drossinis" initials="TD" lastIdx="1" clrIdx="0">
    <p:extLst>
      <p:ext uri="{19B8F6BF-5375-455C-9EA6-DF929625EA0E}">
        <p15:presenceInfo xmlns:p15="http://schemas.microsoft.com/office/powerpoint/2012/main" userId="S::u99tdr@acv-csc.be::b25eba5c-ae41-4ffc-9e38-008e1ba3ee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1DE"/>
    <a:srgbClr val="C4D79B"/>
    <a:srgbClr val="76933C"/>
    <a:srgbClr val="008000"/>
    <a:srgbClr val="FF9933"/>
    <a:srgbClr val="669900"/>
    <a:srgbClr val="00FF00"/>
    <a:srgbClr val="0033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9523F3-4E73-4423-8888-4A71810CAD1C}" v="3" dt="2023-01-20T07:51:38.2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76" autoAdjust="0"/>
    <p:restoredTop sz="87034" autoAdjust="0"/>
  </p:normalViewPr>
  <p:slideViewPr>
    <p:cSldViewPr>
      <p:cViewPr varScale="1">
        <p:scale>
          <a:sx n="93" d="100"/>
          <a:sy n="93" d="100"/>
        </p:scale>
        <p:origin x="67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6" Type="http://schemas.openxmlformats.org/officeDocument/2006/relationships/slide" Target="slides/slide72.xml"/><Relationship Id="rId84" Type="http://schemas.microsoft.com/office/2016/11/relationships/changesInfo" Target="changesInfos/changesInfo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commentAuthors" Target="commentAuthor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theme" Target="theme/them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handoutMaster" Target="handoutMasters/handoutMaster1.xml"/><Relationship Id="rId8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a Sobkowiak" userId="7f76af53-32f2-4907-b707-590db301fc0c" providerId="ADAL" clId="{1D9523F3-4E73-4423-8888-4A71810CAD1C}"/>
    <pc:docChg chg="modSld">
      <pc:chgData name="Anja Sobkowiak" userId="7f76af53-32f2-4907-b707-590db301fc0c" providerId="ADAL" clId="{1D9523F3-4E73-4423-8888-4A71810CAD1C}" dt="2023-01-20T07:51:38.200" v="2" actId="14100"/>
      <pc:docMkLst>
        <pc:docMk/>
      </pc:docMkLst>
      <pc:sldChg chg="modSp">
        <pc:chgData name="Anja Sobkowiak" userId="7f76af53-32f2-4907-b707-590db301fc0c" providerId="ADAL" clId="{1D9523F3-4E73-4423-8888-4A71810CAD1C}" dt="2023-01-20T07:51:38.200" v="2" actId="14100"/>
        <pc:sldMkLst>
          <pc:docMk/>
          <pc:sldMk cId="689779556" sldId="757"/>
        </pc:sldMkLst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34" creationId="{C62FBF2F-8E02-461E-812B-400F3694DC4E}"/>
          </ac:spMkLst>
        </pc:spChg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35" creationId="{26985F6E-242A-4283-B476-E6405997BDB6}"/>
          </ac:spMkLst>
        </pc:spChg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36" creationId="{411BCA11-72F6-482B-A588-4A4C5773D78E}"/>
          </ac:spMkLst>
        </pc:spChg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37" creationId="{0D3390F4-C585-4CCB-865B-6B1BC31C314C}"/>
          </ac:spMkLst>
        </pc:spChg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38" creationId="{20FF0E79-7A08-4276-B2FD-CB02075A32B2}"/>
          </ac:spMkLst>
        </pc:spChg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39" creationId="{C831B7F4-A20B-4829-A902-A5979FFF532E}"/>
          </ac:spMkLst>
        </pc:spChg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40" creationId="{321AC578-33A1-4491-BA24-2A81C2CD13C6}"/>
          </ac:spMkLst>
        </pc:spChg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41" creationId="{A68C410C-EF36-450F-A272-35563FF8EE97}"/>
          </ac:spMkLst>
        </pc:spChg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42" creationId="{6031183A-DB0F-40C7-8295-A7F90BD96AE4}"/>
          </ac:spMkLst>
        </pc:spChg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43" creationId="{5774AC4C-8C31-4ECD-8C0A-976D6467D917}"/>
          </ac:spMkLst>
        </pc:spChg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44" creationId="{D2989153-5DF6-4DDF-82E7-4817BBA8FDB4}"/>
          </ac:spMkLst>
        </pc:spChg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45" creationId="{4159087D-FEFE-4189-9E0F-4A5A78158DB9}"/>
          </ac:spMkLst>
        </pc:spChg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46" creationId="{8BAE5ADB-D50E-4AD5-A73A-4B40BDBD3400}"/>
          </ac:spMkLst>
        </pc:spChg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47" creationId="{8C05A229-7A00-4D9C-892C-7D4CDEDC8C27}"/>
          </ac:spMkLst>
        </pc:spChg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53" creationId="{EB251EC0-67C2-4A2E-BEB5-E3C0B7AC4ABD}"/>
          </ac:spMkLst>
        </pc:spChg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54" creationId="{5F820F5D-AD4A-4FF2-BDC1-07FBF27EBD69}"/>
          </ac:spMkLst>
        </pc:spChg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55" creationId="{95F2365C-23F1-4955-B053-8DFA841564FE}"/>
          </ac:spMkLst>
        </pc:spChg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57" creationId="{5EF8EFB3-80C3-42EF-BC7C-0DA15F3B81A9}"/>
          </ac:spMkLst>
        </pc:spChg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58" creationId="{8B837D51-30DE-44E9-B1C4-1FB8B707F471}"/>
          </ac:spMkLst>
        </pc:spChg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59" creationId="{EA7CAE8E-3855-44C8-9B1F-B0E47B8884E9}"/>
          </ac:spMkLst>
        </pc:spChg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60" creationId="{DA7BE93C-55FA-4905-9374-4BAF82568416}"/>
          </ac:spMkLst>
        </pc:spChg>
        <pc:spChg chg="mod">
          <ac:chgData name="Anja Sobkowiak" userId="7f76af53-32f2-4907-b707-590db301fc0c" providerId="ADAL" clId="{1D9523F3-4E73-4423-8888-4A71810CAD1C}" dt="2023-01-20T07:51:38.200" v="2" actId="14100"/>
          <ac:spMkLst>
            <pc:docMk/>
            <pc:sldMk cId="689779556" sldId="757"/>
            <ac:spMk id="61" creationId="{49047C76-5176-47A1-8B1F-33B8B2127B37}"/>
          </ac:spMkLst>
        </pc:spChg>
        <pc:grpChg chg="mod">
          <ac:chgData name="Anja Sobkowiak" userId="7f76af53-32f2-4907-b707-590db301fc0c" providerId="ADAL" clId="{1D9523F3-4E73-4423-8888-4A71810CAD1C}" dt="2023-01-20T07:51:38.200" v="2" actId="14100"/>
          <ac:grpSpMkLst>
            <pc:docMk/>
            <pc:sldMk cId="689779556" sldId="757"/>
            <ac:grpSpMk id="32" creationId="{BBBFC94B-7FC9-4A66-9B6F-97BC880F4B0A}"/>
          </ac:grpSpMkLst>
        </pc:grpChg>
        <pc:graphicFrameChg chg="mod">
          <ac:chgData name="Anja Sobkowiak" userId="7f76af53-32f2-4907-b707-590db301fc0c" providerId="ADAL" clId="{1D9523F3-4E73-4423-8888-4A71810CAD1C}" dt="2023-01-20T07:51:38.200" v="2" actId="14100"/>
          <ac:graphicFrameMkLst>
            <pc:docMk/>
            <pc:sldMk cId="689779556" sldId="757"/>
            <ac:graphicFrameMk id="33" creationId="{BD0C37AD-E6A2-4187-8B3B-90E992576C0A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20/01/2023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777607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1977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20/01/2023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58838" y="742950"/>
            <a:ext cx="4951412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66909" y="4705350"/>
            <a:ext cx="5335270" cy="445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77607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36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8677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9718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4323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4883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b="0" i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7623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b="0" i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0944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8</a:t>
            </a:fld>
            <a:endParaRPr lang="fr-F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591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sz="1100" b="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02625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100" b="0" i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4482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2631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716336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004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66004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15159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100" b="0" i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16381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sz="1100" i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27408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100" b="0" i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72226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i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51233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84028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100" b="0" i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0295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i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72705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i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30637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i="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57623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100" b="0" i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79317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fr-FR" sz="1100" b="0" i="0" dirty="0">
              <a:solidFill>
                <a:srgbClr val="C0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58286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32596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tabLst/>
              <a:defRPr/>
            </a:pPr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26156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sz="1100" b="0" i="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29</a:t>
            </a:fld>
            <a:endParaRPr lang="fr-F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1391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30</a:t>
            </a:fld>
            <a:endParaRPr lang="fr-F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90294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b="0" i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31</a:t>
            </a:fld>
            <a:endParaRPr lang="fr-F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6897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83049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46073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95563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10963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33558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82165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b="0" i="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0936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b="0" i="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03616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b="0" i="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49913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i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76875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b="0" i="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075723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b="0" i="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75375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440996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777042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1304833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402450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397875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b="0" i="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228008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508574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b="0" i="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228938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825597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433968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851192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914326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406749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FontTx/>
              <a:buNone/>
            </a:pPr>
            <a:endParaRPr lang="fr-BE" b="0" u="non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523788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b="1" u="sn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608669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39829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447206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369058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397588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98611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90261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b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38103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378950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023582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109412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0629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C16A-D2FB-4123-8E16-F80700D9CE13}" type="datetime1">
              <a:rPr lang="fr-FR" smtClean="0"/>
              <a:t>20/01/2023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D5F36-E90D-4521-B545-25CBCB7C1B74}" type="datetime1">
              <a:rPr lang="fr-FR" smtClean="0"/>
              <a:t>20/01/2023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25911-D259-45AE-A1AF-8B916F182C9A}" type="datetime1">
              <a:rPr lang="fr-FR" smtClean="0"/>
              <a:t>20/01/2023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A7885-7E65-49E7-AD9B-4E1BF7636F39}" type="datetime1">
              <a:rPr lang="fr-FR" smtClean="0"/>
              <a:t>20/01/2023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4738D-75A9-4D9C-B974-2F83FB44269B}" type="datetime1">
              <a:rPr lang="fr-FR" smtClean="0"/>
              <a:t>20/01/2023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7F82-C7DE-493E-9CC9-2632F16EF428}" type="datetime1">
              <a:rPr lang="fr-FR" smtClean="0"/>
              <a:t>20/01/2023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1BB3E-438D-4178-AF0E-D0964FDF9041}" type="datetime1">
              <a:rPr lang="fr-FR" smtClean="0"/>
              <a:t>20/01/2023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4B9B6-B99B-4321-9B66-9464E2DC6C83}" type="datetime1">
              <a:rPr lang="fr-FR" smtClean="0"/>
              <a:t>20/01/2023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364A-2DEA-48CD-896C-C9F59EB0F92B}" type="datetime1">
              <a:rPr lang="fr-FR" smtClean="0"/>
              <a:t>20/01/2023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F66F-9903-4E7A-8EDA-2991D3A87AFF}" type="datetime1">
              <a:rPr lang="fr-FR" smtClean="0"/>
              <a:t>20/01/2023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356BA-1BA7-4355-BF39-7822DE4EEB79}" type="datetime1">
              <a:rPr lang="fr-FR" smtClean="0"/>
              <a:t>20/01/2023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478FA-5E77-4C81-AC82-8CB7EDCE39A7}" type="datetime1">
              <a:rPr lang="fr-FR" smtClean="0"/>
              <a:t>20/01/2023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ctrTitle"/>
          </p:nvPr>
        </p:nvSpPr>
        <p:spPr>
          <a:xfrm>
            <a:off x="760040" y="2130425"/>
            <a:ext cx="7772400" cy="1470025"/>
          </a:xfrm>
        </p:spPr>
        <p:txBody>
          <a:bodyPr>
            <a:noAutofit/>
          </a:bodyPr>
          <a:lstStyle/>
          <a:p>
            <a:r>
              <a:rPr lang="fr-BE" sz="6000" b="1" i="1" dirty="0"/>
              <a:t>Le chômage temporaire</a:t>
            </a:r>
            <a:br>
              <a:rPr lang="fr-BE" sz="6000" b="1" i="1" dirty="0"/>
            </a:br>
            <a:r>
              <a:rPr lang="fr-BE" sz="4000" b="1" i="1" dirty="0"/>
              <a:t>(niv.2) </a:t>
            </a:r>
            <a:endParaRPr lang="fr-BE" sz="60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type="subTitle" idx="1"/>
          </p:nvPr>
        </p:nvSpPr>
        <p:spPr>
          <a:xfrm>
            <a:off x="575556" y="3861048"/>
            <a:ext cx="7992888" cy="1345704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fr-BE" sz="3000" b="1" i="1" dirty="0">
                <a:solidFill>
                  <a:schemeClr val="accent2">
                    <a:lumMod val="75000"/>
                  </a:schemeClr>
                </a:solidFill>
              </a:rPr>
              <a:t>Loi </a:t>
            </a:r>
            <a:r>
              <a:rPr lang="fr-BE" sz="3000" b="1" i="1" dirty="0">
                <a:solidFill>
                  <a:schemeClr val="tx1"/>
                </a:solidFill>
              </a:rPr>
              <a:t>du 03.07.1978</a:t>
            </a:r>
            <a:r>
              <a:rPr lang="fr-BE" sz="3000" b="1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sz="3000" b="1" i="1" dirty="0">
                <a:solidFill>
                  <a:schemeClr val="tx1"/>
                </a:solidFill>
              </a:rPr>
              <a:t>– Art. </a:t>
            </a:r>
            <a:r>
              <a:rPr lang="fr-BE" sz="3000" b="1" i="1" dirty="0">
                <a:solidFill>
                  <a:schemeClr val="accent2">
                    <a:lumMod val="75000"/>
                  </a:schemeClr>
                </a:solidFill>
              </a:rPr>
              <a:t>49 à 57 </a:t>
            </a:r>
            <a:r>
              <a:rPr lang="fr-BE" sz="3000" b="1" i="1" dirty="0">
                <a:solidFill>
                  <a:schemeClr val="tx1"/>
                </a:solidFill>
              </a:rPr>
              <a:t>&amp;</a:t>
            </a:r>
            <a:r>
              <a:rPr lang="fr-BE" sz="3000" b="1" i="1" dirty="0">
                <a:solidFill>
                  <a:schemeClr val="accent2">
                    <a:lumMod val="75000"/>
                  </a:schemeClr>
                </a:solidFill>
              </a:rPr>
              <a:t> 77/1 à 77/7</a:t>
            </a:r>
          </a:p>
          <a:p>
            <a:pPr algn="l"/>
            <a:r>
              <a:rPr lang="fr-BE" sz="3000" b="1" i="1" dirty="0">
                <a:solidFill>
                  <a:schemeClr val="accent2">
                    <a:lumMod val="75000"/>
                  </a:schemeClr>
                </a:solidFill>
              </a:rPr>
              <a:t>AR </a:t>
            </a:r>
            <a:r>
              <a:rPr lang="fr-BE" sz="3000" b="1" i="1" dirty="0">
                <a:solidFill>
                  <a:schemeClr val="tx1"/>
                </a:solidFill>
              </a:rPr>
              <a:t>du 25.11.1991 – Art. </a:t>
            </a:r>
            <a:r>
              <a:rPr lang="fr-BE" sz="3000" b="1" i="1" dirty="0">
                <a:solidFill>
                  <a:schemeClr val="accent2">
                    <a:lumMod val="75000"/>
                  </a:schemeClr>
                </a:solidFill>
              </a:rPr>
              <a:t>106 à 108 bis</a:t>
            </a:r>
            <a:r>
              <a:rPr lang="fr-BE" sz="3000" b="1" i="1" dirty="0">
                <a:solidFill>
                  <a:schemeClr val="tx1"/>
                </a:solidFill>
              </a:rPr>
              <a:t> &amp; Art. </a:t>
            </a:r>
            <a:r>
              <a:rPr lang="fr-BE" sz="3000" b="1" i="1" dirty="0">
                <a:solidFill>
                  <a:schemeClr val="accent2">
                    <a:lumMod val="75000"/>
                  </a:schemeClr>
                </a:solidFill>
              </a:rPr>
              <a:t>133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611560" y="5987018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FLT – Version du 01.10.2022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810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000" b="1" dirty="0">
                <a:solidFill>
                  <a:srgbClr val="C00000"/>
                </a:solidFill>
              </a:rPr>
              <a:t>Table des matières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2400" dirty="0"/>
              <a:t>1. Définition							</a:t>
            </a:r>
            <a:r>
              <a:rPr lang="fr-BE" sz="1800" dirty="0"/>
              <a:t>pg. 5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/>
              <a:t>2. Motifs de suspension du contrat				</a:t>
            </a:r>
            <a:r>
              <a:rPr lang="fr-BE" sz="1800" dirty="0"/>
              <a:t>pg. 6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2.1. Manque de travail résultant de causes économiques	</a:t>
            </a:r>
            <a:r>
              <a:rPr lang="fr-BE" sz="1800" dirty="0"/>
              <a:t>pg. 7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2.2. Intempéries						</a:t>
            </a:r>
            <a:r>
              <a:rPr lang="fr-BE" sz="1800" dirty="0"/>
              <a:t>pg. 10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2.3. Fermeture pour vacances annuelles			</a:t>
            </a:r>
            <a:r>
              <a:rPr lang="fr-BE" sz="1800" dirty="0"/>
              <a:t>pg. 11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2.4. Fermeture pour repos compensatoire			</a:t>
            </a:r>
            <a:r>
              <a:rPr lang="fr-BE" sz="1800" dirty="0"/>
              <a:t>pg. 14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2.5. Force majeure					</a:t>
            </a:r>
            <a:r>
              <a:rPr lang="fr-BE" sz="1800" dirty="0"/>
              <a:t>pg. 16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2.6. Force majeure médicale				</a:t>
            </a:r>
            <a:r>
              <a:rPr lang="fr-BE" sz="1800" dirty="0"/>
              <a:t>pg. 18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2.7. Accident technique					</a:t>
            </a:r>
            <a:r>
              <a:rPr lang="fr-BE" sz="1800" dirty="0"/>
              <a:t>pg. 21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2.8. Grève ou lock-out					</a:t>
            </a:r>
            <a:r>
              <a:rPr lang="fr-BE" sz="1800" dirty="0"/>
              <a:t>pg. 23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2.9. Suspension Employé					</a:t>
            </a:r>
            <a:r>
              <a:rPr lang="fr-BE" sz="1800" dirty="0"/>
              <a:t>pg. 25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814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000" b="1" dirty="0">
                <a:solidFill>
                  <a:srgbClr val="C00000"/>
                </a:solidFill>
              </a:rPr>
              <a:t>Table des matières</a:t>
            </a:r>
            <a:endParaRPr lang="fr-BE" sz="4000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2600" dirty="0"/>
              <a:t>3</a:t>
            </a:r>
            <a:r>
              <a:rPr lang="fr-BE" sz="2400" dirty="0"/>
              <a:t>. Obligations de l’employeur					</a:t>
            </a:r>
            <a:r>
              <a:rPr lang="fr-BE" sz="1800" dirty="0"/>
              <a:t>pg. 26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3.1. Notification						</a:t>
            </a:r>
            <a:r>
              <a:rPr lang="fr-BE" sz="1800" dirty="0"/>
              <a:t>pg. 27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3.2. Communication					</a:t>
            </a:r>
            <a:r>
              <a:rPr lang="fr-BE" sz="1800" dirty="0"/>
              <a:t>pg. 35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3.3. Délivrance des formulaires				</a:t>
            </a:r>
            <a:r>
              <a:rPr lang="fr-BE" sz="1800" dirty="0"/>
              <a:t>pg. 46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3.4. Intérimaires						</a:t>
            </a:r>
            <a:r>
              <a:rPr lang="fr-BE" sz="1800" dirty="0"/>
              <a:t>pg. 47</a:t>
            </a:r>
            <a:endParaRPr lang="fr-BE" sz="20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/>
              <a:t>4. Obligations du travailleur					</a:t>
            </a:r>
            <a:r>
              <a:rPr lang="fr-BE" sz="1800" dirty="0"/>
              <a:t>pg. 49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/>
              <a:t>5. DA en chômage temporaire				</a:t>
            </a:r>
            <a:r>
              <a:rPr lang="fr-BE" sz="1800" dirty="0"/>
              <a:t>pg. 53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5.1. Admissibilité CT					</a:t>
            </a:r>
            <a:r>
              <a:rPr lang="fr-BE" sz="1800" dirty="0"/>
              <a:t>pg. 54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5.2. DA facultatives					</a:t>
            </a:r>
            <a:r>
              <a:rPr lang="fr-BE" sz="1800" dirty="0"/>
              <a:t>pg. 55</a:t>
            </a:r>
            <a:endParaRPr lang="fr-BE" sz="20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5.3. Autres DA						</a:t>
            </a:r>
            <a:r>
              <a:rPr lang="fr-BE" sz="1800" dirty="0"/>
              <a:t>pg. 57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1800" dirty="0"/>
              <a:t>	</a:t>
            </a:r>
            <a:r>
              <a:rPr lang="fr-BE" sz="2000" dirty="0"/>
              <a:t>5.4. Quelques particularités				</a:t>
            </a:r>
            <a:r>
              <a:rPr lang="fr-BE" sz="1800" dirty="0" err="1"/>
              <a:t>pg</a:t>
            </a:r>
            <a:r>
              <a:rPr lang="fr-BE" sz="1800" dirty="0"/>
              <a:t>. 58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1800" dirty="0"/>
              <a:t>	</a:t>
            </a:r>
            <a:r>
              <a:rPr lang="fr-BE" sz="2000" dirty="0"/>
              <a:t>5.5.  Divers						</a:t>
            </a:r>
            <a:r>
              <a:rPr lang="fr-BE" sz="1800" dirty="0" err="1"/>
              <a:t>pg</a:t>
            </a:r>
            <a:r>
              <a:rPr lang="fr-BE" sz="1800" dirty="0"/>
              <a:t>. 62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873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000" b="1" i="1" dirty="0">
                <a:solidFill>
                  <a:srgbClr val="C00000"/>
                </a:solidFill>
              </a:rPr>
              <a:t>Table des matières</a:t>
            </a:r>
            <a:endParaRPr lang="fr-FR" sz="4000" b="1" i="1" dirty="0">
              <a:solidFill>
                <a:srgbClr val="C00000"/>
              </a:solidFill>
            </a:endParaRPr>
          </a:p>
        </p:txBody>
      </p:sp>
      <p:sp>
        <p:nvSpPr>
          <p:cNvPr id="15" name="Espace réservé du contenu 1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2400" dirty="0"/>
              <a:t>6. Le code chiffré						</a:t>
            </a:r>
            <a:r>
              <a:rPr lang="fr-BE" sz="1800" dirty="0">
                <a:solidFill>
                  <a:prstClr val="black"/>
                </a:solidFill>
              </a:rPr>
              <a:t>pg. 64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/>
              <a:t>7. Composition du dossier					</a:t>
            </a:r>
            <a:r>
              <a:rPr lang="fr-BE" sz="1800" dirty="0"/>
              <a:t>pg. 69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/>
              <a:t>8. Délais d’introduction					</a:t>
            </a:r>
            <a:r>
              <a:rPr lang="fr-BE" sz="1800" dirty="0"/>
              <a:t>pg. 70</a:t>
            </a:r>
          </a:p>
          <a:p>
            <a:pPr>
              <a:spcBef>
                <a:spcPts val="600"/>
              </a:spcBef>
              <a:buNone/>
            </a:pPr>
            <a:r>
              <a:rPr lang="fr-BE" sz="2400" dirty="0"/>
              <a:t>9. Jours indemnisables en CT					</a:t>
            </a:r>
            <a:r>
              <a:rPr lang="fr-BE" sz="1800" dirty="0"/>
              <a:t>pg. 71</a:t>
            </a:r>
          </a:p>
          <a:p>
            <a:pPr>
              <a:spcBef>
                <a:spcPts val="600"/>
              </a:spcBef>
              <a:buNone/>
            </a:pPr>
            <a:r>
              <a:rPr lang="fr-BE" sz="2400" dirty="0"/>
              <a:t>10. Quelques Tâches						</a:t>
            </a:r>
            <a:r>
              <a:rPr lang="fr-BE" sz="1800" dirty="0" err="1">
                <a:solidFill>
                  <a:prstClr val="black"/>
                </a:solidFill>
              </a:rPr>
              <a:t>pg</a:t>
            </a:r>
            <a:r>
              <a:rPr lang="fr-BE" sz="1800" dirty="0">
                <a:solidFill>
                  <a:prstClr val="black"/>
                </a:solidFill>
              </a:rPr>
              <a:t>. 73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1037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1. Définition </a:t>
            </a:r>
            <a:endParaRPr lang="en-US" sz="4800" b="1" i="1" dirty="0">
              <a:solidFill>
                <a:srgbClr val="C0000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endParaRPr lang="fr-BE" sz="3600" dirty="0"/>
          </a:p>
          <a:p>
            <a:pPr marL="0" indent="0">
              <a:spcBef>
                <a:spcPts val="0"/>
              </a:spcBef>
              <a:buNone/>
            </a:pPr>
            <a:r>
              <a:rPr lang="fr-BE" sz="3600" dirty="0"/>
              <a:t>Le </a:t>
            </a:r>
            <a:r>
              <a:rPr lang="fr-BE" sz="3600" b="1" dirty="0">
                <a:solidFill>
                  <a:schemeClr val="accent2">
                    <a:lumMod val="75000"/>
                  </a:schemeClr>
                </a:solidFill>
              </a:rPr>
              <a:t>chômeur temporaire </a:t>
            </a:r>
            <a:r>
              <a:rPr lang="fr-BE" sz="3600" dirty="0"/>
              <a:t>est un travailleur dont l’exécution du contrat de travail qui le lie à un employeur est temporairement suspendue.</a:t>
            </a:r>
            <a:r>
              <a:rPr lang="fr-BE" sz="3600" b="1" dirty="0">
                <a:cs typeface="Times New Roman" pitchFamily="18" charset="0"/>
              </a:rPr>
              <a:t> </a:t>
            </a:r>
            <a:r>
              <a:rPr lang="fr-BE" sz="2400" b="1" dirty="0">
                <a:cs typeface="Times New Roman" pitchFamily="18" charset="0"/>
              </a:rPr>
              <a:t>(Art. 27, 2°)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398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8EABFB-956A-4D00-BE62-0E7EF1DDC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 Motifs de suspension du contrat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72A2C91-1290-44E9-A672-CD1CC6F5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F7B4330-1AF3-4B05-9C82-163E0C4656A0}"/>
              </a:ext>
            </a:extLst>
          </p:cNvPr>
          <p:cNvGraphicFramePr>
            <a:graphicFrameLocks noGrp="1"/>
          </p:cNvGraphicFramePr>
          <p:nvPr/>
        </p:nvGraphicFramePr>
        <p:xfrm>
          <a:off x="287524" y="1233591"/>
          <a:ext cx="8568951" cy="524651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72308">
                  <a:extLst>
                    <a:ext uri="{9D8B030D-6E8A-4147-A177-3AD203B41FA5}">
                      <a16:colId xmlns:a16="http://schemas.microsoft.com/office/drawing/2014/main" val="1989655124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302664115"/>
                    </a:ext>
                  </a:extLst>
                </a:gridCol>
                <a:gridCol w="2700299">
                  <a:extLst>
                    <a:ext uri="{9D8B030D-6E8A-4147-A177-3AD203B41FA5}">
                      <a16:colId xmlns:a16="http://schemas.microsoft.com/office/drawing/2014/main" val="1586777237"/>
                    </a:ext>
                  </a:extLst>
                </a:gridCol>
              </a:tblGrid>
              <a:tr h="426023">
                <a:tc>
                  <a:txBody>
                    <a:bodyPr/>
                    <a:lstStyle/>
                    <a:p>
                      <a:pPr algn="ctr"/>
                      <a:r>
                        <a:rPr lang="fr-BE" sz="2000" dirty="0"/>
                        <a:t>Ouvriers uniquement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/>
                        <a:t>Ouvriers &amp; employés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/>
                        <a:t>Employés uniquement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542271"/>
                  </a:ext>
                </a:extLst>
              </a:tr>
              <a:tr h="688192">
                <a:tc>
                  <a:txBody>
                    <a:bodyPr/>
                    <a:lstStyle/>
                    <a:p>
                      <a:r>
                        <a:rPr lang="fr-BE" sz="1900" dirty="0"/>
                        <a:t>Manque de travail pour causes économiques </a:t>
                      </a:r>
                    </a:p>
                    <a:p>
                      <a:r>
                        <a:rPr lang="fr-BE" dirty="0"/>
                        <a:t>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E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5.1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900" dirty="0"/>
                        <a:t>Force majeure </a:t>
                      </a:r>
                      <a:r>
                        <a:rPr lang="fr-BE" dirty="0"/>
                        <a:t>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F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5.4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900" dirty="0"/>
                        <a:t>Suspension employé pour manque de travail </a:t>
                      </a:r>
                      <a:r>
                        <a:rPr lang="fr-BE" dirty="0"/>
                        <a:t>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SE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5.11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208006"/>
                  </a:ext>
                </a:extLst>
              </a:tr>
              <a:tr h="688192">
                <a:tc>
                  <a:txBody>
                    <a:bodyPr/>
                    <a:lstStyle/>
                    <a:p>
                      <a:r>
                        <a:rPr lang="fr-BE" sz="1900" dirty="0"/>
                        <a:t>Intempéries</a:t>
                      </a:r>
                      <a:r>
                        <a:rPr lang="fr-BE" dirty="0"/>
                        <a:t>  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I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5.2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900" dirty="0"/>
                        <a:t>Force majeure médicale </a:t>
                      </a:r>
                    </a:p>
                    <a:p>
                      <a:r>
                        <a:rPr lang="fr-BE" dirty="0"/>
                        <a:t>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FM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5.5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010246"/>
                  </a:ext>
                </a:extLst>
              </a:tr>
              <a:tr h="688192">
                <a:tc>
                  <a:txBody>
                    <a:bodyPr/>
                    <a:lstStyle/>
                    <a:p>
                      <a:r>
                        <a:rPr lang="fr-BE" sz="1900" dirty="0"/>
                        <a:t>Accident technique </a:t>
                      </a:r>
                      <a:r>
                        <a:rPr lang="fr-BE" dirty="0"/>
                        <a:t>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T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5.3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900" dirty="0"/>
                        <a:t>Fermeture collective pour vacances annuelles </a:t>
                      </a:r>
                      <a:r>
                        <a:rPr lang="fr-BE" dirty="0"/>
                        <a:t>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V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5.6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654522"/>
                  </a:ext>
                </a:extLst>
              </a:tr>
              <a:tr h="983131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900" dirty="0"/>
                        <a:t>Fermeture d’entreprise pour vacances complémentaire </a:t>
                      </a:r>
                      <a:r>
                        <a:rPr lang="fr-BE" dirty="0"/>
                        <a:t>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VS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5.7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188984"/>
                  </a:ext>
                </a:extLst>
              </a:tr>
              <a:tr h="398714"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900" dirty="0"/>
                        <a:t>Repos compensatoire </a:t>
                      </a:r>
                      <a:r>
                        <a:rPr lang="fr-BE" dirty="0"/>
                        <a:t>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R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5.8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119652"/>
                  </a:ext>
                </a:extLst>
              </a:tr>
              <a:tr h="398714"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900" dirty="0"/>
                        <a:t>Grève ou lockout </a:t>
                      </a:r>
                      <a:r>
                        <a:rPr lang="fr-BE" dirty="0"/>
                        <a:t>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G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5.9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83101"/>
                  </a:ext>
                </a:extLst>
              </a:tr>
              <a:tr h="688192"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900" dirty="0"/>
                        <a:t>Licenciement travailleur protégé </a:t>
                      </a:r>
                      <a:r>
                        <a:rPr lang="fr-BE" dirty="0"/>
                        <a:t>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D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5.10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417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430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2.1. Manque de travail </a:t>
            </a:r>
            <a:br>
              <a:rPr lang="fr-BE" b="1" i="1" dirty="0"/>
            </a:br>
            <a:r>
              <a:rPr lang="fr-BE" b="1" i="1" dirty="0"/>
              <a:t>résultant de causes économiques (E)</a:t>
            </a:r>
            <a:endParaRPr lang="en-US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 algn="ctr">
              <a:buNone/>
            </a:pPr>
            <a:r>
              <a:rPr lang="fr-BE" sz="4400" b="1" dirty="0"/>
              <a:t>Article 51 de la loi du 03.07.1978 relative aux contrats de travail.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859526"/>
            <a:ext cx="5754337" cy="3436624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5460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2.1. Manque de travail … ?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fr-BE" dirty="0"/>
          </a:p>
          <a:p>
            <a:pPr marL="0" indent="0">
              <a:spcBef>
                <a:spcPts val="0"/>
              </a:spcBef>
              <a:buNone/>
            </a:pPr>
            <a:r>
              <a:rPr lang="fr-BE" dirty="0"/>
              <a:t>L’employeur, qui est temporairement dans l’impossibilité de maintenir le rythme de travail existant dans l’entreprise, peut suspendre l’exécution du contrat de travail.</a:t>
            </a:r>
          </a:p>
          <a:p>
            <a:pPr marL="0" indent="0">
              <a:spcBef>
                <a:spcPts val="0"/>
              </a:spcBef>
              <a:buNone/>
            </a:pPr>
            <a:endParaRPr lang="fr-BE" b="1" dirty="0"/>
          </a:p>
          <a:p>
            <a:pPr marL="0" indent="0">
              <a:spcBef>
                <a:spcPts val="0"/>
              </a:spcBef>
              <a:buNone/>
            </a:pPr>
            <a:r>
              <a:rPr lang="fr-BE" b="1" dirty="0"/>
              <a:t>Le </a:t>
            </a:r>
            <a:r>
              <a:rPr lang="fr-BE" b="1" u="sng" dirty="0">
                <a:solidFill>
                  <a:schemeClr val="accent2">
                    <a:lumMod val="75000"/>
                  </a:schemeClr>
                </a:solidFill>
              </a:rPr>
              <a:t>manque de travail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b="1" dirty="0"/>
              <a:t>doit être </a:t>
            </a:r>
            <a:r>
              <a:rPr lang="fr-BE" b="1" u="sng" dirty="0">
                <a:solidFill>
                  <a:schemeClr val="accent2">
                    <a:lumMod val="75000"/>
                  </a:schemeClr>
                </a:solidFill>
              </a:rPr>
              <a:t>temporaire</a:t>
            </a:r>
            <a:r>
              <a:rPr lang="fr-BE" b="1" dirty="0"/>
              <a:t> et </a:t>
            </a:r>
            <a:r>
              <a:rPr lang="fr-BE" b="1" u="sng" dirty="0">
                <a:solidFill>
                  <a:schemeClr val="accent2">
                    <a:lumMod val="75000"/>
                  </a:schemeClr>
                </a:solidFill>
              </a:rPr>
              <a:t>dû</a:t>
            </a:r>
            <a:r>
              <a:rPr lang="fr-BE" b="1" dirty="0"/>
              <a:t> à des </a:t>
            </a:r>
            <a:r>
              <a:rPr lang="fr-BE" b="1" u="sng" dirty="0">
                <a:solidFill>
                  <a:schemeClr val="accent2">
                    <a:lumMod val="75000"/>
                  </a:schemeClr>
                </a:solidFill>
              </a:rPr>
              <a:t>facteurs économiques</a:t>
            </a:r>
            <a:r>
              <a:rPr lang="fr-BE" b="1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57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2.1. Possibilités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dirty="0"/>
              <a:t>Si l’employeur est dans l’impossibilité de maintenir le rythme de travail existant dans l’entreprise, il peut soit : </a:t>
            </a:r>
          </a:p>
          <a:p>
            <a:pPr marL="0" indent="0">
              <a:spcBef>
                <a:spcPts val="600"/>
              </a:spcBef>
              <a:buNone/>
            </a:pPr>
            <a:endParaRPr lang="fr-BE" sz="12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b="1" dirty="0"/>
              <a:t>Suspendre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totalement</a:t>
            </a:r>
            <a:r>
              <a:rPr lang="fr-BE" b="1" dirty="0"/>
              <a:t> l’exécution du contrat de travail.</a:t>
            </a:r>
          </a:p>
          <a:p>
            <a:pPr marL="0" indent="0">
              <a:spcBef>
                <a:spcPts val="600"/>
              </a:spcBef>
              <a:buNone/>
            </a:pPr>
            <a:endParaRPr lang="fr-BE" sz="1200" b="1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b="1" dirty="0"/>
              <a:t>Instaurer un régime de travail à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temps réduit</a:t>
            </a:r>
            <a:r>
              <a:rPr lang="fr-BE" b="1" dirty="0"/>
              <a:t>.</a:t>
            </a:r>
            <a:endParaRPr lang="fr-FR" b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74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2.2. Intempéries (I)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None/>
            </a:pPr>
            <a:endParaRPr lang="fr-BE" dirty="0"/>
          </a:p>
          <a:p>
            <a:pPr>
              <a:buFont typeface="Wingdings" pitchFamily="2" charset="2"/>
              <a:buNone/>
            </a:pPr>
            <a:endParaRPr lang="fr-BE" dirty="0"/>
          </a:p>
          <a:p>
            <a:pPr>
              <a:buFont typeface="Wingdings" pitchFamily="2" charset="2"/>
              <a:buNone/>
            </a:pPr>
            <a:endParaRPr lang="fr-BE" dirty="0"/>
          </a:p>
          <a:p>
            <a:pPr>
              <a:buFont typeface="Wingdings" pitchFamily="2" charset="2"/>
              <a:buNone/>
            </a:pPr>
            <a:endParaRPr lang="fr-BE" dirty="0"/>
          </a:p>
          <a:p>
            <a:pPr>
              <a:buFont typeface="Wingdings" pitchFamily="2" charset="2"/>
              <a:buNone/>
            </a:pPr>
            <a:endParaRPr lang="fr-BE" dirty="0"/>
          </a:p>
          <a:p>
            <a:pPr>
              <a:buFont typeface="Wingdings" pitchFamily="2" charset="2"/>
              <a:buNone/>
            </a:pPr>
            <a:endParaRPr lang="fr-BE" dirty="0"/>
          </a:p>
          <a:p>
            <a:pPr algn="ctr">
              <a:buNone/>
            </a:pPr>
            <a:endParaRPr lang="fr-BE" sz="2000" b="1" dirty="0"/>
          </a:p>
          <a:p>
            <a:pPr algn="ctr">
              <a:buNone/>
            </a:pPr>
            <a:r>
              <a:rPr lang="fr-BE" sz="2000" b="1" dirty="0"/>
              <a:t>Article 50 de la loi du 03.07.1978 relative aux contrats de travail.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677" y="1556792"/>
            <a:ext cx="5738648" cy="3744416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71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2.3. Fermeture d’entreprise </a:t>
            </a:r>
            <a:br>
              <a:rPr lang="fr-BE" sz="4000" b="1" i="1" dirty="0"/>
            </a:br>
            <a:r>
              <a:rPr lang="fr-BE" sz="4000" b="1" i="1" dirty="0"/>
              <a:t>pour vacances annuelles (V)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 algn="ctr">
              <a:buNone/>
            </a:pPr>
            <a:r>
              <a:rPr lang="fr-BE" sz="2000" b="1" dirty="0"/>
              <a:t>Article 28 de la loi du 03.07.1978 relative aux contrats de travail.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1" y="1844824"/>
            <a:ext cx="5760640" cy="3672408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757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2.3. Principe de base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endParaRPr lang="fr-BE" sz="2800" dirty="0"/>
          </a:p>
          <a:p>
            <a:pPr marL="0" indent="0">
              <a:spcBef>
                <a:spcPts val="0"/>
              </a:spcBef>
              <a:buNone/>
            </a:pPr>
            <a:r>
              <a:rPr lang="fr-BE" dirty="0"/>
              <a:t>Lors d’une fermeture d’entreprises pour VA, le </a:t>
            </a:r>
            <a:r>
              <a:rPr lang="fr-BE" b="1" dirty="0"/>
              <a:t>travailleur qui n’a pas,</a:t>
            </a:r>
            <a:r>
              <a:rPr lang="fr-BE" dirty="0"/>
              <a:t> </a:t>
            </a:r>
            <a:r>
              <a:rPr lang="fr-BE" b="1" dirty="0"/>
              <a:t>ou plus, droit à un nombre de jours de vacances suffisant pour couvrir toute la période de fermeture</a:t>
            </a:r>
            <a:r>
              <a:rPr lang="fr-BE" dirty="0"/>
              <a:t>, peut être indemnisé pour les journées non couvertes par pécule de vacances.</a:t>
            </a:r>
            <a:endParaRPr lang="fr-FR" dirty="0"/>
          </a:p>
          <a:p>
            <a:pPr marL="0" indent="0">
              <a:buFont typeface="Wingdings" pitchFamily="2" charset="2"/>
              <a:buNone/>
            </a:pPr>
            <a:endParaRPr lang="fr-FR" sz="3000" b="1" i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65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2.3. Période maximale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FR" sz="3000" dirty="0"/>
              <a:t>Maximum 4 semaines de Chômage temporaire (V) par année civile et par employeur.</a:t>
            </a:r>
          </a:p>
          <a:p>
            <a:pPr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3000" dirty="0"/>
              <a:t>L’intéressé doit commencer par épuiser les jours couverts par un pécule de vacances. </a:t>
            </a:r>
          </a:p>
          <a:p>
            <a:pPr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3000" dirty="0"/>
              <a:t>Ces jours peuvent également être épuisés pendant :</a:t>
            </a:r>
          </a:p>
          <a:p>
            <a:pPr lvl="1"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fr-FR" dirty="0"/>
              <a:t>Une période de chômage complet.</a:t>
            </a:r>
          </a:p>
          <a:p>
            <a:pPr lvl="1"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fr-FR" dirty="0"/>
              <a:t>Une occupation antérieure.</a:t>
            </a:r>
          </a:p>
          <a:p>
            <a:pPr lvl="1"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fr-FR" dirty="0"/>
              <a:t>Une période de fermeture antérieure auprès de l’employeur actuel.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2042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2.4. Fermeture d’entreprise pour </a:t>
            </a:r>
            <a:br>
              <a:rPr lang="fr-BE" sz="4000" b="1" i="1" dirty="0"/>
            </a:br>
            <a:r>
              <a:rPr lang="fr-BE" sz="4000" b="1" i="1" dirty="0"/>
              <a:t>repos compensatoire (R) 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 algn="ctr">
              <a:buNone/>
            </a:pPr>
            <a:r>
              <a:rPr lang="fr-BE" sz="2000" b="1" dirty="0"/>
              <a:t>Article 28 de la loi du 03.07.1978 relative aux contrats de travail.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939160"/>
            <a:ext cx="5904656" cy="3650080"/>
          </a:xfrm>
          <a:prstGeom prst="rect">
            <a:avLst/>
          </a:prstGeom>
        </p:spPr>
      </p:pic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546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2.4. Fermeture d’entreprise pour </a:t>
            </a:r>
            <a:br>
              <a:rPr lang="fr-BE" b="1" i="1" dirty="0"/>
            </a:br>
            <a:r>
              <a:rPr lang="fr-BE" b="1" i="1" dirty="0"/>
              <a:t>repos compensatoire (R)</a:t>
            </a:r>
            <a:endParaRPr lang="en-US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endParaRPr lang="fr-BE" sz="2000" dirty="0"/>
          </a:p>
          <a:p>
            <a:pPr marL="0" indent="0">
              <a:spcBef>
                <a:spcPts val="0"/>
              </a:spcBef>
              <a:buNone/>
            </a:pPr>
            <a:r>
              <a:rPr lang="fr-BE" dirty="0"/>
              <a:t>Lors d’une fermeture d’entreprises pour repos compensatoire, le travailleur peut être </a:t>
            </a:r>
            <a:r>
              <a:rPr lang="fr-BE" b="1" dirty="0"/>
              <a:t>indemnisé en chômage temporaire </a:t>
            </a:r>
            <a:r>
              <a:rPr lang="fr-BE" dirty="0"/>
              <a:t>s’il n’a </a:t>
            </a:r>
            <a:r>
              <a:rPr lang="fr-BE" b="1" dirty="0"/>
              <a:t>pas acquis suffisamment de repos compensatoire suite à une entrée récente en service, c.à.d. l’année en cours ou l’année précédente.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699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2.5. Force majeure (F)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 algn="ctr">
              <a:buNone/>
            </a:pPr>
            <a:r>
              <a:rPr lang="fr-BE" sz="2200" b="1" dirty="0"/>
              <a:t>Article 26 de la loi du 03.07.1978 relative aux contrats de travail.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556792"/>
            <a:ext cx="5904655" cy="3816423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8687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2.5. Force majeure … ?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endParaRPr lang="fr-BE" sz="2000" dirty="0"/>
          </a:p>
          <a:p>
            <a:pPr marL="0" indent="0">
              <a:spcBef>
                <a:spcPts val="0"/>
              </a:spcBef>
              <a:buNone/>
            </a:pPr>
            <a:endParaRPr lang="fr-BE" sz="2000" dirty="0"/>
          </a:p>
          <a:p>
            <a:pPr marL="0" indent="0">
              <a:spcBef>
                <a:spcPts val="0"/>
              </a:spcBef>
              <a:buNone/>
            </a:pPr>
            <a:r>
              <a:rPr lang="fr-BE" dirty="0"/>
              <a:t>La </a:t>
            </a:r>
            <a:r>
              <a:rPr lang="fr-BE" b="1" u="sng" dirty="0"/>
              <a:t>force majeure </a:t>
            </a:r>
            <a:r>
              <a:rPr lang="fr-BE" dirty="0"/>
              <a:t>est un </a:t>
            </a:r>
            <a:r>
              <a:rPr lang="fr-BE" b="1" dirty="0"/>
              <a:t>événement</a:t>
            </a:r>
            <a:r>
              <a:rPr lang="fr-BE" b="1" dirty="0">
                <a:solidFill>
                  <a:srgbClr val="C00000"/>
                </a:solidFill>
              </a:rPr>
              <a:t>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soudain, imprévisible, inévitable</a:t>
            </a:r>
            <a:r>
              <a:rPr lang="fr-BE" b="1" dirty="0">
                <a:solidFill>
                  <a:srgbClr val="C00000"/>
                </a:solidFill>
              </a:rPr>
              <a:t> </a:t>
            </a:r>
            <a:r>
              <a:rPr lang="fr-BE" b="1" dirty="0"/>
              <a:t>et</a:t>
            </a:r>
            <a:r>
              <a:rPr lang="fr-BE" b="1" dirty="0">
                <a:solidFill>
                  <a:srgbClr val="C00000"/>
                </a:solidFill>
              </a:rPr>
              <a:t>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involontaire</a:t>
            </a:r>
            <a:r>
              <a:rPr lang="fr-BE" b="1" dirty="0">
                <a:solidFill>
                  <a:srgbClr val="C00000"/>
                </a:solidFill>
              </a:rPr>
              <a:t> </a:t>
            </a:r>
            <a:r>
              <a:rPr lang="fr-BE" dirty="0"/>
              <a:t>qui rend impossible temporairement l’exécution du contrat.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381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2.6. Force majeure médicale… (FM)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600200"/>
            <a:ext cx="5194920" cy="452596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endParaRPr lang="fr-BE" dirty="0"/>
          </a:p>
          <a:p>
            <a:pPr marL="0" indent="0">
              <a:spcBef>
                <a:spcPts val="0"/>
              </a:spcBef>
              <a:buNone/>
            </a:pPr>
            <a:r>
              <a:rPr lang="fr-BE" dirty="0"/>
              <a:t>C’est l’état de santé du travailleur qui ne lui permet plus d’exécuter les tâches prévues dans son contrat de travail.</a:t>
            </a: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539552" y="5757850"/>
            <a:ext cx="741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000" b="1" dirty="0"/>
              <a:t>Article 26 de la loi du 03.07.1978 relative aux contrats de travail.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1556792"/>
            <a:ext cx="3096344" cy="3888432"/>
          </a:xfrm>
          <a:prstGeom prst="rect">
            <a:avLst/>
          </a:prstGeom>
        </p:spPr>
      </p:pic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6785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2.6. Procédure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BE" dirty="0"/>
              <a:t>Après une période de maladie </a:t>
            </a:r>
            <a:r>
              <a:rPr lang="fr-BE" b="1" u="sng" dirty="0">
                <a:solidFill>
                  <a:schemeClr val="accent2">
                    <a:lumMod val="75000"/>
                  </a:schemeClr>
                </a:solidFill>
              </a:rPr>
              <a:t>d’au moins 6 mois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sz="2400" dirty="0"/>
              <a:t>(Art. 61), </a:t>
            </a:r>
            <a:r>
              <a:rPr lang="fr-BE" dirty="0"/>
              <a:t>le travailleur est remis au travail par le médecin conseil.</a:t>
            </a:r>
          </a:p>
          <a:p>
            <a:pPr marL="0" indent="0">
              <a:spcBef>
                <a:spcPts val="0"/>
              </a:spcBef>
              <a:buNone/>
            </a:pPr>
            <a:endParaRPr lang="fr-BE" dirty="0"/>
          </a:p>
          <a:p>
            <a:pPr marL="0" indent="0">
              <a:spcBef>
                <a:spcPts val="0"/>
              </a:spcBef>
              <a:buNone/>
            </a:pPr>
            <a:r>
              <a:rPr lang="fr-BE" dirty="0"/>
              <a:t>Or, le travailleur est incapable de reprendre le travail convenu.</a:t>
            </a:r>
          </a:p>
          <a:p>
            <a:pPr marL="0" indent="0">
              <a:spcBef>
                <a:spcPts val="0"/>
              </a:spcBef>
              <a:buNone/>
            </a:pPr>
            <a:endParaRPr lang="fr-BE" dirty="0"/>
          </a:p>
          <a:p>
            <a:pPr marL="0" indent="0">
              <a:spcBef>
                <a:spcPts val="0"/>
              </a:spcBef>
              <a:buNone/>
            </a:pPr>
            <a:r>
              <a:rPr lang="fr-BE" sz="2800" dirty="0">
                <a:sym typeface="Wingdings" pitchFamily="2" charset="2"/>
              </a:rPr>
              <a:t></a:t>
            </a:r>
            <a:r>
              <a:rPr lang="fr-BE" dirty="0">
                <a:sym typeface="Wingdings" pitchFamily="2" charset="2"/>
              </a:rPr>
              <a:t> L</a:t>
            </a:r>
            <a:r>
              <a:rPr lang="fr-BE" dirty="0"/>
              <a:t>e travailleur est vu par le médecin du travail. </a:t>
            </a:r>
          </a:p>
          <a:p>
            <a:pPr>
              <a:buNone/>
            </a:pP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271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2.6. Procédure</a:t>
            </a:r>
            <a:endParaRPr lang="fr-BE" sz="4000" b="1" i="1" dirty="0">
              <a:solidFill>
                <a:srgbClr val="C0000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2800" dirty="0">
                <a:sym typeface="Wingdings" panose="05000000000000000000" pitchFamily="2" charset="2"/>
              </a:rPr>
              <a:t>Le travailleur </a:t>
            </a:r>
            <a:r>
              <a:rPr lang="fr-BE" sz="2800" b="1" dirty="0">
                <a:sym typeface="Wingdings" panose="05000000000000000000" pitchFamily="2" charset="2"/>
              </a:rPr>
              <a:t>peut solliciter des allocations de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CT </a:t>
            </a:r>
            <a:r>
              <a:rPr lang="fr-BE" sz="2800" b="1" dirty="0">
                <a:sym typeface="Wingdings" panose="05000000000000000000" pitchFamily="2" charset="2"/>
              </a:rPr>
              <a:t>« 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FM</a:t>
            </a:r>
            <a:r>
              <a:rPr lang="fr-BE" sz="2800" b="1" dirty="0">
                <a:sym typeface="Wingdings" panose="05000000000000000000" pitchFamily="2" charset="2"/>
              </a:rPr>
              <a:t> »</a:t>
            </a:r>
            <a:r>
              <a:rPr lang="fr-BE" sz="2800" dirty="0">
                <a:sym typeface="Wingdings" panose="05000000000000000000" pitchFamily="2" charset="2"/>
              </a:rPr>
              <a:t>,</a:t>
            </a:r>
            <a:r>
              <a:rPr lang="fr-BE" sz="2800" b="1" dirty="0">
                <a:sym typeface="Wingdings" panose="05000000000000000000" pitchFamily="2" charset="2"/>
              </a:rPr>
              <a:t> </a:t>
            </a:r>
            <a:r>
              <a:rPr lang="fr-BE" sz="2800" b="1" u="sng" dirty="0">
                <a:sym typeface="Wingdings" panose="05000000000000000000" pitchFamily="2" charset="2"/>
              </a:rPr>
              <a:t>si</a:t>
            </a:r>
            <a:r>
              <a:rPr lang="fr-BE" sz="2800" dirty="0">
                <a:sym typeface="Wingdings" panose="05000000000000000000" pitchFamily="2" charset="2"/>
              </a:rPr>
              <a:t> le </a:t>
            </a:r>
            <a:r>
              <a:rPr lang="fr-BE" sz="2800" b="1" dirty="0">
                <a:sym typeface="Wingdings" panose="05000000000000000000" pitchFamily="2" charset="2"/>
              </a:rPr>
              <a:t>CP-MT reconnait que le travailleur est inapte au travail convenu</a:t>
            </a:r>
            <a:r>
              <a:rPr lang="fr-BE" sz="2800" dirty="0">
                <a:sym typeface="Wingdings" panose="05000000000000000000" pitchFamily="2" charset="2"/>
              </a:rPr>
              <a:t> :</a:t>
            </a:r>
          </a:p>
          <a:p>
            <a:pPr marL="0" indent="0">
              <a:spcBef>
                <a:spcPts val="600"/>
              </a:spcBef>
              <a:buNone/>
            </a:pPr>
            <a:endParaRPr lang="fr-BE" sz="1000" dirty="0">
              <a:sym typeface="Wingdings" panose="05000000000000000000" pitchFamily="2" charset="2"/>
            </a:endParaRPr>
          </a:p>
          <a:p>
            <a:pPr marL="54133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b="1" dirty="0">
                <a:sym typeface="Wingdings" panose="05000000000000000000" pitchFamily="2" charset="2"/>
              </a:rPr>
              <a:t>Soit, il est </a:t>
            </a:r>
            <a:r>
              <a:rPr lang="fr-BE" sz="2800" b="1" u="sng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temporairement inapte</a:t>
            </a:r>
            <a:r>
              <a:rPr lang="fr-BE" sz="2800" dirty="0">
                <a:sym typeface="Wingdings" panose="05000000000000000000" pitchFamily="2" charset="2"/>
              </a:rPr>
              <a:t>, </a:t>
            </a:r>
            <a:r>
              <a:rPr lang="fr-BE" sz="2800" u="sng" dirty="0">
                <a:sym typeface="Wingdings" panose="05000000000000000000" pitchFamily="2" charset="2"/>
              </a:rPr>
              <a:t>et</a:t>
            </a:r>
          </a:p>
          <a:p>
            <a:pPr marL="982663" lvl="1" indent="-327025">
              <a:spcBef>
                <a:spcPts val="600"/>
              </a:spcBef>
              <a:buSzPct val="80000"/>
              <a:buFont typeface="Courier New" panose="02070309020205020404" pitchFamily="49" charset="0"/>
              <a:buChar char="o"/>
            </a:pPr>
            <a:r>
              <a:rPr lang="fr-BE" dirty="0">
                <a:sym typeface="Wingdings" panose="05000000000000000000" pitchFamily="2" charset="2"/>
              </a:rPr>
              <a:t>Pas de travail de remplacement.</a:t>
            </a:r>
          </a:p>
          <a:p>
            <a:pPr marL="982663" lvl="1" indent="0">
              <a:spcBef>
                <a:spcPts val="600"/>
              </a:spcBef>
              <a:buSzPct val="80000"/>
              <a:buNone/>
            </a:pPr>
            <a:r>
              <a:rPr lang="fr-BE" i="1" u="sng" dirty="0">
                <a:sym typeface="Wingdings" panose="05000000000000000000" pitchFamily="2" charset="2"/>
              </a:rPr>
              <a:t>ou</a:t>
            </a:r>
          </a:p>
          <a:p>
            <a:pPr marL="982663" lvl="1" indent="-327025">
              <a:spcBef>
                <a:spcPts val="600"/>
              </a:spcBef>
              <a:buSzPct val="80000"/>
              <a:buFont typeface="Courier New" panose="02070309020205020404" pitchFamily="49" charset="0"/>
              <a:buChar char="o"/>
            </a:pPr>
            <a:r>
              <a:rPr lang="fr-BE" dirty="0">
                <a:sym typeface="Wingdings" panose="05000000000000000000" pitchFamily="2" charset="2"/>
              </a:rPr>
              <a:t>Un trajet de réintégration est en cours.</a:t>
            </a:r>
          </a:p>
          <a:p>
            <a:pPr marL="655638" lvl="1" indent="0">
              <a:spcBef>
                <a:spcPts val="600"/>
              </a:spcBef>
              <a:buSzPct val="80000"/>
              <a:buNone/>
            </a:pPr>
            <a:endParaRPr lang="fr-BE" sz="400" dirty="0">
              <a:sym typeface="Wingdings" panose="05000000000000000000" pitchFamily="2" charset="2"/>
            </a:endParaRPr>
          </a:p>
          <a:p>
            <a:pPr marL="541338" lvl="1" indent="-34290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fr-BE" b="1" dirty="0">
                <a:sym typeface="Wingdings" panose="05000000000000000000" pitchFamily="2" charset="2"/>
              </a:rPr>
              <a:t>Soit, il est </a:t>
            </a:r>
            <a:r>
              <a:rPr lang="fr-BE" b="1" u="sng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définitivement inapte</a:t>
            </a:r>
            <a:r>
              <a:rPr lang="fr-BE" dirty="0">
                <a:sym typeface="Wingdings" panose="05000000000000000000" pitchFamily="2" charset="2"/>
              </a:rPr>
              <a:t>, </a:t>
            </a:r>
            <a:r>
              <a:rPr lang="fr-BE" u="sng" dirty="0">
                <a:sym typeface="Wingdings" panose="05000000000000000000" pitchFamily="2" charset="2"/>
              </a:rPr>
              <a:t>et</a:t>
            </a:r>
            <a:r>
              <a:rPr lang="fr-BE" dirty="0">
                <a:sym typeface="Wingdings" panose="05000000000000000000" pitchFamily="2" charset="2"/>
              </a:rPr>
              <a:t> un trajet de réintégration est en cours.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5976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2.7. Accident technique (T)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 algn="ctr">
              <a:buNone/>
            </a:pPr>
            <a:r>
              <a:rPr lang="fr-BE" sz="2200" b="1" dirty="0"/>
              <a:t>Article 49 de la loi du 03.07.1978 relative aux contrats de travail.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484784"/>
            <a:ext cx="5760640" cy="3600400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5786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2.7. Accident technique … ?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L’accident technique </a:t>
            </a:r>
            <a:r>
              <a:rPr lang="fr-BE" dirty="0"/>
              <a:t>doit être un </a:t>
            </a:r>
            <a:r>
              <a:rPr lang="fr-BE" b="1" dirty="0"/>
              <a:t>événement inattendu et momentané</a:t>
            </a:r>
            <a:r>
              <a:rPr lang="fr-BE" dirty="0"/>
              <a:t> </a:t>
            </a:r>
            <a:r>
              <a:rPr lang="fr-BE" b="1" dirty="0"/>
              <a:t>survenant dans l’entreprise</a:t>
            </a:r>
            <a:r>
              <a:rPr lang="fr-BE" dirty="0"/>
              <a:t> et qui rend</a:t>
            </a:r>
            <a:r>
              <a:rPr lang="fr-BE" b="1" dirty="0"/>
              <a:t> temporairement </a:t>
            </a:r>
            <a:r>
              <a:rPr lang="fr-BE" dirty="0"/>
              <a:t>impossible l’exécution du contrat de travail.</a:t>
            </a:r>
          </a:p>
          <a:p>
            <a:pPr marL="0" indent="0">
              <a:spcBef>
                <a:spcPts val="0"/>
              </a:spcBef>
              <a:buNone/>
            </a:pPr>
            <a:endParaRPr lang="fr-BE" sz="2000" dirty="0"/>
          </a:p>
          <a:p>
            <a:pPr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dirty="0"/>
              <a:t>La cause de l’accident technique doit être liée au risque d’exploitation ou en lien avec des instruments ou l’équipement technique utilisé pour réaliser le travail.</a:t>
            </a:r>
          </a:p>
          <a:p>
            <a:pPr>
              <a:spcBef>
                <a:spcPts val="0"/>
              </a:spcBef>
              <a:buSzPct val="100000"/>
              <a:buFont typeface="Wingdings" pitchFamily="2" charset="2"/>
              <a:buChar char="§"/>
            </a:pP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176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2.8. Grève / Lock-Out (G)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pPr marL="0" indent="0">
              <a:buNone/>
            </a:pPr>
            <a:endParaRPr lang="fr-BE" dirty="0"/>
          </a:p>
          <a:p>
            <a:endParaRPr lang="fr-BE" dirty="0"/>
          </a:p>
          <a:p>
            <a:pPr marL="0" indent="0" algn="ctr">
              <a:buNone/>
            </a:pPr>
            <a:r>
              <a:rPr lang="fr-BE" sz="2000" b="1" dirty="0"/>
              <a:t>Article 27 de la loi du 03.07.1978 relative aux contrats de travail.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556792"/>
            <a:ext cx="5688631" cy="3744415"/>
          </a:xfrm>
          <a:prstGeom prst="rect">
            <a:avLst/>
          </a:prstGeom>
        </p:spPr>
      </p:pic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3774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2.8. Grève … ?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SzPct val="100000"/>
              <a:buNone/>
            </a:pPr>
            <a:r>
              <a:rPr lang="fr-BE" b="1" dirty="0"/>
              <a:t>La grève doit être reconnue par le Comité de Gestion de l’ONEm</a:t>
            </a:r>
            <a:r>
              <a:rPr lang="fr-BE" dirty="0"/>
              <a:t>.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endParaRPr lang="fr-BE" sz="1000" dirty="0"/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fr-BE" sz="2400" dirty="0">
                <a:sym typeface="Wingdings" panose="05000000000000000000" pitchFamily="2" charset="2"/>
              </a:rPr>
              <a:t> </a:t>
            </a:r>
            <a:r>
              <a:rPr lang="fr-BE" dirty="0"/>
              <a:t>L’autorisation d’indemnisation n’est accordée que si les travailleurs concernés n’ont aucun intérêt à l’aboutissement des revendications des grévistes.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endParaRPr lang="fr-BE" sz="1000" dirty="0"/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fr-BE" sz="2400" dirty="0">
                <a:sym typeface="Wingdings" panose="05000000000000000000" pitchFamily="2" charset="2"/>
              </a:rPr>
              <a:t> </a:t>
            </a:r>
            <a:r>
              <a:rPr lang="fr-BE" dirty="0"/>
              <a:t>Si l’ONEm n’autorise pas l’indemnisation, il est possible d’octroyer des « indemnités de grève » via la caisse syndicale.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278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2.9. Suspension Employé (SE)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 algn="ctr">
              <a:buNone/>
            </a:pPr>
            <a:r>
              <a:rPr lang="fr-BE" sz="2000" b="1" dirty="0"/>
              <a:t>Articles 77/1 à 77/7 de la loi du 03.07.1978 relative aux contrats de travail.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556792"/>
            <a:ext cx="5760640" cy="3960440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852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4000" b="1" i="1" dirty="0"/>
              <a:t>3. Obligations de </a:t>
            </a:r>
            <a:r>
              <a:rPr lang="fr-BE" sz="4000" b="1" i="1" dirty="0"/>
              <a:t>l’employeur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dirty="0"/>
              <a:t>Les obligations de l’employeur concernent :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fr-BE" dirty="0"/>
              <a:t>La notification.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fr-BE" dirty="0"/>
              <a:t>La communication.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fr-BE" dirty="0"/>
              <a:t>La délivrance des formulaires.</a:t>
            </a:r>
          </a:p>
          <a:p>
            <a:pPr marL="0" indent="0">
              <a:spcBef>
                <a:spcPts val="600"/>
              </a:spcBef>
              <a:buNone/>
            </a:pPr>
            <a:endParaRPr lang="fr-BE" dirty="0"/>
          </a:p>
          <a:p>
            <a:pPr marL="0" indent="0">
              <a:spcBef>
                <a:spcPts val="600"/>
              </a:spcBef>
              <a:buNone/>
            </a:pPr>
            <a:r>
              <a:rPr lang="fr-BE" dirty="0"/>
              <a:t>Ces obligations varient en fonction de la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nature</a:t>
            </a:r>
            <a:r>
              <a:rPr lang="fr-BE" dirty="0"/>
              <a:t> du chômage temporaire.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841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3.1. Notification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SzPct val="100000"/>
              <a:buNone/>
            </a:pPr>
            <a:r>
              <a:rPr lang="fr-BE" b="1" u="sng" dirty="0"/>
              <a:t>Chômage temporaire « Economique » (E) </a:t>
            </a:r>
          </a:p>
          <a:p>
            <a:pPr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b="1" dirty="0"/>
              <a:t>Suspension totale </a:t>
            </a:r>
            <a:r>
              <a:rPr lang="fr-BE" dirty="0"/>
              <a:t>pendant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4 semaines maximum. </a:t>
            </a:r>
          </a:p>
          <a:p>
            <a:pPr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dirty="0"/>
              <a:t>Suspension partielle de: </a:t>
            </a:r>
          </a:p>
          <a:p>
            <a:pPr lvl="1">
              <a:spcBef>
                <a:spcPts val="600"/>
              </a:spcBef>
              <a:buSzPct val="100000"/>
              <a:buFont typeface="Wingdings" panose="05000000000000000000" pitchFamily="2" charset="2"/>
              <a:buChar char="Ø"/>
            </a:pP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12 mois maximum </a:t>
            </a:r>
            <a:r>
              <a:rPr lang="fr-BE" sz="3200" dirty="0"/>
              <a:t>: si ≥ 3 jours de travail par semaine </a:t>
            </a:r>
            <a:r>
              <a:rPr lang="fr-BE" sz="3200" b="1" i="1" dirty="0"/>
              <a:t>= petite suspension</a:t>
            </a:r>
            <a:r>
              <a:rPr lang="fr-BE" sz="3200" i="1" dirty="0"/>
              <a:t>.</a:t>
            </a:r>
          </a:p>
          <a:p>
            <a:pPr lvl="1">
              <a:spcBef>
                <a:spcPts val="600"/>
              </a:spcBef>
              <a:buSzPct val="100000"/>
              <a:buFont typeface="Wingdings" panose="05000000000000000000" pitchFamily="2" charset="2"/>
              <a:buChar char="Ø"/>
            </a:pP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3 mois maximum </a:t>
            </a:r>
            <a:r>
              <a:rPr lang="fr-BE" sz="3200" dirty="0"/>
              <a:t>: si &lt; 3 jours de travail par semaine </a:t>
            </a:r>
            <a:r>
              <a:rPr lang="fr-BE" sz="3200" b="1" i="1" dirty="0"/>
              <a:t>= grande suspension</a:t>
            </a:r>
            <a:r>
              <a:rPr lang="fr-BE" sz="3200" i="1" dirty="0"/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4729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3.1. Notification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b="1" u="sng" dirty="0"/>
              <a:t>Chômage temporaire « Economique » (E)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dirty="0"/>
              <a:t>Une nouvelle notification </a:t>
            </a:r>
            <a:r>
              <a:rPr lang="fr-BE" sz="2400" dirty="0"/>
              <a:t>(suspension totale ou grande suspension)</a:t>
            </a:r>
            <a:r>
              <a:rPr lang="fr-BE" dirty="0"/>
              <a:t> ne sera accordée par l’ONEm que si elle est précédée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d’une reprise de travail d’au moins une semaine</a:t>
            </a:r>
            <a:r>
              <a:rPr lang="fr-BE" b="1" i="1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marL="0" indent="0">
              <a:spcBef>
                <a:spcPts val="600"/>
              </a:spcBef>
              <a:buNone/>
            </a:pPr>
            <a:endParaRPr lang="fr-BE" sz="2400" b="1" i="1" dirty="0">
              <a:solidFill>
                <a:srgbClr val="C00000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BE" i="1" dirty="0"/>
              <a:t>Sauf si la durée de suspension communiquée initialement n’a pas atteint la durée maximale.</a:t>
            </a:r>
            <a:endParaRPr lang="fr-BE" b="1" i="1" dirty="0">
              <a:solidFill>
                <a:srgbClr val="C00000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9194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3.1. Jours assimilés </a:t>
            </a:r>
            <a:br>
              <a:rPr lang="fr-BE" sz="4000" b="1" i="1" dirty="0"/>
            </a:br>
            <a:r>
              <a:rPr lang="fr-BE" sz="4000" b="1" i="1" dirty="0"/>
              <a:t>à une reprise du travail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r-BE" sz="2800" i="1" u="sng" dirty="0"/>
              <a:t>Sont assimilés</a:t>
            </a:r>
            <a:r>
              <a:rPr lang="fr-BE" sz="2800" dirty="0"/>
              <a:t> </a:t>
            </a:r>
            <a:r>
              <a:rPr lang="fr-BE" sz="2800" i="1" dirty="0"/>
              <a:t>:</a:t>
            </a:r>
          </a:p>
          <a:p>
            <a:pPr>
              <a:spcBef>
                <a:spcPts val="0"/>
              </a:spcBef>
              <a:buNone/>
            </a:pPr>
            <a:endParaRPr lang="fr-BE" sz="800" i="1" dirty="0"/>
          </a:p>
          <a:p>
            <a:pPr marL="285750" lvl="1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2600" dirty="0"/>
              <a:t>Les périodes de suspension du contrat par suite de force majeure.</a:t>
            </a:r>
          </a:p>
          <a:p>
            <a:pPr marL="285750" lvl="1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2600" dirty="0"/>
              <a:t>Les périodes de suspension du contrat par suite d’un accident technique.</a:t>
            </a:r>
          </a:p>
          <a:p>
            <a:pPr marL="285750" lvl="1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2600" dirty="0"/>
              <a:t>Les jours couverts par rémunération garantie.</a:t>
            </a:r>
          </a:p>
          <a:p>
            <a:pPr marL="285750" lvl="1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2600" dirty="0"/>
              <a:t>Les jours couverts par maladie ou accident de travail.</a:t>
            </a:r>
          </a:p>
          <a:p>
            <a:pPr marL="285750" lvl="1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2600" dirty="0"/>
              <a:t>Les jours de congés de maternité ou de paternité.</a:t>
            </a:r>
          </a:p>
          <a:p>
            <a:pPr marL="285750" lvl="1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2600" dirty="0"/>
              <a:t>Les jours de VA </a:t>
            </a:r>
            <a:r>
              <a:rPr lang="fr-BE" sz="2600" u="sng" dirty="0"/>
              <a:t>pris individuellement</a:t>
            </a:r>
            <a:r>
              <a:rPr lang="fr-BE" sz="2600" dirty="0"/>
              <a:t>.</a:t>
            </a:r>
          </a:p>
          <a:p>
            <a:pPr marL="285750" lvl="1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2600" dirty="0"/>
              <a:t>Les jours fériés ou de remplacement des jours fériés.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36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3.1. Jours assimilés </a:t>
            </a:r>
            <a:br>
              <a:rPr lang="fr-BE" sz="4000" b="1" i="1" dirty="0"/>
            </a:br>
            <a:r>
              <a:rPr lang="fr-BE" sz="4000" b="1" i="1" dirty="0"/>
              <a:t>à une reprise du travail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r-BE" sz="2800" i="1" u="sng" dirty="0"/>
              <a:t>Sont assimilés</a:t>
            </a:r>
            <a:r>
              <a:rPr lang="fr-BE" sz="2800" i="1" dirty="0"/>
              <a:t> :</a:t>
            </a:r>
          </a:p>
          <a:p>
            <a:pPr>
              <a:spcBef>
                <a:spcPts val="0"/>
              </a:spcBef>
              <a:buNone/>
            </a:pPr>
            <a:endParaRPr lang="fr-BE" sz="800" i="1" dirty="0"/>
          </a:p>
          <a:p>
            <a:pPr marL="285750" lvl="1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2600" dirty="0"/>
              <a:t>Les jours de congés éducatifs ou de suivi de cours de promotion sociale.</a:t>
            </a:r>
          </a:p>
          <a:p>
            <a:pPr marL="285750" lvl="1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2600" dirty="0"/>
              <a:t>Les jours d’exercice d’un mandat politique.</a:t>
            </a:r>
          </a:p>
          <a:p>
            <a:pPr marL="285750" lvl="1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2600" dirty="0"/>
              <a:t>Les jours de « petit chômage » </a:t>
            </a:r>
            <a:r>
              <a:rPr lang="fr-BE" sz="2000" dirty="0"/>
              <a:t>(naissance, décès, obligations civiques, etc. …).</a:t>
            </a:r>
          </a:p>
          <a:p>
            <a:pPr marL="285750" lvl="1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2600" dirty="0"/>
              <a:t>Les jours d’inactivité suite à une interruption de carrière.</a:t>
            </a:r>
          </a:p>
          <a:p>
            <a:pPr marL="285750" lvl="1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2600" dirty="0"/>
              <a:t>Les jours de repos compensatoires </a:t>
            </a:r>
            <a:r>
              <a:rPr lang="fr-BE" sz="2600" u="sng" dirty="0"/>
              <a:t>pris individuellement</a:t>
            </a:r>
            <a:r>
              <a:rPr lang="fr-BE" sz="2600" dirty="0"/>
              <a:t>.</a:t>
            </a:r>
          </a:p>
          <a:p>
            <a:pPr marL="285750" lvl="1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2600" dirty="0"/>
              <a:t>Les jours de grève </a:t>
            </a:r>
            <a:r>
              <a:rPr lang="fr-BE" sz="2000" dirty="0"/>
              <a:t>(si la grève n’est pas la conséquence d’un conflit avec l’employeur).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623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3.1. Jours non assimilés </a:t>
            </a:r>
            <a:br>
              <a:rPr lang="fr-BE" sz="4000" b="1" i="1" dirty="0"/>
            </a:br>
            <a:r>
              <a:rPr lang="fr-BE" sz="4000" b="1" i="1" dirty="0"/>
              <a:t>à une reprise du travail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r-BE" sz="2800" i="1" u="sng" dirty="0"/>
              <a:t>Ne sont pas assimilés</a:t>
            </a:r>
            <a:r>
              <a:rPr lang="fr-BE" sz="2800" i="1" dirty="0"/>
              <a:t> :</a:t>
            </a:r>
          </a:p>
          <a:p>
            <a:pPr>
              <a:spcBef>
                <a:spcPts val="0"/>
              </a:spcBef>
              <a:buNone/>
            </a:pPr>
            <a:endParaRPr lang="fr-BE" sz="800" i="1" u="sng" dirty="0"/>
          </a:p>
          <a:p>
            <a:pPr marL="285750" lvl="1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dirty="0"/>
              <a:t>Les jours de suspension du contrat (chômage temporaire) par suite d’intempéries.</a:t>
            </a:r>
          </a:p>
          <a:p>
            <a:pPr marL="285750" lvl="1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dirty="0"/>
              <a:t>Les jours de fermeture d’entreprise pour VA.</a:t>
            </a:r>
          </a:p>
          <a:p>
            <a:pPr marL="285750" lvl="1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dirty="0"/>
              <a:t>Les jours de repos compensatoires situés dans une période de fermeture d’entreprise.</a:t>
            </a:r>
          </a:p>
          <a:p>
            <a:pPr marL="285750" lvl="1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dirty="0"/>
              <a:t>Les jours de grève </a:t>
            </a:r>
            <a:r>
              <a:rPr lang="fr-BE" sz="2000" dirty="0"/>
              <a:t>(si la grève est la conséquence d’un conflit avec l’employeur).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034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3.1. Notification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fr-BE" sz="3500" b="1" u="sng" dirty="0"/>
              <a:t>Chômage temporaire « Accident Technique » (T) </a:t>
            </a:r>
          </a:p>
          <a:p>
            <a:pPr>
              <a:lnSpc>
                <a:spcPct val="110000"/>
              </a:lnSpc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sz="3500" dirty="0"/>
              <a:t>L’employeur doit </a:t>
            </a:r>
            <a:r>
              <a:rPr lang="fr-BE" sz="3500" b="1" dirty="0"/>
              <a:t>avertir le BC, au plus tard le 1</a:t>
            </a:r>
            <a:r>
              <a:rPr lang="fr-BE" sz="3500" b="1" baseline="30000" dirty="0"/>
              <a:t>ier</a:t>
            </a:r>
            <a:r>
              <a:rPr lang="fr-BE" sz="3500" b="1" dirty="0"/>
              <a:t> jour ouvrable suivant la date de l’accident.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SzPct val="100000"/>
              <a:buNone/>
            </a:pPr>
            <a:endParaRPr lang="fr-BE" sz="1200" dirty="0"/>
          </a:p>
          <a:p>
            <a:pPr>
              <a:lnSpc>
                <a:spcPct val="110000"/>
              </a:lnSpc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sz="3500" dirty="0"/>
              <a:t>La durée prévue de suspension du contrat du travail est de maximum 3 mois.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SzPct val="100000"/>
              <a:buNone/>
            </a:pPr>
            <a:endParaRPr lang="fr-BE" sz="1200" dirty="0"/>
          </a:p>
          <a:p>
            <a:pPr>
              <a:lnSpc>
                <a:spcPct val="110000"/>
              </a:lnSpc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sz="3500" b="1" dirty="0">
                <a:solidFill>
                  <a:schemeClr val="accent2">
                    <a:lumMod val="75000"/>
                  </a:schemeClr>
                </a:solidFill>
              </a:rPr>
              <a:t>La rémunération des 7 premiers jours calendrier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(y compris le jour de l’accident) </a:t>
            </a:r>
            <a:r>
              <a:rPr lang="fr-BE" sz="3500" b="1" dirty="0">
                <a:solidFill>
                  <a:schemeClr val="accent2">
                    <a:lumMod val="75000"/>
                  </a:schemeClr>
                </a:solidFill>
              </a:rPr>
              <a:t>est toujours à la charge de l’employeur.</a:t>
            </a:r>
            <a:endParaRPr lang="fr-BE" sz="35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630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3.1. Notification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b="1" u="sng" dirty="0"/>
              <a:t>Chômage temporaire « Force Majeure » (F)</a:t>
            </a:r>
          </a:p>
          <a:p>
            <a:pPr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dirty="0"/>
              <a:t>L’employeur doit </a:t>
            </a:r>
            <a:r>
              <a:rPr lang="fr-BE" b="1" dirty="0"/>
              <a:t>avertir le BC afin de faire reconnaitre la force majeure.</a:t>
            </a:r>
          </a:p>
          <a:p>
            <a:pPr marL="0" indent="0">
              <a:spcBef>
                <a:spcPts val="600"/>
              </a:spcBef>
              <a:buSzPct val="100000"/>
              <a:buNone/>
            </a:pPr>
            <a:endParaRPr lang="fr-BE" sz="1000" b="1" dirty="0"/>
          </a:p>
          <a:p>
            <a:pPr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dirty="0"/>
              <a:t>La durée prévue de suspension du contrat du travail est de maximum 3 mois mais est renouvelable sur base d’une nouvelle notification.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8660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3.1. Notification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SzPct val="100000"/>
              <a:buNone/>
            </a:pPr>
            <a:r>
              <a:rPr lang="fr-BE" b="1" u="sng" dirty="0"/>
              <a:t>Chômage temporaire « Suspension Employés » (SE) </a:t>
            </a:r>
          </a:p>
          <a:p>
            <a:pPr marL="0" indent="0">
              <a:spcBef>
                <a:spcPts val="600"/>
              </a:spcBef>
              <a:buSzPct val="100000"/>
              <a:buNone/>
            </a:pPr>
            <a:endParaRPr lang="fr-BE" sz="1000" b="1" dirty="0"/>
          </a:p>
          <a:p>
            <a:pPr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b="1" dirty="0"/>
              <a:t>Suspension complète </a:t>
            </a:r>
            <a:r>
              <a:rPr lang="fr-BE" dirty="0"/>
              <a:t>: crédit de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16 semaines maximum. </a:t>
            </a:r>
          </a:p>
          <a:p>
            <a:pPr marL="0" indent="0">
              <a:spcBef>
                <a:spcPts val="600"/>
              </a:spcBef>
              <a:buSzPct val="100000"/>
              <a:buNone/>
            </a:pPr>
            <a:endParaRPr lang="fr-BE" sz="1000" b="1" dirty="0">
              <a:solidFill>
                <a:srgbClr val="C00000"/>
              </a:solidFill>
            </a:endParaRPr>
          </a:p>
          <a:p>
            <a:pPr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b="1" dirty="0"/>
              <a:t>Suspension partielle </a:t>
            </a:r>
            <a:r>
              <a:rPr lang="fr-BE" dirty="0"/>
              <a:t>avec ≥ 2 jours de travail par semaine calendrier : c</a:t>
            </a:r>
            <a:r>
              <a:rPr lang="fr-BE" dirty="0">
                <a:sym typeface="Wingdings" pitchFamily="2" charset="2"/>
              </a:rPr>
              <a:t>rédit de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26 semaines maximum.</a:t>
            </a:r>
            <a:endParaRPr lang="fr-BE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5110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3.2. Communication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buSzPct val="100000"/>
              <a:buNone/>
            </a:pPr>
            <a:r>
              <a:rPr lang="fr-BE" sz="3200" dirty="0">
                <a:sym typeface="Wingdings" panose="05000000000000000000" pitchFamily="2" charset="2"/>
              </a:rPr>
              <a:t>La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communication</a:t>
            </a:r>
            <a:r>
              <a:rPr lang="fr-BE" sz="3200" b="1" dirty="0">
                <a:sym typeface="Wingdings" panose="05000000000000000000" pitchFamily="2" charset="2"/>
              </a:rPr>
              <a:t> du 1</a:t>
            </a:r>
            <a:r>
              <a:rPr lang="fr-BE" sz="3200" b="1" baseline="30000" dirty="0">
                <a:sym typeface="Wingdings" panose="05000000000000000000" pitchFamily="2" charset="2"/>
              </a:rPr>
              <a:t>ier</a:t>
            </a:r>
            <a:r>
              <a:rPr lang="fr-BE" sz="3200" b="1" dirty="0">
                <a:sym typeface="Wingdings" panose="05000000000000000000" pitchFamily="2" charset="2"/>
              </a:rPr>
              <a:t> jour effectif de chômage temporaire</a:t>
            </a:r>
            <a:r>
              <a:rPr lang="fr-BE" sz="3200" dirty="0">
                <a:sym typeface="Wingdings" panose="05000000000000000000" pitchFamily="2" charset="2"/>
              </a:rPr>
              <a:t> </a:t>
            </a:r>
            <a:r>
              <a:rPr lang="fr-BE" sz="3200" b="1" dirty="0">
                <a:sym typeface="Wingdings" panose="05000000000000000000" pitchFamily="2" charset="2"/>
              </a:rPr>
              <a:t>« 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E</a:t>
            </a:r>
            <a:r>
              <a:rPr lang="fr-BE" sz="3200" b="1" dirty="0">
                <a:sym typeface="Wingdings" panose="05000000000000000000" pitchFamily="2" charset="2"/>
              </a:rPr>
              <a:t> »</a:t>
            </a:r>
            <a:r>
              <a:rPr lang="fr-BE" sz="3200" dirty="0">
                <a:sym typeface="Wingdings" panose="05000000000000000000" pitchFamily="2" charset="2"/>
              </a:rPr>
              <a:t> ou </a:t>
            </a:r>
            <a:r>
              <a:rPr lang="fr-BE" sz="3200" b="1" dirty="0">
                <a:sym typeface="Wingdings" panose="05000000000000000000" pitchFamily="2" charset="2"/>
              </a:rPr>
              <a:t>« 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SE</a:t>
            </a:r>
            <a:r>
              <a:rPr lang="fr-BE" sz="3200" b="1" dirty="0">
                <a:sym typeface="Wingdings" panose="05000000000000000000" pitchFamily="2" charset="2"/>
              </a:rPr>
              <a:t> » </a:t>
            </a:r>
            <a:r>
              <a:rPr lang="fr-BE" sz="3200" dirty="0">
                <a:sym typeface="Wingdings" panose="05000000000000000000" pitchFamily="2" charset="2"/>
              </a:rPr>
              <a:t>doit être effectuée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mensuellement</a:t>
            </a:r>
            <a:r>
              <a:rPr lang="fr-BE" sz="3200" dirty="0">
                <a:sym typeface="Wingdings" panose="05000000000000000000" pitchFamily="2" charset="2"/>
              </a:rPr>
              <a:t> :</a:t>
            </a:r>
          </a:p>
          <a:p>
            <a:pPr marL="754063" lvl="2" indent="-354013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3200" dirty="0"/>
              <a:t>Au plus tôt, le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5</a:t>
            </a:r>
            <a:r>
              <a:rPr lang="fr-BE" sz="3200" b="1" baseline="30000" dirty="0">
                <a:solidFill>
                  <a:schemeClr val="accent2">
                    <a:lumMod val="75000"/>
                  </a:schemeClr>
                </a:solidFill>
              </a:rPr>
              <a:t>ème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 jour ouvrable qui précède</a:t>
            </a:r>
            <a:r>
              <a:rPr lang="fr-BE" sz="3200" dirty="0">
                <a:solidFill>
                  <a:schemeClr val="accent2">
                    <a:lumMod val="75000"/>
                  </a:schemeClr>
                </a:solidFill>
              </a:rPr>
              <a:t>. </a:t>
            </a:r>
          </a:p>
          <a:p>
            <a:pPr marL="714375" lvl="2" indent="0">
              <a:spcBef>
                <a:spcPts val="0"/>
              </a:spcBef>
              <a:buSzPct val="100000"/>
              <a:buNone/>
            </a:pPr>
            <a:r>
              <a:rPr lang="fr-BE" sz="3200" b="1" i="1" dirty="0"/>
              <a:t>ou</a:t>
            </a:r>
          </a:p>
          <a:p>
            <a:pPr marL="754063" lvl="2" indent="-354013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3200" dirty="0"/>
              <a:t>Le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fr-BE" sz="3200" b="1" baseline="30000" dirty="0">
                <a:solidFill>
                  <a:schemeClr val="accent2">
                    <a:lumMod val="75000"/>
                  </a:schemeClr>
                </a:solidFill>
              </a:rPr>
              <a:t>ier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 jour effectif </a:t>
            </a:r>
            <a:r>
              <a:rPr lang="fr-BE" sz="3200" dirty="0"/>
              <a:t>de chômage temporaire.</a:t>
            </a:r>
          </a:p>
          <a:p>
            <a:pPr marL="714375" lvl="2" indent="0">
              <a:spcBef>
                <a:spcPts val="0"/>
              </a:spcBef>
              <a:buSzPct val="100000"/>
              <a:buNone/>
            </a:pPr>
            <a:r>
              <a:rPr lang="fr-BE" sz="3200" b="1" i="1" dirty="0"/>
              <a:t>ou</a:t>
            </a:r>
          </a:p>
          <a:p>
            <a:pPr marL="754063" lvl="2" indent="-354013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3200" dirty="0"/>
              <a:t>Au plus tard, le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jour ouvrable qui suit</a:t>
            </a:r>
            <a:r>
              <a:rPr lang="fr-BE" sz="3200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892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34FE03-3417-422E-AEC2-3D0DAA2AC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Exemple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F4934708-1BC3-4DEF-9FA1-9B9B39DAFB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8445365"/>
              </p:ext>
            </p:extLst>
          </p:nvPr>
        </p:nvGraphicFramePr>
        <p:xfrm>
          <a:off x="89756" y="2301513"/>
          <a:ext cx="8964487" cy="12368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89177">
                  <a:extLst>
                    <a:ext uri="{9D8B030D-6E8A-4147-A177-3AD203B41FA5}">
                      <a16:colId xmlns:a16="http://schemas.microsoft.com/office/drawing/2014/main" val="3374833884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975585402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2222430080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2440413735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2869120986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3423564008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1468888691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3177516941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371457076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213060930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591898803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1794686339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696530155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3649515914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2589927816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1917479103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2843005296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3286952112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2407814079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808990724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3056487137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1376426997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1107434221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600511469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1001441134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666674622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3238466712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2294613705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2331510094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1911771235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800472195"/>
                    </a:ext>
                  </a:extLst>
                </a:gridCol>
              </a:tblGrid>
              <a:tr h="495156">
                <a:tc gridSpan="31">
                  <a:txBody>
                    <a:bodyPr/>
                    <a:lstStyle/>
                    <a:p>
                      <a:pPr algn="ctr"/>
                      <a:r>
                        <a:rPr lang="fr-BE" i="1" dirty="0"/>
                        <a:t>Octobre 2022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31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1200" b="1" dirty="0"/>
                        <a:t>1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8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9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27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517771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D02620-2567-44AC-86EC-8BE111E5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36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3766D30-9B9A-460E-B3F2-D9B57FA2A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968" y="2776272"/>
            <a:ext cx="347502" cy="329213"/>
          </a:xfrm>
          <a:prstGeom prst="rect">
            <a:avLst/>
          </a:prstGeom>
        </p:spPr>
      </p:pic>
      <p:sp>
        <p:nvSpPr>
          <p:cNvPr id="7" name="Rectangle 37">
            <a:extLst>
              <a:ext uri="{FF2B5EF4-FFF2-40B4-BE49-F238E27FC236}">
                <a16:creationId xmlns:a16="http://schemas.microsoft.com/office/drawing/2014/main" id="{5BA43C93-C246-446B-9020-3169DB25B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4712" y="282994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16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7">
            <a:extLst>
              <a:ext uri="{FF2B5EF4-FFF2-40B4-BE49-F238E27FC236}">
                <a16:creationId xmlns:a16="http://schemas.microsoft.com/office/drawing/2014/main" id="{5050C676-358D-4BEE-8B84-B2792E8AC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3738" y="283130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11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7">
            <a:extLst>
              <a:ext uri="{FF2B5EF4-FFF2-40B4-BE49-F238E27FC236}">
                <a16:creationId xmlns:a16="http://schemas.microsoft.com/office/drawing/2014/main" id="{8E828C37-C008-4E3A-B1DE-7A9B55F9E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3290" y="283130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10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7">
            <a:extLst>
              <a:ext uri="{FF2B5EF4-FFF2-40B4-BE49-F238E27FC236}">
                <a16:creationId xmlns:a16="http://schemas.microsoft.com/office/drawing/2014/main" id="{0A223AF6-40EC-4521-B1FE-961A412CF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745" y="283130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13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37">
            <a:extLst>
              <a:ext uri="{FF2B5EF4-FFF2-40B4-BE49-F238E27FC236}">
                <a16:creationId xmlns:a16="http://schemas.microsoft.com/office/drawing/2014/main" id="{A88ED693-A9D5-4265-A045-B744A8313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031" y="283130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12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3FDFD94E-8985-4404-8A75-ABA528223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4118" y="282994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15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7">
            <a:extLst>
              <a:ext uri="{FF2B5EF4-FFF2-40B4-BE49-F238E27FC236}">
                <a16:creationId xmlns:a16="http://schemas.microsoft.com/office/drawing/2014/main" id="{E260CF88-C122-4C1F-A682-03871BEFD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4218" y="282994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14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7">
            <a:extLst>
              <a:ext uri="{FF2B5EF4-FFF2-40B4-BE49-F238E27FC236}">
                <a16:creationId xmlns:a16="http://schemas.microsoft.com/office/drawing/2014/main" id="{F0B25BD2-B91F-4CA5-B764-3FEC95152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5801" y="282994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20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37">
            <a:extLst>
              <a:ext uri="{FF2B5EF4-FFF2-40B4-BE49-F238E27FC236}">
                <a16:creationId xmlns:a16="http://schemas.microsoft.com/office/drawing/2014/main" id="{8B90E8E9-D357-4533-9CEE-464D73495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017" y="282994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21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37">
            <a:extLst>
              <a:ext uri="{FF2B5EF4-FFF2-40B4-BE49-F238E27FC236}">
                <a16:creationId xmlns:a16="http://schemas.microsoft.com/office/drawing/2014/main" id="{6E2DE0F5-50F8-49A5-AD39-49B21D38D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7045" y="282994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18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37">
            <a:extLst>
              <a:ext uri="{FF2B5EF4-FFF2-40B4-BE49-F238E27FC236}">
                <a16:creationId xmlns:a16="http://schemas.microsoft.com/office/drawing/2014/main" id="{B8A051D0-4721-4102-B237-DFEE36F1D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0066" y="282994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19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37">
            <a:extLst>
              <a:ext uri="{FF2B5EF4-FFF2-40B4-BE49-F238E27FC236}">
                <a16:creationId xmlns:a16="http://schemas.microsoft.com/office/drawing/2014/main" id="{A2FE2D28-301D-4327-BBD1-F920201DD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7821" y="282994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23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7">
            <a:extLst>
              <a:ext uri="{FF2B5EF4-FFF2-40B4-BE49-F238E27FC236}">
                <a16:creationId xmlns:a16="http://schemas.microsoft.com/office/drawing/2014/main" id="{C29086B1-57B1-4652-8732-1944E8779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909" y="2827598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24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37">
            <a:extLst>
              <a:ext uri="{FF2B5EF4-FFF2-40B4-BE49-F238E27FC236}">
                <a16:creationId xmlns:a16="http://schemas.microsoft.com/office/drawing/2014/main" id="{714FFDE5-EAA9-49A0-9604-7A6D7FA19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427" y="282994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22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37">
            <a:extLst>
              <a:ext uri="{FF2B5EF4-FFF2-40B4-BE49-F238E27FC236}">
                <a16:creationId xmlns:a16="http://schemas.microsoft.com/office/drawing/2014/main" id="{9F99078E-7E0D-42BE-B844-2413E809A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2452" y="2827598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27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7">
            <a:extLst>
              <a:ext uri="{FF2B5EF4-FFF2-40B4-BE49-F238E27FC236}">
                <a16:creationId xmlns:a16="http://schemas.microsoft.com/office/drawing/2014/main" id="{60AF5185-99DE-4B35-821E-E7BFC9390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7965" y="2827598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26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37">
            <a:extLst>
              <a:ext uri="{FF2B5EF4-FFF2-40B4-BE49-F238E27FC236}">
                <a16:creationId xmlns:a16="http://schemas.microsoft.com/office/drawing/2014/main" id="{53884853-8AE6-4DEA-9B25-12B6EB3C5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8308" y="2827598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25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37">
            <a:extLst>
              <a:ext uri="{FF2B5EF4-FFF2-40B4-BE49-F238E27FC236}">
                <a16:creationId xmlns:a16="http://schemas.microsoft.com/office/drawing/2014/main" id="{6E08645F-06DF-4770-9745-1F7C7A2FD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1252" y="2827598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29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37">
            <a:extLst>
              <a:ext uri="{FF2B5EF4-FFF2-40B4-BE49-F238E27FC236}">
                <a16:creationId xmlns:a16="http://schemas.microsoft.com/office/drawing/2014/main" id="{D942F337-7B10-4FD3-AC67-2B1EA4742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164" y="2827598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28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37">
            <a:extLst>
              <a:ext uri="{FF2B5EF4-FFF2-40B4-BE49-F238E27FC236}">
                <a16:creationId xmlns:a16="http://schemas.microsoft.com/office/drawing/2014/main" id="{5BFDDBAA-13E4-4C00-9656-AE9238691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390" y="2827598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31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37">
            <a:extLst>
              <a:ext uri="{FF2B5EF4-FFF2-40B4-BE49-F238E27FC236}">
                <a16:creationId xmlns:a16="http://schemas.microsoft.com/office/drawing/2014/main" id="{3D92B8D3-DC93-41F6-8843-FBD90D543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5928" y="2827598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30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8" name="Tableau 28">
            <a:extLst>
              <a:ext uri="{FF2B5EF4-FFF2-40B4-BE49-F238E27FC236}">
                <a16:creationId xmlns:a16="http://schemas.microsoft.com/office/drawing/2014/main" id="{A0F8241F-DBCC-4C15-8A6B-139C633FF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210258"/>
              </p:ext>
            </p:extLst>
          </p:nvPr>
        </p:nvGraphicFramePr>
        <p:xfrm>
          <a:off x="116399" y="4732458"/>
          <a:ext cx="89577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98590">
                  <a:extLst>
                    <a:ext uri="{9D8B030D-6E8A-4147-A177-3AD203B41FA5}">
                      <a16:colId xmlns:a16="http://schemas.microsoft.com/office/drawing/2014/main" val="3791582047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1611845580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3031248998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2209876546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3957942046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556146916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1504649436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1815934909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4203422026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1037537127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1901147323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1766811926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652941948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1456779619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2504539217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1259372412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3139794453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4108298437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1194803396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446556091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3963693566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2146634066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3683193937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4098485366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1718460742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2976456068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1537659754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2554603553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3319055354"/>
                    </a:ext>
                  </a:extLst>
                </a:gridCol>
                <a:gridCol w="298590">
                  <a:extLst>
                    <a:ext uri="{9D8B030D-6E8A-4147-A177-3AD203B41FA5}">
                      <a16:colId xmlns:a16="http://schemas.microsoft.com/office/drawing/2014/main" val="1014134977"/>
                    </a:ext>
                  </a:extLst>
                </a:gridCol>
              </a:tblGrid>
              <a:tr h="370840">
                <a:tc gridSpan="30">
                  <a:txBody>
                    <a:bodyPr/>
                    <a:lstStyle/>
                    <a:p>
                      <a:pPr algn="ctr"/>
                      <a:r>
                        <a:rPr lang="fr-BE" i="1" dirty="0"/>
                        <a:t>Novembre 2022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578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1200" b="1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6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482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081699"/>
                  </a:ext>
                </a:extLst>
              </a:tr>
            </a:tbl>
          </a:graphicData>
        </a:graphic>
      </p:graphicFrame>
      <p:sp>
        <p:nvSpPr>
          <p:cNvPr id="29" name="Rectangle 37">
            <a:extLst>
              <a:ext uri="{FF2B5EF4-FFF2-40B4-BE49-F238E27FC236}">
                <a16:creationId xmlns:a16="http://schemas.microsoft.com/office/drawing/2014/main" id="{A663EB8C-3B05-4613-B8F2-A33BCAC43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644" y="5133651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10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37">
            <a:extLst>
              <a:ext uri="{FF2B5EF4-FFF2-40B4-BE49-F238E27FC236}">
                <a16:creationId xmlns:a16="http://schemas.microsoft.com/office/drawing/2014/main" id="{A52B3C22-C708-44A7-BAB6-B466D52AC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937" y="5140225"/>
            <a:ext cx="92333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11	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37">
            <a:extLst>
              <a:ext uri="{FF2B5EF4-FFF2-40B4-BE49-F238E27FC236}">
                <a16:creationId xmlns:a16="http://schemas.microsoft.com/office/drawing/2014/main" id="{465A4FF9-E703-4245-857E-92DBF915C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0997" y="5133651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12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37">
            <a:extLst>
              <a:ext uri="{FF2B5EF4-FFF2-40B4-BE49-F238E27FC236}">
                <a16:creationId xmlns:a16="http://schemas.microsoft.com/office/drawing/2014/main" id="{72FFABE4-B365-4854-A8A8-9EC187D26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965" y="5133651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13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37">
            <a:extLst>
              <a:ext uri="{FF2B5EF4-FFF2-40B4-BE49-F238E27FC236}">
                <a16:creationId xmlns:a16="http://schemas.microsoft.com/office/drawing/2014/main" id="{6384984C-892C-4D16-A3F0-EDA7C3B72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484" y="5133651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14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DE2CEC01-EC86-4B05-9E69-AEFC591A1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759" y="5137796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15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37">
            <a:extLst>
              <a:ext uri="{FF2B5EF4-FFF2-40B4-BE49-F238E27FC236}">
                <a16:creationId xmlns:a16="http://schemas.microsoft.com/office/drawing/2014/main" id="{416B2772-6A28-4FF3-80C4-12D606860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014" y="5133651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16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37">
            <a:extLst>
              <a:ext uri="{FF2B5EF4-FFF2-40B4-BE49-F238E27FC236}">
                <a16:creationId xmlns:a16="http://schemas.microsoft.com/office/drawing/2014/main" id="{FE38BACC-22E1-4519-A941-7E1AC98FE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5391" y="5133646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17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CFECB30E-5D32-43D0-929B-12CC431AD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677" y="5140225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18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A123670-A129-4D25-8311-951E85415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6103" y="5132285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20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530C3771-71DA-44B7-94D9-40585AEFB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903" y="5132285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19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4A112A4-41FF-4E6C-B09F-728ADD1A4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830" y="5143043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21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C981C3D-1486-4D6E-83F7-E34155543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390" y="5140225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30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33B0909-7777-414D-9D14-A542787D6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002" y="5140225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29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E0C97EB-BA28-464D-BC95-112AFDA3D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1252" y="5140225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28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6AD13F8-E9B5-4D0D-93BB-6CB8D9280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0164" y="5140225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27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6C68221-0DD1-4052-8BC1-DC419AB2C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050" y="5140225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26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298B376-F5B3-45C3-93F7-2CCADD722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3711" y="5140225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24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3CC7953-2B28-486F-B94A-219832D88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8103" y="5132285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25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F71018-C263-4A90-B6E2-EEC7E698E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4764" y="5144789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23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1F1B5A2-EB48-487F-B3DF-BB68B1CEA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3166" y="5140225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22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A5EDA6F6-7873-4F05-971C-0FDED37FBA1A}"/>
              </a:ext>
            </a:extLst>
          </p:cNvPr>
          <p:cNvCxnSpPr/>
          <p:nvPr/>
        </p:nvCxnSpPr>
        <p:spPr>
          <a:xfrm>
            <a:off x="2672025" y="3538349"/>
            <a:ext cx="0" cy="68273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BFD20EBD-CF6D-470A-867A-A79BFF816A20}"/>
              </a:ext>
            </a:extLst>
          </p:cNvPr>
          <p:cNvCxnSpPr/>
          <p:nvPr/>
        </p:nvCxnSpPr>
        <p:spPr>
          <a:xfrm>
            <a:off x="116399" y="6525344"/>
            <a:ext cx="179130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8464A3BD-8205-4AF7-80A3-7A320DD164AE}"/>
              </a:ext>
            </a:extLst>
          </p:cNvPr>
          <p:cNvCxnSpPr/>
          <p:nvPr/>
        </p:nvCxnSpPr>
        <p:spPr>
          <a:xfrm flipV="1">
            <a:off x="1907704" y="5830265"/>
            <a:ext cx="0" cy="69507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75423089-D5F3-46AA-B85E-374581917F29}"/>
              </a:ext>
            </a:extLst>
          </p:cNvPr>
          <p:cNvSpPr txBox="1"/>
          <p:nvPr/>
        </p:nvSpPr>
        <p:spPr>
          <a:xfrm>
            <a:off x="3003234" y="3545917"/>
            <a:ext cx="5739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Notification : suspension complète </a:t>
            </a:r>
          </a:p>
          <a:p>
            <a:pPr algn="ctr"/>
            <a:r>
              <a:rPr lang="fr-BE" dirty="0"/>
              <a:t>du 10/10/2022 au 06/11/2022 inclus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AE43FA56-4F59-48F0-B845-861FDE4D4915}"/>
              </a:ext>
            </a:extLst>
          </p:cNvPr>
          <p:cNvSpPr txBox="1"/>
          <p:nvPr/>
        </p:nvSpPr>
        <p:spPr>
          <a:xfrm>
            <a:off x="21771" y="5861995"/>
            <a:ext cx="1933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Notification </a:t>
            </a:r>
          </a:p>
          <a:p>
            <a:pPr algn="ctr"/>
            <a:r>
              <a:rPr lang="fr-BE" dirty="0"/>
              <a:t>toujours valable</a:t>
            </a:r>
          </a:p>
        </p:txBody>
      </p:sp>
      <p:sp>
        <p:nvSpPr>
          <p:cNvPr id="62" name="Flèche vers le bas 18">
            <a:extLst>
              <a:ext uri="{FF2B5EF4-FFF2-40B4-BE49-F238E27FC236}">
                <a16:creationId xmlns:a16="http://schemas.microsoft.com/office/drawing/2014/main" id="{65EFAF68-C021-4A1A-85BB-CE0EA31840E1}"/>
              </a:ext>
            </a:extLst>
          </p:cNvPr>
          <p:cNvSpPr/>
          <p:nvPr/>
        </p:nvSpPr>
        <p:spPr>
          <a:xfrm>
            <a:off x="370362" y="1757454"/>
            <a:ext cx="319033" cy="978408"/>
          </a:xfrm>
          <a:prstGeom prst="down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b="1" dirty="0">
              <a:solidFill>
                <a:schemeClr val="tx1"/>
              </a:solidFill>
            </a:endParaRPr>
          </a:p>
        </p:txBody>
      </p:sp>
      <p:sp>
        <p:nvSpPr>
          <p:cNvPr id="63" name="Flèche vers le bas 26">
            <a:extLst>
              <a:ext uri="{FF2B5EF4-FFF2-40B4-BE49-F238E27FC236}">
                <a16:creationId xmlns:a16="http://schemas.microsoft.com/office/drawing/2014/main" id="{3F90D512-0353-499F-9629-B01106BC0132}"/>
              </a:ext>
            </a:extLst>
          </p:cNvPr>
          <p:cNvSpPr/>
          <p:nvPr/>
        </p:nvSpPr>
        <p:spPr>
          <a:xfrm>
            <a:off x="1475656" y="1745177"/>
            <a:ext cx="319033" cy="978408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4" name="Flèche vers le bas 26">
            <a:extLst>
              <a:ext uri="{FF2B5EF4-FFF2-40B4-BE49-F238E27FC236}">
                <a16:creationId xmlns:a16="http://schemas.microsoft.com/office/drawing/2014/main" id="{1F6E677C-6D5F-44E4-9C5C-9DD8810969C4}"/>
              </a:ext>
            </a:extLst>
          </p:cNvPr>
          <p:cNvSpPr/>
          <p:nvPr/>
        </p:nvSpPr>
        <p:spPr>
          <a:xfrm>
            <a:off x="3853248" y="1745177"/>
            <a:ext cx="319033" cy="978408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5" name="Flèche vers le bas 26">
            <a:extLst>
              <a:ext uri="{FF2B5EF4-FFF2-40B4-BE49-F238E27FC236}">
                <a16:creationId xmlns:a16="http://schemas.microsoft.com/office/drawing/2014/main" id="{33B4D8AC-6DED-408D-97FB-531A359850FE}"/>
              </a:ext>
            </a:extLst>
          </p:cNvPr>
          <p:cNvSpPr/>
          <p:nvPr/>
        </p:nvSpPr>
        <p:spPr>
          <a:xfrm>
            <a:off x="3510125" y="1748377"/>
            <a:ext cx="319033" cy="978408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6" name="Flèche vers le bas 21">
            <a:extLst>
              <a:ext uri="{FF2B5EF4-FFF2-40B4-BE49-F238E27FC236}">
                <a16:creationId xmlns:a16="http://schemas.microsoft.com/office/drawing/2014/main" id="{E9E5F4F3-9134-4675-8479-0C6029BD20EA}"/>
              </a:ext>
            </a:extLst>
          </p:cNvPr>
          <p:cNvSpPr/>
          <p:nvPr/>
        </p:nvSpPr>
        <p:spPr>
          <a:xfrm>
            <a:off x="7295935" y="1738694"/>
            <a:ext cx="319033" cy="978408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7" name="Flèche vers le bas 21">
            <a:extLst>
              <a:ext uri="{FF2B5EF4-FFF2-40B4-BE49-F238E27FC236}">
                <a16:creationId xmlns:a16="http://schemas.microsoft.com/office/drawing/2014/main" id="{0663A5BF-B66D-42CA-A595-04AD60C75025}"/>
              </a:ext>
            </a:extLst>
          </p:cNvPr>
          <p:cNvSpPr/>
          <p:nvPr/>
        </p:nvSpPr>
        <p:spPr>
          <a:xfrm>
            <a:off x="689395" y="4035005"/>
            <a:ext cx="319033" cy="978408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8" name="Flèche vers le bas 21">
            <a:extLst>
              <a:ext uri="{FF2B5EF4-FFF2-40B4-BE49-F238E27FC236}">
                <a16:creationId xmlns:a16="http://schemas.microsoft.com/office/drawing/2014/main" id="{3EA3E7C5-0B6C-4671-8671-31B2FB2A3C7A}"/>
              </a:ext>
            </a:extLst>
          </p:cNvPr>
          <p:cNvSpPr/>
          <p:nvPr/>
        </p:nvSpPr>
        <p:spPr>
          <a:xfrm>
            <a:off x="1061857" y="4035005"/>
            <a:ext cx="319033" cy="978408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B9F10BD5-A4D9-4A50-8922-52C5E124FF6D}"/>
              </a:ext>
            </a:extLst>
          </p:cNvPr>
          <p:cNvCxnSpPr/>
          <p:nvPr/>
        </p:nvCxnSpPr>
        <p:spPr>
          <a:xfrm flipV="1">
            <a:off x="2672025" y="4192248"/>
            <a:ext cx="6167365" cy="288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276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3.2. Communication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buSzPct val="100000"/>
              <a:buNone/>
            </a:pPr>
            <a:r>
              <a:rPr lang="fr-BE" sz="3200" dirty="0">
                <a:sym typeface="Wingdings" panose="05000000000000000000" pitchFamily="2" charset="2"/>
              </a:rPr>
              <a:t>La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communication</a:t>
            </a:r>
            <a:r>
              <a:rPr lang="fr-BE" sz="3200" b="1" dirty="0">
                <a:sym typeface="Wingdings" panose="05000000000000000000" pitchFamily="2" charset="2"/>
              </a:rPr>
              <a:t> du 1</a:t>
            </a:r>
            <a:r>
              <a:rPr lang="fr-BE" sz="3200" b="1" baseline="30000" dirty="0">
                <a:sym typeface="Wingdings" panose="05000000000000000000" pitchFamily="2" charset="2"/>
              </a:rPr>
              <a:t>ier</a:t>
            </a:r>
            <a:r>
              <a:rPr lang="fr-BE" sz="3200" b="1" dirty="0">
                <a:sym typeface="Wingdings" panose="05000000000000000000" pitchFamily="2" charset="2"/>
              </a:rPr>
              <a:t> jour effectif de chômage temporaire</a:t>
            </a:r>
            <a:r>
              <a:rPr lang="fr-BE" sz="3200" dirty="0">
                <a:sym typeface="Wingdings" panose="05000000000000000000" pitchFamily="2" charset="2"/>
              </a:rPr>
              <a:t> </a:t>
            </a:r>
            <a:r>
              <a:rPr lang="fr-BE" sz="3200" b="1" dirty="0">
                <a:sym typeface="Wingdings" panose="05000000000000000000" pitchFamily="2" charset="2"/>
              </a:rPr>
              <a:t>« 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I</a:t>
            </a:r>
            <a:r>
              <a:rPr lang="fr-BE" sz="3200" b="1" dirty="0">
                <a:sym typeface="Wingdings" panose="05000000000000000000" pitchFamily="2" charset="2"/>
              </a:rPr>
              <a:t> »</a:t>
            </a:r>
            <a:r>
              <a:rPr lang="fr-BE" sz="3200" dirty="0">
                <a:sym typeface="Wingdings" panose="05000000000000000000" pitchFamily="2" charset="2"/>
              </a:rPr>
              <a:t> ou </a:t>
            </a:r>
            <a:r>
              <a:rPr lang="fr-BE" sz="3200" b="1" dirty="0">
                <a:sym typeface="Wingdings" panose="05000000000000000000" pitchFamily="2" charset="2"/>
              </a:rPr>
              <a:t>« 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T</a:t>
            </a:r>
            <a:r>
              <a:rPr lang="fr-BE" sz="3200" b="1" dirty="0">
                <a:sym typeface="Wingdings" panose="05000000000000000000" pitchFamily="2" charset="2"/>
              </a:rPr>
              <a:t> » </a:t>
            </a:r>
            <a:r>
              <a:rPr lang="fr-BE" sz="3200" dirty="0">
                <a:sym typeface="Wingdings" panose="05000000000000000000" pitchFamily="2" charset="2"/>
              </a:rPr>
              <a:t>doit être effectuée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mensuellement</a:t>
            </a:r>
            <a:r>
              <a:rPr lang="fr-BE" sz="3200" dirty="0">
                <a:sym typeface="Wingdings" panose="05000000000000000000" pitchFamily="2" charset="2"/>
              </a:rPr>
              <a:t> :</a:t>
            </a:r>
          </a:p>
          <a:p>
            <a:pPr marL="754063" lvl="2" indent="-354013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3200" dirty="0"/>
              <a:t>Au plus tôt, le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jour ouvrable qui précède</a:t>
            </a:r>
            <a:r>
              <a:rPr lang="fr-BE" sz="3200" dirty="0"/>
              <a:t>. </a:t>
            </a:r>
          </a:p>
          <a:p>
            <a:pPr marL="400050" lvl="2" indent="0">
              <a:spcBef>
                <a:spcPts val="0"/>
              </a:spcBef>
              <a:buSzPct val="100000"/>
              <a:buNone/>
            </a:pPr>
            <a:r>
              <a:rPr lang="fr-BE" sz="3200" b="1" i="1" dirty="0"/>
              <a:t>ou</a:t>
            </a:r>
          </a:p>
          <a:p>
            <a:pPr marL="754063" lvl="2" indent="-354013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3200" dirty="0"/>
              <a:t>Le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fr-BE" sz="3200" b="1" baseline="30000" dirty="0">
                <a:solidFill>
                  <a:schemeClr val="accent2">
                    <a:lumMod val="75000"/>
                  </a:schemeClr>
                </a:solidFill>
              </a:rPr>
              <a:t>ier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 jour effectif </a:t>
            </a:r>
            <a:r>
              <a:rPr lang="fr-BE" sz="3200" dirty="0"/>
              <a:t>de chômage temporaire.</a:t>
            </a:r>
          </a:p>
          <a:p>
            <a:pPr marL="400050" lvl="2" indent="0">
              <a:spcBef>
                <a:spcPts val="0"/>
              </a:spcBef>
              <a:buSzPct val="100000"/>
              <a:buNone/>
            </a:pPr>
            <a:r>
              <a:rPr lang="fr-BE" sz="3200" b="1" i="1" dirty="0"/>
              <a:t>ou</a:t>
            </a:r>
          </a:p>
          <a:p>
            <a:pPr marL="754063" lvl="2" indent="-354013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3200" dirty="0"/>
              <a:t>Au plus tard, le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jour ouvrable qui suit</a:t>
            </a:r>
            <a:r>
              <a:rPr lang="fr-BE" sz="3200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5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3.2. Principes de communication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b="1" dirty="0"/>
              <a:t>Une </a:t>
            </a:r>
            <a:r>
              <a:rPr lang="fr-BE" b="1" u="sng" dirty="0">
                <a:solidFill>
                  <a:schemeClr val="accent2">
                    <a:lumMod val="75000"/>
                  </a:schemeClr>
                </a:solidFill>
              </a:rPr>
              <a:t>communication prématurée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b="1" dirty="0"/>
              <a:t>est considérée comme inexistante.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b="1" u="sng" dirty="0"/>
              <a:t>Exception</a:t>
            </a:r>
            <a:r>
              <a:rPr lang="fr-BE" b="1" dirty="0"/>
              <a:t> : </a:t>
            </a:r>
            <a:r>
              <a:rPr lang="fr-BE" dirty="0"/>
              <a:t>Le 1</a:t>
            </a:r>
            <a:r>
              <a:rPr lang="fr-BE" baseline="30000" dirty="0"/>
              <a:t>ier</a:t>
            </a:r>
            <a:r>
              <a:rPr lang="fr-BE" dirty="0"/>
              <a:t> jour de CT renseigné dans la DRS wech 505 est situé un jour ouvrable après le 1</a:t>
            </a:r>
            <a:r>
              <a:rPr lang="fr-BE" baseline="30000" dirty="0"/>
              <a:t>ier</a:t>
            </a:r>
            <a:r>
              <a:rPr lang="fr-BE" dirty="0"/>
              <a:t> jour de CT communiqué.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2947274" y="6170504"/>
            <a:ext cx="3767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Pas de notification requise cf. CT « I »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76" name="Tableau 5">
            <a:extLst>
              <a:ext uri="{FF2B5EF4-FFF2-40B4-BE49-F238E27FC236}">
                <a16:creationId xmlns:a16="http://schemas.microsoft.com/office/drawing/2014/main" id="{62D99F22-05ED-4CB6-BEFA-42792677FE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2492364"/>
              </p:ext>
            </p:extLst>
          </p:nvPr>
        </p:nvGraphicFramePr>
        <p:xfrm>
          <a:off x="89756" y="4901407"/>
          <a:ext cx="8964487" cy="12368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89177">
                  <a:extLst>
                    <a:ext uri="{9D8B030D-6E8A-4147-A177-3AD203B41FA5}">
                      <a16:colId xmlns:a16="http://schemas.microsoft.com/office/drawing/2014/main" val="3374833884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975585402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2222430080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2440413735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2869120986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3423564008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1468888691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3177516941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371457076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213060930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591898803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1794686339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696530155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3649515914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2589927816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1917479103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2843005296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3286952112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2407814079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808990724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3056487137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1376426997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1107434221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600511469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1001441134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666674622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3238466712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2294613705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2331510094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1911771235"/>
                    </a:ext>
                  </a:extLst>
                </a:gridCol>
                <a:gridCol w="289177">
                  <a:extLst>
                    <a:ext uri="{9D8B030D-6E8A-4147-A177-3AD203B41FA5}">
                      <a16:colId xmlns:a16="http://schemas.microsoft.com/office/drawing/2014/main" val="800472195"/>
                    </a:ext>
                  </a:extLst>
                </a:gridCol>
              </a:tblGrid>
              <a:tr h="495156">
                <a:tc gridSpan="31">
                  <a:txBody>
                    <a:bodyPr/>
                    <a:lstStyle/>
                    <a:p>
                      <a:pPr algn="ctr"/>
                      <a:r>
                        <a:rPr lang="fr-BE" i="1" dirty="0"/>
                        <a:t>Octobre 2022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31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1200" b="1" dirty="0"/>
                        <a:t>1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8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200" b="1" dirty="0"/>
                        <a:t>9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27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b="1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b="1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517771"/>
                  </a:ext>
                </a:extLst>
              </a:tr>
            </a:tbl>
          </a:graphicData>
        </a:graphic>
      </p:graphicFrame>
      <p:sp>
        <p:nvSpPr>
          <p:cNvPr id="277" name="Rectangle 37">
            <a:extLst>
              <a:ext uri="{FF2B5EF4-FFF2-40B4-BE49-F238E27FC236}">
                <a16:creationId xmlns:a16="http://schemas.microsoft.com/office/drawing/2014/main" id="{FA1554D8-DB6A-4BEA-ABA5-2690BE034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073" y="544378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10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8" name="Rectangle 37">
            <a:extLst>
              <a:ext uri="{FF2B5EF4-FFF2-40B4-BE49-F238E27FC236}">
                <a16:creationId xmlns:a16="http://schemas.microsoft.com/office/drawing/2014/main" id="{42B25B2F-09DB-4559-A764-D3C38B378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811" y="544378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13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9" name="Rectangle 37">
            <a:extLst>
              <a:ext uri="{FF2B5EF4-FFF2-40B4-BE49-F238E27FC236}">
                <a16:creationId xmlns:a16="http://schemas.microsoft.com/office/drawing/2014/main" id="{518E5F86-0678-4005-AC2A-D5762BCEA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3113" y="544378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11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0" name="Rectangle 37">
            <a:extLst>
              <a:ext uri="{FF2B5EF4-FFF2-40B4-BE49-F238E27FC236}">
                <a16:creationId xmlns:a16="http://schemas.microsoft.com/office/drawing/2014/main" id="{00D65413-E4F2-47CB-8C18-9F4635D16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154" y="544378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12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1" name="Rectangle 37">
            <a:extLst>
              <a:ext uri="{FF2B5EF4-FFF2-40B4-BE49-F238E27FC236}">
                <a16:creationId xmlns:a16="http://schemas.microsoft.com/office/drawing/2014/main" id="{47A90A3E-E0F1-47B2-89CA-9AC25A69A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182" y="544378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15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2" name="Rectangle 37">
            <a:extLst>
              <a:ext uri="{FF2B5EF4-FFF2-40B4-BE49-F238E27FC236}">
                <a16:creationId xmlns:a16="http://schemas.microsoft.com/office/drawing/2014/main" id="{A6C4C75D-B050-4EA6-9B78-72FF4587E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3433" y="544378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16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3" name="Rectangle 37">
            <a:extLst>
              <a:ext uri="{FF2B5EF4-FFF2-40B4-BE49-F238E27FC236}">
                <a16:creationId xmlns:a16="http://schemas.microsoft.com/office/drawing/2014/main" id="{5B93B482-BFE2-46B1-84F3-0B0AC8D44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9221" y="544378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14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4" name="Rectangle 37">
            <a:extLst>
              <a:ext uri="{FF2B5EF4-FFF2-40B4-BE49-F238E27FC236}">
                <a16:creationId xmlns:a16="http://schemas.microsoft.com/office/drawing/2014/main" id="{DB499899-4437-4E16-97A2-6E59E9ED7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6049" y="544378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19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5" name="Rectangle 37">
            <a:extLst>
              <a:ext uri="{FF2B5EF4-FFF2-40B4-BE49-F238E27FC236}">
                <a16:creationId xmlns:a16="http://schemas.microsoft.com/office/drawing/2014/main" id="{F271DDA0-75F0-40A4-80C8-7EB75B6DA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4288" y="544378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18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6" name="Rectangle 37">
            <a:extLst>
              <a:ext uri="{FF2B5EF4-FFF2-40B4-BE49-F238E27FC236}">
                <a16:creationId xmlns:a16="http://schemas.microsoft.com/office/drawing/2014/main" id="{16BFDCEC-6384-43C1-8AE6-33A8E0943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5294" y="5443787"/>
            <a:ext cx="15709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17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7" name="Rectangle 37">
            <a:extLst>
              <a:ext uri="{FF2B5EF4-FFF2-40B4-BE49-F238E27FC236}">
                <a16:creationId xmlns:a16="http://schemas.microsoft.com/office/drawing/2014/main" id="{E364A869-F5D9-4BB4-9A3A-322860CE0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7486" y="5443787"/>
            <a:ext cx="2807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20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8" name="Rectangle 37">
            <a:extLst>
              <a:ext uri="{FF2B5EF4-FFF2-40B4-BE49-F238E27FC236}">
                <a16:creationId xmlns:a16="http://schemas.microsoft.com/office/drawing/2014/main" id="{BEEC4313-AC92-43B2-803A-98AFD75A0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9430" y="5447432"/>
            <a:ext cx="2807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21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9" name="Rectangle 37">
            <a:extLst>
              <a:ext uri="{FF2B5EF4-FFF2-40B4-BE49-F238E27FC236}">
                <a16:creationId xmlns:a16="http://schemas.microsoft.com/office/drawing/2014/main" id="{D7B3A6DE-D26D-4AD3-B260-0CD050E56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0338" y="5443787"/>
            <a:ext cx="2807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22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0" name="Rectangle 37">
            <a:extLst>
              <a:ext uri="{FF2B5EF4-FFF2-40B4-BE49-F238E27FC236}">
                <a16:creationId xmlns:a16="http://schemas.microsoft.com/office/drawing/2014/main" id="{DC1E26B2-D276-4DE0-B130-D2AB0375B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465" y="5460178"/>
            <a:ext cx="2807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23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1" name="Rectangle 37">
            <a:extLst>
              <a:ext uri="{FF2B5EF4-FFF2-40B4-BE49-F238E27FC236}">
                <a16:creationId xmlns:a16="http://schemas.microsoft.com/office/drawing/2014/main" id="{08F78870-B182-46F4-8383-7DCD62B6F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177" y="5443787"/>
            <a:ext cx="2807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24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2" name="Rectangle 37">
            <a:extLst>
              <a:ext uri="{FF2B5EF4-FFF2-40B4-BE49-F238E27FC236}">
                <a16:creationId xmlns:a16="http://schemas.microsoft.com/office/drawing/2014/main" id="{B8C0B941-AD19-4FD4-A7DD-EC34B29EE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108" y="5441786"/>
            <a:ext cx="2807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25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3" name="Rectangle 37">
            <a:extLst>
              <a:ext uri="{FF2B5EF4-FFF2-40B4-BE49-F238E27FC236}">
                <a16:creationId xmlns:a16="http://schemas.microsoft.com/office/drawing/2014/main" id="{F56E2C95-2FCD-4A47-9441-079B47D26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8836" y="5443313"/>
            <a:ext cx="2807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27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4" name="Rectangle 37">
            <a:extLst>
              <a:ext uri="{FF2B5EF4-FFF2-40B4-BE49-F238E27FC236}">
                <a16:creationId xmlns:a16="http://schemas.microsoft.com/office/drawing/2014/main" id="{8EF8356A-F0AF-466C-943D-91558D0F8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2571" y="5441786"/>
            <a:ext cx="2807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26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5" name="Rectangle 37">
            <a:extLst>
              <a:ext uri="{FF2B5EF4-FFF2-40B4-BE49-F238E27FC236}">
                <a16:creationId xmlns:a16="http://schemas.microsoft.com/office/drawing/2014/main" id="{E5501136-6349-48A6-BC86-1CC3E294C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6241" y="5447266"/>
            <a:ext cx="2807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29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6" name="Rectangle 37">
            <a:extLst>
              <a:ext uri="{FF2B5EF4-FFF2-40B4-BE49-F238E27FC236}">
                <a16:creationId xmlns:a16="http://schemas.microsoft.com/office/drawing/2014/main" id="{7A2412D3-EA8C-439B-89D0-1F22E0062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3384" y="5449353"/>
            <a:ext cx="2807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28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7" name="Rectangle 37">
            <a:extLst>
              <a:ext uri="{FF2B5EF4-FFF2-40B4-BE49-F238E27FC236}">
                <a16:creationId xmlns:a16="http://schemas.microsoft.com/office/drawing/2014/main" id="{EA1D2486-0E51-435F-8FBF-664A07194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7078" y="5443313"/>
            <a:ext cx="2807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30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8" name="Rectangle 37">
            <a:extLst>
              <a:ext uri="{FF2B5EF4-FFF2-40B4-BE49-F238E27FC236}">
                <a16:creationId xmlns:a16="http://schemas.microsoft.com/office/drawing/2014/main" id="{F55300AB-EE03-467E-96F9-616CE4BDE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3894" y="5441786"/>
            <a:ext cx="2807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31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Flèche vers le bas 16"/>
          <p:cNvSpPr/>
          <p:nvPr/>
        </p:nvSpPr>
        <p:spPr>
          <a:xfrm>
            <a:off x="3823273" y="4269895"/>
            <a:ext cx="319033" cy="978408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</a:p>
        </p:txBody>
      </p:sp>
      <p:sp>
        <p:nvSpPr>
          <p:cNvPr id="19" name="Flèche vers le bas 18"/>
          <p:cNvSpPr/>
          <p:nvPr/>
        </p:nvSpPr>
        <p:spPr>
          <a:xfrm>
            <a:off x="3002438" y="4269895"/>
            <a:ext cx="319033" cy="978408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</a:p>
        </p:txBody>
      </p:sp>
      <p:sp>
        <p:nvSpPr>
          <p:cNvPr id="18" name="Flèche vers le bas 17"/>
          <p:cNvSpPr/>
          <p:nvPr/>
        </p:nvSpPr>
        <p:spPr>
          <a:xfrm>
            <a:off x="3258865" y="4269895"/>
            <a:ext cx="319033" cy="978408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</a:p>
        </p:txBody>
      </p:sp>
      <p:sp>
        <p:nvSpPr>
          <p:cNvPr id="16" name="Flèche vers le bas 15"/>
          <p:cNvSpPr/>
          <p:nvPr/>
        </p:nvSpPr>
        <p:spPr>
          <a:xfrm>
            <a:off x="3529398" y="4269895"/>
            <a:ext cx="319033" cy="978408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7ABDE9-15FC-47D4-8B85-587DE4173198}"/>
              </a:ext>
            </a:extLst>
          </p:cNvPr>
          <p:cNvSpPr/>
          <p:nvPr/>
        </p:nvSpPr>
        <p:spPr>
          <a:xfrm>
            <a:off x="7048271" y="5324905"/>
            <a:ext cx="246082" cy="84559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FBB19BC6-C4D1-44D9-9E1E-E43C0C33CB52}"/>
              </a:ext>
            </a:extLst>
          </p:cNvPr>
          <p:cNvSpPr/>
          <p:nvPr/>
        </p:nvSpPr>
        <p:spPr>
          <a:xfrm>
            <a:off x="7058235" y="5324905"/>
            <a:ext cx="246082" cy="84559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AEAB22D2-D564-404D-8EA2-AA2CDE9D0D0B}"/>
              </a:ext>
            </a:extLst>
          </p:cNvPr>
          <p:cNvSpPr/>
          <p:nvPr/>
        </p:nvSpPr>
        <p:spPr>
          <a:xfrm>
            <a:off x="3563748" y="5366560"/>
            <a:ext cx="246082" cy="84559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0F37E5C3-DBEF-49AE-A31E-B613EE2D6466}"/>
              </a:ext>
            </a:extLst>
          </p:cNvPr>
          <p:cNvSpPr/>
          <p:nvPr/>
        </p:nvSpPr>
        <p:spPr>
          <a:xfrm>
            <a:off x="3569995" y="5362257"/>
            <a:ext cx="232020" cy="84559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714587ED-8FA2-4ECA-A4AE-963381A4461D}"/>
              </a:ext>
            </a:extLst>
          </p:cNvPr>
          <p:cNvSpPr/>
          <p:nvPr/>
        </p:nvSpPr>
        <p:spPr>
          <a:xfrm>
            <a:off x="2988297" y="5362256"/>
            <a:ext cx="246082" cy="845599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A480658A-61E5-4BEB-8648-AE13A53D5F27}"/>
              </a:ext>
            </a:extLst>
          </p:cNvPr>
          <p:cNvSpPr/>
          <p:nvPr/>
        </p:nvSpPr>
        <p:spPr>
          <a:xfrm>
            <a:off x="3280672" y="5362255"/>
            <a:ext cx="246082" cy="845599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1695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9" grpId="0" animBg="1"/>
      <p:bldP spid="18" grpId="0" animBg="1"/>
      <p:bldP spid="18" grpId="1" animBg="1"/>
      <p:bldP spid="16" grpId="0" animBg="1"/>
      <p:bldP spid="16" grpId="1" animBg="1"/>
      <p:bldP spid="2" grpId="0" animBg="1"/>
      <p:bldP spid="2" grpId="1" animBg="1"/>
      <p:bldP spid="299" grpId="0" animBg="1"/>
      <p:bldP spid="300" grpId="0" animBg="1"/>
      <p:bldP spid="300" grpId="1" animBg="1"/>
      <p:bldP spid="301" grpId="0" animBg="1"/>
      <p:bldP spid="302" grpId="0" animBg="1"/>
      <p:bldP spid="302" grpId="1" animBg="1"/>
      <p:bldP spid="30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3.2. Principes de communication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1" indent="-342900">
              <a:spcBef>
                <a:spcPts val="0"/>
              </a:spcBef>
              <a:buFont typeface="Wingdings" pitchFamily="2" charset="2"/>
              <a:buChar char="§"/>
            </a:pPr>
            <a:r>
              <a:rPr lang="fr-BE" sz="3200" dirty="0"/>
              <a:t>La communication du 1</a:t>
            </a:r>
            <a:r>
              <a:rPr lang="fr-BE" sz="3200" baseline="30000" dirty="0"/>
              <a:t>ier</a:t>
            </a:r>
            <a:r>
              <a:rPr lang="fr-BE" sz="3200" dirty="0"/>
              <a:t> jour effectif de CT est également valable en cas de </a:t>
            </a:r>
            <a:r>
              <a:rPr lang="fr-BE" sz="3200" b="1" u="sng" dirty="0">
                <a:solidFill>
                  <a:schemeClr val="accent2">
                    <a:lumMod val="75000"/>
                  </a:schemeClr>
                </a:solidFill>
              </a:rPr>
              <a:t>simultanéité</a:t>
            </a:r>
            <a:r>
              <a:rPr lang="fr-BE" sz="3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sz="3200" dirty="0"/>
              <a:t>:</a:t>
            </a:r>
          </a:p>
          <a:p>
            <a:pPr marL="0" lvl="1" indent="0">
              <a:spcBef>
                <a:spcPts val="0"/>
              </a:spcBef>
              <a:buNone/>
            </a:pPr>
            <a:endParaRPr lang="fr-BE" sz="1200" dirty="0"/>
          </a:p>
          <a:p>
            <a:pPr marL="742950" lvl="2" indent="-342900">
              <a:spcBef>
                <a:spcPts val="0"/>
              </a:spcBef>
              <a:buFont typeface="Wingdings" pitchFamily="2" charset="2"/>
              <a:buChar char="§"/>
            </a:pPr>
            <a:r>
              <a:rPr lang="fr-BE" sz="3200" dirty="0"/>
              <a:t>De la </a:t>
            </a:r>
            <a:r>
              <a:rPr lang="fr-BE" sz="3200" b="1" dirty="0"/>
              <a:t>communication</a:t>
            </a:r>
            <a:r>
              <a:rPr lang="fr-BE" sz="3200" dirty="0"/>
              <a:t> du 1</a:t>
            </a:r>
            <a:r>
              <a:rPr lang="fr-BE" sz="3200" baseline="30000" dirty="0"/>
              <a:t>ier</a:t>
            </a:r>
            <a:r>
              <a:rPr lang="fr-BE" sz="3200" dirty="0"/>
              <a:t> jour effectif de chômage temporaire.</a:t>
            </a:r>
          </a:p>
          <a:p>
            <a:pPr marL="400050" lvl="2" indent="0">
              <a:spcBef>
                <a:spcPts val="0"/>
              </a:spcBef>
              <a:buNone/>
            </a:pPr>
            <a:endParaRPr lang="fr-BE" sz="1200" dirty="0"/>
          </a:p>
          <a:p>
            <a:pPr marL="400050" lvl="2" indent="0">
              <a:spcBef>
                <a:spcPts val="0"/>
              </a:spcBef>
              <a:buNone/>
            </a:pPr>
            <a:r>
              <a:rPr lang="fr-BE" sz="3200" b="1" u="sng" dirty="0">
                <a:solidFill>
                  <a:schemeClr val="accent2">
                    <a:lumMod val="75000"/>
                  </a:schemeClr>
                </a:solidFill>
              </a:rPr>
              <a:t>ET</a:t>
            </a:r>
          </a:p>
          <a:p>
            <a:pPr marL="400050" lvl="2" indent="0">
              <a:spcBef>
                <a:spcPts val="0"/>
              </a:spcBef>
              <a:buNone/>
            </a:pPr>
            <a:endParaRPr lang="fr-BE" sz="1200" b="1" i="1" u="sng" dirty="0">
              <a:solidFill>
                <a:srgbClr val="C00000"/>
              </a:solidFill>
            </a:endParaRPr>
          </a:p>
          <a:p>
            <a:pPr marL="742950" lvl="2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3200" dirty="0"/>
              <a:t>D’une </a:t>
            </a:r>
            <a:r>
              <a:rPr lang="fr-BE" sz="3200" b="1" dirty="0"/>
              <a:t>mention « 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M</a:t>
            </a:r>
            <a:r>
              <a:rPr lang="fr-BE" sz="3200" b="1" dirty="0">
                <a:solidFill>
                  <a:srgbClr val="C00000"/>
                </a:solidFill>
              </a:rPr>
              <a:t> </a:t>
            </a:r>
            <a:r>
              <a:rPr lang="fr-BE" sz="3200" b="1" dirty="0"/>
              <a:t>», « 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V</a:t>
            </a:r>
            <a:r>
              <a:rPr lang="fr-BE" sz="3200" b="1" dirty="0"/>
              <a:t> » et/ou « 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fr-BE" sz="3200" b="1" dirty="0"/>
              <a:t> » </a:t>
            </a:r>
            <a:r>
              <a:rPr lang="fr-BE" sz="3200" dirty="0"/>
              <a:t>sur la carte de contrôle C3.2A (ou C3.2A fse).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1490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86791E-F2F9-49E7-8AF9-BFF58CF09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Exemples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391114-5C59-49CC-98D3-5273F56C6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40</a:t>
            </a:fld>
            <a:endParaRPr lang="fr-FR"/>
          </a:p>
        </p:txBody>
      </p: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0C0F68A4-13E8-4CE0-8D04-EC66D221D85C}"/>
              </a:ext>
            </a:extLst>
          </p:cNvPr>
          <p:cNvGrpSpPr/>
          <p:nvPr/>
        </p:nvGrpSpPr>
        <p:grpSpPr>
          <a:xfrm>
            <a:off x="92427" y="1451851"/>
            <a:ext cx="8964487" cy="1236836"/>
            <a:chOff x="92427" y="1451851"/>
            <a:chExt cx="8964487" cy="1236836"/>
          </a:xfrm>
        </p:grpSpPr>
        <p:graphicFrame>
          <p:nvGraphicFramePr>
            <p:cNvPr id="5" name="Tableau 5">
              <a:extLst>
                <a:ext uri="{FF2B5EF4-FFF2-40B4-BE49-F238E27FC236}">
                  <a16:creationId xmlns:a16="http://schemas.microsoft.com/office/drawing/2014/main" id="{3677FDDA-7C40-43EC-B2D6-F002ED4FE80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713974980"/>
                </p:ext>
              </p:extLst>
            </p:nvPr>
          </p:nvGraphicFramePr>
          <p:xfrm>
            <a:off x="92427" y="1451851"/>
            <a:ext cx="8964487" cy="1236836"/>
          </p:xfrm>
          <a:graphic>
            <a:graphicData uri="http://schemas.openxmlformats.org/drawingml/2006/table">
              <a:tbl>
                <a:tblPr firstRow="1" bandRow="1">
                  <a:tableStyleId>{F5AB1C69-6EDB-4FF4-983F-18BD219EF322}</a:tableStyleId>
                </a:tblPr>
                <a:tblGrid>
                  <a:gridCol w="289177">
                    <a:extLst>
                      <a:ext uri="{9D8B030D-6E8A-4147-A177-3AD203B41FA5}">
                        <a16:colId xmlns:a16="http://schemas.microsoft.com/office/drawing/2014/main" val="337483388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975585402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222430080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440413735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869120986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423564008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468888691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177516941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71457076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13060930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591898803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794686339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696530155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64951591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589927816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917479103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843005296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286952112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407814079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80899072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056487137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376426997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107434221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600511469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00144113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666674622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238466712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294613705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33151009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911771235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800472195"/>
                      </a:ext>
                    </a:extLst>
                  </a:gridCol>
                </a:tblGrid>
                <a:tr h="495156">
                  <a:tc gridSpan="31">
                    <a:txBody>
                      <a:bodyPr/>
                      <a:lstStyle/>
                      <a:p>
                        <a:pPr algn="ctr"/>
                        <a:r>
                          <a:rPr lang="fr-BE" i="1" dirty="0"/>
                          <a:t>Octobre 2022</a:t>
                        </a:r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334431939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1</a:t>
                        </a:r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2</a:t>
                        </a:r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3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4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5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6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7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8</a:t>
                        </a:r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9</a:t>
                        </a:r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>
                          <a:latin typeface="+mj-lt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>
                          <a:latin typeface="+mn-lt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722527448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b="1" dirty="0"/>
                          <a:t>I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b="1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b="1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b="1" dirty="0"/>
                          <a:t>I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3198517771"/>
                    </a:ext>
                  </a:extLst>
                </a:tr>
              </a:tbl>
            </a:graphicData>
          </a:graphic>
        </p:graphicFrame>
        <p:sp>
          <p:nvSpPr>
            <p:cNvPr id="6" name="Rectangle 37">
              <a:extLst>
                <a:ext uri="{FF2B5EF4-FFF2-40B4-BE49-F238E27FC236}">
                  <a16:creationId xmlns:a16="http://schemas.microsoft.com/office/drawing/2014/main" id="{17D5E339-0DC5-4EB1-9966-6044B6D79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803" y="1977936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10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Rectangle 37">
              <a:extLst>
                <a:ext uri="{FF2B5EF4-FFF2-40B4-BE49-F238E27FC236}">
                  <a16:creationId xmlns:a16="http://schemas.microsoft.com/office/drawing/2014/main" id="{2C3CA34E-F557-4C4F-B1D2-35891D4C7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3534" y="1977936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11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Rectangle 37">
              <a:extLst>
                <a:ext uri="{FF2B5EF4-FFF2-40B4-BE49-F238E27FC236}">
                  <a16:creationId xmlns:a16="http://schemas.microsoft.com/office/drawing/2014/main" id="{55BF31E8-7C05-4572-A215-BE4E93ED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7237" y="1977936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12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Rectangle 37">
              <a:extLst>
                <a:ext uri="{FF2B5EF4-FFF2-40B4-BE49-F238E27FC236}">
                  <a16:creationId xmlns:a16="http://schemas.microsoft.com/office/drawing/2014/main" id="{811C8F93-DC47-4DCD-AE5C-442583D52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617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19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Rectangle 37">
              <a:extLst>
                <a:ext uri="{FF2B5EF4-FFF2-40B4-BE49-F238E27FC236}">
                  <a16:creationId xmlns:a16="http://schemas.microsoft.com/office/drawing/2014/main" id="{CAA3276D-62D8-40FA-8DB5-0B29501FF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2346" y="1977936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13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Rectangle 37">
              <a:extLst>
                <a:ext uri="{FF2B5EF4-FFF2-40B4-BE49-F238E27FC236}">
                  <a16:creationId xmlns:a16="http://schemas.microsoft.com/office/drawing/2014/main" id="{0F56939D-28D7-4A5C-B961-2ED9850D6B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5432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14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Rectangle 37">
              <a:extLst>
                <a:ext uri="{FF2B5EF4-FFF2-40B4-BE49-F238E27FC236}">
                  <a16:creationId xmlns:a16="http://schemas.microsoft.com/office/drawing/2014/main" id="{1C26871A-7DEA-4C23-8F98-B3AAD85C13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363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Rectangle 37">
              <a:extLst>
                <a:ext uri="{FF2B5EF4-FFF2-40B4-BE49-F238E27FC236}">
                  <a16:creationId xmlns:a16="http://schemas.microsoft.com/office/drawing/2014/main" id="{BB448B7C-CF5A-449F-92A3-C4ABADC26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232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16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37">
              <a:extLst>
                <a:ext uri="{FF2B5EF4-FFF2-40B4-BE49-F238E27FC236}">
                  <a16:creationId xmlns:a16="http://schemas.microsoft.com/office/drawing/2014/main" id="{9D5B8985-06E5-4331-B706-713ADC37E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1046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17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37">
              <a:extLst>
                <a:ext uri="{FF2B5EF4-FFF2-40B4-BE49-F238E27FC236}">
                  <a16:creationId xmlns:a16="http://schemas.microsoft.com/office/drawing/2014/main" id="{EDAC9FEE-7089-4A7A-BF80-E1190F691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6519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18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Rectangle 37">
              <a:extLst>
                <a:ext uri="{FF2B5EF4-FFF2-40B4-BE49-F238E27FC236}">
                  <a16:creationId xmlns:a16="http://schemas.microsoft.com/office/drawing/2014/main" id="{AC03CD31-AC4B-4588-AEE4-ADE1E455E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0476" y="1980519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20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Rectangle 37">
              <a:extLst>
                <a:ext uri="{FF2B5EF4-FFF2-40B4-BE49-F238E27FC236}">
                  <a16:creationId xmlns:a16="http://schemas.microsoft.com/office/drawing/2014/main" id="{949F9061-9042-4993-A368-F02DBF86A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2759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21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Rectangle 37">
              <a:extLst>
                <a:ext uri="{FF2B5EF4-FFF2-40B4-BE49-F238E27FC236}">
                  <a16:creationId xmlns:a16="http://schemas.microsoft.com/office/drawing/2014/main" id="{CB512815-1004-4D7A-A144-EA8018EFE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3796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22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37">
              <a:extLst>
                <a:ext uri="{FF2B5EF4-FFF2-40B4-BE49-F238E27FC236}">
                  <a16:creationId xmlns:a16="http://schemas.microsoft.com/office/drawing/2014/main" id="{6EAE8133-12A7-4AC6-988C-CC5C0289C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8734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23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Rectangle 37">
              <a:extLst>
                <a:ext uri="{FF2B5EF4-FFF2-40B4-BE49-F238E27FC236}">
                  <a16:creationId xmlns:a16="http://schemas.microsoft.com/office/drawing/2014/main" id="{D938FD64-3E25-4849-BE51-770778DB7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7279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24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Rectangle 37">
              <a:extLst>
                <a:ext uri="{FF2B5EF4-FFF2-40B4-BE49-F238E27FC236}">
                  <a16:creationId xmlns:a16="http://schemas.microsoft.com/office/drawing/2014/main" id="{3320C685-E499-4AFA-99A2-1167ABA44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6177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25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37">
              <a:extLst>
                <a:ext uri="{FF2B5EF4-FFF2-40B4-BE49-F238E27FC236}">
                  <a16:creationId xmlns:a16="http://schemas.microsoft.com/office/drawing/2014/main" id="{F929F1FF-36ED-4FB3-9877-792D41B0A0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6512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26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37">
              <a:extLst>
                <a:ext uri="{FF2B5EF4-FFF2-40B4-BE49-F238E27FC236}">
                  <a16:creationId xmlns:a16="http://schemas.microsoft.com/office/drawing/2014/main" id="{D6E0B85D-67FB-4B0A-B1EB-FDFBE9B91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7951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27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37">
              <a:extLst>
                <a:ext uri="{FF2B5EF4-FFF2-40B4-BE49-F238E27FC236}">
                  <a16:creationId xmlns:a16="http://schemas.microsoft.com/office/drawing/2014/main" id="{97E10304-CF4B-4605-A7F7-CD3C7E3A4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2971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28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37">
              <a:extLst>
                <a:ext uri="{FF2B5EF4-FFF2-40B4-BE49-F238E27FC236}">
                  <a16:creationId xmlns:a16="http://schemas.microsoft.com/office/drawing/2014/main" id="{4B4EE062-4CB2-4C2B-AC29-D52ED9D67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2115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29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Rectangle 37">
              <a:extLst>
                <a:ext uri="{FF2B5EF4-FFF2-40B4-BE49-F238E27FC236}">
                  <a16:creationId xmlns:a16="http://schemas.microsoft.com/office/drawing/2014/main" id="{796914F8-E2B5-4D2C-BDAF-899878050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6880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30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37">
              <a:extLst>
                <a:ext uri="{FF2B5EF4-FFF2-40B4-BE49-F238E27FC236}">
                  <a16:creationId xmlns:a16="http://schemas.microsoft.com/office/drawing/2014/main" id="{EF9C9262-C3C7-4C73-88E2-0EFBC8F1E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1897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31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68F380C8-3A98-4853-B49E-2269A60A3EBF}"/>
              </a:ext>
            </a:extLst>
          </p:cNvPr>
          <p:cNvGrpSpPr/>
          <p:nvPr/>
        </p:nvGrpSpPr>
        <p:grpSpPr>
          <a:xfrm>
            <a:off x="106751" y="3429000"/>
            <a:ext cx="8964487" cy="1236836"/>
            <a:chOff x="92427" y="1451851"/>
            <a:chExt cx="8964487" cy="1236836"/>
          </a:xfrm>
        </p:grpSpPr>
        <p:graphicFrame>
          <p:nvGraphicFramePr>
            <p:cNvPr id="54" name="Tableau 5">
              <a:extLst>
                <a:ext uri="{FF2B5EF4-FFF2-40B4-BE49-F238E27FC236}">
                  <a16:creationId xmlns:a16="http://schemas.microsoft.com/office/drawing/2014/main" id="{DB2FCC88-9E16-414C-8524-EEDD675E7D4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080231351"/>
                </p:ext>
              </p:extLst>
            </p:nvPr>
          </p:nvGraphicFramePr>
          <p:xfrm>
            <a:off x="92427" y="1451851"/>
            <a:ext cx="8964487" cy="1236836"/>
          </p:xfrm>
          <a:graphic>
            <a:graphicData uri="http://schemas.openxmlformats.org/drawingml/2006/table">
              <a:tbl>
                <a:tblPr firstRow="1" bandRow="1">
                  <a:tableStyleId>{F5AB1C69-6EDB-4FF4-983F-18BD219EF322}</a:tableStyleId>
                </a:tblPr>
                <a:tblGrid>
                  <a:gridCol w="289177">
                    <a:extLst>
                      <a:ext uri="{9D8B030D-6E8A-4147-A177-3AD203B41FA5}">
                        <a16:colId xmlns:a16="http://schemas.microsoft.com/office/drawing/2014/main" val="337483388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975585402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222430080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440413735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869120986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423564008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468888691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177516941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71457076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13060930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591898803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794686339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696530155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64951591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589927816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917479103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843005296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286952112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407814079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80899072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056487137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376426997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107434221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600511469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00144113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666674622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238466712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294613705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33151009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911771235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800472195"/>
                      </a:ext>
                    </a:extLst>
                  </a:gridCol>
                </a:tblGrid>
                <a:tr h="495156">
                  <a:tc gridSpan="31">
                    <a:txBody>
                      <a:bodyPr/>
                      <a:lstStyle/>
                      <a:p>
                        <a:pPr algn="ctr"/>
                        <a:r>
                          <a:rPr lang="fr-BE" i="1" dirty="0"/>
                          <a:t>Octobre 2022</a:t>
                        </a:r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334431939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1</a:t>
                        </a:r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2</a:t>
                        </a:r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3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4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5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6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7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8</a:t>
                        </a:r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9</a:t>
                        </a:r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>
                          <a:latin typeface="+mj-lt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>
                          <a:latin typeface="+mn-lt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722527448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fr-BE" sz="1600" b="1" dirty="0"/>
                          <a:t>M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fr-BE" sz="1600" b="1" dirty="0"/>
                          <a:t>M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b="1" dirty="0"/>
                          <a:t>I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b="1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b="1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b="1" dirty="0"/>
                          <a:t>I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3198517771"/>
                    </a:ext>
                  </a:extLst>
                </a:tr>
              </a:tbl>
            </a:graphicData>
          </a:graphic>
        </p:graphicFrame>
        <p:sp>
          <p:nvSpPr>
            <p:cNvPr id="55" name="Rectangle 37">
              <a:extLst>
                <a:ext uri="{FF2B5EF4-FFF2-40B4-BE49-F238E27FC236}">
                  <a16:creationId xmlns:a16="http://schemas.microsoft.com/office/drawing/2014/main" id="{E12400A3-53E3-4434-9A01-028C49326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803" y="1977936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10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6" name="Rectangle 37">
              <a:extLst>
                <a:ext uri="{FF2B5EF4-FFF2-40B4-BE49-F238E27FC236}">
                  <a16:creationId xmlns:a16="http://schemas.microsoft.com/office/drawing/2014/main" id="{88A015CD-F5EA-4740-9E82-80B256187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3534" y="1977936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11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7" name="Rectangle 37">
              <a:extLst>
                <a:ext uri="{FF2B5EF4-FFF2-40B4-BE49-F238E27FC236}">
                  <a16:creationId xmlns:a16="http://schemas.microsoft.com/office/drawing/2014/main" id="{EAAED1DD-C5CA-4872-8B74-E6E8539EB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7237" y="1977936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12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Rectangle 37">
              <a:extLst>
                <a:ext uri="{FF2B5EF4-FFF2-40B4-BE49-F238E27FC236}">
                  <a16:creationId xmlns:a16="http://schemas.microsoft.com/office/drawing/2014/main" id="{DA962DC2-A87C-4402-BF52-75FA242DA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617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19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Rectangle 37">
              <a:extLst>
                <a:ext uri="{FF2B5EF4-FFF2-40B4-BE49-F238E27FC236}">
                  <a16:creationId xmlns:a16="http://schemas.microsoft.com/office/drawing/2014/main" id="{FBDAAB97-9762-4C5A-A0A3-6EC6C83D2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2346" y="1977936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13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Rectangle 37">
              <a:extLst>
                <a:ext uri="{FF2B5EF4-FFF2-40B4-BE49-F238E27FC236}">
                  <a16:creationId xmlns:a16="http://schemas.microsoft.com/office/drawing/2014/main" id="{40790400-F188-40E2-B4D5-26D6087FA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5432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14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Rectangle 37">
              <a:extLst>
                <a:ext uri="{FF2B5EF4-FFF2-40B4-BE49-F238E27FC236}">
                  <a16:creationId xmlns:a16="http://schemas.microsoft.com/office/drawing/2014/main" id="{61DE4D88-9EEB-4E1A-9022-753739C76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363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" name="Rectangle 37">
              <a:extLst>
                <a:ext uri="{FF2B5EF4-FFF2-40B4-BE49-F238E27FC236}">
                  <a16:creationId xmlns:a16="http://schemas.microsoft.com/office/drawing/2014/main" id="{11B79138-C0C7-45E1-A813-3F48BB4E5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232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16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" name="Rectangle 37">
              <a:extLst>
                <a:ext uri="{FF2B5EF4-FFF2-40B4-BE49-F238E27FC236}">
                  <a16:creationId xmlns:a16="http://schemas.microsoft.com/office/drawing/2014/main" id="{F293B54A-C32F-4778-AEC8-86EF316C2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1046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17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Rectangle 37">
              <a:extLst>
                <a:ext uri="{FF2B5EF4-FFF2-40B4-BE49-F238E27FC236}">
                  <a16:creationId xmlns:a16="http://schemas.microsoft.com/office/drawing/2014/main" id="{CDC39682-10C3-494C-B5EA-C600A5252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6519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18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" name="Rectangle 37">
              <a:extLst>
                <a:ext uri="{FF2B5EF4-FFF2-40B4-BE49-F238E27FC236}">
                  <a16:creationId xmlns:a16="http://schemas.microsoft.com/office/drawing/2014/main" id="{7790B2D1-DBCC-46E7-9370-016DA6DCD4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0476" y="1980519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20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" name="Rectangle 37">
              <a:extLst>
                <a:ext uri="{FF2B5EF4-FFF2-40B4-BE49-F238E27FC236}">
                  <a16:creationId xmlns:a16="http://schemas.microsoft.com/office/drawing/2014/main" id="{DA3BA8D2-E63F-4669-80AC-FEF3608F5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2759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21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" name="Rectangle 37">
              <a:extLst>
                <a:ext uri="{FF2B5EF4-FFF2-40B4-BE49-F238E27FC236}">
                  <a16:creationId xmlns:a16="http://schemas.microsoft.com/office/drawing/2014/main" id="{805F550B-BF02-4880-9033-5C2ED15F7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3796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22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8" name="Rectangle 37">
              <a:extLst>
                <a:ext uri="{FF2B5EF4-FFF2-40B4-BE49-F238E27FC236}">
                  <a16:creationId xmlns:a16="http://schemas.microsoft.com/office/drawing/2014/main" id="{93F476DC-0319-4DF8-B494-C243F3506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8734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23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9" name="Rectangle 37">
              <a:extLst>
                <a:ext uri="{FF2B5EF4-FFF2-40B4-BE49-F238E27FC236}">
                  <a16:creationId xmlns:a16="http://schemas.microsoft.com/office/drawing/2014/main" id="{F380B13A-AD06-4EF6-8006-76B5CBCA7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7279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24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0" name="Rectangle 37">
              <a:extLst>
                <a:ext uri="{FF2B5EF4-FFF2-40B4-BE49-F238E27FC236}">
                  <a16:creationId xmlns:a16="http://schemas.microsoft.com/office/drawing/2014/main" id="{979D6F3C-0253-4FAD-8DDC-0FFBF8B44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6177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25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1" name="Rectangle 37">
              <a:extLst>
                <a:ext uri="{FF2B5EF4-FFF2-40B4-BE49-F238E27FC236}">
                  <a16:creationId xmlns:a16="http://schemas.microsoft.com/office/drawing/2014/main" id="{EB156871-EF1A-404A-A9F4-6C428AA09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6512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26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2" name="Rectangle 37">
              <a:extLst>
                <a:ext uri="{FF2B5EF4-FFF2-40B4-BE49-F238E27FC236}">
                  <a16:creationId xmlns:a16="http://schemas.microsoft.com/office/drawing/2014/main" id="{433407E0-4F0D-4CD0-BE50-DBEA51081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7951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27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" name="Rectangle 37">
              <a:extLst>
                <a:ext uri="{FF2B5EF4-FFF2-40B4-BE49-F238E27FC236}">
                  <a16:creationId xmlns:a16="http://schemas.microsoft.com/office/drawing/2014/main" id="{0A80E18C-053B-42CD-858C-255811A9B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2971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28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4" name="Rectangle 37">
              <a:extLst>
                <a:ext uri="{FF2B5EF4-FFF2-40B4-BE49-F238E27FC236}">
                  <a16:creationId xmlns:a16="http://schemas.microsoft.com/office/drawing/2014/main" id="{32A7FB29-8889-4539-AF07-E3CEAA08C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2115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29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5" name="Rectangle 37">
              <a:extLst>
                <a:ext uri="{FF2B5EF4-FFF2-40B4-BE49-F238E27FC236}">
                  <a16:creationId xmlns:a16="http://schemas.microsoft.com/office/drawing/2014/main" id="{5380B466-5753-44E7-BA73-88B37EA3C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6880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30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6" name="Rectangle 37">
              <a:extLst>
                <a:ext uri="{FF2B5EF4-FFF2-40B4-BE49-F238E27FC236}">
                  <a16:creationId xmlns:a16="http://schemas.microsoft.com/office/drawing/2014/main" id="{6B02A03A-6810-47C0-8DAA-FF8940000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1897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31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78" name="Flèche vers le bas 20">
            <a:extLst>
              <a:ext uri="{FF2B5EF4-FFF2-40B4-BE49-F238E27FC236}">
                <a16:creationId xmlns:a16="http://schemas.microsoft.com/office/drawing/2014/main" id="{C045D6E3-3F53-474A-8807-C10285109C8B}"/>
              </a:ext>
            </a:extLst>
          </p:cNvPr>
          <p:cNvSpPr/>
          <p:nvPr/>
        </p:nvSpPr>
        <p:spPr>
          <a:xfrm>
            <a:off x="2982181" y="853845"/>
            <a:ext cx="319033" cy="978408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prstClr val="black"/>
                </a:solidFill>
                <a:latin typeface="Calibri"/>
              </a:rPr>
              <a:t>I</a:t>
            </a:r>
          </a:p>
        </p:txBody>
      </p:sp>
      <p:sp>
        <p:nvSpPr>
          <p:cNvPr id="79" name="Flèche vers le bas 20">
            <a:extLst>
              <a:ext uri="{FF2B5EF4-FFF2-40B4-BE49-F238E27FC236}">
                <a16:creationId xmlns:a16="http://schemas.microsoft.com/office/drawing/2014/main" id="{84D0CA66-BAC9-4D6F-B32B-787AB266F571}"/>
              </a:ext>
            </a:extLst>
          </p:cNvPr>
          <p:cNvSpPr/>
          <p:nvPr/>
        </p:nvSpPr>
        <p:spPr>
          <a:xfrm>
            <a:off x="2976888" y="2827590"/>
            <a:ext cx="319033" cy="978408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prstClr val="black"/>
                </a:solidFill>
                <a:latin typeface="Calibri"/>
              </a:rPr>
              <a:t>I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97AC866-62E3-43CB-B384-2DC1C717A0C3}"/>
              </a:ext>
            </a:extLst>
          </p:cNvPr>
          <p:cNvSpPr/>
          <p:nvPr/>
        </p:nvSpPr>
        <p:spPr>
          <a:xfrm>
            <a:off x="2976300" y="1919817"/>
            <a:ext cx="303549" cy="776348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C38BD00-FCFD-499D-BF47-0E796B4B4A23}"/>
              </a:ext>
            </a:extLst>
          </p:cNvPr>
          <p:cNvSpPr/>
          <p:nvPr/>
        </p:nvSpPr>
        <p:spPr>
          <a:xfrm>
            <a:off x="2974930" y="3901414"/>
            <a:ext cx="289725" cy="776348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157" name="Groupe 156">
            <a:extLst>
              <a:ext uri="{FF2B5EF4-FFF2-40B4-BE49-F238E27FC236}">
                <a16:creationId xmlns:a16="http://schemas.microsoft.com/office/drawing/2014/main" id="{26B3417C-AEAF-435A-A8E3-F07793D1C66F}"/>
              </a:ext>
            </a:extLst>
          </p:cNvPr>
          <p:cNvGrpSpPr/>
          <p:nvPr/>
        </p:nvGrpSpPr>
        <p:grpSpPr>
          <a:xfrm>
            <a:off x="89756" y="5346526"/>
            <a:ext cx="8964487" cy="1236836"/>
            <a:chOff x="36006" y="5114846"/>
            <a:chExt cx="8964487" cy="1236836"/>
          </a:xfrm>
        </p:grpSpPr>
        <p:graphicFrame>
          <p:nvGraphicFramePr>
            <p:cNvPr id="158" name="Tableau 5">
              <a:extLst>
                <a:ext uri="{FF2B5EF4-FFF2-40B4-BE49-F238E27FC236}">
                  <a16:creationId xmlns:a16="http://schemas.microsoft.com/office/drawing/2014/main" id="{A24EFC7E-DF1F-4E02-BC1B-2D1E2695F30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16348649"/>
                </p:ext>
              </p:extLst>
            </p:nvPr>
          </p:nvGraphicFramePr>
          <p:xfrm>
            <a:off x="36006" y="5114846"/>
            <a:ext cx="8964487" cy="1236836"/>
          </p:xfrm>
          <a:graphic>
            <a:graphicData uri="http://schemas.openxmlformats.org/drawingml/2006/table">
              <a:tbl>
                <a:tblPr firstRow="1" bandRow="1">
                  <a:tableStyleId>{F5AB1C69-6EDB-4FF4-983F-18BD219EF322}</a:tableStyleId>
                </a:tblPr>
                <a:tblGrid>
                  <a:gridCol w="289177">
                    <a:extLst>
                      <a:ext uri="{9D8B030D-6E8A-4147-A177-3AD203B41FA5}">
                        <a16:colId xmlns:a16="http://schemas.microsoft.com/office/drawing/2014/main" val="337483388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975585402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222430080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440413735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869120986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423564008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468888691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177516941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71457076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13060930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591898803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794686339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696530155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64951591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589927816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917479103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843005296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286952112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407814079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80899072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056487137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376426997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107434221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600511469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00144113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666674622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238466712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294613705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33151009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911771235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800472195"/>
                      </a:ext>
                    </a:extLst>
                  </a:gridCol>
                </a:tblGrid>
                <a:tr h="495156">
                  <a:tc gridSpan="31">
                    <a:txBody>
                      <a:bodyPr/>
                      <a:lstStyle/>
                      <a:p>
                        <a:pPr algn="ctr"/>
                        <a:r>
                          <a:rPr lang="fr-BE" i="1" dirty="0"/>
                          <a:t>Octobre 2022</a:t>
                        </a:r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334431939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1</a:t>
                        </a:r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2</a:t>
                        </a:r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3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4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5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6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7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8</a:t>
                        </a:r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9</a:t>
                        </a:r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>
                          <a:latin typeface="+mj-lt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>
                          <a:latin typeface="+mn-lt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722527448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fr-BE" sz="1600" b="1" dirty="0"/>
                          <a:t>M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fr-BE" sz="1600" b="1" dirty="0"/>
                          <a:t>M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b="1" dirty="0"/>
                      </a:p>
                    </a:txBody>
                    <a:tcPr>
                      <a:solidFill>
                        <a:schemeClr val="bg1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b="1" dirty="0"/>
                      </a:p>
                    </a:txBody>
                    <a:tcPr>
                      <a:solidFill>
                        <a:schemeClr val="bg1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bg1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bg1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bg1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bg1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b="1" dirty="0"/>
                      </a:p>
                    </a:txBody>
                    <a:tcPr>
                      <a:solidFill>
                        <a:schemeClr val="bg1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bg1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fr-BE" b="1" dirty="0"/>
                          <a:t>I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3198517771"/>
                    </a:ext>
                  </a:extLst>
                </a:tr>
              </a:tbl>
            </a:graphicData>
          </a:graphic>
        </p:graphicFrame>
        <p:sp>
          <p:nvSpPr>
            <p:cNvPr id="159" name="Rectangle 37">
              <a:extLst>
                <a:ext uri="{FF2B5EF4-FFF2-40B4-BE49-F238E27FC236}">
                  <a16:creationId xmlns:a16="http://schemas.microsoft.com/office/drawing/2014/main" id="{4F2EE0F7-A988-4297-A3EB-36E249074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1630" y="5640931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10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0" name="Rectangle 37">
              <a:extLst>
                <a:ext uri="{FF2B5EF4-FFF2-40B4-BE49-F238E27FC236}">
                  <a16:creationId xmlns:a16="http://schemas.microsoft.com/office/drawing/2014/main" id="{6628564F-B0B0-487B-9D8C-327B0B6B0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7495" y="5640931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11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1" name="Rectangle 37">
              <a:extLst>
                <a:ext uri="{FF2B5EF4-FFF2-40B4-BE49-F238E27FC236}">
                  <a16:creationId xmlns:a16="http://schemas.microsoft.com/office/drawing/2014/main" id="{7BC1B937-D02F-4A08-980D-6B70872F7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7811" y="5640931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12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2" name="Rectangle 37">
              <a:extLst>
                <a:ext uri="{FF2B5EF4-FFF2-40B4-BE49-F238E27FC236}">
                  <a16:creationId xmlns:a16="http://schemas.microsoft.com/office/drawing/2014/main" id="{1803466C-824F-4E99-9C2D-C1B29A287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1191" y="5640931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19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3" name="Rectangle 37">
              <a:extLst>
                <a:ext uri="{FF2B5EF4-FFF2-40B4-BE49-F238E27FC236}">
                  <a16:creationId xmlns:a16="http://schemas.microsoft.com/office/drawing/2014/main" id="{2A5554EA-0D0C-4A79-A65E-5A43B94DA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2920" y="5640931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13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4" name="Rectangle 37">
              <a:extLst>
                <a:ext uri="{FF2B5EF4-FFF2-40B4-BE49-F238E27FC236}">
                  <a16:creationId xmlns:a16="http://schemas.microsoft.com/office/drawing/2014/main" id="{FE42880E-0453-47A6-AC79-783C3A15B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9416" y="5640931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14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5" name="Rectangle 37">
              <a:extLst>
                <a:ext uri="{FF2B5EF4-FFF2-40B4-BE49-F238E27FC236}">
                  <a16:creationId xmlns:a16="http://schemas.microsoft.com/office/drawing/2014/main" id="{5D4EABBF-1353-416D-9F55-B80DBE689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3613" y="5640931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6" name="Rectangle 37">
              <a:extLst>
                <a:ext uri="{FF2B5EF4-FFF2-40B4-BE49-F238E27FC236}">
                  <a16:creationId xmlns:a16="http://schemas.microsoft.com/office/drawing/2014/main" id="{1705BAE7-DBEF-43ED-8FE2-BD6D834D7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9702" y="5640931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16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7" name="Rectangle 37">
              <a:extLst>
                <a:ext uri="{FF2B5EF4-FFF2-40B4-BE49-F238E27FC236}">
                  <a16:creationId xmlns:a16="http://schemas.microsoft.com/office/drawing/2014/main" id="{871A4749-7A9C-47F2-A6F1-A185146EC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629" y="5640931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17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8" name="Rectangle 37">
              <a:extLst>
                <a:ext uri="{FF2B5EF4-FFF2-40B4-BE49-F238E27FC236}">
                  <a16:creationId xmlns:a16="http://schemas.microsoft.com/office/drawing/2014/main" id="{28C53002-E3B7-4472-874F-644975D55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769" y="5640931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18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9" name="Rectangle 37">
              <a:extLst>
                <a:ext uri="{FF2B5EF4-FFF2-40B4-BE49-F238E27FC236}">
                  <a16:creationId xmlns:a16="http://schemas.microsoft.com/office/drawing/2014/main" id="{DF418A77-F95A-4908-A1A6-25231D448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6726" y="5640931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20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0" name="Rectangle 37">
              <a:extLst>
                <a:ext uri="{FF2B5EF4-FFF2-40B4-BE49-F238E27FC236}">
                  <a16:creationId xmlns:a16="http://schemas.microsoft.com/office/drawing/2014/main" id="{B6C6B3E4-0493-422D-BF41-13057AB0C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2261" y="5640931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21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1" name="Rectangle 37">
              <a:extLst>
                <a:ext uri="{FF2B5EF4-FFF2-40B4-BE49-F238E27FC236}">
                  <a16:creationId xmlns:a16="http://schemas.microsoft.com/office/drawing/2014/main" id="{279EAC0A-BCC5-4A87-B22A-FCFD820D3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7796" y="5640931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22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2" name="Rectangle 37">
              <a:extLst>
                <a:ext uri="{FF2B5EF4-FFF2-40B4-BE49-F238E27FC236}">
                  <a16:creationId xmlns:a16="http://schemas.microsoft.com/office/drawing/2014/main" id="{41323C5A-4778-455B-8069-E3F1988C0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0018" y="5646527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23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3" name="Rectangle 37">
              <a:extLst>
                <a:ext uri="{FF2B5EF4-FFF2-40B4-BE49-F238E27FC236}">
                  <a16:creationId xmlns:a16="http://schemas.microsoft.com/office/drawing/2014/main" id="{47FA9F27-1642-4BF5-B200-266D8EEA8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3529" y="5640931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24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4" name="Rectangle 37">
              <a:extLst>
                <a:ext uri="{FF2B5EF4-FFF2-40B4-BE49-F238E27FC236}">
                  <a16:creationId xmlns:a16="http://schemas.microsoft.com/office/drawing/2014/main" id="{3C87246E-7272-4EE4-90DC-1CC8B5CD5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5443" y="5640931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25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5" name="Rectangle 37">
              <a:extLst>
                <a:ext uri="{FF2B5EF4-FFF2-40B4-BE49-F238E27FC236}">
                  <a16:creationId xmlns:a16="http://schemas.microsoft.com/office/drawing/2014/main" id="{88D20385-F82C-4620-8C36-5CEF90ED3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2762" y="5646527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26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6" name="Rectangle 37">
              <a:extLst>
                <a:ext uri="{FF2B5EF4-FFF2-40B4-BE49-F238E27FC236}">
                  <a16:creationId xmlns:a16="http://schemas.microsoft.com/office/drawing/2014/main" id="{7C596530-F254-4558-BEA2-C3F1BA7928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1404" y="5643407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27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7" name="Rectangle 37">
              <a:extLst>
                <a:ext uri="{FF2B5EF4-FFF2-40B4-BE49-F238E27FC236}">
                  <a16:creationId xmlns:a16="http://schemas.microsoft.com/office/drawing/2014/main" id="{D05E013E-F1B5-434A-9158-2C47F02B2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6279" y="5647666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28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8" name="Rectangle 37">
              <a:extLst>
                <a:ext uri="{FF2B5EF4-FFF2-40B4-BE49-F238E27FC236}">
                  <a16:creationId xmlns:a16="http://schemas.microsoft.com/office/drawing/2014/main" id="{EC4744D5-FA23-4D17-B9AE-BA8FA3365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2320" y="5640931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29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9" name="Rectangle 37">
              <a:extLst>
                <a:ext uri="{FF2B5EF4-FFF2-40B4-BE49-F238E27FC236}">
                  <a16:creationId xmlns:a16="http://schemas.microsoft.com/office/drawing/2014/main" id="{D6BC82D8-31EF-4E85-98C8-551677B28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9938" y="5647666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30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0" name="Rectangle 37">
              <a:extLst>
                <a:ext uri="{FF2B5EF4-FFF2-40B4-BE49-F238E27FC236}">
                  <a16:creationId xmlns:a16="http://schemas.microsoft.com/office/drawing/2014/main" id="{E2B1340A-8A3D-4165-81BE-90641E3EC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4407" y="5647666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31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81" name="Rectangle 180">
            <a:extLst>
              <a:ext uri="{FF2B5EF4-FFF2-40B4-BE49-F238E27FC236}">
                <a16:creationId xmlns:a16="http://schemas.microsoft.com/office/drawing/2014/main" id="{8EAB4B28-CB0A-470E-9690-71607BDC72D0}"/>
              </a:ext>
            </a:extLst>
          </p:cNvPr>
          <p:cNvSpPr/>
          <p:nvPr/>
        </p:nvSpPr>
        <p:spPr>
          <a:xfrm>
            <a:off x="2982181" y="5812898"/>
            <a:ext cx="289725" cy="776348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2" name="Flèche vers le bas 20">
            <a:extLst>
              <a:ext uri="{FF2B5EF4-FFF2-40B4-BE49-F238E27FC236}">
                <a16:creationId xmlns:a16="http://schemas.microsoft.com/office/drawing/2014/main" id="{BCA532A4-5D7D-4D9E-8FCC-CF72847B22FE}"/>
              </a:ext>
            </a:extLst>
          </p:cNvPr>
          <p:cNvSpPr/>
          <p:nvPr/>
        </p:nvSpPr>
        <p:spPr>
          <a:xfrm>
            <a:off x="2967526" y="4761252"/>
            <a:ext cx="319033" cy="978408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prstClr val="black"/>
                </a:solidFill>
                <a:latin typeface="Calibri"/>
              </a:rPr>
              <a:t>I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22EB85A2-B0F4-42FC-86CA-AEB5107237FB}"/>
              </a:ext>
            </a:extLst>
          </p:cNvPr>
          <p:cNvSpPr/>
          <p:nvPr/>
        </p:nvSpPr>
        <p:spPr>
          <a:xfrm>
            <a:off x="3567465" y="1915281"/>
            <a:ext cx="278244" cy="77634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035864F9-44D8-4574-9BA5-8D81B5E02925}"/>
              </a:ext>
            </a:extLst>
          </p:cNvPr>
          <p:cNvSpPr/>
          <p:nvPr/>
        </p:nvSpPr>
        <p:spPr>
          <a:xfrm>
            <a:off x="7036489" y="1915281"/>
            <a:ext cx="278244" cy="77634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0A8383A6-8F99-4D57-AEAE-3AD287DA5A40}"/>
              </a:ext>
            </a:extLst>
          </p:cNvPr>
          <p:cNvSpPr/>
          <p:nvPr/>
        </p:nvSpPr>
        <p:spPr>
          <a:xfrm>
            <a:off x="3573377" y="3901414"/>
            <a:ext cx="272332" cy="770849"/>
          </a:xfrm>
          <a:prstGeom prst="rect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5CF00FCF-E73D-4417-810D-2365330D308C}"/>
              </a:ext>
            </a:extLst>
          </p:cNvPr>
          <p:cNvSpPr/>
          <p:nvPr/>
        </p:nvSpPr>
        <p:spPr>
          <a:xfrm>
            <a:off x="7050121" y="3901414"/>
            <a:ext cx="272332" cy="770849"/>
          </a:xfrm>
          <a:prstGeom prst="rect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63E0B6DA-7354-42A7-9360-2BA6E7F45B4C}"/>
              </a:ext>
            </a:extLst>
          </p:cNvPr>
          <p:cNvSpPr/>
          <p:nvPr/>
        </p:nvSpPr>
        <p:spPr>
          <a:xfrm>
            <a:off x="7042401" y="5821389"/>
            <a:ext cx="272332" cy="770849"/>
          </a:xfrm>
          <a:prstGeom prst="rect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8" name="ZoneTexte 187">
            <a:extLst>
              <a:ext uri="{FF2B5EF4-FFF2-40B4-BE49-F238E27FC236}">
                <a16:creationId xmlns:a16="http://schemas.microsoft.com/office/drawing/2014/main" id="{63129637-A4D8-4299-B6EA-8A0E988E619D}"/>
              </a:ext>
            </a:extLst>
          </p:cNvPr>
          <p:cNvSpPr txBox="1"/>
          <p:nvPr/>
        </p:nvSpPr>
        <p:spPr>
          <a:xfrm>
            <a:off x="3222982" y="2837397"/>
            <a:ext cx="3767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prstClr val="black"/>
                </a:solidFill>
                <a:latin typeface="Calibri"/>
              </a:rPr>
              <a:t>Pas de notification requise cf. CT « I »</a:t>
            </a:r>
          </a:p>
        </p:txBody>
      </p:sp>
    </p:spTree>
    <p:extLst>
      <p:ext uri="{BB962C8B-B14F-4D97-AF65-F5344CB8AC3E}">
        <p14:creationId xmlns:p14="http://schemas.microsoft.com/office/powerpoint/2010/main" val="4114558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81" grpId="0" animBg="1"/>
      <p:bldP spid="82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9D2C113-231E-457F-A383-B439919505C4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1800" y="4247098"/>
            <a:ext cx="8600400" cy="1202400"/>
          </a:xfrm>
          <a:prstGeom prst="rect">
            <a:avLst/>
          </a:prstGeom>
        </p:spPr>
      </p:pic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3.2. Principes de communication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/>
              <a:t>Si la </a:t>
            </a:r>
            <a:r>
              <a:rPr lang="fr-BE" b="1" dirty="0">
                <a:solidFill>
                  <a:srgbClr val="C00000"/>
                </a:solidFill>
              </a:rPr>
              <a:t>communication est tardive</a:t>
            </a:r>
            <a:r>
              <a:rPr lang="fr-BE" dirty="0"/>
              <a:t>, le service chômage temporaire de l’ONEm accepte la communication au 1</a:t>
            </a:r>
            <a:r>
              <a:rPr lang="fr-BE" baseline="30000" dirty="0"/>
              <a:t>ier</a:t>
            </a:r>
            <a:r>
              <a:rPr lang="fr-BE" dirty="0"/>
              <a:t> jour ouvrable qui précède l’envoi de la communication.</a:t>
            </a:r>
          </a:p>
          <a:p>
            <a:pPr marL="0" indent="0">
              <a:spcBef>
                <a:spcPts val="0"/>
              </a:spcBef>
              <a:buNone/>
            </a:pPr>
            <a:endParaRPr lang="fr-BE" sz="1800" dirty="0"/>
          </a:p>
        </p:txBody>
      </p:sp>
      <p:sp>
        <p:nvSpPr>
          <p:cNvPr id="7" name="ZoneTexte 6"/>
          <p:cNvSpPr txBox="1"/>
          <p:nvPr/>
        </p:nvSpPr>
        <p:spPr>
          <a:xfrm>
            <a:off x="2810955" y="5499073"/>
            <a:ext cx="3767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prstClr val="black"/>
                </a:solidFill>
                <a:latin typeface="Calibri"/>
              </a:rPr>
              <a:t>Pas de notification requise cf. CT « I »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8150" y="4619563"/>
            <a:ext cx="278307" cy="799356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48148" y="4619564"/>
            <a:ext cx="278308" cy="79935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573388" y="4631772"/>
            <a:ext cx="288033" cy="776020"/>
          </a:xfrm>
          <a:prstGeom prst="rect">
            <a:avLst/>
          </a:prstGeom>
          <a:noFill/>
          <a:ln w="38100">
            <a:solidFill>
              <a:srgbClr val="008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Flèche vers le bas 12"/>
          <p:cNvSpPr/>
          <p:nvPr/>
        </p:nvSpPr>
        <p:spPr>
          <a:xfrm>
            <a:off x="3836421" y="3639703"/>
            <a:ext cx="319033" cy="978408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prstClr val="black"/>
                </a:solidFill>
                <a:latin typeface="Calibri"/>
              </a:rPr>
              <a:t>I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41</a:t>
            </a:fld>
            <a:endParaRPr lang="fr-FR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178722" y="4634948"/>
            <a:ext cx="280766" cy="783972"/>
          </a:xfrm>
          <a:prstGeom prst="rect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2460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/>
      <p:bldP spid="9" grpId="0" animBg="1"/>
      <p:bldP spid="9" grpId="1" animBg="1"/>
      <p:bldP spid="12" grpId="0" animBg="1"/>
      <p:bldP spid="14" grpId="0" animBg="1"/>
      <p:bldP spid="13" grpId="0" animBg="1"/>
      <p:bldP spid="1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3.2. Principes de communication</a:t>
            </a:r>
            <a:endParaRPr lang="en-US" sz="4000" b="1" i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42</a:t>
            </a:fld>
            <a:endParaRPr lang="fr-FR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417638"/>
            <a:ext cx="8229600" cy="493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638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6412" y="274638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fr-BE" sz="4000" b="1" i="1" dirty="0"/>
              <a:t>Exemples </a:t>
            </a:r>
            <a:endParaRPr lang="en-US" sz="4000" b="1" i="1" dirty="0"/>
          </a:p>
        </p:txBody>
      </p:sp>
      <p:cxnSp>
        <p:nvCxnSpPr>
          <p:cNvPr id="32" name="Connecteur droit avec flèche 31"/>
          <p:cNvCxnSpPr>
            <a:cxnSpLocks/>
          </p:cNvCxnSpPr>
          <p:nvPr/>
        </p:nvCxnSpPr>
        <p:spPr>
          <a:xfrm>
            <a:off x="2681834" y="3729197"/>
            <a:ext cx="6122266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>
            <a:off x="2681834" y="2695111"/>
            <a:ext cx="0" cy="10340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/>
          <p:cNvSpPr txBox="1"/>
          <p:nvPr/>
        </p:nvSpPr>
        <p:spPr>
          <a:xfrm>
            <a:off x="2421763" y="3054175"/>
            <a:ext cx="6408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Notification : suspension complète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 10/10/2022 au 06/11/2022 inclus</a:t>
            </a:r>
          </a:p>
        </p:txBody>
      </p:sp>
      <p:cxnSp>
        <p:nvCxnSpPr>
          <p:cNvPr id="41" name="Connecteur droit avec flèche 40"/>
          <p:cNvCxnSpPr>
            <a:cxnSpLocks/>
          </p:cNvCxnSpPr>
          <p:nvPr/>
        </p:nvCxnSpPr>
        <p:spPr>
          <a:xfrm>
            <a:off x="2681834" y="6317848"/>
            <a:ext cx="6137377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/>
          <p:cNvCxnSpPr/>
          <p:nvPr/>
        </p:nvCxnSpPr>
        <p:spPr>
          <a:xfrm>
            <a:off x="2681834" y="5283762"/>
            <a:ext cx="0" cy="10340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EECD1F50-F26D-4910-A2B0-EB40213A0CD6}"/>
              </a:ext>
            </a:extLst>
          </p:cNvPr>
          <p:cNvGrpSpPr/>
          <p:nvPr/>
        </p:nvGrpSpPr>
        <p:grpSpPr>
          <a:xfrm>
            <a:off x="88968" y="1824764"/>
            <a:ext cx="8964487" cy="1236836"/>
            <a:chOff x="148937" y="1133571"/>
            <a:chExt cx="8964487" cy="1924473"/>
          </a:xfrm>
        </p:grpSpPr>
        <p:graphicFrame>
          <p:nvGraphicFramePr>
            <p:cNvPr id="23" name="Tableau 5">
              <a:extLst>
                <a:ext uri="{FF2B5EF4-FFF2-40B4-BE49-F238E27FC236}">
                  <a16:creationId xmlns:a16="http://schemas.microsoft.com/office/drawing/2014/main" id="{AC00A770-DBB6-4E83-AB20-ED6E6423F08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641291369"/>
                </p:ext>
              </p:extLst>
            </p:nvPr>
          </p:nvGraphicFramePr>
          <p:xfrm>
            <a:off x="148937" y="1133571"/>
            <a:ext cx="8964487" cy="1924473"/>
          </p:xfrm>
          <a:graphic>
            <a:graphicData uri="http://schemas.openxmlformats.org/drawingml/2006/table">
              <a:tbl>
                <a:tblPr firstRow="1" bandRow="1">
                  <a:tableStyleId>{F5AB1C69-6EDB-4FF4-983F-18BD219EF322}</a:tableStyleId>
                </a:tblPr>
                <a:tblGrid>
                  <a:gridCol w="289177">
                    <a:extLst>
                      <a:ext uri="{9D8B030D-6E8A-4147-A177-3AD203B41FA5}">
                        <a16:colId xmlns:a16="http://schemas.microsoft.com/office/drawing/2014/main" val="337483388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975585402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222430080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440413735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869120986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423564008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468888691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177516941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71457076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13060930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591898803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794686339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696530155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64951591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589927816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917479103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843005296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286952112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407814079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80899072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056487137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376426997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107434221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600511469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00144113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666674622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238466712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294613705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33151009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911771235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800472195"/>
                      </a:ext>
                    </a:extLst>
                  </a:gridCol>
                </a:tblGrid>
                <a:tr h="495156">
                  <a:tc gridSpan="31">
                    <a:txBody>
                      <a:bodyPr/>
                      <a:lstStyle/>
                      <a:p>
                        <a:pPr algn="ctr"/>
                        <a:r>
                          <a:rPr lang="fr-BE" i="1" dirty="0"/>
                          <a:t>Octobre 2022</a:t>
                        </a:r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334431939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1</a:t>
                        </a:r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2</a:t>
                        </a:r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3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4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5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6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7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8</a:t>
                        </a:r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9</a:t>
                        </a:r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>
                          <a:latin typeface="+mj-lt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>
                          <a:latin typeface="+mn-lt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722527448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b="1" dirty="0"/>
                          <a:t>E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b="1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b="1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dirty="0"/>
                          <a:t>I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b="1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b="1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b="1" dirty="0"/>
                          <a:t>E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3198517771"/>
                    </a:ext>
                  </a:extLst>
                </a:tr>
              </a:tbl>
            </a:graphicData>
          </a:graphic>
        </p:graphicFrame>
        <p:sp>
          <p:nvSpPr>
            <p:cNvPr id="26" name="Rectangle 37">
              <a:extLst>
                <a:ext uri="{FF2B5EF4-FFF2-40B4-BE49-F238E27FC236}">
                  <a16:creationId xmlns:a16="http://schemas.microsoft.com/office/drawing/2014/main" id="{71F0B8A3-602B-42A9-9DA6-CCE7E12DC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803" y="1977936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10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Rectangle 37">
              <a:extLst>
                <a:ext uri="{FF2B5EF4-FFF2-40B4-BE49-F238E27FC236}">
                  <a16:creationId xmlns:a16="http://schemas.microsoft.com/office/drawing/2014/main" id="{F96B37C3-C5A7-4099-92E3-B51C663CC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3534" y="1977936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11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37">
              <a:extLst>
                <a:ext uri="{FF2B5EF4-FFF2-40B4-BE49-F238E27FC236}">
                  <a16:creationId xmlns:a16="http://schemas.microsoft.com/office/drawing/2014/main" id="{AA017B8F-2898-4A70-B4DF-B716E533F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7237" y="1977936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12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Rectangle 37">
              <a:extLst>
                <a:ext uri="{FF2B5EF4-FFF2-40B4-BE49-F238E27FC236}">
                  <a16:creationId xmlns:a16="http://schemas.microsoft.com/office/drawing/2014/main" id="{64AE528D-A41D-4CFD-A26A-9281B5B39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617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19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8856213B-332F-4EF1-8346-3DCD02943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2346" y="1977936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13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Rectangle 37">
              <a:extLst>
                <a:ext uri="{FF2B5EF4-FFF2-40B4-BE49-F238E27FC236}">
                  <a16:creationId xmlns:a16="http://schemas.microsoft.com/office/drawing/2014/main" id="{9172203F-96BA-4B60-AEFD-FDFA9943E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5432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14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Rectangle 37">
              <a:extLst>
                <a:ext uri="{FF2B5EF4-FFF2-40B4-BE49-F238E27FC236}">
                  <a16:creationId xmlns:a16="http://schemas.microsoft.com/office/drawing/2014/main" id="{AF718B46-0651-40F2-A85D-28ABF5275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363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Rectangle 37">
              <a:extLst>
                <a:ext uri="{FF2B5EF4-FFF2-40B4-BE49-F238E27FC236}">
                  <a16:creationId xmlns:a16="http://schemas.microsoft.com/office/drawing/2014/main" id="{2E4BA397-19F7-4DBF-A656-E93C9B033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232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16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Rectangle 37">
              <a:extLst>
                <a:ext uri="{FF2B5EF4-FFF2-40B4-BE49-F238E27FC236}">
                  <a16:creationId xmlns:a16="http://schemas.microsoft.com/office/drawing/2014/main" id="{8AA27974-7F5B-4E6A-8BC2-8BB3DEB51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1046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17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Rectangle 37">
              <a:extLst>
                <a:ext uri="{FF2B5EF4-FFF2-40B4-BE49-F238E27FC236}">
                  <a16:creationId xmlns:a16="http://schemas.microsoft.com/office/drawing/2014/main" id="{CFD32489-6488-48B0-9872-8C86BD6D5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6519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18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Rectangle 37">
              <a:extLst>
                <a:ext uri="{FF2B5EF4-FFF2-40B4-BE49-F238E27FC236}">
                  <a16:creationId xmlns:a16="http://schemas.microsoft.com/office/drawing/2014/main" id="{081C0233-A049-41EB-B11A-B23F989ED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0476" y="1980519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20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46C4B26E-0A50-4B80-BDF9-CFE28E459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2759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21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Rectangle 37">
              <a:extLst>
                <a:ext uri="{FF2B5EF4-FFF2-40B4-BE49-F238E27FC236}">
                  <a16:creationId xmlns:a16="http://schemas.microsoft.com/office/drawing/2014/main" id="{3950F4F7-E782-423B-AF97-AD0850408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3796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22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Rectangle 37">
              <a:extLst>
                <a:ext uri="{FF2B5EF4-FFF2-40B4-BE49-F238E27FC236}">
                  <a16:creationId xmlns:a16="http://schemas.microsoft.com/office/drawing/2014/main" id="{85D887B1-3827-4B56-B0E3-F78814124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8734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23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Rectangle 37">
              <a:extLst>
                <a:ext uri="{FF2B5EF4-FFF2-40B4-BE49-F238E27FC236}">
                  <a16:creationId xmlns:a16="http://schemas.microsoft.com/office/drawing/2014/main" id="{6B2A1A57-C873-411E-B829-DB326BE93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7279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24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Rectangle 37">
              <a:extLst>
                <a:ext uri="{FF2B5EF4-FFF2-40B4-BE49-F238E27FC236}">
                  <a16:creationId xmlns:a16="http://schemas.microsoft.com/office/drawing/2014/main" id="{4A4D3AE5-F3D3-4AC3-A5A9-F0BD9E318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6177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25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6" name="Rectangle 37">
              <a:extLst>
                <a:ext uri="{FF2B5EF4-FFF2-40B4-BE49-F238E27FC236}">
                  <a16:creationId xmlns:a16="http://schemas.microsoft.com/office/drawing/2014/main" id="{772CB2C5-3D97-4E58-B5A6-A1444D8DE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6512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26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7" name="Rectangle 37">
              <a:extLst>
                <a:ext uri="{FF2B5EF4-FFF2-40B4-BE49-F238E27FC236}">
                  <a16:creationId xmlns:a16="http://schemas.microsoft.com/office/drawing/2014/main" id="{4F15160D-C59C-42BE-A6F7-304B4DF4C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7951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27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Rectangle 37">
              <a:extLst>
                <a:ext uri="{FF2B5EF4-FFF2-40B4-BE49-F238E27FC236}">
                  <a16:creationId xmlns:a16="http://schemas.microsoft.com/office/drawing/2014/main" id="{B52CD436-959A-445D-B20E-714AB7402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2971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28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Rectangle 37">
              <a:extLst>
                <a:ext uri="{FF2B5EF4-FFF2-40B4-BE49-F238E27FC236}">
                  <a16:creationId xmlns:a16="http://schemas.microsoft.com/office/drawing/2014/main" id="{CBBAC701-6ECE-4976-AD08-872E20947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2115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29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Rectangle 37">
              <a:extLst>
                <a:ext uri="{FF2B5EF4-FFF2-40B4-BE49-F238E27FC236}">
                  <a16:creationId xmlns:a16="http://schemas.microsoft.com/office/drawing/2014/main" id="{1762CD9B-5A51-4539-BFBF-FC831FF75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6880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30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Rectangle 37">
              <a:extLst>
                <a:ext uri="{FF2B5EF4-FFF2-40B4-BE49-F238E27FC236}">
                  <a16:creationId xmlns:a16="http://schemas.microsoft.com/office/drawing/2014/main" id="{F43246B2-43BA-4271-85C8-AA800151D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1897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31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35" name="Rectangle 34"/>
          <p:cNvSpPr/>
          <p:nvPr/>
        </p:nvSpPr>
        <p:spPr>
          <a:xfrm>
            <a:off x="3241248" y="2274726"/>
            <a:ext cx="294522" cy="780936"/>
          </a:xfrm>
          <a:prstGeom prst="rect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50212" y="2290705"/>
            <a:ext cx="294524" cy="773864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261567" y="2296255"/>
            <a:ext cx="288281" cy="786612"/>
          </a:xfrm>
          <a:prstGeom prst="rect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315372" y="2288789"/>
            <a:ext cx="261568" cy="794900"/>
          </a:xfrm>
          <a:prstGeom prst="rect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Flèche vers le bas 23"/>
          <p:cNvSpPr/>
          <p:nvPr/>
        </p:nvSpPr>
        <p:spPr>
          <a:xfrm>
            <a:off x="3234692" y="1218904"/>
            <a:ext cx="319033" cy="978408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4EE3EE3-8B36-4BBA-9D1B-883D3752A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68" y="4402042"/>
            <a:ext cx="9004572" cy="1359526"/>
          </a:xfrm>
          <a:prstGeom prst="rect">
            <a:avLst/>
          </a:prstGeom>
        </p:spPr>
      </p:pic>
      <p:sp>
        <p:nvSpPr>
          <p:cNvPr id="37" name="Flèche vers le bas 36"/>
          <p:cNvSpPr/>
          <p:nvPr/>
        </p:nvSpPr>
        <p:spPr>
          <a:xfrm>
            <a:off x="3263413" y="3855596"/>
            <a:ext cx="294522" cy="978408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2325648" y="5633016"/>
            <a:ext cx="6394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Notification : suspension complète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 10/10/2022 au 06/11/2022 inclus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69160" y="4930861"/>
            <a:ext cx="288000" cy="791020"/>
          </a:xfrm>
          <a:prstGeom prst="rect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329386" y="4924052"/>
            <a:ext cx="288000" cy="787792"/>
          </a:xfrm>
          <a:prstGeom prst="rect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278211" y="4913071"/>
            <a:ext cx="278971" cy="781124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272650" y="4913071"/>
            <a:ext cx="294523" cy="780417"/>
          </a:xfrm>
          <a:prstGeom prst="rect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2112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 animBg="1"/>
      <p:bldP spid="25" grpId="0" animBg="1"/>
      <p:bldP spid="25" grpId="1" animBg="1"/>
      <p:bldP spid="27" grpId="0" animBg="1"/>
      <p:bldP spid="31" grpId="0" animBg="1"/>
      <p:bldP spid="24" grpId="0" animBg="1"/>
      <p:bldP spid="37" grpId="0" animBg="1"/>
      <p:bldP spid="46" grpId="0"/>
      <p:bldP spid="39" grpId="0" animBg="1"/>
      <p:bldP spid="40" grpId="0" animBg="1"/>
      <p:bldP spid="38" grpId="0" animBg="1"/>
      <p:bldP spid="38" grpId="1" animBg="1"/>
      <p:bldP spid="4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6412" y="274638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fr-BE" sz="4000" b="1" i="1"/>
              <a:t>Exemples</a:t>
            </a:r>
            <a:endParaRPr lang="en-US" sz="4000" b="1" i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2" name="Connecteur droit avec flèche 21"/>
          <p:cNvCxnSpPr>
            <a:cxnSpLocks/>
          </p:cNvCxnSpPr>
          <p:nvPr/>
        </p:nvCxnSpPr>
        <p:spPr>
          <a:xfrm>
            <a:off x="2772379" y="3753668"/>
            <a:ext cx="6063008" cy="1374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>
            <a:off x="2787044" y="2719582"/>
            <a:ext cx="0" cy="10340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2971099" y="3077637"/>
            <a:ext cx="6378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Notification : suspension complète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 </a:t>
            </a:r>
            <a:r>
              <a:rPr lang="fr-BE" dirty="0">
                <a:solidFill>
                  <a:prstClr val="black"/>
                </a:solidFill>
                <a:latin typeface="Calibri"/>
              </a:rPr>
              <a:t>10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/10/2022 au 06/11/2022 inclus</a:t>
            </a:r>
          </a:p>
        </p:txBody>
      </p:sp>
      <p:cxnSp>
        <p:nvCxnSpPr>
          <p:cNvPr id="25" name="Connecteur droit avec flèche 24"/>
          <p:cNvCxnSpPr>
            <a:cxnSpLocks/>
          </p:cNvCxnSpPr>
          <p:nvPr/>
        </p:nvCxnSpPr>
        <p:spPr>
          <a:xfrm>
            <a:off x="2787044" y="6356350"/>
            <a:ext cx="6018292" cy="828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/>
          <p:cNvCxnSpPr/>
          <p:nvPr/>
        </p:nvCxnSpPr>
        <p:spPr>
          <a:xfrm>
            <a:off x="2772379" y="5330553"/>
            <a:ext cx="0" cy="10340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/>
          <p:cNvSpPr txBox="1"/>
          <p:nvPr/>
        </p:nvSpPr>
        <p:spPr>
          <a:xfrm>
            <a:off x="4529808" y="5692327"/>
            <a:ext cx="4067646" cy="646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Notification : suspension complète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 </a:t>
            </a:r>
            <a:r>
              <a:rPr lang="fr-BE" dirty="0">
                <a:solidFill>
                  <a:prstClr val="black"/>
                </a:solidFill>
                <a:latin typeface="Calibri"/>
              </a:rPr>
              <a:t>10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/10/2022 au 06/11/2022 inclus</a:t>
            </a:r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BBBFC94B-7FC9-4A66-9B6F-97BC880F4B0A}"/>
              </a:ext>
            </a:extLst>
          </p:cNvPr>
          <p:cNvGrpSpPr/>
          <p:nvPr/>
        </p:nvGrpSpPr>
        <p:grpSpPr>
          <a:xfrm>
            <a:off x="179513" y="1852529"/>
            <a:ext cx="8964487" cy="1661805"/>
            <a:chOff x="148937" y="1133571"/>
            <a:chExt cx="8964487" cy="1031614"/>
          </a:xfrm>
        </p:grpSpPr>
        <p:graphicFrame>
          <p:nvGraphicFramePr>
            <p:cNvPr id="33" name="Tableau 5">
              <a:extLst>
                <a:ext uri="{FF2B5EF4-FFF2-40B4-BE49-F238E27FC236}">
                  <a16:creationId xmlns:a16="http://schemas.microsoft.com/office/drawing/2014/main" id="{BD0C37AD-E6A2-4187-8B3B-90E992576C0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003237616"/>
                </p:ext>
              </p:extLst>
            </p:nvPr>
          </p:nvGraphicFramePr>
          <p:xfrm>
            <a:off x="148937" y="1133571"/>
            <a:ext cx="8964487" cy="767802"/>
          </p:xfrm>
          <a:graphic>
            <a:graphicData uri="http://schemas.openxmlformats.org/drawingml/2006/table">
              <a:tbl>
                <a:tblPr firstRow="1" bandRow="1">
                  <a:tableStyleId>{F5AB1C69-6EDB-4FF4-983F-18BD219EF322}</a:tableStyleId>
                </a:tblPr>
                <a:tblGrid>
                  <a:gridCol w="289177">
                    <a:extLst>
                      <a:ext uri="{9D8B030D-6E8A-4147-A177-3AD203B41FA5}">
                        <a16:colId xmlns:a16="http://schemas.microsoft.com/office/drawing/2014/main" val="337483388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975585402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222430080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440413735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869120986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423564008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468888691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177516941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71457076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13060930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591898803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794686339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696530155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64951591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589927816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917479103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843005296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286952112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407814079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80899072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056487137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376426997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107434221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600511469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00144113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666674622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3238466712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294613705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2331510094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1911771235"/>
                      </a:ext>
                    </a:extLst>
                  </a:gridCol>
                  <a:gridCol w="289177">
                    <a:extLst>
                      <a:ext uri="{9D8B030D-6E8A-4147-A177-3AD203B41FA5}">
                        <a16:colId xmlns:a16="http://schemas.microsoft.com/office/drawing/2014/main" val="800472195"/>
                      </a:ext>
                    </a:extLst>
                  </a:gridCol>
                </a:tblGrid>
                <a:tr h="495156">
                  <a:tc gridSpan="31">
                    <a:txBody>
                      <a:bodyPr/>
                      <a:lstStyle/>
                      <a:p>
                        <a:pPr algn="ctr"/>
                        <a:r>
                          <a:rPr lang="fr-BE" i="1" dirty="0"/>
                          <a:t>Octobre 2022</a:t>
                        </a:r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334431939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1</a:t>
                        </a:r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2</a:t>
                        </a:r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3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4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5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6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7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8</a:t>
                        </a:r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fr-BE" sz="1200" b="1" dirty="0"/>
                          <a:t>9</a:t>
                        </a:r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>
                          <a:latin typeface="+mj-lt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>
                          <a:latin typeface="+mn-lt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sz="1200" dirty="0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722527448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b="1" dirty="0"/>
                          <a:t>I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b="1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b="1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b="1" dirty="0"/>
                          <a:t>I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b="1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b="1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BE" b="1" dirty="0"/>
                          <a:t>E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fr-BE" dirty="0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3198517771"/>
                    </a:ext>
                  </a:extLst>
                </a:tr>
              </a:tbl>
            </a:graphicData>
          </a:graphic>
        </p:graphicFrame>
        <p:sp>
          <p:nvSpPr>
            <p:cNvPr id="34" name="Rectangle 37">
              <a:extLst>
                <a:ext uri="{FF2B5EF4-FFF2-40B4-BE49-F238E27FC236}">
                  <a16:creationId xmlns:a16="http://schemas.microsoft.com/office/drawing/2014/main" id="{C62FBF2F-8E02-461E-812B-400F3694D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803" y="1977936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10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37">
              <a:extLst>
                <a:ext uri="{FF2B5EF4-FFF2-40B4-BE49-F238E27FC236}">
                  <a16:creationId xmlns:a16="http://schemas.microsoft.com/office/drawing/2014/main" id="{26985F6E-242A-4283-B476-E6405997B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3534" y="1977936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11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411BCA11-72F6-482B-A588-4A4C5773D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7237" y="1977936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12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37">
              <a:extLst>
                <a:ext uri="{FF2B5EF4-FFF2-40B4-BE49-F238E27FC236}">
                  <a16:creationId xmlns:a16="http://schemas.microsoft.com/office/drawing/2014/main" id="{0D3390F4-C585-4CCB-865B-6B1BC31C3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617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19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0FF0E79-7A08-4276-B2FD-CB02075A3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2346" y="1977936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13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37">
              <a:extLst>
                <a:ext uri="{FF2B5EF4-FFF2-40B4-BE49-F238E27FC236}">
                  <a16:creationId xmlns:a16="http://schemas.microsoft.com/office/drawing/2014/main" id="{C831B7F4-A20B-4829-A902-A5979FFF5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5432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14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37">
              <a:extLst>
                <a:ext uri="{FF2B5EF4-FFF2-40B4-BE49-F238E27FC236}">
                  <a16:creationId xmlns:a16="http://schemas.microsoft.com/office/drawing/2014/main" id="{321AC578-33A1-4491-BA24-2A81C2CD1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363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37">
              <a:extLst>
                <a:ext uri="{FF2B5EF4-FFF2-40B4-BE49-F238E27FC236}">
                  <a16:creationId xmlns:a16="http://schemas.microsoft.com/office/drawing/2014/main" id="{A68C410C-EF36-450F-A272-35563FF8E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232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16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Rectangle 37">
              <a:extLst>
                <a:ext uri="{FF2B5EF4-FFF2-40B4-BE49-F238E27FC236}">
                  <a16:creationId xmlns:a16="http://schemas.microsoft.com/office/drawing/2014/main" id="{6031183A-DB0F-40C7-8295-A7F90BD96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1046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17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Rectangle 37">
              <a:extLst>
                <a:ext uri="{FF2B5EF4-FFF2-40B4-BE49-F238E27FC236}">
                  <a16:creationId xmlns:a16="http://schemas.microsoft.com/office/drawing/2014/main" id="{5774AC4C-8C31-4ECD-8C0A-976D6467D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6519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18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Rectangle 37">
              <a:extLst>
                <a:ext uri="{FF2B5EF4-FFF2-40B4-BE49-F238E27FC236}">
                  <a16:creationId xmlns:a16="http://schemas.microsoft.com/office/drawing/2014/main" id="{D2989153-5DF6-4DDF-82E7-4817BBA8F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0476" y="1980519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20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Rectangle 37">
              <a:extLst>
                <a:ext uri="{FF2B5EF4-FFF2-40B4-BE49-F238E27FC236}">
                  <a16:creationId xmlns:a16="http://schemas.microsoft.com/office/drawing/2014/main" id="{4159087D-FEFE-4189-9E0F-4A5A78158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2759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21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Rectangle 37">
              <a:extLst>
                <a:ext uri="{FF2B5EF4-FFF2-40B4-BE49-F238E27FC236}">
                  <a16:creationId xmlns:a16="http://schemas.microsoft.com/office/drawing/2014/main" id="{8BAE5ADB-D50E-4AD5-A73A-4B40BDBD3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3796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22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Rectangle 37">
              <a:extLst>
                <a:ext uri="{FF2B5EF4-FFF2-40B4-BE49-F238E27FC236}">
                  <a16:creationId xmlns:a16="http://schemas.microsoft.com/office/drawing/2014/main" id="{8C05A229-7A00-4D9C-892C-7D4CDEDC8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8734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23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Rectangle 37">
              <a:extLst>
                <a:ext uri="{FF2B5EF4-FFF2-40B4-BE49-F238E27FC236}">
                  <a16:creationId xmlns:a16="http://schemas.microsoft.com/office/drawing/2014/main" id="{EB251EC0-67C2-4A2E-BEB5-E3C0B7AC4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7279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24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Rectangle 37">
              <a:extLst>
                <a:ext uri="{FF2B5EF4-FFF2-40B4-BE49-F238E27FC236}">
                  <a16:creationId xmlns:a16="http://schemas.microsoft.com/office/drawing/2014/main" id="{5F820F5D-AD4A-4FF2-BDC1-07FBF27EB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6177" y="1977398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25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Rectangle 37">
              <a:extLst>
                <a:ext uri="{FF2B5EF4-FFF2-40B4-BE49-F238E27FC236}">
                  <a16:creationId xmlns:a16="http://schemas.microsoft.com/office/drawing/2014/main" id="{95F2365C-23F1-4955-B053-8DFA84156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6512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26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7" name="Rectangle 37">
              <a:extLst>
                <a:ext uri="{FF2B5EF4-FFF2-40B4-BE49-F238E27FC236}">
                  <a16:creationId xmlns:a16="http://schemas.microsoft.com/office/drawing/2014/main" id="{5EF8EFB3-80C3-42EF-BC7C-0DA15F3B8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7951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27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Rectangle 37">
              <a:extLst>
                <a:ext uri="{FF2B5EF4-FFF2-40B4-BE49-F238E27FC236}">
                  <a16:creationId xmlns:a16="http://schemas.microsoft.com/office/drawing/2014/main" id="{8B837D51-30DE-44E9-B1C4-1FB8B707F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2971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28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Rectangle 37">
              <a:extLst>
                <a:ext uri="{FF2B5EF4-FFF2-40B4-BE49-F238E27FC236}">
                  <a16:creationId xmlns:a16="http://schemas.microsoft.com/office/drawing/2014/main" id="{EA7CAE8E-3855-44C8-9B1F-B0E47B888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2115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29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Rectangle 37">
              <a:extLst>
                <a:ext uri="{FF2B5EF4-FFF2-40B4-BE49-F238E27FC236}">
                  <a16:creationId xmlns:a16="http://schemas.microsoft.com/office/drawing/2014/main" id="{DA7BE93C-55FA-4905-9374-4BAF82568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6880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30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Rectangle 37">
              <a:extLst>
                <a:ext uri="{FF2B5EF4-FFF2-40B4-BE49-F238E27FC236}">
                  <a16:creationId xmlns:a16="http://schemas.microsoft.com/office/drawing/2014/main" id="{49047C76-5176-47A1-8B1F-33B8B2127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1897" y="1976860"/>
              <a:ext cx="15709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31</a:t>
              </a:r>
              <a:endPara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48" name="Rectangle 47"/>
          <p:cNvSpPr/>
          <p:nvPr/>
        </p:nvSpPr>
        <p:spPr>
          <a:xfrm>
            <a:off x="3342969" y="2329091"/>
            <a:ext cx="281323" cy="771936"/>
          </a:xfrm>
          <a:prstGeom prst="rect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338579" y="2337404"/>
            <a:ext cx="281323" cy="778579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340167" y="2335325"/>
            <a:ext cx="293839" cy="768515"/>
          </a:xfrm>
          <a:prstGeom prst="rect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387681" y="2337208"/>
            <a:ext cx="278948" cy="775256"/>
          </a:xfrm>
          <a:prstGeom prst="rect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Flèche vers le bas 48"/>
          <p:cNvSpPr/>
          <p:nvPr/>
        </p:nvSpPr>
        <p:spPr>
          <a:xfrm>
            <a:off x="3319723" y="1316189"/>
            <a:ext cx="319033" cy="978408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B5E1100-458D-4A50-90B1-2C5BB38AA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3" y="4388271"/>
            <a:ext cx="9004572" cy="1365622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3344131" y="4873941"/>
            <a:ext cx="267408" cy="775954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351029" y="4882343"/>
            <a:ext cx="267408" cy="77595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365246" y="4869767"/>
            <a:ext cx="292473" cy="788530"/>
          </a:xfrm>
          <a:prstGeom prst="rect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389796" y="4892291"/>
            <a:ext cx="278948" cy="788530"/>
          </a:xfrm>
          <a:prstGeom prst="rect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Flèche vers le bas 25"/>
          <p:cNvSpPr/>
          <p:nvPr/>
        </p:nvSpPr>
        <p:spPr>
          <a:xfrm>
            <a:off x="3319722" y="3871170"/>
            <a:ext cx="319033" cy="978408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689779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1" grpId="0"/>
      <p:bldP spid="48" grpId="0" animBg="1"/>
      <p:bldP spid="28" grpId="0" animBg="1"/>
      <p:bldP spid="28" grpId="1" animBg="1"/>
      <p:bldP spid="29" grpId="0" animBg="1"/>
      <p:bldP spid="30" grpId="0" animBg="1"/>
      <p:bldP spid="49" grpId="0" animBg="1"/>
      <p:bldP spid="50" grpId="0" animBg="1"/>
      <p:bldP spid="50" grpId="1" animBg="1"/>
      <p:bldP spid="56" grpId="0" animBg="1"/>
      <p:bldP spid="51" grpId="0" animBg="1"/>
      <p:bldP spid="52" grpId="0" animBg="1"/>
      <p:bldP spid="2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3.2. Communication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buSzPct val="100000"/>
              <a:buNone/>
            </a:pPr>
            <a:endParaRPr lang="fr-BE" sz="3200" dirty="0">
              <a:sym typeface="Wingdings" panose="05000000000000000000" pitchFamily="2" charset="2"/>
            </a:endParaRPr>
          </a:p>
          <a:p>
            <a:pPr marL="0" lvl="1" indent="0">
              <a:spcBef>
                <a:spcPts val="0"/>
              </a:spcBef>
              <a:buSzPct val="100000"/>
              <a:buNone/>
            </a:pPr>
            <a:r>
              <a:rPr lang="fr-BE" sz="3200" dirty="0">
                <a:sym typeface="Wingdings" panose="05000000000000000000" pitchFamily="2" charset="2"/>
              </a:rPr>
              <a:t>L’employeur doit effectuer une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communication </a:t>
            </a:r>
            <a:r>
              <a:rPr lang="fr-BE" sz="3200" dirty="0">
                <a:sym typeface="Wingdings" panose="05000000000000000000" pitchFamily="2" charset="2"/>
              </a:rPr>
              <a:t>pour </a:t>
            </a:r>
            <a:r>
              <a:rPr lang="fr-BE" sz="3200" b="1" u="sng" dirty="0">
                <a:sym typeface="Wingdings" panose="05000000000000000000" pitchFamily="2" charset="2"/>
              </a:rPr>
              <a:t>chaque jour</a:t>
            </a:r>
            <a:r>
              <a:rPr lang="fr-BE" sz="3200" b="1" dirty="0">
                <a:sym typeface="Wingdings" panose="05000000000000000000" pitchFamily="2" charset="2"/>
              </a:rPr>
              <a:t> </a:t>
            </a:r>
            <a:r>
              <a:rPr lang="fr-BE" sz="3200" dirty="0">
                <a:sym typeface="Wingdings" panose="05000000000000000000" pitchFamily="2" charset="2"/>
              </a:rPr>
              <a:t>de chômage temporaire pour cause de </a:t>
            </a:r>
            <a:r>
              <a:rPr lang="fr-BE" sz="3200" b="1" dirty="0">
                <a:sym typeface="Wingdings" panose="05000000000000000000" pitchFamily="2" charset="2"/>
              </a:rPr>
              <a:t>grève ou de lock-out « 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G </a:t>
            </a:r>
            <a:r>
              <a:rPr lang="fr-BE" sz="3200" b="1" dirty="0">
                <a:sym typeface="Wingdings" panose="05000000000000000000" pitchFamily="2" charset="2"/>
              </a:rPr>
              <a:t>»</a:t>
            </a:r>
            <a:r>
              <a:rPr lang="fr-BE" sz="3200" dirty="0">
                <a:sym typeface="Wingdings" panose="05000000000000000000" pitchFamily="2" charset="2"/>
              </a:rPr>
              <a:t>.</a:t>
            </a:r>
          </a:p>
          <a:p>
            <a:pPr marL="0" lvl="1" indent="0">
              <a:spcBef>
                <a:spcPts val="0"/>
              </a:spcBef>
              <a:buSzPct val="100000"/>
              <a:buNone/>
            </a:pPr>
            <a:endParaRPr lang="fr-BE" sz="3200" b="1" dirty="0">
              <a:sym typeface="Wingdings" panose="05000000000000000000" pitchFamily="2" charset="2"/>
            </a:endParaRPr>
          </a:p>
          <a:p>
            <a:pPr marL="457200" lvl="1" indent="-457200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fr-BE" sz="3200" b="1" dirty="0">
                <a:sym typeface="Wingdings" panose="05000000000000000000" pitchFamily="2" charset="2"/>
              </a:rPr>
              <a:t>Aucun délai n’est prévu.</a:t>
            </a:r>
            <a:endParaRPr lang="fr-BE" sz="3200" dirty="0"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632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3.3. Délivrance des formulaires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/>
              <a:t>Effectuer une </a:t>
            </a:r>
            <a:r>
              <a:rPr lang="fr-BE" b="1" dirty="0"/>
              <a:t>DRS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wech 502 </a:t>
            </a:r>
            <a:r>
              <a:rPr lang="fr-BE" sz="2400" dirty="0"/>
              <a:t>(</a:t>
            </a:r>
            <a:r>
              <a:rPr lang="fr-BE" sz="2400" b="1" dirty="0"/>
              <a:t>DA</a:t>
            </a:r>
            <a:r>
              <a:rPr lang="fr-BE" sz="2400" dirty="0"/>
              <a:t>) </a:t>
            </a:r>
            <a:r>
              <a:rPr lang="fr-BE" dirty="0"/>
              <a:t>&amp; une </a:t>
            </a:r>
            <a:r>
              <a:rPr lang="fr-BE" b="1" dirty="0"/>
              <a:t>DRS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wech 505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sz="2400" dirty="0"/>
              <a:t>(</a:t>
            </a:r>
            <a:r>
              <a:rPr lang="fr-BE" sz="2400" b="1" dirty="0"/>
              <a:t>paiement</a:t>
            </a:r>
            <a:r>
              <a:rPr lang="fr-BE" sz="2400" dirty="0"/>
              <a:t>) </a:t>
            </a:r>
            <a:r>
              <a:rPr lang="fr-BE" dirty="0"/>
              <a:t>après la fin du mois.</a:t>
            </a:r>
          </a:p>
          <a:p>
            <a:pPr marL="0" indent="0">
              <a:spcBef>
                <a:spcPts val="0"/>
              </a:spcBef>
              <a:buNone/>
            </a:pPr>
            <a:endParaRPr lang="fr-BE" sz="1000" dirty="0"/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b="1" dirty="0"/>
              <a:t>Délivrer</a:t>
            </a:r>
            <a:r>
              <a:rPr lang="fr-BE" dirty="0"/>
              <a:t> au travailleur une carte de contrôle numérotée :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BE" sz="3200" b="1" dirty="0"/>
              <a:t>C3.2A</a:t>
            </a:r>
            <a:r>
              <a:rPr lang="fr-BE" sz="3200" dirty="0"/>
              <a:t> au plus tard le 1</a:t>
            </a:r>
            <a:r>
              <a:rPr lang="fr-BE" sz="3200" baseline="30000" dirty="0"/>
              <a:t>ier</a:t>
            </a:r>
            <a:r>
              <a:rPr lang="fr-BE" sz="3200" dirty="0"/>
              <a:t> jour effectif de chômage temporaire dans le mois.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fr-BE" sz="3200" i="1" dirty="0"/>
              <a:t>Ou</a:t>
            </a:r>
            <a:endParaRPr lang="fr-BE" sz="3200" dirty="0"/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BE" sz="3200" b="1" dirty="0"/>
              <a:t>C3.2A FSE </a:t>
            </a:r>
            <a:r>
              <a:rPr lang="fr-BE" sz="2400" dirty="0"/>
              <a:t>(si secteur de la construction) </a:t>
            </a:r>
            <a:r>
              <a:rPr lang="fr-BE" sz="3200" dirty="0"/>
              <a:t>avant le début du mois.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3430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3.4. </a:t>
            </a:r>
            <a:r>
              <a:rPr lang="fr-BE" sz="4000" b="1" i="1" dirty="0">
                <a:solidFill>
                  <a:srgbClr val="C00000"/>
                </a:solidFill>
              </a:rPr>
              <a:t>Ouvriers</a:t>
            </a:r>
            <a:r>
              <a:rPr lang="fr-BE" sz="4000" b="1" i="1" dirty="0"/>
              <a:t> intérimaires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6572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SzPct val="80000"/>
              <a:buNone/>
            </a:pPr>
            <a:r>
              <a:rPr lang="fr-BE" dirty="0"/>
              <a:t>Il existe </a:t>
            </a:r>
            <a:r>
              <a:rPr lang="fr-BE" b="1" dirty="0"/>
              <a:t>3 possibilités</a:t>
            </a:r>
            <a:r>
              <a:rPr lang="fr-BE" dirty="0"/>
              <a:t> :</a:t>
            </a:r>
          </a:p>
          <a:p>
            <a:pPr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fr-BE" sz="2800" b="1" dirty="0"/>
              <a:t>Soit</a:t>
            </a:r>
            <a:r>
              <a:rPr lang="fr-BE" sz="2800" dirty="0"/>
              <a:t> la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société intérim </a:t>
            </a:r>
            <a:r>
              <a:rPr lang="fr-BE" sz="2800" dirty="0"/>
              <a:t>effectue</a:t>
            </a:r>
            <a:r>
              <a:rPr lang="fr-BE" sz="2800" b="1" dirty="0"/>
              <a:t> </a:t>
            </a:r>
            <a:r>
              <a:rPr lang="fr-BE" sz="2800" b="1" u="sng" dirty="0"/>
              <a:t>toutes les formalités</a:t>
            </a:r>
            <a:r>
              <a:rPr lang="fr-BE" sz="2700" b="1" dirty="0"/>
              <a:t>:</a:t>
            </a:r>
          </a:p>
          <a:p>
            <a:pPr lvl="1"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fr-BE" sz="2600" dirty="0"/>
              <a:t>Tenue du livret de validation.</a:t>
            </a:r>
          </a:p>
          <a:p>
            <a:pPr lvl="1"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fr-BE" sz="2600" dirty="0"/>
              <a:t>Notification &amp; communication.</a:t>
            </a:r>
          </a:p>
          <a:p>
            <a:pPr lvl="1"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fr-BE" sz="2600" dirty="0"/>
              <a:t>Délivrance de la carte de contrôle C3.2A (fse).</a:t>
            </a:r>
          </a:p>
          <a:p>
            <a:pPr lvl="1"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fr-BE" sz="2600" dirty="0"/>
              <a:t>DRS wech 502 &amp; 505.</a:t>
            </a:r>
          </a:p>
          <a:p>
            <a:pPr marL="0" lvl="1" indent="0">
              <a:spcBef>
                <a:spcPts val="0"/>
              </a:spcBef>
              <a:buSzPct val="100000"/>
              <a:buNone/>
            </a:pPr>
            <a:endParaRPr lang="fr-BE" sz="800" b="1" dirty="0"/>
          </a:p>
          <a:p>
            <a:pPr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fr-BE" sz="3000" b="1" dirty="0"/>
              <a:t>Soit</a:t>
            </a:r>
            <a:r>
              <a:rPr lang="fr-BE" sz="3000" dirty="0"/>
              <a:t> l’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utilisateur</a:t>
            </a:r>
            <a:r>
              <a:rPr lang="fr-BE" sz="3000" dirty="0"/>
              <a:t> effectue</a:t>
            </a:r>
            <a:r>
              <a:rPr lang="fr-BE" sz="3000" b="1" dirty="0"/>
              <a:t> toutes les formalités </a:t>
            </a:r>
            <a:r>
              <a:rPr lang="fr-BE" sz="3000" b="1" u="sng" dirty="0">
                <a:solidFill>
                  <a:schemeClr val="accent2">
                    <a:lumMod val="75000"/>
                  </a:schemeClr>
                </a:solidFill>
              </a:rPr>
              <a:t>sauf</a:t>
            </a:r>
            <a:r>
              <a:rPr lang="fr-BE" sz="3000" b="1" dirty="0"/>
              <a:t> </a:t>
            </a:r>
            <a:r>
              <a:rPr lang="fr-BE" sz="3000" dirty="0"/>
              <a:t>les DRS </a:t>
            </a:r>
            <a:r>
              <a:rPr lang="fr-BE" sz="3000" b="1" dirty="0"/>
              <a:t>wech 502 &amp; 505</a:t>
            </a:r>
            <a:r>
              <a:rPr lang="fr-BE" sz="3000" dirty="0"/>
              <a:t>.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endParaRPr lang="fr-BE" sz="2800" dirty="0"/>
          </a:p>
          <a:p>
            <a:pPr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fr-BE" sz="3000" b="1" dirty="0"/>
              <a:t>Soit</a:t>
            </a:r>
            <a:r>
              <a:rPr lang="fr-BE" sz="3000" dirty="0"/>
              <a:t> l’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utilisateur</a:t>
            </a:r>
            <a:r>
              <a:rPr lang="fr-BE" sz="3000" dirty="0"/>
              <a:t> effectue</a:t>
            </a:r>
            <a:r>
              <a:rPr lang="fr-BE" sz="3000" b="1" dirty="0"/>
              <a:t> </a:t>
            </a:r>
            <a:r>
              <a:rPr lang="fr-BE" sz="3000" b="1" u="sng" dirty="0">
                <a:solidFill>
                  <a:schemeClr val="accent2">
                    <a:lumMod val="75000"/>
                  </a:schemeClr>
                </a:solidFill>
              </a:rPr>
              <a:t>uniquement</a:t>
            </a:r>
            <a:r>
              <a:rPr lang="fr-BE" sz="3000" b="1" dirty="0"/>
              <a:t> les notifications et les communications</a:t>
            </a:r>
            <a:r>
              <a:rPr lang="fr-BE" sz="2800" b="1" dirty="0"/>
              <a:t>.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endParaRPr lang="fr-BE" sz="27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1947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3.4. </a:t>
            </a:r>
            <a:r>
              <a:rPr lang="fr-BE" sz="4000" b="1" i="1" dirty="0">
                <a:solidFill>
                  <a:srgbClr val="C00000"/>
                </a:solidFill>
              </a:rPr>
              <a:t>Employés</a:t>
            </a:r>
            <a:r>
              <a:rPr lang="fr-BE" sz="4000" b="1" i="1" dirty="0"/>
              <a:t> intérimaires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SzPct val="80000"/>
              <a:buNone/>
            </a:pPr>
            <a:r>
              <a:rPr lang="fr-BE" i="1" u="sng" dirty="0"/>
              <a:t>Formalités à effectuer</a:t>
            </a:r>
            <a:r>
              <a:rPr lang="fr-BE" i="1" dirty="0"/>
              <a:t> </a:t>
            </a:r>
            <a:r>
              <a:rPr lang="fr-BE" dirty="0"/>
              <a:t>:</a:t>
            </a:r>
          </a:p>
          <a:p>
            <a:pPr>
              <a:spcBef>
                <a:spcPts val="0"/>
              </a:spcBef>
              <a:buSzPct val="80000"/>
              <a:buNone/>
            </a:pPr>
            <a:endParaRPr lang="fr-BE" sz="1200" dirty="0"/>
          </a:p>
          <a:p>
            <a:pPr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fr-BE" dirty="0"/>
              <a:t>L’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utilisateu</a:t>
            </a:r>
            <a:r>
              <a:rPr lang="fr-BE" b="1" dirty="0">
                <a:solidFill>
                  <a:srgbClr val="C00000"/>
                </a:solidFill>
              </a:rPr>
              <a:t>r </a:t>
            </a:r>
            <a:r>
              <a:rPr lang="fr-BE" dirty="0"/>
              <a:t>effectue</a:t>
            </a:r>
            <a:r>
              <a:rPr lang="fr-BE" b="1" dirty="0"/>
              <a:t> </a:t>
            </a:r>
            <a:r>
              <a:rPr lang="fr-BE" b="1" u="sng" dirty="0"/>
              <a:t>toutes les formalités </a:t>
            </a:r>
            <a:r>
              <a:rPr lang="fr-BE" b="1" u="sng" dirty="0">
                <a:solidFill>
                  <a:schemeClr val="accent2">
                    <a:lumMod val="75000"/>
                  </a:schemeClr>
                </a:solidFill>
              </a:rPr>
              <a:t>sauf</a:t>
            </a:r>
            <a:r>
              <a:rPr lang="fr-BE" b="1" u="sng" dirty="0"/>
              <a:t> les DRS</a:t>
            </a:r>
            <a:r>
              <a:rPr lang="fr-BE" dirty="0"/>
              <a:t> :</a:t>
            </a:r>
          </a:p>
          <a:p>
            <a:pPr lvl="1"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fr-BE" sz="3000" dirty="0"/>
              <a:t>Tenue du livret de validation (papier).</a:t>
            </a:r>
          </a:p>
          <a:p>
            <a:pPr lvl="1"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fr-BE" sz="3000" dirty="0"/>
              <a:t>Notification &amp; communication.</a:t>
            </a:r>
          </a:p>
          <a:p>
            <a:pPr lvl="1"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fr-BE" sz="3000" dirty="0"/>
              <a:t>Délivrance de la carte de contrôle C3.2A.</a:t>
            </a:r>
            <a:endParaRPr lang="fr-BE" sz="3000" b="1" dirty="0"/>
          </a:p>
          <a:p>
            <a:pPr marL="0" lvl="1" indent="0">
              <a:spcBef>
                <a:spcPts val="0"/>
              </a:spcBef>
              <a:buSzPct val="100000"/>
              <a:buNone/>
            </a:pPr>
            <a:endParaRPr lang="fr-BE" sz="1200" b="1" dirty="0"/>
          </a:p>
          <a:p>
            <a:pPr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fr-BE" dirty="0"/>
              <a:t>La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société intérim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dirty="0"/>
              <a:t>effectue</a:t>
            </a:r>
            <a:r>
              <a:rPr lang="fr-BE" b="1" dirty="0"/>
              <a:t> </a:t>
            </a:r>
            <a:r>
              <a:rPr lang="fr-BE" dirty="0"/>
              <a:t>les DRS </a:t>
            </a:r>
            <a:r>
              <a:rPr lang="fr-BE" b="1" dirty="0"/>
              <a:t>wech 502 &amp; 505</a:t>
            </a:r>
            <a:r>
              <a:rPr lang="fr-BE" dirty="0"/>
              <a:t>.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endParaRPr lang="fr-BE" sz="2700" b="1" dirty="0"/>
          </a:p>
          <a:p>
            <a:pPr marL="0" indent="0">
              <a:spcBef>
                <a:spcPts val="0"/>
              </a:spcBef>
              <a:buSzPct val="100000"/>
              <a:buNone/>
            </a:pPr>
            <a:endParaRPr lang="fr-BE" sz="27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2189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4. Obligations du travailleur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fr-BE" dirty="0"/>
              <a:t>Le travailleur est tenu d’être en possession de la carte de contrôle C3.2A ou C3.2A fse, sur le lieu de travail et de la compléter : 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fr-BE" sz="1800" dirty="0"/>
          </a:p>
          <a:p>
            <a:pPr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b="1" dirty="0"/>
              <a:t>Après le 1</a:t>
            </a:r>
            <a:r>
              <a:rPr lang="fr-BE" b="1" baseline="30000" dirty="0"/>
              <a:t>ier</a:t>
            </a:r>
            <a:r>
              <a:rPr lang="fr-BE" b="1" dirty="0"/>
              <a:t> jour effectif de chômage temporaire dans le mois </a:t>
            </a:r>
            <a:r>
              <a:rPr lang="fr-BE" dirty="0"/>
              <a:t>=</a:t>
            </a:r>
            <a:r>
              <a:rPr lang="fr-BE" b="1" dirty="0">
                <a:solidFill>
                  <a:srgbClr val="C00000"/>
                </a:solidFill>
              </a:rPr>
              <a:t>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C3.2A</a:t>
            </a:r>
            <a:r>
              <a:rPr lang="fr-BE" dirty="0"/>
              <a:t>.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endParaRPr lang="fr-BE" sz="1800" dirty="0"/>
          </a:p>
          <a:p>
            <a:pPr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b="1" dirty="0"/>
              <a:t>Dès le 1</a:t>
            </a:r>
            <a:r>
              <a:rPr lang="fr-BE" b="1" baseline="30000" dirty="0"/>
              <a:t>ier</a:t>
            </a:r>
            <a:r>
              <a:rPr lang="fr-BE" b="1" dirty="0"/>
              <a:t> jour du mois </a:t>
            </a:r>
            <a:r>
              <a:rPr lang="fr-BE" dirty="0"/>
              <a:t>=</a:t>
            </a:r>
            <a:r>
              <a:rPr lang="fr-BE" b="1" dirty="0"/>
              <a:t>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C3.2A FSE </a:t>
            </a:r>
            <a:r>
              <a:rPr lang="fr-BE" dirty="0"/>
              <a:t>pour le secteur de la construction.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03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4. Obligations du travailleur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SzPct val="100000"/>
              <a:buNone/>
            </a:pPr>
            <a:r>
              <a:rPr lang="fr-BE" b="1" u="sng" dirty="0"/>
              <a:t>Chômage temporaire « Economique » (E) </a:t>
            </a:r>
          </a:p>
          <a:p>
            <a:pPr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endParaRPr lang="fr-BE" sz="1000" b="1" dirty="0"/>
          </a:p>
          <a:p>
            <a:pPr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fr-BE" b="1" dirty="0"/>
              <a:t>Accepter tout emploi convenable </a:t>
            </a:r>
            <a:r>
              <a:rPr lang="fr-BE" dirty="0"/>
              <a:t>qui lui est offert, s'il est </a:t>
            </a:r>
            <a:r>
              <a:rPr lang="fr-BE" b="1" dirty="0"/>
              <a:t>chômeur temporaire depuis au moins 6 mois</a:t>
            </a:r>
            <a:r>
              <a:rPr lang="fr-BE" dirty="0"/>
              <a:t>. </a:t>
            </a:r>
          </a:p>
          <a:p>
            <a:pPr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endParaRPr lang="fr-BE" sz="1000" dirty="0"/>
          </a:p>
          <a:p>
            <a:pPr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fr-BE" dirty="0"/>
              <a:t>Une période de reprise complète du travail pendant 4 semaines consécutives fait débuter une nouvelle période de 6 mois.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8842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4. Obligations du travailleur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SzPct val="100000"/>
              <a:buNone/>
            </a:pPr>
            <a:r>
              <a:rPr lang="fr-BE" b="1" u="sng" dirty="0"/>
              <a:t>Chômage temporaire « Accident Technique » (T) </a:t>
            </a:r>
          </a:p>
          <a:p>
            <a:pPr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dirty="0"/>
              <a:t>Accepter tout travail de remplacement conforme à ses aptitudes physiques et intellectuelles.</a:t>
            </a:r>
          </a:p>
          <a:p>
            <a:pPr marL="0" indent="0">
              <a:spcBef>
                <a:spcPts val="600"/>
              </a:spcBef>
              <a:buSzPct val="100000"/>
              <a:buNone/>
            </a:pPr>
            <a:endParaRPr lang="fr-BE" sz="1000" dirty="0"/>
          </a:p>
          <a:p>
            <a:pPr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dirty="0"/>
              <a:t>En cas de refus, il y a perte du droit à la rémunération ! Mais ce refus ne justifie pas un licenciement pour « motif grave ».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2954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4. Obligations du travailleur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SzPct val="100000"/>
              <a:buNone/>
            </a:pPr>
            <a:r>
              <a:rPr lang="fr-BE" b="1" u="sng" dirty="0"/>
              <a:t>Chômage temporaire « Force Majeure » (F &amp; FM)</a:t>
            </a:r>
            <a:endParaRPr lang="fr-BE" b="1" dirty="0"/>
          </a:p>
          <a:p>
            <a:pPr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b="1" dirty="0"/>
              <a:t>S’inscrire comme demandeur d’emploi au FOREM</a:t>
            </a:r>
            <a:r>
              <a:rPr lang="fr-BE" b="1" dirty="0">
                <a:solidFill>
                  <a:srgbClr val="C00000"/>
                </a:solidFill>
              </a:rPr>
              <a:t>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dans les 8 jours calendrier qui suivent les 3 premiers mois de date à date, calculé à partir du 1</a:t>
            </a:r>
            <a:r>
              <a:rPr lang="fr-BE" b="1" baseline="30000" dirty="0">
                <a:solidFill>
                  <a:schemeClr val="accent2">
                    <a:lumMod val="75000"/>
                  </a:schemeClr>
                </a:solidFill>
              </a:rPr>
              <a:t>ier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 jour de force majeure</a:t>
            </a:r>
            <a:r>
              <a:rPr lang="fr-BE" b="1" dirty="0">
                <a:solidFill>
                  <a:srgbClr val="C00000"/>
                </a:solidFill>
              </a:rPr>
              <a:t>.</a:t>
            </a:r>
          </a:p>
          <a:p>
            <a:pPr marL="0" indent="0">
              <a:spcBef>
                <a:spcPts val="600"/>
              </a:spcBef>
              <a:buSzPct val="100000"/>
              <a:buNone/>
            </a:pPr>
            <a:endParaRPr lang="fr-BE" sz="1000" b="1" dirty="0">
              <a:solidFill>
                <a:srgbClr val="C00000"/>
              </a:solidFill>
            </a:endParaRPr>
          </a:p>
          <a:p>
            <a:pPr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dirty="0"/>
              <a:t>Accepter tout emploi convenable si l’intéressé est en chômage temporaire depuis au moins 6 mois.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359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BE" sz="4000" b="1" i="1" dirty="0"/>
              <a:t>5. DA</a:t>
            </a:r>
            <a:br>
              <a:rPr lang="fr-BE" sz="4000" b="1" i="1" dirty="0"/>
            </a:br>
            <a:r>
              <a:rPr lang="fr-BE" sz="4000" b="1" i="1" dirty="0"/>
              <a:t>chômage temporaire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700808"/>
            <a:ext cx="5760640" cy="4176463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75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5.1. Admissibilité CT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FR" dirty="0"/>
              <a:t>Le travailleur qui devient chômeur temporaire est admis au droit aux allocations de chômage temporaire avec dispense de stage </a:t>
            </a:r>
            <a:r>
              <a:rPr lang="fr-FR" sz="2400" i="1" dirty="0">
                <a:solidFill>
                  <a:schemeClr val="accent2">
                    <a:lumMod val="75000"/>
                  </a:schemeClr>
                </a:solidFill>
              </a:rPr>
              <a:t>(art. 42 bis) </a:t>
            </a:r>
            <a:r>
              <a:rPr lang="fr-FR" dirty="0"/>
              <a:t>et ce, pour tous les motifs de suspension  du contrat</a:t>
            </a:r>
          </a:p>
          <a:p>
            <a:pPr marL="0" indent="0">
              <a:spcBef>
                <a:spcPts val="0"/>
              </a:spcBef>
              <a:buNone/>
            </a:pPr>
            <a:endParaRPr lang="fr-FR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FR" sz="3000" b="1" i="1" dirty="0">
                <a:solidFill>
                  <a:schemeClr val="accent2">
                    <a:lumMod val="75000"/>
                  </a:schemeClr>
                </a:solidFill>
              </a:rPr>
              <a:t>Depuis le 01.07.2022, aucune admissibilité à prouver en cas de chômage temporaire pour raisons économiques ou suspension employé</a:t>
            </a:r>
          </a:p>
          <a:p>
            <a:pPr marL="0" indent="0">
              <a:spcBef>
                <a:spcPts val="0"/>
              </a:spcBef>
              <a:buNone/>
            </a:pP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987150-9447-4A23-9D17-7F521EA07120}"/>
              </a:ext>
            </a:extLst>
          </p:cNvPr>
          <p:cNvSpPr/>
          <p:nvPr/>
        </p:nvSpPr>
        <p:spPr>
          <a:xfrm>
            <a:off x="457200" y="4509120"/>
            <a:ext cx="8075240" cy="1617043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417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5.2. DA facultative en CT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GB" b="1" u="sng" dirty="0"/>
              <a:t>DA au 1</a:t>
            </a:r>
            <a:r>
              <a:rPr lang="en-GB" b="1" u="sng" baseline="30000" dirty="0"/>
              <a:t>ier </a:t>
            </a:r>
            <a:r>
              <a:rPr lang="en-GB" b="1" u="sng" dirty="0"/>
              <a:t>jour de CT </a:t>
            </a:r>
            <a:r>
              <a:rPr lang="fr-BE" b="1" u="sng" dirty="0"/>
              <a:t>si</a:t>
            </a:r>
            <a:r>
              <a:rPr lang="fr-BE" b="1" dirty="0"/>
              <a:t> </a:t>
            </a:r>
            <a:r>
              <a:rPr lang="fr-BE" dirty="0"/>
              <a:t>: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fr-BE" sz="2000" dirty="0"/>
          </a:p>
          <a:p>
            <a:pPr marL="0" indent="0">
              <a:spcBef>
                <a:spcPts val="0"/>
              </a:spcBef>
              <a:buNone/>
            </a:pPr>
            <a:r>
              <a:rPr lang="fr-BE" dirty="0"/>
              <a:t>G.  La rémunération </a:t>
            </a:r>
            <a:r>
              <a:rPr lang="fr-BE" sz="2400" dirty="0"/>
              <a:t>(salaire brut)</a:t>
            </a:r>
            <a:r>
              <a:rPr lang="fr-BE" dirty="0"/>
              <a:t> permet d’obtenir un code chiffré plus élevé.</a:t>
            </a:r>
          </a:p>
          <a:p>
            <a:pPr marL="0" indent="0">
              <a:spcBef>
                <a:spcPts val="0"/>
              </a:spcBef>
              <a:buNone/>
            </a:pPr>
            <a:endParaRPr lang="fr-BE" sz="2000" b="1" dirty="0">
              <a:sym typeface="Wingdings" pitchFamily="2" charset="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fr-BE" dirty="0">
                <a:sym typeface="Wingdings" pitchFamily="2" charset="2"/>
              </a:rPr>
              <a:t>Possible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uniquement au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GB" b="1" baseline="30000" dirty="0">
                <a:solidFill>
                  <a:schemeClr val="accent2">
                    <a:lumMod val="75000"/>
                  </a:schemeClr>
                </a:solidFill>
              </a:rPr>
              <a:t>ier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jour de CT </a:t>
            </a:r>
            <a:r>
              <a:rPr lang="fr-BE" dirty="0">
                <a:sym typeface="Wingdings" pitchFamily="2" charset="2"/>
              </a:rPr>
              <a:t>dans la </a:t>
            </a:r>
            <a:r>
              <a:rPr lang="fr-BE" b="1" dirty="0">
                <a:sym typeface="Wingdings" pitchFamily="2" charset="2"/>
              </a:rPr>
              <a:t>période de référence</a:t>
            </a:r>
            <a:r>
              <a:rPr lang="fr-BE" dirty="0">
                <a:sym typeface="Wingdings" pitchFamily="2" charset="2"/>
              </a:rPr>
              <a:t>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du 01/10 au 30/09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en-US" sz="2000" dirty="0">
              <a:sym typeface="Wingdings" pitchFamily="2" charset="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fr-BE" dirty="0"/>
              <a:t>Et le jour pour lequel un code CT est octroyé est considéré comme un jour indemnisé en CT.</a:t>
            </a:r>
          </a:p>
          <a:p>
            <a:pPr marL="0" indent="0">
              <a:spcBef>
                <a:spcPts val="0"/>
              </a:spcBef>
              <a:buNone/>
            </a:pPr>
            <a:endParaRPr lang="fr-BE" dirty="0"/>
          </a:p>
          <a:p>
            <a:pPr marL="0" indent="0">
              <a:spcBef>
                <a:spcPts val="0"/>
              </a:spcBef>
              <a:buNone/>
            </a:pPr>
            <a:r>
              <a:rPr lang="fr-BE" dirty="0"/>
              <a:t>Envoi d’un C9 full électronique.</a:t>
            </a:r>
          </a:p>
          <a:p>
            <a:pPr marL="536575" indent="0">
              <a:spcBef>
                <a:spcPts val="0"/>
              </a:spcBef>
              <a:buNone/>
            </a:pPr>
            <a:endParaRPr lang="fr-BE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3948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fr-BE" sz="4000" b="1" i="1" dirty="0"/>
              <a:t>Exemple </a:t>
            </a:r>
            <a:endParaRPr lang="en-GB" sz="4000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56</a:t>
            </a:fld>
            <a:endParaRPr lang="fr-FR"/>
          </a:p>
        </p:txBody>
      </p:sp>
      <p:sp>
        <p:nvSpPr>
          <p:cNvPr id="12" name="ZoneTexte 11"/>
          <p:cNvSpPr txBox="1"/>
          <p:nvPr/>
        </p:nvSpPr>
        <p:spPr>
          <a:xfrm>
            <a:off x="501832" y="4252446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01/10/2021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3708123" y="4252445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30/09/2022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6841966" y="457861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30/09/2023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3710543" y="4578620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01/10/2022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1600" y="2869324"/>
            <a:ext cx="7056783" cy="914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Employeur A</a:t>
            </a:r>
          </a:p>
          <a:p>
            <a:pPr algn="ctr"/>
            <a:r>
              <a:rPr lang="fr-BE" b="1" dirty="0">
                <a:solidFill>
                  <a:schemeClr val="tx1"/>
                </a:solidFill>
              </a:rPr>
              <a:t>Q/S = 38/38</a:t>
            </a:r>
          </a:p>
        </p:txBody>
      </p:sp>
      <p:cxnSp>
        <p:nvCxnSpPr>
          <p:cNvPr id="27" name="Connecteur droit avec flèche 26"/>
          <p:cNvCxnSpPr/>
          <p:nvPr/>
        </p:nvCxnSpPr>
        <p:spPr>
          <a:xfrm>
            <a:off x="827584" y="3783724"/>
            <a:ext cx="754390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27"/>
          <p:cNvCxnSpPr>
            <a:stCxn id="24" idx="2"/>
            <a:endCxn id="37" idx="0"/>
          </p:cNvCxnSpPr>
          <p:nvPr/>
        </p:nvCxnSpPr>
        <p:spPr>
          <a:xfrm>
            <a:off x="1869984" y="2636911"/>
            <a:ext cx="0" cy="2249484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1339060" y="2113691"/>
            <a:ext cx="1061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CT</a:t>
            </a:r>
          </a:p>
          <a:p>
            <a:pPr algn="ctr"/>
            <a:r>
              <a:rPr lang="fr-BE" sz="1400" b="1" dirty="0"/>
              <a:t>22/11/2021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1120675" y="4886395"/>
            <a:ext cx="1498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DA</a:t>
            </a:r>
            <a:r>
              <a:rPr lang="fr-BE" sz="1400" b="1" dirty="0"/>
              <a:t> : 1</a:t>
            </a:r>
            <a:r>
              <a:rPr lang="fr-BE" sz="1400" b="1" baseline="30000" dirty="0"/>
              <a:t>ier</a:t>
            </a:r>
            <a:r>
              <a:rPr lang="fr-BE" sz="1400" b="1" dirty="0"/>
              <a:t> jour CT chez employeur A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Code chiffré 62</a:t>
            </a:r>
          </a:p>
        </p:txBody>
      </p:sp>
      <p:cxnSp>
        <p:nvCxnSpPr>
          <p:cNvPr id="44" name="Connecteur droit 43"/>
          <p:cNvCxnSpPr>
            <a:stCxn id="45" idx="2"/>
            <a:endCxn id="23" idx="0"/>
          </p:cNvCxnSpPr>
          <p:nvPr/>
        </p:nvCxnSpPr>
        <p:spPr>
          <a:xfrm>
            <a:off x="3687824" y="2631739"/>
            <a:ext cx="32365" cy="226574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ZoneTexte 44"/>
          <p:cNvSpPr txBox="1"/>
          <p:nvPr/>
        </p:nvSpPr>
        <p:spPr>
          <a:xfrm>
            <a:off x="3156900" y="2108519"/>
            <a:ext cx="1061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CT</a:t>
            </a:r>
          </a:p>
          <a:p>
            <a:pPr algn="ctr"/>
            <a:r>
              <a:rPr lang="fr-BE" sz="1400" b="1" dirty="0"/>
              <a:t>09/09/2022</a:t>
            </a:r>
          </a:p>
        </p:txBody>
      </p:sp>
      <p:sp>
        <p:nvSpPr>
          <p:cNvPr id="52" name="Parenthèse ouvrante 51"/>
          <p:cNvSpPr/>
          <p:nvPr/>
        </p:nvSpPr>
        <p:spPr>
          <a:xfrm rot="5400000">
            <a:off x="1654817" y="1447923"/>
            <a:ext cx="2232248" cy="3170067"/>
          </a:xfrm>
          <a:prstGeom prst="leftBracket">
            <a:avLst>
              <a:gd name="adj" fmla="val 4897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3" name="Parenthèse ouvrante 52"/>
          <p:cNvSpPr/>
          <p:nvPr/>
        </p:nvSpPr>
        <p:spPr>
          <a:xfrm rot="5400000">
            <a:off x="4824884" y="1447923"/>
            <a:ext cx="2232247" cy="3170067"/>
          </a:xfrm>
          <a:prstGeom prst="leftBracket">
            <a:avLst>
              <a:gd name="adj" fmla="val 4897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3" name="ZoneTexte 22"/>
          <p:cNvSpPr txBox="1"/>
          <p:nvPr/>
        </p:nvSpPr>
        <p:spPr>
          <a:xfrm>
            <a:off x="2559589" y="4897482"/>
            <a:ext cx="2321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Pas de DA facultative</a:t>
            </a:r>
            <a:r>
              <a:rPr lang="fr-BE" sz="1400" b="1" dirty="0"/>
              <a:t> : ce n’est pas le 1</a:t>
            </a:r>
            <a:r>
              <a:rPr lang="fr-BE" sz="1400" b="1" baseline="30000" dirty="0"/>
              <a:t>ier</a:t>
            </a:r>
            <a:r>
              <a:rPr lang="fr-BE" sz="1400" b="1" dirty="0"/>
              <a:t> jour de CT dans la période de référence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Maintien code chiffré 62</a:t>
            </a:r>
          </a:p>
        </p:txBody>
      </p:sp>
      <p:cxnSp>
        <p:nvCxnSpPr>
          <p:cNvPr id="25" name="Connecteur droit 24"/>
          <p:cNvCxnSpPr/>
          <p:nvPr/>
        </p:nvCxnSpPr>
        <p:spPr>
          <a:xfrm>
            <a:off x="2619292" y="1772816"/>
            <a:ext cx="4680" cy="3135650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1458692" y="1249596"/>
            <a:ext cx="232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Augmentation salariale</a:t>
            </a:r>
          </a:p>
          <a:p>
            <a:pPr algn="ctr"/>
            <a:r>
              <a:rPr lang="fr-BE" sz="1400" b="1" dirty="0">
                <a:solidFill>
                  <a:srgbClr val="008000"/>
                </a:solidFill>
              </a:rPr>
              <a:t>Droit au code chiffré 68</a:t>
            </a:r>
          </a:p>
        </p:txBody>
      </p:sp>
      <p:cxnSp>
        <p:nvCxnSpPr>
          <p:cNvPr id="30" name="Connecteur droit 29"/>
          <p:cNvCxnSpPr>
            <a:cxnSpLocks/>
          </p:cNvCxnSpPr>
          <p:nvPr/>
        </p:nvCxnSpPr>
        <p:spPr>
          <a:xfrm>
            <a:off x="5436096" y="2615086"/>
            <a:ext cx="0" cy="227130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/>
          <p:cNvSpPr txBox="1"/>
          <p:nvPr/>
        </p:nvSpPr>
        <p:spPr>
          <a:xfrm>
            <a:off x="4985651" y="2091866"/>
            <a:ext cx="1061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CT</a:t>
            </a:r>
          </a:p>
          <a:p>
            <a:pPr algn="ctr"/>
            <a:r>
              <a:rPr lang="fr-BE" sz="1400" b="1" dirty="0"/>
              <a:t>24/10/2022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4769616" y="4904793"/>
            <a:ext cx="2321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DA facultative </a:t>
            </a:r>
            <a:r>
              <a:rPr lang="fr-BE" sz="1400" b="1" dirty="0"/>
              <a:t>: 1</a:t>
            </a:r>
            <a:r>
              <a:rPr lang="fr-BE" sz="1400" b="1" baseline="30000" dirty="0"/>
              <a:t>ier</a:t>
            </a:r>
            <a:r>
              <a:rPr lang="fr-BE" sz="1400" b="1" dirty="0"/>
              <a:t> jour de CT dans la période de référence</a:t>
            </a:r>
          </a:p>
          <a:p>
            <a:pPr algn="ctr"/>
            <a:r>
              <a:rPr lang="fr-BE" sz="1400" b="1" dirty="0">
                <a:solidFill>
                  <a:srgbClr val="008000"/>
                </a:solidFill>
              </a:rPr>
              <a:t>Droit au chiffré 68</a:t>
            </a:r>
          </a:p>
        </p:txBody>
      </p:sp>
    </p:spTree>
    <p:extLst>
      <p:ext uri="{BB962C8B-B14F-4D97-AF65-F5344CB8AC3E}">
        <p14:creationId xmlns:p14="http://schemas.microsoft.com/office/powerpoint/2010/main" val="4022021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45" grpId="0"/>
      <p:bldP spid="53" grpId="0" animBg="1"/>
      <p:bldP spid="23" grpId="0"/>
      <p:bldP spid="29" grpId="0"/>
      <p:bldP spid="31" grpId="0"/>
      <p:bldP spid="3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5.3. Autres DA en CT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en-GB" b="1" u="sng" dirty="0"/>
              <a:t>DA au 1</a:t>
            </a:r>
            <a:r>
              <a:rPr lang="en-GB" b="1" u="sng" baseline="30000" dirty="0"/>
              <a:t>ier</a:t>
            </a:r>
            <a:r>
              <a:rPr lang="en-GB" b="1" u="sng" dirty="0"/>
              <a:t> jour de CT</a:t>
            </a:r>
            <a:r>
              <a:rPr lang="en-GB" dirty="0"/>
              <a:t> :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endParaRPr lang="fr-BE" sz="300" dirty="0"/>
          </a:p>
          <a:p>
            <a:pPr marL="514350" indent="-514350">
              <a:spcBef>
                <a:spcPts val="0"/>
              </a:spcBef>
              <a:buClrTx/>
              <a:buFont typeface="+mj-lt"/>
              <a:buAutoNum type="alphaUcPeriod" startAt="8"/>
            </a:pPr>
            <a:r>
              <a:rPr lang="fr-BE" sz="3000" dirty="0"/>
              <a:t>Après un changement de BC.</a:t>
            </a:r>
          </a:p>
          <a:p>
            <a:pPr marL="514350" indent="-514350">
              <a:spcBef>
                <a:spcPts val="0"/>
              </a:spcBef>
              <a:buFont typeface="+mj-lt"/>
              <a:buAutoNum type="alphaUcPeriod" startAt="10"/>
            </a:pPr>
            <a:r>
              <a:rPr lang="fr-BE" sz="3000" dirty="0">
                <a:sym typeface="Wingdings" pitchFamily="2" charset="2"/>
              </a:rPr>
              <a:t>Après une sanction.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fr-BE" sz="3000" dirty="0">
                <a:sym typeface="Wingdings" pitchFamily="2" charset="2"/>
              </a:rPr>
              <a:t>K.  Après un changement adresse, situation personnelle, profession accessoire, </a:t>
            </a:r>
            <a:r>
              <a:rPr lang="fr-BE" sz="2800" dirty="0">
                <a:sym typeface="Wingdings" pitchFamily="2" charset="2"/>
              </a:rPr>
              <a:t>…</a:t>
            </a:r>
            <a:r>
              <a:rPr lang="fr-BE" sz="2800" dirty="0"/>
              <a:t> </a:t>
            </a:r>
            <a:r>
              <a:rPr lang="fr-BE" sz="2000" dirty="0"/>
              <a:t>ne coïncidant pas avec une DA obligatoire.</a:t>
            </a:r>
          </a:p>
          <a:p>
            <a:pPr marL="0" indent="0">
              <a:spcBef>
                <a:spcPts val="0"/>
              </a:spcBef>
              <a:buClrTx/>
              <a:buNone/>
            </a:pPr>
            <a:endParaRPr lang="fr-BE" sz="300" dirty="0"/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3000" dirty="0">
                <a:sym typeface="Wingdings" pitchFamily="2" charset="2"/>
              </a:rPr>
              <a:t>Après avoir atteint l’âge de 65 ans.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3000" dirty="0">
                <a:sym typeface="Wingdings" pitchFamily="2" charset="2"/>
              </a:rPr>
              <a:t>Travailleur protégé.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3000" dirty="0">
                <a:sym typeface="Wingdings" pitchFamily="2" charset="2"/>
              </a:rPr>
              <a:t>Force majeure médicale.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779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62D3F-45A6-489B-A072-487AF13E5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kumimoji="0" lang="fr-BE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5.4. Quelques Particularités</a:t>
            </a:r>
            <a:endParaRPr lang="fr-BE" sz="4000" b="1" i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3B481D-E94C-4C03-AF91-208EE5E4F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b="1" u="sng" dirty="0">
                <a:solidFill>
                  <a:schemeClr val="accent2">
                    <a:lumMod val="75000"/>
                  </a:schemeClr>
                </a:solidFill>
              </a:rPr>
              <a:t>Travailleur inapte au travail</a:t>
            </a:r>
          </a:p>
          <a:p>
            <a:pPr marL="0" indent="0">
              <a:buNone/>
            </a:pPr>
            <a:r>
              <a:rPr lang="fr-BE" b="1" dirty="0"/>
              <a:t>Depuis le 01.04.2018</a:t>
            </a:r>
            <a:r>
              <a:rPr lang="fr-BE" dirty="0"/>
              <a:t>, le montant de l’indemnité de maladie en cas de reprise de travail avec l’autorisation du médecin-conseil de la mutuelle pendant une période d’incapacité </a:t>
            </a:r>
            <a:r>
              <a:rPr lang="fr-BE" b="1" dirty="0"/>
              <a:t>n’est plus diminué</a:t>
            </a:r>
            <a:r>
              <a:rPr lang="fr-BE" dirty="0"/>
              <a:t> si: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Reprise de travail avec une fraction d’occupation de </a:t>
            </a:r>
            <a:r>
              <a:rPr lang="fr-BE" b="1" u="sng" dirty="0"/>
              <a:t>max. 20%</a:t>
            </a:r>
            <a:r>
              <a:rPr lang="fr-BE" u="sng" dirty="0"/>
              <a:t> du facteur S</a:t>
            </a:r>
            <a:r>
              <a:rPr lang="fr-BE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S’il s’agit d’un travailleur occupé </a:t>
            </a:r>
            <a:r>
              <a:rPr lang="fr-BE" u="sng" dirty="0"/>
              <a:t>en dehors</a:t>
            </a:r>
            <a:r>
              <a:rPr lang="fr-BE" dirty="0"/>
              <a:t> du circuit normal de travail dans une entreprisse ressortissante de la </a:t>
            </a:r>
            <a:r>
              <a:rPr lang="fr-BE" b="1" u="sng" dirty="0"/>
              <a:t>CP 327</a:t>
            </a:r>
            <a:r>
              <a:rPr lang="fr-BE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009C687-9E51-49E8-BA82-47CBD6C21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7840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B10D33-7D8A-4464-9AF2-EA407FE26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kumimoji="0" lang="fr-BE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5.4. Quelques Particularités</a:t>
            </a:r>
            <a:endParaRPr lang="fr-BE" sz="4000" b="1" i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3CD7C3-470B-4973-BF4A-CF32DAE3F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657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sz="3000" u="sng" dirty="0"/>
              <a:t>Conséquences sur le droit en CT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000" b="1" dirty="0"/>
              <a:t>SI Q de la reprise du travail &gt; 20 % du S</a:t>
            </a:r>
          </a:p>
          <a:p>
            <a:pPr marL="788988" lvl="0">
              <a:spcBef>
                <a:spcPts val="600"/>
              </a:spcBef>
              <a:buFont typeface="Wingdings" panose="05000000000000000000" pitchFamily="2" charset="2"/>
              <a:buChar char="è"/>
            </a:pPr>
            <a:r>
              <a:rPr lang="fr-BE" sz="2400" b="1" dirty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Montant de l’indemnité de maladie réduit.</a:t>
            </a:r>
          </a:p>
          <a:p>
            <a:pPr marL="788988" lvl="0">
              <a:spcBef>
                <a:spcPts val="600"/>
              </a:spcBef>
              <a:buFont typeface="Wingdings" panose="05000000000000000000" pitchFamily="2" charset="2"/>
              <a:buChar char="è"/>
            </a:pP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 Droit au CT dans le régime de travail adapté.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fr-BE" sz="3000" b="1" dirty="0">
                <a:solidFill>
                  <a:prstClr val="black"/>
                </a:solidFill>
              </a:rPr>
              <a:t>SI Q de la reprise du travail ≤ 20 % du S</a:t>
            </a:r>
          </a:p>
          <a:p>
            <a:pPr marL="788988" lvl="0">
              <a:spcBef>
                <a:spcPts val="600"/>
              </a:spcBef>
              <a:buFont typeface="Wingdings" panose="05000000000000000000" pitchFamily="2" charset="2"/>
              <a:buChar char="è"/>
            </a:pP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Montant de l’indemnité de maladie 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PAS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 réduit.</a:t>
            </a:r>
          </a:p>
          <a:p>
            <a:pPr marL="788988" lvl="0">
              <a:spcBef>
                <a:spcPts val="600"/>
              </a:spcBef>
              <a:buFont typeface="Wingdings" panose="05000000000000000000" pitchFamily="2" charset="2"/>
              <a:buChar char="è"/>
            </a:pP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PAS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 droit au CT dans le régime de travail adapté.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fr-BE" sz="3000" b="1" dirty="0">
                <a:solidFill>
                  <a:prstClr val="black"/>
                </a:solidFill>
              </a:rPr>
              <a:t>SI CP 327 et travail en dehors du circuit normal</a:t>
            </a:r>
          </a:p>
          <a:p>
            <a:pPr marL="788988" lvl="0">
              <a:spcBef>
                <a:spcPts val="600"/>
              </a:spcBef>
              <a:buFont typeface="Wingdings" panose="05000000000000000000" pitchFamily="2" charset="2"/>
              <a:buChar char="è"/>
            </a:pP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Montant de l’indemnité de maladie 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PAS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 réduit.</a:t>
            </a:r>
          </a:p>
          <a:p>
            <a:pPr marL="788988" lvl="0">
              <a:spcBef>
                <a:spcPts val="600"/>
              </a:spcBef>
              <a:buFont typeface="Wingdings" panose="05000000000000000000" pitchFamily="2" charset="2"/>
              <a:buChar char="è"/>
            </a:pP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Mais p</a:t>
            </a:r>
            <a:r>
              <a:rPr lang="fr-FR" dirty="0" err="1"/>
              <a:t>euvent</a:t>
            </a:r>
            <a:r>
              <a:rPr lang="fr-FR" dirty="0"/>
              <a:t> prétendre à des allocations de chômage temporaire,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et ce quel que soit le pourcentage</a:t>
            </a:r>
            <a:r>
              <a:rPr lang="fr-FR" dirty="0"/>
              <a:t> de la reprise du travail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5F6BF4-053F-49B9-8DF4-F03412941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4235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4DC0E9-87B8-4560-9992-09FAE4707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5.4. Quelques particularités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63CD1F-1F08-47A4-9DE7-69794B548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9831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b="1" u="sng" dirty="0">
                <a:solidFill>
                  <a:schemeClr val="accent2">
                    <a:lumMod val="75000"/>
                  </a:schemeClr>
                </a:solidFill>
              </a:rPr>
              <a:t>CT dans le cadre d’une formation en alternance: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Droit aux allocations de transition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2800" b="1" dirty="0"/>
              <a:t>L’apprenti </a:t>
            </a:r>
            <a:r>
              <a:rPr lang="fr-BE" sz="2800" b="1" u="sng" dirty="0"/>
              <a:t>n’est pas</a:t>
            </a:r>
            <a:r>
              <a:rPr lang="fr-BE" sz="2800" b="1" dirty="0"/>
              <a:t> chômeur complet indemnisé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Script 2.0 composé du C3.2 travailleur ,WECH502 et C1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Préfixe </a:t>
            </a:r>
            <a:r>
              <a:rPr lang="fr-BE" b="1" dirty="0"/>
              <a:t>02/TA</a:t>
            </a:r>
            <a:r>
              <a:rPr lang="fr-BE" dirty="0"/>
              <a:t>, </a:t>
            </a:r>
            <a:r>
              <a:rPr lang="fr-BE" b="1" dirty="0"/>
              <a:t>02/TN, 02/T ou 02/TP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Article d’</a:t>
            </a:r>
            <a:r>
              <a:rPr lang="fr-BE" dirty="0" err="1"/>
              <a:t>admiss</a:t>
            </a:r>
            <a:r>
              <a:rPr lang="fr-BE" dirty="0"/>
              <a:t>. </a:t>
            </a:r>
            <a:r>
              <a:rPr lang="fr-BE" b="1" dirty="0"/>
              <a:t>27,2C</a:t>
            </a:r>
            <a:r>
              <a:rPr lang="fr-BE" dirty="0"/>
              <a:t> et d’</a:t>
            </a:r>
            <a:r>
              <a:rPr lang="fr-BE" dirty="0" err="1"/>
              <a:t>indem</a:t>
            </a:r>
            <a:r>
              <a:rPr lang="fr-BE" dirty="0"/>
              <a:t>. </a:t>
            </a:r>
            <a:r>
              <a:rPr lang="fr-BE" b="1" dirty="0"/>
              <a:t>114&amp;6B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C3.2A + WECH505 + attestation de présence pour indemnisation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9606F9-5F43-4B1A-9509-325BF0AB6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351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4DC0E9-87B8-4560-9992-09FAE4707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5.4. Quelques particularités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63CD1F-1F08-47A4-9DE7-69794B548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b="1" u="sng" dirty="0">
                <a:solidFill>
                  <a:schemeClr val="accent2">
                    <a:lumMod val="75000"/>
                  </a:schemeClr>
                </a:solidFill>
              </a:rPr>
              <a:t>CT dans le cadre d’une formation en alternance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2800" b="1" dirty="0"/>
              <a:t>L’apprenti </a:t>
            </a:r>
            <a:r>
              <a:rPr lang="fr-BE" sz="2800" b="1" u="sng" dirty="0"/>
              <a:t>est</a:t>
            </a:r>
            <a:r>
              <a:rPr lang="fr-BE" sz="2800" b="1" dirty="0"/>
              <a:t> chômeur complet indemnisé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Bénéficie de la dispense </a:t>
            </a:r>
            <a:r>
              <a:rPr lang="fr-BE" b="1" dirty="0"/>
              <a:t>94,7</a:t>
            </a:r>
            <a:r>
              <a:rPr lang="fr-BE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 Script 2.0 composé du C3.2 travailleur et WECH502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Cumul CT et CC possible pour un même jour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Maintient d’un préfixe </a:t>
            </a:r>
            <a:r>
              <a:rPr lang="fr-BE" b="1" dirty="0"/>
              <a:t>01/</a:t>
            </a:r>
            <a:r>
              <a:rPr lang="fr-BE" dirty="0"/>
              <a:t> dans le S04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Article d’indemnisation </a:t>
            </a:r>
            <a:r>
              <a:rPr lang="fr-BE" b="1" dirty="0"/>
              <a:t>114&amp;6B</a:t>
            </a:r>
            <a:r>
              <a:rPr lang="fr-BE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C3.2A + WECH505 + C98 pour indemnisation via « script 99 »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9606F9-5F43-4B1A-9509-325BF0AB6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648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5.5. Divers</a:t>
            </a:r>
            <a:endParaRPr lang="en-US" sz="4000" b="1" i="1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7860876-21FD-4606-90A3-F4AA94404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C.T et crédit-temps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fr-BE" sz="3000" dirty="0"/>
              <a:t>Préfixe 04/  et calcul du nombre d’allocations via la formule </a:t>
            </a:r>
            <a:r>
              <a:rPr lang="fr-BE" sz="3000" b="1" dirty="0"/>
              <a:t>P x 12/S</a:t>
            </a:r>
            <a:endParaRPr lang="fr-BE" sz="2800" b="1" dirty="0">
              <a:solidFill>
                <a:srgbClr val="C00000"/>
              </a:solidFill>
            </a:endParaRPr>
          </a:p>
          <a:p>
            <a:pPr lvl="0">
              <a:buFont typeface="Wingdings" panose="05000000000000000000" pitchFamily="2" charset="2"/>
              <a:buChar char="§"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C.T plusieurs employeurs</a:t>
            </a:r>
          </a:p>
          <a:p>
            <a:pPr marL="0" indent="0">
              <a:buNone/>
            </a:pPr>
            <a:r>
              <a:rPr lang="fr-BE" sz="3000" dirty="0"/>
              <a:t>Dans l’introduction du dossier,  rajouter la fiche de salaire du second employeur pour déterminer le statut et le code chiffré correctement.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CT travailleur frontalier</a:t>
            </a:r>
          </a:p>
          <a:p>
            <a:pPr marL="0" indent="0">
              <a:buNone/>
            </a:pPr>
            <a:r>
              <a:rPr lang="fr-BE" sz="3000" dirty="0"/>
              <a:t>Script </a:t>
            </a:r>
            <a:r>
              <a:rPr lang="fr-BE" sz="3000" b="1" dirty="0"/>
              <a:t>9.2.2</a:t>
            </a:r>
            <a:r>
              <a:rPr lang="fr-BE" sz="3000" dirty="0"/>
              <a:t> en type C9 </a:t>
            </a:r>
            <a:r>
              <a:rPr lang="fr-BE" sz="3000" b="1" dirty="0"/>
              <a:t>640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8148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6. Code chiffré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endParaRPr lang="fr-BE" dirty="0"/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/>
              <a:t>Le code chiffré est toujours calculé sur base du salaire brut valable au moment de la DA.</a:t>
            </a:r>
          </a:p>
          <a:p>
            <a:pPr marL="0" indent="0">
              <a:spcBef>
                <a:spcPts val="0"/>
              </a:spcBef>
              <a:buNone/>
            </a:pPr>
            <a:endParaRPr lang="fr-BE" sz="2400" dirty="0"/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/>
              <a:t>Le montant des allocations de chômage temporaire correspond à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65%</a:t>
            </a:r>
            <a:r>
              <a:rPr lang="fr-BE" dirty="0">
                <a:solidFill>
                  <a:srgbClr val="C00000"/>
                </a:solidFill>
              </a:rPr>
              <a:t> </a:t>
            </a:r>
            <a:r>
              <a:rPr lang="fr-BE" dirty="0"/>
              <a:t>du salaire brut plafonné </a:t>
            </a:r>
            <a:r>
              <a:rPr lang="fr-BE"/>
              <a:t>à </a:t>
            </a:r>
            <a:r>
              <a:rPr lang="fr-BE" b="1">
                <a:solidFill>
                  <a:schemeClr val="accent2">
                    <a:lumMod val="75000"/>
                  </a:schemeClr>
                </a:solidFill>
              </a:rPr>
              <a:t>3.075,04</a:t>
            </a:r>
            <a:r>
              <a:rPr lang="fr-BE"/>
              <a:t> </a:t>
            </a:r>
            <a:r>
              <a:rPr lang="fr-BE" dirty="0"/>
              <a:t>€ brut par mois </a:t>
            </a:r>
            <a:r>
              <a:rPr lang="fr-BE" sz="2000" dirty="0"/>
              <a:t>(plafond C du barème </a:t>
            </a:r>
            <a:r>
              <a:rPr lang="fr-BE" sz="2000"/>
              <a:t>du 01.08.2022</a:t>
            </a:r>
            <a:r>
              <a:rPr lang="fr-BE" sz="2000" dirty="0"/>
              <a:t>). 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75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6. Révision du code chiffré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endParaRPr lang="fr-BE" dirty="0"/>
          </a:p>
          <a:p>
            <a:pPr marL="0" indent="0">
              <a:spcBef>
                <a:spcPts val="0"/>
              </a:spcBef>
              <a:buNone/>
            </a:pPr>
            <a:r>
              <a:rPr lang="fr-BE" dirty="0"/>
              <a:t>Dans le cadre d’une </a:t>
            </a:r>
            <a:r>
              <a:rPr lang="fr-BE" b="1" u="sng" dirty="0"/>
              <a:t>DA « obligatoire » en CT</a:t>
            </a:r>
            <a:r>
              <a:rPr lang="fr-BE" dirty="0"/>
              <a:t>, il y a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révision systématique du code chiffré.</a:t>
            </a:r>
          </a:p>
          <a:p>
            <a:pPr marL="0" indent="0">
              <a:spcBef>
                <a:spcPts val="0"/>
              </a:spcBef>
              <a:buNone/>
            </a:pPr>
            <a:endParaRPr lang="fr-BE" sz="600" b="1" dirty="0">
              <a:solidFill>
                <a:srgbClr val="C00000"/>
              </a:solidFill>
              <a:sym typeface="Wingdings" pitchFamily="2" charset="2"/>
            </a:endParaRPr>
          </a:p>
          <a:p>
            <a:pPr marL="1071563" indent="-446088">
              <a:spcBef>
                <a:spcPts val="0"/>
              </a:spcBef>
              <a:buNone/>
            </a:pPr>
            <a:r>
              <a:rPr lang="fr-BE" sz="3000" b="1" dirty="0">
                <a:sym typeface="Wingdings" panose="05000000000000000000" pitchFamily="2" charset="2"/>
              </a:rPr>
              <a:t> </a:t>
            </a:r>
            <a:r>
              <a:rPr lang="fr-BE" dirty="0">
                <a:sym typeface="Wingdings" pitchFamily="2" charset="2"/>
              </a:rPr>
              <a:t>Le code chiffré sera donc :</a:t>
            </a:r>
          </a:p>
          <a:p>
            <a:pPr marL="1347788" indent="-446088">
              <a:spcBef>
                <a:spcPts val="0"/>
              </a:spcBef>
              <a:buNone/>
            </a:pPr>
            <a:endParaRPr lang="fr-BE" sz="600" dirty="0">
              <a:sym typeface="Wingdings" pitchFamily="2" charset="2"/>
            </a:endParaRPr>
          </a:p>
          <a:p>
            <a:pPr marL="1347788" lvl="2" indent="-446088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3200" dirty="0">
                <a:sym typeface="Wingdings" pitchFamily="2" charset="2"/>
              </a:rPr>
              <a:t>Soit maintenu.</a:t>
            </a:r>
            <a:endParaRPr lang="fr-BE" sz="3000" dirty="0">
              <a:sym typeface="Wingdings" pitchFamily="2" charset="2"/>
            </a:endParaRPr>
          </a:p>
          <a:p>
            <a:pPr marL="1347788" lvl="2" indent="-446088">
              <a:spcBef>
                <a:spcPts val="0"/>
              </a:spcBef>
              <a:buNone/>
            </a:pPr>
            <a:endParaRPr lang="fr-BE" sz="600" dirty="0">
              <a:sym typeface="Wingdings" pitchFamily="2" charset="2"/>
            </a:endParaRPr>
          </a:p>
          <a:p>
            <a:pPr marL="1347788" lvl="2" indent="-446088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3200" dirty="0">
                <a:sym typeface="Wingdings" pitchFamily="2" charset="2"/>
              </a:rPr>
              <a:t>Soit revu à la hausse.</a:t>
            </a:r>
            <a:endParaRPr lang="fr-BE" sz="3000" dirty="0">
              <a:sym typeface="Wingdings" pitchFamily="2" charset="2"/>
            </a:endParaRPr>
          </a:p>
          <a:p>
            <a:pPr marL="1347788" lvl="2" indent="-446088">
              <a:spcBef>
                <a:spcPts val="0"/>
              </a:spcBef>
              <a:buNone/>
            </a:pPr>
            <a:endParaRPr lang="fr-BE" sz="600" dirty="0">
              <a:sym typeface="Wingdings" pitchFamily="2" charset="2"/>
            </a:endParaRPr>
          </a:p>
          <a:p>
            <a:pPr marL="1347788" lvl="2" indent="-446088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3200" dirty="0">
                <a:sym typeface="Wingdings" pitchFamily="2" charset="2"/>
              </a:rPr>
              <a:t>Soit revu à la baisse.</a:t>
            </a:r>
            <a:r>
              <a:rPr lang="fr-BE" sz="3000" dirty="0">
                <a:sym typeface="Wingdings" pitchFamily="2" charset="2"/>
              </a:rPr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40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6. Révision du code chiffré</a:t>
            </a:r>
            <a:br>
              <a:rPr lang="fr-BE" sz="4000" b="1" i="1" dirty="0"/>
            </a:br>
            <a:r>
              <a:rPr lang="fr-BE" sz="4000" b="1" i="1" dirty="0">
                <a:solidFill>
                  <a:schemeClr val="accent2">
                    <a:lumMod val="75000"/>
                  </a:schemeClr>
                </a:solidFill>
              </a:rPr>
              <a:t>Exceptions </a:t>
            </a:r>
            <a:r>
              <a:rPr lang="fr-BE" sz="4000" b="1" i="1" dirty="0"/>
              <a:t>…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Si</a:t>
            </a:r>
            <a:r>
              <a:rPr lang="fr-BE" b="1" dirty="0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lang="fr-BE" b="1" dirty="0">
                <a:sym typeface="Wingdings" pitchFamily="2" charset="2"/>
              </a:rPr>
              <a:t>l’intéressé a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45 ans ou + à la date d’entrée en service </a:t>
            </a:r>
            <a:r>
              <a:rPr lang="fr-BE" sz="2400" dirty="0">
                <a:sym typeface="Wingdings" pitchFamily="2" charset="2"/>
              </a:rPr>
              <a:t>(située après le 30.06.2000) </a:t>
            </a:r>
            <a:r>
              <a:rPr lang="fr-BE" dirty="0">
                <a:sym typeface="Wingdings" pitchFamily="2" charset="2"/>
              </a:rPr>
              <a:t>et qu’il ne s’agit pas d’une réduction volontaire des prestations. 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fr-BE" sz="2000" dirty="0">
                <a:sym typeface="Wingdings" pitchFamily="2" charset="2"/>
              </a:rPr>
              <a:t> </a:t>
            </a:r>
            <a:r>
              <a:rPr lang="fr-BE" sz="3000" dirty="0">
                <a:sym typeface="Wingdings" pitchFamily="2" charset="2"/>
              </a:rPr>
              <a:t>Possibilité de maintien du code chiffré le plus avantageux.</a:t>
            </a:r>
          </a:p>
          <a:p>
            <a:pPr marL="0" indent="0">
              <a:spcBef>
                <a:spcPts val="0"/>
              </a:spcBef>
              <a:buNone/>
            </a:pPr>
            <a:endParaRPr lang="fr-BE" sz="2000" dirty="0">
              <a:sym typeface="Wingdings" pitchFamily="2" charset="2"/>
            </a:endParaRP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>
                <a:sym typeface="Wingdings" pitchFamily="2" charset="2"/>
              </a:rPr>
              <a:t>En cas de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TTPMD (99/)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fr-BE" sz="2000" dirty="0">
                <a:sym typeface="Wingdings" pitchFamily="2" charset="2"/>
              </a:rPr>
              <a:t></a:t>
            </a:r>
            <a:r>
              <a:rPr lang="fr-BE" dirty="0">
                <a:sym typeface="Wingdings" pitchFamily="2" charset="2"/>
              </a:rPr>
              <a:t> </a:t>
            </a:r>
            <a:r>
              <a:rPr lang="fr-BE" sz="3000" dirty="0">
                <a:sym typeface="Wingdings" pitchFamily="2" charset="2"/>
              </a:rPr>
              <a:t>Possibilité de reprendre le code chiffré valable en CC si celui-ci est plus avantageux.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7517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6. Révision du code chiffré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2800" dirty="0"/>
              <a:t>Dans le cadre d’une DA « facultative » en CT, u</a:t>
            </a:r>
            <a:r>
              <a:rPr lang="fr-BE" sz="3000" dirty="0">
                <a:sym typeface="Wingdings" pitchFamily="2" charset="2"/>
              </a:rPr>
              <a:t>ne seule révision du code chiffré par période de référence et uniquement au </a:t>
            </a:r>
            <a:r>
              <a:rPr lang="fr-BE" sz="3000" dirty="0"/>
              <a:t>1</a:t>
            </a:r>
            <a:r>
              <a:rPr lang="fr-BE" sz="3000" baseline="30000" dirty="0"/>
              <a:t>ier</a:t>
            </a:r>
            <a:r>
              <a:rPr lang="fr-BE" sz="3000" dirty="0"/>
              <a:t> jour de CT au cours de la période de référence du 01/10  au 30/09.</a:t>
            </a:r>
          </a:p>
          <a:p>
            <a:pPr marL="0" indent="0">
              <a:spcBef>
                <a:spcPts val="0"/>
              </a:spcBef>
              <a:buNone/>
            </a:pPr>
            <a:endParaRPr lang="fr-BE" sz="2000" dirty="0">
              <a:sym typeface="Wingdings" pitchFamily="2" charset="2"/>
            </a:endParaRP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3000" dirty="0"/>
              <a:t>Aucune révision du code chiffré, si l’introduction de la DA en CT n’est pas la conséquence d’une demande « obligatoire » ou « facultative ».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02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fr-BE" sz="4000" b="1" i="1" dirty="0"/>
              <a:t>Exemple </a:t>
            </a:r>
            <a:endParaRPr lang="en-GB" sz="4000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67</a:t>
            </a:fld>
            <a:endParaRPr lang="fr-FR"/>
          </a:p>
        </p:txBody>
      </p:sp>
      <p:sp>
        <p:nvSpPr>
          <p:cNvPr id="22" name="Rectangle 21"/>
          <p:cNvSpPr/>
          <p:nvPr/>
        </p:nvSpPr>
        <p:spPr>
          <a:xfrm>
            <a:off x="971601" y="2869324"/>
            <a:ext cx="2376264" cy="914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Employeur A</a:t>
            </a:r>
          </a:p>
          <a:p>
            <a:pPr algn="ctr"/>
            <a:r>
              <a:rPr lang="fr-BE" b="1" dirty="0">
                <a:solidFill>
                  <a:schemeClr val="tx1"/>
                </a:solidFill>
              </a:rPr>
              <a:t>Q/S = 38/38</a:t>
            </a:r>
          </a:p>
        </p:txBody>
      </p:sp>
      <p:cxnSp>
        <p:nvCxnSpPr>
          <p:cNvPr id="28" name="Connecteur droit 27"/>
          <p:cNvCxnSpPr>
            <a:stCxn id="24" idx="2"/>
            <a:endCxn id="37" idx="0"/>
          </p:cNvCxnSpPr>
          <p:nvPr/>
        </p:nvCxnSpPr>
        <p:spPr>
          <a:xfrm flipH="1">
            <a:off x="1869984" y="2621212"/>
            <a:ext cx="1281" cy="229579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1340341" y="2097992"/>
            <a:ext cx="1061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CT</a:t>
            </a:r>
          </a:p>
          <a:p>
            <a:pPr algn="ctr"/>
            <a:r>
              <a:rPr lang="fr-BE" sz="1400" b="1" dirty="0"/>
              <a:t>22/11/2021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1120675" y="4917010"/>
            <a:ext cx="1498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DA</a:t>
            </a:r>
            <a:r>
              <a:rPr lang="fr-BE" sz="1400" b="1" dirty="0"/>
              <a:t> : 1</a:t>
            </a:r>
            <a:r>
              <a:rPr lang="fr-BE" sz="1400" b="1" baseline="30000" dirty="0"/>
              <a:t>ier</a:t>
            </a:r>
            <a:r>
              <a:rPr lang="fr-BE" sz="1400" b="1" dirty="0"/>
              <a:t> jour CT chez employeur A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Code chiffré 62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47864" y="2869323"/>
            <a:ext cx="4752527" cy="90801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Employeur B</a:t>
            </a:r>
          </a:p>
          <a:p>
            <a:pPr algn="ctr"/>
            <a:r>
              <a:rPr lang="fr-BE" b="1" dirty="0">
                <a:solidFill>
                  <a:schemeClr val="tx1"/>
                </a:solidFill>
              </a:rPr>
              <a:t>Q/S = 38/38</a:t>
            </a:r>
          </a:p>
        </p:txBody>
      </p:sp>
      <p:cxnSp>
        <p:nvCxnSpPr>
          <p:cNvPr id="32" name="Connecteur droit avec flèche 31"/>
          <p:cNvCxnSpPr/>
          <p:nvPr/>
        </p:nvCxnSpPr>
        <p:spPr>
          <a:xfrm>
            <a:off x="827584" y="3783724"/>
            <a:ext cx="754390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32"/>
          <p:cNvCxnSpPr>
            <a:stCxn id="38" idx="2"/>
            <a:endCxn id="39" idx="0"/>
          </p:cNvCxnSpPr>
          <p:nvPr/>
        </p:nvCxnSpPr>
        <p:spPr>
          <a:xfrm>
            <a:off x="3702108" y="2621212"/>
            <a:ext cx="1842" cy="229579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/>
          <p:cNvSpPr txBox="1"/>
          <p:nvPr/>
        </p:nvSpPr>
        <p:spPr>
          <a:xfrm>
            <a:off x="3171184" y="2097992"/>
            <a:ext cx="1061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CT</a:t>
            </a:r>
          </a:p>
          <a:p>
            <a:pPr algn="ctr"/>
            <a:r>
              <a:rPr lang="fr-BE" sz="1400" b="1" dirty="0"/>
              <a:t>15/03/2022</a:t>
            </a:r>
          </a:p>
        </p:txBody>
      </p:sp>
      <p:sp>
        <p:nvSpPr>
          <p:cNvPr id="39" name="ZoneTexte 38"/>
          <p:cNvSpPr txBox="1"/>
          <p:nvPr/>
        </p:nvSpPr>
        <p:spPr>
          <a:xfrm>
            <a:off x="2543350" y="4917010"/>
            <a:ext cx="23212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DA </a:t>
            </a:r>
            <a:r>
              <a:rPr lang="fr-BE" sz="1400" b="1" dirty="0"/>
              <a:t>: 1</a:t>
            </a:r>
            <a:r>
              <a:rPr lang="fr-BE" sz="1400" b="1" baseline="30000" dirty="0"/>
              <a:t>ier</a:t>
            </a:r>
            <a:r>
              <a:rPr lang="fr-BE" sz="1400" b="1" dirty="0"/>
              <a:t> jour de CT chez employeur B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Révision du code 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chiffré obligatoire </a:t>
            </a:r>
          </a:p>
          <a:p>
            <a:pPr algn="ctr"/>
            <a:r>
              <a:rPr lang="fr-BE" sz="1400" b="1" dirty="0"/>
              <a:t>Code chiffré 60</a:t>
            </a:r>
          </a:p>
        </p:txBody>
      </p:sp>
      <p:cxnSp>
        <p:nvCxnSpPr>
          <p:cNvPr id="43" name="Connecteur droit 42"/>
          <p:cNvCxnSpPr>
            <a:stCxn id="44" idx="2"/>
            <a:endCxn id="45" idx="0"/>
          </p:cNvCxnSpPr>
          <p:nvPr/>
        </p:nvCxnSpPr>
        <p:spPr>
          <a:xfrm>
            <a:off x="5393632" y="2619726"/>
            <a:ext cx="9645" cy="227285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>
            <a:off x="4862708" y="2096506"/>
            <a:ext cx="1061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CT</a:t>
            </a:r>
          </a:p>
          <a:p>
            <a:pPr algn="ctr"/>
            <a:r>
              <a:rPr lang="fr-BE" sz="1400" b="1" dirty="0"/>
              <a:t>12/10/2022</a:t>
            </a:r>
          </a:p>
        </p:txBody>
      </p:sp>
      <p:sp>
        <p:nvSpPr>
          <p:cNvPr id="45" name="ZoneTexte 44"/>
          <p:cNvSpPr txBox="1"/>
          <p:nvPr/>
        </p:nvSpPr>
        <p:spPr>
          <a:xfrm>
            <a:off x="4242677" y="4892585"/>
            <a:ext cx="2321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Pas de DA </a:t>
            </a:r>
            <a:r>
              <a:rPr lang="fr-BE" sz="1400" b="1" dirty="0"/>
              <a:t>: le </a:t>
            </a:r>
          </a:p>
          <a:p>
            <a:pPr algn="ctr"/>
            <a:r>
              <a:rPr lang="fr-BE" sz="1400" b="1" dirty="0"/>
              <a:t>code CT reste valable</a:t>
            </a:r>
          </a:p>
          <a:p>
            <a:pPr algn="ctr"/>
            <a:r>
              <a:rPr lang="fr-BE" sz="1400" b="1" dirty="0"/>
              <a:t>Code chiffré 60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5727068" y="5493873"/>
            <a:ext cx="2321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Pas DA facultative</a:t>
            </a:r>
            <a:r>
              <a:rPr lang="fr-BE" sz="1400" b="1" dirty="0">
                <a:solidFill>
                  <a:srgbClr val="008000"/>
                </a:solidFill>
              </a:rPr>
              <a:t> </a:t>
            </a:r>
            <a:r>
              <a:rPr lang="fr-BE" sz="1400" b="1" dirty="0"/>
              <a:t>: ce n’est pas le 1</a:t>
            </a:r>
            <a:r>
              <a:rPr lang="fr-BE" sz="1400" b="1" baseline="30000" dirty="0"/>
              <a:t>ier</a:t>
            </a:r>
            <a:r>
              <a:rPr lang="fr-BE" sz="1400" b="1" dirty="0"/>
              <a:t> jour de CT dans la période de référence</a:t>
            </a:r>
          </a:p>
          <a:p>
            <a:pPr algn="ctr"/>
            <a:r>
              <a:rPr lang="fr-BE" sz="1400" b="1" dirty="0">
                <a:solidFill>
                  <a:srgbClr val="008000"/>
                </a:solidFill>
              </a:rPr>
              <a:t>Maintien du chiffré 60</a:t>
            </a:r>
          </a:p>
        </p:txBody>
      </p:sp>
      <p:sp>
        <p:nvSpPr>
          <p:cNvPr id="48" name="ZoneTexte 47"/>
          <p:cNvSpPr txBox="1"/>
          <p:nvPr/>
        </p:nvSpPr>
        <p:spPr>
          <a:xfrm>
            <a:off x="5107300" y="1221271"/>
            <a:ext cx="232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Augmentation salariale</a:t>
            </a:r>
          </a:p>
          <a:p>
            <a:pPr algn="ctr"/>
            <a:r>
              <a:rPr lang="fr-BE" sz="1400" b="1" dirty="0">
                <a:solidFill>
                  <a:srgbClr val="008000"/>
                </a:solidFill>
              </a:rPr>
              <a:t>Droit au code chiffré 68</a:t>
            </a:r>
          </a:p>
        </p:txBody>
      </p:sp>
      <p:cxnSp>
        <p:nvCxnSpPr>
          <p:cNvPr id="49" name="Connecteur droit 48"/>
          <p:cNvCxnSpPr/>
          <p:nvPr/>
        </p:nvCxnSpPr>
        <p:spPr>
          <a:xfrm>
            <a:off x="6267900" y="1744491"/>
            <a:ext cx="4680" cy="3141904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>
            <a:stCxn id="51" idx="2"/>
          </p:cNvCxnSpPr>
          <p:nvPr/>
        </p:nvCxnSpPr>
        <p:spPr>
          <a:xfrm>
            <a:off x="6907222" y="2619499"/>
            <a:ext cx="9646" cy="27720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ZoneTexte 50"/>
          <p:cNvSpPr txBox="1"/>
          <p:nvPr/>
        </p:nvSpPr>
        <p:spPr>
          <a:xfrm>
            <a:off x="6376298" y="2096280"/>
            <a:ext cx="1061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CT</a:t>
            </a:r>
          </a:p>
          <a:p>
            <a:pPr algn="ctr"/>
            <a:r>
              <a:rPr lang="fr-BE" sz="1400" b="1" dirty="0"/>
              <a:t>03/11/2022</a:t>
            </a:r>
          </a:p>
        </p:txBody>
      </p:sp>
      <p:sp>
        <p:nvSpPr>
          <p:cNvPr id="54" name="ZoneTexte 53"/>
          <p:cNvSpPr txBox="1"/>
          <p:nvPr/>
        </p:nvSpPr>
        <p:spPr>
          <a:xfrm>
            <a:off x="501832" y="4252446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01/10/2021</a:t>
            </a:r>
          </a:p>
        </p:txBody>
      </p:sp>
      <p:sp>
        <p:nvSpPr>
          <p:cNvPr id="55" name="ZoneTexte 54"/>
          <p:cNvSpPr txBox="1"/>
          <p:nvPr/>
        </p:nvSpPr>
        <p:spPr>
          <a:xfrm>
            <a:off x="3708123" y="4252445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30/09/2022</a:t>
            </a:r>
          </a:p>
        </p:txBody>
      </p:sp>
      <p:sp>
        <p:nvSpPr>
          <p:cNvPr id="56" name="Parenthèse ouvrante 55"/>
          <p:cNvSpPr/>
          <p:nvPr/>
        </p:nvSpPr>
        <p:spPr>
          <a:xfrm rot="5400000">
            <a:off x="1654817" y="1447923"/>
            <a:ext cx="2232248" cy="3170067"/>
          </a:xfrm>
          <a:prstGeom prst="leftBracket">
            <a:avLst>
              <a:gd name="adj" fmla="val 4897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7" name="ZoneTexte 56"/>
          <p:cNvSpPr txBox="1"/>
          <p:nvPr/>
        </p:nvSpPr>
        <p:spPr>
          <a:xfrm>
            <a:off x="6841966" y="457861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30/09/2023</a:t>
            </a:r>
          </a:p>
        </p:txBody>
      </p:sp>
      <p:sp>
        <p:nvSpPr>
          <p:cNvPr id="58" name="ZoneTexte 57"/>
          <p:cNvSpPr txBox="1"/>
          <p:nvPr/>
        </p:nvSpPr>
        <p:spPr>
          <a:xfrm>
            <a:off x="3710543" y="4578620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01/10/2022</a:t>
            </a:r>
          </a:p>
        </p:txBody>
      </p:sp>
      <p:sp>
        <p:nvSpPr>
          <p:cNvPr id="59" name="Parenthèse ouvrante 58"/>
          <p:cNvSpPr/>
          <p:nvPr/>
        </p:nvSpPr>
        <p:spPr>
          <a:xfrm rot="5400000">
            <a:off x="4824884" y="1447923"/>
            <a:ext cx="2232247" cy="3170067"/>
          </a:xfrm>
          <a:prstGeom prst="leftBracket">
            <a:avLst>
              <a:gd name="adj" fmla="val 4897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16719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8" grpId="0"/>
      <p:bldP spid="39" grpId="0"/>
      <p:bldP spid="44" grpId="0"/>
      <p:bldP spid="45" grpId="0"/>
      <p:bldP spid="46" grpId="0"/>
      <p:bldP spid="48" grpId="0"/>
      <p:bldP spid="51" grpId="0"/>
      <p:bldP spid="57" grpId="0"/>
      <p:bldP spid="58" grpId="0"/>
      <p:bldP spid="5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7. Composition du dossier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ClrTx/>
              <a:buNone/>
            </a:pPr>
            <a:r>
              <a:rPr lang="fr-BE" sz="2400" i="1" u="sng" dirty="0"/>
              <a:t>Pour introduire une </a:t>
            </a:r>
            <a:r>
              <a:rPr lang="fr-BE" sz="2400" b="1" i="1" u="sng" dirty="0"/>
              <a:t>DA facultative en CT </a:t>
            </a:r>
            <a:r>
              <a:rPr lang="fr-BE" sz="2400" i="1" u="sng" dirty="0"/>
              <a:t>(script 2.0) :</a:t>
            </a:r>
          </a:p>
          <a:p>
            <a:pPr>
              <a:spcBef>
                <a:spcPts val="0"/>
              </a:spcBef>
              <a:buClrTx/>
              <a:buFont typeface="Wingdings" pitchFamily="2" charset="2"/>
              <a:buChar char="§"/>
            </a:pPr>
            <a:r>
              <a:rPr lang="fr-BE" sz="2300" b="1" dirty="0"/>
              <a:t>DRS </a:t>
            </a:r>
            <a:r>
              <a:rPr lang="fr-BE" sz="2300" b="1" dirty="0">
                <a:solidFill>
                  <a:schemeClr val="accent2">
                    <a:lumMod val="75000"/>
                  </a:schemeClr>
                </a:solidFill>
              </a:rPr>
              <a:t>wech 502 (ou wech505 si Q=S)</a:t>
            </a:r>
            <a:r>
              <a:rPr lang="fr-BE" sz="2300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2400" i="1" u="sng" dirty="0"/>
              <a:t>Pour introduire un autre type de </a:t>
            </a:r>
            <a:r>
              <a:rPr lang="fr-BE" sz="2400" b="1" i="1" u="sng" dirty="0"/>
              <a:t>DA en CT </a:t>
            </a:r>
            <a:r>
              <a:rPr lang="fr-BE" sz="2400" i="1" u="sng" dirty="0"/>
              <a:t>: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2300" dirty="0"/>
              <a:t>Après un changement de BC : C8 transfert + C1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2300" dirty="0">
                <a:sym typeface="Wingdings" pitchFamily="2" charset="2"/>
              </a:rPr>
              <a:t>Après une sanction: C3.2 Travailleur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2300" dirty="0">
                <a:sym typeface="Wingdings" pitchFamily="2" charset="2"/>
              </a:rPr>
              <a:t>Après un changement adresse, profession accessoire, …</a:t>
            </a:r>
            <a:r>
              <a:rPr lang="fr-BE" sz="2300" dirty="0"/>
              <a:t> ne coïncidant pas avec une DA obligatoire:  C1, C1A, C1C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2300" dirty="0"/>
              <a:t>≥ de 65 ans : C1 et C3.2 travailleur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2300" dirty="0"/>
              <a:t>CT  « FM » : DRS wech502, C3.2 Travailleur, A052 &amp; C6 travailleur (+ formulaire C27R).</a:t>
            </a:r>
          </a:p>
          <a:p>
            <a:pPr marL="0" indent="0">
              <a:buNone/>
            </a:pPr>
            <a:r>
              <a:rPr lang="fr-BE" sz="2400" i="1" u="sng" dirty="0"/>
              <a:t>Pour le paiement du chômage temporaire:</a:t>
            </a:r>
            <a:r>
              <a:rPr lang="fr-BE" sz="2800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2300" dirty="0"/>
              <a:t>Carte de contrôle C3.2A ou C3.2A FSE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2300" dirty="0"/>
              <a:t>DRS wech505</a:t>
            </a:r>
          </a:p>
          <a:p>
            <a:pPr marL="0" indent="0">
              <a:spcBef>
                <a:spcPts val="0"/>
              </a:spcBef>
              <a:buNone/>
            </a:pPr>
            <a:endParaRPr lang="fr-BE" sz="2600" dirty="0"/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fr-BE" sz="600" i="1" u="sng" dirty="0"/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632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8. Délais d’introduction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Bef>
                <a:spcPts val="600"/>
              </a:spcBef>
              <a:buClrTx/>
              <a:buNone/>
            </a:pPr>
            <a:endParaRPr lang="fr-BE" sz="1000" dirty="0"/>
          </a:p>
          <a:p>
            <a:pPr>
              <a:spcBef>
                <a:spcPts val="600"/>
              </a:spcBef>
              <a:buClrTx/>
              <a:buFont typeface="Wingdings" pitchFamily="2" charset="2"/>
              <a:buChar char="§"/>
            </a:pPr>
            <a:r>
              <a:rPr lang="fr-BE" dirty="0"/>
              <a:t>Le dossier de révision du code chiffré </a:t>
            </a:r>
            <a:r>
              <a:rPr lang="fr-BE" sz="2400" dirty="0"/>
              <a:t>(DA facultative) </a:t>
            </a:r>
            <a:r>
              <a:rPr lang="fr-BE" dirty="0"/>
              <a:t>doit être à l’ONEm compétant </a:t>
            </a:r>
            <a:r>
              <a:rPr lang="fr-BE" b="1" dirty="0"/>
              <a:t>au plus tard à la fin du 36</a:t>
            </a:r>
            <a:r>
              <a:rPr lang="fr-BE" b="1" baseline="30000" dirty="0"/>
              <a:t>ème</a:t>
            </a:r>
            <a:r>
              <a:rPr lang="fr-BE" b="1" dirty="0"/>
              <a:t> mois qui suit le mois avec du CT</a:t>
            </a:r>
            <a:r>
              <a:rPr lang="fr-BE" dirty="0"/>
              <a:t>.</a:t>
            </a:r>
          </a:p>
          <a:p>
            <a:pPr marL="361950" indent="0">
              <a:spcBef>
                <a:spcPts val="600"/>
              </a:spcBef>
              <a:buNone/>
            </a:pPr>
            <a:r>
              <a:rPr lang="fr-BE" sz="2200" dirty="0"/>
              <a:t>Art. 92§5 de l’AM du 26.11.1991 </a:t>
            </a:r>
            <a:r>
              <a:rPr lang="fr-BE" sz="2200" u="sng" dirty="0"/>
              <a:t>pas</a:t>
            </a:r>
            <a:r>
              <a:rPr lang="fr-BE" sz="2200" dirty="0"/>
              <a:t> applicable.</a:t>
            </a:r>
          </a:p>
          <a:p>
            <a:pPr>
              <a:spcBef>
                <a:spcPts val="600"/>
              </a:spcBef>
              <a:buClrTx/>
              <a:buFont typeface="Wingdings" pitchFamily="2" charset="2"/>
              <a:buChar char="§"/>
            </a:pPr>
            <a:r>
              <a:rPr lang="fr-BE" dirty="0"/>
              <a:t>Le dossier changement de BC, DA après sanction, 65 ans et CT « FM » doit être au BC compétent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au plus tard à la fin du 2</a:t>
            </a:r>
            <a:r>
              <a:rPr lang="fr-BE" b="1" baseline="30000" dirty="0">
                <a:solidFill>
                  <a:schemeClr val="accent2">
                    <a:lumMod val="75000"/>
                  </a:schemeClr>
                </a:solidFill>
              </a:rPr>
              <a:t>ème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 mois suivant le mois de la DA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dirty="0"/>
              <a:t>Le dossier modification (situation familiale, activité,..)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au plus tard à la fin du mois suivant le mois avec du CT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>
              <a:spcBef>
                <a:spcPts val="600"/>
              </a:spcBef>
              <a:buClrTx/>
              <a:buFont typeface="Wingdings" pitchFamily="2" charset="2"/>
              <a:buChar char="§"/>
            </a:pPr>
            <a:endParaRPr lang="fr-BE" dirty="0"/>
          </a:p>
          <a:p>
            <a:pPr>
              <a:spcBef>
                <a:spcPts val="600"/>
              </a:spcBef>
              <a:buClrTx/>
              <a:buFont typeface="Wingdings" pitchFamily="2" charset="2"/>
              <a:buChar char="§"/>
            </a:pPr>
            <a:endParaRPr lang="fr-BE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99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pPr algn="r"/>
            <a:r>
              <a:rPr lang="fr-BE" sz="4000" b="1" i="1" dirty="0"/>
              <a:t>9. Jours indemnisables en CT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82000" y="1628800"/>
            <a:ext cx="8229600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fr-BE" i="1" u="sng" dirty="0"/>
              <a:t>Le travailleur ne peut bénéficier d’allocations de chômage temporaire que</a:t>
            </a:r>
            <a:r>
              <a:rPr lang="fr-BE" i="1" dirty="0"/>
              <a:t> :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fr-BE" sz="1400" i="1" u="sng" dirty="0"/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/>
              <a:t>Pour les jours habituels d’activité.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/>
              <a:t>Pour les heures habituellement prestées par jour.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/>
              <a:t>Pour les jours où l’intéressé n’a pas droit à une rémunération </a:t>
            </a:r>
            <a:r>
              <a:rPr lang="fr-BE" sz="2800" dirty="0"/>
              <a:t>(heures supplémentaires, repos compensatoire, jours fériés à charge de l’employeur).</a:t>
            </a:r>
            <a:endParaRPr lang="fr-FR" sz="2800" dirty="0"/>
          </a:p>
          <a:p>
            <a:pPr>
              <a:buFont typeface="Wingdings" pitchFamily="2" charset="2"/>
              <a:buChar char="ü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556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9. CT et jour férié …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3000" dirty="0"/>
              <a:t>Si le </a:t>
            </a:r>
            <a:r>
              <a:rPr lang="fr-BE" sz="3000" b="1" dirty="0"/>
              <a:t>jour férié</a:t>
            </a:r>
            <a:r>
              <a:rPr lang="fr-BE" sz="3000" dirty="0"/>
              <a:t> </a:t>
            </a:r>
            <a:r>
              <a:rPr lang="fr-BE" sz="3000" b="1" dirty="0"/>
              <a:t>est un samedi ou un dimanche</a:t>
            </a:r>
            <a:r>
              <a:rPr lang="fr-BE" sz="3000" dirty="0"/>
              <a:t>, il est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par défaut reporté au lundi qui suit</a:t>
            </a:r>
            <a:r>
              <a:rPr lang="fr-BE" sz="3000" dirty="0"/>
              <a:t>.</a:t>
            </a:r>
          </a:p>
          <a:p>
            <a:pPr marL="352425" indent="0">
              <a:spcBef>
                <a:spcPts val="0"/>
              </a:spcBef>
              <a:buSzPct val="100000"/>
              <a:buNone/>
            </a:pPr>
            <a:r>
              <a:rPr lang="fr-BE" sz="2000" dirty="0">
                <a:sym typeface="Wingdings" pitchFamily="2" charset="2"/>
              </a:rPr>
              <a:t></a:t>
            </a:r>
            <a:r>
              <a:rPr lang="fr-BE" sz="2800" dirty="0">
                <a:sym typeface="Wingdings" pitchFamily="2" charset="2"/>
              </a:rPr>
              <a:t> Le lundi n’est pas indemnisable en CT</a:t>
            </a:r>
            <a:r>
              <a:rPr lang="fr-BE" sz="2800" dirty="0"/>
              <a:t> sauf si la DRS wech 505 mentionne un report du jour férié à une autre date.</a:t>
            </a:r>
          </a:p>
          <a:p>
            <a:pPr marL="352425" indent="0">
              <a:spcBef>
                <a:spcPts val="0"/>
              </a:spcBef>
              <a:buSzPct val="100000"/>
              <a:buNone/>
            </a:pPr>
            <a:endParaRPr lang="fr-BE" sz="1400" dirty="0"/>
          </a:p>
          <a:p>
            <a:pPr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3000" dirty="0"/>
              <a:t>En </a:t>
            </a:r>
            <a:r>
              <a:rPr lang="fr-BE" sz="3000" b="1" dirty="0"/>
              <a:t>cas de report</a:t>
            </a:r>
            <a:r>
              <a:rPr lang="fr-BE" sz="3000" dirty="0"/>
              <a:t>, la </a:t>
            </a:r>
            <a:r>
              <a:rPr lang="fr-BE" sz="3000" b="1" dirty="0"/>
              <a:t>mention</a:t>
            </a:r>
            <a:r>
              <a:rPr lang="fr-BE" sz="3000" dirty="0"/>
              <a:t> doit être indiquée </a:t>
            </a:r>
            <a:r>
              <a:rPr lang="fr-BE" sz="3000" b="1" dirty="0"/>
              <a:t>dans la DRS wech 505 :</a:t>
            </a:r>
          </a:p>
          <a:p>
            <a:pPr lvl="1"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fr-BE" dirty="0"/>
              <a:t>Du mois où se situe le jour férié (initial), </a:t>
            </a:r>
            <a:r>
              <a:rPr lang="fr-BE" b="1" u="sng" dirty="0"/>
              <a:t>ET</a:t>
            </a:r>
          </a:p>
          <a:p>
            <a:pPr lvl="1"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fr-BE" dirty="0"/>
              <a:t>Du mois au cours duquel se situe le jour férié de remplacement.</a:t>
            </a:r>
            <a:endParaRPr lang="fr-FR" dirty="0"/>
          </a:p>
          <a:p>
            <a:pPr>
              <a:buSzPct val="80000"/>
              <a:buFont typeface="Wingdings" pitchFamily="2" charset="2"/>
              <a:buChar char="§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7679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10. Quelques tâches en lien avec le CT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</a:rPr>
              <a:t>« Adm. Automatique à redéterminer»:</a:t>
            </a:r>
            <a:r>
              <a:rPr lang="fr-FR" sz="2800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FR" sz="2500" dirty="0"/>
              <a:t>Révision du code chiffré à envisager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« Impact E-</a:t>
            </a:r>
            <a:r>
              <a:rPr lang="fr-BE" sz="2800" b="1" dirty="0" err="1">
                <a:solidFill>
                  <a:schemeClr val="accent2">
                    <a:lumMod val="75000"/>
                  </a:schemeClr>
                </a:solidFill>
              </a:rPr>
              <a:t>Tempora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 sur </a:t>
            </a:r>
            <a:r>
              <a:rPr lang="fr-BE" sz="2800" b="1" dirty="0" err="1">
                <a:solidFill>
                  <a:schemeClr val="accent2">
                    <a:lumMod val="75000"/>
                  </a:schemeClr>
                </a:solidFill>
              </a:rPr>
              <a:t>indemnisabilité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»: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BE" sz="2500" dirty="0"/>
              <a:t>réception d’un nouveau flux« E-</a:t>
            </a:r>
            <a:r>
              <a:rPr lang="fr-BE" sz="2500" dirty="0" err="1"/>
              <a:t>Tempora</a:t>
            </a:r>
            <a:r>
              <a:rPr lang="fr-BE" sz="2500" dirty="0"/>
              <a:t> » pour un portefeuille pour lequel la version précédente a un statut payé.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« Flux </a:t>
            </a:r>
            <a:r>
              <a:rPr lang="fr-BE" sz="2800" b="1" dirty="0" err="1">
                <a:solidFill>
                  <a:schemeClr val="accent2">
                    <a:lumMod val="75000"/>
                  </a:schemeClr>
                </a:solidFill>
              </a:rPr>
              <a:t>indem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 sans admissibilité »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BE" sz="2500" dirty="0"/>
              <a:t>Il n’y a pas de données « admissibilité » pour le flux reçu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« Contradiction dans le flux »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BE" sz="2500" dirty="0"/>
              <a:t>Il existe au moins une différence entre le flux reçu et l’admissibilité</a:t>
            </a:r>
            <a:endParaRPr lang="fr-FR" sz="2500" dirty="0"/>
          </a:p>
          <a:p>
            <a:pPr marL="0" indent="0">
              <a:spcBef>
                <a:spcPts val="0"/>
              </a:spcBef>
              <a:buNone/>
            </a:pPr>
            <a:endParaRPr lang="fr-FR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46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4" ma:contentTypeDescription="Crée un document." ma:contentTypeScope="" ma:versionID="f91216ef509c6a584f12053dcd624016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0302afb9b051af15bdd7c100f38d2307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51957FA-552E-4452-B410-8C2CC87524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C4C8FB4-D0A8-4998-BB37-F436BC4355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8B07C7-EFDF-4112-8E90-016EF931F64F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7d2a3af0-b854-4018-b3fb-98bf2b75e19a"/>
    <ds:schemaRef ds:uri="bdec1399-7c99-4025-bfb6-e1e799e6630a"/>
    <ds:schemaRef ds:uri="1e832426-6819-49af-b751-404cdfce1567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18893</TotalTime>
  <Words>4481</Words>
  <Application>Microsoft Office PowerPoint</Application>
  <PresentationFormat>Affichage à l'écran (4:3)</PresentationFormat>
  <Paragraphs>975</Paragraphs>
  <Slides>72</Slides>
  <Notes>68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72</vt:i4>
      </vt:variant>
    </vt:vector>
  </HeadingPairs>
  <TitlesOfParts>
    <vt:vector size="77" baseType="lpstr">
      <vt:lpstr>Arial</vt:lpstr>
      <vt:lpstr>Calibri</vt:lpstr>
      <vt:lpstr>Courier New</vt:lpstr>
      <vt:lpstr>Wingdings</vt:lpstr>
      <vt:lpstr>Thème Office</vt:lpstr>
      <vt:lpstr>Le chômage temporaire (niv.2) </vt:lpstr>
      <vt:lpstr>Table des matières</vt:lpstr>
      <vt:lpstr>Table des matières</vt:lpstr>
      <vt:lpstr>Table des matières</vt:lpstr>
      <vt:lpstr>1. Définition </vt:lpstr>
      <vt:lpstr>2. Motifs de suspension du contrat</vt:lpstr>
      <vt:lpstr>2.1. Manque de travail  résultant de causes économiques (E)</vt:lpstr>
      <vt:lpstr>2.1. Manque de travail … ?</vt:lpstr>
      <vt:lpstr>2.1. Possibilités</vt:lpstr>
      <vt:lpstr>2.2. Intempéries (I)</vt:lpstr>
      <vt:lpstr>2.3. Fermeture d’entreprise  pour vacances annuelles (V)</vt:lpstr>
      <vt:lpstr>2.3. Principe de base</vt:lpstr>
      <vt:lpstr>2.3. Période maximale</vt:lpstr>
      <vt:lpstr>2.4. Fermeture d’entreprise pour  repos compensatoire (R) </vt:lpstr>
      <vt:lpstr>2.4. Fermeture d’entreprise pour  repos compensatoire (R)</vt:lpstr>
      <vt:lpstr>2.5. Force majeure (F)</vt:lpstr>
      <vt:lpstr>2.5. Force majeure … ?</vt:lpstr>
      <vt:lpstr>2.6. Force majeure médicale… (FM)</vt:lpstr>
      <vt:lpstr>2.6. Procédure</vt:lpstr>
      <vt:lpstr>2.6. Procédure</vt:lpstr>
      <vt:lpstr>2.7. Accident technique (T)</vt:lpstr>
      <vt:lpstr>2.7. Accident technique … ?</vt:lpstr>
      <vt:lpstr>2.8. Grève / Lock-Out (G)</vt:lpstr>
      <vt:lpstr>2.8. Grève … ?</vt:lpstr>
      <vt:lpstr>2.9. Suspension Employé (SE)</vt:lpstr>
      <vt:lpstr>3. Obligations de l’employeur</vt:lpstr>
      <vt:lpstr>3.1. Notification</vt:lpstr>
      <vt:lpstr>3.1. Notification</vt:lpstr>
      <vt:lpstr>3.1. Jours assimilés  à une reprise du travail</vt:lpstr>
      <vt:lpstr>3.1. Jours assimilés  à une reprise du travail</vt:lpstr>
      <vt:lpstr>3.1. Jours non assimilés  à une reprise du travail</vt:lpstr>
      <vt:lpstr>3.1. Notification</vt:lpstr>
      <vt:lpstr>3.1. Notification</vt:lpstr>
      <vt:lpstr>3.1. Notification</vt:lpstr>
      <vt:lpstr>3.2. Communication</vt:lpstr>
      <vt:lpstr>Exemple</vt:lpstr>
      <vt:lpstr>3.2. Communication</vt:lpstr>
      <vt:lpstr>3.2. Principes de communication</vt:lpstr>
      <vt:lpstr>3.2. Principes de communication</vt:lpstr>
      <vt:lpstr>Exemples</vt:lpstr>
      <vt:lpstr>3.2. Principes de communication</vt:lpstr>
      <vt:lpstr>3.2. Principes de communication</vt:lpstr>
      <vt:lpstr>Exemples </vt:lpstr>
      <vt:lpstr>Exemples</vt:lpstr>
      <vt:lpstr>3.2. Communication</vt:lpstr>
      <vt:lpstr>3.3. Délivrance des formulaires</vt:lpstr>
      <vt:lpstr>3.4. Ouvriers intérimaires</vt:lpstr>
      <vt:lpstr>3.4. Employés intérimaires</vt:lpstr>
      <vt:lpstr>4. Obligations du travailleur</vt:lpstr>
      <vt:lpstr>4. Obligations du travailleur</vt:lpstr>
      <vt:lpstr>4. Obligations du travailleur</vt:lpstr>
      <vt:lpstr>4. Obligations du travailleur</vt:lpstr>
      <vt:lpstr>5. DA chômage temporaire</vt:lpstr>
      <vt:lpstr>5.1. Admissibilité CT</vt:lpstr>
      <vt:lpstr>5.2. DA facultative en CT</vt:lpstr>
      <vt:lpstr>Exemple </vt:lpstr>
      <vt:lpstr>5.3. Autres DA en CT</vt:lpstr>
      <vt:lpstr>5.4. Quelques Particularités</vt:lpstr>
      <vt:lpstr>5.4. Quelques Particularités</vt:lpstr>
      <vt:lpstr>5.4. Quelques particularités</vt:lpstr>
      <vt:lpstr>5.4. Quelques particularités</vt:lpstr>
      <vt:lpstr>5.5. Divers</vt:lpstr>
      <vt:lpstr>6. Code chiffré</vt:lpstr>
      <vt:lpstr>6. Révision du code chiffré</vt:lpstr>
      <vt:lpstr>6. Révision du code chiffré Exceptions …</vt:lpstr>
      <vt:lpstr>6. Révision du code chiffré</vt:lpstr>
      <vt:lpstr>Exemple </vt:lpstr>
      <vt:lpstr>7. Composition du dossier</vt:lpstr>
      <vt:lpstr>8. Délais d’introduction</vt:lpstr>
      <vt:lpstr>9. Jours indemnisables en CT</vt:lpstr>
      <vt:lpstr>9. CT et jour férié …</vt:lpstr>
      <vt:lpstr>10. Quelques tâches en lien avec le CT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FCJ-M28-Chômage temporaire (niv.2)-FLT</dc:title>
  <dc:creator>u69lcr</dc:creator>
  <cp:lastModifiedBy>Anja Sobkowiak</cp:lastModifiedBy>
  <cp:revision>1169</cp:revision>
  <cp:lastPrinted>2014-03-26T14:02:55Z</cp:lastPrinted>
  <dcterms:created xsi:type="dcterms:W3CDTF">2010-09-22T12:12:06Z</dcterms:created>
  <dcterms:modified xsi:type="dcterms:W3CDTF">2023-01-20T07:51:38Z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0x010100BD8C07EE20480F44AE4960B9D2A32DA0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</vt:lpwstr>
  </property>
  <property fmtid="{D5CDD505-2E9C-101B-9397-08002B2CF9AE}" pid="7" name="Thème">
    <vt:lpwstr>37;#Chômage temporaire|7b2624e8-8dec-460e-9e20-29cc90b874f4</vt:lpwstr>
  </property>
  <property fmtid="{D5CDD505-2E9C-101B-9397-08002B2CF9AE}" pid="8" name="_dlc_DocIdItemGuid">
    <vt:lpwstr>48fcc146-dcde-4b63-9b55-fc064416bbb7</vt:lpwstr>
  </property>
  <property fmtid="{D5CDD505-2E9C-101B-9397-08002B2CF9AE}" pid="9" name="AuthorIds_UIVersion_2048">
    <vt:lpwstr>19</vt:lpwstr>
  </property>
  <property fmtid="{D5CDD505-2E9C-101B-9397-08002B2CF9AE}" pid="10" name="AuthorIds_UIVersion_2560">
    <vt:lpwstr>19</vt:lpwstr>
  </property>
</Properties>
</file>