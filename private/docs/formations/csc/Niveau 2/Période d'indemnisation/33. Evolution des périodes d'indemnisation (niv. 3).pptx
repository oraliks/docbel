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  <p:sldMasterId id="2147483660" r:id="rId5"/>
    <p:sldMasterId id="2147483672" r:id="rId6"/>
    <p:sldMasterId id="2147483684" r:id="rId7"/>
  </p:sldMasterIdLst>
  <p:notesMasterIdLst>
    <p:notesMasterId r:id="rId46"/>
  </p:notesMasterIdLst>
  <p:handoutMasterIdLst>
    <p:handoutMasterId r:id="rId47"/>
  </p:handoutMasterIdLst>
  <p:sldIdLst>
    <p:sldId id="284" r:id="rId8"/>
    <p:sldId id="460" r:id="rId9"/>
    <p:sldId id="604" r:id="rId10"/>
    <p:sldId id="605" r:id="rId11"/>
    <p:sldId id="336" r:id="rId12"/>
    <p:sldId id="583" r:id="rId13"/>
    <p:sldId id="584" r:id="rId14"/>
    <p:sldId id="486" r:id="rId15"/>
    <p:sldId id="585" r:id="rId16"/>
    <p:sldId id="586" r:id="rId17"/>
    <p:sldId id="587" r:id="rId18"/>
    <p:sldId id="588" r:id="rId19"/>
    <p:sldId id="589" r:id="rId20"/>
    <p:sldId id="590" r:id="rId21"/>
    <p:sldId id="591" r:id="rId22"/>
    <p:sldId id="592" r:id="rId23"/>
    <p:sldId id="593" r:id="rId24"/>
    <p:sldId id="594" r:id="rId25"/>
    <p:sldId id="595" r:id="rId26"/>
    <p:sldId id="596" r:id="rId27"/>
    <p:sldId id="379" r:id="rId28"/>
    <p:sldId id="597" r:id="rId29"/>
    <p:sldId id="598" r:id="rId30"/>
    <p:sldId id="599" r:id="rId31"/>
    <p:sldId id="600" r:id="rId32"/>
    <p:sldId id="601" r:id="rId33"/>
    <p:sldId id="382" r:id="rId34"/>
    <p:sldId id="398" r:id="rId35"/>
    <p:sldId id="602" r:id="rId36"/>
    <p:sldId id="603" r:id="rId37"/>
    <p:sldId id="510" r:id="rId38"/>
    <p:sldId id="609" r:id="rId39"/>
    <p:sldId id="610" r:id="rId40"/>
    <p:sldId id="611" r:id="rId41"/>
    <p:sldId id="612" r:id="rId42"/>
    <p:sldId id="613" r:id="rId43"/>
    <p:sldId id="606" r:id="rId44"/>
    <p:sldId id="607" r:id="rId45"/>
  </p:sldIdLst>
  <p:sldSz cx="9144000" cy="6858000" type="screen4x3"/>
  <p:notesSz cx="6669088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66FF66"/>
    <a:srgbClr val="669900"/>
    <a:srgbClr val="FF9933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53" autoAdjust="0"/>
    <p:restoredTop sz="94249" autoAdjust="0"/>
  </p:normalViewPr>
  <p:slideViewPr>
    <p:cSldViewPr>
      <p:cViewPr varScale="1">
        <p:scale>
          <a:sx n="102" d="100"/>
          <a:sy n="102" d="100"/>
        </p:scale>
        <p:origin x="17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48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" userId="7f76af53-32f2-4907-b707-590db301fc0c" providerId="ADAL" clId="{38C244AC-20A2-4134-B93C-6058A2A732C1}"/>
    <pc:docChg chg="modSld">
      <pc:chgData name="Anja" userId="7f76af53-32f2-4907-b707-590db301fc0c" providerId="ADAL" clId="{38C244AC-20A2-4134-B93C-6058A2A732C1}" dt="2022-11-28T14:09:28.676" v="0" actId="1076"/>
      <pc:docMkLst>
        <pc:docMk/>
      </pc:docMkLst>
      <pc:sldChg chg="modSp mod">
        <pc:chgData name="Anja" userId="7f76af53-32f2-4907-b707-590db301fc0c" providerId="ADAL" clId="{38C244AC-20A2-4134-B93C-6058A2A732C1}" dt="2022-11-28T14:09:28.676" v="0" actId="1076"/>
        <pc:sldMkLst>
          <pc:docMk/>
          <pc:sldMk cId="4040423934" sldId="584"/>
        </pc:sldMkLst>
        <pc:graphicFrameChg chg="mod">
          <ac:chgData name="Anja" userId="7f76af53-32f2-4907-b707-590db301fc0c" providerId="ADAL" clId="{38C244AC-20A2-4134-B93C-6058A2A732C1}" dt="2022-11-28T14:09:28.676" v="0" actId="1076"/>
          <ac:graphicFrameMkLst>
            <pc:docMk/>
            <pc:sldMk cId="4040423934" sldId="584"/>
            <ac:graphicFrameMk id="5" creationId="{9E34D6DB-AC65-42D7-8798-16BA3E499AD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28/11/2022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377317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9475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28/11/2022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689517"/>
            <a:ext cx="5335270" cy="4442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377317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76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878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666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847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i="0" baseline="0" noProof="0" dirty="0">
              <a:latin typeface="+mn-lt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98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/>
              <a:buNone/>
            </a:pPr>
            <a:endParaRPr lang="fr-BE" sz="1100" i="1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437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247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/>
              <a:buNone/>
            </a:pPr>
            <a:endParaRPr lang="fr-BE" sz="1100" i="1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163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423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341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65188" y="739775"/>
            <a:ext cx="4938712" cy="370363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879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65188" y="739775"/>
            <a:ext cx="4938712" cy="370363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491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65188" y="739775"/>
            <a:ext cx="4938712" cy="370363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765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65188" y="739775"/>
            <a:ext cx="4938712" cy="370363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2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65188" y="739775"/>
            <a:ext cx="4938712" cy="370363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245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BE29-6DEB-46ED-A5C9-5D602CD07B49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9494-69DF-42AD-9B3E-68C96E544C83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F0BB-30BE-41B7-A190-55DA2922192C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1DC1-3B84-4403-BA21-DBD65B602BDF}" type="datetime1">
              <a:rPr lang="fr-FR" smtClean="0"/>
              <a:t>28/11/2022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F4A5-EC15-48B1-B10C-98698B1703F6}" type="datetime1">
              <a:rPr lang="fr-FR" smtClean="0"/>
              <a:t>28/11/2022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1E6-418C-4E1A-8FD9-CC68F23B3B7B}" type="datetime1">
              <a:rPr lang="fr-FR" smtClean="0"/>
              <a:t>28/11/2022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D280-8B40-4ABA-8637-85F89BEFC879}" type="datetime1">
              <a:rPr lang="fr-FR" smtClean="0"/>
              <a:t>28/11/2022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D5AF0-236F-4CDC-9159-A3CF9D431DA0}" type="datetime1">
              <a:rPr lang="fr-FR" smtClean="0"/>
              <a:t>28/11/2022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8523-75AA-42C5-8F58-5631083F8021}" type="datetime1">
              <a:rPr lang="fr-FR" smtClean="0"/>
              <a:t>28/11/2022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E18C-A24F-4E68-B43E-714392E98DE6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E36D-E801-4ECE-A080-E222A08A7309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F7BFF-B6B3-48E2-9391-5F67139290ED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2120398"/>
      </p:ext>
    </p:extLst>
  </p:cSld>
  <p:clrMapOvr>
    <a:masterClrMapping/>
  </p:clrMapOvr>
  <p:transition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0E33-632C-477B-AE10-5BB5E093E4EB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7009312"/>
      </p:ext>
    </p:extLst>
  </p:cSld>
  <p:clrMapOvr>
    <a:masterClrMapping/>
  </p:clrMapOvr>
  <p:transition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92DC-28CD-444E-90ED-50F802A1D27B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9805365"/>
      </p:ext>
    </p:extLst>
  </p:cSld>
  <p:clrMapOvr>
    <a:masterClrMapping/>
  </p:clrMapOvr>
  <p:transition>
    <p:dissolv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04FCA-1BE9-4E96-B7A0-3D905B435E20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853188"/>
      </p:ext>
    </p:extLst>
  </p:cSld>
  <p:clrMapOvr>
    <a:masterClrMapping/>
  </p:clrMapOvr>
  <p:transition>
    <p:dissolv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8569-3027-4056-94C5-1E1286D3B9FB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8397762"/>
      </p:ext>
    </p:extLst>
  </p:cSld>
  <p:clrMapOvr>
    <a:masterClrMapping/>
  </p:clrMapOvr>
  <p:transition>
    <p:dissolv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1CD4F-431F-47DD-8170-32D81C707487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085835"/>
      </p:ext>
    </p:extLst>
  </p:cSld>
  <p:clrMapOvr>
    <a:masterClrMapping/>
  </p:clrMapOvr>
  <p:transition>
    <p:dissolv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29-3440-47DB-9F68-D2FAA97FEAD0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5485780"/>
      </p:ext>
    </p:extLst>
  </p:cSld>
  <p:clrMapOvr>
    <a:masterClrMapping/>
  </p:clrMapOvr>
  <p:transition>
    <p:dissolv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02F-5D2C-4253-9F95-1446BF2FE2D9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896228"/>
      </p:ext>
    </p:extLst>
  </p:cSld>
  <p:clrMapOvr>
    <a:masterClrMapping/>
  </p:clrMapOvr>
  <p:transition>
    <p:dissolv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CC10F-3344-4E2D-9946-E757DDBE8BCF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5178232"/>
      </p:ext>
    </p:extLst>
  </p:cSld>
  <p:clrMapOvr>
    <a:masterClrMapping/>
  </p:clrMapOvr>
  <p:transition>
    <p:dissolv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30DA-4453-4120-B0A6-3279F6F0A488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4427680"/>
      </p:ext>
    </p:extLst>
  </p:cSld>
  <p:clrMapOvr>
    <a:masterClrMapping/>
  </p:clrMapOvr>
  <p:transition>
    <p:dissolv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FD8A-E33D-4DD5-9F62-82138F6306A8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377612"/>
      </p:ext>
    </p:extLst>
  </p:cSld>
  <p:clrMapOvr>
    <a:masterClrMapping/>
  </p:clrMapOvr>
  <p:transition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35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992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373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190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11/28/2022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1606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11/28/2022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90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11/28/2022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89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584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997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994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649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CAA92-344E-4996-AE9E-9AABFDDB5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E9CD1B-C9A2-43EC-BB7C-98F346A21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A625E4-9C36-471C-8C38-04EFFAD7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22B89A-BE6E-4992-B62B-D44A3235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A3004-A3B8-40F0-AD9F-EBE1D574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694415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0EF07-C4AB-473F-A52C-C903C75E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896C54-1AF3-4E64-823C-A9AD10388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8B79F5-1C62-48EA-BD39-42F8E1939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7EF0A4-2F3E-4FC9-B4B7-372C6BAA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14B84D-62A5-4D49-BF11-8F9AF7F9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173873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476F58-C650-4B61-ADC0-1AFAE55A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BB6753-3692-486F-A700-AABF3F41E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7709C1-D458-40D8-A865-755C4AF7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495CE-B812-4A6F-9F21-E5FF66D69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C19DFD-A1F0-4096-B1AF-C0979691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8623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2A0FB0-7A0D-4B43-9ED9-2C5EBC36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558D76-E976-40A0-8597-A9FFE76FD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3B21F9-4439-4DBC-A4D6-0AA6C70BB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A010BE-5870-4ECC-A32B-E8450F1B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086D2F-CA82-4D7F-B34D-6BFDE6F8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347402-6728-470F-81BB-FA392F14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85880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1B8EB0-7039-4540-AA51-B939FFD4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CFD456-A15A-426C-A569-C92356CBE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E21455-9438-4F13-BB51-91DF551ED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86D3CFC-8B56-4BD2-9F76-5C28FADE4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0C0724F-E7AB-49B5-B1FB-509B1EA52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E2FBB94-6F32-426E-9DCA-1324CAB9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061A290-BDF2-4E02-B5D7-88D56EECB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A83108-B69C-4C20-8199-EED727D3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81540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7D480-AD84-494F-8F45-1EA6A799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FDEF546-A74C-45DE-AA44-B53FEE47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FEB2DA-F976-4909-964F-261133F6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9ED182-0AE1-461A-8D5B-E3F1D2C4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23687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CAFC7A0-F166-4DC1-8BC8-B4CFB04E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925A2AF-2123-43ED-AB07-E31A8A88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189B4F-C201-4D8B-BD20-D07BD41B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203183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A539C7-8700-4F9D-8754-F5C9C0E4C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BF78D3-D91B-4367-AB06-15D982221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B061F70-FF9F-4222-95B4-D0609637D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DD9D389-9071-47E9-91F9-824CC5D8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F2E085-91D5-4636-9509-95F1B1EE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7364BB-C0EB-4A92-B67A-DAF471E7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116141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55F47-1A9F-4384-8E03-70F4C1B1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8DC501-79FC-41EF-9674-A4B2ABFAC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E71CB1-A2C7-4556-9C9E-73749016A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9B98EB-6736-46DC-A9CA-8F8ECF72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EEB8A6-3B3C-46A3-B875-6245F436F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F8C6F5-6032-42C2-AC9C-D45BB344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923802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D8FF1-CC2F-4755-8287-F10DF246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AB2267-FB28-4CC2-9481-D4CACE4E7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CFC624-2075-44F7-99FE-A1957936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AE499A-5E71-4C21-827C-085DCA35F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912CE2-2289-4877-A739-16AAEF56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844187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543F890-9AF7-47AF-8C48-E9CF79F31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DF47DC6-38C6-4358-B30B-91F6E3C28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1CC560-5F97-4E29-8296-68D1486F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C9CB9C-87C3-4F17-8DD0-50885C87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149A39-5215-4CF6-9F53-4741F734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8181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C7055-96EF-4CFC-967C-7CE7AF507163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8E2F7-9424-40E1-B417-0C4E4FAE2E5D}" type="datetime1">
              <a:rPr lang="fr-FR" smtClean="0"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288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4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5F6EDD-D09A-4C56-8D07-9374E95D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A6AFDE-4BC8-4B25-BDA5-8C0DA57C9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9DC1D8-069C-464E-8BFD-A0FACEB6A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D9023-170C-47F5-8BFE-47E17B982421}" type="datetimeFigureOut">
              <a:rPr lang="fr-BE" smtClean="0"/>
              <a:t>28/11/2022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9210E8-FDB7-4BC2-B824-118340EC3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ED8829-D509-42C2-8665-CD295DABD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F5B76-6F26-482C-A21A-337412C98A0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8834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5400" b="1" i="1" dirty="0">
                <a:cs typeface="Times New Roman" pitchFamily="18" charset="0"/>
              </a:rPr>
              <a:t>Evolution des périodes d’indemnisation</a:t>
            </a:r>
            <a:br>
              <a:rPr lang="fr-FR" sz="5400" b="1" i="1" dirty="0">
                <a:cs typeface="Times New Roman" pitchFamily="18" charset="0"/>
              </a:rPr>
            </a:br>
            <a:r>
              <a:rPr lang="fr-FR" b="1" i="1" dirty="0">
                <a:cs typeface="Times New Roman" pitchFamily="18" charset="0"/>
              </a:rPr>
              <a:t>(niveau 3)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Sous-titre 3">
            <a:extLst>
              <a:ext uri="{FF2B5EF4-FFF2-40B4-BE49-F238E27FC236}">
                <a16:creationId xmlns:a16="http://schemas.microsoft.com/office/drawing/2014/main" id="{ED75D627-CCE1-426C-82F5-5BCBD7D9B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564" y="3861048"/>
            <a:ext cx="7848872" cy="1752600"/>
          </a:xfrm>
        </p:spPr>
        <p:txBody>
          <a:bodyPr anchor="ctr">
            <a:normAutofit/>
          </a:bodyPr>
          <a:lstStyle/>
          <a:p>
            <a:r>
              <a:rPr lang="fr-BE" sz="4800" b="1" i="1" dirty="0">
                <a:solidFill>
                  <a:schemeClr val="accent2">
                    <a:lumMod val="75000"/>
                  </a:schemeClr>
                </a:solidFill>
              </a:rPr>
              <a:t>Art. 116 </a:t>
            </a:r>
            <a:r>
              <a:rPr lang="fr-BE" sz="4800" b="1" i="1" dirty="0">
                <a:solidFill>
                  <a:schemeClr val="tx1"/>
                </a:solidFill>
              </a:rPr>
              <a:t>de l’</a:t>
            </a:r>
            <a:r>
              <a:rPr lang="fr-BE" sz="4800" b="1" i="1" dirty="0">
                <a:solidFill>
                  <a:schemeClr val="accent2">
                    <a:lumMod val="75000"/>
                  </a:schemeClr>
                </a:solidFill>
              </a:rPr>
              <a:t>AR</a:t>
            </a:r>
            <a:r>
              <a:rPr lang="fr-BE" sz="4800" b="1" i="1" dirty="0">
                <a:solidFill>
                  <a:schemeClr val="tx1"/>
                </a:solidFill>
              </a:rPr>
              <a:t> du 25.11.1991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Table des matières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sz="2200" b="1" i="1" dirty="0"/>
              <a:t>1. Rappel	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200" b="1" i="1" dirty="0"/>
              <a:t>2. Le retour en 1</a:t>
            </a:r>
            <a:r>
              <a:rPr lang="fr-BE" sz="2200" b="1" i="1" baseline="30000" dirty="0"/>
              <a:t>ère</a:t>
            </a:r>
            <a:r>
              <a:rPr lang="fr-BE" sz="2200" b="1" i="1" dirty="0"/>
              <a:t> période 					</a:t>
            </a:r>
            <a:r>
              <a:rPr lang="fr-BE" sz="2000" b="1" i="1" dirty="0" err="1"/>
              <a:t>pg</a:t>
            </a:r>
            <a:r>
              <a:rPr lang="fr-BE" sz="2000" b="1" i="1" dirty="0"/>
              <a:t>. 4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400" b="1" i="1" dirty="0"/>
              <a:t>     	</a:t>
            </a:r>
            <a:r>
              <a:rPr lang="fr-BE" sz="2000" b="1" i="1" dirty="0"/>
              <a:t>Conditions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6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 i="1" dirty="0"/>
              <a:t>	Calcul DMFA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11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 i="1" dirty="0"/>
              <a:t>	Limitation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12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 i="1" dirty="0"/>
              <a:t>	Retour relatif et retour absolu				</a:t>
            </a:r>
            <a:r>
              <a:rPr lang="fr-BE" sz="2000" b="1" i="1" dirty="0" err="1"/>
              <a:t>pg</a:t>
            </a:r>
            <a:r>
              <a:rPr lang="fr-BE" sz="2000" b="1" i="1" dirty="0"/>
              <a:t>. 13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200" b="1" i="1" dirty="0"/>
              <a:t>3. La prolongation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21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400" b="1" i="1" dirty="0"/>
              <a:t>	</a:t>
            </a:r>
            <a:r>
              <a:rPr lang="fr-BE" sz="2000" b="1" i="1" dirty="0"/>
              <a:t>Conditions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22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 i="1" dirty="0"/>
              <a:t>	Calcul DMFA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25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000" b="1" i="1" dirty="0"/>
              <a:t>	Limitation 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26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200" b="1" i="1" dirty="0"/>
              <a:t>4. La fixation temporaire					</a:t>
            </a:r>
            <a:r>
              <a:rPr lang="fr-BE" sz="2000" b="1" i="1" dirty="0" err="1"/>
              <a:t>pg</a:t>
            </a:r>
            <a:r>
              <a:rPr lang="fr-BE" sz="2000" b="1" i="1" dirty="0"/>
              <a:t>. 28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200" b="1" i="1" dirty="0"/>
              <a:t>5. Mesures Corona						</a:t>
            </a:r>
            <a:r>
              <a:rPr lang="fr-BE" sz="2000" b="1" i="1" dirty="0" err="1"/>
              <a:t>pg</a:t>
            </a:r>
            <a:r>
              <a:rPr lang="fr-BE" sz="2000" b="1" i="1" dirty="0"/>
              <a:t>. 31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200" b="1" i="1" dirty="0"/>
              <a:t>6. Complément d’ancienneté					</a:t>
            </a:r>
            <a:r>
              <a:rPr lang="fr-BE" sz="2000" b="1" i="1" dirty="0" err="1"/>
              <a:t>pg</a:t>
            </a:r>
            <a:r>
              <a:rPr lang="fr-BE" sz="2000" b="1" i="1" dirty="0"/>
              <a:t>. 33</a:t>
            </a:r>
          </a:p>
          <a:p>
            <a:pPr marL="0" indent="0">
              <a:spcBef>
                <a:spcPts val="0"/>
              </a:spcBef>
              <a:buNone/>
            </a:pPr>
            <a:endParaRPr lang="fr-BE" sz="2000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04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DFC826-8B46-4305-BE2B-2B732B60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B57629-0612-4A12-B274-D3E74A0EB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fr-BE" dirty="0"/>
              <a:t>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fixation</a:t>
            </a:r>
            <a:r>
              <a:rPr lang="fr-BE" dirty="0"/>
              <a:t> des périodes d’indemnisation </a:t>
            </a:r>
            <a:r>
              <a:rPr lang="fr-BE" sz="2800" dirty="0"/>
              <a:t>(Art. 114)</a:t>
            </a:r>
            <a:r>
              <a:rPr lang="fr-BE" dirty="0"/>
              <a:t> peut être envisagée sur base de </a:t>
            </a:r>
            <a:r>
              <a:rPr lang="fr-BE" b="1" dirty="0"/>
              <a:t>3 éléments</a:t>
            </a:r>
            <a:r>
              <a:rPr lang="fr-BE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Passé professionnel qualifié de suffisant 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PP+ de 25 ans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Inaptitude permanente au travail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≥ 33%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L’âge 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55 </a:t>
            </a:r>
            <a:r>
              <a:rPr lang="fr-BE" dirty="0"/>
              <a:t>ans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0C9459-47A5-482F-9FD9-09E2FA563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C9F9C074-6232-4467-9C32-6A3AAD2B7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828364"/>
              </p:ext>
            </p:extLst>
          </p:nvPr>
        </p:nvGraphicFramePr>
        <p:xfrm>
          <a:off x="971600" y="4797152"/>
          <a:ext cx="7056784" cy="15591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80000">
                  <a:extLst>
                    <a:ext uri="{9D8B030D-6E8A-4147-A177-3AD203B41FA5}">
                      <a16:colId xmlns:a16="http://schemas.microsoft.com/office/drawing/2014/main" val="4058050617"/>
                    </a:ext>
                  </a:extLst>
                </a:gridCol>
                <a:gridCol w="1162617">
                  <a:extLst>
                    <a:ext uri="{9D8B030D-6E8A-4147-A177-3AD203B41FA5}">
                      <a16:colId xmlns:a16="http://schemas.microsoft.com/office/drawing/2014/main" val="2437857054"/>
                    </a:ext>
                  </a:extLst>
                </a:gridCol>
                <a:gridCol w="1189346">
                  <a:extLst>
                    <a:ext uri="{9D8B030D-6E8A-4147-A177-3AD203B41FA5}">
                      <a16:colId xmlns:a16="http://schemas.microsoft.com/office/drawing/2014/main" val="2440636890"/>
                    </a:ext>
                  </a:extLst>
                </a:gridCol>
                <a:gridCol w="1268635">
                  <a:extLst>
                    <a:ext uri="{9D8B030D-6E8A-4147-A177-3AD203B41FA5}">
                      <a16:colId xmlns:a16="http://schemas.microsoft.com/office/drawing/2014/main" val="4288726753"/>
                    </a:ext>
                  </a:extLst>
                </a:gridCol>
                <a:gridCol w="1956186">
                  <a:extLst>
                    <a:ext uri="{9D8B030D-6E8A-4147-A177-3AD203B41FA5}">
                      <a16:colId xmlns:a16="http://schemas.microsoft.com/office/drawing/2014/main" val="3851928477"/>
                    </a:ext>
                  </a:extLst>
                </a:gridCol>
              </a:tblGrid>
              <a:tr h="385781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SUFFIXE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PP+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33 %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55 ans 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Art. d’</a:t>
                      </a:r>
                      <a:r>
                        <a:rPr lang="fr-BE" sz="1600" dirty="0" err="1">
                          <a:solidFill>
                            <a:schemeClr val="tx1"/>
                          </a:solidFill>
                        </a:rPr>
                        <a:t>indem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409016"/>
                  </a:ext>
                </a:extLst>
              </a:tr>
              <a:tr h="391139">
                <a:tc>
                  <a:txBody>
                    <a:bodyPr/>
                    <a:lstStyle/>
                    <a:p>
                      <a:pPr algn="ctr"/>
                      <a:r>
                        <a:rPr lang="fr-BE" sz="1600" b="1" dirty="0"/>
                        <a:t>PP +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FIX1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06770"/>
                  </a:ext>
                </a:extLst>
              </a:tr>
              <a:tr h="391139">
                <a:tc>
                  <a:txBody>
                    <a:bodyPr/>
                    <a:lstStyle/>
                    <a:p>
                      <a:pPr algn="ctr"/>
                      <a:r>
                        <a:rPr lang="fr-BE" sz="1600" b="1" dirty="0"/>
                        <a:t>33 %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FIX2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544309"/>
                  </a:ext>
                </a:extLst>
              </a:tr>
              <a:tr h="391139">
                <a:tc>
                  <a:txBody>
                    <a:bodyPr/>
                    <a:lstStyle/>
                    <a:p>
                      <a:pPr algn="ctr"/>
                      <a:r>
                        <a:rPr lang="fr-BE" sz="1600" b="1" dirty="0"/>
                        <a:t>55 ans 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dirty="0"/>
                        <a:t>FIX3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633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43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7D4583-4F00-4A06-BB8B-C44DF599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F57FA9-5CD7-45D2-9FF1-6C2850798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fr-BE" sz="3000" dirty="0"/>
              <a:t>Le passé professionnel est justifié via l’introduction du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flux L710</a:t>
            </a:r>
          </a:p>
          <a:p>
            <a:r>
              <a:rPr lang="fr-BE" sz="3000" dirty="0"/>
              <a:t>La reconnaissance de l’inaptitude permanente au travail </a:t>
            </a:r>
            <a:r>
              <a:rPr lang="fr-BE" sz="3000" b="1" dirty="0"/>
              <a:t>≥ 33 % </a:t>
            </a:r>
            <a:r>
              <a:rPr lang="fr-BE" sz="3000" dirty="0"/>
              <a:t>est demandée via l’introduction du formulaire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C47 </a:t>
            </a:r>
            <a:r>
              <a:rPr lang="fr-BE" sz="3000" dirty="0"/>
              <a:t>auquel est joint un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certificat médical</a:t>
            </a:r>
            <a:r>
              <a:rPr lang="fr-BE" sz="3000" dirty="0"/>
              <a:t> qui atteste de l’inaptitude permanente au travail </a:t>
            </a:r>
            <a:r>
              <a:rPr lang="fr-BE" sz="2800" dirty="0"/>
              <a:t>(l’indication du taux d’inaptitude n’est pas obligatoire). </a:t>
            </a:r>
            <a:endParaRPr lang="fr-BE" sz="28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1AD833-4F33-4C85-901E-A8F82FE6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65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FR" b="1" i="1" dirty="0">
                <a:solidFill>
                  <a:prstClr val="black"/>
                </a:solidFill>
                <a:cs typeface="Times New Roman" pitchFamily="18" charset="0"/>
              </a:rPr>
              <a:t>1. Rappel</a:t>
            </a:r>
            <a:endParaRPr lang="en-US" b="1" i="1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>
                <a:latin typeface="+mj-lt"/>
                <a:cs typeface="Times New Roman" pitchFamily="18" charset="0"/>
              </a:rPr>
              <a:t>L’évolution des périodes d’indemnisation peut-être influencée par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+mj-lt"/>
                <a:cs typeface="Times New Roman" pitchFamily="18" charset="0"/>
              </a:rPr>
              <a:t> Un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retour en 1</a:t>
            </a:r>
            <a:r>
              <a:rPr lang="fr-FR" b="1" baseline="3000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ère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 période </a:t>
            </a:r>
            <a:r>
              <a:rPr lang="fr-FR" dirty="0">
                <a:latin typeface="+mj-lt"/>
                <a:cs typeface="Times New Roman" pitchFamily="18" charset="0"/>
              </a:rPr>
              <a:t>d’indemnisation :</a:t>
            </a:r>
          </a:p>
          <a:p>
            <a:pPr marL="441325" indent="0">
              <a:buNone/>
            </a:pPr>
            <a:r>
              <a:rPr lang="fr-FR" sz="2600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fr-FR" sz="3200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FR" sz="3200" dirty="0">
                <a:latin typeface="+mj-lt"/>
                <a:cs typeface="Times New Roman" pitchFamily="18" charset="0"/>
              </a:rPr>
              <a:t>Droit à un nouveau cycle à 65 %.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>
                <a:latin typeface="+mj-lt"/>
                <a:cs typeface="Times New Roman" pitchFamily="18" charset="0"/>
              </a:rPr>
              <a:t> Une 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prolongation</a:t>
            </a:r>
            <a:r>
              <a:rPr lang="fr-FR" sz="3200" dirty="0">
                <a:latin typeface="+mj-lt"/>
                <a:cs typeface="Times New Roman" pitchFamily="18" charset="0"/>
              </a:rPr>
              <a:t> des périodes d’indemnisation :</a:t>
            </a:r>
          </a:p>
          <a:p>
            <a:pPr marL="457200" lvl="1" indent="0">
              <a:buNone/>
            </a:pPr>
            <a:r>
              <a:rPr lang="fr-FR" sz="2600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fr-FR" sz="3200" dirty="0">
                <a:latin typeface="+mj-lt"/>
                <a:cs typeface="Times New Roman" pitchFamily="18" charset="0"/>
              </a:rPr>
              <a:t>Postposer la prise de cours des phases suivantes.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+mj-lt"/>
                <a:cs typeface="Times New Roman" pitchFamily="18" charset="0"/>
              </a:rPr>
              <a:t> Une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fixation temporaire </a:t>
            </a:r>
            <a:r>
              <a:rPr lang="fr-FR" dirty="0">
                <a:latin typeface="+mj-lt"/>
                <a:cs typeface="Times New Roman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fr-FR" sz="2600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fr-FR" sz="3200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FR" sz="3200" dirty="0">
                <a:latin typeface="+mj-lt"/>
                <a:cs typeface="Times New Roman" pitchFamily="18" charset="0"/>
              </a:rPr>
              <a:t>Maintien de la phase en cours au début de l'événement.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31F61C-0594-4049-B328-C2C8D03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Le retour en 1</a:t>
            </a:r>
            <a:r>
              <a:rPr lang="fr-BE" b="1" i="1" baseline="30000" dirty="0"/>
              <a:t>ère</a:t>
            </a:r>
            <a:r>
              <a:rPr lang="fr-BE" b="1" i="1" dirty="0"/>
              <a:t> période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80076B-19D6-42D6-8204-72083A124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r>
              <a:rPr lang="fr-BE" dirty="0"/>
              <a:t>Le retour ne peut être envisagé que dans le cadre d’une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DA obligatoire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Interruption d’au moins 28 jours calendrier dans le paiement du CC</a:t>
            </a:r>
          </a:p>
          <a:p>
            <a:pPr marL="457200" lvl="1" indent="0">
              <a:buNone/>
            </a:pPr>
            <a:endParaRPr lang="fr-BE" dirty="0"/>
          </a:p>
          <a:p>
            <a:r>
              <a:rPr lang="fr-BE" dirty="0"/>
              <a:t>La DA doit être précédée par une </a:t>
            </a:r>
            <a:r>
              <a:rPr lang="fr-BE" b="1" dirty="0"/>
              <a:t>reprise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travail</a:t>
            </a:r>
            <a:r>
              <a:rPr lang="fr-BE" dirty="0"/>
              <a:t> qui elle, peut être inférieure à 28 jours calendrier.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B83895-9B54-4197-8529-8080C2B3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42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5BE82-0123-479C-AEDA-7997C2BD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Le retour en 1</a:t>
            </a:r>
            <a:r>
              <a:rPr lang="fr-BE" b="1" i="1" baseline="30000" dirty="0"/>
              <a:t>ère</a:t>
            </a:r>
            <a:r>
              <a:rPr lang="fr-BE" b="1" i="1" dirty="0"/>
              <a:t> période 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9E34D6DB-AC65-42D7-8798-16BA3E499A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342934"/>
              </p:ext>
            </p:extLst>
          </p:nvPr>
        </p:nvGraphicFramePr>
        <p:xfrm>
          <a:off x="416024" y="1124744"/>
          <a:ext cx="8311952" cy="512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55976">
                  <a:extLst>
                    <a:ext uri="{9D8B030D-6E8A-4147-A177-3AD203B41FA5}">
                      <a16:colId xmlns:a16="http://schemas.microsoft.com/office/drawing/2014/main" val="2729074166"/>
                    </a:ext>
                  </a:extLst>
                </a:gridCol>
                <a:gridCol w="4155976">
                  <a:extLst>
                    <a:ext uri="{9D8B030D-6E8A-4147-A177-3AD203B41FA5}">
                      <a16:colId xmlns:a16="http://schemas.microsoft.com/office/drawing/2014/main" val="74331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BE" sz="2400" dirty="0"/>
                        <a:t>En cas de reprise de travail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dirty="0"/>
                        <a:t>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9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Travail temps plein </a:t>
                      </a:r>
                      <a:r>
                        <a:rPr lang="fr-BE" sz="2400" u="sng" dirty="0"/>
                        <a:t>ou</a:t>
                      </a:r>
                      <a:r>
                        <a:rPr lang="fr-BE" sz="2400" dirty="0"/>
                        <a:t> Q </a:t>
                      </a:r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&gt;</a:t>
                      </a:r>
                      <a:r>
                        <a:rPr lang="fr-BE" sz="2400" dirty="0"/>
                        <a:t> 4/5 </a:t>
                      </a:r>
                      <a:r>
                        <a:rPr lang="fr-BE" sz="2400" u="sng" dirty="0"/>
                        <a:t>ou</a:t>
                      </a:r>
                      <a:r>
                        <a:rPr lang="fr-BE" sz="2400" dirty="0"/>
                        <a:t> salaire </a:t>
                      </a:r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≥</a:t>
                      </a:r>
                      <a:r>
                        <a:rPr lang="fr-BE" sz="2400" dirty="0"/>
                        <a:t> salaire de référence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12</a:t>
                      </a:r>
                      <a:r>
                        <a:rPr lang="fr-BE" sz="2400" dirty="0"/>
                        <a:t> mois de travail sur une période de référence de </a:t>
                      </a:r>
                      <a:r>
                        <a:rPr lang="fr-BE" sz="2400" b="1" dirty="0"/>
                        <a:t>18 </a:t>
                      </a:r>
                      <a:r>
                        <a:rPr lang="fr-BE" sz="2400" dirty="0"/>
                        <a:t>mois et ≤ 156 jours d’interruption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86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Travail à temps partiel </a:t>
                      </a:r>
                      <a:r>
                        <a:rPr lang="fr-BE" sz="2400" b="0" dirty="0"/>
                        <a:t>avec</a:t>
                      </a:r>
                      <a:r>
                        <a:rPr lang="fr-BE" sz="2400" dirty="0"/>
                        <a:t> maintien de droits </a:t>
                      </a:r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avec</a:t>
                      </a:r>
                      <a:r>
                        <a:rPr lang="fr-BE" sz="2400" b="1" dirty="0"/>
                        <a:t> </a:t>
                      </a:r>
                      <a:r>
                        <a:rPr lang="fr-BE" sz="2400" dirty="0"/>
                        <a:t>ou </a:t>
                      </a:r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sans</a:t>
                      </a:r>
                      <a:r>
                        <a:rPr lang="fr-BE" sz="2400" dirty="0"/>
                        <a:t> AGR (99/, 57/ ou 05/) </a:t>
                      </a:r>
                      <a:r>
                        <a:rPr lang="fr-BE" sz="2400" u="sng" dirty="0"/>
                        <a:t>ET</a:t>
                      </a:r>
                      <a:r>
                        <a:rPr lang="fr-BE" sz="2400" dirty="0"/>
                        <a:t> </a:t>
                      </a:r>
                    </a:p>
                    <a:p>
                      <a:pPr algn="ctr"/>
                      <a:r>
                        <a:rPr lang="fr-BE" sz="2400" dirty="0"/>
                        <a:t>Q ≥ 18 ou Q ≥ ½ 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24</a:t>
                      </a:r>
                      <a:r>
                        <a:rPr lang="fr-BE" sz="2400" dirty="0"/>
                        <a:t> mois de travail sur une période de référence de </a:t>
                      </a:r>
                      <a:r>
                        <a:rPr lang="fr-BE" sz="2400" b="1" dirty="0"/>
                        <a:t>33</a:t>
                      </a:r>
                      <a:r>
                        <a:rPr lang="fr-BE" sz="2400" dirty="0"/>
                        <a:t> mois avec ≤ 234 jours d’interruption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72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Travail à temps partiel avec maintien de droits </a:t>
                      </a:r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sans</a:t>
                      </a:r>
                      <a:r>
                        <a:rPr lang="fr-BE" sz="2400" dirty="0"/>
                        <a:t> AGR (99/) </a:t>
                      </a:r>
                      <a:r>
                        <a:rPr lang="fr-BE" sz="2400" u="sng" dirty="0"/>
                        <a:t>ET</a:t>
                      </a:r>
                      <a:r>
                        <a:rPr lang="fr-BE" sz="2400" dirty="0"/>
                        <a:t> Q ≥ 12 ou Q ≥ 1/3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36</a:t>
                      </a:r>
                      <a:r>
                        <a:rPr lang="fr-BE" sz="2400" dirty="0"/>
                        <a:t> mois de travail sur une période de référence de </a:t>
                      </a:r>
                      <a:r>
                        <a:rPr lang="fr-BE" sz="2400" b="1" dirty="0"/>
                        <a:t>45</a:t>
                      </a:r>
                      <a:r>
                        <a:rPr lang="fr-BE" sz="2400" dirty="0"/>
                        <a:t> mois avec ≤ 234 jours d’interruption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954344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AF895C-1156-4FD3-863A-C9CA7A87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423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Le retour en 1</a:t>
            </a:r>
            <a:r>
              <a:rPr lang="fr-BE" b="1" i="1" baseline="30000" dirty="0">
                <a:cs typeface="Times New Roman" pitchFamily="18" charset="0"/>
              </a:rPr>
              <a:t>ère</a:t>
            </a:r>
            <a:r>
              <a:rPr lang="fr-BE" b="1" i="1" dirty="0">
                <a:cs typeface="Times New Roman" pitchFamily="18" charset="0"/>
              </a:rPr>
              <a:t> période 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cs typeface="Times New Roman" pitchFamily="18" charset="0"/>
              </a:rPr>
              <a:t>En cas de reprise de </a:t>
            </a:r>
            <a:r>
              <a:rPr lang="fr-FR" b="1" dirty="0">
                <a:cs typeface="Times New Roman" pitchFamily="18" charset="0"/>
              </a:rPr>
              <a:t>travail</a:t>
            </a:r>
            <a:r>
              <a:rPr lang="fr-FR" dirty="0">
                <a:cs typeface="Times New Roman" pitchFamily="18" charset="0"/>
              </a:rPr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à temps partiel </a:t>
            </a:r>
            <a:r>
              <a:rPr lang="fr-FR" b="1" u="sng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volontaire</a:t>
            </a:r>
            <a:r>
              <a:rPr lang="fr-FR" b="1" dirty="0">
                <a:cs typeface="Times New Roman" pitchFamily="18" charset="0"/>
              </a:rPr>
              <a:t> sans allocations supplémentaires </a:t>
            </a:r>
            <a:r>
              <a:rPr lang="fr-FR" dirty="0">
                <a:cs typeface="Times New Roman" pitchFamily="18" charset="0"/>
              </a:rPr>
              <a:t>(Art.104)</a:t>
            </a:r>
            <a:endParaRPr lang="fr-FR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365125" indent="0">
              <a:buNone/>
            </a:pPr>
            <a:r>
              <a:rPr lang="fr-FR" b="1" u="sng" dirty="0">
                <a:cs typeface="Times New Roman" pitchFamily="18" charset="0"/>
              </a:rPr>
              <a:t>ET</a:t>
            </a:r>
            <a:r>
              <a:rPr lang="fr-FR" b="1" dirty="0">
                <a:solidFill>
                  <a:srgbClr val="C00000"/>
                </a:solidFill>
                <a:cs typeface="Times New Roman" pitchFamily="18" charset="0"/>
              </a:rPr>
              <a:t> </a:t>
            </a:r>
          </a:p>
          <a:p>
            <a:pPr marL="365125" indent="0">
              <a:buNone/>
            </a:pPr>
            <a:r>
              <a:rPr lang="fr-FR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Q ≥ 12 </a:t>
            </a:r>
            <a:r>
              <a:rPr lang="fr-FR" b="1" dirty="0">
                <a:cs typeface="Times New Roman" pitchFamily="18" charset="0"/>
              </a:rPr>
              <a:t>ou</a:t>
            </a:r>
            <a:r>
              <a:rPr lang="fr-FR" b="1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Q ≥ 1/3 S. </a:t>
            </a:r>
          </a:p>
          <a:p>
            <a:pPr marL="0" indent="0">
              <a:buNone/>
            </a:pPr>
            <a:endParaRPr lang="fr-FR" b="1" dirty="0">
              <a:solidFill>
                <a:srgbClr val="C00000"/>
              </a:solidFill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 J</a:t>
            </a:r>
            <a:r>
              <a:rPr lang="fr-FR" dirty="0">
                <a:cs typeface="Times New Roman" pitchFamily="18" charset="0"/>
              </a:rPr>
              <a:t>ustifier </a:t>
            </a:r>
            <a:r>
              <a:rPr lang="fr-FR" b="1" dirty="0">
                <a:cs typeface="Times New Roman" pitchFamily="18" charset="0"/>
              </a:rPr>
              <a:t>12mois de travail </a:t>
            </a:r>
            <a:r>
              <a:rPr lang="fr-FR" dirty="0">
                <a:cs typeface="Times New Roman" pitchFamily="18" charset="0"/>
              </a:rPr>
              <a:t>dans une période de référence de </a:t>
            </a:r>
            <a:r>
              <a:rPr lang="fr-FR" b="1" dirty="0">
                <a:cs typeface="Times New Roman" pitchFamily="18" charset="0"/>
              </a:rPr>
              <a:t>18 mois</a:t>
            </a:r>
            <a:r>
              <a:rPr lang="fr-FR" dirty="0">
                <a:cs typeface="Times New Roman" pitchFamily="18" charset="0"/>
              </a:rPr>
              <a:t> et </a:t>
            </a:r>
            <a:r>
              <a:rPr lang="fr-FR" b="1" dirty="0">
                <a:cs typeface="Times New Roman" pitchFamily="18" charset="0"/>
              </a:rPr>
              <a:t>≤ 156 jours d’interruption</a:t>
            </a:r>
            <a:r>
              <a:rPr lang="fr-FR" dirty="0">
                <a:cs typeface="Times New Roman" pitchFamily="18" charset="0"/>
              </a:rPr>
              <a:t>.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67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68155-3F9F-46C4-95B5-C3F5C53E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Le retour en 1</a:t>
            </a:r>
            <a:r>
              <a:rPr lang="fr-BE" b="1" i="1" baseline="30000" dirty="0"/>
              <a:t>ère</a:t>
            </a:r>
            <a:r>
              <a:rPr lang="fr-BE" b="1" i="1" dirty="0"/>
              <a:t> période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3A99E5-C381-495F-B2F1-5209DBDEF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3000" dirty="0"/>
              <a:t>En cas de combinaison de régime de travail, le travail du </a:t>
            </a:r>
            <a:r>
              <a:rPr lang="fr-BE" sz="3000" b="1" dirty="0"/>
              <a:t>même ordre </a:t>
            </a:r>
            <a:r>
              <a:rPr lang="fr-BE" sz="3000" dirty="0"/>
              <a:t>ou d’un </a:t>
            </a:r>
            <a:r>
              <a:rPr lang="fr-BE" sz="3000" b="1" dirty="0"/>
              <a:t>ordre supérieure</a:t>
            </a:r>
            <a:r>
              <a:rPr lang="fr-BE" sz="3000" dirty="0"/>
              <a:t> peut être pris en considération.</a:t>
            </a:r>
          </a:p>
          <a:p>
            <a:pPr marL="0" indent="0">
              <a:buNone/>
            </a:pPr>
            <a:r>
              <a:rPr lang="fr-BE" sz="3000" dirty="0"/>
              <a:t>Par contre, le travail d’un ordre inférieur constitue une </a:t>
            </a:r>
            <a:r>
              <a:rPr lang="fr-BE" sz="3000" b="1" dirty="0"/>
              <a:t>interruption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515357-D8D5-4623-BD5B-2DA3A02A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D5B2BF50-14D0-42D0-A335-93382226D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885389"/>
              </p:ext>
            </p:extLst>
          </p:nvPr>
        </p:nvGraphicFramePr>
        <p:xfrm>
          <a:off x="323528" y="4083685"/>
          <a:ext cx="8363272" cy="2504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6414">
                  <a:extLst>
                    <a:ext uri="{9D8B030D-6E8A-4147-A177-3AD203B41FA5}">
                      <a16:colId xmlns:a16="http://schemas.microsoft.com/office/drawing/2014/main" val="737266401"/>
                    </a:ext>
                  </a:extLst>
                </a:gridCol>
                <a:gridCol w="5522258">
                  <a:extLst>
                    <a:ext uri="{9D8B030D-6E8A-4147-A177-3AD203B41FA5}">
                      <a16:colId xmlns:a16="http://schemas.microsoft.com/office/drawing/2014/main" val="1359100971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64781925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fr-BE" dirty="0"/>
                        <a:t>Nature du travail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Travail pris en compte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8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Temps plein ou Q &gt; 4/5 ou sal. ≥ sal. de référence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079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TTPMD sans AGR et Q ≥ 18 ou ≥ S/2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dirty="0"/>
                        <a:t>A –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3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TTPMD sans AGR et Q ≥ 12 ou ≥ S/3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dirty="0"/>
                        <a:t>A – B –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038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TTPMD avec AGR et Q ≥ 18 ou ≥ S/2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dirty="0"/>
                        <a:t>A – B –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TTRV Q ≥ 12 ou ≥ 1/3 S sans alloc. supplémentaires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dirty="0"/>
                        <a:t>A – B – C – 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013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3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709157-8BFF-45B7-8714-F47A8625B387}"/>
              </a:ext>
            </a:extLst>
          </p:cNvPr>
          <p:cNvSpPr/>
          <p:nvPr/>
        </p:nvSpPr>
        <p:spPr>
          <a:xfrm>
            <a:off x="256692" y="4725144"/>
            <a:ext cx="8640960" cy="12961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8A2D7B-B93E-4230-BF3A-2D5A7AD8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Le retour en 1</a:t>
            </a:r>
            <a:r>
              <a:rPr lang="fr-BE" b="1" i="1" baseline="30000" dirty="0"/>
              <a:t>ère</a:t>
            </a:r>
            <a:r>
              <a:rPr lang="fr-BE" b="1" i="1" dirty="0"/>
              <a:t> période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56AB49-D492-4BEF-9CB7-90221B450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64" y="1600200"/>
            <a:ext cx="8363272" cy="4525963"/>
          </a:xfrm>
        </p:spPr>
        <p:txBody>
          <a:bodyPr/>
          <a:lstStyle/>
          <a:p>
            <a:r>
              <a:rPr lang="fr-BE" dirty="0"/>
              <a:t>La période de référence de 18, 33 ou 45 mois est placée librement </a:t>
            </a:r>
            <a:r>
              <a:rPr lang="fr-BE" u="sng" dirty="0"/>
              <a:t>mais</a:t>
            </a:r>
            <a:r>
              <a:rPr lang="fr-BE" dirty="0"/>
              <a:t> dernier jour situé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entre le DJI et la DA</a:t>
            </a:r>
          </a:p>
          <a:p>
            <a:r>
              <a:rPr lang="fr-BE" dirty="0"/>
              <a:t>Elle ne peut être prolongée que par le bénéficie des allocations d’interruption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Une période de travail utilisée pour une admission ou un retour ne peut plus être utilisée.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BB51FB-367F-47A0-A9E6-4914C578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546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solidFill>
                  <a:prstClr val="black"/>
                </a:solidFill>
                <a:cs typeface="Times New Roman" pitchFamily="18" charset="0"/>
              </a:rPr>
              <a:t>2. Le retour en 1</a:t>
            </a:r>
            <a:r>
              <a:rPr lang="fr-BE" b="1" i="1" baseline="30000" dirty="0">
                <a:solidFill>
                  <a:prstClr val="black"/>
                </a:solidFill>
                <a:cs typeface="Times New Roman" pitchFamily="18" charset="0"/>
              </a:rPr>
              <a:t>ère</a:t>
            </a:r>
            <a:r>
              <a:rPr lang="fr-BE" b="1" i="1" dirty="0">
                <a:solidFill>
                  <a:prstClr val="black"/>
                </a:solidFill>
                <a:cs typeface="Times New Roman" pitchFamily="18" charset="0"/>
              </a:rPr>
              <a:t> période </a:t>
            </a:r>
            <a:endParaRPr lang="en-US" b="1" i="1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FR" dirty="0">
                <a:latin typeface="+mj-lt"/>
                <a:cs typeface="Times New Roman" pitchFamily="18" charset="0"/>
              </a:rPr>
              <a:t>Formules DMFA pour le calcul </a:t>
            </a:r>
            <a:r>
              <a:rPr lang="fr-FR" b="1" dirty="0">
                <a:latin typeface="+mj-lt"/>
                <a:cs typeface="Times New Roman" pitchFamily="18" charset="0"/>
              </a:rPr>
              <a:t>des jours de travail </a:t>
            </a:r>
            <a:r>
              <a:rPr lang="fr-FR" dirty="0">
                <a:latin typeface="+mj-lt"/>
                <a:cs typeface="Times New Roman" pitchFamily="18" charset="0"/>
              </a:rPr>
              <a:t>:</a:t>
            </a:r>
          </a:p>
          <a:p>
            <a:pPr marL="0" indent="0">
              <a:lnSpc>
                <a:spcPct val="90000"/>
              </a:lnSpc>
              <a:buNone/>
            </a:pPr>
            <a:endParaRPr lang="en-US" sz="2600" dirty="0">
              <a:latin typeface="+mj-lt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1882D435-60C3-405C-98BA-34F4567BE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05415"/>
              </p:ext>
            </p:extLst>
          </p:nvPr>
        </p:nvGraphicFramePr>
        <p:xfrm>
          <a:off x="457401" y="2708924"/>
          <a:ext cx="8448060" cy="37127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24030">
                  <a:extLst>
                    <a:ext uri="{9D8B030D-6E8A-4147-A177-3AD203B41FA5}">
                      <a16:colId xmlns:a16="http://schemas.microsoft.com/office/drawing/2014/main" val="533473028"/>
                    </a:ext>
                  </a:extLst>
                </a:gridCol>
                <a:gridCol w="4224030">
                  <a:extLst>
                    <a:ext uri="{9D8B030D-6E8A-4147-A177-3AD203B41FA5}">
                      <a16:colId xmlns:a16="http://schemas.microsoft.com/office/drawing/2014/main" val="3737161383"/>
                    </a:ext>
                  </a:extLst>
                </a:gridCol>
              </a:tblGrid>
              <a:tr h="792776"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Occupation temps plein</a:t>
                      </a:r>
                    </a:p>
                    <a:p>
                      <a:pPr algn="ctr"/>
                      <a:r>
                        <a:rPr lang="fr-BE" sz="2400" dirty="0"/>
                        <a:t>Q =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Occupation temps partiel</a:t>
                      </a:r>
                    </a:p>
                    <a:p>
                      <a:pPr algn="ctr"/>
                      <a:r>
                        <a:rPr lang="fr-BE" sz="2400" dirty="0"/>
                        <a:t>Q &lt;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37052"/>
                  </a:ext>
                </a:extLst>
              </a:tr>
              <a:tr h="2172792">
                <a:tc>
                  <a:txBody>
                    <a:bodyPr/>
                    <a:lstStyle/>
                    <a:p>
                      <a:pPr algn="ctr"/>
                      <a:r>
                        <a:rPr lang="fr-BE" sz="3500" b="1" u="sn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 x 6</a:t>
                      </a:r>
                      <a:endParaRPr lang="fr-BE" sz="3500" b="1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fr-BE" sz="3500" b="1" u="non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</a:t>
                      </a:r>
                    </a:p>
                    <a:p>
                      <a:pPr algn="l"/>
                      <a:r>
                        <a:rPr lang="fr-BE" sz="2400" b="1" u="none" dirty="0"/>
                        <a:t>A = nombre de jours</a:t>
                      </a:r>
                    </a:p>
                    <a:p>
                      <a:pPr algn="l"/>
                      <a:r>
                        <a:rPr lang="fr-BE" sz="2400" b="1" u="none" dirty="0"/>
                        <a:t>R= régime de travail</a:t>
                      </a:r>
                      <a:endParaRPr lang="fr-BE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3500" b="1" u="sn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 x 6</a:t>
                      </a:r>
                    </a:p>
                    <a:p>
                      <a:pPr algn="ctr"/>
                      <a:r>
                        <a:rPr lang="fr-BE" sz="35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Q</a:t>
                      </a:r>
                    </a:p>
                    <a:p>
                      <a:pPr algn="l"/>
                      <a:r>
                        <a:rPr lang="fr-BE" sz="2400" b="1" dirty="0"/>
                        <a:t>a = nombre d’heures</a:t>
                      </a:r>
                    </a:p>
                    <a:p>
                      <a:pPr algn="l"/>
                      <a:r>
                        <a:rPr lang="fr-BE" sz="2400" b="1" dirty="0"/>
                        <a:t>Q= nombre d’heures par semaine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342367"/>
                  </a:ext>
                </a:extLst>
              </a:tr>
              <a:tr h="634233">
                <a:tc gridSpan="2">
                  <a:txBody>
                    <a:bodyPr/>
                    <a:lstStyle/>
                    <a:p>
                      <a:pPr algn="ctr"/>
                      <a:r>
                        <a:rPr lang="fr-BE" sz="22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Limitation à 78 jours par trimestre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fr-B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456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18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9230E-FFA9-43F4-8138-EBA2D39E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Le retour en 1</a:t>
            </a:r>
            <a:r>
              <a:rPr lang="fr-BE" b="1" i="1" baseline="30000" dirty="0"/>
              <a:t>ère</a:t>
            </a:r>
            <a:r>
              <a:rPr lang="fr-BE" b="1" i="1" dirty="0"/>
              <a:t> période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9A2372-65EA-4631-A24E-E628B5B4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Dans la cadre du retour les heures supplémentaires doivent être neutralisées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AE19C4-BC7B-411F-82AC-48F478BC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422F292D-F3F4-4F5C-94F6-AEAEA14C0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581400"/>
              </p:ext>
            </p:extLst>
          </p:nvPr>
        </p:nvGraphicFramePr>
        <p:xfrm>
          <a:off x="179512" y="2820352"/>
          <a:ext cx="8784976" cy="3870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val="46760371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19480650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Procédure de limitation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377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Temps plein Q = S</a:t>
                      </a:r>
                    </a:p>
                  </a:txBody>
                  <a:tcPr>
                    <a:pattFill prst="pct75">
                      <a:fgClr>
                        <a:schemeClr val="accent3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Temps partiel Q &lt; S</a:t>
                      </a:r>
                    </a:p>
                  </a:txBody>
                  <a:tcPr>
                    <a:pattFill prst="pct75">
                      <a:fgClr>
                        <a:schemeClr val="accent3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22964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200" dirty="0"/>
                        <a:t>Limitation au nombre de jours R6 situés dans l’occupation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Limitation au nombre théorique d’heures à prester : </a:t>
                      </a:r>
                    </a:p>
                    <a:p>
                      <a:pPr algn="ctr"/>
                      <a:r>
                        <a:rPr lang="fr-BE" sz="2100" b="1" u="sn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jours calendrier dans l’occupation x Q</a:t>
                      </a:r>
                    </a:p>
                    <a:p>
                      <a:pPr algn="ctr"/>
                      <a:r>
                        <a:rPr lang="fr-BE" sz="2100" b="1" u="non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  <a:p>
                      <a:r>
                        <a:rPr lang="fr-BE" dirty="0"/>
                        <a:t>Si plusieurs occupations à temps partiel dont la durée de travail moyenne hebdomadaire est supérieure à un temps plein sont effectuées simultanément, les règles de limitation pour l’occupation à temps plein sont d’application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097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82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FCBB81-1576-4321-AE02-2F9F5F6C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Retour relatif et retour absolu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15E1E9-D135-4AA8-B00C-1246DEA5D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3300" dirty="0"/>
              <a:t>Pour un TTPMD avec ou sans AGR le retour n’est possible 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</a:rPr>
              <a:t>qu’à la fin du contrat</a:t>
            </a:r>
          </a:p>
          <a:p>
            <a:r>
              <a:rPr lang="fr-BE" sz="3300" dirty="0"/>
              <a:t>Pour le TTPMD 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</a:rPr>
              <a:t>avec AGR</a:t>
            </a:r>
            <a:r>
              <a:rPr lang="fr-BE" sz="3300" dirty="0"/>
              <a:t>, on parlera d’un 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</a:rPr>
              <a:t>retour</a:t>
            </a:r>
            <a:r>
              <a:rPr lang="fr-BE" sz="3300" dirty="0"/>
              <a:t> « 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</a:rPr>
              <a:t>relatif</a:t>
            </a:r>
            <a:r>
              <a:rPr lang="fr-BE" sz="3300" dirty="0"/>
              <a:t> » car celui-ci pourra être temporairement perdu en cas de reprise de travail TTPMD avec AGR chez le même employeur dans les 3 mois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81EC46-839E-409B-816C-03A74BDE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02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F6A8EA-853D-4A28-869D-61D4AC5DFADC}"/>
              </a:ext>
            </a:extLst>
          </p:cNvPr>
          <p:cNvSpPr/>
          <p:nvPr/>
        </p:nvSpPr>
        <p:spPr>
          <a:xfrm>
            <a:off x="457200" y="4869160"/>
            <a:ext cx="8229600" cy="125700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B6D193-17F5-41E9-B822-FC1BB11D4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Retour relatif et retour absolu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15A3EB-F54D-4455-855C-12683CF16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50" y="1600200"/>
            <a:ext cx="8435280" cy="4525963"/>
          </a:xfrm>
        </p:spPr>
        <p:txBody>
          <a:bodyPr/>
          <a:lstStyle/>
          <a:p>
            <a:pPr marL="0" indent="0">
              <a:buNone/>
            </a:pPr>
            <a:r>
              <a:rPr lang="fr-BE" dirty="0"/>
              <a:t>Le retour « relatif » deviendra « 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absolu</a:t>
            </a:r>
            <a:r>
              <a:rPr lang="fr-BE" dirty="0"/>
              <a:t> »: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A défaut d’une reprise de travail dans les 3 mois chez le même employeur; </a:t>
            </a:r>
            <a:r>
              <a:rPr lang="fr-BE" b="1" i="1" dirty="0"/>
              <a:t>OU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Lorsqu’une telle reprise de travail prend cours après une interruption d’au moins 3 mois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Le retour relatif est notifié sur la C2-XML au moyen de l’article d’indemnisation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116&amp;1B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13A335-9AAD-4D43-9CE8-98A46864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32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755A3-0120-4A45-BE27-A7D01BD7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Retour relatif et retour absolu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CEA985-36C2-4804-91E0-0FF3ABA3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3000" i="1" u="sng" dirty="0"/>
              <a:t>Exemple 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53A65B-3A18-40FE-BBFF-E96C24C7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C1B8A5-9BC7-4F8B-9671-E2E3731CD870}"/>
              </a:ext>
            </a:extLst>
          </p:cNvPr>
          <p:cNvSpPr/>
          <p:nvPr/>
        </p:nvSpPr>
        <p:spPr>
          <a:xfrm>
            <a:off x="457200" y="3429000"/>
            <a:ext cx="1115886" cy="6480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CC 01/70..AF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26282C-530F-4266-B92B-A16DBD91486B}"/>
              </a:ext>
            </a:extLst>
          </p:cNvPr>
          <p:cNvSpPr/>
          <p:nvPr/>
        </p:nvSpPr>
        <p:spPr>
          <a:xfrm>
            <a:off x="1583669" y="3140968"/>
            <a:ext cx="2592288" cy="9360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AGR 20/38</a:t>
            </a:r>
          </a:p>
          <a:p>
            <a:pPr algn="ctr"/>
            <a:r>
              <a:rPr lang="fr-BE" b="1" dirty="0"/>
              <a:t>Employeur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A6515E-4947-4AFE-89DF-8DC482CD44D2}"/>
              </a:ext>
            </a:extLst>
          </p:cNvPr>
          <p:cNvSpPr/>
          <p:nvPr/>
        </p:nvSpPr>
        <p:spPr>
          <a:xfrm>
            <a:off x="4723145" y="3156041"/>
            <a:ext cx="1210640" cy="935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AGR 19/38</a:t>
            </a:r>
          </a:p>
          <a:p>
            <a:pPr algn="ctr"/>
            <a:r>
              <a:rPr lang="fr-BE" b="1" dirty="0"/>
              <a:t>Empl.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F02414-F784-4EDD-AEE3-05922456BAE5}"/>
              </a:ext>
            </a:extLst>
          </p:cNvPr>
          <p:cNvSpPr/>
          <p:nvPr/>
        </p:nvSpPr>
        <p:spPr>
          <a:xfrm>
            <a:off x="4189451" y="3429000"/>
            <a:ext cx="513090" cy="6479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CC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DAA5B6A-6751-417B-A328-1B510CD2A47D}"/>
              </a:ext>
            </a:extLst>
          </p:cNvPr>
          <p:cNvCxnSpPr/>
          <p:nvPr/>
        </p:nvCxnSpPr>
        <p:spPr>
          <a:xfrm flipV="1">
            <a:off x="1583669" y="2643907"/>
            <a:ext cx="0" cy="143999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1BF29FF5-C672-4D10-9C16-EE67A421679C}"/>
              </a:ext>
            </a:extLst>
          </p:cNvPr>
          <p:cNvCxnSpPr/>
          <p:nvPr/>
        </p:nvCxnSpPr>
        <p:spPr>
          <a:xfrm flipV="1">
            <a:off x="4175957" y="2638124"/>
            <a:ext cx="0" cy="143999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09A2ED3-4CDB-4B16-96E6-1C16EC98083C}"/>
              </a:ext>
            </a:extLst>
          </p:cNvPr>
          <p:cNvCxnSpPr/>
          <p:nvPr/>
        </p:nvCxnSpPr>
        <p:spPr>
          <a:xfrm flipV="1">
            <a:off x="4716036" y="2652248"/>
            <a:ext cx="0" cy="143999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EAFF7E2C-99DD-4EC2-B86D-5686F106FE6C}"/>
              </a:ext>
            </a:extLst>
          </p:cNvPr>
          <p:cNvCxnSpPr/>
          <p:nvPr/>
        </p:nvCxnSpPr>
        <p:spPr>
          <a:xfrm flipV="1">
            <a:off x="5933786" y="2652248"/>
            <a:ext cx="0" cy="143999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99C38819-83F3-40AA-8370-D61C4655704B}"/>
              </a:ext>
            </a:extLst>
          </p:cNvPr>
          <p:cNvSpPr txBox="1"/>
          <p:nvPr/>
        </p:nvSpPr>
        <p:spPr>
          <a:xfrm>
            <a:off x="1331640" y="2336130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chemeClr val="bg2">
                    <a:lumMod val="50000"/>
                  </a:schemeClr>
                </a:solidFill>
              </a:rPr>
              <a:t>02.10.2019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F8F860C-E009-4C81-9351-204CCB5F6D20}"/>
              </a:ext>
            </a:extLst>
          </p:cNvPr>
          <p:cNvSpPr txBox="1"/>
          <p:nvPr/>
        </p:nvSpPr>
        <p:spPr>
          <a:xfrm>
            <a:off x="3293738" y="2330347"/>
            <a:ext cx="1008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chemeClr val="bg2">
                    <a:lumMod val="50000"/>
                  </a:schemeClr>
                </a:solidFill>
              </a:rPr>
              <a:t>31.03.2022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C780F62-E216-4CDF-9304-C6A0BDA75EAE}"/>
              </a:ext>
            </a:extLst>
          </p:cNvPr>
          <p:cNvSpPr txBox="1"/>
          <p:nvPr/>
        </p:nvSpPr>
        <p:spPr>
          <a:xfrm>
            <a:off x="4436409" y="2336130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chemeClr val="bg2">
                    <a:lumMod val="50000"/>
                  </a:schemeClr>
                </a:solidFill>
              </a:rPr>
              <a:t>10.06.2022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7201C1D-901E-4ABE-A2B2-A0798105016D}"/>
              </a:ext>
            </a:extLst>
          </p:cNvPr>
          <p:cNvSpPr txBox="1"/>
          <p:nvPr/>
        </p:nvSpPr>
        <p:spPr>
          <a:xfrm>
            <a:off x="5582658" y="2351782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chemeClr val="bg2">
                    <a:lumMod val="50000"/>
                  </a:schemeClr>
                </a:solidFill>
              </a:rPr>
              <a:t>30.11.2022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37777F7-F435-4ECE-9254-09EAB720FB50}"/>
              </a:ext>
            </a:extLst>
          </p:cNvPr>
          <p:cNvSpPr txBox="1"/>
          <p:nvPr/>
        </p:nvSpPr>
        <p:spPr>
          <a:xfrm>
            <a:off x="3662865" y="5718037"/>
            <a:ext cx="1053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 en CC</a:t>
            </a:r>
          </a:p>
          <a:p>
            <a:r>
              <a:rPr lang="fr-BE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01.04.2022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B459A0-C7F6-4017-A6AA-3D327EA87D50}"/>
              </a:ext>
            </a:extLst>
          </p:cNvPr>
          <p:cNvSpPr/>
          <p:nvPr/>
        </p:nvSpPr>
        <p:spPr>
          <a:xfrm>
            <a:off x="4202945" y="4091955"/>
            <a:ext cx="765466" cy="4970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500" dirty="0">
                <a:solidFill>
                  <a:schemeClr val="tx1"/>
                </a:solidFill>
              </a:rPr>
              <a:t>A11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724BBF-3937-488D-A621-205C55FB5BC0}"/>
              </a:ext>
            </a:extLst>
          </p:cNvPr>
          <p:cNvSpPr/>
          <p:nvPr/>
        </p:nvSpPr>
        <p:spPr>
          <a:xfrm>
            <a:off x="4981906" y="4092239"/>
            <a:ext cx="739091" cy="4970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500" dirty="0">
                <a:solidFill>
                  <a:schemeClr val="tx1"/>
                </a:solidFill>
              </a:rPr>
              <a:t>A12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5EE96D-92E4-4FB8-9D7C-732AF199A8F8}"/>
              </a:ext>
            </a:extLst>
          </p:cNvPr>
          <p:cNvSpPr/>
          <p:nvPr/>
        </p:nvSpPr>
        <p:spPr>
          <a:xfrm>
            <a:off x="5724554" y="4092114"/>
            <a:ext cx="1194491" cy="4970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500" dirty="0">
                <a:solidFill>
                  <a:schemeClr val="tx1"/>
                </a:solidFill>
              </a:rPr>
              <a:t>A13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B53E13-989A-410D-9827-C5A976A9C0F3}"/>
              </a:ext>
            </a:extLst>
          </p:cNvPr>
          <p:cNvSpPr/>
          <p:nvPr/>
        </p:nvSpPr>
        <p:spPr>
          <a:xfrm>
            <a:off x="7392829" y="4091955"/>
            <a:ext cx="1069802" cy="4970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500" dirty="0">
                <a:solidFill>
                  <a:schemeClr val="tx1"/>
                </a:solidFill>
              </a:rPr>
              <a:t>A29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7D44CF-1C2E-46FE-913A-7ADF607BDA17}"/>
              </a:ext>
            </a:extLst>
          </p:cNvPr>
          <p:cNvSpPr/>
          <p:nvPr/>
        </p:nvSpPr>
        <p:spPr>
          <a:xfrm>
            <a:off x="6906281" y="4093536"/>
            <a:ext cx="503700" cy="4970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500" dirty="0">
                <a:solidFill>
                  <a:schemeClr val="tx1"/>
                </a:solidFill>
              </a:rPr>
              <a:t>A2A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78A838-2CF5-4006-B932-0B43C7267962}"/>
              </a:ext>
            </a:extLst>
          </p:cNvPr>
          <p:cNvSpPr/>
          <p:nvPr/>
        </p:nvSpPr>
        <p:spPr>
          <a:xfrm>
            <a:off x="4189450" y="4947075"/>
            <a:ext cx="774209" cy="278647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dirty="0">
                <a:solidFill>
                  <a:schemeClr val="tx1"/>
                </a:solidFill>
              </a:rPr>
              <a:t>Relatif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64AACB-0A10-4FC3-8233-4923FC98854D}"/>
              </a:ext>
            </a:extLst>
          </p:cNvPr>
          <p:cNvSpPr/>
          <p:nvPr/>
        </p:nvSpPr>
        <p:spPr>
          <a:xfrm>
            <a:off x="4963659" y="4947075"/>
            <a:ext cx="3525500" cy="278623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dirty="0">
                <a:solidFill>
                  <a:schemeClr val="tx1"/>
                </a:solidFill>
              </a:rPr>
              <a:t>Absolu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0724FE71-0F53-4063-84CD-1A5163D9CCB9}"/>
              </a:ext>
            </a:extLst>
          </p:cNvPr>
          <p:cNvCxnSpPr>
            <a:cxnSpLocks/>
          </p:cNvCxnSpPr>
          <p:nvPr/>
        </p:nvCxnSpPr>
        <p:spPr>
          <a:xfrm>
            <a:off x="5933785" y="4074801"/>
            <a:ext cx="0" cy="16411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5D645924-E30E-469E-9CDB-7A63483A0BE1}"/>
              </a:ext>
            </a:extLst>
          </p:cNvPr>
          <p:cNvSpPr txBox="1"/>
          <p:nvPr/>
        </p:nvSpPr>
        <p:spPr>
          <a:xfrm>
            <a:off x="5407200" y="5715935"/>
            <a:ext cx="1053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 en CC</a:t>
            </a:r>
          </a:p>
          <a:p>
            <a:r>
              <a:rPr lang="fr-BE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01.12.2022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ECF33A8-341B-4B7A-8734-6522697C2D59}"/>
              </a:ext>
            </a:extLst>
          </p:cNvPr>
          <p:cNvSpPr/>
          <p:nvPr/>
        </p:nvSpPr>
        <p:spPr>
          <a:xfrm>
            <a:off x="4716036" y="4090374"/>
            <a:ext cx="3786595" cy="510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AF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0DB5156-E4E4-4F34-B883-D0E769910114}"/>
              </a:ext>
            </a:extLst>
          </p:cNvPr>
          <p:cNvSpPr/>
          <p:nvPr/>
        </p:nvSpPr>
        <p:spPr>
          <a:xfrm>
            <a:off x="5933785" y="5302902"/>
            <a:ext cx="774209" cy="278647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dirty="0">
                <a:solidFill>
                  <a:schemeClr val="tx1"/>
                </a:solidFill>
              </a:rPr>
              <a:t>Relatif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429B34-35E7-4F29-81FF-C6E0273845F1}"/>
              </a:ext>
            </a:extLst>
          </p:cNvPr>
          <p:cNvSpPr/>
          <p:nvPr/>
        </p:nvSpPr>
        <p:spPr>
          <a:xfrm>
            <a:off x="6707994" y="5302902"/>
            <a:ext cx="1781141" cy="278646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dirty="0">
                <a:solidFill>
                  <a:schemeClr val="tx1"/>
                </a:solidFill>
              </a:rPr>
              <a:t>Absolu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D3DD3A1A-CFAC-43D3-96BE-4CA41DD87D2D}"/>
              </a:ext>
            </a:extLst>
          </p:cNvPr>
          <p:cNvCxnSpPr>
            <a:cxnSpLocks/>
          </p:cNvCxnSpPr>
          <p:nvPr/>
        </p:nvCxnSpPr>
        <p:spPr>
          <a:xfrm>
            <a:off x="4189451" y="4076903"/>
            <a:ext cx="0" cy="16411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404FEE28-81B8-44FA-BEFE-0EF0E4FF75DF}"/>
              </a:ext>
            </a:extLst>
          </p:cNvPr>
          <p:cNvCxnSpPr/>
          <p:nvPr/>
        </p:nvCxnSpPr>
        <p:spPr>
          <a:xfrm>
            <a:off x="251520" y="4077072"/>
            <a:ext cx="84352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69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911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9">
                                          <p:stCondLst>
                                            <p:cond delay="911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13">
                                          <p:stCondLst>
                                            <p:cond delay="31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83" decel="50000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911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9">
                                          <p:stCondLst>
                                            <p:cond delay="911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13">
                                          <p:stCondLst>
                                            <p:cond delay="31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83" decel="50000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911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9">
                                          <p:stCondLst>
                                            <p:cond delay="911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13">
                                          <p:stCondLst>
                                            <p:cond delay="31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83" decel="50000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911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89">
                                          <p:stCondLst>
                                            <p:cond delay="911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13">
                                          <p:stCondLst>
                                            <p:cond delay="31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" dur="83" decel="50000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3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911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89">
                                          <p:stCondLst>
                                            <p:cond delay="911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32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90" accel="50000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1" dur="13">
                                          <p:stCondLst>
                                            <p:cond delay="31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2" dur="83" decel="50000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6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0" presetID="26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6" presetID="26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2" presetID="26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8" presetID="26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8" grpId="0"/>
      <p:bldP spid="19" grpId="0"/>
      <p:bldP spid="20" grpId="0"/>
      <p:bldP spid="22" grpId="0"/>
      <p:bldP spid="23" grpId="0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5" grpId="0" animBg="1"/>
      <p:bldP spid="37" grpId="0"/>
      <p:bldP spid="43" grpId="0" animBg="1"/>
      <p:bldP spid="43" grpId="1" animBg="1"/>
      <p:bldP spid="45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AC04B1-0F57-4492-B641-7DE1AE5E0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 Retour relatif et retour absolu:</a:t>
            </a:r>
            <a:br>
              <a:rPr lang="fr-BE" b="1" i="1" dirty="0"/>
            </a:br>
            <a:r>
              <a:rPr lang="fr-BE" b="1" i="1" dirty="0"/>
              <a:t>Exemple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E4F219-9AA3-4E8B-B1A9-AAA74F6D9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i="1" dirty="0"/>
              <a:t>Un affilié est indemnisé en CC depuis le 05.07.2019 sur base de la cascade suivante</a:t>
            </a:r>
          </a:p>
          <a:p>
            <a:pPr marL="0" indent="0">
              <a:buNone/>
            </a:pPr>
            <a:r>
              <a:rPr lang="fr-BE" sz="2800" i="1" dirty="0"/>
              <a:t>	</a:t>
            </a:r>
            <a:r>
              <a:rPr lang="fr-BE" sz="2400" i="1" dirty="0"/>
              <a:t>01/72.N11..	05.07.2019</a:t>
            </a:r>
          </a:p>
          <a:p>
            <a:pPr marL="0" indent="0">
              <a:buNone/>
            </a:pPr>
            <a:r>
              <a:rPr lang="fr-BE" sz="2400" i="1" dirty="0"/>
              <a:t>	01/72.N12..	05.10.2019</a:t>
            </a:r>
          </a:p>
          <a:p>
            <a:pPr marL="0" indent="0">
              <a:buNone/>
            </a:pPr>
            <a:r>
              <a:rPr lang="fr-BE" sz="2400" i="1" dirty="0"/>
              <a:t>	01/72.N13..	05.01.2020</a:t>
            </a:r>
          </a:p>
          <a:p>
            <a:pPr marL="0" indent="0">
              <a:buNone/>
            </a:pPr>
            <a:r>
              <a:rPr lang="fr-BE" sz="2400" i="1" dirty="0"/>
              <a:t>	01/72.N3..	05.07.2020</a:t>
            </a:r>
          </a:p>
          <a:p>
            <a:pPr marL="0" indent="0">
              <a:buNone/>
            </a:pPr>
            <a:r>
              <a:rPr lang="fr-BE" sz="2600" i="1" dirty="0"/>
              <a:t>Il débute un contrat 20/38 le 04.11.2019 chez l’employeur A avec un salaire de 1127,73€.</a:t>
            </a:r>
          </a:p>
          <a:p>
            <a:pPr marL="0" indent="0">
              <a:buNone/>
            </a:pPr>
            <a:r>
              <a:rPr lang="fr-BE" sz="2600" i="1" dirty="0"/>
              <a:t>Il introduit un dossier pour une demande d’AGR au début de l’occupation.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6EF458-3582-4D4B-AB95-298DC97B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85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AF1C40-09FC-4ACC-84AE-F3145CEB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 Retour relatif et retour absolu:</a:t>
            </a:r>
            <a:br>
              <a:rPr lang="fr-BE" b="1" i="1" dirty="0"/>
            </a:br>
            <a:r>
              <a:rPr lang="fr-BE" b="1" i="1" dirty="0"/>
              <a:t>Exemple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653116-D0BE-4B24-914D-7DE70580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8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sz="2800" i="1" dirty="0"/>
              <a:t>Cascade Horizon valable au 04.11.2019:</a:t>
            </a:r>
          </a:p>
          <a:p>
            <a:pPr marL="0" indent="0">
              <a:buNone/>
            </a:pPr>
            <a:r>
              <a:rPr lang="fr-BE" sz="2800" i="1" dirty="0"/>
              <a:t>	</a:t>
            </a:r>
            <a:r>
              <a:rPr lang="fr-BE" sz="2600" i="1" dirty="0"/>
              <a:t>57/72.N11..	05.07.2019</a:t>
            </a:r>
          </a:p>
          <a:p>
            <a:pPr marL="0" indent="0">
              <a:buNone/>
            </a:pPr>
            <a:r>
              <a:rPr lang="fr-BE" sz="2600" i="1" dirty="0"/>
              <a:t>	57/72.N12..	05.10.2019</a:t>
            </a:r>
          </a:p>
          <a:p>
            <a:pPr marL="0" indent="0">
              <a:buNone/>
            </a:pPr>
            <a:r>
              <a:rPr lang="fr-BE" sz="2600" i="1" dirty="0"/>
              <a:t>	57/72.N13..	05.01.2020</a:t>
            </a:r>
          </a:p>
          <a:p>
            <a:pPr marL="0" indent="0">
              <a:buNone/>
            </a:pPr>
            <a:r>
              <a:rPr lang="fr-BE" sz="2600" i="1" dirty="0"/>
              <a:t>	57/72.N3..	05.07.2020</a:t>
            </a:r>
          </a:p>
          <a:p>
            <a:pPr marL="0" indent="0">
              <a:buNone/>
            </a:pPr>
            <a:r>
              <a:rPr lang="fr-BE" sz="2800" i="1" dirty="0"/>
              <a:t>C2-XML valable au 04.11.2019:</a:t>
            </a:r>
          </a:p>
          <a:p>
            <a:pPr marL="0" indent="0">
              <a:buNone/>
            </a:pPr>
            <a:r>
              <a:rPr lang="fr-BE" sz="2800" i="1" dirty="0"/>
              <a:t>	</a:t>
            </a:r>
            <a:r>
              <a:rPr lang="fr-BE" sz="2600" i="1" dirty="0"/>
              <a:t>57/72.N12..	04.11.2019</a:t>
            </a:r>
          </a:p>
          <a:p>
            <a:pPr marL="0" indent="0">
              <a:buNone/>
            </a:pPr>
            <a:r>
              <a:rPr lang="fr-BE" sz="2600" i="1" dirty="0"/>
              <a:t>	57/72.N13..	05.01.2020</a:t>
            </a:r>
          </a:p>
          <a:p>
            <a:pPr marL="0" indent="0">
              <a:buNone/>
            </a:pPr>
            <a:r>
              <a:rPr lang="fr-BE" sz="2600" i="1" dirty="0"/>
              <a:t>	57/72.N3	05.07.2020</a:t>
            </a:r>
          </a:p>
          <a:p>
            <a:pPr marL="0" indent="0">
              <a:buNone/>
            </a:pPr>
            <a:r>
              <a:rPr lang="fr-BE" sz="2600" i="1" dirty="0"/>
              <a:t>Son contrat prend fin le 28.02.2022. Les données DMFA ne renseignent aucune interruption et l’affilié introduit une DA au 01.03.2022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19149D-C3AD-4DBE-921A-DF4AD849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206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85B5A-9957-4AB3-9437-B5AC8053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 Retour relatif et retour absolu:</a:t>
            </a:r>
            <a:br>
              <a:rPr lang="fr-BE" b="1" i="1" dirty="0"/>
            </a:br>
            <a:r>
              <a:rPr lang="fr-BE" b="1" i="1" dirty="0"/>
              <a:t>Exemple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9CCF48-0262-444D-BF00-AF5710A9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i="1" dirty="0"/>
              <a:t>Cascade Hz et C2-XML valables au 01.03.2022:</a:t>
            </a:r>
          </a:p>
          <a:p>
            <a:pPr marL="0" indent="0">
              <a:buNone/>
            </a:pPr>
            <a:r>
              <a:rPr lang="fr-BE" sz="2800" i="1" dirty="0"/>
              <a:t>	</a:t>
            </a:r>
            <a:r>
              <a:rPr lang="fr-BE" sz="2400" i="1" dirty="0"/>
              <a:t>01/72.N11..	01.03.2022</a:t>
            </a:r>
          </a:p>
          <a:p>
            <a:pPr marL="0" indent="0">
              <a:buNone/>
            </a:pPr>
            <a:r>
              <a:rPr lang="fr-BE" sz="2400" i="1" dirty="0"/>
              <a:t>	01/72.N12..	01.06.2022</a:t>
            </a:r>
          </a:p>
          <a:p>
            <a:pPr marL="0" indent="0">
              <a:buNone/>
            </a:pPr>
            <a:r>
              <a:rPr lang="fr-BE" sz="2400" i="1" dirty="0"/>
              <a:t>	01/72.N13..	01.09.2022</a:t>
            </a:r>
          </a:p>
          <a:p>
            <a:pPr marL="0" indent="0">
              <a:buNone/>
            </a:pPr>
            <a:r>
              <a:rPr lang="fr-BE" sz="2400" i="1" dirty="0"/>
              <a:t>	01/72.N3..	01.03.2023 + art. d’indemnisation 116&amp;1B</a:t>
            </a:r>
          </a:p>
          <a:p>
            <a:pPr marL="0" indent="0">
              <a:buNone/>
            </a:pPr>
            <a:r>
              <a:rPr lang="fr-BE" sz="2600" i="1" dirty="0"/>
              <a:t>L’affilié est indemnisé jusqu’au 14.04.2022 et reprend un contrat 19/38 chez l’employeur A le 15.04.2022.</a:t>
            </a:r>
          </a:p>
          <a:p>
            <a:pPr marL="0" indent="0">
              <a:buNone/>
            </a:pPr>
            <a:r>
              <a:rPr lang="fr-BE" sz="2600" i="1" dirty="0"/>
              <a:t>Il introduit un dossier pour une demande d’AGR au début de l’occupation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50B712-FBF3-4F3A-8755-015E633E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91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D099D-B365-432F-8CFA-B4E6997A1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 Retour relatif et retour absolu:</a:t>
            </a:r>
            <a:br>
              <a:rPr lang="fr-BE" b="1" i="1" dirty="0"/>
            </a:br>
            <a:r>
              <a:rPr lang="fr-BE" b="1" i="1" dirty="0"/>
              <a:t>Exemple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BDBF58-4894-4545-B5A1-32BDA600F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i="1" dirty="0"/>
              <a:t>Le retour relatif est temporairement perdu car reprise chez le même employeur dans les 3 mois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400" i="1" dirty="0"/>
              <a:t>Octroi de la cascade valable avant le retour</a:t>
            </a:r>
          </a:p>
          <a:p>
            <a:pPr marL="57150" indent="0">
              <a:buNone/>
            </a:pPr>
            <a:r>
              <a:rPr lang="fr-BE" sz="2800" i="1" dirty="0"/>
              <a:t>Cascade Horizon valable au 15.04.2022:</a:t>
            </a:r>
          </a:p>
          <a:p>
            <a:pPr marL="57150" indent="0">
              <a:buNone/>
            </a:pPr>
            <a:r>
              <a:rPr lang="fr-BE" sz="2800" i="1" dirty="0"/>
              <a:t>	</a:t>
            </a:r>
            <a:r>
              <a:rPr lang="fr-BE" sz="2400" i="1" dirty="0"/>
              <a:t>57/72.N11..	05.07.2019</a:t>
            </a:r>
          </a:p>
          <a:p>
            <a:pPr marL="57150" indent="0">
              <a:buNone/>
            </a:pPr>
            <a:r>
              <a:rPr lang="fr-BE" sz="2400" i="1" dirty="0"/>
              <a:t>	57/72.N12..	05.10.2019</a:t>
            </a:r>
          </a:p>
          <a:p>
            <a:pPr marL="57150" indent="0">
              <a:buNone/>
            </a:pPr>
            <a:r>
              <a:rPr lang="fr-BE" sz="2400" i="1" dirty="0"/>
              <a:t>	57/72.N13..	05.01.2020</a:t>
            </a:r>
          </a:p>
          <a:p>
            <a:pPr marL="57150" indent="0">
              <a:buNone/>
            </a:pPr>
            <a:r>
              <a:rPr lang="fr-BE" sz="2400" i="1" dirty="0"/>
              <a:t>	57/72.N3..	05.07.2020</a:t>
            </a:r>
          </a:p>
          <a:p>
            <a:pPr marL="57150" indent="0">
              <a:buNone/>
            </a:pPr>
            <a:r>
              <a:rPr lang="fr-BE" sz="2800" i="1" dirty="0"/>
              <a:t>C2-XML valable au 15.04.2022:</a:t>
            </a:r>
          </a:p>
          <a:p>
            <a:pPr marL="57150" indent="0">
              <a:buNone/>
            </a:pPr>
            <a:r>
              <a:rPr lang="fr-BE" sz="2400" i="1" dirty="0"/>
              <a:t>	57/72.N3..	15.04.2022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AD2643-EADF-400E-B600-A688B23D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46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7DF940-0823-43C6-921E-914DF2B34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 Retour relatif et retour absolu:</a:t>
            </a:r>
            <a:br>
              <a:rPr lang="fr-BE" b="1" i="1" dirty="0"/>
            </a:br>
            <a:r>
              <a:rPr lang="fr-BE" b="1" i="1" dirty="0"/>
              <a:t>Exemple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E2CA6E-C3E0-4F0F-ACC1-463624FD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sz="2800" i="1" dirty="0"/>
              <a:t>Il introduit une DA en CC le 15.11.2022 suite à la fin de son contrat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400" i="1" dirty="0"/>
              <a:t>Le retour relatif accordé lors de la DA en CC précédente est de nouveau octroyé</a:t>
            </a:r>
          </a:p>
          <a:p>
            <a:pPr marL="57150" indent="0">
              <a:buNone/>
            </a:pPr>
            <a:r>
              <a:rPr lang="fr-BE" sz="2800" i="1" dirty="0"/>
              <a:t>Cascade Horizon valable au 15.11.2022</a:t>
            </a:r>
          </a:p>
          <a:p>
            <a:pPr marL="0" lvl="0" indent="0">
              <a:buNone/>
            </a:pPr>
            <a:r>
              <a:rPr lang="fr-BE" sz="2400" i="1" dirty="0">
                <a:solidFill>
                  <a:prstClr val="black"/>
                </a:solidFill>
              </a:rPr>
              <a:t>	01/72.N11..	01.03.2022</a:t>
            </a:r>
          </a:p>
          <a:p>
            <a:pPr marL="0" lvl="0" indent="0">
              <a:buNone/>
            </a:pPr>
            <a:r>
              <a:rPr lang="fr-BE" sz="2400" i="1" dirty="0">
                <a:solidFill>
                  <a:prstClr val="black"/>
                </a:solidFill>
              </a:rPr>
              <a:t>	01/72.N12..	01.06.2022</a:t>
            </a:r>
          </a:p>
          <a:p>
            <a:pPr marL="0" lvl="0" indent="0">
              <a:buNone/>
            </a:pPr>
            <a:r>
              <a:rPr lang="fr-BE" sz="2400" i="1" dirty="0">
                <a:solidFill>
                  <a:prstClr val="black"/>
                </a:solidFill>
              </a:rPr>
              <a:t>	01/72.N13..	01.09.2022</a:t>
            </a:r>
          </a:p>
          <a:p>
            <a:pPr marL="0" lvl="0" indent="0">
              <a:buNone/>
            </a:pPr>
            <a:r>
              <a:rPr lang="fr-BE" sz="2400" i="1" dirty="0">
                <a:solidFill>
                  <a:prstClr val="black"/>
                </a:solidFill>
              </a:rPr>
              <a:t>	01/72.N3..	01.03.2023 + art. d’indemnisation 116&amp;1B</a:t>
            </a:r>
          </a:p>
          <a:p>
            <a:pPr marL="0" lvl="0" indent="0">
              <a:buNone/>
            </a:pPr>
            <a:r>
              <a:rPr lang="fr-BE" sz="2400" i="1" dirty="0">
                <a:solidFill>
                  <a:prstClr val="black"/>
                </a:solidFill>
              </a:rPr>
              <a:t>C2-XML valable au 15.11.2022:</a:t>
            </a:r>
          </a:p>
          <a:p>
            <a:pPr marL="0" lvl="0" indent="0">
              <a:buNone/>
            </a:pPr>
            <a:r>
              <a:rPr lang="fr-BE" sz="2400" i="1" dirty="0">
                <a:solidFill>
                  <a:prstClr val="black"/>
                </a:solidFill>
              </a:rPr>
              <a:t>	01/72.N13..	15.11.2022</a:t>
            </a:r>
          </a:p>
          <a:p>
            <a:pPr marL="0" lvl="0" indent="0">
              <a:buNone/>
            </a:pPr>
            <a:r>
              <a:rPr lang="fr-BE" sz="2400" i="1" dirty="0">
                <a:solidFill>
                  <a:prstClr val="black"/>
                </a:solidFill>
              </a:rPr>
              <a:t>	01/72.N3..	01.03.2023 +art. d’indemnisation 116&amp;1B</a:t>
            </a:r>
          </a:p>
          <a:p>
            <a:pPr marL="57150" indent="0">
              <a:buNone/>
            </a:pPr>
            <a:endParaRPr lang="fr-BE" sz="2800" i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067997-A357-49A2-8E29-B7A7388C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66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3. La prolongation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Prolongation de la période d’indemnisation (et phase) en cours au début de l’évènement </a:t>
            </a:r>
          </a:p>
          <a:p>
            <a:pPr marL="358775" indent="0">
              <a:lnSpc>
                <a:spcPct val="90000"/>
              </a:lnSpc>
              <a:buNone/>
            </a:pPr>
            <a:r>
              <a:rPr lang="fr-BE" b="1" dirty="0">
                <a:solidFill>
                  <a:schemeClr val="accent2">
                    <a:lumMod val="50000"/>
                  </a:schemeClr>
                </a:solidFill>
                <a:latin typeface="+mj-lt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  <a:sym typeface="Wingdings" panose="05000000000000000000" pitchFamily="2" charset="2"/>
              </a:rPr>
              <a:t>P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ostposer dans le futur le début des phases suivantes.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La </a:t>
            </a:r>
            <a:r>
              <a:rPr lang="fr-BE" b="1" dirty="0">
                <a:latin typeface="+mj-lt"/>
                <a:cs typeface="Times New Roman" pitchFamily="18" charset="0"/>
              </a:rPr>
              <a:t>Prolongation </a:t>
            </a:r>
            <a:r>
              <a:rPr lang="fr-BE" dirty="0">
                <a:latin typeface="+mj-lt"/>
                <a:cs typeface="Times New Roman" pitchFamily="18" charset="0"/>
              </a:rPr>
              <a:t>se fait </a:t>
            </a:r>
            <a:r>
              <a:rPr lang="fr-BE" b="1" dirty="0">
                <a:latin typeface="+mj-lt"/>
                <a:cs typeface="Times New Roman" pitchFamily="18" charset="0"/>
              </a:rPr>
              <a:t>par mois complets </a:t>
            </a:r>
            <a:r>
              <a:rPr lang="fr-BE" dirty="0">
                <a:latin typeface="+mj-lt"/>
                <a:cs typeface="Times New Roman" pitchFamily="18" charset="0"/>
              </a:rPr>
              <a:t>(de date à date).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4DE5FF-6F76-43F2-BA7B-379DE1B6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La prolongation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A8F19CFA-D349-41FF-8A1E-A01CBAC15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979828"/>
              </p:ext>
            </p:extLst>
          </p:nvPr>
        </p:nvGraphicFramePr>
        <p:xfrm>
          <a:off x="457200" y="1600200"/>
          <a:ext cx="8229600" cy="5046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77760185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735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BE" sz="2200" dirty="0"/>
                        <a:t>SI la durée est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200" dirty="0"/>
                        <a:t>Evènements prolongeant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54572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fr-BE" sz="2600" b="1" dirty="0"/>
                        <a:t>≥ </a:t>
                      </a:r>
                      <a:r>
                        <a:rPr lang="fr-BE" sz="26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r>
                        <a:rPr lang="fr-BE" sz="2600" b="1" dirty="0"/>
                        <a:t> mois</a:t>
                      </a:r>
                    </a:p>
                  </a:txBody>
                  <a:tcPr marT="972000"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Travail temps plein ou Q &gt; 4/5 ou salaire ≥ salaire de référence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9503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Travail temps plein handicapé (Art.78)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1299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TTPMD sans AGR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0077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FP temps plein (11/)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3932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Cohabitation à l’étranger dans le cadre du stationnement des forces armées belges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3378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fr-BE" sz="2600" b="1" dirty="0"/>
                        <a:t>≥ </a:t>
                      </a:r>
                      <a:r>
                        <a:rPr lang="fr-BE" sz="26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  <a:r>
                        <a:rPr lang="fr-BE" sz="2600" b="1" dirty="0"/>
                        <a:t> mois</a:t>
                      </a:r>
                    </a:p>
                  </a:txBody>
                  <a:tcPr marT="540000"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Profession sans cotisation ONSS secteur chômage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619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Etudes de plein exercices sans allocation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64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Dispense 90 aidant-proche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2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600" b="1" dirty="0"/>
                        <a:t>≥ </a:t>
                      </a:r>
                      <a:r>
                        <a:rPr lang="fr-BE" sz="26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r>
                        <a:rPr lang="fr-BE" sz="2600" b="1" dirty="0"/>
                        <a:t>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Allocations d’interruption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282094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5C8032-7DC0-4A29-BE63-E13ED6CC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077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3CC50-0A30-4D68-A1AC-50091911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La prolongation: Particularité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32505D-DBAA-418D-98D9-6031B434C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Certains évènements peuvent être additionnées pour atteindre la durée minimum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3 mois </a:t>
            </a:r>
            <a:r>
              <a:rPr lang="fr-BE" dirty="0"/>
              <a:t>à condition qu’il n’y ait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pas d’interruption </a:t>
            </a:r>
            <a:r>
              <a:rPr lang="fr-BE" dirty="0"/>
              <a:t>entre eux: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b="1" dirty="0"/>
              <a:t>Travail « temps plein » + TTPMD sans AGR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b="1" dirty="0"/>
              <a:t>Travail « temps plein » + FP temps plein (11/)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68F6BE-D849-4FE7-801F-0A5CA17F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274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0772C-23A3-40F9-B66E-FA824EA9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La prolongation: exemples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395A1E-E47F-49F2-94C5-086E4EA5C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4 mois de travail temps plein suivis par 5 mois d’activité indépendante</a:t>
            </a:r>
          </a:p>
          <a:p>
            <a:pPr marL="0" indent="0">
              <a:buNone/>
            </a:pPr>
            <a:endParaRPr lang="fr-BE" sz="3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2 mois FP temps plein suivi par 1 mois d’inactivité et suivi par 2 mois de travail temps plein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sz="3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8,5 mois indépendant suivi par 4,5 mois TTPMD sans AGR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sz="3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2 mois de dispense en qualité d’aidant-proche pour soins palliatifs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sz="3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3,5 mois de travail temps plein suivi par 15 jours d’inactivité suivi par 6,5 mois d’indépendant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0FB8E5-B79E-421C-B197-D9E5C0FE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58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solidFill>
                  <a:prstClr val="black"/>
                </a:solidFill>
                <a:cs typeface="Times New Roman" pitchFamily="18" charset="0"/>
              </a:rPr>
              <a:t>3. La prolongation</a:t>
            </a:r>
            <a:endParaRPr lang="en-US" b="1" i="1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FR" dirty="0">
                <a:latin typeface="+mj-lt"/>
                <a:cs typeface="Times New Roman" pitchFamily="18" charset="0"/>
              </a:rPr>
              <a:t>Formules DMFA pour le calcul </a:t>
            </a:r>
            <a:r>
              <a:rPr lang="fr-FR" b="1" dirty="0">
                <a:latin typeface="+mj-lt"/>
                <a:cs typeface="Times New Roman" pitchFamily="18" charset="0"/>
              </a:rPr>
              <a:t>des jours de travail </a:t>
            </a:r>
            <a:r>
              <a:rPr lang="fr-FR" dirty="0">
                <a:latin typeface="+mj-lt"/>
                <a:cs typeface="Times New Roman" pitchFamily="18" charset="0"/>
              </a:rPr>
              <a:t>:</a:t>
            </a:r>
          </a:p>
          <a:p>
            <a:pPr marL="0" indent="0">
              <a:lnSpc>
                <a:spcPct val="90000"/>
              </a:lnSpc>
              <a:buNone/>
            </a:pPr>
            <a:endParaRPr lang="en-US" sz="2600" dirty="0">
              <a:latin typeface="+mj-lt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1882D435-60C3-405C-98BA-34F4567BE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39231"/>
              </p:ext>
            </p:extLst>
          </p:nvPr>
        </p:nvGraphicFramePr>
        <p:xfrm>
          <a:off x="457401" y="2708924"/>
          <a:ext cx="8448060" cy="37127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24030">
                  <a:extLst>
                    <a:ext uri="{9D8B030D-6E8A-4147-A177-3AD203B41FA5}">
                      <a16:colId xmlns:a16="http://schemas.microsoft.com/office/drawing/2014/main" val="533473028"/>
                    </a:ext>
                  </a:extLst>
                </a:gridCol>
                <a:gridCol w="4224030">
                  <a:extLst>
                    <a:ext uri="{9D8B030D-6E8A-4147-A177-3AD203B41FA5}">
                      <a16:colId xmlns:a16="http://schemas.microsoft.com/office/drawing/2014/main" val="3737161383"/>
                    </a:ext>
                  </a:extLst>
                </a:gridCol>
              </a:tblGrid>
              <a:tr h="792776"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Occupation temps plein</a:t>
                      </a:r>
                    </a:p>
                    <a:p>
                      <a:pPr algn="ctr"/>
                      <a:r>
                        <a:rPr lang="fr-BE" sz="2400" dirty="0"/>
                        <a:t>Q =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Occupation </a:t>
                      </a:r>
                      <a:r>
                        <a:rPr lang="fr-BE" sz="2400"/>
                        <a:t>temps partiel</a:t>
                      </a:r>
                      <a:endParaRPr lang="fr-BE" sz="2400" dirty="0"/>
                    </a:p>
                    <a:p>
                      <a:pPr algn="ctr"/>
                      <a:r>
                        <a:rPr lang="fr-BE" sz="2400" dirty="0"/>
                        <a:t>Q &lt;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37052"/>
                  </a:ext>
                </a:extLst>
              </a:tr>
              <a:tr h="2172792">
                <a:tc>
                  <a:txBody>
                    <a:bodyPr/>
                    <a:lstStyle/>
                    <a:p>
                      <a:pPr algn="ctr"/>
                      <a:r>
                        <a:rPr lang="fr-BE" sz="3500" b="1" u="sn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 x 6</a:t>
                      </a:r>
                      <a:endParaRPr lang="fr-BE" sz="3500" b="1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fr-BE" sz="3500" b="1" u="non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</a:t>
                      </a:r>
                    </a:p>
                    <a:p>
                      <a:pPr algn="l"/>
                      <a:r>
                        <a:rPr lang="fr-BE" sz="2400" b="1" u="none" dirty="0"/>
                        <a:t>A = nombre de jours</a:t>
                      </a:r>
                    </a:p>
                    <a:p>
                      <a:pPr algn="l"/>
                      <a:r>
                        <a:rPr lang="fr-BE" sz="2400" b="1" u="none" dirty="0"/>
                        <a:t>R= régime de travail</a:t>
                      </a:r>
                      <a:endParaRPr lang="fr-BE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3500" b="1" u="sn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 x 6</a:t>
                      </a:r>
                    </a:p>
                    <a:p>
                      <a:pPr algn="ctr"/>
                      <a:r>
                        <a:rPr lang="fr-BE" sz="35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Q</a:t>
                      </a:r>
                    </a:p>
                    <a:p>
                      <a:pPr algn="l"/>
                      <a:r>
                        <a:rPr lang="fr-BE" sz="2400" b="1" dirty="0"/>
                        <a:t>a = nombre d’heures</a:t>
                      </a:r>
                    </a:p>
                    <a:p>
                      <a:pPr algn="l"/>
                      <a:r>
                        <a:rPr lang="fr-BE" sz="2400" b="1" dirty="0"/>
                        <a:t>Q= nombre d’heures par semaine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342367"/>
                  </a:ext>
                </a:extLst>
              </a:tr>
              <a:tr h="634233">
                <a:tc gridSpan="2">
                  <a:txBody>
                    <a:bodyPr/>
                    <a:lstStyle/>
                    <a:p>
                      <a:pPr algn="ctr"/>
                      <a:r>
                        <a:rPr lang="fr-BE" sz="22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Limitation à 78 jours par trimestre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fr-B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456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21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9230E-FFA9-43F4-8138-EBA2D39E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La prolongation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9A2372-65EA-4631-A24E-E628B5B4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Dans la cadre de la prolongation les heures supplémentaires doivent être neutralisées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AE19C4-BC7B-411F-82AC-48F478BC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422F292D-F3F4-4F5C-94F6-AEAEA14C037D}"/>
              </a:ext>
            </a:extLst>
          </p:cNvPr>
          <p:cNvGraphicFramePr>
            <a:graphicFrameLocks noGrp="1"/>
          </p:cNvGraphicFramePr>
          <p:nvPr/>
        </p:nvGraphicFramePr>
        <p:xfrm>
          <a:off x="179512" y="2820352"/>
          <a:ext cx="8784976" cy="3870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val="46760371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19480650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Procédure de limitation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377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Temps plein Q = S</a:t>
                      </a:r>
                    </a:p>
                  </a:txBody>
                  <a:tcPr>
                    <a:pattFill prst="pct75">
                      <a:fgClr>
                        <a:schemeClr val="accent3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200" b="1" dirty="0"/>
                        <a:t>Temps partiel Q &lt; S</a:t>
                      </a:r>
                    </a:p>
                  </a:txBody>
                  <a:tcPr>
                    <a:pattFill prst="pct75">
                      <a:fgClr>
                        <a:schemeClr val="accent3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22964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200" dirty="0"/>
                        <a:t>Limitation au nombre de jours R6 situés dans l’occupation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Limitation au nombre théorique d’heures à prester : </a:t>
                      </a:r>
                    </a:p>
                    <a:p>
                      <a:pPr algn="ctr"/>
                      <a:r>
                        <a:rPr lang="fr-BE" sz="2100" b="1" u="sn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jours calendrier dans l’occupation x Q</a:t>
                      </a:r>
                    </a:p>
                    <a:p>
                      <a:pPr algn="ctr"/>
                      <a:r>
                        <a:rPr lang="fr-BE" sz="2100" b="1" u="non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  <a:p>
                      <a:r>
                        <a:rPr lang="fr-BE" dirty="0"/>
                        <a:t>Si plusieurs occupations à temps partiel dont la durée de travail moyenne hebdomadaire est supérieure à un temps plein sont effectuées simultanément, les règles de limitation pour l’occupation à temps plein sont d’application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097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05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fr-BE" b="1" i="1" dirty="0">
                <a:solidFill>
                  <a:prstClr val="black"/>
                </a:solidFill>
                <a:cs typeface="Times New Roman" pitchFamily="18" charset="0"/>
              </a:rPr>
              <a:t>3. La prolongation</a:t>
            </a:r>
            <a:endParaRPr lang="en-US" b="1" i="1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BE" b="1" dirty="0">
                <a:latin typeface="+mj-lt"/>
                <a:cs typeface="Times New Roman" pitchFamily="18" charset="0"/>
              </a:rPr>
              <a:t>Le nombre de mois de prolongation est obtenu en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divisant par 26 le total des calculs DMFA.</a:t>
            </a:r>
          </a:p>
          <a:p>
            <a:pPr marL="0" indent="0">
              <a:lnSpc>
                <a:spcPct val="90000"/>
              </a:lnSpc>
              <a:buNone/>
            </a:pPr>
            <a:endParaRPr lang="fr-BE" sz="2800" dirty="0">
              <a:latin typeface="+mj-lt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BE" sz="2800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fr-BE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BE" dirty="0">
                <a:latin typeface="+mj-lt"/>
                <a:cs typeface="Times New Roman" pitchFamily="18" charset="0"/>
              </a:rPr>
              <a:t>Le résultat est </a:t>
            </a:r>
            <a:r>
              <a:rPr lang="fr-BE" b="1" u="sng" dirty="0">
                <a:latin typeface="+mj-lt"/>
                <a:cs typeface="Times New Roman" pitchFamily="18" charset="0"/>
              </a:rPr>
              <a:t>toujours</a:t>
            </a:r>
            <a:r>
              <a:rPr lang="fr-BE" dirty="0">
                <a:latin typeface="+mj-lt"/>
                <a:cs typeface="Times New Roman" pitchFamily="18" charset="0"/>
              </a:rPr>
              <a:t> arrondi à l’unité inférieure :</a:t>
            </a:r>
          </a:p>
          <a:p>
            <a:pPr marL="342900" lvl="2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sz="3200" dirty="0">
                <a:latin typeface="+mj-lt"/>
                <a:cs typeface="Times New Roman" pitchFamily="18" charset="0"/>
              </a:rPr>
              <a:t>Si </a:t>
            </a:r>
            <a:r>
              <a:rPr lang="fr-BE" sz="320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&lt;</a:t>
            </a:r>
            <a:r>
              <a:rPr lang="fr-BE" sz="3200" dirty="0">
                <a:latin typeface="+mj-lt"/>
                <a:cs typeface="Times New Roman" pitchFamily="18" charset="0"/>
              </a:rPr>
              <a:t> 3 pas de prolongation </a:t>
            </a:r>
          </a:p>
          <a:p>
            <a:pPr marL="342900" lvl="2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BE" sz="3200" dirty="0">
                <a:latin typeface="+mj-lt"/>
                <a:cs typeface="Times New Roman" pitchFamily="18" charset="0"/>
              </a:rPr>
              <a:t>Si </a:t>
            </a:r>
            <a:r>
              <a:rPr lang="fr-BE" sz="320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≥</a:t>
            </a:r>
            <a:r>
              <a:rPr lang="fr-BE" sz="3200" dirty="0">
                <a:latin typeface="+mj-lt"/>
                <a:cs typeface="Times New Roman" pitchFamily="18" charset="0"/>
              </a:rPr>
              <a:t> 3 prolongation du nombre de mois complet.</a:t>
            </a:r>
          </a:p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b="1" i="1" dirty="0">
                <a:cs typeface="Times New Roman" pitchFamily="18" charset="0"/>
              </a:rPr>
              <a:t>4. La fixation temporaire 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itchFamily="18" charset="0"/>
              </a:rPr>
              <a:t>La fixation temporaire </a:t>
            </a:r>
            <a:r>
              <a:rPr lang="fr-FR" sz="3600" dirty="0">
                <a:latin typeface="+mj-lt"/>
                <a:cs typeface="Times New Roman" pitchFamily="18" charset="0"/>
              </a:rPr>
              <a:t>= Maintien de la phase (période d’indemnisation) valable au début de l'événement et ce pendant toute la durée de celui-ci.</a:t>
            </a:r>
          </a:p>
          <a:p>
            <a:pPr marL="0" lvl="1" indent="0">
              <a:buNone/>
            </a:pPr>
            <a:r>
              <a:rPr lang="fr-FR" sz="3600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La fixation temporaire </a:t>
            </a:r>
            <a:r>
              <a:rPr lang="fr-FR" sz="3600" b="1" dirty="0">
                <a:latin typeface="+mj-lt"/>
                <a:cs typeface="Times New Roman" pitchFamily="18" charset="0"/>
                <a:sym typeface="Wingdings" panose="05000000000000000000" pitchFamily="2" charset="2"/>
              </a:rPr>
              <a:t>concerne la f</a:t>
            </a:r>
            <a:r>
              <a:rPr lang="fr-FR" sz="3600" b="1" dirty="0">
                <a:latin typeface="+mj-lt"/>
                <a:cs typeface="Times New Roman" pitchFamily="18" charset="0"/>
              </a:rPr>
              <a:t>ormation professionnelle à temps plein </a:t>
            </a:r>
          </a:p>
          <a:p>
            <a:pPr marL="0" lvl="1" indent="0">
              <a:buNone/>
            </a:pPr>
            <a:r>
              <a:rPr lang="fr-FR" dirty="0">
                <a:latin typeface="+mj-lt"/>
                <a:cs typeface="Times New Roman" pitchFamily="18" charset="0"/>
              </a:rPr>
              <a:t>(uniquement préfixe 11/).</a:t>
            </a:r>
          </a:p>
          <a:p>
            <a:pPr marL="0" indent="0">
              <a:buNone/>
            </a:pPr>
            <a:endParaRPr lang="en-US" sz="3600" dirty="0">
              <a:latin typeface="+mj-lt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709E53-B929-41DB-8AE3-053BC8AD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La fixation temporaire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326093-C424-46DC-992A-EE7D0E92B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3569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BE" sz="3500" dirty="0"/>
              <a:t>Si dispense pour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études de plein exercice préparant à un métier en pénurie (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93,6</a:t>
            </a:r>
            <a:r>
              <a:rPr lang="fr-BE" sz="30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Formation comme indépendant  (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92</a:t>
            </a:r>
            <a:r>
              <a:rPr lang="fr-BE" sz="30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Préparation à une activité indépendante au moyen d'une coopérative d'activités  (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94,5</a:t>
            </a:r>
            <a:r>
              <a:rPr lang="fr-BE" sz="3000" dirty="0"/>
              <a:t>)</a:t>
            </a:r>
          </a:p>
          <a:p>
            <a:pPr marL="0" indent="0">
              <a:buNone/>
            </a:pPr>
            <a:r>
              <a:rPr lang="fr-BE" sz="3500" dirty="0"/>
              <a:t>Le montant des allocations sera maintenu comme suit:</a:t>
            </a:r>
            <a:endParaRPr lang="fr-BE" dirty="0"/>
          </a:p>
          <a:p>
            <a:r>
              <a:rPr lang="fr-BE" sz="3000" b="1" u="sng" dirty="0"/>
              <a:t>Si</a:t>
            </a:r>
            <a:r>
              <a:rPr lang="fr-BE" sz="3000" dirty="0"/>
              <a:t> l’AS se trouve dans la </a:t>
            </a:r>
            <a:r>
              <a:rPr lang="fr-BE" sz="3000" b="1" dirty="0"/>
              <a:t>première période d'indemnisation</a:t>
            </a:r>
            <a:r>
              <a:rPr lang="fr-BE" sz="30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dégressivité</a:t>
            </a:r>
            <a:r>
              <a:rPr lang="fr-BE" dirty="0"/>
              <a:t> jusqu'à la deuxième période.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A partir de la deuxième période, le montant des allocations est maintenu;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Article d’indemnisation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STU1</a:t>
            </a:r>
          </a:p>
          <a:p>
            <a:r>
              <a:rPr lang="fr-BE" sz="3000" b="1" u="sng" dirty="0"/>
              <a:t>Si</a:t>
            </a:r>
            <a:r>
              <a:rPr lang="fr-BE" sz="3000" dirty="0"/>
              <a:t> l’AS de trouve dans la </a:t>
            </a:r>
            <a:r>
              <a:rPr lang="fr-BE" sz="3000" b="1" dirty="0"/>
              <a:t>deuxième période</a:t>
            </a:r>
            <a:r>
              <a:rPr lang="fr-BE" sz="30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le montant des allocations est maintenu;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Article d’indemnisation </a:t>
            </a:r>
            <a:r>
              <a:rPr lang="fr-BE" b="1" dirty="0" err="1">
                <a:solidFill>
                  <a:schemeClr val="accent2">
                    <a:lumMod val="75000"/>
                  </a:schemeClr>
                </a:solidFill>
              </a:rPr>
              <a:t>STUxx</a:t>
            </a:r>
            <a:r>
              <a:rPr lang="fr-BE" dirty="0"/>
              <a:t> où </a:t>
            </a:r>
            <a:r>
              <a:rPr lang="fr-BE" b="1" dirty="0"/>
              <a:t>xx</a:t>
            </a:r>
            <a:r>
              <a:rPr lang="fr-BE" dirty="0"/>
              <a:t> représente la phase dans laquelle il se trouve au début de la dispense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0BF5EE-04D2-4017-BBD8-D5C58364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68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88462-0EF4-486A-A8C0-E5A6ACE8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La fixation temporaire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D29D3F-CE81-4FDA-A411-51ED76BE2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En cas de réussite</a:t>
            </a:r>
            <a:r>
              <a:rPr lang="fr-BE" dirty="0"/>
              <a:t>, maintien de ce montant avantageux pendant une période de 6 mois à dater de la fin de votre dispense.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La demande de ce bonus n’est pas automatique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Introduction d’un formulaire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C114-Bonus </a:t>
            </a:r>
            <a:r>
              <a:rPr lang="fr-BE" dirty="0"/>
              <a:t>complété par le chômeur ET le responsable du centre de formation / Etablissement scolaire /coopérative d’activité.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5D2F48-4D7D-49B8-BD28-238AB58E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29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DAE856D1-A91B-449E-AD24-F7D02A09D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190799"/>
              </p:ext>
            </p:extLst>
          </p:nvPr>
        </p:nvGraphicFramePr>
        <p:xfrm>
          <a:off x="302342" y="1907449"/>
          <a:ext cx="8656477" cy="4043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0069">
                  <a:extLst>
                    <a:ext uri="{9D8B030D-6E8A-4147-A177-3AD203B41FA5}">
                      <a16:colId xmlns:a16="http://schemas.microsoft.com/office/drawing/2014/main" val="853855359"/>
                    </a:ext>
                  </a:extLst>
                </a:gridCol>
                <a:gridCol w="6266408">
                  <a:extLst>
                    <a:ext uri="{9D8B030D-6E8A-4147-A177-3AD203B41FA5}">
                      <a16:colId xmlns:a16="http://schemas.microsoft.com/office/drawing/2014/main" val="98481441"/>
                    </a:ext>
                  </a:extLst>
                </a:gridCol>
              </a:tblGrid>
              <a:tr h="516122">
                <a:tc>
                  <a:txBody>
                    <a:bodyPr/>
                    <a:lstStyle/>
                    <a:p>
                      <a:endParaRPr lang="fr-BE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BE" sz="1000" dirty="0">
                          <a:sym typeface="Wingdings 3" panose="05040102010807070707" pitchFamily="18" charset="2"/>
                        </a:rPr>
                        <a:t>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Prolongation fixe de 18 mois </a:t>
                      </a:r>
                      <a:r>
                        <a:rPr lang="fr-BE" sz="1000" dirty="0">
                          <a:sym typeface="Wingdings 3" panose="05040102010807070707" pitchFamily="18" charset="2"/>
                        </a:rPr>
                        <a:t>si pas de retour ou de prolongation durant la période de gel!</a:t>
                      </a:r>
                      <a:endParaRPr lang="fr-BE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00178238"/>
                  </a:ext>
                </a:extLst>
              </a:tr>
              <a:tr h="516122">
                <a:tc>
                  <a:txBody>
                    <a:bodyPr/>
                    <a:lstStyle/>
                    <a:p>
                      <a:endParaRPr lang="fr-BE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BE" sz="1000" dirty="0">
                          <a:sym typeface="Wingdings 3" panose="05040102010807070707" pitchFamily="18" charset="2"/>
                        </a:rPr>
                        <a:t> Prolongation du nombre de 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«</a:t>
                      </a:r>
                      <a:r>
                        <a:rPr lang="fr-BE" sz="1000" dirty="0">
                          <a:sym typeface="Wingdings 3" panose="05040102010807070707" pitchFamily="18" charset="2"/>
                        </a:rPr>
                        <a:t> 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mois complets » entre la première DA et la fin des mesures au 30.09.2021</a:t>
                      </a:r>
                      <a:endParaRPr lang="fr-BE" sz="1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99265345"/>
                  </a:ext>
                </a:extLst>
              </a:tr>
              <a:tr h="516122">
                <a:tc>
                  <a:txBody>
                    <a:bodyPr/>
                    <a:lstStyle/>
                    <a:p>
                      <a:endParaRPr lang="fr-BE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BE" sz="1000" dirty="0">
                          <a:sym typeface="Wingdings 3" panose="05040102010807070707" pitchFamily="18" charset="2"/>
                        </a:rPr>
                        <a:t> Prolongation du nombre de 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« mois complets » entre le retour et la fin des mesures au 30.09.2021 </a:t>
                      </a:r>
                      <a:r>
                        <a:rPr lang="fr-BE" sz="900" b="0" dirty="0">
                          <a:solidFill>
                            <a:schemeClr val="tx1"/>
                          </a:solidFill>
                          <a:sym typeface="Wingdings 3" panose="05040102010807070707" pitchFamily="18" charset="2"/>
                        </a:rPr>
                        <a:t>(            c’est le dernier retour qui sert de base pour le calcul) </a:t>
                      </a:r>
                      <a:endParaRPr lang="fr-BE" sz="1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91085684"/>
                  </a:ext>
                </a:extLst>
              </a:tr>
              <a:tr h="516122">
                <a:tc>
                  <a:txBody>
                    <a:bodyPr/>
                    <a:lstStyle/>
                    <a:p>
                      <a:endParaRPr lang="fr-BE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indent="0">
                        <a:buFont typeface="Wingdings 3" panose="05040102010807070707" pitchFamily="18" charset="2"/>
                        <a:buNone/>
                        <a:tabLst>
                          <a:tab pos="1169988" algn="l"/>
                        </a:tabLst>
                      </a:pPr>
                      <a:r>
                        <a:rPr lang="fr-BE" sz="1000" b="1" dirty="0">
                          <a:solidFill>
                            <a:schemeClr val="tx1"/>
                          </a:solidFill>
                          <a:sym typeface="Wingdings 3" panose="05040102010807070707" pitchFamily="18" charset="2"/>
                        </a:rPr>
                        <a:t> 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Annulation de la prolongation </a:t>
                      </a:r>
                      <a:r>
                        <a:rPr lang="fr-BE" sz="1000" dirty="0">
                          <a:sym typeface="Wingdings 3" panose="05040102010807070707" pitchFamily="18" charset="2"/>
                        </a:rPr>
                        <a:t>octroyée précédemment 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ET</a:t>
                      </a:r>
                    </a:p>
                    <a:p>
                      <a:pPr marL="285750" indent="-285750">
                        <a:buFont typeface="Wingdings 3" panose="05040102010807070707" pitchFamily="18" charset="2"/>
                        <a:buChar char="Æ"/>
                      </a:pPr>
                      <a:r>
                        <a:rPr lang="fr-BE" sz="1000" dirty="0">
                          <a:sym typeface="Wingdings 3" panose="05040102010807070707" pitchFamily="18" charset="2"/>
                        </a:rPr>
                        <a:t>Prolongation des 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18 mois</a:t>
                      </a:r>
                      <a:endParaRPr lang="fr-BE" sz="1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81596993"/>
                  </a:ext>
                </a:extLst>
              </a:tr>
              <a:tr h="516122">
                <a:tc>
                  <a:txBody>
                    <a:bodyPr/>
                    <a:lstStyle/>
                    <a:p>
                      <a:endParaRPr lang="fr-BE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BE" sz="1000" dirty="0">
                          <a:sym typeface="Wingdings 3" panose="05040102010807070707" pitchFamily="18" charset="2"/>
                        </a:rPr>
                        <a:t> Prolongation du nombre de 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« mois complets » entre la DA de prolongation et le 30.09.2021 + 1 unité en cas de mois incomplet</a:t>
                      </a:r>
                      <a:endParaRPr lang="fr-BE" sz="1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44448825"/>
                  </a:ext>
                </a:extLst>
              </a:tr>
              <a:tr h="731803">
                <a:tc>
                  <a:txBody>
                    <a:bodyPr/>
                    <a:lstStyle/>
                    <a:p>
                      <a:endParaRPr lang="fr-BE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BE" sz="1100" i="1" u="sng" dirty="0"/>
                        <a:t>SI C2 au 01.10.2021</a:t>
                      </a:r>
                      <a:r>
                        <a:rPr lang="fr-BE" sz="1100" u="sng" dirty="0"/>
                        <a:t>:</a:t>
                      </a:r>
                      <a:r>
                        <a:rPr lang="fr-BE" sz="1100" u="none" dirty="0"/>
                        <a:t> </a:t>
                      </a:r>
                      <a:r>
                        <a:rPr lang="fr-BE" sz="1100" u="none" dirty="0">
                          <a:sym typeface="Wingdings 3" panose="05040102010807070707" pitchFamily="18" charset="2"/>
                        </a:rPr>
                        <a:t></a:t>
                      </a:r>
                      <a:r>
                        <a:rPr lang="fr-BE" sz="1100" u="none" dirty="0"/>
                        <a:t>Conditions </a:t>
                      </a:r>
                      <a:r>
                        <a:rPr lang="fr-BE" sz="1100" b="1" u="none" dirty="0">
                          <a:solidFill>
                            <a:srgbClr val="C00000"/>
                          </a:solidFill>
                        </a:rPr>
                        <a:t>art. 116&amp;2</a:t>
                      </a:r>
                      <a:r>
                        <a:rPr lang="fr-BE" sz="1100" u="none" dirty="0"/>
                        <a:t>? </a:t>
                      </a:r>
                    </a:p>
                    <a:p>
                      <a:r>
                        <a:rPr lang="fr-BE" sz="1100" u="none" dirty="0"/>
                        <a:t>                                      </a:t>
                      </a:r>
                      <a:r>
                        <a:rPr lang="fr-BE" sz="1100" u="none" dirty="0">
                          <a:sym typeface="Wingdings 3" panose="05040102010807070707" pitchFamily="18" charset="2"/>
                        </a:rPr>
                        <a:t></a:t>
                      </a:r>
                      <a:r>
                        <a:rPr lang="fr-BE" sz="1100" b="1" u="none" dirty="0">
                          <a:solidFill>
                            <a:srgbClr val="C00000"/>
                          </a:solidFill>
                        </a:rPr>
                        <a:t>Prolongation uniquement des périodes après le 30.09.2021</a:t>
                      </a:r>
                    </a:p>
                    <a:p>
                      <a:r>
                        <a:rPr lang="fr-BE" sz="1100" i="1" u="sng" dirty="0"/>
                        <a:t>Si pas de C2 au 01.10.2021</a:t>
                      </a:r>
                      <a:r>
                        <a:rPr lang="fr-BE" sz="1100" u="none" dirty="0"/>
                        <a:t>: </a:t>
                      </a:r>
                      <a:r>
                        <a:rPr lang="fr-BE" sz="1100" u="none" dirty="0">
                          <a:sym typeface="Wingdings 3" panose="05040102010807070707" pitchFamily="18" charset="2"/>
                        </a:rPr>
                        <a:t> Conditions art. </a:t>
                      </a:r>
                      <a:r>
                        <a:rPr lang="fr-BE" sz="1100" b="1" u="none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116&amp;2</a:t>
                      </a:r>
                      <a:r>
                        <a:rPr lang="fr-BE" sz="1100" u="none" dirty="0">
                          <a:sym typeface="Wingdings 3" panose="05040102010807070707" pitchFamily="18" charset="2"/>
                        </a:rPr>
                        <a:t>?</a:t>
                      </a:r>
                      <a:endParaRPr lang="fr-BE" sz="1100" u="none" dirty="0"/>
                    </a:p>
                    <a:p>
                      <a:r>
                        <a:rPr lang="fr-BE" sz="1100" u="none" dirty="0"/>
                        <a:t>                                                   </a:t>
                      </a:r>
                      <a:r>
                        <a:rPr lang="fr-BE" sz="1100" u="none" dirty="0">
                          <a:sym typeface="Wingdings 3" panose="05040102010807070707" pitchFamily="18" charset="2"/>
                        </a:rPr>
                        <a:t> </a:t>
                      </a:r>
                      <a:r>
                        <a:rPr lang="fr-BE" sz="1100" b="1" u="none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Prolongation Corona de 18 mois </a:t>
                      </a:r>
                      <a:r>
                        <a:rPr lang="fr-BE" sz="1100" u="none" dirty="0">
                          <a:sym typeface="Wingdings 3" panose="05040102010807070707" pitchFamily="18" charset="2"/>
                        </a:rPr>
                        <a:t>(ou moins si 1</a:t>
                      </a:r>
                      <a:r>
                        <a:rPr lang="fr-BE" sz="1100" u="none" baseline="30000" dirty="0">
                          <a:sym typeface="Wingdings 3" panose="05040102010807070707" pitchFamily="18" charset="2"/>
                        </a:rPr>
                        <a:t>ère</a:t>
                      </a:r>
                      <a:r>
                        <a:rPr lang="fr-BE" sz="1100" u="none" dirty="0">
                          <a:sym typeface="Wingdings 3" panose="05040102010807070707" pitchFamily="18" charset="2"/>
                        </a:rPr>
                        <a:t> DA ou retour)</a:t>
                      </a:r>
                    </a:p>
                    <a:p>
                      <a:r>
                        <a:rPr lang="fr-BE" sz="1100" u="none" dirty="0">
                          <a:sym typeface="Wingdings 3" panose="05040102010807070707" pitchFamily="18" charset="2"/>
                        </a:rPr>
                        <a:t>                                                    </a:t>
                      </a:r>
                      <a:r>
                        <a:rPr lang="fr-BE" sz="1100" b="1" u="none" dirty="0">
                          <a:solidFill>
                            <a:srgbClr val="C00000"/>
                          </a:solidFill>
                          <a:sym typeface="Wingdings 3" panose="05040102010807070707" pitchFamily="18" charset="2"/>
                        </a:rPr>
                        <a:t>Prolongation des périodes après le 30.09.2021</a:t>
                      </a:r>
                      <a:endParaRPr lang="fr-BE" sz="11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1643054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endParaRPr lang="fr-BE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BE" sz="1000" b="1" dirty="0">
                          <a:solidFill>
                            <a:schemeClr val="tx1"/>
                          </a:solidFill>
                          <a:sym typeface="Wingdings 3" panose="05040102010807070707" pitchFamily="18" charset="2"/>
                        </a:rPr>
                        <a:t></a:t>
                      </a:r>
                      <a:r>
                        <a:rPr lang="fr-BE" sz="1000" b="1" dirty="0">
                          <a:solidFill>
                            <a:srgbClr val="C00000"/>
                          </a:solidFill>
                        </a:rPr>
                        <a:t>Prolongation de toute la durée de l’évènement: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BE" sz="1100" dirty="0"/>
                        <a:t>Toute la partie de l’évènement située dans la période de gel doit être prise en compte;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BE" sz="1100" dirty="0"/>
                        <a:t>Les journées d’interruption hors période de gel ne pourront pas être prises en compte;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25311319"/>
                  </a:ext>
                </a:extLst>
              </a:tr>
            </a:tbl>
          </a:graphicData>
        </a:graphic>
      </p:graphicFrame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C435EFE2-152C-4DF2-A2DB-AF22E435CF5C}"/>
              </a:ext>
            </a:extLst>
          </p:cNvPr>
          <p:cNvCxnSpPr/>
          <p:nvPr/>
        </p:nvCxnSpPr>
        <p:spPr>
          <a:xfrm>
            <a:off x="363894" y="2287769"/>
            <a:ext cx="216936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37D9420-3BE4-401C-AEFD-83CC0E548C09}"/>
              </a:ext>
            </a:extLst>
          </p:cNvPr>
          <p:cNvCxnSpPr/>
          <p:nvPr/>
        </p:nvCxnSpPr>
        <p:spPr>
          <a:xfrm>
            <a:off x="363894" y="2785526"/>
            <a:ext cx="216936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D6DAA63-44B6-41D0-B447-95909017A053}"/>
              </a:ext>
            </a:extLst>
          </p:cNvPr>
          <p:cNvCxnSpPr/>
          <p:nvPr/>
        </p:nvCxnSpPr>
        <p:spPr>
          <a:xfrm>
            <a:off x="350535" y="3350403"/>
            <a:ext cx="216936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535DE3A-2072-4567-A639-E8007B7B185A}"/>
              </a:ext>
            </a:extLst>
          </p:cNvPr>
          <p:cNvCxnSpPr/>
          <p:nvPr/>
        </p:nvCxnSpPr>
        <p:spPr>
          <a:xfrm>
            <a:off x="363894" y="3894381"/>
            <a:ext cx="216936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D2EC6F8-706B-4E70-95AD-397B5A4AFEE5}"/>
              </a:ext>
            </a:extLst>
          </p:cNvPr>
          <p:cNvCxnSpPr/>
          <p:nvPr/>
        </p:nvCxnSpPr>
        <p:spPr>
          <a:xfrm>
            <a:off x="371265" y="4385726"/>
            <a:ext cx="216936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9163B7E-1973-44D9-8D69-60654720AF61}"/>
              </a:ext>
            </a:extLst>
          </p:cNvPr>
          <p:cNvCxnSpPr/>
          <p:nvPr/>
        </p:nvCxnSpPr>
        <p:spPr>
          <a:xfrm>
            <a:off x="394590" y="5075354"/>
            <a:ext cx="216936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58E7507-69E4-4668-AC9A-3D9A3F17F5AC}"/>
              </a:ext>
            </a:extLst>
          </p:cNvPr>
          <p:cNvCxnSpPr/>
          <p:nvPr/>
        </p:nvCxnSpPr>
        <p:spPr>
          <a:xfrm>
            <a:off x="363894" y="5823694"/>
            <a:ext cx="216936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4E5B035-40A8-4427-A9D7-8BB590184E87}"/>
              </a:ext>
            </a:extLst>
          </p:cNvPr>
          <p:cNvCxnSpPr/>
          <p:nvPr/>
        </p:nvCxnSpPr>
        <p:spPr>
          <a:xfrm flipV="1">
            <a:off x="642254" y="2140285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40A27C8-B644-4DD8-9D2A-E47BAC6B9CCB}"/>
              </a:ext>
            </a:extLst>
          </p:cNvPr>
          <p:cNvCxnSpPr/>
          <p:nvPr/>
        </p:nvCxnSpPr>
        <p:spPr>
          <a:xfrm flipV="1">
            <a:off x="2151421" y="2140285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39D92503-3427-4848-9FF8-020047310784}"/>
              </a:ext>
            </a:extLst>
          </p:cNvPr>
          <p:cNvCxnSpPr/>
          <p:nvPr/>
        </p:nvCxnSpPr>
        <p:spPr>
          <a:xfrm flipV="1">
            <a:off x="627439" y="2610465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1444975-7411-413A-8DB2-83336AE57F02}"/>
              </a:ext>
            </a:extLst>
          </p:cNvPr>
          <p:cNvCxnSpPr/>
          <p:nvPr/>
        </p:nvCxnSpPr>
        <p:spPr>
          <a:xfrm flipV="1">
            <a:off x="2151421" y="2629218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5962815-862E-4F77-823D-13E2505B112F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621648" y="3243839"/>
            <a:ext cx="1" cy="198143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62FA5F6-44D0-4325-9C85-F8AE3848AE0D}"/>
              </a:ext>
            </a:extLst>
          </p:cNvPr>
          <p:cNvCxnSpPr/>
          <p:nvPr/>
        </p:nvCxnSpPr>
        <p:spPr>
          <a:xfrm flipV="1">
            <a:off x="2156951" y="3168780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A46220CE-7DD7-4B7D-B7FF-00C0573BA246}"/>
              </a:ext>
            </a:extLst>
          </p:cNvPr>
          <p:cNvCxnSpPr/>
          <p:nvPr/>
        </p:nvCxnSpPr>
        <p:spPr>
          <a:xfrm flipV="1">
            <a:off x="621648" y="3709325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37E08E2F-D66D-4312-85A7-80BA35D6EE16}"/>
              </a:ext>
            </a:extLst>
          </p:cNvPr>
          <p:cNvCxnSpPr/>
          <p:nvPr/>
        </p:nvCxnSpPr>
        <p:spPr>
          <a:xfrm flipV="1">
            <a:off x="2151421" y="3719524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FB85E996-F2D3-46ED-BB6B-83CBB93EAF7A}"/>
              </a:ext>
            </a:extLst>
          </p:cNvPr>
          <p:cNvCxnSpPr/>
          <p:nvPr/>
        </p:nvCxnSpPr>
        <p:spPr>
          <a:xfrm flipV="1">
            <a:off x="2151421" y="4233633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0EA2B1CB-367F-4672-9060-87EB170F4F76}"/>
              </a:ext>
            </a:extLst>
          </p:cNvPr>
          <p:cNvCxnSpPr/>
          <p:nvPr/>
        </p:nvCxnSpPr>
        <p:spPr>
          <a:xfrm flipV="1">
            <a:off x="620064" y="4893651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E66F98B9-C000-4EDF-AE22-A8221F96B475}"/>
              </a:ext>
            </a:extLst>
          </p:cNvPr>
          <p:cNvSpPr txBox="1"/>
          <p:nvPr/>
        </p:nvSpPr>
        <p:spPr>
          <a:xfrm>
            <a:off x="348980" y="1961973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01.04.2020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7CC40DA-F884-4C18-B16C-B656FF309EC8}"/>
              </a:ext>
            </a:extLst>
          </p:cNvPr>
          <p:cNvSpPr txBox="1"/>
          <p:nvPr/>
        </p:nvSpPr>
        <p:spPr>
          <a:xfrm>
            <a:off x="1850773" y="1979643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30.09.2021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5C92A1F-5F8C-4C36-8245-AE3674D2DF96}"/>
              </a:ext>
            </a:extLst>
          </p:cNvPr>
          <p:cNvSpPr txBox="1"/>
          <p:nvPr/>
        </p:nvSpPr>
        <p:spPr>
          <a:xfrm>
            <a:off x="305730" y="2449586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01.04.2020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90095DE-E479-4878-A1B6-0F63B04E2468}"/>
              </a:ext>
            </a:extLst>
          </p:cNvPr>
          <p:cNvSpPr txBox="1"/>
          <p:nvPr/>
        </p:nvSpPr>
        <p:spPr>
          <a:xfrm>
            <a:off x="1845242" y="2444553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30.09.2021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5198B6D-1C43-4319-A65C-E431DFCB1669}"/>
              </a:ext>
            </a:extLst>
          </p:cNvPr>
          <p:cNvCxnSpPr/>
          <p:nvPr/>
        </p:nvCxnSpPr>
        <p:spPr>
          <a:xfrm>
            <a:off x="1342088" y="2593010"/>
            <a:ext cx="0" cy="25613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D9D33B2A-27C3-4626-A1B1-EE275286F92E}"/>
              </a:ext>
            </a:extLst>
          </p:cNvPr>
          <p:cNvSpPr txBox="1"/>
          <p:nvPr/>
        </p:nvSpPr>
        <p:spPr>
          <a:xfrm>
            <a:off x="965772" y="2429244"/>
            <a:ext cx="746784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fr-BE" sz="75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ère</a:t>
            </a:r>
            <a:r>
              <a:rPr kumimoji="0" lang="fr-BE" sz="7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 en CC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677DE36-9B24-4A14-913B-B81C3C0F19AB}"/>
              </a:ext>
            </a:extLst>
          </p:cNvPr>
          <p:cNvSpPr txBox="1"/>
          <p:nvPr/>
        </p:nvSpPr>
        <p:spPr>
          <a:xfrm>
            <a:off x="315470" y="3036090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01.04.2020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93751E67-ABB4-45E8-B20A-F45884D4BD7A}"/>
              </a:ext>
            </a:extLst>
          </p:cNvPr>
          <p:cNvSpPr txBox="1"/>
          <p:nvPr/>
        </p:nvSpPr>
        <p:spPr>
          <a:xfrm>
            <a:off x="1836794" y="3037476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30.09.2021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DD4CC1D-F9D2-4B8A-8CF3-4CED4613C76C}"/>
              </a:ext>
            </a:extLst>
          </p:cNvPr>
          <p:cNvSpPr txBox="1"/>
          <p:nvPr/>
        </p:nvSpPr>
        <p:spPr>
          <a:xfrm>
            <a:off x="321260" y="3524659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01.04.2020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9919ECA-BB0E-480E-ABC8-CF5FFA91C4C9}"/>
              </a:ext>
            </a:extLst>
          </p:cNvPr>
          <p:cNvSpPr txBox="1"/>
          <p:nvPr/>
        </p:nvSpPr>
        <p:spPr>
          <a:xfrm>
            <a:off x="1857779" y="3524400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30.09.2021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73659BA-9335-4973-8FE3-59D4E80FEB9B}"/>
              </a:ext>
            </a:extLst>
          </p:cNvPr>
          <p:cNvSpPr/>
          <p:nvPr/>
        </p:nvSpPr>
        <p:spPr>
          <a:xfrm>
            <a:off x="837726" y="3193486"/>
            <a:ext cx="501438" cy="152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RETOUR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DF10FD6C-1708-43C5-A12E-00B36EE08732}"/>
              </a:ext>
            </a:extLst>
          </p:cNvPr>
          <p:cNvCxnSpPr>
            <a:cxnSpLocks/>
          </p:cNvCxnSpPr>
          <p:nvPr/>
        </p:nvCxnSpPr>
        <p:spPr>
          <a:xfrm flipV="1">
            <a:off x="1342089" y="3074649"/>
            <a:ext cx="1" cy="31535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C521EFAD-A6E3-49D4-80D3-8F735468283A}"/>
              </a:ext>
            </a:extLst>
          </p:cNvPr>
          <p:cNvSpPr txBox="1"/>
          <p:nvPr/>
        </p:nvSpPr>
        <p:spPr>
          <a:xfrm>
            <a:off x="897337" y="2941836"/>
            <a:ext cx="81471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retour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FAE51065-826C-49FC-A661-737E041E36CD}"/>
              </a:ext>
            </a:extLst>
          </p:cNvPr>
          <p:cNvSpPr txBox="1"/>
          <p:nvPr/>
        </p:nvSpPr>
        <p:spPr>
          <a:xfrm>
            <a:off x="1005596" y="1907449"/>
            <a:ext cx="8922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CC pendant toute la période de gel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A294159-6CF9-464C-A156-BAE664D9ECD0}"/>
              </a:ext>
            </a:extLst>
          </p:cNvPr>
          <p:cNvSpPr/>
          <p:nvPr/>
        </p:nvSpPr>
        <p:spPr>
          <a:xfrm>
            <a:off x="753985" y="3719524"/>
            <a:ext cx="904874" cy="1638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PROLONGATION</a:t>
            </a:r>
          </a:p>
        </p:txBody>
      </p: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4CD99731-F995-4484-8578-42DF862A67EF}"/>
              </a:ext>
            </a:extLst>
          </p:cNvPr>
          <p:cNvCxnSpPr>
            <a:cxnSpLocks/>
          </p:cNvCxnSpPr>
          <p:nvPr/>
        </p:nvCxnSpPr>
        <p:spPr>
          <a:xfrm flipV="1">
            <a:off x="1658859" y="3597324"/>
            <a:ext cx="1" cy="31535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E95D6231-37C0-47ED-B6DB-54ABEE4A17DF}"/>
              </a:ext>
            </a:extLst>
          </p:cNvPr>
          <p:cNvSpPr txBox="1"/>
          <p:nvPr/>
        </p:nvSpPr>
        <p:spPr>
          <a:xfrm>
            <a:off x="1109879" y="3440676"/>
            <a:ext cx="1054079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prolongation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CA98C0-15FE-438E-B749-4361423DA528}"/>
              </a:ext>
            </a:extLst>
          </p:cNvPr>
          <p:cNvSpPr/>
          <p:nvPr/>
        </p:nvSpPr>
        <p:spPr>
          <a:xfrm>
            <a:off x="498765" y="4233634"/>
            <a:ext cx="904874" cy="1638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PROLONGATION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B1FEF58-E49C-43F1-971D-2B9168E67C00}"/>
              </a:ext>
            </a:extLst>
          </p:cNvPr>
          <p:cNvCxnSpPr/>
          <p:nvPr/>
        </p:nvCxnSpPr>
        <p:spPr>
          <a:xfrm flipV="1">
            <a:off x="627439" y="4204955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73F6DC6E-6944-40F9-AD1F-98F7507BD403}"/>
              </a:ext>
            </a:extLst>
          </p:cNvPr>
          <p:cNvSpPr txBox="1"/>
          <p:nvPr/>
        </p:nvSpPr>
        <p:spPr>
          <a:xfrm>
            <a:off x="367248" y="4050690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01.04.2020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3927A5AD-12D0-4DE7-AB18-51320346B5E2}"/>
              </a:ext>
            </a:extLst>
          </p:cNvPr>
          <p:cNvSpPr txBox="1"/>
          <p:nvPr/>
        </p:nvSpPr>
        <p:spPr>
          <a:xfrm>
            <a:off x="1872349" y="4050690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30.09.2021</a:t>
            </a: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731D823C-5695-4EE1-B084-7D532A6CF0F6}"/>
              </a:ext>
            </a:extLst>
          </p:cNvPr>
          <p:cNvCxnSpPr>
            <a:cxnSpLocks/>
          </p:cNvCxnSpPr>
          <p:nvPr/>
        </p:nvCxnSpPr>
        <p:spPr>
          <a:xfrm flipV="1">
            <a:off x="1403639" y="4137211"/>
            <a:ext cx="1" cy="31535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2C4717B5-4A34-4359-9508-6EDBDA576685}"/>
              </a:ext>
            </a:extLst>
          </p:cNvPr>
          <p:cNvSpPr txBox="1"/>
          <p:nvPr/>
        </p:nvSpPr>
        <p:spPr>
          <a:xfrm>
            <a:off x="897338" y="3965919"/>
            <a:ext cx="1054079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prolongation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19C0D9F8-C4BB-4F33-90C6-0648285C9AF0}"/>
              </a:ext>
            </a:extLst>
          </p:cNvPr>
          <p:cNvSpPr txBox="1"/>
          <p:nvPr/>
        </p:nvSpPr>
        <p:spPr>
          <a:xfrm>
            <a:off x="357273" y="4711435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01.04.2020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6B65092B-EF52-4D62-B7A8-B41BC4C83C8A}"/>
              </a:ext>
            </a:extLst>
          </p:cNvPr>
          <p:cNvSpPr txBox="1"/>
          <p:nvPr/>
        </p:nvSpPr>
        <p:spPr>
          <a:xfrm>
            <a:off x="1850773" y="4708986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30.09.2021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778A68A-755E-4B22-B73F-1E4DBAA42843}"/>
              </a:ext>
            </a:extLst>
          </p:cNvPr>
          <p:cNvSpPr txBox="1"/>
          <p:nvPr/>
        </p:nvSpPr>
        <p:spPr>
          <a:xfrm>
            <a:off x="1845242" y="5496025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30.09.2021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80CA698-D5FB-4782-BE9E-A862A4A37CF7}"/>
              </a:ext>
            </a:extLst>
          </p:cNvPr>
          <p:cNvSpPr txBox="1"/>
          <p:nvPr/>
        </p:nvSpPr>
        <p:spPr>
          <a:xfrm>
            <a:off x="302342" y="5480047"/>
            <a:ext cx="61235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01.04.2020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CD05B29-1915-498E-BA76-18E931C70A1A}"/>
              </a:ext>
            </a:extLst>
          </p:cNvPr>
          <p:cNvSpPr/>
          <p:nvPr/>
        </p:nvSpPr>
        <p:spPr>
          <a:xfrm>
            <a:off x="1479274" y="4912747"/>
            <a:ext cx="904874" cy="1638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PROLONGATION</a:t>
            </a: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A0EC4E5C-81E8-4FED-BB03-6668F98C0D5B}"/>
              </a:ext>
            </a:extLst>
          </p:cNvPr>
          <p:cNvCxnSpPr>
            <a:cxnSpLocks/>
          </p:cNvCxnSpPr>
          <p:nvPr/>
        </p:nvCxnSpPr>
        <p:spPr>
          <a:xfrm flipH="1" flipV="1">
            <a:off x="2142972" y="4850653"/>
            <a:ext cx="5531" cy="2395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BFAB059B-7E8E-4EE6-8C77-56748D0DF92A}"/>
              </a:ext>
            </a:extLst>
          </p:cNvPr>
          <p:cNvCxnSpPr>
            <a:cxnSpLocks/>
          </p:cNvCxnSpPr>
          <p:nvPr/>
        </p:nvCxnSpPr>
        <p:spPr>
          <a:xfrm flipV="1">
            <a:off x="2384148" y="4804019"/>
            <a:ext cx="1" cy="31535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A0B5FFCB-D777-4384-9B7D-28BC966421B1}"/>
              </a:ext>
            </a:extLst>
          </p:cNvPr>
          <p:cNvSpPr txBox="1"/>
          <p:nvPr/>
        </p:nvSpPr>
        <p:spPr>
          <a:xfrm>
            <a:off x="1651487" y="4454859"/>
            <a:ext cx="10540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 après prolongation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27E7A68-A1F1-4513-BECB-C77E2D6C580F}"/>
              </a:ext>
            </a:extLst>
          </p:cNvPr>
          <p:cNvSpPr/>
          <p:nvPr/>
        </p:nvSpPr>
        <p:spPr>
          <a:xfrm>
            <a:off x="486291" y="5645490"/>
            <a:ext cx="1897858" cy="1782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PROLONGATION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AA1AA82-CB98-4761-BDBC-BA7EF17BC0D5}"/>
              </a:ext>
            </a:extLst>
          </p:cNvPr>
          <p:cNvCxnSpPr/>
          <p:nvPr/>
        </p:nvCxnSpPr>
        <p:spPr>
          <a:xfrm flipV="1">
            <a:off x="612058" y="5660560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C3D4F67-FFC3-42DC-89B1-4A227067DC4E}"/>
              </a:ext>
            </a:extLst>
          </p:cNvPr>
          <p:cNvCxnSpPr/>
          <p:nvPr/>
        </p:nvCxnSpPr>
        <p:spPr>
          <a:xfrm flipV="1">
            <a:off x="2151421" y="5660560"/>
            <a:ext cx="0" cy="221226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516D2CA0-C6CF-40E2-A278-F2CD5740B8B6}"/>
              </a:ext>
            </a:extLst>
          </p:cNvPr>
          <p:cNvCxnSpPr>
            <a:cxnSpLocks/>
          </p:cNvCxnSpPr>
          <p:nvPr/>
        </p:nvCxnSpPr>
        <p:spPr>
          <a:xfrm flipV="1">
            <a:off x="2384148" y="5514549"/>
            <a:ext cx="1" cy="31535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>
            <a:extLst>
              <a:ext uri="{FF2B5EF4-FFF2-40B4-BE49-F238E27FC236}">
                <a16:creationId xmlns:a16="http://schemas.microsoft.com/office/drawing/2014/main" id="{6F597FFD-2CE0-4E1B-8E1E-FF66DDC61355}"/>
              </a:ext>
            </a:extLst>
          </p:cNvPr>
          <p:cNvSpPr txBox="1"/>
          <p:nvPr/>
        </p:nvSpPr>
        <p:spPr>
          <a:xfrm>
            <a:off x="1615932" y="5305279"/>
            <a:ext cx="10540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 après prolongation</a:t>
            </a:r>
          </a:p>
        </p:txBody>
      </p:sp>
      <p:pic>
        <p:nvPicPr>
          <p:cNvPr id="69" name="Image 68" descr="Une image contenant texte, signe&#10;&#10;Description générée automatiquement">
            <a:extLst>
              <a:ext uri="{FF2B5EF4-FFF2-40B4-BE49-F238E27FC236}">
                <a16:creationId xmlns:a16="http://schemas.microsoft.com/office/drawing/2014/main" id="{A3A6D0C2-7192-4076-82E4-29FA56E2A3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889" y="2941836"/>
            <a:ext cx="265548" cy="232815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4E19B907-05B0-409E-8E35-88AE4F7E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5984"/>
          </a:xfrm>
        </p:spPr>
        <p:txBody>
          <a:bodyPr>
            <a:normAutofit/>
          </a:bodyPr>
          <a:lstStyle/>
          <a:p>
            <a:pPr algn="r"/>
            <a:r>
              <a:rPr lang="fr-BE" sz="4400" b="1" i="1" dirty="0">
                <a:latin typeface="+mn-lt"/>
              </a:rPr>
              <a:t>5. Mesures Corona </a:t>
            </a:r>
          </a:p>
        </p:txBody>
      </p:sp>
    </p:spTree>
    <p:extLst>
      <p:ext uri="{BB962C8B-B14F-4D97-AF65-F5344CB8AC3E}">
        <p14:creationId xmlns:p14="http://schemas.microsoft.com/office/powerpoint/2010/main" val="2761354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eur droit 18"/>
          <p:cNvCxnSpPr>
            <a:cxnSpLocks/>
          </p:cNvCxnSpPr>
          <p:nvPr/>
        </p:nvCxnSpPr>
        <p:spPr>
          <a:xfrm>
            <a:off x="7102193" y="2848387"/>
            <a:ext cx="0" cy="188577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enthèse ouvrante 23"/>
          <p:cNvSpPr/>
          <p:nvPr/>
        </p:nvSpPr>
        <p:spPr>
          <a:xfrm rot="5400000">
            <a:off x="2921982" y="722712"/>
            <a:ext cx="1586241" cy="4910933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7851" y="2869607"/>
            <a:ext cx="3013991" cy="914400"/>
          </a:xfrm>
          <a:prstGeom prst="rect">
            <a:avLst/>
          </a:prstGeom>
          <a:solidFill>
            <a:srgbClr val="00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Exemple 1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31840" y="2864981"/>
            <a:ext cx="3970355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8" name="Connecteur droit avec flèche 27"/>
          <p:cNvCxnSpPr/>
          <p:nvPr/>
        </p:nvCxnSpPr>
        <p:spPr>
          <a:xfrm flipV="1">
            <a:off x="0" y="3779857"/>
            <a:ext cx="8892480" cy="228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2541256" y="1947857"/>
            <a:ext cx="2347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Période Corona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3892935" y="2963477"/>
            <a:ext cx="2448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38/38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14.08.20 au 13.11.2022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438951" y="3060571"/>
            <a:ext cx="2371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Chômage complet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DJI 13.08.20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7CF83E-EBE5-4415-A74D-483816DA254C}"/>
              </a:ext>
            </a:extLst>
          </p:cNvPr>
          <p:cNvSpPr txBox="1"/>
          <p:nvPr/>
        </p:nvSpPr>
        <p:spPr>
          <a:xfrm>
            <a:off x="683574" y="4095853"/>
            <a:ext cx="1033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01.04.2020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33C026E-EC2D-455E-9030-F2BD093EB9A9}"/>
              </a:ext>
            </a:extLst>
          </p:cNvPr>
          <p:cNvSpPr txBox="1"/>
          <p:nvPr/>
        </p:nvSpPr>
        <p:spPr>
          <a:xfrm>
            <a:off x="5594503" y="4078894"/>
            <a:ext cx="1033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30.09.2021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2FD7538-B03A-4A8E-92D3-E488B7A812BE}"/>
              </a:ext>
            </a:extLst>
          </p:cNvPr>
          <p:cNvSpPr txBox="1"/>
          <p:nvPr/>
        </p:nvSpPr>
        <p:spPr>
          <a:xfrm>
            <a:off x="6627515" y="4734162"/>
            <a:ext cx="1056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D.A = 14.11.2022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59292B3-5F97-47DD-AA9D-A039AA0DE3F5}"/>
              </a:ext>
            </a:extLst>
          </p:cNvPr>
          <p:cNvSpPr txBox="1"/>
          <p:nvPr/>
        </p:nvSpPr>
        <p:spPr>
          <a:xfrm>
            <a:off x="6627517" y="5249156"/>
            <a:ext cx="190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 de prolongation Corona vu 116§1 à cette date</a:t>
            </a:r>
          </a:p>
        </p:txBody>
      </p:sp>
    </p:spTree>
    <p:extLst>
      <p:ext uri="{BB962C8B-B14F-4D97-AF65-F5344CB8AC3E}">
        <p14:creationId xmlns:p14="http://schemas.microsoft.com/office/powerpoint/2010/main" val="78757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arenthèse ouvrante 23"/>
          <p:cNvSpPr/>
          <p:nvPr/>
        </p:nvSpPr>
        <p:spPr>
          <a:xfrm rot="5400000">
            <a:off x="2921982" y="722712"/>
            <a:ext cx="1586241" cy="4910933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7851" y="2869607"/>
            <a:ext cx="4454151" cy="914400"/>
          </a:xfrm>
          <a:prstGeom prst="rect">
            <a:avLst/>
          </a:prstGeom>
          <a:solidFill>
            <a:srgbClr val="00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Exemple 2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Connecteur droit 18"/>
          <p:cNvCxnSpPr>
            <a:cxnSpLocks/>
          </p:cNvCxnSpPr>
          <p:nvPr/>
        </p:nvCxnSpPr>
        <p:spPr>
          <a:xfrm>
            <a:off x="8263059" y="2871700"/>
            <a:ext cx="0" cy="10995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72003" y="2876875"/>
            <a:ext cx="3710263" cy="914400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Indépendant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01.04.21 au 31.10.22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(≥ 6 mois minimum)</a:t>
            </a: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8" name="Connecteur droit avec flèche 27"/>
          <p:cNvCxnSpPr/>
          <p:nvPr/>
        </p:nvCxnSpPr>
        <p:spPr>
          <a:xfrm flipV="1">
            <a:off x="0" y="3779857"/>
            <a:ext cx="8892480" cy="228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2541256" y="1947857"/>
            <a:ext cx="2347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Période Corona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1540982" y="3063122"/>
            <a:ext cx="1607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Chômage complet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DJI 31.03.21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7CF83E-EBE5-4415-A74D-483816DA254C}"/>
              </a:ext>
            </a:extLst>
          </p:cNvPr>
          <p:cNvSpPr txBox="1"/>
          <p:nvPr/>
        </p:nvSpPr>
        <p:spPr>
          <a:xfrm>
            <a:off x="683568" y="4078894"/>
            <a:ext cx="1033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01.04.2020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33C026E-EC2D-455E-9030-F2BD093EB9A9}"/>
              </a:ext>
            </a:extLst>
          </p:cNvPr>
          <p:cNvSpPr txBox="1"/>
          <p:nvPr/>
        </p:nvSpPr>
        <p:spPr>
          <a:xfrm>
            <a:off x="5594500" y="4078894"/>
            <a:ext cx="1033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30.09.2021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2FD7538-B03A-4A8E-92D3-E488B7A812BE}"/>
              </a:ext>
            </a:extLst>
          </p:cNvPr>
          <p:cNvSpPr txBox="1"/>
          <p:nvPr/>
        </p:nvSpPr>
        <p:spPr>
          <a:xfrm>
            <a:off x="7645491" y="3996207"/>
            <a:ext cx="1273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D.A = 01.11.2022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5A7717A0-CDE2-4C49-B4E3-2BC7213711E0}"/>
              </a:ext>
            </a:extLst>
          </p:cNvPr>
          <p:cNvSpPr/>
          <p:nvPr/>
        </p:nvSpPr>
        <p:spPr>
          <a:xfrm>
            <a:off x="1259635" y="4981645"/>
            <a:ext cx="4910933" cy="688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Prolongation Corona de 18 mois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6FC4D241-B356-4AD5-B114-848810C51B15}"/>
              </a:ext>
            </a:extLst>
          </p:cNvPr>
          <p:cNvSpPr/>
          <p:nvPr/>
        </p:nvSpPr>
        <p:spPr>
          <a:xfrm>
            <a:off x="6189772" y="4972932"/>
            <a:ext cx="2073287" cy="688677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+ 116§2 de 13 mois 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8C03B1C-708B-40E6-BC5C-6038F1525DE4}"/>
              </a:ext>
            </a:extLst>
          </p:cNvPr>
          <p:cNvSpPr txBox="1"/>
          <p:nvPr/>
        </p:nvSpPr>
        <p:spPr>
          <a:xfrm>
            <a:off x="7653509" y="4478904"/>
            <a:ext cx="1273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Prolongation = 13 mois</a:t>
            </a:r>
          </a:p>
        </p:txBody>
      </p:sp>
    </p:spTree>
    <p:extLst>
      <p:ext uri="{BB962C8B-B14F-4D97-AF65-F5344CB8AC3E}">
        <p14:creationId xmlns:p14="http://schemas.microsoft.com/office/powerpoint/2010/main" val="74671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 animBg="1"/>
      <p:bldP spid="21" grpId="0" animBg="1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eur droit 18"/>
          <p:cNvCxnSpPr>
            <a:cxnSpLocks/>
          </p:cNvCxnSpPr>
          <p:nvPr/>
        </p:nvCxnSpPr>
        <p:spPr>
          <a:xfrm>
            <a:off x="8263062" y="2871700"/>
            <a:ext cx="3951" cy="10995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38DA35CF-94F2-486E-A1A1-F3704904A612}"/>
              </a:ext>
            </a:extLst>
          </p:cNvPr>
          <p:cNvCxnSpPr>
            <a:cxnSpLocks/>
          </p:cNvCxnSpPr>
          <p:nvPr/>
        </p:nvCxnSpPr>
        <p:spPr>
          <a:xfrm flipH="1">
            <a:off x="2895167" y="2879653"/>
            <a:ext cx="9607" cy="1091644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F030251-45F8-48BE-85DB-BEB9F15B8271}"/>
              </a:ext>
            </a:extLst>
          </p:cNvPr>
          <p:cNvSpPr/>
          <p:nvPr/>
        </p:nvSpPr>
        <p:spPr>
          <a:xfrm>
            <a:off x="2895171" y="2878187"/>
            <a:ext cx="1676828" cy="914400"/>
          </a:xfrm>
          <a:prstGeom prst="rect">
            <a:avLst/>
          </a:prstGeom>
          <a:solidFill>
            <a:srgbClr val="00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Chômage complet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01.07.20 au 31.03.21 </a:t>
            </a:r>
          </a:p>
        </p:txBody>
      </p:sp>
      <p:sp>
        <p:nvSpPr>
          <p:cNvPr id="24" name="Parenthèse ouvrante 23"/>
          <p:cNvSpPr/>
          <p:nvPr/>
        </p:nvSpPr>
        <p:spPr>
          <a:xfrm rot="5400000">
            <a:off x="2921982" y="722712"/>
            <a:ext cx="1586241" cy="4910933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80088" y="2876875"/>
            <a:ext cx="3710263" cy="914400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Indépendant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01.04.21 au 31.10.22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(≥ 6 mois minimum)</a:t>
            </a: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7851" y="2869607"/>
            <a:ext cx="277732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Exemple 3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8" name="Connecteur droit avec flèche 27"/>
          <p:cNvCxnSpPr/>
          <p:nvPr/>
        </p:nvCxnSpPr>
        <p:spPr>
          <a:xfrm flipV="1">
            <a:off x="0" y="3779857"/>
            <a:ext cx="8892480" cy="228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2541256" y="1947857"/>
            <a:ext cx="2347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Période Corona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702566" y="2962596"/>
            <a:ext cx="16078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01.05.2019 au 30.06.2020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7CF83E-EBE5-4415-A74D-483816DA254C}"/>
              </a:ext>
            </a:extLst>
          </p:cNvPr>
          <p:cNvSpPr txBox="1"/>
          <p:nvPr/>
        </p:nvSpPr>
        <p:spPr>
          <a:xfrm>
            <a:off x="702566" y="4078894"/>
            <a:ext cx="1014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01.04.2020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33C026E-EC2D-455E-9030-F2BD093EB9A9}"/>
              </a:ext>
            </a:extLst>
          </p:cNvPr>
          <p:cNvSpPr txBox="1"/>
          <p:nvPr/>
        </p:nvSpPr>
        <p:spPr>
          <a:xfrm>
            <a:off x="5580112" y="4078894"/>
            <a:ext cx="1047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30.09.2021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2FD7538-B03A-4A8E-92D3-E488B7A812BE}"/>
              </a:ext>
            </a:extLst>
          </p:cNvPr>
          <p:cNvSpPr txBox="1"/>
          <p:nvPr/>
        </p:nvSpPr>
        <p:spPr>
          <a:xfrm>
            <a:off x="7690993" y="3971742"/>
            <a:ext cx="1273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D.A = 01.11.2022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5A7717A0-CDE2-4C49-B4E3-2BC7213711E0}"/>
              </a:ext>
            </a:extLst>
          </p:cNvPr>
          <p:cNvSpPr/>
          <p:nvPr/>
        </p:nvSpPr>
        <p:spPr>
          <a:xfrm>
            <a:off x="2914382" y="5142439"/>
            <a:ext cx="3275393" cy="688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Prolongation Corona de 15 mois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6FC4D241-B356-4AD5-B114-848810C51B15}"/>
              </a:ext>
            </a:extLst>
          </p:cNvPr>
          <p:cNvSpPr/>
          <p:nvPr/>
        </p:nvSpPr>
        <p:spPr>
          <a:xfrm>
            <a:off x="6212535" y="5133229"/>
            <a:ext cx="2073287" cy="688677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+ 116§2 </a:t>
            </a:r>
            <a:r>
              <a:rPr kumimoji="0" lang="fr-BE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 13 </a:t>
            </a: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mois 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68C4B36-17E8-43C9-9C52-E89517B87419}"/>
              </a:ext>
            </a:extLst>
          </p:cNvPr>
          <p:cNvSpPr txBox="1"/>
          <p:nvPr/>
        </p:nvSpPr>
        <p:spPr>
          <a:xfrm>
            <a:off x="7671789" y="4425926"/>
            <a:ext cx="1273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Prolongation = 13 mois</a:t>
            </a:r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FB4D7076-3447-4E8C-8A05-5C9B13A0B15E}"/>
              </a:ext>
            </a:extLst>
          </p:cNvPr>
          <p:cNvSpPr/>
          <p:nvPr/>
        </p:nvSpPr>
        <p:spPr>
          <a:xfrm>
            <a:off x="831490" y="5133229"/>
            <a:ext cx="2073287" cy="688677"/>
          </a:xfrm>
          <a:prstGeom prst="rightArrow">
            <a:avLst/>
          </a:prstGeom>
          <a:pattFill prst="wdUpDiag">
            <a:fgClr>
              <a:srgbClr val="FF0000"/>
            </a:fgClr>
            <a:bgClr>
              <a:srgbClr val="7030A0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Période avant 116§1 neutralisée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B307455-8BC3-4DB4-932C-E3C5B215FC2C}"/>
              </a:ext>
            </a:extLst>
          </p:cNvPr>
          <p:cNvSpPr txBox="1"/>
          <p:nvPr/>
        </p:nvSpPr>
        <p:spPr>
          <a:xfrm>
            <a:off x="2418696" y="4003750"/>
            <a:ext cx="1231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Retour 116§1  au 01.07.20</a:t>
            </a:r>
          </a:p>
        </p:txBody>
      </p:sp>
    </p:spTree>
    <p:extLst>
      <p:ext uri="{BB962C8B-B14F-4D97-AF65-F5344CB8AC3E}">
        <p14:creationId xmlns:p14="http://schemas.microsoft.com/office/powerpoint/2010/main" val="46808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 animBg="1"/>
      <p:bldP spid="21" grpId="0" animBg="1"/>
      <p:bldP spid="25" grpId="0"/>
      <p:bldP spid="26" grpId="0" animBg="1"/>
      <p:bldP spid="3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arenthèse ouvrante 23"/>
          <p:cNvSpPr/>
          <p:nvPr/>
        </p:nvSpPr>
        <p:spPr>
          <a:xfrm rot="5400000">
            <a:off x="2921982" y="722712"/>
            <a:ext cx="1586241" cy="4910933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030251-45F8-48BE-85DB-BEB9F15B8271}"/>
              </a:ext>
            </a:extLst>
          </p:cNvPr>
          <p:cNvSpPr/>
          <p:nvPr/>
        </p:nvSpPr>
        <p:spPr>
          <a:xfrm>
            <a:off x="21487" y="2874837"/>
            <a:ext cx="5221480" cy="914400"/>
          </a:xfrm>
          <a:prstGeom prst="rect">
            <a:avLst/>
          </a:prstGeom>
          <a:solidFill>
            <a:srgbClr val="00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Chômage complet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DJI  31.03.21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Exemple 4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Connecteur droit 18"/>
          <p:cNvCxnSpPr>
            <a:cxnSpLocks/>
          </p:cNvCxnSpPr>
          <p:nvPr/>
        </p:nvCxnSpPr>
        <p:spPr>
          <a:xfrm>
            <a:off x="8278581" y="3173456"/>
            <a:ext cx="0" cy="90543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57507" y="2876875"/>
            <a:ext cx="3035615" cy="914400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8" name="Connecteur droit avec flèche 27"/>
          <p:cNvCxnSpPr/>
          <p:nvPr/>
        </p:nvCxnSpPr>
        <p:spPr>
          <a:xfrm flipV="1">
            <a:off x="0" y="3779857"/>
            <a:ext cx="8892480" cy="228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2541256" y="1947857"/>
            <a:ext cx="2347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Période Corona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5170790" y="2986943"/>
            <a:ext cx="30932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b="1" dirty="0">
                <a:solidFill>
                  <a:prstClr val="black"/>
                </a:solidFill>
                <a:latin typeface="Calibri"/>
              </a:rPr>
              <a:t>Occupation TTPMD SANS AGR 19/38</a:t>
            </a:r>
            <a:endParaRPr kumimoji="0" lang="fr-BE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01.04.21 au 14.11.2022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(≥ 3 mois minimum)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7CF83E-EBE5-4415-A74D-483816DA254C}"/>
              </a:ext>
            </a:extLst>
          </p:cNvPr>
          <p:cNvSpPr txBox="1"/>
          <p:nvPr/>
        </p:nvSpPr>
        <p:spPr>
          <a:xfrm>
            <a:off x="686155" y="4078894"/>
            <a:ext cx="1030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01.04.2020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33C026E-EC2D-455E-9030-F2BD093EB9A9}"/>
              </a:ext>
            </a:extLst>
          </p:cNvPr>
          <p:cNvSpPr txBox="1"/>
          <p:nvPr/>
        </p:nvSpPr>
        <p:spPr>
          <a:xfrm>
            <a:off x="5580112" y="4078894"/>
            <a:ext cx="1047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30.09.2021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2FD7538-B03A-4A8E-92D3-E488B7A812BE}"/>
              </a:ext>
            </a:extLst>
          </p:cNvPr>
          <p:cNvSpPr txBox="1"/>
          <p:nvPr/>
        </p:nvSpPr>
        <p:spPr>
          <a:xfrm>
            <a:off x="7723751" y="4087063"/>
            <a:ext cx="1273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D.A = 15.11.2022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5A7717A0-CDE2-4C49-B4E3-2BC7213711E0}"/>
              </a:ext>
            </a:extLst>
          </p:cNvPr>
          <p:cNvSpPr/>
          <p:nvPr/>
        </p:nvSpPr>
        <p:spPr>
          <a:xfrm>
            <a:off x="1259633" y="5096061"/>
            <a:ext cx="4891728" cy="688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Prolongation Corona de 18 mois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6FC4D241-B356-4AD5-B114-848810C51B15}"/>
              </a:ext>
            </a:extLst>
          </p:cNvPr>
          <p:cNvSpPr/>
          <p:nvPr/>
        </p:nvSpPr>
        <p:spPr>
          <a:xfrm>
            <a:off x="6170566" y="5090460"/>
            <a:ext cx="2122555" cy="688677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+ 116§2 de 13 mois 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68C4B36-17E8-43C9-9C52-E89517B87419}"/>
              </a:ext>
            </a:extLst>
          </p:cNvPr>
          <p:cNvSpPr txBox="1"/>
          <p:nvPr/>
        </p:nvSpPr>
        <p:spPr>
          <a:xfrm>
            <a:off x="7704545" y="4541248"/>
            <a:ext cx="1273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Prolongation = 31 mois</a:t>
            </a:r>
          </a:p>
        </p:txBody>
      </p:sp>
    </p:spTree>
    <p:extLst>
      <p:ext uri="{BB962C8B-B14F-4D97-AF65-F5344CB8AC3E}">
        <p14:creationId xmlns:p14="http://schemas.microsoft.com/office/powerpoint/2010/main" val="9496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 animBg="1"/>
      <p:bldP spid="21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2A4B5B1F-8A56-457A-907D-8A8C6F35180F}"/>
              </a:ext>
            </a:extLst>
          </p:cNvPr>
          <p:cNvCxnSpPr>
            <a:cxnSpLocks/>
          </p:cNvCxnSpPr>
          <p:nvPr/>
        </p:nvCxnSpPr>
        <p:spPr>
          <a:xfrm flipH="1">
            <a:off x="1667950" y="2867533"/>
            <a:ext cx="5299" cy="109164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enthèse ouvrante 23"/>
          <p:cNvSpPr/>
          <p:nvPr/>
        </p:nvSpPr>
        <p:spPr>
          <a:xfrm rot="5400000">
            <a:off x="2539967" y="340700"/>
            <a:ext cx="1586241" cy="5674957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667951" y="2867532"/>
            <a:ext cx="4454151" cy="914400"/>
          </a:xfrm>
          <a:prstGeom prst="rect">
            <a:avLst/>
          </a:prstGeom>
          <a:solidFill>
            <a:srgbClr val="00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Exemple 5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Connecteur droit 18"/>
          <p:cNvCxnSpPr>
            <a:cxnSpLocks/>
          </p:cNvCxnSpPr>
          <p:nvPr/>
        </p:nvCxnSpPr>
        <p:spPr>
          <a:xfrm>
            <a:off x="8263061" y="2871700"/>
            <a:ext cx="19205" cy="118550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72003" y="2876875"/>
            <a:ext cx="3710263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Maladie indemnisée par la mutuelle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26.04.21 au 31.10.22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 flipV="1">
            <a:off x="0" y="3779857"/>
            <a:ext cx="8892480" cy="228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2541256" y="1947857"/>
            <a:ext cx="2347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Période Corona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2036515" y="3063122"/>
            <a:ext cx="2166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Chômage complet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16.11.20 au 25.04.2021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7CF83E-EBE5-4415-A74D-483816DA254C}"/>
              </a:ext>
            </a:extLst>
          </p:cNvPr>
          <p:cNvSpPr txBox="1"/>
          <p:nvPr/>
        </p:nvSpPr>
        <p:spPr>
          <a:xfrm>
            <a:off x="38657" y="4078894"/>
            <a:ext cx="1013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01.04.2020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33C026E-EC2D-455E-9030-F2BD093EB9A9}"/>
              </a:ext>
            </a:extLst>
          </p:cNvPr>
          <p:cNvSpPr txBox="1"/>
          <p:nvPr/>
        </p:nvSpPr>
        <p:spPr>
          <a:xfrm>
            <a:off x="5713614" y="4078894"/>
            <a:ext cx="1018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30.09.2021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2FD7538-B03A-4A8E-92D3-E488B7A812BE}"/>
              </a:ext>
            </a:extLst>
          </p:cNvPr>
          <p:cNvSpPr txBox="1"/>
          <p:nvPr/>
        </p:nvSpPr>
        <p:spPr>
          <a:xfrm>
            <a:off x="7664696" y="4073816"/>
            <a:ext cx="1273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D.A = 01.11.2022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5A7717A0-CDE2-4C49-B4E3-2BC7213711E0}"/>
              </a:ext>
            </a:extLst>
          </p:cNvPr>
          <p:cNvSpPr/>
          <p:nvPr/>
        </p:nvSpPr>
        <p:spPr>
          <a:xfrm>
            <a:off x="1661728" y="4999527"/>
            <a:ext cx="4528047" cy="688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Prolongation Corona de 10 mois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51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(10,5 mois arrondi vers le bas)</a:t>
            </a:r>
            <a:endParaRPr kumimoji="0" lang="fr-BE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6FC4D241-B356-4AD5-B114-848810C51B15}"/>
              </a:ext>
            </a:extLst>
          </p:cNvPr>
          <p:cNvSpPr/>
          <p:nvPr/>
        </p:nvSpPr>
        <p:spPr>
          <a:xfrm>
            <a:off x="6228183" y="4987357"/>
            <a:ext cx="2073287" cy="688677"/>
          </a:xfrm>
          <a:prstGeom prst="rightArrow">
            <a:avLst/>
          </a:prstGeom>
          <a:pattFill prst="wdUpDiag">
            <a:fgClr>
              <a:srgbClr val="CA36B8"/>
            </a:fgClr>
            <a:bgClr>
              <a:srgbClr val="FF9933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Pas de 116§2 pour AMI 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68C4B36-17E8-43C9-9C52-E89517B87419}"/>
              </a:ext>
            </a:extLst>
          </p:cNvPr>
          <p:cNvSpPr txBox="1"/>
          <p:nvPr/>
        </p:nvSpPr>
        <p:spPr>
          <a:xfrm>
            <a:off x="7645491" y="4528000"/>
            <a:ext cx="1273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Prolongation = 0 mois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19B0B0C-59D0-482D-BE0C-95C6F701CCEE}"/>
              </a:ext>
            </a:extLst>
          </p:cNvPr>
          <p:cNvSpPr txBox="1"/>
          <p:nvPr/>
        </p:nvSpPr>
        <p:spPr>
          <a:xfrm>
            <a:off x="1052173" y="4057206"/>
            <a:ext cx="1231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lang="fr-BE" sz="14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ère</a:t>
            </a: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D.A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 16.11.20</a:t>
            </a:r>
          </a:p>
        </p:txBody>
      </p:sp>
    </p:spTree>
    <p:extLst>
      <p:ext uri="{BB962C8B-B14F-4D97-AF65-F5344CB8AC3E}">
        <p14:creationId xmlns:p14="http://schemas.microsoft.com/office/powerpoint/2010/main" val="302355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 animBg="1"/>
      <p:bldP spid="21" grpId="0" animBg="1"/>
      <p:bldP spid="25" grpId="0"/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4CFEC-95A6-4E28-8EED-A934CD80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Le complément d’ancienneté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F5AFF6-2138-4CC8-98BA-3EF8CADA5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 complément d'ancienneté est un montant perçu à partir d’un certain âge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en plus des allocations</a:t>
            </a:r>
            <a:r>
              <a:rPr lang="fr-BE" dirty="0"/>
              <a:t> de chômage habituelles si passé professionnel (ancienneté) suffisant.</a:t>
            </a:r>
          </a:p>
          <a:p>
            <a:r>
              <a:rPr lang="fr-BE" dirty="0"/>
              <a:t>Le complément d’ancienneté est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supprimé</a:t>
            </a:r>
            <a:r>
              <a:rPr lang="fr-BE" dirty="0"/>
              <a:t> depuis le 01.01.2015</a:t>
            </a:r>
          </a:p>
          <a:p>
            <a:r>
              <a:rPr lang="fr-BE" dirty="0"/>
              <a:t>Les nouveaux droits, par le biais de mesures transitoires, ont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pris fin le 01.01.2020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0FA59A-C05C-4824-881E-462CEA3B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840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B7173-B770-4BD2-84A8-934D3236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Le complément d’ancienneté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012297-1780-4025-B573-2C3AB1AF8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Maintien du droit pour le chômeur</a:t>
            </a:r>
            <a:r>
              <a:rPr lang="fr-BE" sz="30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Qui a effectivement bénéficié du droit au cours de l’année 2014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Qui a ouvert son droit sur base des mesures transitoires valables à partir du  01.01.2015</a:t>
            </a:r>
          </a:p>
          <a:p>
            <a:pPr marL="514350" indent="-457200"/>
            <a:r>
              <a:rPr lang="fr-BE" dirty="0"/>
              <a:t>Art. d’</a:t>
            </a:r>
            <a:r>
              <a:rPr lang="fr-BE" dirty="0" err="1"/>
              <a:t>indem</a:t>
            </a:r>
            <a:r>
              <a:rPr lang="fr-BE" dirty="0"/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126Y + COMPL 126 </a:t>
            </a:r>
            <a:r>
              <a:rPr lang="fr-BE" dirty="0"/>
              <a:t>dans le S04</a:t>
            </a:r>
            <a:r>
              <a:rPr lang="fr-BE" sz="3000" dirty="0"/>
              <a:t> + éventuellement Art. </a:t>
            </a:r>
            <a:r>
              <a:rPr lang="fr-BE" sz="3000" dirty="0" err="1"/>
              <a:t>indem</a:t>
            </a:r>
            <a:r>
              <a:rPr lang="fr-BE" sz="3000" dirty="0"/>
              <a:t> 126,1 si &lt; 55 ans</a:t>
            </a:r>
          </a:p>
          <a:p>
            <a:pPr marL="514350" indent="-457200"/>
            <a:endParaRPr lang="fr-BE" sz="3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00BE90-6BE9-4E99-9C08-3373BCA5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784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810EFF-F690-43B7-BFF2-BAED85A32BDF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f1b85f46-8f47-4c7a-8346-9752567dac4a"/>
    <ds:schemaRef ds:uri="http://schemas.microsoft.com/office/2006/documentManagement/types"/>
    <ds:schemaRef ds:uri="badce1e3-4228-484a-9cea-a1abab477a4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25169F1-1241-4CF8-8BFE-924F65AB5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93987A-7DD6-45FC-914C-A4A6F05683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17641</TotalTime>
  <Words>2864</Words>
  <Application>Microsoft Office PowerPoint</Application>
  <PresentationFormat>Affichage à l'écran (4:3)</PresentationFormat>
  <Paragraphs>461</Paragraphs>
  <Slides>38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38</vt:i4>
      </vt:variant>
    </vt:vector>
  </HeadingPairs>
  <TitlesOfParts>
    <vt:vector size="48" baseType="lpstr">
      <vt:lpstr>Arial</vt:lpstr>
      <vt:lpstr>Calibri</vt:lpstr>
      <vt:lpstr>Calibri Light</vt:lpstr>
      <vt:lpstr>Wingdings</vt:lpstr>
      <vt:lpstr>Wingdings 2</vt:lpstr>
      <vt:lpstr>Wingdings 3</vt:lpstr>
      <vt:lpstr>Thème Office</vt:lpstr>
      <vt:lpstr>1_Thème Office</vt:lpstr>
      <vt:lpstr>HDOfficeLightV0</vt:lpstr>
      <vt:lpstr>2_Thème Office</vt:lpstr>
      <vt:lpstr>Evolution des périodes d’indemnisation (niveau 3)</vt:lpstr>
      <vt:lpstr>Table des matières </vt:lpstr>
      <vt:lpstr>1. Rappel</vt:lpstr>
      <vt:lpstr>1. Rappel</vt:lpstr>
      <vt:lpstr>1. Rappel</vt:lpstr>
      <vt:lpstr>2. Le retour en 1ère période</vt:lpstr>
      <vt:lpstr>2. Le retour en 1ère période </vt:lpstr>
      <vt:lpstr>2. Le retour en 1ère période </vt:lpstr>
      <vt:lpstr>2. Le retour en 1ère période </vt:lpstr>
      <vt:lpstr>2. Le retour en 1ère période</vt:lpstr>
      <vt:lpstr>2. Le retour en 1ère période </vt:lpstr>
      <vt:lpstr>2. Le retour en 1ère période</vt:lpstr>
      <vt:lpstr>2. Retour relatif et retour absolu</vt:lpstr>
      <vt:lpstr>2. Retour relatif et retour absolu</vt:lpstr>
      <vt:lpstr>2. Retour relatif et retour absolu</vt:lpstr>
      <vt:lpstr>2. Retour relatif et retour absolu: Exemple 2</vt:lpstr>
      <vt:lpstr>2. Retour relatif et retour absolu: Exemple 2</vt:lpstr>
      <vt:lpstr>2. Retour relatif et retour absolu: Exemple 2</vt:lpstr>
      <vt:lpstr>2. Retour relatif et retour absolu: Exemple 2</vt:lpstr>
      <vt:lpstr>2. Retour relatif et retour absolu: Exemple 2</vt:lpstr>
      <vt:lpstr>3. La prolongation</vt:lpstr>
      <vt:lpstr>3. La prolongation</vt:lpstr>
      <vt:lpstr>3. La prolongation: Particularité</vt:lpstr>
      <vt:lpstr>3. La prolongation: exemples</vt:lpstr>
      <vt:lpstr>3. La prolongation</vt:lpstr>
      <vt:lpstr>3. La prolongation</vt:lpstr>
      <vt:lpstr>3. La prolongation</vt:lpstr>
      <vt:lpstr>4. La fixation temporaire </vt:lpstr>
      <vt:lpstr>4. La fixation temporaire</vt:lpstr>
      <vt:lpstr>4. La fixation temporaire</vt:lpstr>
      <vt:lpstr>5. Mesures Corona </vt:lpstr>
      <vt:lpstr>Exemple 1</vt:lpstr>
      <vt:lpstr>Exemple 2</vt:lpstr>
      <vt:lpstr>Exemple 3</vt:lpstr>
      <vt:lpstr>Exemple 4</vt:lpstr>
      <vt:lpstr>Exemple 5</vt:lpstr>
      <vt:lpstr>Le complément d’ancienneté</vt:lpstr>
      <vt:lpstr>Le complément d’ancienneté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FCJ-M33-Evolution des périodes d'indemnisation (niv. 3)-Participants</dc:title>
  <dc:creator>u99lge</dc:creator>
  <cp:lastModifiedBy>Anja</cp:lastModifiedBy>
  <cp:revision>758</cp:revision>
  <cp:lastPrinted>2018-04-10T06:31:58Z</cp:lastPrinted>
  <dcterms:created xsi:type="dcterms:W3CDTF">2010-09-22T12:12:06Z</dcterms:created>
  <dcterms:modified xsi:type="dcterms:W3CDTF">2022-11-28T14:09:39Z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0x010100BD8C07EE20480F44AE4960B9D2A32DA0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30;#Evolution des périodes (AR116) - Base|a70514d4-4023-41d3-a7d0-4ca4a11ca880</vt:lpwstr>
  </property>
  <property fmtid="{D5CDD505-2E9C-101B-9397-08002B2CF9AE}" pid="8" name="Order">
    <vt:r8>246600</vt:r8>
  </property>
  <property fmtid="{D5CDD505-2E9C-101B-9397-08002B2CF9AE}" pid="9" name="_dlc_DocIdItemGuid">
    <vt:lpwstr>53799b0a-11a3-4671-a079-294950f0f2d6</vt:lpwstr>
  </property>
  <property fmtid="{D5CDD505-2E9C-101B-9397-08002B2CF9AE}" pid="10" name="AuthorIds_UIVersion_1024">
    <vt:lpwstr>23</vt:lpwstr>
  </property>
  <property fmtid="{D5CDD505-2E9C-101B-9397-08002B2CF9AE}" pid="11" name="AuthorIds_UIVersion_1536">
    <vt:lpwstr>23</vt:lpwstr>
  </property>
</Properties>
</file>