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22" r:id="rId5"/>
    <p:sldId id="321" r:id="rId6"/>
    <p:sldId id="324" r:id="rId7"/>
    <p:sldId id="331" r:id="rId8"/>
    <p:sldId id="349" r:id="rId9"/>
    <p:sldId id="353" r:id="rId10"/>
    <p:sldId id="354" r:id="rId11"/>
    <p:sldId id="332" r:id="rId12"/>
    <p:sldId id="333" r:id="rId13"/>
    <p:sldId id="362" r:id="rId14"/>
    <p:sldId id="355" r:id="rId15"/>
    <p:sldId id="336" r:id="rId16"/>
    <p:sldId id="341" r:id="rId17"/>
    <p:sldId id="339" r:id="rId18"/>
    <p:sldId id="340" r:id="rId19"/>
    <p:sldId id="342" r:id="rId20"/>
    <p:sldId id="357" r:id="rId21"/>
    <p:sldId id="344" r:id="rId22"/>
    <p:sldId id="360" r:id="rId23"/>
    <p:sldId id="343" r:id="rId24"/>
    <p:sldId id="359" r:id="rId25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003399"/>
    <a:srgbClr val="FF9933"/>
    <a:srgbClr val="00FF00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8BB89-82F9-4E0B-A338-3EB52ADF57C5}" v="1" dt="2022-12-08T14:00:40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9" autoAdjust="0"/>
    <p:restoredTop sz="88277" autoAdjust="0"/>
  </p:normalViewPr>
  <p:slideViewPr>
    <p:cSldViewPr>
      <p:cViewPr varScale="1">
        <p:scale>
          <a:sx n="68" d="100"/>
          <a:sy n="68" d="100"/>
        </p:scale>
        <p:origin x="11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08/12/2022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08/12/2022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391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0598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1386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3269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7774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291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183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1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284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493B7-DEF7-4527-8058-29A4201D9D2A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106A2-4E85-4CC4-8E33-FE4A78ADF4E3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03C3-26DF-498A-8153-53A2F544586D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9542E-7B53-4A28-8588-0FF92A5BF652}" type="datetime1">
              <a:rPr lang="fr-FR" smtClean="0"/>
              <a:t>08/12/2022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6122-B6F8-4C7E-BCDB-A2A20C56C70C}" type="datetime1">
              <a:rPr lang="fr-FR" smtClean="0"/>
              <a:t>08/12/2022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A65A-282E-4C10-AEC3-35586DD34715}" type="datetime1">
              <a:rPr lang="fr-FR" smtClean="0"/>
              <a:t>08/12/2022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92AB8-E1B4-4FBF-A3A5-2C57A7A7E027}" type="datetime1">
              <a:rPr lang="fr-FR" smtClean="0"/>
              <a:t>08/12/2022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C9A60-206E-4A29-993B-CF3996D8D4FC}" type="datetime1">
              <a:rPr lang="fr-FR" smtClean="0"/>
              <a:t>08/12/2022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F286D-78ED-4007-AD44-5F6F591A8CAD}" type="datetime1">
              <a:rPr lang="fr-FR" smtClean="0"/>
              <a:t>08/12/2022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7A653-E3BE-4F0A-B73C-4A9F25118DAC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CC6F-A903-4C37-A1D3-A82E7C9673A1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825E-848D-47B8-87A6-086E408DB869}" type="datetime1">
              <a:rPr lang="fr-FR" smtClean="0"/>
              <a:t>08/12/2022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marL="609600" indent="-609600"/>
            <a:br>
              <a:rPr lang="fr-BE" sz="6000" b="1" i="1" dirty="0"/>
            </a:br>
            <a:r>
              <a:rPr lang="fr-BE" sz="6000" b="1" i="1" dirty="0"/>
              <a:t>Harmonisation </a:t>
            </a:r>
            <a:br>
              <a:rPr lang="fr-BE" sz="6000" b="1" i="1" dirty="0"/>
            </a:br>
            <a:r>
              <a:rPr lang="fr-BE" sz="6000" b="1" i="1" dirty="0"/>
              <a:t>des statuts</a:t>
            </a:r>
            <a:endParaRPr lang="fr-FR" sz="6000" b="1" i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899592" y="6130520"/>
            <a:ext cx="2849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</a:t>
            </a:r>
            <a:r>
              <a:rPr lang="fr-BE"/>
              <a:t>du 08.12.2022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6890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i="1" dirty="0">
                <a:solidFill>
                  <a:srgbClr val="C00000"/>
                </a:solidFill>
              </a:rPr>
              <a:t>Table des matières</a:t>
            </a:r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15" name="Espace réservé du contenu 1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400"/>
              </a:spcBef>
              <a:buNone/>
            </a:pPr>
            <a:r>
              <a:rPr lang="fr-BE" sz="2200" dirty="0"/>
              <a:t>1. Jour de carence						</a:t>
            </a:r>
            <a:r>
              <a:rPr lang="fr-BE" sz="1600" dirty="0"/>
              <a:t>pg. 3</a:t>
            </a:r>
          </a:p>
          <a:p>
            <a:pPr>
              <a:spcBef>
                <a:spcPts val="400"/>
              </a:spcBef>
              <a:buNone/>
            </a:pPr>
            <a:r>
              <a:rPr lang="fr-BE" sz="2200" dirty="0"/>
              <a:t>2. Période d’essai						</a:t>
            </a:r>
            <a:r>
              <a:rPr lang="fr-BE" sz="1600" dirty="0"/>
              <a:t>pg. 4</a:t>
            </a:r>
          </a:p>
          <a:p>
            <a:pPr>
              <a:spcBef>
                <a:spcPts val="400"/>
              </a:spcBef>
              <a:buNone/>
            </a:pPr>
            <a:r>
              <a:rPr lang="fr-BE" sz="2200" dirty="0"/>
              <a:t>3. Rupture CDD							</a:t>
            </a:r>
            <a:r>
              <a:rPr lang="fr-BE" sz="1600" dirty="0"/>
              <a:t>pg. 5</a:t>
            </a:r>
          </a:p>
          <a:p>
            <a:pPr>
              <a:spcBef>
                <a:spcPts val="400"/>
              </a:spcBef>
              <a:buNone/>
            </a:pPr>
            <a:r>
              <a:rPr lang="fr-BE" sz="2200" dirty="0"/>
              <a:t>4. Délais de préavis						</a:t>
            </a:r>
            <a:r>
              <a:rPr lang="fr-BE" sz="1600" dirty="0"/>
              <a:t>pg. 8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4.1. Régime général – Contrat &gt; 31.12.2013		</a:t>
            </a:r>
            <a:r>
              <a:rPr lang="fr-BE" sz="1800" dirty="0"/>
              <a:t>	</a:t>
            </a:r>
            <a:r>
              <a:rPr lang="fr-BE" sz="1600" dirty="0"/>
              <a:t>pg. 9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4.2. Régime général – Contrat &lt; 01.01.2014			</a:t>
            </a:r>
            <a:r>
              <a:rPr lang="fr-BE" sz="1600" dirty="0"/>
              <a:t>pg. 11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4.3. Démission						</a:t>
            </a:r>
            <a:r>
              <a:rPr lang="fr-BE" sz="1600" dirty="0"/>
              <a:t>pg. 14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4.4. Dérogations au régime général				</a:t>
            </a:r>
            <a:r>
              <a:rPr lang="fr-BE" sz="1600" dirty="0"/>
              <a:t>pg. 15</a:t>
            </a:r>
          </a:p>
          <a:p>
            <a:pPr>
              <a:spcBef>
                <a:spcPts val="400"/>
              </a:spcBef>
              <a:buNone/>
            </a:pPr>
            <a:r>
              <a:rPr lang="fr-BE" sz="2200" dirty="0"/>
              <a:t>5. Indemnité en compensation du licenciement			</a:t>
            </a:r>
            <a:r>
              <a:rPr lang="fr-BE" sz="1600" dirty="0"/>
              <a:t>pg. 16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5.1. ICL – Pas droit						</a:t>
            </a:r>
            <a:r>
              <a:rPr lang="fr-BE" sz="1600" dirty="0"/>
              <a:t>pg. 17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5.2. ICL – Calcul 						</a:t>
            </a:r>
            <a:r>
              <a:rPr lang="fr-BE" sz="1600" dirty="0"/>
              <a:t>pg. 18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5.3. ICL – Procédure pratique					</a:t>
            </a:r>
            <a:r>
              <a:rPr lang="fr-BE" sz="1600" dirty="0"/>
              <a:t>pg. 20</a:t>
            </a:r>
          </a:p>
          <a:p>
            <a:pPr>
              <a:spcBef>
                <a:spcPts val="400"/>
              </a:spcBef>
              <a:buNone/>
            </a:pPr>
            <a:r>
              <a:rPr lang="fr-BE" sz="2000" dirty="0"/>
              <a:t>	5.4. ICL – Statut						</a:t>
            </a:r>
            <a:r>
              <a:rPr lang="fr-BE" sz="1600" dirty="0"/>
              <a:t>pg. 21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580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1. Jour de carence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b="1" dirty="0">
                <a:solidFill>
                  <a:srgbClr val="C00000"/>
                </a:solidFill>
              </a:rPr>
              <a:t>Suppression du jour de carence </a:t>
            </a:r>
            <a:r>
              <a:rPr lang="fr-FR" sz="3000" b="1" dirty="0"/>
              <a:t>depuis le 01.01.2014.</a:t>
            </a:r>
          </a:p>
          <a:p>
            <a:pPr marL="0" indent="0">
              <a:spcBef>
                <a:spcPts val="600"/>
              </a:spcBef>
              <a:buNone/>
              <a:tabLst>
                <a:tab pos="358775" algn="l"/>
              </a:tabLst>
            </a:pPr>
            <a:endParaRPr lang="fr-FR" sz="30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Renforcement du </a:t>
            </a:r>
            <a:r>
              <a:rPr lang="fr-FR" sz="3000" b="1" dirty="0"/>
              <a:t>contrôle de l’absentéisme </a:t>
            </a:r>
            <a:r>
              <a:rPr lang="fr-FR" sz="3000" dirty="0"/>
              <a:t>pour cause de maladie 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Avertir son employeur.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Certificat médical dans les 2 jours ouvrables.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« </a:t>
            </a:r>
            <a:r>
              <a:rPr lang="fr-FR" sz="3000" b="1" dirty="0"/>
              <a:t>Bracelet Médical</a:t>
            </a:r>
            <a:r>
              <a:rPr lang="fr-FR" sz="3000" dirty="0"/>
              <a:t> ».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03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2. Période d’essai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b="1" dirty="0">
                <a:solidFill>
                  <a:srgbClr val="C00000"/>
                </a:solidFill>
              </a:rPr>
              <a:t>Suppression de la période d’essai </a:t>
            </a:r>
            <a:r>
              <a:rPr lang="fr-FR" sz="3000" b="1" dirty="0"/>
              <a:t>pour les contrats prenant cours après le 31.12.2013</a:t>
            </a:r>
            <a:r>
              <a:rPr lang="fr-FR" sz="3000" dirty="0"/>
              <a:t>.</a:t>
            </a:r>
          </a:p>
          <a:p>
            <a:pPr marL="0" indent="0">
              <a:spcBef>
                <a:spcPts val="600"/>
              </a:spcBef>
              <a:buNone/>
              <a:tabLst>
                <a:tab pos="358775" algn="l"/>
              </a:tabLst>
            </a:pPr>
            <a:endParaRPr lang="fr-FR" sz="3000" b="1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Période d’essai de 3 jours ouvrables pour :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Le </a:t>
            </a:r>
            <a:r>
              <a:rPr lang="fr-FR" sz="3000" b="1" dirty="0"/>
              <a:t>contrat intérimaire</a:t>
            </a:r>
            <a:r>
              <a:rPr lang="fr-FR" sz="3000" dirty="0"/>
              <a:t>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  <a:tabLst>
                <a:tab pos="358775" algn="l"/>
              </a:tabLst>
            </a:pPr>
            <a:r>
              <a:rPr lang="fr-FR" sz="3000" dirty="0"/>
              <a:t>Le </a:t>
            </a:r>
            <a:r>
              <a:rPr lang="fr-FR" sz="3000" b="1" dirty="0"/>
              <a:t>contrat</a:t>
            </a:r>
            <a:r>
              <a:rPr lang="fr-FR" sz="3000" dirty="0"/>
              <a:t> </a:t>
            </a:r>
            <a:r>
              <a:rPr lang="fr-FR" sz="3000" b="1" dirty="0"/>
              <a:t>étudiant</a:t>
            </a:r>
            <a:r>
              <a:rPr lang="fr-FR" sz="3000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588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eur droit avec flèche 25"/>
          <p:cNvCxnSpPr/>
          <p:nvPr/>
        </p:nvCxnSpPr>
        <p:spPr>
          <a:xfrm>
            <a:off x="1979712" y="2852936"/>
            <a:ext cx="2052228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 Rupture CDD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>
          <a:xfrm>
            <a:off x="1979712" y="3429000"/>
            <a:ext cx="205222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4031940" y="3429000"/>
            <a:ext cx="202984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rot="10800000" flipV="1">
            <a:off x="1979712" y="2781104"/>
            <a:ext cx="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946922" y="3621168"/>
            <a:ext cx="4082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200" b="1" i="1" dirty="0"/>
              <a:t>CDD </a:t>
            </a:r>
          </a:p>
        </p:txBody>
      </p:sp>
      <p:cxnSp>
        <p:nvCxnSpPr>
          <p:cNvPr id="20" name="Connecteur droit 19"/>
          <p:cNvCxnSpPr/>
          <p:nvPr/>
        </p:nvCxnSpPr>
        <p:spPr>
          <a:xfrm flipV="1">
            <a:off x="6061786" y="2774664"/>
            <a:ext cx="23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313638" y="237301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20.09.2022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395712" y="237301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19.03.2023</a:t>
            </a:r>
          </a:p>
        </p:txBody>
      </p:sp>
      <p:cxnSp>
        <p:nvCxnSpPr>
          <p:cNvPr id="23" name="Connecteur droit 22"/>
          <p:cNvCxnSpPr/>
          <p:nvPr/>
        </p:nvCxnSpPr>
        <p:spPr>
          <a:xfrm rot="10800000" flipV="1">
            <a:off x="4033916" y="2765854"/>
            <a:ext cx="0" cy="199800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1979712" y="2847313"/>
            <a:ext cx="2052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1</a:t>
            </a:r>
            <a:r>
              <a:rPr lang="fr-BE" i="1" baseline="30000" dirty="0"/>
              <a:t>ère</a:t>
            </a:r>
            <a:r>
              <a:rPr lang="fr-BE" i="1" dirty="0"/>
              <a:t> moitié du contrat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047443" y="5589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BE" dirty="0"/>
          </a:p>
        </p:txBody>
      </p:sp>
      <p:sp>
        <p:nvSpPr>
          <p:cNvPr id="31" name="ZoneTexte 30"/>
          <p:cNvSpPr txBox="1"/>
          <p:nvPr/>
        </p:nvSpPr>
        <p:spPr>
          <a:xfrm>
            <a:off x="3304101" y="4717793"/>
            <a:ext cx="16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19.12.2022</a:t>
            </a:r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3203848" y="2404347"/>
            <a:ext cx="0" cy="24840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2087724" y="1748808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Rupture du contrat le </a:t>
            </a:r>
          </a:p>
          <a:p>
            <a:pPr algn="ctr"/>
            <a:r>
              <a:rPr lang="fr-BE" i="1" dirty="0"/>
              <a:t>05.12.2022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3730527" y="5007237"/>
            <a:ext cx="3330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Préavis de 1 sem. si rupture du contrat par l’employeur.</a:t>
            </a:r>
          </a:p>
          <a:p>
            <a:endParaRPr lang="fr-BE" dirty="0"/>
          </a:p>
          <a:p>
            <a:r>
              <a:rPr lang="fr-BE" dirty="0"/>
              <a:t>Préavis de 1 sem. si rupture du contrat par le travailleur.</a:t>
            </a:r>
          </a:p>
        </p:txBody>
      </p:sp>
      <p:cxnSp>
        <p:nvCxnSpPr>
          <p:cNvPr id="42" name="Connecteur droit avec flèche 41"/>
          <p:cNvCxnSpPr/>
          <p:nvPr/>
        </p:nvCxnSpPr>
        <p:spPr>
          <a:xfrm>
            <a:off x="3203848" y="5307750"/>
            <a:ext cx="565212" cy="0"/>
          </a:xfrm>
          <a:prstGeom prst="straightConnector1">
            <a:avLst/>
          </a:prstGeom>
          <a:ln w="38100">
            <a:solidFill>
              <a:srgbClr val="00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827584" y="4365104"/>
            <a:ext cx="7416824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V="1">
            <a:off x="3203848" y="4872150"/>
            <a:ext cx="0" cy="12312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3203848" y="6093296"/>
            <a:ext cx="565212" cy="0"/>
          </a:xfrm>
          <a:prstGeom prst="straightConnector1">
            <a:avLst/>
          </a:prstGeom>
          <a:ln w="38100">
            <a:solidFill>
              <a:srgbClr val="00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88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4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eur droit avec flèche 25"/>
          <p:cNvCxnSpPr/>
          <p:nvPr/>
        </p:nvCxnSpPr>
        <p:spPr>
          <a:xfrm>
            <a:off x="1979712" y="2852936"/>
            <a:ext cx="2052228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 Rupture CDD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>
          <a:xfrm>
            <a:off x="1979712" y="3429000"/>
            <a:ext cx="205222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4031940" y="3429000"/>
            <a:ext cx="202984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rot="10800000" flipV="1">
            <a:off x="1979712" y="2781104"/>
            <a:ext cx="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946922" y="3621168"/>
            <a:ext cx="4082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200" b="1" i="1" dirty="0"/>
              <a:t>CDD </a:t>
            </a:r>
          </a:p>
        </p:txBody>
      </p:sp>
      <p:cxnSp>
        <p:nvCxnSpPr>
          <p:cNvPr id="20" name="Connecteur droit 19"/>
          <p:cNvCxnSpPr/>
          <p:nvPr/>
        </p:nvCxnSpPr>
        <p:spPr>
          <a:xfrm flipV="1">
            <a:off x="6061786" y="2774664"/>
            <a:ext cx="23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313638" y="237301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22.09.2022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394773" y="237301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21.03.2023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979712" y="2847313"/>
            <a:ext cx="2052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1</a:t>
            </a:r>
            <a:r>
              <a:rPr lang="fr-BE" i="1" baseline="30000" dirty="0"/>
              <a:t>ère</a:t>
            </a:r>
            <a:r>
              <a:rPr lang="fr-BE" i="1" dirty="0"/>
              <a:t> moitié du contrat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047443" y="5589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BE" dirty="0"/>
          </a:p>
        </p:txBody>
      </p:sp>
      <p:sp>
        <p:nvSpPr>
          <p:cNvPr id="31" name="ZoneTexte 30"/>
          <p:cNvSpPr txBox="1"/>
          <p:nvPr/>
        </p:nvSpPr>
        <p:spPr>
          <a:xfrm>
            <a:off x="3217970" y="4774001"/>
            <a:ext cx="16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21.05.2022</a:t>
            </a:r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4306371" y="2431989"/>
            <a:ext cx="0" cy="23400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3227633" y="1723626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Rupture du contrat le </a:t>
            </a:r>
          </a:p>
          <a:p>
            <a:pPr algn="ctr"/>
            <a:r>
              <a:rPr lang="fr-BE" i="1" dirty="0"/>
              <a:t>30.05.2022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4871582" y="4683547"/>
            <a:ext cx="416491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Il reste 12 semaines de contrat.</a:t>
            </a:r>
          </a:p>
          <a:p>
            <a:pPr lvl="0"/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Mais si CDI (et rupture du contrat par l’employeur), droit à seulement 3 sem. de préavis.</a:t>
            </a:r>
          </a:p>
          <a:p>
            <a:endParaRPr lang="fr-BE" sz="1200" dirty="0">
              <a:sym typeface="Wingdings" panose="05000000000000000000" pitchFamily="2" charset="2"/>
            </a:endParaRPr>
          </a:p>
          <a:p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/>
              <a:t>Préavis de 6 semaines (cf. 3 sem. x 2).</a:t>
            </a:r>
          </a:p>
        </p:txBody>
      </p:sp>
      <p:cxnSp>
        <p:nvCxnSpPr>
          <p:cNvPr id="42" name="Connecteur droit avec flèche 41"/>
          <p:cNvCxnSpPr/>
          <p:nvPr/>
        </p:nvCxnSpPr>
        <p:spPr>
          <a:xfrm>
            <a:off x="4289394" y="5311989"/>
            <a:ext cx="565212" cy="0"/>
          </a:xfrm>
          <a:prstGeom prst="straightConnector1">
            <a:avLst/>
          </a:prstGeom>
          <a:ln w="38100">
            <a:solidFill>
              <a:srgbClr val="00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827584" y="4365104"/>
            <a:ext cx="7416824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 rot="10800000" flipV="1">
            <a:off x="4033916" y="2765854"/>
            <a:ext cx="0" cy="199800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63F8432-2385-436A-96A2-9AB70A82A2AD}"/>
              </a:ext>
            </a:extLst>
          </p:cNvPr>
          <p:cNvCxnSpPr/>
          <p:nvPr/>
        </p:nvCxnSpPr>
        <p:spPr>
          <a:xfrm flipV="1">
            <a:off x="4306371" y="5085184"/>
            <a:ext cx="0" cy="2160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16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4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eur droit avec flèche 25"/>
          <p:cNvCxnSpPr/>
          <p:nvPr/>
        </p:nvCxnSpPr>
        <p:spPr>
          <a:xfrm>
            <a:off x="1979712" y="2852936"/>
            <a:ext cx="2052228" cy="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3. Rupture CDD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>
          <a:xfrm>
            <a:off x="1979712" y="3429000"/>
            <a:ext cx="205222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4031940" y="3429000"/>
            <a:ext cx="371023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 rot="10800000" flipV="1">
            <a:off x="1979712" y="2781104"/>
            <a:ext cx="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/>
          <p:cNvSpPr txBox="1"/>
          <p:nvPr/>
        </p:nvSpPr>
        <p:spPr>
          <a:xfrm>
            <a:off x="1946922" y="3621168"/>
            <a:ext cx="5795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3200" b="1" i="1" dirty="0"/>
              <a:t>CDD </a:t>
            </a:r>
          </a:p>
        </p:txBody>
      </p:sp>
      <p:cxnSp>
        <p:nvCxnSpPr>
          <p:cNvPr id="20" name="Connecteur droit 19"/>
          <p:cNvCxnSpPr/>
          <p:nvPr/>
        </p:nvCxnSpPr>
        <p:spPr>
          <a:xfrm flipV="1">
            <a:off x="7742176" y="2789285"/>
            <a:ext cx="230" cy="15840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313638" y="237301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18.07.2022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7076102" y="2387635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i="1" dirty="0"/>
              <a:t>17.01.2024</a:t>
            </a:r>
          </a:p>
        </p:txBody>
      </p:sp>
      <p:cxnSp>
        <p:nvCxnSpPr>
          <p:cNvPr id="23" name="Connecteur droit 22"/>
          <p:cNvCxnSpPr/>
          <p:nvPr/>
        </p:nvCxnSpPr>
        <p:spPr>
          <a:xfrm rot="10800000" flipV="1">
            <a:off x="4033916" y="2765854"/>
            <a:ext cx="0" cy="199800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1979712" y="2847313"/>
            <a:ext cx="2052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1</a:t>
            </a:r>
            <a:r>
              <a:rPr lang="fr-BE" i="1" baseline="30000" dirty="0"/>
              <a:t>ère</a:t>
            </a:r>
            <a:r>
              <a:rPr lang="fr-BE" i="1" dirty="0"/>
              <a:t> moitié du contrat</a:t>
            </a:r>
          </a:p>
          <a:p>
            <a:pPr algn="ctr"/>
            <a:r>
              <a:rPr lang="fr-BE" i="1" dirty="0"/>
              <a:t>&amp; max. 6 mois 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4047443" y="55892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BE" dirty="0"/>
          </a:p>
        </p:txBody>
      </p:sp>
      <p:sp>
        <p:nvSpPr>
          <p:cNvPr id="31" name="ZoneTexte 30"/>
          <p:cNvSpPr txBox="1"/>
          <p:nvPr/>
        </p:nvSpPr>
        <p:spPr>
          <a:xfrm>
            <a:off x="3241094" y="4717793"/>
            <a:ext cx="16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17.01.2023</a:t>
            </a:r>
          </a:p>
        </p:txBody>
      </p:sp>
      <p:cxnSp>
        <p:nvCxnSpPr>
          <p:cNvPr id="32" name="Connecteur droit 31"/>
          <p:cNvCxnSpPr/>
          <p:nvPr/>
        </p:nvCxnSpPr>
        <p:spPr>
          <a:xfrm flipV="1">
            <a:off x="3491880" y="2371438"/>
            <a:ext cx="0" cy="24840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2375756" y="1714279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i="1" dirty="0"/>
              <a:t>Rupture du contrat le 19.12.2022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4080215" y="5004820"/>
            <a:ext cx="3330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Préavis de 4 sem. si rupture du contrat par l’employeur.</a:t>
            </a:r>
          </a:p>
          <a:p>
            <a:endParaRPr lang="fr-BE" dirty="0"/>
          </a:p>
          <a:p>
            <a:r>
              <a:rPr lang="fr-BE" dirty="0"/>
              <a:t>Préavis de 2 sem. si rupture du contrat par le travailleur.</a:t>
            </a:r>
          </a:p>
        </p:txBody>
      </p:sp>
      <p:cxnSp>
        <p:nvCxnSpPr>
          <p:cNvPr id="42" name="Connecteur droit avec flèche 41"/>
          <p:cNvCxnSpPr/>
          <p:nvPr/>
        </p:nvCxnSpPr>
        <p:spPr>
          <a:xfrm>
            <a:off x="3489851" y="5265298"/>
            <a:ext cx="565212" cy="0"/>
          </a:xfrm>
          <a:prstGeom prst="straightConnector1">
            <a:avLst/>
          </a:prstGeom>
          <a:ln w="38100">
            <a:solidFill>
              <a:srgbClr val="00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827584" y="4365104"/>
            <a:ext cx="7416824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V="1">
            <a:off x="3491880" y="4793600"/>
            <a:ext cx="0" cy="1396800"/>
          </a:xfrm>
          <a:prstGeom prst="line">
            <a:avLst/>
          </a:prstGeom>
          <a:ln w="38100">
            <a:solidFill>
              <a:srgbClr val="00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>
            <a:off x="3489851" y="6174874"/>
            <a:ext cx="565212" cy="0"/>
          </a:xfrm>
          <a:prstGeom prst="straightConnector1">
            <a:avLst/>
          </a:prstGeom>
          <a:ln w="38100">
            <a:solidFill>
              <a:srgbClr val="00339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38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4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 Délais de préavis 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Suite à l’uniformisation « partielle » des statuts, nous devons pour vérifier la durée du préavis déterminer si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/>
              <a:t>Le contrat débute après le 31.12.2013.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/>
              <a:t>Le contrat débute avant le 01.01.2014.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/>
              <a:t>Le travailleur démissionne.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/>
              <a:t>Le licenciement est effectué en vue de la pension ou d’un RCC </a:t>
            </a:r>
            <a:r>
              <a:rPr lang="fr-BE" sz="2400" dirty="0"/>
              <a:t>(restructuration ou difficulté).</a:t>
            </a:r>
            <a:endParaRPr lang="fr-BE" sz="2800" dirty="0"/>
          </a:p>
          <a:p>
            <a:pPr marL="0" indent="0">
              <a:buNone/>
            </a:pPr>
            <a:endParaRPr lang="fr-BE" sz="3000" dirty="0"/>
          </a:p>
          <a:p>
            <a:pPr marL="0" indent="0">
              <a:buNone/>
            </a:pPr>
            <a:endParaRPr lang="fr-BE" sz="3000" dirty="0"/>
          </a:p>
          <a:p>
            <a:pPr>
              <a:buFont typeface="Wingdings" panose="05000000000000000000" pitchFamily="2" charset="2"/>
              <a:buChar char="§"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202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4.1. Régime général </a:t>
            </a:r>
            <a:br>
              <a:rPr lang="fr-BE" sz="4000" b="1" i="1" dirty="0"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Contrat &gt; 31.12.2013  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Les « nouveaux délais » de préavis sont </a:t>
            </a:r>
            <a:r>
              <a:rPr lang="fr-BE" sz="3000" b="1" dirty="0"/>
              <a:t>applicables </a:t>
            </a:r>
            <a:r>
              <a:rPr lang="fr-BE" sz="3000" dirty="0"/>
              <a:t>aux </a:t>
            </a:r>
            <a:r>
              <a:rPr lang="fr-BE" sz="3000" b="1" dirty="0">
                <a:solidFill>
                  <a:srgbClr val="C00000"/>
                </a:solidFill>
              </a:rPr>
              <a:t>ouvriers</a:t>
            </a:r>
            <a:r>
              <a:rPr lang="fr-BE" sz="3000" dirty="0"/>
              <a:t> &amp; aux </a:t>
            </a:r>
            <a:r>
              <a:rPr lang="fr-BE" sz="3000" b="1" dirty="0">
                <a:solidFill>
                  <a:srgbClr val="C00000"/>
                </a:solidFill>
              </a:rPr>
              <a:t>employés</a:t>
            </a:r>
            <a:r>
              <a:rPr lang="fr-BE" sz="3000" dirty="0"/>
              <a:t> pour autant que le contrat de travail ait débuté après le 31.12.2013.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BE" sz="800" dirty="0"/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Le </a:t>
            </a:r>
            <a:r>
              <a:rPr lang="fr-BE" sz="3000" b="1" dirty="0"/>
              <a:t>délai de préavis </a:t>
            </a:r>
            <a:r>
              <a:rPr lang="fr-BE" sz="3000" dirty="0"/>
              <a:t>commence toujours le </a:t>
            </a:r>
            <a:r>
              <a:rPr lang="fr-BE" sz="3000" b="1" dirty="0">
                <a:solidFill>
                  <a:srgbClr val="C00000"/>
                </a:solidFill>
              </a:rPr>
              <a:t>lundi qui suit la notification</a:t>
            </a:r>
            <a:r>
              <a:rPr lang="fr-BE" sz="3000" dirty="0"/>
              <a:t> du préavis.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/>
              <a:t>Si recommandé </a:t>
            </a:r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600" dirty="0">
                <a:sym typeface="Wingdings" panose="05000000000000000000" pitchFamily="2" charset="2"/>
              </a:rPr>
              <a:t> le</a:t>
            </a:r>
            <a:r>
              <a:rPr lang="fr-BE" sz="2600" dirty="0"/>
              <a:t> courrier prend effet au 3</a:t>
            </a:r>
            <a:r>
              <a:rPr lang="fr-BE" sz="2600" baseline="30000" dirty="0"/>
              <a:t>ème</a:t>
            </a:r>
            <a:r>
              <a:rPr lang="fr-BE" sz="2600" dirty="0"/>
              <a:t> jour ouvrable après la date d’envoi.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600" dirty="0"/>
              <a:t>Si exploit d’huissier </a:t>
            </a:r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600" dirty="0">
                <a:sym typeface="Wingdings" panose="05000000000000000000" pitchFamily="2" charset="2"/>
              </a:rPr>
              <a:t> présumé remis le jour même.</a:t>
            </a:r>
            <a:endParaRPr lang="fr-BE" sz="2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76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4.1. Régime général </a:t>
            </a:r>
            <a:br>
              <a:rPr lang="fr-BE" b="1" i="1" dirty="0">
                <a:solidFill>
                  <a:prstClr val="black"/>
                </a:solidFill>
                <a:cs typeface="Times New Roman" pitchFamily="18" charset="0"/>
              </a:rPr>
            </a:br>
            <a:r>
              <a:rPr lang="fr-BE" b="1" i="1" dirty="0">
                <a:solidFill>
                  <a:prstClr val="black"/>
                </a:solidFill>
                <a:cs typeface="Times New Roman" pitchFamily="18" charset="0"/>
              </a:rPr>
              <a:t>Contrat &gt; 31.12.2013 </a:t>
            </a:r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404" y="1460426"/>
            <a:ext cx="8229599" cy="485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1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4.2. Régime général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Contrat &lt; 01.01.2014  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Pour le travailleur dont le contrat a débuté avant le 01.01.2014 et qui est licencié après le 31.12.2013, l</a:t>
            </a:r>
            <a:r>
              <a:rPr lang="fr-BE" sz="3000" dirty="0">
                <a:sym typeface="Wingdings" panose="05000000000000000000" pitchFamily="2" charset="2"/>
              </a:rPr>
              <a:t>’</a:t>
            </a:r>
            <a:r>
              <a:rPr lang="fr-BE" sz="3000" b="1" dirty="0">
                <a:solidFill>
                  <a:srgbClr val="C00000"/>
                </a:solidFill>
                <a:sym typeface="Wingdings" panose="05000000000000000000" pitchFamily="2" charset="2"/>
              </a:rPr>
              <a:t>ancienneté </a:t>
            </a:r>
            <a:r>
              <a:rPr lang="fr-BE" sz="3000" b="1" dirty="0">
                <a:sym typeface="Wingdings" panose="05000000000000000000" pitchFamily="2" charset="2"/>
              </a:rPr>
              <a:t>doit être </a:t>
            </a:r>
            <a:r>
              <a:rPr lang="fr-BE" sz="3000" b="1" dirty="0">
                <a:solidFill>
                  <a:srgbClr val="C00000"/>
                </a:solidFill>
                <a:sym typeface="Wingdings" panose="05000000000000000000" pitchFamily="2" charset="2"/>
              </a:rPr>
              <a:t>scindée </a:t>
            </a:r>
            <a:r>
              <a:rPr lang="fr-BE" sz="3000" b="1" dirty="0">
                <a:sym typeface="Wingdings" panose="05000000000000000000" pitchFamily="2" charset="2"/>
              </a:rPr>
              <a:t>:</a:t>
            </a:r>
          </a:p>
          <a:p>
            <a:pPr marL="0" indent="0">
              <a:spcBef>
                <a:spcPts val="600"/>
              </a:spcBef>
              <a:buNone/>
            </a:pPr>
            <a:endParaRPr lang="fr-BE" sz="500" b="1" dirty="0"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Ancienneté &lt; 2014 </a:t>
            </a:r>
            <a:r>
              <a:rPr lang="fr-BE" sz="3000" dirty="0">
                <a:sym typeface="Wingdings" panose="05000000000000000000" pitchFamily="2" charset="2"/>
              </a:rPr>
              <a:t>: préavis en vertu de l’</a:t>
            </a:r>
            <a:r>
              <a:rPr lang="fr-BE" sz="3000" b="1" dirty="0">
                <a:sym typeface="Wingdings" panose="05000000000000000000" pitchFamily="2" charset="2"/>
              </a:rPr>
              <a:t>ancien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3000" b="1" dirty="0">
                <a:sym typeface="Wingdings" panose="05000000000000000000" pitchFamily="2" charset="2"/>
              </a:rPr>
              <a:t>régime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2400" dirty="0">
                <a:sym typeface="Wingdings" panose="05000000000000000000" pitchFamily="2" charset="2"/>
              </a:rPr>
              <a:t>(partie A).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Ancienneté &gt; 2013 </a:t>
            </a:r>
            <a:r>
              <a:rPr lang="fr-BE" sz="3000" dirty="0">
                <a:sym typeface="Wingdings" panose="05000000000000000000" pitchFamily="2" charset="2"/>
              </a:rPr>
              <a:t>: préavis en vertu du </a:t>
            </a:r>
            <a:r>
              <a:rPr lang="fr-BE" sz="3000" b="1" dirty="0">
                <a:sym typeface="Wingdings" panose="05000000000000000000" pitchFamily="2" charset="2"/>
              </a:rPr>
              <a:t>nouveau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3000" b="1" dirty="0">
                <a:sym typeface="Wingdings" panose="05000000000000000000" pitchFamily="2" charset="2"/>
              </a:rPr>
              <a:t>régime</a:t>
            </a:r>
            <a:r>
              <a:rPr lang="fr-BE" sz="3000" dirty="0">
                <a:sym typeface="Wingdings" panose="05000000000000000000" pitchFamily="2" charset="2"/>
              </a:rPr>
              <a:t> </a:t>
            </a:r>
            <a:r>
              <a:rPr lang="fr-BE" sz="2400" dirty="0">
                <a:sym typeface="Wingdings" panose="05000000000000000000" pitchFamily="2" charset="2"/>
              </a:rPr>
              <a:t>(partie B).</a:t>
            </a:r>
            <a:endParaRPr lang="fr-BE" sz="3000" dirty="0"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endParaRPr lang="fr-BE" sz="500" dirty="0">
              <a:sym typeface="Wingdings" panose="05000000000000000000" pitchFamily="2" charset="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b="1" u="sng" dirty="0">
                <a:sym typeface="Wingdings" panose="05000000000000000000" pitchFamily="2" charset="2"/>
              </a:rPr>
              <a:t>Rmq</a:t>
            </a:r>
            <a:r>
              <a:rPr lang="fr-BE" sz="3000" b="1" dirty="0">
                <a:sym typeface="Wingdings" panose="05000000000000000000" pitchFamily="2" charset="2"/>
              </a:rPr>
              <a:t> : </a:t>
            </a:r>
            <a:r>
              <a:rPr lang="fr-BE" sz="3000" dirty="0">
                <a:sym typeface="Wingdings" panose="05000000000000000000" pitchFamily="2" charset="2"/>
              </a:rPr>
              <a:t>Au 01.01.2014 : remise à 0 de l’ancienneté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39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4.2. Préavis 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employé </a:t>
            </a:r>
            <a:b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au 31.12.2013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89578" y="5121586"/>
            <a:ext cx="8136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dirty="0"/>
              <a:t>* Par tranche de 5 ans ou par année entamée.</a:t>
            </a:r>
            <a:endParaRPr lang="fr-BE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528" y="1844824"/>
            <a:ext cx="836327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4.2. Préavis 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ouvrier </a:t>
            </a:r>
            <a:b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</a:br>
            <a:r>
              <a:rPr lang="fr-BE" sz="4000" b="1" i="1" dirty="0">
                <a:cs typeface="Times New Roman" pitchFamily="18" charset="0"/>
              </a:rPr>
              <a:t>au 31.12.2013*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77085" y="5675584"/>
            <a:ext cx="81369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3000" b="1" dirty="0">
                <a:solidFill>
                  <a:srgbClr val="C00000"/>
                </a:solidFill>
              </a:rPr>
              <a:t>* Sauf autres dispositions sectorielles !</a:t>
            </a:r>
            <a:endParaRPr lang="fr-BE" b="1" dirty="0">
              <a:solidFill>
                <a:srgbClr val="C00000"/>
              </a:solidFill>
            </a:endParaRP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528" y="1671366"/>
            <a:ext cx="8363271" cy="400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65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4.3. Démission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600200"/>
            <a:ext cx="8229600" cy="47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r-BE" b="1" i="1" dirty="0">
                <a:cs typeface="Times New Roman" pitchFamily="18" charset="0"/>
              </a:rPr>
              <a:t>4.4. Dérogations </a:t>
            </a:r>
            <a:br>
              <a:rPr lang="fr-BE" b="1" i="1" dirty="0">
                <a:cs typeface="Times New Roman" pitchFamily="18" charset="0"/>
              </a:rPr>
            </a:br>
            <a:r>
              <a:rPr lang="fr-BE" b="1" i="1" dirty="0">
                <a:cs typeface="Times New Roman" pitchFamily="18" charset="0"/>
              </a:rPr>
              <a:t>au régime général</a:t>
            </a:r>
            <a:endParaRPr lang="fr-FR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/>
              <a:t>Licenciement en vue de 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/>
              <a:t>La pension </a:t>
            </a:r>
            <a:r>
              <a:rPr lang="fr-BE" sz="22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Préavis de 26 semaines maximum.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R</a:t>
            </a:r>
            <a:r>
              <a:rPr lang="fr-BE" sz="3000" dirty="0"/>
              <a:t>CC (difficulté ou restructuration) </a:t>
            </a:r>
            <a:r>
              <a:rPr lang="fr-BE" sz="22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Possibilité de réduction à 26 semaines minimum.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Démission sans préavis possible :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Au 1</a:t>
            </a:r>
            <a:r>
              <a:rPr lang="fr-BE" sz="3000" baseline="30000" dirty="0">
                <a:sym typeface="Wingdings" panose="05000000000000000000" pitchFamily="2" charset="2"/>
              </a:rPr>
              <a:t>ier</a:t>
            </a:r>
            <a:r>
              <a:rPr lang="fr-BE" sz="3000" dirty="0">
                <a:sym typeface="Wingdings" panose="05000000000000000000" pitchFamily="2" charset="2"/>
              </a:rPr>
              <a:t> jour de CT « E » ou « SE ».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Après un mois de CT « I ».</a:t>
            </a:r>
          </a:p>
          <a:p>
            <a:pPr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Démission avec préavis de 7 jours pour les travailleurs occupés dans un PRT.</a:t>
            </a:r>
          </a:p>
          <a:p>
            <a:pPr>
              <a:buFont typeface="Wingdings" panose="05000000000000000000" pitchFamily="2" charset="2"/>
              <a:buChar char="§"/>
            </a:pPr>
            <a:endParaRPr lang="fr-BE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39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 ICL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b="1" dirty="0">
                <a:solidFill>
                  <a:srgbClr val="C00000"/>
                </a:solidFill>
              </a:rPr>
              <a:t>ICL = I</a:t>
            </a:r>
            <a:r>
              <a:rPr lang="fr-BE" sz="3000" dirty="0"/>
              <a:t>ndemnité en </a:t>
            </a:r>
            <a:r>
              <a:rPr lang="fr-BE" sz="3000" b="1" dirty="0">
                <a:solidFill>
                  <a:srgbClr val="C00000"/>
                </a:solidFill>
              </a:rPr>
              <a:t>C</a:t>
            </a:r>
            <a:r>
              <a:rPr lang="fr-BE" sz="3000" dirty="0"/>
              <a:t>ompensation du </a:t>
            </a:r>
            <a:r>
              <a:rPr lang="fr-BE" sz="3000" b="1" dirty="0">
                <a:solidFill>
                  <a:srgbClr val="C00000"/>
                </a:solidFill>
              </a:rPr>
              <a:t>L</a:t>
            </a:r>
            <a:r>
              <a:rPr lang="fr-BE" sz="3000" dirty="0"/>
              <a:t>icenciement.</a:t>
            </a:r>
          </a:p>
          <a:p>
            <a:pPr marL="0" indent="0">
              <a:buNone/>
            </a:pPr>
            <a:endParaRPr lang="fr-BE" sz="3000" dirty="0"/>
          </a:p>
          <a:p>
            <a:pPr marL="0" indent="0">
              <a:buNone/>
            </a:pPr>
            <a:r>
              <a:rPr lang="fr-BE" sz="3000" u="sng" dirty="0"/>
              <a:t>Conditions à remplir pour pouvoir prétendre à une ICL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Début du (dernier) contrat </a:t>
            </a:r>
            <a:r>
              <a:rPr lang="fr-BE" sz="3000" b="1" dirty="0">
                <a:solidFill>
                  <a:srgbClr val="C00000"/>
                </a:solidFill>
              </a:rPr>
              <a:t>ouvrier</a:t>
            </a:r>
            <a:r>
              <a:rPr lang="fr-BE" sz="3000" dirty="0"/>
              <a:t> avant le 01.01.2014.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Licenciement après le 31.12.2013.</a:t>
            </a:r>
          </a:p>
          <a:p>
            <a:pPr marL="0" indent="0">
              <a:buNone/>
            </a:pPr>
            <a:endParaRPr lang="fr-BE" sz="3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681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5.1. ICL – </a:t>
            </a:r>
            <a:r>
              <a:rPr lang="fr-BE" sz="4000" b="1" i="1" dirty="0">
                <a:solidFill>
                  <a:srgbClr val="C00000"/>
                </a:solidFill>
                <a:cs typeface="Times New Roman" pitchFamily="18" charset="0"/>
              </a:rPr>
              <a:t>Pas droit</a:t>
            </a:r>
            <a:endParaRPr lang="fr-FR" sz="4000" b="1" i="1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720"/>
              </a:spcBef>
              <a:buNone/>
            </a:pPr>
            <a:r>
              <a:rPr lang="fr-BE" sz="2600" dirty="0"/>
              <a:t>Le travailleur n’a </a:t>
            </a:r>
            <a:r>
              <a:rPr lang="fr-BE" sz="2600" b="1" u="sng" dirty="0"/>
              <a:t>pas droit à l’ICL si</a:t>
            </a:r>
            <a:r>
              <a:rPr lang="fr-BE" sz="2600" b="1" dirty="0"/>
              <a:t> </a:t>
            </a:r>
            <a:r>
              <a:rPr lang="fr-BE" sz="2600" dirty="0"/>
              <a:t>: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Fin de CDD ou de contrat pour travail nettement défini.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Licenciement pour motif grave.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Abandon d’emploi avec ou sans contre préavis.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Rupture du contrat de commun accord.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L’employeur ou le travailleur invoque la force majeure.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Licenciement en vue de la pension avec préavis de 26 semaines.</a:t>
            </a:r>
          </a:p>
          <a:p>
            <a:pPr>
              <a:spcBef>
                <a:spcPts val="720"/>
              </a:spcBef>
              <a:buFont typeface="Wingdings" panose="05000000000000000000" pitchFamily="2" charset="2"/>
              <a:buChar char="§"/>
            </a:pPr>
            <a:r>
              <a:rPr lang="fr-BE" sz="2600" dirty="0">
                <a:sym typeface="Wingdings" panose="05000000000000000000" pitchFamily="2" charset="2"/>
              </a:rPr>
              <a:t>RCC entreprise reconnue en difficulté ou restructuration avec réduction du préavis à 26 semaines.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694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5.2. ICL – Calcul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ZoneTexte 5"/>
          <p:cNvSpPr txBox="1"/>
          <p:nvPr/>
        </p:nvSpPr>
        <p:spPr>
          <a:xfrm>
            <a:off x="477085" y="4147509"/>
            <a:ext cx="813690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b="1" dirty="0"/>
              <a:t>A </a:t>
            </a:r>
            <a:r>
              <a:rPr lang="fr-BE" sz="2400" dirty="0"/>
              <a:t>= Durée de préavis calculée sur l’ancienneté totale en appliquant les nouvelles règles (exprimée en jours cal.).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b="1" dirty="0"/>
              <a:t>B1</a:t>
            </a:r>
            <a:r>
              <a:rPr lang="fr-BE" sz="2400" dirty="0"/>
              <a:t> = Durée de préavis pour l’ancienneté &lt; 01.01.2014 (anciennes règles) = Partie A (exprimée en jours cal.).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400" b="1" dirty="0"/>
              <a:t>B2</a:t>
            </a:r>
            <a:r>
              <a:rPr lang="fr-BE" sz="2400" dirty="0"/>
              <a:t> = Durée de préavis pour l’ancienneté &gt; 31.12.2013 (nouvelles règles) = Partie B (exprimée en jours cal.).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85" y="1556792"/>
            <a:ext cx="8136904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4534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5.2 ICL – Calcul de la période proportionnée</a:t>
            </a:r>
            <a:endParaRPr lang="en-US" sz="4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44825"/>
            <a:ext cx="8363272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3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5.3. ICL – Procédure pratique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Formulaire de DA = C4 </a:t>
            </a:r>
          </a:p>
          <a:p>
            <a:pPr marL="355600" indent="0">
              <a:buNone/>
            </a:pPr>
            <a:r>
              <a:rPr lang="fr-BE" dirty="0">
                <a:sym typeface="Wingdings" panose="05000000000000000000" pitchFamily="2" charset="2"/>
              </a:rPr>
              <a:t>+ mention paiement unique ou mensuel.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>
                <a:sym typeface="Wingdings" panose="05000000000000000000" pitchFamily="2" charset="2"/>
              </a:rPr>
              <a:t>Délai d’introduction 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u="sng" dirty="0">
                <a:sym typeface="Wingdings" panose="05000000000000000000" pitchFamily="2" charset="2"/>
              </a:rPr>
              <a:t>Au plus tôt </a:t>
            </a:r>
            <a:r>
              <a:rPr lang="fr-BE" dirty="0">
                <a:sym typeface="Wingdings" panose="05000000000000000000" pitchFamily="2" charset="2"/>
              </a:rPr>
              <a:t>: 1</a:t>
            </a:r>
            <a:r>
              <a:rPr lang="fr-BE" baseline="30000" dirty="0">
                <a:sym typeface="Wingdings" panose="05000000000000000000" pitchFamily="2" charset="2"/>
              </a:rPr>
              <a:t>ier</a:t>
            </a:r>
            <a:r>
              <a:rPr lang="fr-BE" dirty="0">
                <a:sym typeface="Wingdings" panose="05000000000000000000" pitchFamily="2" charset="2"/>
              </a:rPr>
              <a:t> jour ouvrable suivant fin du préavis ou de la période couverte par indemnité de congé.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BE" u="sng" dirty="0">
                <a:sym typeface="Wingdings" panose="05000000000000000000" pitchFamily="2" charset="2"/>
              </a:rPr>
              <a:t>Au plus tard </a:t>
            </a:r>
            <a:r>
              <a:rPr lang="fr-BE" dirty="0">
                <a:sym typeface="Wingdings" panose="05000000000000000000" pitchFamily="2" charset="2"/>
              </a:rPr>
              <a:t>: Le dernier jour du 6</a:t>
            </a:r>
            <a:r>
              <a:rPr lang="fr-BE" baseline="30000" dirty="0">
                <a:sym typeface="Wingdings" panose="05000000000000000000" pitchFamily="2" charset="2"/>
              </a:rPr>
              <a:t>ème</a:t>
            </a:r>
            <a:r>
              <a:rPr lang="fr-BE" dirty="0">
                <a:sym typeface="Wingdings" panose="05000000000000000000" pitchFamily="2" charset="2"/>
              </a:rPr>
              <a:t> mois calculé de date à date suivant la date d’introduction « le plus tôt possible ».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43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>
                <a:cs typeface="Times New Roman" pitchFamily="18" charset="0"/>
              </a:rPr>
              <a:t>5.4. Statut ICL</a:t>
            </a:r>
            <a:endParaRPr lang="fr-FR" sz="4000" b="1" i="1" dirty="0"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2800" dirty="0"/>
              <a:t>La période couverte par ICL :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ym typeface="Wingdings" panose="05000000000000000000" pitchFamily="2" charset="2"/>
              </a:rPr>
              <a:t>Est assimilée pour art. 30, 32 &amp; 33 (admissibilité).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ym typeface="Wingdings" panose="05000000000000000000" pitchFamily="2" charset="2"/>
              </a:rPr>
              <a:t>Est assimilée pour art. 116 (retour et prolongation).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b="1" dirty="0">
                <a:sym typeface="Wingdings" panose="05000000000000000000" pitchFamily="2" charset="2"/>
              </a:rPr>
              <a:t>N’est </a:t>
            </a:r>
            <a:r>
              <a:rPr lang="fr-BE" sz="2800" b="1" u="sng" dirty="0">
                <a:solidFill>
                  <a:srgbClr val="C00000"/>
                </a:solidFill>
                <a:sym typeface="Wingdings" panose="05000000000000000000" pitchFamily="2" charset="2"/>
              </a:rPr>
              <a:t>pas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cumulable</a:t>
            </a:r>
            <a:r>
              <a:rPr lang="fr-BE" sz="2800" b="1" dirty="0">
                <a:sym typeface="Wingdings" panose="05000000000000000000" pitchFamily="2" charset="2"/>
              </a:rPr>
              <a:t> </a:t>
            </a:r>
            <a:r>
              <a:rPr lang="fr-BE" sz="2800" dirty="0">
                <a:sym typeface="Wingdings" panose="05000000000000000000" pitchFamily="2" charset="2"/>
              </a:rPr>
              <a:t>avec les 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allocations </a:t>
            </a:r>
            <a:r>
              <a:rPr lang="fr-BE" sz="2800" dirty="0">
                <a:sym typeface="Wingdings" panose="05000000000000000000" pitchFamily="2" charset="2"/>
              </a:rPr>
              <a:t>de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CC </a:t>
            </a:r>
            <a:r>
              <a:rPr lang="fr-BE" sz="2800" b="1" dirty="0">
                <a:sym typeface="Wingdings" panose="05000000000000000000" pitchFamily="2" charset="2"/>
              </a:rPr>
              <a:t>&amp; 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CT</a:t>
            </a:r>
            <a:r>
              <a:rPr lang="fr-BE" sz="2800" dirty="0">
                <a:sym typeface="Wingdings" panose="05000000000000000000" pitchFamily="2" charset="2"/>
              </a:rPr>
              <a:t>,</a:t>
            </a:r>
            <a:r>
              <a:rPr lang="fr-BE" sz="28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ni de travail </a:t>
            </a:r>
            <a:r>
              <a:rPr lang="fr-BE" sz="2800" dirty="0">
                <a:sym typeface="Wingdings" panose="05000000000000000000" pitchFamily="2" charset="2"/>
              </a:rPr>
              <a:t>(Activa, Impulsion, SINE, PTP).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ym typeface="Wingdings" panose="05000000000000000000" pitchFamily="2" charset="2"/>
              </a:rPr>
              <a:t>N’ouvre pas le droit aux vacances annuelles.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ym typeface="Wingdings" panose="05000000000000000000" pitchFamily="2" charset="2"/>
              </a:rPr>
              <a:t>N’est </a:t>
            </a:r>
            <a:r>
              <a:rPr lang="fr-BE" sz="2800" b="1" dirty="0">
                <a:sym typeface="Wingdings" panose="05000000000000000000" pitchFamily="2" charset="2"/>
              </a:rPr>
              <a:t>pas comptabilisée </a:t>
            </a:r>
            <a:r>
              <a:rPr lang="fr-BE" sz="2800" dirty="0">
                <a:sym typeface="Wingdings" panose="05000000000000000000" pitchFamily="2" charset="2"/>
              </a:rPr>
              <a:t>pour justifier le </a:t>
            </a:r>
            <a:r>
              <a:rPr lang="fr-BE" sz="2800" b="1" dirty="0">
                <a:sym typeface="Wingdings" panose="05000000000000000000" pitchFamily="2" charset="2"/>
              </a:rPr>
              <a:t>PP </a:t>
            </a:r>
            <a:r>
              <a:rPr lang="fr-BE" sz="2800" dirty="0">
                <a:sym typeface="Wingdings" panose="05000000000000000000" pitchFamily="2" charset="2"/>
              </a:rPr>
              <a:t>requis pour l’octroi du </a:t>
            </a:r>
            <a:r>
              <a:rPr lang="fr-BE" sz="2800" b="1" dirty="0">
                <a:sym typeface="Wingdings" panose="05000000000000000000" pitchFamily="2" charset="2"/>
              </a:rPr>
              <a:t>RCC</a:t>
            </a:r>
            <a:r>
              <a:rPr lang="fr-BE" sz="2800" dirty="0">
                <a:sym typeface="Wingdings" panose="05000000000000000000" pitchFamily="2" charset="2"/>
              </a:rPr>
              <a:t>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2800" dirty="0">
                <a:sym typeface="Wingdings" panose="05000000000000000000" pitchFamily="2" charset="2"/>
              </a:rPr>
              <a:t>Est </a:t>
            </a:r>
            <a:r>
              <a:rPr lang="fr-BE" sz="2800" b="1" dirty="0">
                <a:sym typeface="Wingdings" panose="05000000000000000000" pitchFamily="2" charset="2"/>
              </a:rPr>
              <a:t>comptabilisée</a:t>
            </a:r>
            <a:r>
              <a:rPr lang="fr-BE" sz="2800" dirty="0">
                <a:sym typeface="Wingdings" panose="05000000000000000000" pitchFamily="2" charset="2"/>
              </a:rPr>
              <a:t> pour le </a:t>
            </a:r>
            <a:r>
              <a:rPr lang="fr-BE" sz="2800" b="1" dirty="0">
                <a:sym typeface="Wingdings" panose="05000000000000000000" pitchFamily="2" charset="2"/>
              </a:rPr>
              <a:t>calcul du PP </a:t>
            </a:r>
            <a:r>
              <a:rPr lang="fr-BE" sz="2800" dirty="0">
                <a:sym typeface="Wingdings" panose="05000000000000000000" pitchFamily="2" charset="2"/>
              </a:rPr>
              <a:t>pour la dispense 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89,2, 89,2N, 89,2S </a:t>
            </a:r>
            <a:r>
              <a:rPr lang="fr-BE" sz="2800" b="1" dirty="0">
                <a:sym typeface="Wingdings" panose="05000000000000000000" pitchFamily="2" charset="2"/>
              </a:rPr>
              <a:t>&amp;</a:t>
            </a:r>
            <a:r>
              <a:rPr lang="fr-BE" sz="2800" b="1" dirty="0">
                <a:solidFill>
                  <a:srgbClr val="C00000"/>
                </a:solidFill>
                <a:sym typeface="Wingdings" panose="05000000000000000000" pitchFamily="2" charset="2"/>
              </a:rPr>
              <a:t> 89,22</a:t>
            </a:r>
            <a:r>
              <a:rPr lang="fr-BE" sz="2800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93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4" ma:contentTypeDescription="Crée un document." ma:contentTypeScope="" ma:versionID="f91216ef509c6a584f12053dcd624016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0302afb9b051af15bdd7c100f38d2307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FAF0AA-BE73-41E4-B7DD-CE016ADEA4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1D4A87-4512-4FEB-B013-DD479FAB32A8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elements/1.1/"/>
    <ds:schemaRef ds:uri="bdec1399-7c99-4025-bfb6-e1e799e6630a"/>
    <ds:schemaRef ds:uri="http://schemas.microsoft.com/office/infopath/2007/PartnerControls"/>
    <ds:schemaRef ds:uri="7d2a3af0-b854-4018-b3fb-98bf2b75e19a"/>
    <ds:schemaRef ds:uri="1e832426-6819-49af-b751-404cdfce156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231B01E-B87E-4D10-94E0-C9D9EC1B0B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10237</TotalTime>
  <Words>1144</Words>
  <Application>Microsoft Office PowerPoint</Application>
  <PresentationFormat>On-screen Show (4:3)</PresentationFormat>
  <Paragraphs>172</Paragraphs>
  <Slides>21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Thème Office</vt:lpstr>
      <vt:lpstr> Harmonisation  des statuts</vt:lpstr>
      <vt:lpstr>Table des matières</vt:lpstr>
      <vt:lpstr>1. Jour de carence</vt:lpstr>
      <vt:lpstr>2. Période d’essai</vt:lpstr>
      <vt:lpstr>3. Rupture CDD</vt:lpstr>
      <vt:lpstr>3. Rupture CDD</vt:lpstr>
      <vt:lpstr>3. Rupture CDD</vt:lpstr>
      <vt:lpstr>4. Délais de préavis </vt:lpstr>
      <vt:lpstr>4.1. Régime général  Contrat &gt; 31.12.2013  </vt:lpstr>
      <vt:lpstr>4.1. Régime général  Contrat &gt; 31.12.2013 </vt:lpstr>
      <vt:lpstr>4.2. Régime général  Contrat &lt; 01.01.2014  </vt:lpstr>
      <vt:lpstr>4.2. Préavis employé  au 31.12.2013</vt:lpstr>
      <vt:lpstr>4.2. Préavis ouvrier  au 31.12.2013*</vt:lpstr>
      <vt:lpstr>4.3. Démission</vt:lpstr>
      <vt:lpstr>4.4. Dérogations  au régime général</vt:lpstr>
      <vt:lpstr>5. ICL</vt:lpstr>
      <vt:lpstr>5.1. ICL – Pas droit</vt:lpstr>
      <vt:lpstr>5.2. ICL – Calcul</vt:lpstr>
      <vt:lpstr>5.2 ICL – Calcul de la période proportionnée</vt:lpstr>
      <vt:lpstr>5.3. ICL – Procédure pratique</vt:lpstr>
      <vt:lpstr>5.4. Statut ICL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FCJ-M39-Harmonisation des statuts-Participants</dc:title>
  <dc:creator>u69lcr</dc:creator>
  <cp:lastModifiedBy>Jeremie Kempeneers</cp:lastModifiedBy>
  <cp:revision>658</cp:revision>
  <cp:lastPrinted>2014-06-30T06:25:38Z</cp:lastPrinted>
  <dcterms:created xsi:type="dcterms:W3CDTF">2010-09-22T12:12:06Z</dcterms:created>
  <dcterms:modified xsi:type="dcterms:W3CDTF">2022-12-08T15:02:40Z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17;#Admissibilité|d1ac0b1f-1e4c-4aa8-9a97-5b01e61985ba;#22;#Indemnisabilité|b5f95997-28b8-41b1-bbb7-1a3d8a5995b4;#26;#Paiement|bbe82f01-f3c6-4a35-a642-de01f3e9fac7;#18;#Vérités|91331765-02c2-47c0-8605-37a5a3e877f2</vt:lpwstr>
  </property>
  <property fmtid="{D5CDD505-2E9C-101B-9397-08002B2CF9AE}" pid="7" name="Thème">
    <vt:lpwstr>54;#Harmonisation des statuts ＆ ICL|ec22f2cd-5e53-411e-914e-1117f16f1488</vt:lpwstr>
  </property>
  <property fmtid="{D5CDD505-2E9C-101B-9397-08002B2CF9AE}" pid="8" name="_dlc_DocIdItemGuid">
    <vt:lpwstr>7b9b6a57-0548-412f-a046-f07bd3d57cc8</vt:lpwstr>
  </property>
  <property fmtid="{D5CDD505-2E9C-101B-9397-08002B2CF9AE}" pid="9" name="AuthorIds_UIVersion_1024">
    <vt:lpwstr>19</vt:lpwstr>
  </property>
  <property fmtid="{D5CDD505-2E9C-101B-9397-08002B2CF9AE}" pid="10" name="AuthorIds_UIVersion_1536">
    <vt:lpwstr>19</vt:lpwstr>
  </property>
  <property fmtid="{D5CDD505-2E9C-101B-9397-08002B2CF9AE}" pid="11" name="AuthorIds_UIVersion_2048">
    <vt:lpwstr>19</vt:lpwstr>
  </property>
</Properties>
</file>