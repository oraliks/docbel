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</p:sldMasterIdLst>
  <p:notesMasterIdLst>
    <p:notesMasterId r:id="rId30"/>
  </p:notesMasterIdLst>
  <p:handoutMasterIdLst>
    <p:handoutMasterId r:id="rId31"/>
  </p:handoutMasterIdLst>
  <p:sldIdLst>
    <p:sldId id="322" r:id="rId6"/>
    <p:sldId id="321" r:id="rId7"/>
    <p:sldId id="528" r:id="rId8"/>
    <p:sldId id="529" r:id="rId9"/>
    <p:sldId id="530" r:id="rId10"/>
    <p:sldId id="485" r:id="rId11"/>
    <p:sldId id="486" r:id="rId12"/>
    <p:sldId id="487" r:id="rId13"/>
    <p:sldId id="488" r:id="rId14"/>
    <p:sldId id="489" r:id="rId15"/>
    <p:sldId id="490" r:id="rId16"/>
    <p:sldId id="505" r:id="rId17"/>
    <p:sldId id="506" r:id="rId18"/>
    <p:sldId id="507" r:id="rId19"/>
    <p:sldId id="431" r:id="rId20"/>
    <p:sldId id="344" r:id="rId21"/>
    <p:sldId id="345" r:id="rId22"/>
    <p:sldId id="350" r:id="rId23"/>
    <p:sldId id="534" r:id="rId24"/>
    <p:sldId id="535" r:id="rId25"/>
    <p:sldId id="536" r:id="rId26"/>
    <p:sldId id="537" r:id="rId27"/>
    <p:sldId id="538" r:id="rId28"/>
    <p:sldId id="539" r:id="rId29"/>
  </p:sldIdLst>
  <p:sldSz cx="9144000" cy="6858000" type="screen4x3"/>
  <p:notesSz cx="6669088" cy="9926638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erome Martini" initials="JM" lastIdx="1" clrIdx="0">
    <p:extLst>
      <p:ext uri="{19B8F6BF-5375-455C-9EA6-DF929625EA0E}">
        <p15:presenceInfo xmlns:p15="http://schemas.microsoft.com/office/powerpoint/2012/main" userId="S::U68jma@acv-csc.be::cf445fd1-bb94-431f-9d69-de636e77a98d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99"/>
    <a:srgbClr val="008000"/>
    <a:srgbClr val="669900"/>
    <a:srgbClr val="FF9933"/>
    <a:srgbClr val="00FF00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7271CD-0F3A-4DE5-84ED-94B8BB554537}" v="1" dt="2022-10-25T11:04:39.54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Style léger 1 - Accentuation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F5AB1C69-6EDB-4FF4-983F-18BD219EF322}" styleName="Style moyen 2 - Accentuation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434" autoAdjust="0"/>
  </p:normalViewPr>
  <p:slideViewPr>
    <p:cSldViewPr>
      <p:cViewPr varScale="1">
        <p:scale>
          <a:sx n="100" d="100"/>
          <a:sy n="100" d="100"/>
        </p:scale>
        <p:origin x="2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34" Type="http://schemas.openxmlformats.org/officeDocument/2006/relationships/viewProps" Target="view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commentAuthors" Target="commentAuthors.xml"/><Relationship Id="rId37" Type="http://schemas.microsoft.com/office/2016/11/relationships/changesInfo" Target="changesInfos/changesInfo1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handoutMaster" Target="handoutMasters/handoutMaster1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notesMaster" Target="notesMasters/notesMaster1.xml"/><Relationship Id="rId35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ja Sobkowiak" userId="7f76af53-32f2-4907-b707-590db301fc0c" providerId="ADAL" clId="{307271CD-0F3A-4DE5-84ED-94B8BB554537}"/>
    <pc:docChg chg="modSld modNotesMaster modHandout">
      <pc:chgData name="Anja Sobkowiak" userId="7f76af53-32f2-4907-b707-590db301fc0c" providerId="ADAL" clId="{307271CD-0F3A-4DE5-84ED-94B8BB554537}" dt="2022-10-25T11:38:57.891" v="1" actId="1076"/>
      <pc:docMkLst>
        <pc:docMk/>
      </pc:docMkLst>
      <pc:sldChg chg="modSp mod">
        <pc:chgData name="Anja Sobkowiak" userId="7f76af53-32f2-4907-b707-590db301fc0c" providerId="ADAL" clId="{307271CD-0F3A-4DE5-84ED-94B8BB554537}" dt="2022-10-25T11:38:57.891" v="1" actId="1076"/>
        <pc:sldMkLst>
          <pc:docMk/>
          <pc:sldMk cId="2553588046" sldId="487"/>
        </pc:sldMkLst>
        <pc:picChg chg="mod">
          <ac:chgData name="Anja Sobkowiak" userId="7f76af53-32f2-4907-b707-590db301fc0c" providerId="ADAL" clId="{307271CD-0F3A-4DE5-84ED-94B8BB554537}" dt="2022-10-25T11:38:57.891" v="1" actId="1076"/>
          <ac:picMkLst>
            <pc:docMk/>
            <pc:sldMk cId="2553588046" sldId="487"/>
            <ac:picMk id="4" creationId="{00000000-0000-0000-0000-000000000000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938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777607" y="0"/>
            <a:ext cx="2889938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7068CA-F0DC-447A-B9ED-AE95D731C7D8}" type="datetimeFigureOut">
              <a:rPr lang="fr-FR" smtClean="0"/>
              <a:pPr/>
              <a:t>25/10/2022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9428583"/>
            <a:ext cx="2889938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777607" y="9428583"/>
            <a:ext cx="2889938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110657-391D-4BAF-82B8-BBA3EA77C61C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9197707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938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00F49C-6693-442B-81D1-9FE7387508D2}" type="datetimeFigureOut">
              <a:rPr lang="fr-FR" smtClean="0"/>
              <a:pPr/>
              <a:t>25/10/2022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854075" y="744538"/>
            <a:ext cx="4960938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66909" y="4715153"/>
            <a:ext cx="5335270" cy="44669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889938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777607" y="9428583"/>
            <a:ext cx="2889938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4742A2-A700-4112-A494-09AD92282681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22369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294293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668572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>
                <a:solidFill>
                  <a:prstClr val="black"/>
                </a:solidFill>
              </a:rPr>
              <a:pPr/>
              <a:t>6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421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910658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655984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BE" sz="1100" baseline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876982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BE" sz="1100" baseline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55907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BE" sz="1100" baseline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136842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fr-BE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286244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fr-BE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621704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fr-BE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431849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sz="105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353940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buFont typeface="Wingdings" panose="05000000000000000000" pitchFamily="2" charset="2"/>
              <a:buNone/>
            </a:pPr>
            <a:endParaRPr lang="fr-BE" sz="1100" baseline="0" dirty="0">
              <a:sym typeface="Wingdings" pitchFamily="2" charset="2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6515613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BE" sz="1050" baseline="0" dirty="0">
              <a:sym typeface="Wingdings" pitchFamily="2" charset="2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775333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BE" sz="1050" baseline="0" dirty="0">
              <a:sym typeface="Wingdings" pitchFamily="2" charset="2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9748670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>
                <a:solidFill>
                  <a:prstClr val="black"/>
                </a:solidFill>
              </a:rPr>
              <a:pPr/>
              <a:t>23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319667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>
                <a:solidFill>
                  <a:prstClr val="black"/>
                </a:solidFill>
              </a:rPr>
              <a:pPr/>
              <a:t>24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48095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493B7-DEF7-4527-8058-29A4201D9D2A}" type="datetime1">
              <a:rPr lang="fr-FR" smtClean="0"/>
              <a:t>25/10/2022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  <p:transition>
    <p:dissolv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106A2-4E85-4CC4-8E33-FE4A78ADF4E3}" type="datetime1">
              <a:rPr lang="fr-FR" smtClean="0"/>
              <a:t>25/10/2022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  <p:transition>
    <p:dissolv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503C3-26DF-498A-8153-53A2F544586D}" type="datetime1">
              <a:rPr lang="fr-FR" smtClean="0"/>
              <a:t>25/10/2022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  <p:transition>
    <p:dissolv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9542E-7B53-4A28-8588-0FF92A5BF652}" type="datetime1">
              <a:rPr lang="fr-FR" smtClean="0"/>
              <a:t>25/10/2022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  <p:transition>
    <p:dissolv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06122-B6F8-4C7E-BCDB-A2A20C56C70C}" type="datetime1">
              <a:rPr lang="fr-FR" smtClean="0"/>
              <a:t>25/10/2022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  <p:transition>
    <p:dissolv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5A65A-282E-4C10-AEC3-35586DD34715}" type="datetime1">
              <a:rPr lang="fr-FR" smtClean="0"/>
              <a:t>25/10/2022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  <p:transition>
    <p:dissolv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92AB8-E1B4-4FBF-A3A5-2C57A7A7E027}" type="datetime1">
              <a:rPr lang="fr-FR" smtClean="0"/>
              <a:t>25/10/2022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  <p:transition>
    <p:dissolv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C9A60-206E-4A29-993B-CF3996D8D4FC}" type="datetime1">
              <a:rPr lang="fr-FR" smtClean="0"/>
              <a:t>25/10/2022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  <p:transition>
    <p:dissolv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F286D-78ED-4007-AD44-5F6F591A8CAD}" type="datetime1">
              <a:rPr lang="fr-FR" smtClean="0"/>
              <a:t>25/10/2022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  <p:transition>
    <p:dissolv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7A653-E3BE-4F0A-B73C-4A9F25118DAC}" type="datetime1">
              <a:rPr lang="fr-FR" smtClean="0"/>
              <a:t>25/10/2022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  <p:transition>
    <p:dissolv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ECC6F-A903-4C37-A1D3-A82E7C9673A1}" type="datetime1">
              <a:rPr lang="fr-FR" smtClean="0"/>
              <a:t>25/10/2022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  <p:transition>
    <p:dissolv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16000"/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DB825E-848D-47B8-87A6-086E408DB869}" type="datetime1">
              <a:rPr lang="fr-FR" smtClean="0"/>
              <a:t>25/10/2022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E9056B-6A30-4F99-BDE9-C450E66AE12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dissolve/>
  </p:transition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pPr marL="609600" indent="-609600"/>
            <a:r>
              <a:rPr lang="fr-BE" sz="5000" b="1" i="1" dirty="0"/>
              <a:t>Dispense </a:t>
            </a:r>
            <a:r>
              <a:rPr lang="fr-BE" sz="5000" b="1" i="1"/>
              <a:t>de stage</a:t>
            </a:r>
            <a:endParaRPr lang="fr-FR" sz="5000" b="1" i="1" dirty="0"/>
          </a:p>
        </p:txBody>
      </p:sp>
      <p:sp>
        <p:nvSpPr>
          <p:cNvPr id="6" name="Sous-titre 5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fr-BE" sz="3800" b="1" i="1" dirty="0">
                <a:solidFill>
                  <a:srgbClr val="C00000"/>
                </a:solidFill>
                <a:latin typeface="+mj-lt"/>
                <a:ea typeface="+mj-ea"/>
                <a:cs typeface="+mj-cs"/>
              </a:rPr>
              <a:t>Art. 42 </a:t>
            </a:r>
          </a:p>
          <a:p>
            <a:r>
              <a:rPr lang="fr-BE" sz="3800" b="1" i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 l’AR du 25.11.1991</a:t>
            </a:r>
            <a:endParaRPr lang="fr-FR" sz="3800" b="1" i="1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</a:t>
            </a:fld>
            <a:endParaRPr lang="fr-FR"/>
          </a:p>
        </p:txBody>
      </p:sp>
      <p:sp>
        <p:nvSpPr>
          <p:cNvPr id="3" name="ZoneTexte 2"/>
          <p:cNvSpPr txBox="1"/>
          <p:nvPr/>
        </p:nvSpPr>
        <p:spPr>
          <a:xfrm>
            <a:off x="899592" y="6130520"/>
            <a:ext cx="28490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dirty="0"/>
              <a:t>FLT – Version du 25.10.2022</a:t>
            </a:r>
          </a:p>
        </p:txBody>
      </p:sp>
    </p:spTree>
    <p:extLst>
      <p:ext uri="{BB962C8B-B14F-4D97-AF65-F5344CB8AC3E}">
        <p14:creationId xmlns:p14="http://schemas.microsoft.com/office/powerpoint/2010/main" val="4068906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re 1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BE" sz="4000" b="1" i="1" dirty="0">
                <a:solidFill>
                  <a:srgbClr val="C00000"/>
                </a:solidFill>
              </a:rPr>
              <a:t>Table des matières</a:t>
            </a:r>
            <a:endParaRPr lang="fr-FR" sz="4000" b="1" i="1" dirty="0">
              <a:solidFill>
                <a:srgbClr val="C00000"/>
              </a:solidFill>
            </a:endParaRPr>
          </a:p>
        </p:txBody>
      </p:sp>
      <p:sp>
        <p:nvSpPr>
          <p:cNvPr id="15" name="Espace réservé du contenu 14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457200" indent="-457200">
              <a:spcBef>
                <a:spcPts val="0"/>
              </a:spcBef>
              <a:buAutoNum type="arabicPeriod"/>
            </a:pPr>
            <a:r>
              <a:rPr lang="fr-BE" sz="2400" dirty="0"/>
              <a:t>Rappel						</a:t>
            </a:r>
            <a:endParaRPr lang="fr-BE" sz="2000" dirty="0"/>
          </a:p>
          <a:p>
            <a:pPr marL="0" indent="0">
              <a:spcBef>
                <a:spcPts val="0"/>
              </a:spcBef>
              <a:buNone/>
            </a:pPr>
            <a:endParaRPr lang="fr-BE" sz="600" dirty="0"/>
          </a:p>
          <a:p>
            <a:pPr>
              <a:spcBef>
                <a:spcPts val="0"/>
              </a:spcBef>
              <a:buNone/>
            </a:pPr>
            <a:r>
              <a:rPr lang="fr-BE" sz="2400" dirty="0"/>
              <a:t>	1.1 Rappel: Exemples					pg.4</a:t>
            </a:r>
          </a:p>
          <a:p>
            <a:pPr>
              <a:spcBef>
                <a:spcPts val="0"/>
              </a:spcBef>
              <a:buNone/>
            </a:pPr>
            <a:r>
              <a:rPr lang="fr-BE" sz="2400" dirty="0"/>
              <a:t>	1.2 Rappel: Règle général					pg.6</a:t>
            </a:r>
          </a:p>
          <a:p>
            <a:pPr>
              <a:spcBef>
                <a:spcPts val="0"/>
              </a:spcBef>
              <a:buNone/>
            </a:pPr>
            <a:r>
              <a:rPr lang="fr-BE" sz="2400" dirty="0"/>
              <a:t>	1.2 Rappel: le principe de prolongation	                          	pg.7</a:t>
            </a:r>
          </a:p>
          <a:p>
            <a:pPr>
              <a:spcBef>
                <a:spcPts val="0"/>
              </a:spcBef>
              <a:buNone/>
            </a:pPr>
            <a:endParaRPr lang="fr-BE" sz="2000" dirty="0"/>
          </a:p>
          <a:p>
            <a:pPr>
              <a:spcBef>
                <a:spcPts val="0"/>
              </a:spcBef>
              <a:buNone/>
            </a:pPr>
            <a:endParaRPr lang="fr-BE" sz="600" dirty="0"/>
          </a:p>
          <a:p>
            <a:pPr>
              <a:spcBef>
                <a:spcPts val="0"/>
              </a:spcBef>
              <a:buNone/>
            </a:pPr>
            <a:r>
              <a:rPr lang="fr-BE" sz="2400" dirty="0"/>
              <a:t>2. Les évènements prolongateurs</a:t>
            </a:r>
          </a:p>
          <a:p>
            <a:pPr>
              <a:spcBef>
                <a:spcPts val="0"/>
              </a:spcBef>
              <a:buNone/>
            </a:pPr>
            <a:r>
              <a:rPr lang="fr-BE" sz="2400" dirty="0"/>
              <a:t>	2.1 Les évènements prolongateurs			pg.8</a:t>
            </a:r>
          </a:p>
          <a:p>
            <a:pPr>
              <a:spcBef>
                <a:spcPts val="0"/>
              </a:spcBef>
              <a:buNone/>
            </a:pPr>
            <a:r>
              <a:rPr lang="fr-BE" sz="2400" dirty="0"/>
              <a:t>	2.2 Exemple 1						pg.12</a:t>
            </a:r>
          </a:p>
          <a:p>
            <a:pPr>
              <a:spcBef>
                <a:spcPts val="0"/>
              </a:spcBef>
              <a:buNone/>
            </a:pPr>
            <a:r>
              <a:rPr lang="fr-BE" sz="2400" dirty="0"/>
              <a:t>	2.3 Exemple 2						pg.13</a:t>
            </a:r>
          </a:p>
          <a:p>
            <a:pPr>
              <a:spcBef>
                <a:spcPts val="0"/>
              </a:spcBef>
              <a:buNone/>
            </a:pPr>
            <a:r>
              <a:rPr lang="fr-BE" sz="2400" dirty="0"/>
              <a:t>	2.4 Exemple 3						pg.14</a:t>
            </a:r>
          </a:p>
          <a:p>
            <a:pPr>
              <a:spcBef>
                <a:spcPts val="0"/>
              </a:spcBef>
              <a:buNone/>
            </a:pPr>
            <a:endParaRPr lang="fr-BE" sz="2000" dirty="0"/>
          </a:p>
          <a:p>
            <a:pPr>
              <a:spcBef>
                <a:spcPts val="0"/>
              </a:spcBef>
              <a:buNone/>
            </a:pPr>
            <a:endParaRPr lang="fr-BE" sz="1800" dirty="0"/>
          </a:p>
          <a:p>
            <a:pPr>
              <a:spcBef>
                <a:spcPts val="0"/>
              </a:spcBef>
              <a:buNone/>
            </a:pPr>
            <a:endParaRPr lang="fr-BE" sz="2000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25808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E1C9210-399C-472B-8820-51131FD60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BE" sz="4000" b="1" i="1" dirty="0">
                <a:solidFill>
                  <a:srgbClr val="C00000"/>
                </a:solidFill>
              </a:rPr>
              <a:t>Table des matières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C8B1797-8805-45A9-83BA-ABBCE86DC5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0"/>
              </a:spcBef>
              <a:buNone/>
            </a:pPr>
            <a:r>
              <a:rPr lang="fr-BE" sz="2400" dirty="0"/>
              <a:t>3. Art. 42 &amp; allocation d’insertion</a:t>
            </a:r>
          </a:p>
          <a:p>
            <a:pPr>
              <a:spcBef>
                <a:spcPts val="0"/>
              </a:spcBef>
              <a:buNone/>
            </a:pPr>
            <a:r>
              <a:rPr lang="fr-BE" sz="2400" dirty="0"/>
              <a:t>	3.1 Art.42 &amp; allocation d’insertion				pg.15</a:t>
            </a:r>
          </a:p>
          <a:p>
            <a:pPr>
              <a:spcBef>
                <a:spcPts val="0"/>
              </a:spcBef>
              <a:buNone/>
            </a:pPr>
            <a:r>
              <a:rPr lang="fr-BE" sz="2400" dirty="0"/>
              <a:t>	3.2 Exemple 1						pg.16</a:t>
            </a:r>
          </a:p>
          <a:p>
            <a:pPr>
              <a:spcBef>
                <a:spcPts val="0"/>
              </a:spcBef>
              <a:buNone/>
            </a:pPr>
            <a:r>
              <a:rPr lang="fr-BE" sz="2400" dirty="0"/>
              <a:t>	3.3 Exemple 2						pg.17</a:t>
            </a:r>
          </a:p>
          <a:p>
            <a:pPr>
              <a:spcBef>
                <a:spcPts val="0"/>
              </a:spcBef>
              <a:buNone/>
            </a:pPr>
            <a:r>
              <a:rPr lang="fr-BE" sz="2400" dirty="0"/>
              <a:t>	3.4 Exemple 3						pg.18</a:t>
            </a:r>
          </a:p>
          <a:p>
            <a:pPr>
              <a:spcBef>
                <a:spcPts val="0"/>
              </a:spcBef>
              <a:buNone/>
            </a:pPr>
            <a:endParaRPr lang="fr-BE" sz="2400" dirty="0"/>
          </a:p>
          <a:p>
            <a:pPr marL="0" indent="0">
              <a:buNone/>
            </a:pPr>
            <a:r>
              <a:rPr lang="fr-BE" sz="2400" dirty="0"/>
              <a:t>4. Art. 42 &amp; chômage temporaire 				pg.19 </a:t>
            </a:r>
          </a:p>
          <a:p>
            <a:pPr marL="0" indent="0">
              <a:buNone/>
            </a:pPr>
            <a:endParaRPr lang="fr-BE" sz="2400" dirty="0"/>
          </a:p>
          <a:p>
            <a:pPr marL="0" indent="0">
              <a:buNone/>
            </a:pPr>
            <a:r>
              <a:rPr lang="fr-BE" sz="2400" dirty="0"/>
              <a:t>5. Exercices						          	pg.20</a:t>
            </a:r>
          </a:p>
          <a:p>
            <a:pPr marL="0" indent="0">
              <a:buNone/>
            </a:pPr>
            <a:endParaRPr lang="fr-BE" sz="200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B009B9E-D590-4E5A-B8A8-5883B897B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57515239"/>
      </p:ext>
    </p:extLst>
  </p:cSld>
  <p:clrMapOvr>
    <a:masterClrMapping/>
  </p:clrMapOvr>
  <p:transition>
    <p:dissolv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>
            <a:extLst>
              <a:ext uri="{FF2B5EF4-FFF2-40B4-BE49-F238E27FC236}">
                <a16:creationId xmlns:a16="http://schemas.microsoft.com/office/drawing/2014/main" id="{32C76859-BC16-4B92-AF45-1D9B2E6EF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dirty="0"/>
              <a:t>1.1. Rappel: exemple 1 </a:t>
            </a:r>
            <a:r>
              <a:rPr lang="fr-BE" sz="4000" b="1" dirty="0">
                <a:solidFill>
                  <a:srgbClr val="C00000"/>
                </a:solidFill>
              </a:rPr>
              <a:t>art.42</a:t>
            </a:r>
            <a:endParaRPr lang="fr-BE" sz="4000" b="1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2E0EFA5-D729-4E38-8241-D27190FAD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4</a:t>
            </a:fld>
            <a:endParaRPr lang="fr-FR"/>
          </a:p>
        </p:txBody>
      </p: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420217C2-6C2F-4BB5-8350-F1D18002FC3D}"/>
              </a:ext>
            </a:extLst>
          </p:cNvPr>
          <p:cNvGrpSpPr/>
          <p:nvPr/>
        </p:nvGrpSpPr>
        <p:grpSpPr>
          <a:xfrm>
            <a:off x="595703" y="1988840"/>
            <a:ext cx="7879017" cy="1967624"/>
            <a:chOff x="748032" y="1821416"/>
            <a:chExt cx="10779921" cy="2363364"/>
          </a:xfrm>
        </p:grpSpPr>
        <p:cxnSp>
          <p:nvCxnSpPr>
            <p:cNvPr id="18" name="Connecteur droit avec flèche 17">
              <a:extLst>
                <a:ext uri="{FF2B5EF4-FFF2-40B4-BE49-F238E27FC236}">
                  <a16:creationId xmlns:a16="http://schemas.microsoft.com/office/drawing/2014/main" id="{E9F8B025-E175-4C08-8E7B-861E5C18741D}"/>
                </a:ext>
              </a:extLst>
            </p:cNvPr>
            <p:cNvCxnSpPr>
              <a:cxnSpLocks/>
            </p:cNvCxnSpPr>
            <p:nvPr/>
          </p:nvCxnSpPr>
          <p:spPr>
            <a:xfrm>
              <a:off x="1236323" y="3811425"/>
              <a:ext cx="9965094" cy="32787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eur droit 18">
              <a:extLst>
                <a:ext uri="{FF2B5EF4-FFF2-40B4-BE49-F238E27FC236}">
                  <a16:creationId xmlns:a16="http://schemas.microsoft.com/office/drawing/2014/main" id="{9FC99A7D-238D-4F0E-8C23-4FEAF084B075}"/>
                </a:ext>
              </a:extLst>
            </p:cNvPr>
            <p:cNvCxnSpPr>
              <a:cxnSpLocks/>
            </p:cNvCxnSpPr>
            <p:nvPr/>
          </p:nvCxnSpPr>
          <p:spPr>
            <a:xfrm>
              <a:off x="1401164" y="2711003"/>
              <a:ext cx="0" cy="139446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ZoneTexte 19">
              <a:extLst>
                <a:ext uri="{FF2B5EF4-FFF2-40B4-BE49-F238E27FC236}">
                  <a16:creationId xmlns:a16="http://schemas.microsoft.com/office/drawing/2014/main" id="{D3867397-29D0-402F-9588-EAC9F7D4A63B}"/>
                </a:ext>
              </a:extLst>
            </p:cNvPr>
            <p:cNvSpPr txBox="1"/>
            <p:nvPr/>
          </p:nvSpPr>
          <p:spPr>
            <a:xfrm>
              <a:off x="748032" y="1976317"/>
              <a:ext cx="130006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BE" sz="1200" i="1" dirty="0"/>
                <a:t>Né le 18.02.1992</a:t>
              </a:r>
            </a:p>
            <a:p>
              <a:pPr algn="ctr"/>
              <a:r>
                <a:rPr lang="fr-BE" sz="1200" i="1" dirty="0"/>
                <a:t>Cohabitant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4A02B407-61CC-4EF4-BB31-5CC6E4A4B6C5}"/>
                </a:ext>
              </a:extLst>
            </p:cNvPr>
            <p:cNvSpPr/>
            <p:nvPr/>
          </p:nvSpPr>
          <p:spPr>
            <a:xfrm>
              <a:off x="2617261" y="3128835"/>
              <a:ext cx="8028980" cy="690383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 sz="1400" b="1" dirty="0">
                <a:solidFill>
                  <a:schemeClr val="tx1"/>
                </a:solidFill>
              </a:endParaRPr>
            </a:p>
            <a:p>
              <a:pPr algn="ctr"/>
              <a:endParaRPr lang="fr-BE" sz="1400" b="1" dirty="0">
                <a:solidFill>
                  <a:schemeClr val="tx1"/>
                </a:solidFill>
              </a:endParaRPr>
            </a:p>
            <a:p>
              <a:pPr algn="ctr"/>
              <a:r>
                <a:rPr lang="fr-BE" sz="1400" b="1" dirty="0">
                  <a:solidFill>
                    <a:schemeClr val="tx1"/>
                  </a:solidFill>
                </a:rPr>
                <a:t>Travail indépendant</a:t>
              </a:r>
            </a:p>
            <a:p>
              <a:pPr algn="ctr"/>
              <a:r>
                <a:rPr lang="fr-BE" sz="1400" b="1" dirty="0">
                  <a:solidFill>
                    <a:schemeClr val="tx1"/>
                  </a:solidFill>
                </a:rPr>
                <a:t>Du 01/07/2007 – 30/09/2022</a:t>
              </a:r>
            </a:p>
            <a:p>
              <a:pPr algn="ctr"/>
              <a:r>
                <a:rPr lang="fr-BE" sz="1400" b="1" dirty="0">
                  <a:solidFill>
                    <a:schemeClr val="tx1"/>
                  </a:solidFill>
                </a:rPr>
                <a:t> </a:t>
              </a:r>
            </a:p>
            <a:p>
              <a:pPr algn="ctr"/>
              <a:endParaRPr lang="fr-BE" sz="1200" b="1" dirty="0">
                <a:solidFill>
                  <a:srgbClr val="C00000"/>
                </a:solidFill>
              </a:endParaRPr>
            </a:p>
            <a:p>
              <a:pPr algn="ctr"/>
              <a:endParaRPr lang="fr-BE" sz="1200" b="1" dirty="0">
                <a:solidFill>
                  <a:schemeClr val="tx1"/>
                </a:solidFill>
              </a:endParaRPr>
            </a:p>
          </p:txBody>
        </p:sp>
        <p:cxnSp>
          <p:nvCxnSpPr>
            <p:cNvPr id="22" name="Connecteur droit avec flèche 21">
              <a:extLst>
                <a:ext uri="{FF2B5EF4-FFF2-40B4-BE49-F238E27FC236}">
                  <a16:creationId xmlns:a16="http://schemas.microsoft.com/office/drawing/2014/main" id="{92863BE6-9024-4548-AA57-31B294DA76E0}"/>
                </a:ext>
              </a:extLst>
            </p:cNvPr>
            <p:cNvCxnSpPr>
              <a:cxnSpLocks/>
            </p:cNvCxnSpPr>
            <p:nvPr/>
          </p:nvCxnSpPr>
          <p:spPr>
            <a:xfrm>
              <a:off x="10646241" y="2541457"/>
              <a:ext cx="4" cy="1643323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ZoneTexte 22">
              <a:extLst>
                <a:ext uri="{FF2B5EF4-FFF2-40B4-BE49-F238E27FC236}">
                  <a16:creationId xmlns:a16="http://schemas.microsoft.com/office/drawing/2014/main" id="{6CD1EF9E-2E54-4993-976F-C1386174F53B}"/>
                </a:ext>
              </a:extLst>
            </p:cNvPr>
            <p:cNvSpPr txBox="1"/>
            <p:nvPr/>
          </p:nvSpPr>
          <p:spPr>
            <a:xfrm>
              <a:off x="9689827" y="1821416"/>
              <a:ext cx="1838126" cy="7763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BE" b="1" dirty="0"/>
                <a:t>DA 03/10/2022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03476E0C-CEC0-4D1A-B4E5-17F5D18400CE}"/>
                </a:ext>
              </a:extLst>
            </p:cNvPr>
            <p:cNvSpPr/>
            <p:nvPr/>
          </p:nvSpPr>
          <p:spPr>
            <a:xfrm>
              <a:off x="1401164" y="3113195"/>
              <a:ext cx="1202101" cy="6982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381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BE" sz="1200" b="1" dirty="0">
                  <a:solidFill>
                    <a:schemeClr val="tx1"/>
                  </a:solidFill>
                </a:rPr>
                <a:t>Chômage complet</a:t>
              </a:r>
            </a:p>
          </p:txBody>
        </p:sp>
        <p:cxnSp>
          <p:nvCxnSpPr>
            <p:cNvPr id="25" name="Connecteur droit 24">
              <a:extLst>
                <a:ext uri="{FF2B5EF4-FFF2-40B4-BE49-F238E27FC236}">
                  <a16:creationId xmlns:a16="http://schemas.microsoft.com/office/drawing/2014/main" id="{E5F2E03C-5A43-4F3E-90E0-2BEB4B66A406}"/>
                </a:ext>
              </a:extLst>
            </p:cNvPr>
            <p:cNvCxnSpPr>
              <a:cxnSpLocks/>
            </p:cNvCxnSpPr>
            <p:nvPr/>
          </p:nvCxnSpPr>
          <p:spPr>
            <a:xfrm>
              <a:off x="2603265" y="2919022"/>
              <a:ext cx="0" cy="908067"/>
            </a:xfrm>
            <a:prstGeom prst="line">
              <a:avLst/>
            </a:prstGeom>
            <a:ln w="3810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ZoneTexte 25">
              <a:extLst>
                <a:ext uri="{FF2B5EF4-FFF2-40B4-BE49-F238E27FC236}">
                  <a16:creationId xmlns:a16="http://schemas.microsoft.com/office/drawing/2014/main" id="{BC853AEB-F78A-4C9F-8DB4-5410381B4383}"/>
                </a:ext>
              </a:extLst>
            </p:cNvPr>
            <p:cNvSpPr txBox="1"/>
            <p:nvPr/>
          </p:nvSpPr>
          <p:spPr>
            <a:xfrm>
              <a:off x="1953234" y="2190756"/>
              <a:ext cx="1300061" cy="7763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BE" sz="1200" i="1" dirty="0"/>
                <a:t>DJI 30.06.2007</a:t>
              </a:r>
            </a:p>
            <a:p>
              <a:pPr algn="ctr"/>
              <a:r>
                <a:rPr lang="fr-BE" sz="1200" i="1" dirty="0"/>
                <a:t>Au 01/78BF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71798713"/>
      </p:ext>
    </p:extLst>
  </p:cSld>
  <p:clrMapOvr>
    <a:masterClrMapping/>
  </p:clrMapOvr>
  <p:transition>
    <p:dissolv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>
            <a:extLst>
              <a:ext uri="{FF2B5EF4-FFF2-40B4-BE49-F238E27FC236}">
                <a16:creationId xmlns:a16="http://schemas.microsoft.com/office/drawing/2014/main" id="{091A1B11-A261-482E-8CAC-7D35FF65F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dirty="0"/>
              <a:t>1.1. Rappel: exemple 2 </a:t>
            </a:r>
            <a:r>
              <a:rPr lang="fr-BE" sz="4000" b="1" dirty="0">
                <a:solidFill>
                  <a:srgbClr val="C00000"/>
                </a:solidFill>
              </a:rPr>
              <a:t>art. 42</a:t>
            </a:r>
            <a:endParaRPr lang="fr-BE" sz="4000" b="1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2E0EFA5-D729-4E38-8241-D27190FAD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5</a:t>
            </a:fld>
            <a:endParaRPr lang="fr-FR"/>
          </a:p>
        </p:txBody>
      </p:sp>
      <p:grpSp>
        <p:nvGrpSpPr>
          <p:cNvPr id="2" name="Groupe 1">
            <a:extLst>
              <a:ext uri="{FF2B5EF4-FFF2-40B4-BE49-F238E27FC236}">
                <a16:creationId xmlns:a16="http://schemas.microsoft.com/office/drawing/2014/main" id="{595F0E03-2C0F-4F4D-846E-BC7D75BDD86C}"/>
              </a:ext>
            </a:extLst>
          </p:cNvPr>
          <p:cNvGrpSpPr/>
          <p:nvPr/>
        </p:nvGrpSpPr>
        <p:grpSpPr>
          <a:xfrm>
            <a:off x="139787" y="1484784"/>
            <a:ext cx="8199264" cy="1967624"/>
            <a:chOff x="139787" y="1484784"/>
            <a:chExt cx="8199264" cy="1967624"/>
          </a:xfrm>
        </p:grpSpPr>
        <p:grpSp>
          <p:nvGrpSpPr>
            <p:cNvPr id="17" name="Groupe 16">
              <a:extLst>
                <a:ext uri="{FF2B5EF4-FFF2-40B4-BE49-F238E27FC236}">
                  <a16:creationId xmlns:a16="http://schemas.microsoft.com/office/drawing/2014/main" id="{420217C2-6C2F-4BB5-8350-F1D18002FC3D}"/>
                </a:ext>
              </a:extLst>
            </p:cNvPr>
            <p:cNvGrpSpPr/>
            <p:nvPr/>
          </p:nvGrpSpPr>
          <p:grpSpPr>
            <a:xfrm>
              <a:off x="139787" y="1484784"/>
              <a:ext cx="8199264" cy="1967624"/>
              <a:chOff x="309876" y="1821416"/>
              <a:chExt cx="11218077" cy="2363364"/>
            </a:xfrm>
          </p:grpSpPr>
          <p:cxnSp>
            <p:nvCxnSpPr>
              <p:cNvPr id="18" name="Connecteur droit avec flèche 17">
                <a:extLst>
                  <a:ext uri="{FF2B5EF4-FFF2-40B4-BE49-F238E27FC236}">
                    <a16:creationId xmlns:a16="http://schemas.microsoft.com/office/drawing/2014/main" id="{E9F8B025-E175-4C08-8E7B-861E5C18741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4154" y="3803718"/>
                <a:ext cx="10457262" cy="40494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ZoneTexte 19">
                <a:extLst>
                  <a:ext uri="{FF2B5EF4-FFF2-40B4-BE49-F238E27FC236}">
                    <a16:creationId xmlns:a16="http://schemas.microsoft.com/office/drawing/2014/main" id="{D3867397-29D0-402F-9588-EAC9F7D4A63B}"/>
                  </a:ext>
                </a:extLst>
              </p:cNvPr>
              <p:cNvSpPr txBox="1"/>
              <p:nvPr/>
            </p:nvSpPr>
            <p:spPr>
              <a:xfrm>
                <a:off x="309876" y="1989763"/>
                <a:ext cx="1300061" cy="776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BE" sz="1200" i="1" dirty="0"/>
                  <a:t>Né le 18.02.1985</a:t>
                </a:r>
              </a:p>
              <a:p>
                <a:pPr algn="ctr"/>
                <a:r>
                  <a:rPr lang="fr-BE" sz="1200" i="1" dirty="0"/>
                  <a:t>Cohabitant</a:t>
                </a: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4A02B407-61CC-4EF4-BB31-5CC6E4A4B6C5}"/>
                  </a:ext>
                </a:extLst>
              </p:cNvPr>
              <p:cNvSpPr/>
              <p:nvPr/>
            </p:nvSpPr>
            <p:spPr>
              <a:xfrm>
                <a:off x="3812967" y="3128835"/>
                <a:ext cx="6833274" cy="690383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381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BE" sz="1400" b="1" dirty="0">
                  <a:solidFill>
                    <a:schemeClr val="tx1"/>
                  </a:solidFill>
                </a:endParaRPr>
              </a:p>
              <a:p>
                <a:pPr algn="ctr"/>
                <a:endParaRPr lang="fr-BE" sz="1400" b="1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fr-BE" sz="1400" b="1" dirty="0">
                    <a:solidFill>
                      <a:schemeClr val="tx1"/>
                    </a:solidFill>
                  </a:rPr>
                  <a:t>Travail indépendant</a:t>
                </a:r>
              </a:p>
              <a:p>
                <a:pPr algn="ctr"/>
                <a:r>
                  <a:rPr lang="fr-BE" sz="1400" b="1" dirty="0">
                    <a:solidFill>
                      <a:schemeClr val="tx1"/>
                    </a:solidFill>
                  </a:rPr>
                  <a:t>Du 01/10/2008 – 30/09/2022</a:t>
                </a:r>
              </a:p>
              <a:p>
                <a:pPr algn="ctr"/>
                <a:r>
                  <a:rPr lang="fr-BE" sz="1400" b="1" dirty="0">
                    <a:solidFill>
                      <a:schemeClr val="tx1"/>
                    </a:solidFill>
                  </a:rPr>
                  <a:t> </a:t>
                </a:r>
              </a:p>
              <a:p>
                <a:pPr algn="ctr"/>
                <a:endParaRPr lang="fr-BE" sz="1200" b="1" dirty="0">
                  <a:solidFill>
                    <a:srgbClr val="C00000"/>
                  </a:solidFill>
                </a:endParaRPr>
              </a:p>
              <a:p>
                <a:pPr algn="ctr"/>
                <a:endParaRPr lang="fr-BE" sz="1200" b="1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22" name="Connecteur droit avec flèche 21">
                <a:extLst>
                  <a:ext uri="{FF2B5EF4-FFF2-40B4-BE49-F238E27FC236}">
                    <a16:creationId xmlns:a16="http://schemas.microsoft.com/office/drawing/2014/main" id="{92863BE6-9024-4548-AA57-31B294DA76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646241" y="2541457"/>
                <a:ext cx="4" cy="1643323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" name="ZoneTexte 22">
                <a:extLst>
                  <a:ext uri="{FF2B5EF4-FFF2-40B4-BE49-F238E27FC236}">
                    <a16:creationId xmlns:a16="http://schemas.microsoft.com/office/drawing/2014/main" id="{6CD1EF9E-2E54-4993-976F-C1386174F53B}"/>
                  </a:ext>
                </a:extLst>
              </p:cNvPr>
              <p:cNvSpPr txBox="1"/>
              <p:nvPr/>
            </p:nvSpPr>
            <p:spPr>
              <a:xfrm>
                <a:off x="9689826" y="1821416"/>
                <a:ext cx="1838127" cy="776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BE" b="1" dirty="0"/>
                  <a:t>DA 03/10/2022</a:t>
                </a:r>
              </a:p>
            </p:txBody>
          </p:sp>
          <p:sp>
            <p:nvSpPr>
              <p:cNvPr id="26" name="ZoneTexte 25">
                <a:extLst>
                  <a:ext uri="{FF2B5EF4-FFF2-40B4-BE49-F238E27FC236}">
                    <a16:creationId xmlns:a16="http://schemas.microsoft.com/office/drawing/2014/main" id="{BC853AEB-F78A-4C9F-8DB4-5410381B4383}"/>
                  </a:ext>
                </a:extLst>
              </p:cNvPr>
              <p:cNvSpPr txBox="1"/>
              <p:nvPr/>
            </p:nvSpPr>
            <p:spPr>
              <a:xfrm>
                <a:off x="2250451" y="1960954"/>
                <a:ext cx="1466396" cy="9981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BE" sz="1200" i="1" dirty="0"/>
                  <a:t>02/78N0</a:t>
                </a:r>
              </a:p>
              <a:p>
                <a:pPr algn="ctr"/>
                <a:r>
                  <a:rPr lang="fr-BE" sz="1200" i="1" dirty="0"/>
                  <a:t>Art. d’admiss 42k30</a:t>
                </a:r>
              </a:p>
              <a:p>
                <a:pPr algn="ctr"/>
                <a:r>
                  <a:rPr lang="fr-BE" sz="1200" i="1" dirty="0"/>
                  <a:t>19.10.2007</a:t>
                </a:r>
              </a:p>
            </p:txBody>
          </p:sp>
          <p:cxnSp>
            <p:nvCxnSpPr>
              <p:cNvPr id="19" name="Connecteur droit 18">
                <a:extLst>
                  <a:ext uri="{FF2B5EF4-FFF2-40B4-BE49-F238E27FC236}">
                    <a16:creationId xmlns:a16="http://schemas.microsoft.com/office/drawing/2014/main" id="{9FC99A7D-238D-4F0E-8C23-4FEAF084B07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5347" y="2722545"/>
                <a:ext cx="0" cy="139446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48AC4A4-F2AC-4801-A1C5-11743BAEEB42}"/>
                </a:ext>
              </a:extLst>
            </p:cNvPr>
            <p:cNvSpPr/>
            <p:nvPr/>
          </p:nvSpPr>
          <p:spPr>
            <a:xfrm>
              <a:off x="1710172" y="2555498"/>
              <a:ext cx="982109" cy="581313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38100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BE" sz="1200" b="1" dirty="0">
                  <a:solidFill>
                    <a:schemeClr val="tx1"/>
                  </a:solidFill>
                </a:rPr>
                <a:t>Travail </a:t>
              </a:r>
            </a:p>
            <a:p>
              <a:pPr algn="ctr"/>
              <a:r>
                <a:rPr lang="fr-BE" sz="1200" b="1" dirty="0">
                  <a:solidFill>
                    <a:schemeClr val="tx1"/>
                  </a:solidFill>
                </a:rPr>
                <a:t>01/10/07 au 30/09/08</a:t>
              </a:r>
            </a:p>
          </p:txBody>
        </p:sp>
        <p:cxnSp>
          <p:nvCxnSpPr>
            <p:cNvPr id="5" name="Connecteur droit avec flèche 4">
              <a:extLst>
                <a:ext uri="{FF2B5EF4-FFF2-40B4-BE49-F238E27FC236}">
                  <a16:creationId xmlns:a16="http://schemas.microsoft.com/office/drawing/2014/main" id="{6361BA2E-2235-4DCB-805B-D0D48CB63669}"/>
                </a:ext>
              </a:extLst>
            </p:cNvPr>
            <p:cNvCxnSpPr>
              <a:cxnSpLocks/>
              <a:stCxn id="26" idx="2"/>
            </p:cNvCxnSpPr>
            <p:nvPr/>
          </p:nvCxnSpPr>
          <p:spPr>
            <a:xfrm>
              <a:off x="2094041" y="2431954"/>
              <a:ext cx="0" cy="733599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1EAE7AB8-ACE9-495D-B419-34ED130C876F}"/>
                </a:ext>
              </a:extLst>
            </p:cNvPr>
            <p:cNvSpPr/>
            <p:nvPr/>
          </p:nvSpPr>
          <p:spPr>
            <a:xfrm>
              <a:off x="629599" y="2561101"/>
              <a:ext cx="1071785" cy="581313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381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BE" sz="1200" b="1" dirty="0">
                  <a:solidFill>
                    <a:schemeClr val="tx1"/>
                  </a:solidFill>
                </a:rPr>
                <a:t>CC </a:t>
              </a:r>
            </a:p>
            <a:p>
              <a:pPr algn="ctr"/>
              <a:r>
                <a:rPr lang="fr-BE" sz="1200" b="1" dirty="0">
                  <a:solidFill>
                    <a:schemeClr val="tx1"/>
                  </a:solidFill>
                </a:rPr>
                <a:t>01/01/07 au 30/09/07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46406690"/>
      </p:ext>
    </p:extLst>
  </p:cSld>
  <p:clrMapOvr>
    <a:masterClrMapping/>
  </p:clrMapOvr>
  <p:transition>
    <p:dissolv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>
                <a:cs typeface="Times New Roman" pitchFamily="18" charset="0"/>
              </a:rPr>
              <a:t>1.2. Rappel: règle générale  </a:t>
            </a:r>
            <a:r>
              <a:rPr lang="fr-BE" sz="4000" b="1" i="1" dirty="0">
                <a:solidFill>
                  <a:srgbClr val="C00000"/>
                </a:solidFill>
                <a:cs typeface="Times New Roman" pitchFamily="18" charset="0"/>
              </a:rPr>
              <a:t>art. 42</a:t>
            </a:r>
            <a:endParaRPr lang="fr-FR" sz="4000" b="1" i="1" dirty="0">
              <a:solidFill>
                <a:srgbClr val="C00000"/>
              </a:solidFill>
              <a:cs typeface="Times New Roman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fr-BE" dirty="0">
                <a:cs typeface="Times New Roman" pitchFamily="18" charset="0"/>
              </a:rPr>
              <a:t>Tout chômeur qui interrompt son chômage peut être réadmis dans le régime selon lequel il a été indemnisé en dernier lieu, sans condition de stage, </a:t>
            </a:r>
            <a:r>
              <a:rPr lang="fr-BE" b="1" dirty="0">
                <a:solidFill>
                  <a:srgbClr val="C00000"/>
                </a:solidFill>
                <a:cs typeface="Times New Roman" pitchFamily="18" charset="0"/>
              </a:rPr>
              <a:t>si</a:t>
            </a:r>
            <a:r>
              <a:rPr lang="fr-BE" b="1" dirty="0">
                <a:cs typeface="Times New Roman" pitchFamily="18" charset="0"/>
              </a:rPr>
              <a:t> le </a:t>
            </a:r>
            <a:r>
              <a:rPr lang="fr-BE" b="1" dirty="0">
                <a:solidFill>
                  <a:srgbClr val="C00000"/>
                </a:solidFill>
                <a:cs typeface="Times New Roman" pitchFamily="18" charset="0"/>
              </a:rPr>
              <a:t>dernier jour indemnisé</a:t>
            </a:r>
            <a:r>
              <a:rPr lang="fr-BE" dirty="0">
                <a:cs typeface="Times New Roman" pitchFamily="18" charset="0"/>
              </a:rPr>
              <a:t> </a:t>
            </a:r>
            <a:r>
              <a:rPr lang="fr-BE" b="1" dirty="0">
                <a:cs typeface="Times New Roman" pitchFamily="18" charset="0"/>
              </a:rPr>
              <a:t>en</a:t>
            </a:r>
            <a:r>
              <a:rPr lang="fr-BE" b="1" dirty="0">
                <a:solidFill>
                  <a:srgbClr val="C00000"/>
                </a:solidFill>
                <a:cs typeface="Times New Roman" pitchFamily="18" charset="0"/>
              </a:rPr>
              <a:t> CC </a:t>
            </a:r>
            <a:r>
              <a:rPr lang="fr-BE" b="1" i="1" u="sng" dirty="0">
                <a:cs typeface="Times New Roman" pitchFamily="18" charset="0"/>
              </a:rPr>
              <a:t>ou</a:t>
            </a:r>
            <a:r>
              <a:rPr lang="fr-BE" dirty="0">
                <a:cs typeface="Times New Roman" pitchFamily="18" charset="0"/>
              </a:rPr>
              <a:t> </a:t>
            </a:r>
            <a:r>
              <a:rPr lang="fr-BE" b="1" dirty="0">
                <a:solidFill>
                  <a:srgbClr val="C00000"/>
                </a:solidFill>
                <a:cs typeface="Times New Roman" pitchFamily="18" charset="0"/>
              </a:rPr>
              <a:t>TTPMD avec AGR</a:t>
            </a:r>
            <a:r>
              <a:rPr lang="fr-BE" dirty="0">
                <a:cs typeface="Times New Roman" pitchFamily="18" charset="0"/>
              </a:rPr>
              <a:t> est situé </a:t>
            </a:r>
            <a:r>
              <a:rPr lang="fr-BE" b="1" dirty="0">
                <a:solidFill>
                  <a:srgbClr val="C00000"/>
                </a:solidFill>
                <a:cs typeface="Times New Roman" pitchFamily="18" charset="0"/>
              </a:rPr>
              <a:t>dans les 3 ans </a:t>
            </a:r>
            <a:r>
              <a:rPr lang="fr-BE" dirty="0">
                <a:cs typeface="Times New Roman" pitchFamily="18" charset="0"/>
              </a:rPr>
              <a:t>de date à date qui précède immédiatement la demande d’allocation </a:t>
            </a:r>
            <a:r>
              <a:rPr lang="fr-BE" sz="2400" dirty="0">
                <a:cs typeface="Times New Roman" pitchFamily="18" charset="0"/>
              </a:rPr>
              <a:t>(art. 42§1).</a:t>
            </a:r>
            <a:endParaRPr lang="fr-BE" dirty="0">
              <a:cs typeface="Times New Roman" pitchFamily="18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6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5980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fr-BE" sz="4000" b="1" i="1" dirty="0">
                <a:cs typeface="Times New Roman" pitchFamily="18" charset="0"/>
              </a:rPr>
              <a:t>1.3 Rappel: Le principe de prolongation </a:t>
            </a:r>
            <a:r>
              <a:rPr lang="fr-BE" sz="4000" b="1" i="1" dirty="0">
                <a:solidFill>
                  <a:srgbClr val="C00000"/>
                </a:solidFill>
                <a:cs typeface="Times New Roman" pitchFamily="18" charset="0"/>
              </a:rPr>
              <a:t>art.42</a:t>
            </a:r>
            <a:endParaRPr lang="fr-FR" sz="4000" i="1" dirty="0">
              <a:cs typeface="Times New Roman" pitchFamily="18" charset="0"/>
            </a:endParaRPr>
          </a:p>
        </p:txBody>
      </p:sp>
      <p:sp>
        <p:nvSpPr>
          <p:cNvPr id="8" name="Espace réservé du contenu 7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600"/>
              </a:spcBef>
              <a:buSzPct val="100000"/>
              <a:buNone/>
            </a:pPr>
            <a:endParaRPr lang="fr-BE" sz="2000" dirty="0">
              <a:cs typeface="Times New Roman" pitchFamily="18" charset="0"/>
            </a:endParaRPr>
          </a:p>
          <a:p>
            <a:pPr marL="0" indent="0">
              <a:spcBef>
                <a:spcPts val="600"/>
              </a:spcBef>
              <a:buSzPct val="100000"/>
              <a:buNone/>
            </a:pPr>
            <a:r>
              <a:rPr lang="fr-BE" sz="3600" dirty="0">
                <a:cs typeface="Times New Roman" pitchFamily="18" charset="0"/>
              </a:rPr>
              <a:t>Pour qu’un évènement puisse prolonger la période de référence « art. 42 », il faut obligatoirement qu’</a:t>
            </a:r>
            <a:r>
              <a:rPr lang="fr-BE" sz="3600" b="1" dirty="0">
                <a:solidFill>
                  <a:srgbClr val="C00000"/>
                </a:solidFill>
                <a:cs typeface="Times New Roman" pitchFamily="18" charset="0"/>
              </a:rPr>
              <a:t>au moins un jour de l’événement, limité à sa durée maximale à partir du début de l’évènement, se situe dans la période de référence</a:t>
            </a:r>
            <a:r>
              <a:rPr lang="fr-BE" sz="3600" dirty="0">
                <a:cs typeface="Times New Roman" pitchFamily="18" charset="0"/>
              </a:rPr>
              <a:t>.</a:t>
            </a:r>
          </a:p>
          <a:p>
            <a:pPr>
              <a:buNone/>
            </a:pPr>
            <a:endParaRPr lang="fr-FR" sz="2800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96072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r"/>
            <a:r>
              <a:rPr lang="fr-BE" sz="4000" b="1" i="1" dirty="0">
                <a:cs typeface="Times New Roman" pitchFamily="18" charset="0"/>
              </a:rPr>
              <a:t>2.1. Les évènements prolongateurs</a:t>
            </a:r>
            <a:endParaRPr lang="fr-FR" sz="4000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8</a:t>
            </a:fld>
            <a:endParaRPr lang="fr-FR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57200" y="1528594"/>
            <a:ext cx="8251902" cy="4827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588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r"/>
            <a:r>
              <a:rPr lang="fr-BE" sz="4000" b="1" i="1" dirty="0">
                <a:cs typeface="Times New Roman" pitchFamily="18" charset="0"/>
              </a:rPr>
              <a:t>2.1. Les évènements prolongateurs</a:t>
            </a:r>
            <a:endParaRPr lang="fr-FR" sz="3600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9</a:t>
            </a:fld>
            <a:endParaRPr lang="fr-FR"/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625599"/>
            <a:ext cx="8136904" cy="48532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19599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r"/>
            <a:r>
              <a:rPr lang="fr-BE" sz="4000" b="1" i="1" dirty="0">
                <a:cs typeface="Times New Roman" pitchFamily="18" charset="0"/>
              </a:rPr>
              <a:t>2.1. Les évènements prolongateurs  </a:t>
            </a:r>
            <a:endParaRPr lang="fr-FR" sz="4000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10</a:t>
            </a:fld>
            <a:endParaRPr lang="fr-FR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57199" y="1628800"/>
            <a:ext cx="8240751" cy="4824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361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r"/>
            <a:r>
              <a:rPr lang="fr-BE" sz="4000" b="1" i="1" dirty="0">
                <a:cs typeface="Times New Roman" pitchFamily="18" charset="0"/>
              </a:rPr>
              <a:t>2.1. Les évènements prolongateurs</a:t>
            </a:r>
            <a:endParaRPr lang="fr-FR" sz="4000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11</a:t>
            </a:fld>
            <a:endParaRPr lang="fr-FR"/>
          </a:p>
        </p:txBody>
      </p:sp>
      <p:pic>
        <p:nvPicPr>
          <p:cNvPr id="6" name="Espace réservé du contenu 5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40995" y="1700808"/>
            <a:ext cx="8062010" cy="4752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3415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fr-BE" sz="4000" b="1" i="1" dirty="0"/>
              <a:t>2.2. Exemple 1: L’inactivité pour l’éducation d’un enfant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</p:txBody>
      </p:sp>
      <p:sp>
        <p:nvSpPr>
          <p:cNvPr id="24" name="Accolade ouvrante 23"/>
          <p:cNvSpPr/>
          <p:nvPr/>
        </p:nvSpPr>
        <p:spPr>
          <a:xfrm rot="16200000">
            <a:off x="6344377" y="4977827"/>
            <a:ext cx="235898" cy="1622140"/>
          </a:xfrm>
          <a:prstGeom prst="leftBrace">
            <a:avLst/>
          </a:prstGeom>
          <a:ln>
            <a:solidFill>
              <a:srgbClr val="008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BE">
              <a:solidFill>
                <a:srgbClr val="008000"/>
              </a:solidFill>
            </a:endParaRPr>
          </a:p>
        </p:txBody>
      </p:sp>
      <p:sp>
        <p:nvSpPr>
          <p:cNvPr id="25" name="ZoneTexte 24"/>
          <p:cNvSpPr txBox="1"/>
          <p:nvPr/>
        </p:nvSpPr>
        <p:spPr>
          <a:xfrm>
            <a:off x="6569871" y="5837298"/>
            <a:ext cx="14070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srgbClr val="008000"/>
                </a:solidFill>
              </a:rPr>
              <a:t>24.10.2022</a:t>
            </a:r>
          </a:p>
        </p:txBody>
      </p:sp>
      <p:sp>
        <p:nvSpPr>
          <p:cNvPr id="26" name="ZoneTexte 25"/>
          <p:cNvSpPr txBox="1"/>
          <p:nvPr/>
        </p:nvSpPr>
        <p:spPr>
          <a:xfrm>
            <a:off x="5038096" y="5841423"/>
            <a:ext cx="11537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srgbClr val="008000"/>
                </a:solidFill>
              </a:rPr>
              <a:t>25.10.2019</a:t>
            </a:r>
            <a:endParaRPr lang="fr-BE" sz="1200" b="1" dirty="0">
              <a:solidFill>
                <a:srgbClr val="008000"/>
              </a:solidFill>
            </a:endParaRPr>
          </a:p>
        </p:txBody>
      </p:sp>
      <p:sp>
        <p:nvSpPr>
          <p:cNvPr id="27" name="ZoneTexte 26"/>
          <p:cNvSpPr txBox="1"/>
          <p:nvPr/>
        </p:nvSpPr>
        <p:spPr>
          <a:xfrm>
            <a:off x="5526222" y="5345073"/>
            <a:ext cx="18722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srgbClr val="008000"/>
                </a:solidFill>
              </a:rPr>
              <a:t>Période référence</a:t>
            </a:r>
          </a:p>
        </p:txBody>
      </p:sp>
      <p:sp>
        <p:nvSpPr>
          <p:cNvPr id="31" name="Accolade ouvrante 30"/>
          <p:cNvSpPr/>
          <p:nvPr/>
        </p:nvSpPr>
        <p:spPr>
          <a:xfrm rot="16200000">
            <a:off x="4542086" y="3661456"/>
            <a:ext cx="373206" cy="5065885"/>
          </a:xfrm>
          <a:prstGeom prst="leftBrace">
            <a:avLst/>
          </a:prstGeom>
          <a:ln>
            <a:solidFill>
              <a:srgbClr val="7030A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BE">
              <a:solidFill>
                <a:srgbClr val="7030A0"/>
              </a:solidFill>
            </a:endParaRPr>
          </a:p>
        </p:txBody>
      </p:sp>
      <p:sp>
        <p:nvSpPr>
          <p:cNvPr id="34" name="ZoneTexte 33"/>
          <p:cNvSpPr txBox="1"/>
          <p:nvPr/>
        </p:nvSpPr>
        <p:spPr>
          <a:xfrm>
            <a:off x="1480458" y="6216289"/>
            <a:ext cx="12961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srgbClr val="7030A0"/>
                </a:solidFill>
              </a:rPr>
              <a:t>25.04.2015</a:t>
            </a:r>
            <a:endParaRPr lang="fr-BE" sz="1200" b="1" dirty="0">
              <a:solidFill>
                <a:srgbClr val="00B0F0"/>
              </a:solidFill>
            </a:endParaRPr>
          </a:p>
        </p:txBody>
      </p:sp>
      <p:sp>
        <p:nvSpPr>
          <p:cNvPr id="35" name="ZoneTexte 34"/>
          <p:cNvSpPr txBox="1"/>
          <p:nvPr/>
        </p:nvSpPr>
        <p:spPr>
          <a:xfrm>
            <a:off x="3566907" y="6382399"/>
            <a:ext cx="23264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srgbClr val="7030A0"/>
                </a:solidFill>
              </a:rPr>
              <a:t>Période référence prolongée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12</a:t>
            </a:fld>
            <a:endParaRPr lang="fr-FR"/>
          </a:p>
        </p:txBody>
      </p:sp>
      <p:sp>
        <p:nvSpPr>
          <p:cNvPr id="30" name="ZoneTexte 29"/>
          <p:cNvSpPr txBox="1"/>
          <p:nvPr/>
        </p:nvSpPr>
        <p:spPr>
          <a:xfrm>
            <a:off x="5808356" y="1681644"/>
            <a:ext cx="20389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Veille 6</a:t>
            </a:r>
            <a:r>
              <a:rPr lang="fr-BE" sz="1400" b="1" baseline="30000" dirty="0"/>
              <a:t>ème</a:t>
            </a:r>
            <a:r>
              <a:rPr lang="fr-BE" sz="1400" b="1" dirty="0"/>
              <a:t> anniversaire 27.10.2021</a:t>
            </a:r>
          </a:p>
        </p:txBody>
      </p:sp>
      <p:cxnSp>
        <p:nvCxnSpPr>
          <p:cNvPr id="6" name="Connecteur droit avec flèche 5"/>
          <p:cNvCxnSpPr>
            <a:cxnSpLocks/>
          </p:cNvCxnSpPr>
          <p:nvPr/>
        </p:nvCxnSpPr>
        <p:spPr>
          <a:xfrm>
            <a:off x="3851920" y="2424601"/>
            <a:ext cx="2957694" cy="0"/>
          </a:xfrm>
          <a:prstGeom prst="straightConnector1">
            <a:avLst/>
          </a:prstGeom>
          <a:ln w="38100">
            <a:solidFill>
              <a:schemeClr val="accent2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ZoneTexte 35"/>
          <p:cNvSpPr txBox="1"/>
          <p:nvPr/>
        </p:nvSpPr>
        <p:spPr>
          <a:xfrm>
            <a:off x="4014289" y="2424600"/>
            <a:ext cx="23579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srgbClr val="C00000"/>
                </a:solidFill>
              </a:rPr>
              <a:t>Max. 6 ans</a:t>
            </a:r>
          </a:p>
        </p:txBody>
      </p:sp>
      <p:sp>
        <p:nvSpPr>
          <p:cNvPr id="41" name="Accolade ouvrante 40"/>
          <p:cNvSpPr/>
          <p:nvPr/>
        </p:nvSpPr>
        <p:spPr>
          <a:xfrm rot="16200000">
            <a:off x="5349686" y="2741242"/>
            <a:ext cx="285642" cy="2635984"/>
          </a:xfrm>
          <a:prstGeom prst="leftBrace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BE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40" name="Connecteur droit 39"/>
          <p:cNvCxnSpPr/>
          <p:nvPr/>
        </p:nvCxnSpPr>
        <p:spPr>
          <a:xfrm>
            <a:off x="7273395" y="2823432"/>
            <a:ext cx="2" cy="2869574"/>
          </a:xfrm>
          <a:prstGeom prst="line">
            <a:avLst/>
          </a:prstGeom>
          <a:ln w="38100" cmpd="sng">
            <a:solidFill>
              <a:srgbClr val="008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eur droit 41"/>
          <p:cNvCxnSpPr/>
          <p:nvPr/>
        </p:nvCxnSpPr>
        <p:spPr>
          <a:xfrm>
            <a:off x="5652120" y="2821835"/>
            <a:ext cx="2" cy="2869574"/>
          </a:xfrm>
          <a:prstGeom prst="line">
            <a:avLst/>
          </a:prstGeom>
          <a:ln w="38100" cmpd="sng">
            <a:solidFill>
              <a:srgbClr val="008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ZoneTexte 42"/>
          <p:cNvSpPr txBox="1"/>
          <p:nvPr/>
        </p:nvSpPr>
        <p:spPr>
          <a:xfrm>
            <a:off x="6625323" y="6216289"/>
            <a:ext cx="12961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srgbClr val="7030A0"/>
                </a:solidFill>
              </a:rPr>
              <a:t>24.10.2022</a:t>
            </a:r>
            <a:endParaRPr lang="fr-BE" sz="1200" b="1" dirty="0">
              <a:solidFill>
                <a:srgbClr val="00B0F0"/>
              </a:solidFill>
            </a:endParaRPr>
          </a:p>
        </p:txBody>
      </p:sp>
      <p:cxnSp>
        <p:nvCxnSpPr>
          <p:cNvPr id="44" name="Connecteur droit 43"/>
          <p:cNvCxnSpPr/>
          <p:nvPr/>
        </p:nvCxnSpPr>
        <p:spPr>
          <a:xfrm>
            <a:off x="6809614" y="2185192"/>
            <a:ext cx="0" cy="1713125"/>
          </a:xfrm>
          <a:prstGeom prst="line">
            <a:avLst/>
          </a:prstGeom>
          <a:ln w="38100">
            <a:solidFill>
              <a:schemeClr val="accent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ZoneTexte 22"/>
          <p:cNvSpPr txBox="1"/>
          <p:nvPr/>
        </p:nvSpPr>
        <p:spPr>
          <a:xfrm>
            <a:off x="4376466" y="4228816"/>
            <a:ext cx="23579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Durée de l’évènement </a:t>
            </a:r>
          </a:p>
          <a:p>
            <a:pPr algn="ctr"/>
            <a:r>
              <a:rPr lang="fr-BE" sz="1400" b="1" dirty="0"/>
              <a:t>= 4 ans &amp; 6 mois</a:t>
            </a:r>
          </a:p>
        </p:txBody>
      </p:sp>
      <p:cxnSp>
        <p:nvCxnSpPr>
          <p:cNvPr id="52" name="Connecteur droit avec flèche 51"/>
          <p:cNvCxnSpPr/>
          <p:nvPr/>
        </p:nvCxnSpPr>
        <p:spPr>
          <a:xfrm flipV="1">
            <a:off x="2195746" y="2877808"/>
            <a:ext cx="0" cy="3129987"/>
          </a:xfrm>
          <a:prstGeom prst="straightConnector1">
            <a:avLst/>
          </a:prstGeom>
          <a:ln w="38100">
            <a:solidFill>
              <a:srgbClr val="7030A0"/>
            </a:solidFill>
            <a:prstDash val="sysDash"/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9" name="ZoneTexte 28"/>
          <p:cNvSpPr txBox="1"/>
          <p:nvPr/>
        </p:nvSpPr>
        <p:spPr>
          <a:xfrm>
            <a:off x="3463133" y="1661971"/>
            <a:ext cx="14811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Inactivité à partir du 28.04.2017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5576" y="3286726"/>
            <a:ext cx="1872206" cy="646331"/>
          </a:xfrm>
          <a:prstGeom prst="rect">
            <a:avLst/>
          </a:prstGeom>
          <a:solidFill>
            <a:srgbClr val="FFC000"/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 sz="1600" b="1" dirty="0">
              <a:solidFill>
                <a:schemeClr val="tx1"/>
              </a:solidFill>
            </a:endParaRPr>
          </a:p>
          <a:p>
            <a:pPr algn="ctr"/>
            <a:r>
              <a:rPr lang="fr-BE" sz="1600" b="1" dirty="0">
                <a:solidFill>
                  <a:schemeClr val="tx1"/>
                </a:solidFill>
              </a:rPr>
              <a:t>Chômage complet (art.30)</a:t>
            </a:r>
          </a:p>
          <a:p>
            <a:pPr algn="ctr"/>
            <a:endParaRPr lang="fr-BE" sz="1600" b="1" dirty="0">
              <a:solidFill>
                <a:schemeClr val="tx1"/>
              </a:solidFill>
            </a:endParaRPr>
          </a:p>
        </p:txBody>
      </p:sp>
      <p:cxnSp>
        <p:nvCxnSpPr>
          <p:cNvPr id="49" name="Connecteur droit avec flèche 48"/>
          <p:cNvCxnSpPr/>
          <p:nvPr/>
        </p:nvCxnSpPr>
        <p:spPr>
          <a:xfrm flipH="1" flipV="1">
            <a:off x="4174513" y="2185192"/>
            <a:ext cx="1" cy="1734549"/>
          </a:xfrm>
          <a:prstGeom prst="straightConnector1">
            <a:avLst/>
          </a:prstGeom>
          <a:ln w="28575">
            <a:solidFill>
              <a:schemeClr val="bg2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eur droit avec flèche 36"/>
          <p:cNvCxnSpPr/>
          <p:nvPr/>
        </p:nvCxnSpPr>
        <p:spPr>
          <a:xfrm>
            <a:off x="755576" y="3933056"/>
            <a:ext cx="7416824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ZoneTexte 37"/>
          <p:cNvSpPr txBox="1"/>
          <p:nvPr/>
        </p:nvSpPr>
        <p:spPr>
          <a:xfrm>
            <a:off x="2920030" y="4898567"/>
            <a:ext cx="18722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Naissance le 28.10.2015</a:t>
            </a:r>
          </a:p>
        </p:txBody>
      </p:sp>
      <p:cxnSp>
        <p:nvCxnSpPr>
          <p:cNvPr id="45" name="Connecteur droit avec flèche 44"/>
          <p:cNvCxnSpPr/>
          <p:nvPr/>
        </p:nvCxnSpPr>
        <p:spPr>
          <a:xfrm>
            <a:off x="7308304" y="2204864"/>
            <a:ext cx="0" cy="2664296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5" name="ZoneTexte 14"/>
          <p:cNvSpPr txBox="1"/>
          <p:nvPr/>
        </p:nvSpPr>
        <p:spPr>
          <a:xfrm>
            <a:off x="6372200" y="4869160"/>
            <a:ext cx="18722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DA le 25.10.2022</a:t>
            </a:r>
          </a:p>
          <a:p>
            <a:pPr algn="ctr"/>
            <a:r>
              <a:rPr lang="fr-BE" sz="1400" b="1" dirty="0"/>
              <a:t>Agée de 34 ans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B7DFF38-5292-4163-9E07-23113B5879D5}"/>
              </a:ext>
            </a:extLst>
          </p:cNvPr>
          <p:cNvSpPr/>
          <p:nvPr/>
        </p:nvSpPr>
        <p:spPr>
          <a:xfrm>
            <a:off x="2627781" y="3284984"/>
            <a:ext cx="1546729" cy="61943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b="1" dirty="0">
                <a:solidFill>
                  <a:schemeClr val="tx1"/>
                </a:solidFill>
              </a:rPr>
              <a:t>occupation salariée 20/38</a:t>
            </a:r>
          </a:p>
        </p:txBody>
      </p:sp>
      <p:cxnSp>
        <p:nvCxnSpPr>
          <p:cNvPr id="33" name="Connecteur droit avec flèche 32"/>
          <p:cNvCxnSpPr/>
          <p:nvPr/>
        </p:nvCxnSpPr>
        <p:spPr>
          <a:xfrm>
            <a:off x="3851920" y="2424600"/>
            <a:ext cx="0" cy="2444560"/>
          </a:xfrm>
          <a:prstGeom prst="straightConnector1">
            <a:avLst/>
          </a:prstGeom>
          <a:ln w="38100">
            <a:solidFill>
              <a:schemeClr val="accent2">
                <a:lumMod val="60000"/>
                <a:lumOff val="40000"/>
              </a:schemeClr>
            </a:solidFill>
            <a:tailEnd type="arrow"/>
          </a:ln>
          <a:scene3d>
            <a:camera prst="orthographicFront">
              <a:rot lat="0" lon="0" rev="0"/>
            </a:camera>
            <a:lightRig rig="threePt" dir="t"/>
          </a:scene3d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1C2CA9E3-0EAE-4EB1-88A3-9ED0285D0513}"/>
              </a:ext>
            </a:extLst>
          </p:cNvPr>
          <p:cNvCxnSpPr/>
          <p:nvPr/>
        </p:nvCxnSpPr>
        <p:spPr>
          <a:xfrm flipV="1">
            <a:off x="2603922" y="2278021"/>
            <a:ext cx="0" cy="1638391"/>
          </a:xfrm>
          <a:prstGeom prst="straightConnector1">
            <a:avLst/>
          </a:prstGeom>
          <a:ln w="2857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ZoneTexte 9">
            <a:extLst>
              <a:ext uri="{FF2B5EF4-FFF2-40B4-BE49-F238E27FC236}">
                <a16:creationId xmlns:a16="http://schemas.microsoft.com/office/drawing/2014/main" id="{5E81D83E-36A3-4943-BABC-F58638D02E4D}"/>
              </a:ext>
            </a:extLst>
          </p:cNvPr>
          <p:cNvSpPr txBox="1"/>
          <p:nvPr/>
        </p:nvSpPr>
        <p:spPr>
          <a:xfrm>
            <a:off x="2006921" y="1661971"/>
            <a:ext cx="11599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DJI: 30/04/2015</a:t>
            </a:r>
          </a:p>
        </p:txBody>
      </p:sp>
    </p:spTree>
    <p:extLst>
      <p:ext uri="{BB962C8B-B14F-4D97-AF65-F5344CB8AC3E}">
        <p14:creationId xmlns:p14="http://schemas.microsoft.com/office/powerpoint/2010/main" val="2353081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0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000"/>
                            </p:stCondLst>
                            <p:childTnLst>
                              <p:par>
                                <p:cTn id="5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200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/>
      <p:bldP spid="26" grpId="0"/>
      <p:bldP spid="27" grpId="0"/>
      <p:bldP spid="31" grpId="0" animBg="1"/>
      <p:bldP spid="34" grpId="0"/>
      <p:bldP spid="35" grpId="0"/>
      <p:bldP spid="30" grpId="0"/>
      <p:bldP spid="36" grpId="0"/>
      <p:bldP spid="41" grpId="0" animBg="1"/>
      <p:bldP spid="43" grpId="0"/>
      <p:bldP spid="2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fr-BE" sz="4000" b="1" i="1" dirty="0"/>
              <a:t>2.3.  Exemple2:L’inactivité pour l’éducation d’un enfant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</p:txBody>
      </p:sp>
      <p:sp>
        <p:nvSpPr>
          <p:cNvPr id="24" name="Accolade ouvrante 23"/>
          <p:cNvSpPr/>
          <p:nvPr/>
        </p:nvSpPr>
        <p:spPr>
          <a:xfrm rot="16200000">
            <a:off x="6344377" y="4977827"/>
            <a:ext cx="235898" cy="1622140"/>
          </a:xfrm>
          <a:prstGeom prst="leftBrace">
            <a:avLst/>
          </a:prstGeom>
          <a:ln>
            <a:solidFill>
              <a:srgbClr val="008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BE">
              <a:solidFill>
                <a:srgbClr val="008000"/>
              </a:solidFill>
            </a:endParaRPr>
          </a:p>
        </p:txBody>
      </p:sp>
      <p:sp>
        <p:nvSpPr>
          <p:cNvPr id="25" name="ZoneTexte 24"/>
          <p:cNvSpPr txBox="1"/>
          <p:nvPr/>
        </p:nvSpPr>
        <p:spPr>
          <a:xfrm>
            <a:off x="6569871" y="5837298"/>
            <a:ext cx="14070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srgbClr val="008000"/>
                </a:solidFill>
              </a:rPr>
              <a:t>24.10.2022</a:t>
            </a:r>
          </a:p>
        </p:txBody>
      </p:sp>
      <p:sp>
        <p:nvSpPr>
          <p:cNvPr id="26" name="ZoneTexte 25"/>
          <p:cNvSpPr txBox="1"/>
          <p:nvPr/>
        </p:nvSpPr>
        <p:spPr>
          <a:xfrm>
            <a:off x="5074356" y="5829034"/>
            <a:ext cx="11537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srgbClr val="008000"/>
                </a:solidFill>
              </a:rPr>
              <a:t>25.10.2019</a:t>
            </a:r>
            <a:endParaRPr lang="fr-BE" sz="1200" b="1" dirty="0">
              <a:solidFill>
                <a:srgbClr val="008000"/>
              </a:solidFill>
            </a:endParaRPr>
          </a:p>
        </p:txBody>
      </p:sp>
      <p:sp>
        <p:nvSpPr>
          <p:cNvPr id="27" name="ZoneTexte 26"/>
          <p:cNvSpPr txBox="1"/>
          <p:nvPr/>
        </p:nvSpPr>
        <p:spPr>
          <a:xfrm>
            <a:off x="5526222" y="5345073"/>
            <a:ext cx="18722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srgbClr val="008000"/>
                </a:solidFill>
              </a:rPr>
              <a:t>Période référence</a:t>
            </a:r>
          </a:p>
        </p:txBody>
      </p:sp>
      <p:sp>
        <p:nvSpPr>
          <p:cNvPr id="31" name="Accolade ouvrante 30"/>
          <p:cNvSpPr/>
          <p:nvPr/>
        </p:nvSpPr>
        <p:spPr>
          <a:xfrm rot="16200000">
            <a:off x="4846680" y="3853814"/>
            <a:ext cx="374563" cy="4668334"/>
          </a:xfrm>
          <a:prstGeom prst="leftBrace">
            <a:avLst>
              <a:gd name="adj1" fmla="val 0"/>
              <a:gd name="adj2" fmla="val 50000"/>
            </a:avLst>
          </a:prstGeom>
          <a:ln>
            <a:solidFill>
              <a:srgbClr val="7030A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BE">
              <a:solidFill>
                <a:srgbClr val="7030A0"/>
              </a:solidFill>
            </a:endParaRPr>
          </a:p>
        </p:txBody>
      </p:sp>
      <p:sp>
        <p:nvSpPr>
          <p:cNvPr id="34" name="ZoneTexte 33"/>
          <p:cNvSpPr txBox="1"/>
          <p:nvPr/>
        </p:nvSpPr>
        <p:spPr>
          <a:xfrm>
            <a:off x="2051720" y="6216289"/>
            <a:ext cx="12961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srgbClr val="7030A0"/>
                </a:solidFill>
              </a:rPr>
              <a:t>25.10.2013</a:t>
            </a:r>
            <a:endParaRPr lang="fr-BE" sz="1200" b="1" dirty="0">
              <a:solidFill>
                <a:srgbClr val="00B0F0"/>
              </a:solidFill>
            </a:endParaRPr>
          </a:p>
        </p:txBody>
      </p:sp>
      <p:sp>
        <p:nvSpPr>
          <p:cNvPr id="35" name="ZoneTexte 34"/>
          <p:cNvSpPr txBox="1"/>
          <p:nvPr/>
        </p:nvSpPr>
        <p:spPr>
          <a:xfrm>
            <a:off x="3840821" y="6348778"/>
            <a:ext cx="23264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srgbClr val="7030A0"/>
                </a:solidFill>
              </a:rPr>
              <a:t>Période référence prolongée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13</a:t>
            </a:fld>
            <a:endParaRPr lang="fr-FR"/>
          </a:p>
        </p:txBody>
      </p:sp>
      <p:cxnSp>
        <p:nvCxnSpPr>
          <p:cNvPr id="52" name="Connecteur droit avec flèche 51"/>
          <p:cNvCxnSpPr/>
          <p:nvPr/>
        </p:nvCxnSpPr>
        <p:spPr>
          <a:xfrm flipV="1">
            <a:off x="2699792" y="2875839"/>
            <a:ext cx="0" cy="3129987"/>
          </a:xfrm>
          <a:prstGeom prst="straightConnector1">
            <a:avLst/>
          </a:prstGeom>
          <a:ln w="38100">
            <a:solidFill>
              <a:srgbClr val="7030A0"/>
            </a:solidFill>
            <a:prstDash val="sysDash"/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" name="Connecteur droit avec flèche 5"/>
          <p:cNvCxnSpPr>
            <a:cxnSpLocks/>
          </p:cNvCxnSpPr>
          <p:nvPr/>
        </p:nvCxnSpPr>
        <p:spPr>
          <a:xfrm flipV="1">
            <a:off x="3491880" y="2426143"/>
            <a:ext cx="3054887" cy="1"/>
          </a:xfrm>
          <a:prstGeom prst="straightConnector1">
            <a:avLst/>
          </a:prstGeom>
          <a:ln w="38100">
            <a:solidFill>
              <a:schemeClr val="accent2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ZoneTexte 35"/>
          <p:cNvSpPr txBox="1"/>
          <p:nvPr/>
        </p:nvSpPr>
        <p:spPr>
          <a:xfrm>
            <a:off x="4014289" y="2424600"/>
            <a:ext cx="23579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srgbClr val="C00000"/>
                </a:solidFill>
              </a:rPr>
              <a:t>Max. 6 ans</a:t>
            </a:r>
          </a:p>
        </p:txBody>
      </p:sp>
      <p:sp>
        <p:nvSpPr>
          <p:cNvPr id="41" name="Accolade ouvrante 40"/>
          <p:cNvSpPr/>
          <p:nvPr/>
        </p:nvSpPr>
        <p:spPr>
          <a:xfrm rot="16200000">
            <a:off x="4875393" y="2528119"/>
            <a:ext cx="294299" cy="3061319"/>
          </a:xfrm>
          <a:prstGeom prst="leftBrace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BE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0" name="ZoneTexte 39"/>
          <p:cNvSpPr txBox="1"/>
          <p:nvPr/>
        </p:nvSpPr>
        <p:spPr>
          <a:xfrm>
            <a:off x="6625326" y="6216289"/>
            <a:ext cx="12961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srgbClr val="7030A0"/>
                </a:solidFill>
              </a:rPr>
              <a:t>24.10.2022</a:t>
            </a:r>
            <a:endParaRPr lang="fr-BE" sz="1200" b="1" dirty="0">
              <a:solidFill>
                <a:srgbClr val="00B0F0"/>
              </a:solidFill>
            </a:endParaRPr>
          </a:p>
        </p:txBody>
      </p:sp>
      <p:cxnSp>
        <p:nvCxnSpPr>
          <p:cNvPr id="43" name="Connecteur droit 42"/>
          <p:cNvCxnSpPr/>
          <p:nvPr/>
        </p:nvCxnSpPr>
        <p:spPr>
          <a:xfrm>
            <a:off x="7273396" y="2801374"/>
            <a:ext cx="2" cy="2869574"/>
          </a:xfrm>
          <a:prstGeom prst="line">
            <a:avLst/>
          </a:prstGeom>
          <a:ln w="38100" cmpd="sng">
            <a:solidFill>
              <a:srgbClr val="008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43"/>
          <p:cNvCxnSpPr/>
          <p:nvPr/>
        </p:nvCxnSpPr>
        <p:spPr>
          <a:xfrm>
            <a:off x="5652120" y="2821835"/>
            <a:ext cx="2" cy="2869574"/>
          </a:xfrm>
          <a:prstGeom prst="line">
            <a:avLst/>
          </a:prstGeom>
          <a:ln w="38100" cmpd="sng">
            <a:solidFill>
              <a:srgbClr val="008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ZoneTexte 44"/>
          <p:cNvSpPr txBox="1"/>
          <p:nvPr/>
        </p:nvSpPr>
        <p:spPr>
          <a:xfrm>
            <a:off x="5533716" y="1650533"/>
            <a:ext cx="20389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Veille 6</a:t>
            </a:r>
            <a:r>
              <a:rPr lang="fr-BE" sz="1400" b="1" baseline="30000" dirty="0"/>
              <a:t>ème</a:t>
            </a:r>
            <a:r>
              <a:rPr lang="fr-BE" sz="1400" b="1" dirty="0"/>
              <a:t> anniversaire 04.02.2021</a:t>
            </a:r>
          </a:p>
        </p:txBody>
      </p:sp>
      <p:cxnSp>
        <p:nvCxnSpPr>
          <p:cNvPr id="48" name="Connecteur droit 47"/>
          <p:cNvCxnSpPr/>
          <p:nvPr/>
        </p:nvCxnSpPr>
        <p:spPr>
          <a:xfrm>
            <a:off x="6553200" y="2198503"/>
            <a:ext cx="0" cy="1713125"/>
          </a:xfrm>
          <a:prstGeom prst="line">
            <a:avLst/>
          </a:prstGeom>
          <a:ln w="38100">
            <a:solidFill>
              <a:schemeClr val="accent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ZoneTexte 22"/>
          <p:cNvSpPr txBox="1"/>
          <p:nvPr/>
        </p:nvSpPr>
        <p:spPr>
          <a:xfrm>
            <a:off x="3809368" y="4248812"/>
            <a:ext cx="23579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Durée de l’évènement </a:t>
            </a:r>
          </a:p>
          <a:p>
            <a:pPr algn="ctr"/>
            <a:r>
              <a:rPr lang="fr-BE" sz="1400" b="1" dirty="0"/>
              <a:t>= 6 ans</a:t>
            </a: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A92E9FBF-7650-4D15-8C5B-6283A630BD6B}"/>
              </a:ext>
            </a:extLst>
          </p:cNvPr>
          <p:cNvGrpSpPr/>
          <p:nvPr/>
        </p:nvGrpSpPr>
        <p:grpSpPr>
          <a:xfrm>
            <a:off x="282633" y="1862056"/>
            <a:ext cx="7961775" cy="3565601"/>
            <a:chOff x="282633" y="1862056"/>
            <a:chExt cx="7961775" cy="3565601"/>
          </a:xfrm>
        </p:grpSpPr>
        <p:sp>
          <p:nvSpPr>
            <p:cNvPr id="29" name="ZoneTexte 28"/>
            <p:cNvSpPr txBox="1"/>
            <p:nvPr/>
          </p:nvSpPr>
          <p:spPr>
            <a:xfrm>
              <a:off x="2081675" y="1862056"/>
              <a:ext cx="18722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BE" sz="1400" b="1" dirty="0"/>
                <a:t> DJI = 23.11.2013</a:t>
              </a:r>
            </a:p>
          </p:txBody>
        </p:sp>
        <p:grpSp>
          <p:nvGrpSpPr>
            <p:cNvPr id="7" name="Groupe 6">
              <a:extLst>
                <a:ext uri="{FF2B5EF4-FFF2-40B4-BE49-F238E27FC236}">
                  <a16:creationId xmlns:a16="http://schemas.microsoft.com/office/drawing/2014/main" id="{2D4DCCF7-998F-49B1-A5F8-09CD94CF848D}"/>
                </a:ext>
              </a:extLst>
            </p:cNvPr>
            <p:cNvGrpSpPr/>
            <p:nvPr/>
          </p:nvGrpSpPr>
          <p:grpSpPr>
            <a:xfrm>
              <a:off x="282633" y="2198507"/>
              <a:ext cx="7961775" cy="3229150"/>
              <a:chOff x="282633" y="2198507"/>
              <a:chExt cx="7961775" cy="3229150"/>
            </a:xfrm>
          </p:grpSpPr>
          <p:sp>
            <p:nvSpPr>
              <p:cNvPr id="17" name="Rectangle 16"/>
              <p:cNvSpPr/>
              <p:nvPr/>
            </p:nvSpPr>
            <p:spPr>
              <a:xfrm>
                <a:off x="282633" y="3275216"/>
                <a:ext cx="2735147" cy="657842"/>
              </a:xfrm>
              <a:prstGeom prst="rect">
                <a:avLst/>
              </a:prstGeom>
              <a:solidFill>
                <a:srgbClr val="FFC000"/>
              </a:solidFill>
              <a:ln w="38100">
                <a:solidFill>
                  <a:schemeClr val="accent6">
                    <a:lumMod val="75000"/>
                  </a:schemeClr>
                </a:solidFill>
              </a:ln>
              <a:scene3d>
                <a:camera prst="orthographicFront"/>
                <a:lightRig rig="threePt" dir="t"/>
              </a:scene3d>
              <a:sp3d>
                <a:contourClr>
                  <a:schemeClr val="tx1"/>
                </a:contourClr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BE" sz="1600" b="1" dirty="0">
                    <a:solidFill>
                      <a:schemeClr val="tx1"/>
                    </a:solidFill>
                  </a:rPr>
                  <a:t>Préfixe 01/ (art.30)</a:t>
                </a:r>
              </a:p>
              <a:p>
                <a:pPr algn="ctr"/>
                <a:r>
                  <a:rPr lang="fr-BE" sz="1600" b="1" dirty="0">
                    <a:solidFill>
                      <a:schemeClr val="tx1"/>
                    </a:solidFill>
                  </a:rPr>
                  <a:t>DJI= 23.11.2013</a:t>
                </a:r>
              </a:p>
            </p:txBody>
          </p:sp>
          <p:cxnSp>
            <p:nvCxnSpPr>
              <p:cNvPr id="49" name="Connecteur droit avec flèche 48"/>
              <p:cNvCxnSpPr/>
              <p:nvPr/>
            </p:nvCxnSpPr>
            <p:spPr>
              <a:xfrm flipH="1" flipV="1">
                <a:off x="3017779" y="2198507"/>
                <a:ext cx="1" cy="1734549"/>
              </a:xfrm>
              <a:prstGeom prst="straightConnector1">
                <a:avLst/>
              </a:prstGeom>
              <a:ln w="38100">
                <a:solidFill>
                  <a:schemeClr val="accent6">
                    <a:lumMod val="75000"/>
                  </a:schemeClr>
                </a:solidFill>
                <a:tailEnd type="arrow"/>
              </a:ln>
              <a:scene3d>
                <a:camera prst="orthographicFront">
                  <a:rot lat="0" lon="0" rev="0"/>
                </a:camera>
                <a:lightRig rig="threePt" dir="t"/>
              </a:scene3d>
              <a:sp3d>
                <a:contourClr>
                  <a:schemeClr val="tx1"/>
                </a:contourClr>
              </a:sp3d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7" name="Connecteur droit avec flèche 36"/>
              <p:cNvCxnSpPr/>
              <p:nvPr/>
            </p:nvCxnSpPr>
            <p:spPr>
              <a:xfrm>
                <a:off x="755576" y="3933056"/>
                <a:ext cx="7416824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arrow"/>
              </a:ln>
              <a:scene3d>
                <a:camera prst="orthographicFront"/>
                <a:lightRig rig="threePt" dir="t"/>
              </a:scene3d>
              <a:sp3d>
                <a:contourClr>
                  <a:schemeClr val="tx1"/>
                </a:contourClr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Connecteur droit avec flèche 32"/>
              <p:cNvCxnSpPr/>
              <p:nvPr/>
            </p:nvCxnSpPr>
            <p:spPr>
              <a:xfrm>
                <a:off x="3491880" y="2424599"/>
                <a:ext cx="0" cy="2444560"/>
              </a:xfrm>
              <a:prstGeom prst="straightConnector1">
                <a:avLst/>
              </a:prstGeom>
              <a:ln w="38100">
                <a:solidFill>
                  <a:schemeClr val="accent2">
                    <a:lumMod val="60000"/>
                    <a:lumOff val="40000"/>
                  </a:schemeClr>
                </a:solidFill>
                <a:tailEnd type="arrow"/>
              </a:ln>
              <a:scene3d>
                <a:camera prst="orthographicFront">
                  <a:rot lat="0" lon="0" rev="0"/>
                </a:camera>
                <a:lightRig rig="threePt" dir="t"/>
              </a:scene3d>
              <a:sp3d>
                <a:contourClr>
                  <a:schemeClr val="tx1"/>
                </a:contourClr>
              </a:sp3d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sp>
            <p:nvSpPr>
              <p:cNvPr id="38" name="ZoneTexte 37"/>
              <p:cNvSpPr txBox="1"/>
              <p:nvPr/>
            </p:nvSpPr>
            <p:spPr>
              <a:xfrm>
                <a:off x="2583322" y="4904437"/>
                <a:ext cx="1872208" cy="523220"/>
              </a:xfrm>
              <a:prstGeom prst="rect">
                <a:avLst/>
              </a:prstGeom>
              <a:noFill/>
              <a:scene3d>
                <a:camera prst="orthographicFront"/>
                <a:lightRig rig="threePt" dir="t"/>
              </a:scene3d>
              <a:sp3d>
                <a:contourClr>
                  <a:schemeClr val="tx1"/>
                </a:contourClr>
              </a:sp3d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BE" sz="1400" b="1" dirty="0"/>
                  <a:t>Naissance le 05.02.2015</a:t>
                </a:r>
              </a:p>
            </p:txBody>
          </p:sp>
          <p:cxnSp>
            <p:nvCxnSpPr>
              <p:cNvPr id="42" name="Connecteur droit avec flèche 41"/>
              <p:cNvCxnSpPr/>
              <p:nvPr/>
            </p:nvCxnSpPr>
            <p:spPr>
              <a:xfrm>
                <a:off x="7308304" y="2204864"/>
                <a:ext cx="0" cy="2664296"/>
              </a:xfrm>
              <a:prstGeom prst="straightConnector1">
                <a:avLst/>
              </a:prstGeom>
              <a:ln w="38100">
                <a:tailEnd type="arrow"/>
              </a:ln>
              <a:scene3d>
                <a:camera prst="orthographicFront"/>
                <a:lightRig rig="threePt" dir="t"/>
              </a:scene3d>
              <a:sp3d>
                <a:contourClr>
                  <a:schemeClr val="tx1"/>
                </a:contourClr>
              </a:sp3d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sp>
            <p:nvSpPr>
              <p:cNvPr id="15" name="ZoneTexte 14"/>
              <p:cNvSpPr txBox="1"/>
              <p:nvPr/>
            </p:nvSpPr>
            <p:spPr>
              <a:xfrm>
                <a:off x="6372200" y="4869160"/>
                <a:ext cx="1872208" cy="523220"/>
              </a:xfrm>
              <a:prstGeom prst="rect">
                <a:avLst/>
              </a:prstGeom>
              <a:noFill/>
              <a:scene3d>
                <a:camera prst="orthographicFront"/>
                <a:lightRig rig="threePt" dir="t"/>
              </a:scene3d>
              <a:sp3d>
                <a:contourClr>
                  <a:schemeClr val="tx1"/>
                </a:contourClr>
              </a:sp3d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BE" sz="1400" b="1" dirty="0"/>
                  <a:t>DA le 25.10.2022</a:t>
                </a:r>
              </a:p>
              <a:p>
                <a:pPr algn="ctr"/>
                <a:r>
                  <a:rPr lang="fr-BE" sz="1400" b="1" dirty="0"/>
                  <a:t>Agée de 34 ans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757223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0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000"/>
                            </p:stCondLst>
                            <p:childTnLst>
                              <p:par>
                                <p:cTn id="5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200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/>
      <p:bldP spid="26" grpId="0"/>
      <p:bldP spid="27" grpId="0"/>
      <p:bldP spid="31" grpId="0" animBg="1"/>
      <p:bldP spid="34" grpId="0"/>
      <p:bldP spid="35" grpId="0"/>
      <p:bldP spid="36" grpId="0"/>
      <p:bldP spid="41" grpId="0" animBg="1"/>
      <p:bldP spid="40" grpId="0"/>
      <p:bldP spid="45" grpId="0"/>
      <p:bldP spid="2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>
            <a:normAutofit fontScale="90000"/>
          </a:bodyPr>
          <a:lstStyle/>
          <a:p>
            <a:pPr algn="r"/>
            <a:r>
              <a:rPr lang="fr-BE" sz="4000" b="1" i="1" dirty="0"/>
              <a:t>2.3. Exemple 3: l’inactivité pour l’éducation d’un enfant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</p:txBody>
      </p:sp>
      <p:sp>
        <p:nvSpPr>
          <p:cNvPr id="24" name="Accolade ouvrante 23"/>
          <p:cNvSpPr/>
          <p:nvPr/>
        </p:nvSpPr>
        <p:spPr>
          <a:xfrm rot="16200000">
            <a:off x="6344377" y="4977827"/>
            <a:ext cx="235898" cy="1622140"/>
          </a:xfrm>
          <a:prstGeom prst="leftBrace">
            <a:avLst/>
          </a:prstGeom>
          <a:ln>
            <a:solidFill>
              <a:srgbClr val="008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BE">
              <a:solidFill>
                <a:srgbClr val="008000"/>
              </a:solidFill>
            </a:endParaRPr>
          </a:p>
        </p:txBody>
      </p:sp>
      <p:sp>
        <p:nvSpPr>
          <p:cNvPr id="25" name="ZoneTexte 24"/>
          <p:cNvSpPr txBox="1"/>
          <p:nvPr/>
        </p:nvSpPr>
        <p:spPr>
          <a:xfrm>
            <a:off x="6569871" y="5837298"/>
            <a:ext cx="14070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srgbClr val="008000"/>
                </a:solidFill>
              </a:rPr>
              <a:t>24.10.2022</a:t>
            </a:r>
          </a:p>
        </p:txBody>
      </p:sp>
      <p:sp>
        <p:nvSpPr>
          <p:cNvPr id="26" name="ZoneTexte 25"/>
          <p:cNvSpPr txBox="1"/>
          <p:nvPr/>
        </p:nvSpPr>
        <p:spPr>
          <a:xfrm>
            <a:off x="5074356" y="5829034"/>
            <a:ext cx="11537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srgbClr val="008000"/>
                </a:solidFill>
              </a:rPr>
              <a:t>25.10.2019</a:t>
            </a:r>
            <a:endParaRPr lang="fr-BE" sz="1200" b="1" dirty="0">
              <a:solidFill>
                <a:srgbClr val="008000"/>
              </a:solidFill>
            </a:endParaRPr>
          </a:p>
        </p:txBody>
      </p:sp>
      <p:sp>
        <p:nvSpPr>
          <p:cNvPr id="27" name="ZoneTexte 26"/>
          <p:cNvSpPr txBox="1"/>
          <p:nvPr/>
        </p:nvSpPr>
        <p:spPr>
          <a:xfrm>
            <a:off x="5526222" y="5345073"/>
            <a:ext cx="18722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srgbClr val="008000"/>
                </a:solidFill>
              </a:rPr>
              <a:t>Période référence</a:t>
            </a:r>
          </a:p>
        </p:txBody>
      </p:sp>
      <p:sp>
        <p:nvSpPr>
          <p:cNvPr id="29" name="ZoneTexte 28"/>
          <p:cNvSpPr txBox="1"/>
          <p:nvPr/>
        </p:nvSpPr>
        <p:spPr>
          <a:xfrm>
            <a:off x="2081675" y="1855920"/>
            <a:ext cx="18722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DJI = 31.08.2013</a:t>
            </a:r>
          </a:p>
        </p:txBody>
      </p:sp>
      <p:sp>
        <p:nvSpPr>
          <p:cNvPr id="31" name="Accolade ouvrante 30"/>
          <p:cNvSpPr/>
          <p:nvPr/>
        </p:nvSpPr>
        <p:spPr>
          <a:xfrm rot="16200000">
            <a:off x="5589097" y="4650967"/>
            <a:ext cx="387256" cy="3051166"/>
          </a:xfrm>
          <a:prstGeom prst="leftBrace">
            <a:avLst/>
          </a:prstGeom>
          <a:ln>
            <a:solidFill>
              <a:srgbClr val="7030A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BE">
              <a:solidFill>
                <a:srgbClr val="7030A0"/>
              </a:solidFill>
            </a:endParaRPr>
          </a:p>
        </p:txBody>
      </p:sp>
      <p:sp>
        <p:nvSpPr>
          <p:cNvPr id="34" name="ZoneTexte 33"/>
          <p:cNvSpPr txBox="1"/>
          <p:nvPr/>
        </p:nvSpPr>
        <p:spPr>
          <a:xfrm>
            <a:off x="3536998" y="6186674"/>
            <a:ext cx="12961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srgbClr val="7030A0"/>
                </a:solidFill>
              </a:rPr>
              <a:t>25.09.2014</a:t>
            </a:r>
            <a:endParaRPr lang="fr-BE" sz="1200" b="1" dirty="0">
              <a:solidFill>
                <a:srgbClr val="00B0F0"/>
              </a:solidFill>
            </a:endParaRPr>
          </a:p>
        </p:txBody>
      </p:sp>
      <p:sp>
        <p:nvSpPr>
          <p:cNvPr id="35" name="ZoneTexte 34"/>
          <p:cNvSpPr txBox="1"/>
          <p:nvPr/>
        </p:nvSpPr>
        <p:spPr>
          <a:xfrm>
            <a:off x="4618253" y="6291780"/>
            <a:ext cx="23264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srgbClr val="7030A0"/>
                </a:solidFill>
              </a:rPr>
              <a:t>Période référence prolongée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14</a:t>
            </a:fld>
            <a:endParaRPr lang="fr-FR"/>
          </a:p>
        </p:txBody>
      </p:sp>
      <p:sp>
        <p:nvSpPr>
          <p:cNvPr id="17" name="Rectangle 16"/>
          <p:cNvSpPr/>
          <p:nvPr/>
        </p:nvSpPr>
        <p:spPr>
          <a:xfrm>
            <a:off x="282633" y="3275216"/>
            <a:ext cx="2735147" cy="657842"/>
          </a:xfrm>
          <a:prstGeom prst="rect">
            <a:avLst/>
          </a:prstGeom>
          <a:solidFill>
            <a:srgbClr val="FFC000"/>
          </a:solidFill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b="1" dirty="0">
                <a:solidFill>
                  <a:schemeClr val="tx1"/>
                </a:solidFill>
              </a:rPr>
              <a:t>TTPMD avec AGR</a:t>
            </a:r>
          </a:p>
        </p:txBody>
      </p:sp>
      <p:cxnSp>
        <p:nvCxnSpPr>
          <p:cNvPr id="49" name="Connecteur droit avec flèche 48"/>
          <p:cNvCxnSpPr/>
          <p:nvPr/>
        </p:nvCxnSpPr>
        <p:spPr>
          <a:xfrm flipH="1" flipV="1">
            <a:off x="3017779" y="2198507"/>
            <a:ext cx="1" cy="1734549"/>
          </a:xfrm>
          <a:prstGeom prst="straightConnector1">
            <a:avLst/>
          </a:prstGeom>
          <a:ln w="38100">
            <a:solidFill>
              <a:schemeClr val="accent6">
                <a:lumMod val="75000"/>
              </a:schemeClr>
            </a:solidFill>
            <a:tailEnd type="arrow"/>
          </a:ln>
          <a:scene3d>
            <a:camera prst="orthographicFront">
              <a:rot lat="0" lon="0" rev="0"/>
            </a:camera>
            <a:lightRig rig="threePt" dir="t"/>
          </a:scene3d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2" name="Connecteur droit avec flèche 51"/>
          <p:cNvCxnSpPr/>
          <p:nvPr/>
        </p:nvCxnSpPr>
        <p:spPr>
          <a:xfrm flipV="1">
            <a:off x="4257140" y="2861199"/>
            <a:ext cx="0" cy="3129987"/>
          </a:xfrm>
          <a:prstGeom prst="straightConnector1">
            <a:avLst/>
          </a:prstGeom>
          <a:ln w="38100">
            <a:solidFill>
              <a:srgbClr val="7030A0"/>
            </a:solidFill>
            <a:prstDash val="sysDash"/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" name="Connecteur droit avec flèche 5"/>
          <p:cNvCxnSpPr/>
          <p:nvPr/>
        </p:nvCxnSpPr>
        <p:spPr>
          <a:xfrm>
            <a:off x="3142941" y="2424600"/>
            <a:ext cx="2050303" cy="1"/>
          </a:xfrm>
          <a:prstGeom prst="straightConnector1">
            <a:avLst/>
          </a:prstGeom>
          <a:ln w="38100">
            <a:solidFill>
              <a:schemeClr val="accent2">
                <a:lumMod val="40000"/>
                <a:lumOff val="6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ZoneTexte 35"/>
          <p:cNvSpPr txBox="1"/>
          <p:nvPr/>
        </p:nvSpPr>
        <p:spPr>
          <a:xfrm>
            <a:off x="3061002" y="2447029"/>
            <a:ext cx="23579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srgbClr val="C00000"/>
                </a:solidFill>
              </a:rPr>
              <a:t>Max. veille naissance</a:t>
            </a:r>
          </a:p>
          <a:p>
            <a:pPr algn="ctr"/>
            <a:r>
              <a:rPr lang="fr-BE" sz="1400" b="1" dirty="0">
                <a:solidFill>
                  <a:srgbClr val="C00000"/>
                </a:solidFill>
              </a:rPr>
              <a:t>enfant suivant</a:t>
            </a:r>
          </a:p>
        </p:txBody>
      </p:sp>
      <p:cxnSp>
        <p:nvCxnSpPr>
          <p:cNvPr id="37" name="Connecteur droit avec flèche 36"/>
          <p:cNvCxnSpPr/>
          <p:nvPr/>
        </p:nvCxnSpPr>
        <p:spPr>
          <a:xfrm>
            <a:off x="755576" y="3933056"/>
            <a:ext cx="7416824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eur droit avec flèche 32"/>
          <p:cNvCxnSpPr/>
          <p:nvPr/>
        </p:nvCxnSpPr>
        <p:spPr>
          <a:xfrm>
            <a:off x="3142941" y="2424600"/>
            <a:ext cx="0" cy="2444560"/>
          </a:xfrm>
          <a:prstGeom prst="straightConnector1">
            <a:avLst/>
          </a:prstGeom>
          <a:ln w="38100">
            <a:solidFill>
              <a:schemeClr val="accent2">
                <a:lumMod val="40000"/>
                <a:lumOff val="60000"/>
              </a:schemeClr>
            </a:solidFill>
            <a:tailEnd type="arrow"/>
          </a:ln>
          <a:scene3d>
            <a:camera prst="orthographicFront">
              <a:rot lat="0" lon="0" rev="0"/>
            </a:camera>
            <a:lightRig rig="threePt" dir="t"/>
          </a:scene3d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8" name="ZoneTexte 37"/>
          <p:cNvSpPr txBox="1"/>
          <p:nvPr/>
        </p:nvSpPr>
        <p:spPr>
          <a:xfrm>
            <a:off x="2206837" y="4869160"/>
            <a:ext cx="18722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Naissance le 25.09.2013</a:t>
            </a:r>
          </a:p>
        </p:txBody>
      </p:sp>
      <p:cxnSp>
        <p:nvCxnSpPr>
          <p:cNvPr id="40" name="Connecteur droit avec flèche 39"/>
          <p:cNvCxnSpPr/>
          <p:nvPr/>
        </p:nvCxnSpPr>
        <p:spPr>
          <a:xfrm>
            <a:off x="5193244" y="2424601"/>
            <a:ext cx="0" cy="2444560"/>
          </a:xfrm>
          <a:prstGeom prst="straightConnector1">
            <a:avLst/>
          </a:prstGeom>
          <a:ln w="38100">
            <a:solidFill>
              <a:schemeClr val="accent2">
                <a:lumMod val="60000"/>
                <a:lumOff val="40000"/>
              </a:schemeClr>
            </a:solidFill>
            <a:tailEnd type="arrow"/>
          </a:ln>
          <a:scene3d>
            <a:camera prst="orthographicFront">
              <a:rot lat="0" lon="0" rev="0"/>
            </a:camera>
            <a:lightRig rig="threePt" dir="t"/>
          </a:scene3d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2" name="ZoneTexte 41"/>
          <p:cNvSpPr txBox="1"/>
          <p:nvPr/>
        </p:nvSpPr>
        <p:spPr>
          <a:xfrm>
            <a:off x="4257140" y="4869161"/>
            <a:ext cx="18722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Naissance le 25.09.2017</a:t>
            </a:r>
          </a:p>
        </p:txBody>
      </p:sp>
      <p:sp>
        <p:nvSpPr>
          <p:cNvPr id="48" name="ZoneTexte 47"/>
          <p:cNvSpPr txBox="1"/>
          <p:nvPr/>
        </p:nvSpPr>
        <p:spPr>
          <a:xfrm>
            <a:off x="5236253" y="2452767"/>
            <a:ext cx="23579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srgbClr val="C00000"/>
                </a:solidFill>
              </a:rPr>
              <a:t>Max. 6 ans</a:t>
            </a:r>
          </a:p>
        </p:txBody>
      </p:sp>
      <p:sp>
        <p:nvSpPr>
          <p:cNvPr id="50" name="Accolade ouvrante 49"/>
          <p:cNvSpPr/>
          <p:nvPr/>
        </p:nvSpPr>
        <p:spPr>
          <a:xfrm rot="16200000">
            <a:off x="4559560" y="3986042"/>
            <a:ext cx="423565" cy="5075236"/>
          </a:xfrm>
          <a:prstGeom prst="leftBrace">
            <a:avLst/>
          </a:prstGeom>
          <a:ln>
            <a:solidFill>
              <a:schemeClr val="accent4">
                <a:lumMod val="75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BE">
              <a:solidFill>
                <a:srgbClr val="7030A0"/>
              </a:solidFill>
            </a:endParaRPr>
          </a:p>
        </p:txBody>
      </p:sp>
      <p:sp>
        <p:nvSpPr>
          <p:cNvPr id="51" name="ZoneTexte 50"/>
          <p:cNvSpPr txBox="1"/>
          <p:nvPr/>
        </p:nvSpPr>
        <p:spPr>
          <a:xfrm>
            <a:off x="1558765" y="6533785"/>
            <a:ext cx="1296144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schemeClr val="accent4">
                    <a:lumMod val="75000"/>
                  </a:schemeClr>
                </a:solidFill>
              </a:rPr>
              <a:t>25.09.2010</a:t>
            </a:r>
            <a:endParaRPr lang="fr-BE" sz="12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53" name="ZoneTexte 52"/>
          <p:cNvSpPr txBox="1"/>
          <p:nvPr/>
        </p:nvSpPr>
        <p:spPr>
          <a:xfrm>
            <a:off x="3472001" y="6581554"/>
            <a:ext cx="25971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schemeClr val="accent4">
                    <a:lumMod val="75000"/>
                  </a:schemeClr>
                </a:solidFill>
              </a:rPr>
              <a:t>Période référence prolongée x 2</a:t>
            </a:r>
          </a:p>
        </p:txBody>
      </p:sp>
      <p:cxnSp>
        <p:nvCxnSpPr>
          <p:cNvPr id="54" name="Connecteur droit avec flèche 53"/>
          <p:cNvCxnSpPr>
            <a:stCxn id="50" idx="0"/>
          </p:cNvCxnSpPr>
          <p:nvPr/>
        </p:nvCxnSpPr>
        <p:spPr>
          <a:xfrm flipV="1">
            <a:off x="2233725" y="2917925"/>
            <a:ext cx="0" cy="3393953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prstDash val="sysDash"/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1" name="ZoneTexte 40"/>
          <p:cNvSpPr txBox="1"/>
          <p:nvPr/>
        </p:nvSpPr>
        <p:spPr>
          <a:xfrm>
            <a:off x="6975662" y="1716383"/>
            <a:ext cx="20389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Veille 6</a:t>
            </a:r>
            <a:r>
              <a:rPr lang="fr-BE" sz="1400" b="1" baseline="30000" dirty="0"/>
              <a:t>ème</a:t>
            </a:r>
            <a:r>
              <a:rPr lang="fr-BE" sz="1400" b="1" dirty="0"/>
              <a:t> anniversaire 24.09.2023</a:t>
            </a:r>
          </a:p>
        </p:txBody>
      </p:sp>
      <p:cxnSp>
        <p:nvCxnSpPr>
          <p:cNvPr id="56" name="Connecteur droit 55"/>
          <p:cNvCxnSpPr/>
          <p:nvPr/>
        </p:nvCxnSpPr>
        <p:spPr>
          <a:xfrm>
            <a:off x="7976920" y="2219931"/>
            <a:ext cx="0" cy="1713125"/>
          </a:xfrm>
          <a:prstGeom prst="line">
            <a:avLst/>
          </a:prstGeom>
          <a:ln w="38100">
            <a:solidFill>
              <a:schemeClr val="accent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necteur droit avec flèche 56"/>
          <p:cNvCxnSpPr/>
          <p:nvPr/>
        </p:nvCxnSpPr>
        <p:spPr>
          <a:xfrm>
            <a:off x="7308304" y="2204864"/>
            <a:ext cx="0" cy="2664296"/>
          </a:xfrm>
          <a:prstGeom prst="straightConnector1">
            <a:avLst/>
          </a:prstGeom>
          <a:ln w="38100">
            <a:solidFill>
              <a:srgbClr val="C00000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8" name="Connecteur droit 57"/>
          <p:cNvCxnSpPr/>
          <p:nvPr/>
        </p:nvCxnSpPr>
        <p:spPr>
          <a:xfrm>
            <a:off x="7273395" y="2821835"/>
            <a:ext cx="2" cy="2869574"/>
          </a:xfrm>
          <a:prstGeom prst="line">
            <a:avLst/>
          </a:prstGeom>
          <a:ln w="38100" cmpd="sng">
            <a:solidFill>
              <a:srgbClr val="008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eur droit 58"/>
          <p:cNvCxnSpPr/>
          <p:nvPr/>
        </p:nvCxnSpPr>
        <p:spPr>
          <a:xfrm>
            <a:off x="5652120" y="2821835"/>
            <a:ext cx="2" cy="2869574"/>
          </a:xfrm>
          <a:prstGeom prst="line">
            <a:avLst/>
          </a:prstGeom>
          <a:ln w="38100" cmpd="sng">
            <a:solidFill>
              <a:srgbClr val="008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necteur droit avec flèche 59"/>
          <p:cNvCxnSpPr/>
          <p:nvPr/>
        </p:nvCxnSpPr>
        <p:spPr>
          <a:xfrm flipV="1">
            <a:off x="5193244" y="2424600"/>
            <a:ext cx="2783676" cy="1"/>
          </a:xfrm>
          <a:prstGeom prst="straightConnector1">
            <a:avLst/>
          </a:prstGeom>
          <a:ln w="38100">
            <a:solidFill>
              <a:schemeClr val="accent2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Accolade ouvrante 60"/>
          <p:cNvSpPr/>
          <p:nvPr/>
        </p:nvSpPr>
        <p:spPr>
          <a:xfrm rot="16200000">
            <a:off x="6115168" y="2990377"/>
            <a:ext cx="280971" cy="2105301"/>
          </a:xfrm>
          <a:prstGeom prst="leftBrace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BE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2" name="ZoneTexte 61"/>
          <p:cNvSpPr txBox="1"/>
          <p:nvPr/>
        </p:nvSpPr>
        <p:spPr>
          <a:xfrm>
            <a:off x="6637612" y="6176549"/>
            <a:ext cx="12961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srgbClr val="7030A0"/>
                </a:solidFill>
              </a:rPr>
              <a:t>24.10.2022</a:t>
            </a:r>
            <a:endParaRPr lang="fr-BE" sz="1200" b="1" dirty="0">
              <a:solidFill>
                <a:srgbClr val="00B0F0"/>
              </a:solidFill>
            </a:endParaRPr>
          </a:p>
        </p:txBody>
      </p:sp>
      <p:sp>
        <p:nvSpPr>
          <p:cNvPr id="63" name="Accolade ouvrante 62"/>
          <p:cNvSpPr/>
          <p:nvPr/>
        </p:nvSpPr>
        <p:spPr>
          <a:xfrm rot="16200000">
            <a:off x="3999380" y="3008191"/>
            <a:ext cx="337425" cy="2050303"/>
          </a:xfrm>
          <a:prstGeom prst="leftBrace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BE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4" name="ZoneTexte 63"/>
          <p:cNvSpPr txBox="1"/>
          <p:nvPr/>
        </p:nvSpPr>
        <p:spPr>
          <a:xfrm>
            <a:off x="6660889" y="6533785"/>
            <a:ext cx="1296144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schemeClr val="accent4">
                    <a:lumMod val="75000"/>
                  </a:schemeClr>
                </a:solidFill>
              </a:rPr>
              <a:t>24.10.2022</a:t>
            </a:r>
            <a:endParaRPr lang="fr-BE" sz="12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5" name="ZoneTexte 14"/>
          <p:cNvSpPr txBox="1"/>
          <p:nvPr/>
        </p:nvSpPr>
        <p:spPr>
          <a:xfrm>
            <a:off x="6372200" y="4869160"/>
            <a:ext cx="18722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DA le 25.10.2022</a:t>
            </a:r>
          </a:p>
          <a:p>
            <a:pPr algn="ctr"/>
            <a:r>
              <a:rPr lang="fr-BE" sz="1400" b="1" dirty="0"/>
              <a:t>Agée de 34 ans</a:t>
            </a:r>
          </a:p>
        </p:txBody>
      </p:sp>
      <p:sp>
        <p:nvSpPr>
          <p:cNvPr id="45" name="ZoneTexte 44"/>
          <p:cNvSpPr txBox="1"/>
          <p:nvPr/>
        </p:nvSpPr>
        <p:spPr>
          <a:xfrm>
            <a:off x="5225622" y="4236161"/>
            <a:ext cx="206006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Durée de l’évènement </a:t>
            </a:r>
          </a:p>
          <a:p>
            <a:pPr algn="ctr"/>
            <a:r>
              <a:rPr lang="fr-BE" sz="1400" b="1" dirty="0"/>
              <a:t>= 5 ans, 1 mois </a:t>
            </a:r>
          </a:p>
          <a:p>
            <a:pPr algn="ctr"/>
            <a:endParaRPr lang="fr-BE" sz="1400" b="1" dirty="0"/>
          </a:p>
        </p:txBody>
      </p:sp>
      <p:sp>
        <p:nvSpPr>
          <p:cNvPr id="23" name="ZoneTexte 22"/>
          <p:cNvSpPr txBox="1"/>
          <p:nvPr/>
        </p:nvSpPr>
        <p:spPr>
          <a:xfrm>
            <a:off x="3142941" y="4221308"/>
            <a:ext cx="20600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Durée de l’évènement </a:t>
            </a:r>
          </a:p>
          <a:p>
            <a:pPr algn="ctr"/>
            <a:r>
              <a:rPr lang="fr-BE" sz="1400" b="1" dirty="0"/>
              <a:t>= 4 ans</a:t>
            </a:r>
          </a:p>
        </p:txBody>
      </p:sp>
    </p:spTree>
    <p:extLst>
      <p:ext uri="{BB962C8B-B14F-4D97-AF65-F5344CB8AC3E}">
        <p14:creationId xmlns:p14="http://schemas.microsoft.com/office/powerpoint/2010/main" val="3600989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00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00"/>
                            </p:stCondLst>
                            <p:childTnLst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3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000"/>
                            </p:stCondLst>
                            <p:childTnLst>
                              <p:par>
                                <p:cTn id="6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200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7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1000"/>
                            </p:stCondLst>
                            <p:childTnLst>
                              <p:par>
                                <p:cTn id="10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1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/>
      <p:bldP spid="26" grpId="0"/>
      <p:bldP spid="27" grpId="0"/>
      <p:bldP spid="31" grpId="0" animBg="1"/>
      <p:bldP spid="34" grpId="0"/>
      <p:bldP spid="35" grpId="0"/>
      <p:bldP spid="36" grpId="0"/>
      <p:bldP spid="38" grpId="0"/>
      <p:bldP spid="42" grpId="0"/>
      <p:bldP spid="48" grpId="0"/>
      <p:bldP spid="50" grpId="0" animBg="1"/>
      <p:bldP spid="51" grpId="0"/>
      <p:bldP spid="53" grpId="0"/>
      <p:bldP spid="41" grpId="0"/>
      <p:bldP spid="61" grpId="0" animBg="1"/>
      <p:bldP spid="62" grpId="0"/>
      <p:bldP spid="63" grpId="0" animBg="1"/>
      <p:bldP spid="64" grpId="0"/>
      <p:bldP spid="45" grpId="0"/>
      <p:bldP spid="2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r"/>
            <a:r>
              <a:rPr lang="fr-BE" sz="4000" b="1" i="1" dirty="0">
                <a:cs typeface="Times New Roman" pitchFamily="18" charset="0"/>
              </a:rPr>
              <a:t>3.1 Art. 42 &amp; allocations d’insertion</a:t>
            </a:r>
            <a:endParaRPr lang="fr-FR" sz="4000" b="1" i="1" dirty="0">
              <a:cs typeface="Times New Roman" pitchFamily="18" charset="0"/>
            </a:endParaRPr>
          </a:p>
        </p:txBody>
      </p:sp>
      <p:sp>
        <p:nvSpPr>
          <p:cNvPr id="8" name="Espace réservé du contenu 7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fr-BE" dirty="0">
                <a:cs typeface="Times New Roman" pitchFamily="18" charset="0"/>
              </a:rPr>
              <a:t>L’intéressé doit remplir 2 conditions :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fr-BE" b="1" dirty="0">
                <a:cs typeface="Times New Roman" pitchFamily="18" charset="0"/>
              </a:rPr>
              <a:t>1. &lt; 25 ans à la DA </a:t>
            </a:r>
            <a:r>
              <a:rPr lang="fr-BE" b="1" u="sng" dirty="0">
                <a:cs typeface="Times New Roman" pitchFamily="18" charset="0"/>
              </a:rPr>
              <a:t>ou</a:t>
            </a:r>
            <a:r>
              <a:rPr lang="fr-BE" b="1" dirty="0">
                <a:cs typeface="Times New Roman" pitchFamily="18" charset="0"/>
              </a:rPr>
              <a:t> être admissible </a:t>
            </a:r>
            <a:r>
              <a:rPr lang="fr-BE" b="1" dirty="0">
                <a:solidFill>
                  <a:srgbClr val="C00000"/>
                </a:solidFill>
                <a:cs typeface="Times New Roman" pitchFamily="18" charset="0"/>
              </a:rPr>
              <a:t>art. 42.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fr-BE" b="1" dirty="0">
                <a:cs typeface="Times New Roman" pitchFamily="18" charset="0"/>
              </a:rPr>
              <a:t>2. Avoir encore du crédit</a:t>
            </a:r>
            <a:r>
              <a:rPr lang="fr-BE" b="1" dirty="0">
                <a:cs typeface="Times New Roman" pitchFamily="18" charset="0"/>
                <a:sym typeface="Wingdings" panose="05000000000000000000" pitchFamily="2" charset="2"/>
              </a:rPr>
              <a:t> </a:t>
            </a:r>
            <a:r>
              <a:rPr lang="fr-BE" b="1" dirty="0">
                <a:solidFill>
                  <a:srgbClr val="C00000"/>
                </a:solidFill>
                <a:cs typeface="Times New Roman" pitchFamily="18" charset="0"/>
                <a:sym typeface="Wingdings" panose="05000000000000000000" pitchFamily="2" charset="2"/>
              </a:rPr>
              <a:t>art. 63.</a:t>
            </a:r>
          </a:p>
          <a:p>
            <a:pPr marL="0" indent="0">
              <a:spcBef>
                <a:spcPts val="600"/>
              </a:spcBef>
              <a:buNone/>
            </a:pPr>
            <a:endParaRPr lang="fr-BE" sz="1800" dirty="0">
              <a:cs typeface="Times New Roman" pitchFamily="18" charset="0"/>
              <a:sym typeface="Wingdings" panose="05000000000000000000" pitchFamily="2" charset="2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fr-BE" dirty="0">
                <a:cs typeface="Times New Roman" pitchFamily="18" charset="0"/>
                <a:sym typeface="Wingdings" panose="05000000000000000000" pitchFamily="2" charset="2"/>
              </a:rPr>
              <a:t>Ces conditions doivent être analysées :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BE" dirty="0">
                <a:cs typeface="Times New Roman" pitchFamily="18" charset="0"/>
                <a:sym typeface="Wingdings" panose="05000000000000000000" pitchFamily="2" charset="2"/>
              </a:rPr>
              <a:t>Lors de chaque DA </a:t>
            </a:r>
            <a:r>
              <a:rPr lang="fr-BE" sz="2800" dirty="0">
                <a:cs typeface="Times New Roman" pitchFamily="18" charset="0"/>
                <a:sym typeface="Wingdings" panose="05000000000000000000" pitchFamily="2" charset="2"/>
              </a:rPr>
              <a:t>(après une interruption, pour un droit additionnel, etc….).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BE" dirty="0">
                <a:cs typeface="Times New Roman" pitchFamily="18" charset="0"/>
                <a:sym typeface="Wingdings" panose="05000000000000000000" pitchFamily="2" charset="2"/>
              </a:rPr>
              <a:t>En cas de modification de situation familiale.</a:t>
            </a:r>
            <a:endParaRPr lang="fr-FR" dirty="0">
              <a:sym typeface="Wingdings" panose="05000000000000000000" pitchFamily="2" charset="2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54114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ZoneTexte 50"/>
          <p:cNvSpPr txBox="1"/>
          <p:nvPr/>
        </p:nvSpPr>
        <p:spPr>
          <a:xfrm>
            <a:off x="4835016" y="4653480"/>
            <a:ext cx="2520280" cy="64633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810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BE" b="1" i="1" dirty="0"/>
              <a:t>Droit de base </a:t>
            </a:r>
          </a:p>
          <a:p>
            <a:pPr algn="ctr"/>
            <a:r>
              <a:rPr lang="fr-BE" b="1" i="1" dirty="0"/>
              <a:t>WA3</a:t>
            </a: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fr-BE" sz="4000" b="1" i="1" dirty="0"/>
              <a:t>3.2 Art. 42 &amp; allocation d’insertion – exemple 1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</p:txBody>
      </p:sp>
      <p:cxnSp>
        <p:nvCxnSpPr>
          <p:cNvPr id="14" name="Connecteur droit avec flèche 13"/>
          <p:cNvCxnSpPr/>
          <p:nvPr/>
        </p:nvCxnSpPr>
        <p:spPr>
          <a:xfrm>
            <a:off x="1234242" y="1154677"/>
            <a:ext cx="0" cy="4628171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9" name="ZoneTexte 28"/>
          <p:cNvSpPr txBox="1"/>
          <p:nvPr/>
        </p:nvSpPr>
        <p:spPr>
          <a:xfrm>
            <a:off x="6743933" y="3946338"/>
            <a:ext cx="1291314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schemeClr val="tx2"/>
                </a:solidFill>
              </a:rPr>
              <a:t>30.11.2024</a:t>
            </a:r>
          </a:p>
        </p:txBody>
      </p:sp>
      <p:cxnSp>
        <p:nvCxnSpPr>
          <p:cNvPr id="40" name="Connecteur droit avec flèche 39"/>
          <p:cNvCxnSpPr/>
          <p:nvPr/>
        </p:nvCxnSpPr>
        <p:spPr>
          <a:xfrm flipV="1">
            <a:off x="7355230" y="4237514"/>
            <a:ext cx="0" cy="1049099"/>
          </a:xfrm>
          <a:prstGeom prst="straightConnector1">
            <a:avLst/>
          </a:prstGeom>
          <a:ln w="38100">
            <a:solidFill>
              <a:schemeClr val="tx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2" name="Espace réservé du numéro de diapositive 4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16</a:t>
            </a:fld>
            <a:endParaRPr lang="fr-FR"/>
          </a:p>
        </p:txBody>
      </p:sp>
      <p:sp>
        <p:nvSpPr>
          <p:cNvPr id="32" name="ZoneTexte 31"/>
          <p:cNvSpPr txBox="1"/>
          <p:nvPr/>
        </p:nvSpPr>
        <p:spPr>
          <a:xfrm>
            <a:off x="4252960" y="3946339"/>
            <a:ext cx="12174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schemeClr val="tx2"/>
                </a:solidFill>
              </a:rPr>
              <a:t>01.12.2021</a:t>
            </a:r>
          </a:p>
        </p:txBody>
      </p:sp>
      <p:cxnSp>
        <p:nvCxnSpPr>
          <p:cNvPr id="35" name="Connecteur droit avec flèche 34"/>
          <p:cNvCxnSpPr/>
          <p:nvPr/>
        </p:nvCxnSpPr>
        <p:spPr>
          <a:xfrm flipV="1">
            <a:off x="4827021" y="4220851"/>
            <a:ext cx="0" cy="1072540"/>
          </a:xfrm>
          <a:prstGeom prst="straightConnector1">
            <a:avLst/>
          </a:prstGeom>
          <a:ln w="38100">
            <a:solidFill>
              <a:schemeClr val="tx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" name="Connecteur droit avec flèche 4"/>
          <p:cNvCxnSpPr/>
          <p:nvPr/>
        </p:nvCxnSpPr>
        <p:spPr>
          <a:xfrm>
            <a:off x="4644051" y="4409730"/>
            <a:ext cx="0" cy="1261715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ZoneTexte 17"/>
          <p:cNvSpPr txBox="1"/>
          <p:nvPr/>
        </p:nvSpPr>
        <p:spPr>
          <a:xfrm>
            <a:off x="3682165" y="5690078"/>
            <a:ext cx="1872208" cy="523220"/>
          </a:xfrm>
          <a:prstGeom prst="rect">
            <a:avLst/>
          </a:prstGeom>
          <a:noFill/>
          <a:ln w="63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r-BE" sz="1400" dirty="0"/>
              <a:t>03.11.2021</a:t>
            </a:r>
          </a:p>
          <a:p>
            <a:pPr algn="ctr"/>
            <a:r>
              <a:rPr lang="fr-BE" sz="1400" dirty="0"/>
              <a:t>= 30</a:t>
            </a:r>
            <a:r>
              <a:rPr lang="fr-BE" sz="1400" baseline="30000" dirty="0"/>
              <a:t>ème</a:t>
            </a:r>
            <a:r>
              <a:rPr lang="fr-BE" sz="1400" dirty="0"/>
              <a:t>  anniversaire</a:t>
            </a:r>
          </a:p>
        </p:txBody>
      </p:sp>
      <p:sp>
        <p:nvSpPr>
          <p:cNvPr id="24" name="ZoneTexte 23"/>
          <p:cNvSpPr txBox="1"/>
          <p:nvPr/>
        </p:nvSpPr>
        <p:spPr>
          <a:xfrm>
            <a:off x="1226461" y="2128012"/>
            <a:ext cx="2735888" cy="646331"/>
          </a:xfrm>
          <a:prstGeom prst="rect">
            <a:avLst/>
          </a:prstGeom>
          <a:solidFill>
            <a:srgbClr val="FFC000"/>
          </a:solidFill>
          <a:ln w="38100">
            <a:solidFill>
              <a:srgbClr val="FF9933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BE" b="1" i="1" dirty="0"/>
              <a:t>Droit de base </a:t>
            </a:r>
          </a:p>
          <a:p>
            <a:pPr algn="ctr"/>
            <a:r>
              <a:rPr lang="fr-BE" b="1" i="1" dirty="0"/>
              <a:t>WB3</a:t>
            </a:r>
          </a:p>
        </p:txBody>
      </p:sp>
      <p:sp>
        <p:nvSpPr>
          <p:cNvPr id="25" name="ZoneTexte 24"/>
          <p:cNvSpPr txBox="1"/>
          <p:nvPr/>
        </p:nvSpPr>
        <p:spPr>
          <a:xfrm>
            <a:off x="3432597" y="1318171"/>
            <a:ext cx="11856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13.11.2019</a:t>
            </a:r>
          </a:p>
        </p:txBody>
      </p:sp>
      <p:cxnSp>
        <p:nvCxnSpPr>
          <p:cNvPr id="26" name="Connecteur droit avec flèche 25"/>
          <p:cNvCxnSpPr/>
          <p:nvPr/>
        </p:nvCxnSpPr>
        <p:spPr>
          <a:xfrm flipV="1">
            <a:off x="3962349" y="1628641"/>
            <a:ext cx="0" cy="1156796"/>
          </a:xfrm>
          <a:prstGeom prst="straightConnector1">
            <a:avLst/>
          </a:prstGeom>
          <a:ln w="38100">
            <a:solidFill>
              <a:srgbClr val="FF9933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7" name="Connecteur droit avec flèche 26"/>
          <p:cNvCxnSpPr/>
          <p:nvPr/>
        </p:nvCxnSpPr>
        <p:spPr>
          <a:xfrm flipV="1">
            <a:off x="1234133" y="1616476"/>
            <a:ext cx="0" cy="1168961"/>
          </a:xfrm>
          <a:prstGeom prst="straightConnector1">
            <a:avLst/>
          </a:prstGeom>
          <a:ln w="38100">
            <a:solidFill>
              <a:srgbClr val="FF9933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0" name="ZoneTexte 29"/>
          <p:cNvSpPr txBox="1"/>
          <p:nvPr/>
        </p:nvSpPr>
        <p:spPr>
          <a:xfrm>
            <a:off x="633721" y="1321443"/>
            <a:ext cx="12213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14.11.2016</a:t>
            </a:r>
          </a:p>
        </p:txBody>
      </p:sp>
      <p:sp>
        <p:nvSpPr>
          <p:cNvPr id="41" name="ZoneTexte 40"/>
          <p:cNvSpPr txBox="1"/>
          <p:nvPr/>
        </p:nvSpPr>
        <p:spPr>
          <a:xfrm>
            <a:off x="4963280" y="5729043"/>
            <a:ext cx="18722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Le 25.10.2022</a:t>
            </a:r>
          </a:p>
          <a:p>
            <a:pPr algn="ctr"/>
            <a:r>
              <a:rPr lang="fr-BE" sz="1100" b="1" dirty="0">
                <a:sym typeface="Wingdings" panose="05000000000000000000" pitchFamily="2" charset="2"/>
              </a:rPr>
              <a:t></a:t>
            </a:r>
            <a:r>
              <a:rPr lang="fr-BE" sz="1400" b="1" dirty="0">
                <a:sym typeface="Wingdings" panose="05000000000000000000" pitchFamily="2" charset="2"/>
              </a:rPr>
              <a:t> </a:t>
            </a:r>
            <a:r>
              <a:rPr lang="fr-BE" sz="1400" b="1" dirty="0"/>
              <a:t>WA3 ?</a:t>
            </a:r>
          </a:p>
        </p:txBody>
      </p:sp>
      <p:sp>
        <p:nvSpPr>
          <p:cNvPr id="43" name="ZoneTexte 42"/>
          <p:cNvSpPr txBox="1"/>
          <p:nvPr/>
        </p:nvSpPr>
        <p:spPr>
          <a:xfrm>
            <a:off x="278240" y="2477660"/>
            <a:ext cx="9361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WB3</a:t>
            </a:r>
          </a:p>
        </p:txBody>
      </p:sp>
      <p:sp>
        <p:nvSpPr>
          <p:cNvPr id="44" name="ZoneTexte 43"/>
          <p:cNvSpPr txBox="1"/>
          <p:nvPr/>
        </p:nvSpPr>
        <p:spPr>
          <a:xfrm>
            <a:off x="268445" y="4979376"/>
            <a:ext cx="9361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WA3</a:t>
            </a:r>
          </a:p>
        </p:txBody>
      </p:sp>
      <p:sp>
        <p:nvSpPr>
          <p:cNvPr id="46" name="ZoneTexte 45"/>
          <p:cNvSpPr txBox="1"/>
          <p:nvPr/>
        </p:nvSpPr>
        <p:spPr>
          <a:xfrm>
            <a:off x="103210" y="5827830"/>
            <a:ext cx="25191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1</a:t>
            </a:r>
            <a:r>
              <a:rPr lang="fr-BE" sz="1400" b="1" baseline="30000" dirty="0"/>
              <a:t>ère</a:t>
            </a:r>
            <a:r>
              <a:rPr lang="fr-BE" sz="1400" b="1" dirty="0"/>
              <a:t> DA : WB3 le 14.11.2016</a:t>
            </a:r>
          </a:p>
          <a:p>
            <a:pPr algn="ctr"/>
            <a:r>
              <a:rPr lang="fr-BE" sz="1400" b="1" dirty="0"/>
              <a:t>Né le 03.11.1991</a:t>
            </a:r>
          </a:p>
        </p:txBody>
      </p:sp>
      <p:sp>
        <p:nvSpPr>
          <p:cNvPr id="53" name="ZoneTexte 52"/>
          <p:cNvSpPr txBox="1"/>
          <p:nvPr/>
        </p:nvSpPr>
        <p:spPr>
          <a:xfrm>
            <a:off x="5405362" y="3416774"/>
            <a:ext cx="10087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srgbClr val="008000"/>
                </a:solidFill>
              </a:rPr>
              <a:t>24.10.2022</a:t>
            </a:r>
          </a:p>
        </p:txBody>
      </p:sp>
      <p:sp>
        <p:nvSpPr>
          <p:cNvPr id="54" name="ZoneTexte 53"/>
          <p:cNvSpPr txBox="1"/>
          <p:nvPr/>
        </p:nvSpPr>
        <p:spPr>
          <a:xfrm>
            <a:off x="3713062" y="3050733"/>
            <a:ext cx="20979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srgbClr val="008000"/>
                </a:solidFill>
              </a:rPr>
              <a:t>Période réf. art. 42</a:t>
            </a:r>
          </a:p>
        </p:txBody>
      </p:sp>
      <p:sp>
        <p:nvSpPr>
          <p:cNvPr id="56" name="Accolade ouvrante 55"/>
          <p:cNvSpPr/>
          <p:nvPr/>
        </p:nvSpPr>
        <p:spPr>
          <a:xfrm rot="16200000">
            <a:off x="4501644" y="2104241"/>
            <a:ext cx="186392" cy="2542651"/>
          </a:xfrm>
          <a:prstGeom prst="leftBrace">
            <a:avLst/>
          </a:prstGeom>
          <a:ln>
            <a:solidFill>
              <a:srgbClr val="008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BE">
              <a:solidFill>
                <a:srgbClr val="008000"/>
              </a:solidFill>
            </a:endParaRPr>
          </a:p>
        </p:txBody>
      </p:sp>
      <p:sp>
        <p:nvSpPr>
          <p:cNvPr id="57" name="ZoneTexte 56"/>
          <p:cNvSpPr txBox="1"/>
          <p:nvPr/>
        </p:nvSpPr>
        <p:spPr>
          <a:xfrm>
            <a:off x="2818932" y="3422068"/>
            <a:ext cx="11422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srgbClr val="008000"/>
                </a:solidFill>
              </a:rPr>
              <a:t>25.10.2019</a:t>
            </a:r>
            <a:endParaRPr lang="fr-BE" sz="1200" b="1" dirty="0">
              <a:solidFill>
                <a:srgbClr val="008000"/>
              </a:solidFill>
            </a:endParaRPr>
          </a:p>
        </p:txBody>
      </p:sp>
      <p:cxnSp>
        <p:nvCxnSpPr>
          <p:cNvPr id="58" name="Connecteur droit 57"/>
          <p:cNvCxnSpPr/>
          <p:nvPr/>
        </p:nvCxnSpPr>
        <p:spPr>
          <a:xfrm>
            <a:off x="5866444" y="1762430"/>
            <a:ext cx="0" cy="1596080"/>
          </a:xfrm>
          <a:prstGeom prst="line">
            <a:avLst/>
          </a:prstGeom>
          <a:ln w="38100" cmpd="sng">
            <a:solidFill>
              <a:srgbClr val="008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ZoneTexte 46"/>
          <p:cNvSpPr txBox="1"/>
          <p:nvPr/>
        </p:nvSpPr>
        <p:spPr>
          <a:xfrm>
            <a:off x="4973482" y="6200445"/>
            <a:ext cx="18722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≥ 25 ans </a:t>
            </a:r>
            <a:r>
              <a:rPr lang="fr-BE" sz="1100" b="1" dirty="0">
                <a:sym typeface="Wingdings" panose="05000000000000000000" pitchFamily="2" charset="2"/>
              </a:rPr>
              <a:t> </a:t>
            </a:r>
            <a:r>
              <a:rPr lang="fr-BE" sz="1400" b="1" dirty="0">
                <a:sym typeface="Wingdings" panose="05000000000000000000" pitchFamily="2" charset="2"/>
              </a:rPr>
              <a:t>Art. 42</a:t>
            </a:r>
            <a:r>
              <a:rPr lang="fr-BE" sz="1400" b="1" dirty="0"/>
              <a:t> ?</a:t>
            </a:r>
          </a:p>
        </p:txBody>
      </p:sp>
      <p:cxnSp>
        <p:nvCxnSpPr>
          <p:cNvPr id="48" name="Connecteur droit avec flèche 47"/>
          <p:cNvCxnSpPr/>
          <p:nvPr/>
        </p:nvCxnSpPr>
        <p:spPr>
          <a:xfrm flipH="1" flipV="1">
            <a:off x="7827561" y="1600200"/>
            <a:ext cx="11206" cy="4069169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9" name="ZoneTexte 48"/>
          <p:cNvSpPr txBox="1"/>
          <p:nvPr/>
        </p:nvSpPr>
        <p:spPr>
          <a:xfrm>
            <a:off x="6902663" y="5727063"/>
            <a:ext cx="18722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100" b="1" dirty="0">
                <a:sym typeface="Wingdings" panose="05000000000000000000" pitchFamily="2" charset="2"/>
              </a:rPr>
              <a:t></a:t>
            </a:r>
            <a:r>
              <a:rPr lang="fr-BE" sz="1400" b="1" dirty="0">
                <a:sym typeface="Wingdings" panose="05000000000000000000" pitchFamily="2" charset="2"/>
              </a:rPr>
              <a:t> </a:t>
            </a:r>
            <a:r>
              <a:rPr lang="fr-BE" sz="1400" b="1" dirty="0"/>
              <a:t>WB3 ?</a:t>
            </a:r>
          </a:p>
        </p:txBody>
      </p:sp>
      <p:sp>
        <p:nvSpPr>
          <p:cNvPr id="39" name="ZoneTexte 38"/>
          <p:cNvSpPr txBox="1"/>
          <p:nvPr/>
        </p:nvSpPr>
        <p:spPr>
          <a:xfrm>
            <a:off x="6344564" y="1814494"/>
            <a:ext cx="162584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1400" b="1" i="1" dirty="0"/>
              <a:t>Même si adm. art. 42, le « crédit art. 63 » est épuisé.</a:t>
            </a:r>
          </a:p>
        </p:txBody>
      </p:sp>
      <p:sp>
        <p:nvSpPr>
          <p:cNvPr id="52" name="ZoneTexte 51"/>
          <p:cNvSpPr txBox="1"/>
          <p:nvPr/>
        </p:nvSpPr>
        <p:spPr>
          <a:xfrm>
            <a:off x="1230766" y="2127350"/>
            <a:ext cx="2730424" cy="646331"/>
          </a:xfrm>
          <a:prstGeom prst="rect">
            <a:avLst/>
          </a:prstGeom>
          <a:solidFill>
            <a:srgbClr val="FFC000"/>
          </a:solidFill>
          <a:ln w="38100">
            <a:solidFill>
              <a:srgbClr val="FF9933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BE" b="1" i="1" dirty="0"/>
              <a:t>Indemnisé</a:t>
            </a:r>
          </a:p>
          <a:p>
            <a:pPr algn="ctr"/>
            <a:r>
              <a:rPr lang="fr-BE" b="1" i="1" dirty="0"/>
              <a:t>WB3</a:t>
            </a:r>
          </a:p>
        </p:txBody>
      </p:sp>
      <p:cxnSp>
        <p:nvCxnSpPr>
          <p:cNvPr id="6" name="Connecteur droit avec flèche 5"/>
          <p:cNvCxnSpPr/>
          <p:nvPr/>
        </p:nvCxnSpPr>
        <p:spPr>
          <a:xfrm>
            <a:off x="736497" y="2795613"/>
            <a:ext cx="7416824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ZoneTexte 58"/>
          <p:cNvSpPr txBox="1"/>
          <p:nvPr/>
        </p:nvSpPr>
        <p:spPr>
          <a:xfrm>
            <a:off x="5903937" y="4650971"/>
            <a:ext cx="1451228" cy="64633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810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BE" b="1" i="1" dirty="0"/>
              <a:t>Droit             restant </a:t>
            </a:r>
          </a:p>
        </p:txBody>
      </p:sp>
      <p:cxnSp>
        <p:nvCxnSpPr>
          <p:cNvPr id="17" name="Connecteur droit avec flèche 16"/>
          <p:cNvCxnSpPr/>
          <p:nvPr/>
        </p:nvCxnSpPr>
        <p:spPr>
          <a:xfrm>
            <a:off x="760513" y="5305876"/>
            <a:ext cx="7416824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eur droit 54"/>
          <p:cNvCxnSpPr/>
          <p:nvPr/>
        </p:nvCxnSpPr>
        <p:spPr>
          <a:xfrm>
            <a:off x="3315696" y="1791522"/>
            <a:ext cx="7995" cy="1523458"/>
          </a:xfrm>
          <a:prstGeom prst="line">
            <a:avLst/>
          </a:prstGeom>
          <a:ln w="38100" cmpd="sng">
            <a:solidFill>
              <a:srgbClr val="008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ZoneTexte 36"/>
          <p:cNvSpPr txBox="1"/>
          <p:nvPr/>
        </p:nvSpPr>
        <p:spPr>
          <a:xfrm>
            <a:off x="5828168" y="5338796"/>
            <a:ext cx="14008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100" b="1" dirty="0">
                <a:sym typeface="Wingdings" panose="05000000000000000000" pitchFamily="2" charset="2"/>
              </a:rPr>
              <a:t></a:t>
            </a:r>
            <a:r>
              <a:rPr lang="fr-BE" sz="1400" b="1" dirty="0">
                <a:sym typeface="Wingdings" panose="05000000000000000000" pitchFamily="2" charset="2"/>
              </a:rPr>
              <a:t> </a:t>
            </a:r>
            <a:r>
              <a:rPr lang="fr-BE" sz="1400" b="1" dirty="0"/>
              <a:t>Adm. art. 42 </a:t>
            </a:r>
          </a:p>
        </p:txBody>
      </p:sp>
      <p:cxnSp>
        <p:nvCxnSpPr>
          <p:cNvPr id="38" name="Connecteur droit avec flèche 37"/>
          <p:cNvCxnSpPr/>
          <p:nvPr/>
        </p:nvCxnSpPr>
        <p:spPr>
          <a:xfrm>
            <a:off x="5895942" y="1625948"/>
            <a:ext cx="0" cy="4104000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5535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"/>
                            </p:stCondLst>
                            <p:childTnLst>
                              <p:par>
                                <p:cTn id="4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000"/>
                            </p:stCondLst>
                            <p:childTnLst>
                              <p:par>
                                <p:cTn id="5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7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3000"/>
                            </p:stCondLst>
                            <p:childTnLst>
                              <p:par>
                                <p:cTn id="5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1000"/>
                            </p:stCondLst>
                            <p:childTnLst>
                              <p:par>
                                <p:cTn id="9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0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animBg="1"/>
      <p:bldP spid="29" grpId="0"/>
      <p:bldP spid="32" grpId="0"/>
      <p:bldP spid="18" grpId="0"/>
      <p:bldP spid="24" grpId="0" animBg="1"/>
      <p:bldP spid="25" grpId="0"/>
      <p:bldP spid="30" grpId="0"/>
      <p:bldP spid="41" grpId="0"/>
      <p:bldP spid="44" grpId="0"/>
      <p:bldP spid="53" grpId="0"/>
      <p:bldP spid="54" grpId="0"/>
      <p:bldP spid="56" grpId="0" animBg="1"/>
      <p:bldP spid="57" grpId="0"/>
      <p:bldP spid="47" grpId="0"/>
      <p:bldP spid="49" grpId="0"/>
      <p:bldP spid="39" grpId="0"/>
      <p:bldP spid="52" grpId="0" animBg="1"/>
      <p:bldP spid="59" grpId="0" animBg="1"/>
      <p:bldP spid="3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ZoneTexte 31"/>
          <p:cNvSpPr txBox="1"/>
          <p:nvPr/>
        </p:nvSpPr>
        <p:spPr>
          <a:xfrm>
            <a:off x="5270022" y="3898578"/>
            <a:ext cx="12174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schemeClr val="tx2"/>
                </a:solidFill>
              </a:rPr>
              <a:t>01.04.2021</a:t>
            </a:r>
          </a:p>
        </p:txBody>
      </p:sp>
      <p:sp>
        <p:nvSpPr>
          <p:cNvPr id="18" name="ZoneTexte 17"/>
          <p:cNvSpPr txBox="1"/>
          <p:nvPr/>
        </p:nvSpPr>
        <p:spPr>
          <a:xfrm>
            <a:off x="4095285" y="3895135"/>
            <a:ext cx="1872208" cy="523220"/>
          </a:xfrm>
          <a:prstGeom prst="rect">
            <a:avLst/>
          </a:prstGeom>
          <a:noFill/>
          <a:ln w="63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r-BE" sz="1400" dirty="0"/>
              <a:t>08.03.2021</a:t>
            </a:r>
          </a:p>
          <a:p>
            <a:pPr algn="ctr"/>
            <a:r>
              <a:rPr lang="fr-BE" sz="1400" dirty="0"/>
              <a:t>= 30</a:t>
            </a:r>
            <a:r>
              <a:rPr lang="fr-BE" sz="1400" baseline="30000" dirty="0"/>
              <a:t>ème</a:t>
            </a:r>
            <a:r>
              <a:rPr lang="fr-BE" sz="1400" dirty="0"/>
              <a:t>  anniversaire</a:t>
            </a: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fr-BE" sz="4000" b="1" i="1" dirty="0"/>
              <a:t>3.2 Art. 42 &amp; allocation d’insertion –Exemple 2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</p:txBody>
      </p:sp>
      <p:cxnSp>
        <p:nvCxnSpPr>
          <p:cNvPr id="14" name="Connecteur droit avec flèche 13"/>
          <p:cNvCxnSpPr/>
          <p:nvPr/>
        </p:nvCxnSpPr>
        <p:spPr>
          <a:xfrm>
            <a:off x="1232681" y="1173207"/>
            <a:ext cx="0" cy="4628171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9" name="ZoneTexte 28"/>
          <p:cNvSpPr txBox="1"/>
          <p:nvPr/>
        </p:nvSpPr>
        <p:spPr>
          <a:xfrm>
            <a:off x="7379562" y="3919179"/>
            <a:ext cx="1291314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schemeClr val="tx2"/>
                </a:solidFill>
              </a:rPr>
              <a:t>31.03.2024</a:t>
            </a:r>
          </a:p>
        </p:txBody>
      </p:sp>
      <p:cxnSp>
        <p:nvCxnSpPr>
          <p:cNvPr id="40" name="Connecteur droit avec flèche 39"/>
          <p:cNvCxnSpPr/>
          <p:nvPr/>
        </p:nvCxnSpPr>
        <p:spPr>
          <a:xfrm flipV="1">
            <a:off x="8025219" y="4233141"/>
            <a:ext cx="0" cy="1049099"/>
          </a:xfrm>
          <a:prstGeom prst="straightConnector1">
            <a:avLst/>
          </a:prstGeom>
          <a:ln w="38100">
            <a:solidFill>
              <a:schemeClr val="tx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2" name="Espace réservé du numéro de diapositive 4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17</a:t>
            </a:fld>
            <a:endParaRPr lang="fr-FR"/>
          </a:p>
        </p:txBody>
      </p:sp>
      <p:cxnSp>
        <p:nvCxnSpPr>
          <p:cNvPr id="35" name="Connecteur droit avec flèche 34"/>
          <p:cNvCxnSpPr/>
          <p:nvPr/>
        </p:nvCxnSpPr>
        <p:spPr>
          <a:xfrm flipV="1">
            <a:off x="5724131" y="4206355"/>
            <a:ext cx="0" cy="1072540"/>
          </a:xfrm>
          <a:prstGeom prst="straightConnector1">
            <a:avLst/>
          </a:prstGeom>
          <a:ln w="38100">
            <a:solidFill>
              <a:schemeClr val="tx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" name="Connecteur droit avec flèche 4"/>
          <p:cNvCxnSpPr/>
          <p:nvPr/>
        </p:nvCxnSpPr>
        <p:spPr>
          <a:xfrm>
            <a:off x="5652120" y="4405767"/>
            <a:ext cx="0" cy="1261715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ZoneTexte 23"/>
          <p:cNvSpPr txBox="1"/>
          <p:nvPr/>
        </p:nvSpPr>
        <p:spPr>
          <a:xfrm>
            <a:off x="1535924" y="2139106"/>
            <a:ext cx="1710993" cy="646331"/>
          </a:xfrm>
          <a:prstGeom prst="rect">
            <a:avLst/>
          </a:prstGeom>
          <a:solidFill>
            <a:srgbClr val="FFC000"/>
          </a:solidFill>
          <a:ln w="38100">
            <a:solidFill>
              <a:srgbClr val="FF9933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BE" b="1" i="1" dirty="0"/>
              <a:t>Droit de base </a:t>
            </a:r>
          </a:p>
          <a:p>
            <a:pPr algn="ctr"/>
            <a:r>
              <a:rPr lang="fr-BE" b="1" i="1" dirty="0"/>
              <a:t>WB3</a:t>
            </a:r>
          </a:p>
        </p:txBody>
      </p:sp>
      <p:sp>
        <p:nvSpPr>
          <p:cNvPr id="25" name="ZoneTexte 24"/>
          <p:cNvSpPr txBox="1"/>
          <p:nvPr/>
        </p:nvSpPr>
        <p:spPr>
          <a:xfrm>
            <a:off x="2668122" y="1346741"/>
            <a:ext cx="11856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31.12.2014</a:t>
            </a:r>
          </a:p>
        </p:txBody>
      </p:sp>
      <p:cxnSp>
        <p:nvCxnSpPr>
          <p:cNvPr id="26" name="Connecteur droit avec flèche 25"/>
          <p:cNvCxnSpPr/>
          <p:nvPr/>
        </p:nvCxnSpPr>
        <p:spPr>
          <a:xfrm flipV="1">
            <a:off x="3246919" y="1638817"/>
            <a:ext cx="0" cy="1156796"/>
          </a:xfrm>
          <a:prstGeom prst="straightConnector1">
            <a:avLst/>
          </a:prstGeom>
          <a:ln w="38100">
            <a:solidFill>
              <a:srgbClr val="FF9933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7" name="Connecteur droit avec flèche 26"/>
          <p:cNvCxnSpPr/>
          <p:nvPr/>
        </p:nvCxnSpPr>
        <p:spPr>
          <a:xfrm flipV="1">
            <a:off x="1535924" y="1611321"/>
            <a:ext cx="0" cy="1168961"/>
          </a:xfrm>
          <a:prstGeom prst="straightConnector1">
            <a:avLst/>
          </a:prstGeom>
          <a:ln w="38100">
            <a:solidFill>
              <a:srgbClr val="FF9933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0" name="ZoneTexte 29"/>
          <p:cNvSpPr txBox="1"/>
          <p:nvPr/>
        </p:nvSpPr>
        <p:spPr>
          <a:xfrm>
            <a:off x="989289" y="1320554"/>
            <a:ext cx="12213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01.01.2012</a:t>
            </a:r>
          </a:p>
        </p:txBody>
      </p:sp>
      <p:sp>
        <p:nvSpPr>
          <p:cNvPr id="41" name="ZoneTexte 40"/>
          <p:cNvSpPr txBox="1"/>
          <p:nvPr/>
        </p:nvSpPr>
        <p:spPr>
          <a:xfrm>
            <a:off x="5153269" y="5723788"/>
            <a:ext cx="18722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Le 25.10.2022</a:t>
            </a:r>
          </a:p>
          <a:p>
            <a:pPr algn="ctr"/>
            <a:r>
              <a:rPr lang="fr-BE" sz="1100" b="1" dirty="0">
                <a:sym typeface="Wingdings" panose="05000000000000000000" pitchFamily="2" charset="2"/>
              </a:rPr>
              <a:t> </a:t>
            </a:r>
            <a:r>
              <a:rPr lang="fr-BE" sz="1400" b="1" dirty="0"/>
              <a:t>WP3 ?</a:t>
            </a:r>
          </a:p>
        </p:txBody>
      </p:sp>
      <p:sp>
        <p:nvSpPr>
          <p:cNvPr id="43" name="ZoneTexte 42"/>
          <p:cNvSpPr txBox="1"/>
          <p:nvPr/>
        </p:nvSpPr>
        <p:spPr>
          <a:xfrm>
            <a:off x="278240" y="2477660"/>
            <a:ext cx="9361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WB3</a:t>
            </a:r>
          </a:p>
        </p:txBody>
      </p:sp>
      <p:sp>
        <p:nvSpPr>
          <p:cNvPr id="44" name="ZoneTexte 43"/>
          <p:cNvSpPr txBox="1"/>
          <p:nvPr/>
        </p:nvSpPr>
        <p:spPr>
          <a:xfrm>
            <a:off x="268445" y="4979376"/>
            <a:ext cx="9361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WP3</a:t>
            </a:r>
          </a:p>
        </p:txBody>
      </p:sp>
      <p:sp>
        <p:nvSpPr>
          <p:cNvPr id="46" name="ZoneTexte 45"/>
          <p:cNvSpPr txBox="1"/>
          <p:nvPr/>
        </p:nvSpPr>
        <p:spPr>
          <a:xfrm>
            <a:off x="103210" y="5827830"/>
            <a:ext cx="25191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1</a:t>
            </a:r>
            <a:r>
              <a:rPr lang="fr-BE" sz="1400" b="1" baseline="30000" dirty="0"/>
              <a:t>ère</a:t>
            </a:r>
            <a:r>
              <a:rPr lang="fr-BE" sz="1400" b="1" dirty="0"/>
              <a:t> DA : WB3 le 25.07.2011</a:t>
            </a:r>
          </a:p>
          <a:p>
            <a:pPr algn="ctr"/>
            <a:r>
              <a:rPr lang="fr-BE" sz="1400" b="1" dirty="0"/>
              <a:t>Né le 08.03.1991</a:t>
            </a:r>
          </a:p>
        </p:txBody>
      </p:sp>
      <p:sp>
        <p:nvSpPr>
          <p:cNvPr id="53" name="ZoneTexte 52"/>
          <p:cNvSpPr txBox="1"/>
          <p:nvPr/>
        </p:nvSpPr>
        <p:spPr>
          <a:xfrm>
            <a:off x="5528214" y="3261065"/>
            <a:ext cx="10087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srgbClr val="008000"/>
                </a:solidFill>
              </a:rPr>
              <a:t>24.10.2022</a:t>
            </a:r>
          </a:p>
        </p:txBody>
      </p:sp>
      <p:sp>
        <p:nvSpPr>
          <p:cNvPr id="54" name="ZoneTexte 53"/>
          <p:cNvSpPr txBox="1"/>
          <p:nvPr/>
        </p:nvSpPr>
        <p:spPr>
          <a:xfrm>
            <a:off x="4104275" y="2968791"/>
            <a:ext cx="20979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srgbClr val="008000"/>
                </a:solidFill>
              </a:rPr>
              <a:t>Période réf. art. 42</a:t>
            </a:r>
          </a:p>
        </p:txBody>
      </p:sp>
      <p:sp>
        <p:nvSpPr>
          <p:cNvPr id="56" name="Accolade ouvrante 55"/>
          <p:cNvSpPr/>
          <p:nvPr/>
        </p:nvSpPr>
        <p:spPr>
          <a:xfrm rot="16200000">
            <a:off x="5098604" y="2353295"/>
            <a:ext cx="153895" cy="1802438"/>
          </a:xfrm>
          <a:prstGeom prst="leftBrace">
            <a:avLst/>
          </a:prstGeom>
          <a:ln>
            <a:solidFill>
              <a:srgbClr val="008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BE">
              <a:solidFill>
                <a:srgbClr val="008000"/>
              </a:solidFill>
            </a:endParaRPr>
          </a:p>
        </p:txBody>
      </p:sp>
      <p:sp>
        <p:nvSpPr>
          <p:cNvPr id="57" name="ZoneTexte 56"/>
          <p:cNvSpPr txBox="1"/>
          <p:nvPr/>
        </p:nvSpPr>
        <p:spPr>
          <a:xfrm>
            <a:off x="3782840" y="3261066"/>
            <a:ext cx="11422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>
                <a:solidFill>
                  <a:srgbClr val="008000"/>
                </a:solidFill>
              </a:rPr>
              <a:t>25.10.2019</a:t>
            </a:r>
            <a:endParaRPr lang="fr-BE" sz="1200" b="1" dirty="0">
              <a:solidFill>
                <a:srgbClr val="008000"/>
              </a:solidFill>
            </a:endParaRPr>
          </a:p>
        </p:txBody>
      </p:sp>
      <p:cxnSp>
        <p:nvCxnSpPr>
          <p:cNvPr id="58" name="Connecteur droit 57"/>
          <p:cNvCxnSpPr/>
          <p:nvPr/>
        </p:nvCxnSpPr>
        <p:spPr>
          <a:xfrm>
            <a:off x="6076771" y="1625948"/>
            <a:ext cx="0" cy="1596080"/>
          </a:xfrm>
          <a:prstGeom prst="line">
            <a:avLst/>
          </a:prstGeom>
          <a:ln w="38100" cmpd="sng">
            <a:solidFill>
              <a:srgbClr val="008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ZoneTexte 46"/>
          <p:cNvSpPr txBox="1"/>
          <p:nvPr/>
        </p:nvSpPr>
        <p:spPr>
          <a:xfrm>
            <a:off x="5285995" y="6154510"/>
            <a:ext cx="18722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≥ 25 ans </a:t>
            </a:r>
            <a:r>
              <a:rPr lang="fr-BE" sz="1100" b="1" dirty="0">
                <a:sym typeface="Wingdings" panose="05000000000000000000" pitchFamily="2" charset="2"/>
              </a:rPr>
              <a:t></a:t>
            </a:r>
            <a:r>
              <a:rPr lang="fr-BE" sz="1050" b="1" dirty="0">
                <a:sym typeface="Wingdings" panose="05000000000000000000" pitchFamily="2" charset="2"/>
              </a:rPr>
              <a:t> </a:t>
            </a:r>
            <a:r>
              <a:rPr lang="fr-BE" sz="1400" b="1" dirty="0">
                <a:sym typeface="Wingdings" panose="05000000000000000000" pitchFamily="2" charset="2"/>
              </a:rPr>
              <a:t>Art. 42</a:t>
            </a:r>
            <a:r>
              <a:rPr lang="fr-BE" sz="1400" b="1" dirty="0"/>
              <a:t> ?</a:t>
            </a:r>
          </a:p>
        </p:txBody>
      </p:sp>
      <p:sp>
        <p:nvSpPr>
          <p:cNvPr id="37" name="ZoneTexte 36"/>
          <p:cNvSpPr txBox="1"/>
          <p:nvPr/>
        </p:nvSpPr>
        <p:spPr>
          <a:xfrm>
            <a:off x="6885301" y="5406217"/>
            <a:ext cx="16296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100" b="1" dirty="0">
                <a:solidFill>
                  <a:srgbClr val="C00000"/>
                </a:solidFill>
                <a:sym typeface="Wingdings" panose="05000000000000000000" pitchFamily="2" charset="2"/>
              </a:rPr>
              <a:t></a:t>
            </a:r>
            <a:r>
              <a:rPr lang="fr-BE" sz="1400" b="1" dirty="0">
                <a:sym typeface="Wingdings" panose="05000000000000000000" pitchFamily="2" charset="2"/>
              </a:rPr>
              <a:t> </a:t>
            </a:r>
            <a:r>
              <a:rPr lang="fr-BE" sz="1400" b="1" dirty="0">
                <a:solidFill>
                  <a:srgbClr val="C00000"/>
                </a:solidFill>
              </a:rPr>
              <a:t>Non admissible </a:t>
            </a:r>
          </a:p>
          <a:p>
            <a:pPr algn="ctr"/>
            <a:r>
              <a:rPr lang="fr-BE" sz="1400" b="1" dirty="0">
                <a:solidFill>
                  <a:srgbClr val="C00000"/>
                </a:solidFill>
              </a:rPr>
              <a:t>art. 42 </a:t>
            </a:r>
          </a:p>
        </p:txBody>
      </p:sp>
      <p:cxnSp>
        <p:nvCxnSpPr>
          <p:cNvPr id="38" name="Connecteur droit avec flèche 37"/>
          <p:cNvCxnSpPr/>
          <p:nvPr/>
        </p:nvCxnSpPr>
        <p:spPr>
          <a:xfrm>
            <a:off x="6076771" y="1609994"/>
            <a:ext cx="0" cy="4104000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1" name="ZoneTexte 50"/>
          <p:cNvSpPr txBox="1"/>
          <p:nvPr/>
        </p:nvSpPr>
        <p:spPr>
          <a:xfrm>
            <a:off x="5724131" y="4636597"/>
            <a:ext cx="2290894" cy="64633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810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BE" b="1" i="1" dirty="0"/>
              <a:t>Droit de base </a:t>
            </a:r>
          </a:p>
          <a:p>
            <a:pPr algn="ctr"/>
            <a:r>
              <a:rPr lang="fr-BE" b="1" i="1" dirty="0"/>
              <a:t>WP3</a:t>
            </a:r>
          </a:p>
        </p:txBody>
      </p:sp>
      <p:cxnSp>
        <p:nvCxnSpPr>
          <p:cNvPr id="17" name="Connecteur droit avec flèche 16"/>
          <p:cNvCxnSpPr/>
          <p:nvPr/>
        </p:nvCxnSpPr>
        <p:spPr>
          <a:xfrm>
            <a:off x="760513" y="5305876"/>
            <a:ext cx="7416824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eur droit 54"/>
          <p:cNvCxnSpPr/>
          <p:nvPr/>
        </p:nvCxnSpPr>
        <p:spPr>
          <a:xfrm flipH="1">
            <a:off x="4274329" y="1600200"/>
            <a:ext cx="6004" cy="1577370"/>
          </a:xfrm>
          <a:prstGeom prst="line">
            <a:avLst/>
          </a:prstGeom>
          <a:ln w="38100" cmpd="sng">
            <a:solidFill>
              <a:srgbClr val="008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ZoneTexte 32"/>
          <p:cNvSpPr txBox="1"/>
          <p:nvPr/>
        </p:nvSpPr>
        <p:spPr>
          <a:xfrm>
            <a:off x="1534189" y="2139106"/>
            <a:ext cx="1712730" cy="646331"/>
          </a:xfrm>
          <a:prstGeom prst="rect">
            <a:avLst/>
          </a:prstGeom>
          <a:solidFill>
            <a:srgbClr val="FFC000"/>
          </a:solidFill>
          <a:ln w="38100">
            <a:solidFill>
              <a:srgbClr val="FF9933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BE" b="1" i="1" dirty="0"/>
              <a:t>Indemnisé</a:t>
            </a:r>
          </a:p>
          <a:p>
            <a:pPr algn="ctr"/>
            <a:r>
              <a:rPr lang="fr-BE" b="1" i="1" dirty="0"/>
              <a:t>WB3</a:t>
            </a:r>
          </a:p>
        </p:txBody>
      </p:sp>
      <p:cxnSp>
        <p:nvCxnSpPr>
          <p:cNvPr id="6" name="Connecteur droit avec flèche 5"/>
          <p:cNvCxnSpPr/>
          <p:nvPr/>
        </p:nvCxnSpPr>
        <p:spPr>
          <a:xfrm>
            <a:off x="736497" y="2795613"/>
            <a:ext cx="7416824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4293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"/>
                            </p:stCondLst>
                            <p:childTnLst>
                              <p:par>
                                <p:cTn id="4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000"/>
                            </p:stCondLst>
                            <p:childTnLst>
                              <p:par>
                                <p:cTn id="5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7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3000"/>
                            </p:stCondLst>
                            <p:childTnLst>
                              <p:par>
                                <p:cTn id="5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3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6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9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2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5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2" grpId="1"/>
      <p:bldP spid="18" grpId="0"/>
      <p:bldP spid="29" grpId="0"/>
      <p:bldP spid="29" grpId="1"/>
      <p:bldP spid="24" grpId="0" animBg="1"/>
      <p:bldP spid="25" grpId="0"/>
      <p:bldP spid="30" grpId="0"/>
      <p:bldP spid="41" grpId="0"/>
      <p:bldP spid="44" grpId="0"/>
      <p:bldP spid="53" grpId="0"/>
      <p:bldP spid="54" grpId="0"/>
      <p:bldP spid="56" grpId="0" animBg="1"/>
      <p:bldP spid="57" grpId="0"/>
      <p:bldP spid="47" grpId="0"/>
      <p:bldP spid="37" grpId="0"/>
      <p:bldP spid="51" grpId="0" animBg="1"/>
      <p:bldP spid="51" grpId="1" animBg="1"/>
      <p:bldP spid="3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ZoneTexte 31"/>
          <p:cNvSpPr txBox="1"/>
          <p:nvPr/>
        </p:nvSpPr>
        <p:spPr>
          <a:xfrm>
            <a:off x="5551988" y="3950181"/>
            <a:ext cx="12174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schemeClr val="tx2"/>
                </a:solidFill>
              </a:rPr>
              <a:t>01.04.2020</a:t>
            </a:r>
          </a:p>
        </p:txBody>
      </p:sp>
      <p:sp>
        <p:nvSpPr>
          <p:cNvPr id="18" name="ZoneTexte 17"/>
          <p:cNvSpPr txBox="1"/>
          <p:nvPr/>
        </p:nvSpPr>
        <p:spPr>
          <a:xfrm>
            <a:off x="4750690" y="5672446"/>
            <a:ext cx="1872208" cy="523220"/>
          </a:xfrm>
          <a:prstGeom prst="rect">
            <a:avLst/>
          </a:prstGeom>
          <a:noFill/>
          <a:ln w="63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r-BE" sz="1400" dirty="0"/>
              <a:t>08.03.2020</a:t>
            </a:r>
          </a:p>
          <a:p>
            <a:pPr algn="ctr"/>
            <a:r>
              <a:rPr lang="fr-BE" sz="1400" dirty="0"/>
              <a:t>= 30</a:t>
            </a:r>
            <a:r>
              <a:rPr lang="fr-BE" sz="1400" baseline="30000" dirty="0"/>
              <a:t>ème</a:t>
            </a:r>
            <a:r>
              <a:rPr lang="fr-BE" sz="1400" dirty="0"/>
              <a:t>  anniversaire</a:t>
            </a: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fr-BE" sz="4000" b="1" i="1" dirty="0"/>
              <a:t>3.2 Art. 42 &amp; allocation d’insertion –Exemple 3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</p:txBody>
      </p:sp>
      <p:cxnSp>
        <p:nvCxnSpPr>
          <p:cNvPr id="14" name="Connecteur droit avec flèche 13"/>
          <p:cNvCxnSpPr/>
          <p:nvPr/>
        </p:nvCxnSpPr>
        <p:spPr>
          <a:xfrm>
            <a:off x="1232681" y="1173207"/>
            <a:ext cx="0" cy="4628171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9" name="ZoneTexte 28"/>
          <p:cNvSpPr txBox="1"/>
          <p:nvPr/>
        </p:nvSpPr>
        <p:spPr>
          <a:xfrm>
            <a:off x="7379562" y="3919179"/>
            <a:ext cx="1291314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schemeClr val="tx2"/>
                </a:solidFill>
              </a:rPr>
              <a:t>31.03.2023</a:t>
            </a:r>
          </a:p>
        </p:txBody>
      </p:sp>
      <p:cxnSp>
        <p:nvCxnSpPr>
          <p:cNvPr id="40" name="Connecteur droit avec flèche 39"/>
          <p:cNvCxnSpPr/>
          <p:nvPr/>
        </p:nvCxnSpPr>
        <p:spPr>
          <a:xfrm flipV="1">
            <a:off x="8025219" y="4233141"/>
            <a:ext cx="0" cy="1049099"/>
          </a:xfrm>
          <a:prstGeom prst="straightConnector1">
            <a:avLst/>
          </a:prstGeom>
          <a:ln w="38100">
            <a:solidFill>
              <a:schemeClr val="tx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2" name="Espace réservé du numéro de diapositive 4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18</a:t>
            </a:fld>
            <a:endParaRPr lang="fr-FR"/>
          </a:p>
        </p:txBody>
      </p:sp>
      <p:cxnSp>
        <p:nvCxnSpPr>
          <p:cNvPr id="35" name="Connecteur droit avec flèche 34"/>
          <p:cNvCxnSpPr/>
          <p:nvPr/>
        </p:nvCxnSpPr>
        <p:spPr>
          <a:xfrm flipV="1">
            <a:off x="6165505" y="4233336"/>
            <a:ext cx="0" cy="1072540"/>
          </a:xfrm>
          <a:prstGeom prst="straightConnector1">
            <a:avLst/>
          </a:prstGeom>
          <a:ln w="38100">
            <a:solidFill>
              <a:schemeClr val="tx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" name="Connecteur droit avec flèche 4"/>
          <p:cNvCxnSpPr/>
          <p:nvPr/>
        </p:nvCxnSpPr>
        <p:spPr>
          <a:xfrm>
            <a:off x="6084168" y="4410731"/>
            <a:ext cx="0" cy="1261715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ZoneTexte 24"/>
          <p:cNvSpPr txBox="1"/>
          <p:nvPr/>
        </p:nvSpPr>
        <p:spPr>
          <a:xfrm>
            <a:off x="3523938" y="1318171"/>
            <a:ext cx="11856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01.09.2016</a:t>
            </a:r>
          </a:p>
        </p:txBody>
      </p:sp>
      <p:cxnSp>
        <p:nvCxnSpPr>
          <p:cNvPr id="26" name="Connecteur droit avec flèche 25"/>
          <p:cNvCxnSpPr/>
          <p:nvPr/>
        </p:nvCxnSpPr>
        <p:spPr>
          <a:xfrm flipV="1">
            <a:off x="4055447" y="1628641"/>
            <a:ext cx="0" cy="1156796"/>
          </a:xfrm>
          <a:prstGeom prst="straightConnector1">
            <a:avLst/>
          </a:prstGeom>
          <a:ln w="38100">
            <a:solidFill>
              <a:srgbClr val="FF9933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7" name="Connecteur droit avec flèche 26"/>
          <p:cNvCxnSpPr/>
          <p:nvPr/>
        </p:nvCxnSpPr>
        <p:spPr>
          <a:xfrm flipV="1">
            <a:off x="1242476" y="1611321"/>
            <a:ext cx="0" cy="1168961"/>
          </a:xfrm>
          <a:prstGeom prst="straightConnector1">
            <a:avLst/>
          </a:prstGeom>
          <a:ln w="38100">
            <a:solidFill>
              <a:srgbClr val="FF9933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0" name="ZoneTexte 29"/>
          <p:cNvSpPr txBox="1"/>
          <p:nvPr/>
        </p:nvSpPr>
        <p:spPr>
          <a:xfrm>
            <a:off x="989289" y="1320554"/>
            <a:ext cx="12213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02.09.2013</a:t>
            </a:r>
          </a:p>
        </p:txBody>
      </p:sp>
      <p:sp>
        <p:nvSpPr>
          <p:cNvPr id="41" name="ZoneTexte 40"/>
          <p:cNvSpPr txBox="1"/>
          <p:nvPr/>
        </p:nvSpPr>
        <p:spPr>
          <a:xfrm>
            <a:off x="5914822" y="5713994"/>
            <a:ext cx="18722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Le 03.10.2022</a:t>
            </a:r>
          </a:p>
          <a:p>
            <a:pPr algn="ctr"/>
            <a:r>
              <a:rPr lang="fr-BE" sz="1100" b="1" dirty="0">
                <a:sym typeface="Wingdings" panose="05000000000000000000" pitchFamily="2" charset="2"/>
              </a:rPr>
              <a:t> </a:t>
            </a:r>
            <a:r>
              <a:rPr lang="fr-BE" sz="1400" b="1" dirty="0"/>
              <a:t>WA3 ?</a:t>
            </a:r>
          </a:p>
        </p:txBody>
      </p:sp>
      <p:sp>
        <p:nvSpPr>
          <p:cNvPr id="43" name="ZoneTexte 42"/>
          <p:cNvSpPr txBox="1"/>
          <p:nvPr/>
        </p:nvSpPr>
        <p:spPr>
          <a:xfrm>
            <a:off x="278240" y="2477660"/>
            <a:ext cx="9361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WB3</a:t>
            </a:r>
          </a:p>
        </p:txBody>
      </p:sp>
      <p:sp>
        <p:nvSpPr>
          <p:cNvPr id="44" name="ZoneTexte 43"/>
          <p:cNvSpPr txBox="1"/>
          <p:nvPr/>
        </p:nvSpPr>
        <p:spPr>
          <a:xfrm>
            <a:off x="268445" y="4979376"/>
            <a:ext cx="9361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WA3</a:t>
            </a:r>
          </a:p>
        </p:txBody>
      </p:sp>
      <p:sp>
        <p:nvSpPr>
          <p:cNvPr id="46" name="ZoneTexte 45"/>
          <p:cNvSpPr txBox="1"/>
          <p:nvPr/>
        </p:nvSpPr>
        <p:spPr>
          <a:xfrm>
            <a:off x="103210" y="5827830"/>
            <a:ext cx="25191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1</a:t>
            </a:r>
            <a:r>
              <a:rPr lang="fr-BE" sz="1400" b="1" baseline="30000" dirty="0"/>
              <a:t>ère</a:t>
            </a:r>
            <a:r>
              <a:rPr lang="fr-BE" sz="1400" b="1" dirty="0"/>
              <a:t> DA : WB3 le 02.09.2013</a:t>
            </a:r>
          </a:p>
          <a:p>
            <a:pPr algn="ctr"/>
            <a:r>
              <a:rPr lang="fr-BE" sz="1400" b="1" dirty="0"/>
              <a:t>Né le 08.03.1990</a:t>
            </a:r>
          </a:p>
        </p:txBody>
      </p:sp>
      <p:sp>
        <p:nvSpPr>
          <p:cNvPr id="53" name="ZoneTexte 52"/>
          <p:cNvSpPr txBox="1"/>
          <p:nvPr/>
        </p:nvSpPr>
        <p:spPr>
          <a:xfrm>
            <a:off x="6347206" y="3279939"/>
            <a:ext cx="10087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srgbClr val="008000"/>
                </a:solidFill>
              </a:rPr>
              <a:t>02.10.2022</a:t>
            </a:r>
          </a:p>
        </p:txBody>
      </p:sp>
      <p:sp>
        <p:nvSpPr>
          <p:cNvPr id="54" name="ZoneTexte 53"/>
          <p:cNvSpPr txBox="1"/>
          <p:nvPr/>
        </p:nvSpPr>
        <p:spPr>
          <a:xfrm>
            <a:off x="4455019" y="2958644"/>
            <a:ext cx="20979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srgbClr val="008000"/>
                </a:solidFill>
              </a:rPr>
              <a:t>Période réf. art. 42</a:t>
            </a:r>
          </a:p>
        </p:txBody>
      </p:sp>
      <p:sp>
        <p:nvSpPr>
          <p:cNvPr id="56" name="Accolade ouvrante 55"/>
          <p:cNvSpPr/>
          <p:nvPr/>
        </p:nvSpPr>
        <p:spPr>
          <a:xfrm rot="16200000">
            <a:off x="5684909" y="2184434"/>
            <a:ext cx="178514" cy="2115541"/>
          </a:xfrm>
          <a:prstGeom prst="leftBrace">
            <a:avLst/>
          </a:prstGeom>
          <a:ln>
            <a:solidFill>
              <a:srgbClr val="008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BE">
              <a:solidFill>
                <a:srgbClr val="008000"/>
              </a:solidFill>
            </a:endParaRPr>
          </a:p>
        </p:txBody>
      </p:sp>
      <p:sp>
        <p:nvSpPr>
          <p:cNvPr id="57" name="ZoneTexte 56"/>
          <p:cNvSpPr txBox="1"/>
          <p:nvPr/>
        </p:nvSpPr>
        <p:spPr>
          <a:xfrm>
            <a:off x="4146899" y="3251303"/>
            <a:ext cx="11422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srgbClr val="008000"/>
                </a:solidFill>
              </a:rPr>
              <a:t>03.10.2019</a:t>
            </a:r>
            <a:endParaRPr lang="fr-BE" sz="1200" b="1" dirty="0">
              <a:solidFill>
                <a:srgbClr val="008000"/>
              </a:solidFill>
            </a:endParaRPr>
          </a:p>
        </p:txBody>
      </p:sp>
      <p:cxnSp>
        <p:nvCxnSpPr>
          <p:cNvPr id="58" name="Connecteur droit 57"/>
          <p:cNvCxnSpPr/>
          <p:nvPr/>
        </p:nvCxnSpPr>
        <p:spPr>
          <a:xfrm>
            <a:off x="6831933" y="1643782"/>
            <a:ext cx="0" cy="1596080"/>
          </a:xfrm>
          <a:prstGeom prst="line">
            <a:avLst/>
          </a:prstGeom>
          <a:ln w="38100" cmpd="sng">
            <a:solidFill>
              <a:srgbClr val="008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ZoneTexte 46"/>
          <p:cNvSpPr txBox="1"/>
          <p:nvPr/>
        </p:nvSpPr>
        <p:spPr>
          <a:xfrm>
            <a:off x="5927699" y="6154836"/>
            <a:ext cx="18722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≥ 25 ans </a:t>
            </a:r>
            <a:r>
              <a:rPr lang="fr-BE" sz="1100" b="1" dirty="0">
                <a:sym typeface="Wingdings" panose="05000000000000000000" pitchFamily="2" charset="2"/>
              </a:rPr>
              <a:t></a:t>
            </a:r>
            <a:r>
              <a:rPr lang="fr-BE" sz="1050" b="1" dirty="0">
                <a:sym typeface="Wingdings" panose="05000000000000000000" pitchFamily="2" charset="2"/>
              </a:rPr>
              <a:t> </a:t>
            </a:r>
            <a:r>
              <a:rPr lang="fr-BE" sz="1400" b="1" dirty="0">
                <a:sym typeface="Wingdings" panose="05000000000000000000" pitchFamily="2" charset="2"/>
              </a:rPr>
              <a:t>Art. 42</a:t>
            </a:r>
            <a:r>
              <a:rPr lang="fr-BE" sz="1400" b="1" dirty="0"/>
              <a:t> ?</a:t>
            </a:r>
          </a:p>
        </p:txBody>
      </p:sp>
      <p:cxnSp>
        <p:nvCxnSpPr>
          <p:cNvPr id="38" name="Connecteur droit avec flèche 37"/>
          <p:cNvCxnSpPr/>
          <p:nvPr/>
        </p:nvCxnSpPr>
        <p:spPr>
          <a:xfrm>
            <a:off x="6869832" y="1598165"/>
            <a:ext cx="0" cy="4104000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1" name="ZoneTexte 50"/>
          <p:cNvSpPr txBox="1"/>
          <p:nvPr/>
        </p:nvSpPr>
        <p:spPr>
          <a:xfrm>
            <a:off x="6165505" y="4648835"/>
            <a:ext cx="1859779" cy="64633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810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BE" b="1" i="1" dirty="0"/>
              <a:t>Droit de base </a:t>
            </a:r>
          </a:p>
          <a:p>
            <a:pPr algn="ctr"/>
            <a:r>
              <a:rPr lang="fr-BE" b="1" i="1" dirty="0"/>
              <a:t>WA3</a:t>
            </a:r>
          </a:p>
        </p:txBody>
      </p:sp>
      <p:cxnSp>
        <p:nvCxnSpPr>
          <p:cNvPr id="17" name="Connecteur droit avec flèche 16"/>
          <p:cNvCxnSpPr/>
          <p:nvPr/>
        </p:nvCxnSpPr>
        <p:spPr>
          <a:xfrm>
            <a:off x="760513" y="5305876"/>
            <a:ext cx="7416824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ZoneTexte 32"/>
          <p:cNvSpPr txBox="1"/>
          <p:nvPr/>
        </p:nvSpPr>
        <p:spPr>
          <a:xfrm>
            <a:off x="1251019" y="2117614"/>
            <a:ext cx="2811993" cy="646331"/>
          </a:xfrm>
          <a:prstGeom prst="rect">
            <a:avLst/>
          </a:prstGeom>
          <a:solidFill>
            <a:srgbClr val="FFC000"/>
          </a:solidFill>
          <a:ln w="38100">
            <a:solidFill>
              <a:srgbClr val="FF9933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BE" b="1" i="1" dirty="0"/>
              <a:t>Droit de base</a:t>
            </a:r>
          </a:p>
          <a:p>
            <a:pPr algn="ctr"/>
            <a:r>
              <a:rPr lang="fr-BE" b="1" i="1" dirty="0"/>
              <a:t>WB3</a:t>
            </a:r>
          </a:p>
        </p:txBody>
      </p:sp>
      <p:cxnSp>
        <p:nvCxnSpPr>
          <p:cNvPr id="34" name="Connecteur droit avec flèche 33"/>
          <p:cNvCxnSpPr/>
          <p:nvPr/>
        </p:nvCxnSpPr>
        <p:spPr>
          <a:xfrm flipV="1">
            <a:off x="6828378" y="1902204"/>
            <a:ext cx="0" cy="878078"/>
          </a:xfrm>
          <a:prstGeom prst="straightConnector1">
            <a:avLst/>
          </a:prstGeom>
          <a:ln w="38100">
            <a:solidFill>
              <a:schemeClr val="accent2">
                <a:lumMod val="60000"/>
                <a:lumOff val="40000"/>
              </a:schemeClr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6" name="ZoneTexte 35"/>
          <p:cNvSpPr txBox="1"/>
          <p:nvPr/>
        </p:nvSpPr>
        <p:spPr>
          <a:xfrm>
            <a:off x="5820704" y="1639775"/>
            <a:ext cx="12213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02.10.2022</a:t>
            </a:r>
          </a:p>
        </p:txBody>
      </p:sp>
      <p:cxnSp>
        <p:nvCxnSpPr>
          <p:cNvPr id="39" name="Connecteur droit avec flèche 38"/>
          <p:cNvCxnSpPr/>
          <p:nvPr/>
        </p:nvCxnSpPr>
        <p:spPr>
          <a:xfrm flipV="1">
            <a:off x="4501933" y="1913608"/>
            <a:ext cx="0" cy="878078"/>
          </a:xfrm>
          <a:prstGeom prst="straightConnector1">
            <a:avLst/>
          </a:prstGeom>
          <a:ln w="38100">
            <a:solidFill>
              <a:schemeClr val="accent2">
                <a:lumMod val="60000"/>
                <a:lumOff val="40000"/>
              </a:schemeClr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4501932" y="2190806"/>
            <a:ext cx="2298131" cy="61161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b="1" i="1" dirty="0">
                <a:solidFill>
                  <a:schemeClr val="tx1"/>
                </a:solidFill>
              </a:rPr>
              <a:t>Naissance d’un enfant</a:t>
            </a:r>
          </a:p>
          <a:p>
            <a:pPr algn="ctr"/>
            <a:endParaRPr lang="fr-BE" sz="100" b="1" i="1" dirty="0">
              <a:solidFill>
                <a:schemeClr val="tx1"/>
              </a:solidFill>
            </a:endParaRPr>
          </a:p>
        </p:txBody>
      </p:sp>
      <p:sp>
        <p:nvSpPr>
          <p:cNvPr id="48" name="ZoneTexte 47"/>
          <p:cNvSpPr txBox="1"/>
          <p:nvPr/>
        </p:nvSpPr>
        <p:spPr>
          <a:xfrm>
            <a:off x="3934211" y="1639775"/>
            <a:ext cx="12213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03.11.2018</a:t>
            </a:r>
          </a:p>
        </p:txBody>
      </p:sp>
      <p:sp>
        <p:nvSpPr>
          <p:cNvPr id="49" name="Accolade ouvrante 48"/>
          <p:cNvSpPr/>
          <p:nvPr/>
        </p:nvSpPr>
        <p:spPr>
          <a:xfrm rot="16200000">
            <a:off x="5101532" y="2034862"/>
            <a:ext cx="206184" cy="3254621"/>
          </a:xfrm>
          <a:prstGeom prst="leftBrace">
            <a:avLst/>
          </a:prstGeom>
          <a:ln>
            <a:solidFill>
              <a:schemeClr val="tx2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50" name="ZoneTexte 49"/>
          <p:cNvSpPr txBox="1"/>
          <p:nvPr/>
        </p:nvSpPr>
        <p:spPr>
          <a:xfrm>
            <a:off x="2649299" y="3703835"/>
            <a:ext cx="18722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schemeClr val="tx2"/>
                </a:solidFill>
              </a:rPr>
              <a:t>03.11.2015</a:t>
            </a:r>
            <a:endParaRPr lang="fr-BE" sz="1200" b="1" dirty="0">
              <a:solidFill>
                <a:schemeClr val="tx2"/>
              </a:solidFill>
            </a:endParaRPr>
          </a:p>
        </p:txBody>
      </p:sp>
      <p:sp>
        <p:nvSpPr>
          <p:cNvPr id="52" name="ZoneTexte 51"/>
          <p:cNvSpPr txBox="1"/>
          <p:nvPr/>
        </p:nvSpPr>
        <p:spPr>
          <a:xfrm>
            <a:off x="3333483" y="3381019"/>
            <a:ext cx="36442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schemeClr val="tx2"/>
                </a:solidFill>
              </a:rPr>
              <a:t>Période réf. art. 42prolongée</a:t>
            </a:r>
          </a:p>
        </p:txBody>
      </p:sp>
      <p:cxnSp>
        <p:nvCxnSpPr>
          <p:cNvPr id="59" name="Connecteur droit 58"/>
          <p:cNvCxnSpPr/>
          <p:nvPr/>
        </p:nvCxnSpPr>
        <p:spPr>
          <a:xfrm>
            <a:off x="3577311" y="1412352"/>
            <a:ext cx="2789" cy="2175364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ZoneTexte 59"/>
          <p:cNvSpPr txBox="1"/>
          <p:nvPr/>
        </p:nvSpPr>
        <p:spPr>
          <a:xfrm>
            <a:off x="5936098" y="3722110"/>
            <a:ext cx="18722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schemeClr val="tx2"/>
                </a:solidFill>
              </a:rPr>
              <a:t>02.10.2022</a:t>
            </a:r>
            <a:endParaRPr lang="fr-BE" sz="1200" b="1" dirty="0">
              <a:solidFill>
                <a:schemeClr val="tx2"/>
              </a:solidFill>
            </a:endParaRPr>
          </a:p>
        </p:txBody>
      </p:sp>
      <p:cxnSp>
        <p:nvCxnSpPr>
          <p:cNvPr id="6" name="Connecteur droit avec flèche 5"/>
          <p:cNvCxnSpPr/>
          <p:nvPr/>
        </p:nvCxnSpPr>
        <p:spPr>
          <a:xfrm>
            <a:off x="736497" y="2795613"/>
            <a:ext cx="7416824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ZoneTexte 60"/>
          <p:cNvSpPr txBox="1"/>
          <p:nvPr/>
        </p:nvSpPr>
        <p:spPr>
          <a:xfrm>
            <a:off x="6870572" y="4651733"/>
            <a:ext cx="1149015" cy="64633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810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BE" b="1" i="1" dirty="0"/>
              <a:t>Droit restant </a:t>
            </a:r>
          </a:p>
        </p:txBody>
      </p:sp>
      <p:sp>
        <p:nvSpPr>
          <p:cNvPr id="62" name="ZoneTexte 61"/>
          <p:cNvSpPr txBox="1"/>
          <p:nvPr/>
        </p:nvSpPr>
        <p:spPr>
          <a:xfrm>
            <a:off x="6895671" y="5406217"/>
            <a:ext cx="14008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100" b="1" dirty="0">
                <a:sym typeface="Wingdings" panose="05000000000000000000" pitchFamily="2" charset="2"/>
              </a:rPr>
              <a:t></a:t>
            </a:r>
            <a:r>
              <a:rPr lang="fr-BE" sz="1400" b="1" dirty="0">
                <a:sym typeface="Wingdings" panose="05000000000000000000" pitchFamily="2" charset="2"/>
              </a:rPr>
              <a:t> </a:t>
            </a:r>
            <a:r>
              <a:rPr lang="fr-BE" sz="1400" b="1" dirty="0"/>
              <a:t>Adm. art. 42 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0191D892-22ED-4D9F-B29B-598BD516B9EE}"/>
              </a:ext>
            </a:extLst>
          </p:cNvPr>
          <p:cNvSpPr txBox="1"/>
          <p:nvPr/>
        </p:nvSpPr>
        <p:spPr>
          <a:xfrm>
            <a:off x="3698417" y="2790899"/>
            <a:ext cx="1569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1100" i="1" dirty="0"/>
              <a:t>Naissance d’un enfant</a:t>
            </a:r>
          </a:p>
        </p:txBody>
      </p:sp>
      <p:cxnSp>
        <p:nvCxnSpPr>
          <p:cNvPr id="55" name="Connecteur droit 54"/>
          <p:cNvCxnSpPr/>
          <p:nvPr/>
        </p:nvCxnSpPr>
        <p:spPr>
          <a:xfrm flipH="1">
            <a:off x="4716393" y="1599378"/>
            <a:ext cx="6004" cy="1577370"/>
          </a:xfrm>
          <a:prstGeom prst="line">
            <a:avLst/>
          </a:prstGeom>
          <a:ln w="38100" cmpd="sng">
            <a:solidFill>
              <a:srgbClr val="008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86721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0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200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300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000"/>
                            </p:stCondLst>
                            <p:childTnLst>
                              <p:par>
                                <p:cTn id="7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1000"/>
                            </p:stCondLst>
                            <p:childTnLst>
                              <p:par>
                                <p:cTn id="8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9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9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1000"/>
                            </p:stCondLst>
                            <p:childTnLst>
                              <p:par>
                                <p:cTn id="10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6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1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7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0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18" grpId="0"/>
      <p:bldP spid="18" grpId="1"/>
      <p:bldP spid="29" grpId="0"/>
      <p:bldP spid="25" grpId="0"/>
      <p:bldP spid="30" grpId="0"/>
      <p:bldP spid="41" grpId="0"/>
      <p:bldP spid="44" grpId="0"/>
      <p:bldP spid="53" grpId="0"/>
      <p:bldP spid="54" grpId="0"/>
      <p:bldP spid="56" grpId="0" animBg="1"/>
      <p:bldP spid="57" grpId="0"/>
      <p:bldP spid="47" grpId="0"/>
      <p:bldP spid="51" grpId="0" animBg="1"/>
      <p:bldP spid="51" grpId="1" animBg="1"/>
      <p:bldP spid="33" grpId="0" animBg="1"/>
      <p:bldP spid="36" grpId="0"/>
      <p:bldP spid="45" grpId="0" animBg="1"/>
      <p:bldP spid="48" grpId="0"/>
      <p:bldP spid="49" grpId="0" animBg="1"/>
      <p:bldP spid="50" grpId="0"/>
      <p:bldP spid="52" grpId="0"/>
      <p:bldP spid="60" grpId="0"/>
      <p:bldP spid="61" grpId="0" animBg="1"/>
      <p:bldP spid="62" grpId="0"/>
      <p:bldP spid="4" grpId="0"/>
      <p:bldP spid="4" grpId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r"/>
            <a:r>
              <a:rPr lang="fr-BE" sz="4000" b="1" i="1" dirty="0"/>
              <a:t>4.1. Art. 42 &amp; chômage temporaire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19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24" name="Groupe 23">
            <a:extLst>
              <a:ext uri="{FF2B5EF4-FFF2-40B4-BE49-F238E27FC236}">
                <a16:creationId xmlns:a16="http://schemas.microsoft.com/office/drawing/2014/main" id="{41CA0CE6-AE52-4DB4-B239-8898E78A81C6}"/>
              </a:ext>
            </a:extLst>
          </p:cNvPr>
          <p:cNvGrpSpPr/>
          <p:nvPr/>
        </p:nvGrpSpPr>
        <p:grpSpPr>
          <a:xfrm>
            <a:off x="61830" y="1816653"/>
            <a:ext cx="9020340" cy="1540339"/>
            <a:chOff x="664046" y="1879029"/>
            <a:chExt cx="10567680" cy="2142465"/>
          </a:xfrm>
        </p:grpSpPr>
        <p:cxnSp>
          <p:nvCxnSpPr>
            <p:cNvPr id="26" name="Connecteur droit avec flèche 25">
              <a:extLst>
                <a:ext uri="{FF2B5EF4-FFF2-40B4-BE49-F238E27FC236}">
                  <a16:creationId xmlns:a16="http://schemas.microsoft.com/office/drawing/2014/main" id="{83E7884F-C97C-4671-9699-7B4C43E63749}"/>
                </a:ext>
              </a:extLst>
            </p:cNvPr>
            <p:cNvCxnSpPr>
              <a:cxnSpLocks/>
            </p:cNvCxnSpPr>
            <p:nvPr/>
          </p:nvCxnSpPr>
          <p:spPr>
            <a:xfrm>
              <a:off x="1236323" y="3811425"/>
              <a:ext cx="9661832" cy="7793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necteur droit 26">
              <a:extLst>
                <a:ext uri="{FF2B5EF4-FFF2-40B4-BE49-F238E27FC236}">
                  <a16:creationId xmlns:a16="http://schemas.microsoft.com/office/drawing/2014/main" id="{4A7275C2-B970-4809-AFA4-3EFB3F6BED0C}"/>
                </a:ext>
              </a:extLst>
            </p:cNvPr>
            <p:cNvCxnSpPr>
              <a:cxnSpLocks/>
            </p:cNvCxnSpPr>
            <p:nvPr/>
          </p:nvCxnSpPr>
          <p:spPr>
            <a:xfrm>
              <a:off x="1401164" y="2711003"/>
              <a:ext cx="0" cy="122651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ZoneTexte 27">
              <a:extLst>
                <a:ext uri="{FF2B5EF4-FFF2-40B4-BE49-F238E27FC236}">
                  <a16:creationId xmlns:a16="http://schemas.microsoft.com/office/drawing/2014/main" id="{FDF649A5-79C2-45D0-AF69-AAE5465176E4}"/>
                </a:ext>
              </a:extLst>
            </p:cNvPr>
            <p:cNvSpPr txBox="1"/>
            <p:nvPr/>
          </p:nvSpPr>
          <p:spPr>
            <a:xfrm>
              <a:off x="664046" y="1882125"/>
              <a:ext cx="1300060" cy="8347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BE" sz="1100" i="1" dirty="0"/>
                <a:t>Né le 16.08.1986</a:t>
              </a:r>
            </a:p>
            <a:p>
              <a:pPr algn="ctr"/>
              <a:r>
                <a:rPr lang="fr-BE" sz="1100" i="1" dirty="0"/>
                <a:t>Cohabitant</a:t>
              </a:r>
              <a:endParaRPr lang="fr-BE" sz="1200" i="1" dirty="0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A94EB9E6-9E6E-452A-9927-83C67EFA73AB}"/>
                </a:ext>
              </a:extLst>
            </p:cNvPr>
            <p:cNvSpPr/>
            <p:nvPr/>
          </p:nvSpPr>
          <p:spPr>
            <a:xfrm>
              <a:off x="2617261" y="3128835"/>
              <a:ext cx="8028979" cy="690383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BE" sz="1200" b="1" dirty="0">
                  <a:solidFill>
                    <a:schemeClr val="tx1"/>
                  </a:solidFill>
                </a:rPr>
                <a:t>Travail chez Employeur X du 01.06.2021 au 18/09/2022  </a:t>
              </a:r>
            </a:p>
            <a:p>
              <a:pPr algn="ctr"/>
              <a:r>
                <a:rPr lang="fr-BE" sz="1100" b="1" dirty="0">
                  <a:solidFill>
                    <a:srgbClr val="C00000"/>
                  </a:solidFill>
                </a:rPr>
                <a:t>38/38 &amp; Sal. &gt; Sal. de référence</a:t>
              </a:r>
            </a:p>
          </p:txBody>
        </p:sp>
        <p:sp>
          <p:nvSpPr>
            <p:cNvPr id="30" name="ZoneTexte 29">
              <a:extLst>
                <a:ext uri="{FF2B5EF4-FFF2-40B4-BE49-F238E27FC236}">
                  <a16:creationId xmlns:a16="http://schemas.microsoft.com/office/drawing/2014/main" id="{2D80F3A5-DAAC-4AB8-BA2B-160A30518AA8}"/>
                </a:ext>
              </a:extLst>
            </p:cNvPr>
            <p:cNvSpPr txBox="1"/>
            <p:nvPr/>
          </p:nvSpPr>
          <p:spPr>
            <a:xfrm>
              <a:off x="7702028" y="1879029"/>
              <a:ext cx="2473944" cy="8043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BE" sz="1100" i="1" dirty="0"/>
                <a:t>Chômage temporaire le 15.06.2022</a:t>
              </a:r>
            </a:p>
            <a:p>
              <a:pPr algn="ctr"/>
              <a:r>
                <a:rPr lang="fr-BE" sz="1100" i="1" dirty="0"/>
                <a:t>Préfixe 02/</a:t>
              </a:r>
            </a:p>
            <a:p>
              <a:pPr algn="ctr"/>
              <a:r>
                <a:rPr lang="fr-BE" sz="1100" i="1" dirty="0"/>
                <a:t>Art. d’</a:t>
              </a:r>
              <a:r>
                <a:rPr lang="fr-BE" sz="1100" i="1" dirty="0" err="1"/>
                <a:t>admiss</a:t>
              </a:r>
              <a:r>
                <a:rPr lang="fr-BE" sz="1100" i="1" dirty="0"/>
                <a:t> 42k30</a:t>
              </a:r>
            </a:p>
          </p:txBody>
        </p:sp>
        <p:cxnSp>
          <p:nvCxnSpPr>
            <p:cNvPr id="31" name="Connecteur droit avec flèche 30">
              <a:extLst>
                <a:ext uri="{FF2B5EF4-FFF2-40B4-BE49-F238E27FC236}">
                  <a16:creationId xmlns:a16="http://schemas.microsoft.com/office/drawing/2014/main" id="{5EDB1495-A83A-4061-8A87-DE4032111D32}"/>
                </a:ext>
              </a:extLst>
            </p:cNvPr>
            <p:cNvCxnSpPr>
              <a:cxnSpLocks/>
            </p:cNvCxnSpPr>
            <p:nvPr/>
          </p:nvCxnSpPr>
          <p:spPr>
            <a:xfrm>
              <a:off x="10646245" y="2549690"/>
              <a:ext cx="0" cy="1471804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ZoneTexte 31">
              <a:extLst>
                <a:ext uri="{FF2B5EF4-FFF2-40B4-BE49-F238E27FC236}">
                  <a16:creationId xmlns:a16="http://schemas.microsoft.com/office/drawing/2014/main" id="{70876622-C0E4-4DAF-AFC3-13BE79AE9198}"/>
                </a:ext>
              </a:extLst>
            </p:cNvPr>
            <p:cNvSpPr txBox="1"/>
            <p:nvPr/>
          </p:nvSpPr>
          <p:spPr>
            <a:xfrm>
              <a:off x="10060754" y="1982283"/>
              <a:ext cx="1170972" cy="5774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BE" sz="1100" b="1" dirty="0"/>
                <a:t>DA</a:t>
              </a:r>
            </a:p>
            <a:p>
              <a:pPr algn="ctr"/>
              <a:r>
                <a:rPr lang="fr-BE" sz="1100" b="1" dirty="0"/>
                <a:t> 26/09/2022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F5DA0AF9-DA50-49A7-B2F7-74F977E117B1}"/>
                </a:ext>
              </a:extLst>
            </p:cNvPr>
            <p:cNvSpPr/>
            <p:nvPr/>
          </p:nvSpPr>
          <p:spPr>
            <a:xfrm>
              <a:off x="1401164" y="3113195"/>
              <a:ext cx="1202101" cy="6982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381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BE" sz="1100" b="1" dirty="0">
                  <a:solidFill>
                    <a:schemeClr val="tx1"/>
                  </a:solidFill>
                </a:rPr>
                <a:t> Non-indemnisable en CC</a:t>
              </a:r>
            </a:p>
          </p:txBody>
        </p:sp>
        <p:cxnSp>
          <p:nvCxnSpPr>
            <p:cNvPr id="34" name="Connecteur droit avec flèche 33">
              <a:extLst>
                <a:ext uri="{FF2B5EF4-FFF2-40B4-BE49-F238E27FC236}">
                  <a16:creationId xmlns:a16="http://schemas.microsoft.com/office/drawing/2014/main" id="{4BF8274F-6FD8-4CDB-B2FD-4E4CC398316F}"/>
                </a:ext>
              </a:extLst>
            </p:cNvPr>
            <p:cNvCxnSpPr>
              <a:cxnSpLocks/>
            </p:cNvCxnSpPr>
            <p:nvPr/>
          </p:nvCxnSpPr>
          <p:spPr>
            <a:xfrm>
              <a:off x="8933936" y="2920128"/>
              <a:ext cx="0" cy="908067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ZoneTexte 22">
            <a:extLst>
              <a:ext uri="{FF2B5EF4-FFF2-40B4-BE49-F238E27FC236}">
                <a16:creationId xmlns:a16="http://schemas.microsoft.com/office/drawing/2014/main" id="{BDE97472-8850-42DB-8B00-C8EA05D6DFC7}"/>
              </a:ext>
            </a:extLst>
          </p:cNvPr>
          <p:cNvSpPr txBox="1"/>
          <p:nvPr/>
        </p:nvSpPr>
        <p:spPr>
          <a:xfrm>
            <a:off x="682288" y="3707878"/>
            <a:ext cx="789137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BE" dirty="0">
                <a:sym typeface="Wingdings" panose="05000000000000000000" pitchFamily="2" charset="2"/>
              </a:rPr>
              <a:t>Suite une adaptation de l’article 42, une dispense de stage n’est possible que s’il a bénéficié a bénéficié d'allocations pour un jour au moins comme chômeur complet ou comme travailleur à temps partiel qui a bénéficié de l'allocation de garantie de revenus, au cours des trois ans qui précèdent la demande d'allocations.</a:t>
            </a:r>
          </a:p>
          <a:p>
            <a:pPr algn="just"/>
            <a:endParaRPr lang="fr-BE" dirty="0">
              <a:sym typeface="Wingdings" panose="05000000000000000000" pitchFamily="2" charset="2"/>
            </a:endParaRPr>
          </a:p>
          <a:p>
            <a:r>
              <a:rPr lang="fr-BE" b="1" dirty="0">
                <a:sym typeface="Wingdings" panose="05000000000000000000" pitchFamily="2" charset="2"/>
              </a:rPr>
              <a:t></a:t>
            </a:r>
            <a:r>
              <a:rPr lang="fr-BE" b="1" dirty="0">
                <a:solidFill>
                  <a:srgbClr val="C00000"/>
                </a:solidFill>
                <a:sym typeface="Wingdings" panose="05000000000000000000" pitchFamily="2" charset="2"/>
              </a:rPr>
              <a:t> Le chômage temporaire ne peut plus être considéré comme une DJI au sens de l’article 42</a:t>
            </a:r>
            <a:endParaRPr lang="fr-BE" b="1" dirty="0"/>
          </a:p>
        </p:txBody>
      </p:sp>
    </p:spTree>
    <p:extLst>
      <p:ext uri="{BB962C8B-B14F-4D97-AF65-F5344CB8AC3E}">
        <p14:creationId xmlns:p14="http://schemas.microsoft.com/office/powerpoint/2010/main" val="526082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ACAA8B1-35A5-459E-BDF0-8E69832E8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r"/>
            <a:r>
              <a:rPr lang="fr-BE" sz="4000" b="1" i="1" dirty="0"/>
              <a:t>4.2. Art. 42, 30 ou 33?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0D039A5-6F08-414B-AB04-A485DF0F0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20</a:t>
            </a:fld>
            <a:endParaRPr lang="fr-FR"/>
          </a:p>
        </p:txBody>
      </p:sp>
      <p:grpSp>
        <p:nvGrpSpPr>
          <p:cNvPr id="5" name="Groupe 4">
            <a:extLst>
              <a:ext uri="{FF2B5EF4-FFF2-40B4-BE49-F238E27FC236}">
                <a16:creationId xmlns:a16="http://schemas.microsoft.com/office/drawing/2014/main" id="{C6D6D1E5-6B20-4691-87E9-6B3A65A0E086}"/>
              </a:ext>
            </a:extLst>
          </p:cNvPr>
          <p:cNvGrpSpPr/>
          <p:nvPr/>
        </p:nvGrpSpPr>
        <p:grpSpPr>
          <a:xfrm>
            <a:off x="611560" y="1484784"/>
            <a:ext cx="7930631" cy="1910536"/>
            <a:chOff x="-7898278" y="1438794"/>
            <a:chExt cx="7930631" cy="1910536"/>
          </a:xfrm>
        </p:grpSpPr>
        <p:sp>
          <p:nvSpPr>
            <p:cNvPr id="10" name="ZoneTexte 9">
              <a:extLst>
                <a:ext uri="{FF2B5EF4-FFF2-40B4-BE49-F238E27FC236}">
                  <a16:creationId xmlns:a16="http://schemas.microsoft.com/office/drawing/2014/main" id="{D47EC321-37BB-4479-B9DA-7A6B3523EE8F}"/>
                </a:ext>
              </a:extLst>
            </p:cNvPr>
            <p:cNvSpPr txBox="1"/>
            <p:nvPr/>
          </p:nvSpPr>
          <p:spPr>
            <a:xfrm>
              <a:off x="-7898278" y="1438794"/>
              <a:ext cx="165088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BE" sz="1400" b="1" dirty="0">
                  <a:solidFill>
                    <a:prstClr val="black"/>
                  </a:solidFill>
                </a:rPr>
                <a:t>Affilié cohabitant</a:t>
              </a:r>
            </a:p>
            <a:p>
              <a:pPr algn="ctr"/>
              <a:r>
                <a:rPr lang="fr-BE" sz="1400" b="1" dirty="0">
                  <a:solidFill>
                    <a:prstClr val="black"/>
                  </a:solidFill>
                </a:rPr>
                <a:t>né le 05.01.1992</a:t>
              </a:r>
            </a:p>
          </p:txBody>
        </p:sp>
        <p:grpSp>
          <p:nvGrpSpPr>
            <p:cNvPr id="3" name="Groupe 2">
              <a:extLst>
                <a:ext uri="{FF2B5EF4-FFF2-40B4-BE49-F238E27FC236}">
                  <a16:creationId xmlns:a16="http://schemas.microsoft.com/office/drawing/2014/main" id="{BDE87125-3425-4574-B683-2E650BFF2F83}"/>
                </a:ext>
              </a:extLst>
            </p:cNvPr>
            <p:cNvGrpSpPr/>
            <p:nvPr/>
          </p:nvGrpSpPr>
          <p:grpSpPr>
            <a:xfrm>
              <a:off x="-7178198" y="1884176"/>
              <a:ext cx="7210551" cy="1465154"/>
              <a:chOff x="-7178198" y="1884176"/>
              <a:chExt cx="7210551" cy="1465154"/>
            </a:xfrm>
          </p:grpSpPr>
          <p:sp>
            <p:nvSpPr>
              <p:cNvPr id="8" name="ZoneTexte 7">
                <a:extLst>
                  <a:ext uri="{FF2B5EF4-FFF2-40B4-BE49-F238E27FC236}">
                    <a16:creationId xmlns:a16="http://schemas.microsoft.com/office/drawing/2014/main" id="{99791D34-693B-4D1B-92B3-EB4E8CFC9992}"/>
                  </a:ext>
                </a:extLst>
              </p:cNvPr>
              <p:cNvSpPr txBox="1"/>
              <p:nvPr/>
            </p:nvSpPr>
            <p:spPr>
              <a:xfrm>
                <a:off x="-6462509" y="2826110"/>
                <a:ext cx="176276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BE" sz="1400" b="1" dirty="0">
                    <a:solidFill>
                      <a:srgbClr val="C00000"/>
                    </a:solidFill>
                  </a:rPr>
                  <a:t>Naissance d’un enfant le 29.01.2014</a:t>
                </a:r>
              </a:p>
            </p:txBody>
          </p:sp>
          <p:cxnSp>
            <p:nvCxnSpPr>
              <p:cNvPr id="9" name="Connecteur droit 8">
                <a:extLst>
                  <a:ext uri="{FF2B5EF4-FFF2-40B4-BE49-F238E27FC236}">
                    <a16:creationId xmlns:a16="http://schemas.microsoft.com/office/drawing/2014/main" id="{9FE68FFD-926D-4C4C-A900-E800EEF6080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7062672" y="1884176"/>
                <a:ext cx="7756" cy="828643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" name="ZoneTexte 12">
                <a:extLst>
                  <a:ext uri="{FF2B5EF4-FFF2-40B4-BE49-F238E27FC236}">
                    <a16:creationId xmlns:a16="http://schemas.microsoft.com/office/drawing/2014/main" id="{BE325018-A32E-48D7-ACA8-D71A1D971977}"/>
                  </a:ext>
                </a:extLst>
              </p:cNvPr>
              <p:cNvSpPr txBox="1"/>
              <p:nvPr/>
            </p:nvSpPr>
            <p:spPr>
              <a:xfrm>
                <a:off x="-1849606" y="2826110"/>
                <a:ext cx="188195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BE" sz="1400" b="1" dirty="0">
                    <a:solidFill>
                      <a:srgbClr val="C00000"/>
                    </a:solidFill>
                  </a:rPr>
                  <a:t>DA CC - isolé </a:t>
                </a:r>
              </a:p>
              <a:p>
                <a:pPr algn="ctr"/>
                <a:r>
                  <a:rPr lang="fr-BE" sz="1400" b="1" dirty="0">
                    <a:solidFill>
                      <a:srgbClr val="C00000"/>
                    </a:solidFill>
                  </a:rPr>
                  <a:t>28.10.2022?</a:t>
                </a:r>
              </a:p>
            </p:txBody>
          </p:sp>
          <p:cxnSp>
            <p:nvCxnSpPr>
              <p:cNvPr id="14" name="Connecteur droit 13">
                <a:extLst>
                  <a:ext uri="{FF2B5EF4-FFF2-40B4-BE49-F238E27FC236}">
                    <a16:creationId xmlns:a16="http://schemas.microsoft.com/office/drawing/2014/main" id="{21833C0C-A4B1-450B-AE01-6728288526B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-883315" y="1962869"/>
                <a:ext cx="1" cy="876718"/>
              </a:xfrm>
              <a:prstGeom prst="line">
                <a:avLst/>
              </a:prstGeom>
              <a:ln w="381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16DEFFE2-6D09-45D9-9FAC-9149AD13C796}"/>
                  </a:ext>
                </a:extLst>
              </p:cNvPr>
              <p:cNvSpPr/>
              <p:nvPr/>
            </p:nvSpPr>
            <p:spPr>
              <a:xfrm>
                <a:off x="-7034267" y="2259345"/>
                <a:ext cx="1752625" cy="450928"/>
              </a:xfrm>
              <a:prstGeom prst="rect">
                <a:avLst/>
              </a:prstGeom>
              <a:solidFill>
                <a:srgbClr val="FBE5D6"/>
              </a:solidFill>
              <a:ln w="38100">
                <a:solidFill>
                  <a:srgbClr val="CE5E1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BE" sz="1400" b="1" dirty="0">
                    <a:solidFill>
                      <a:schemeClr val="tx1"/>
                    </a:solidFill>
                  </a:rPr>
                  <a:t>01/WB3</a:t>
                </a:r>
              </a:p>
            </p:txBody>
          </p:sp>
          <p:cxnSp>
            <p:nvCxnSpPr>
              <p:cNvPr id="16" name="Connecteur droit avec flèche 15">
                <a:extLst>
                  <a:ext uri="{FF2B5EF4-FFF2-40B4-BE49-F238E27FC236}">
                    <a16:creationId xmlns:a16="http://schemas.microsoft.com/office/drawing/2014/main" id="{3F452AA8-22BB-46A8-B0AA-BDD2EFCF716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-7178198" y="2710273"/>
                <a:ext cx="6696744" cy="19008"/>
              </a:xfrm>
              <a:prstGeom prst="straightConnector1">
                <a:avLst/>
              </a:prstGeom>
              <a:ln w="38100"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" name="Connecteur droit 16">
                <a:extLst>
                  <a:ext uri="{FF2B5EF4-FFF2-40B4-BE49-F238E27FC236}">
                    <a16:creationId xmlns:a16="http://schemas.microsoft.com/office/drawing/2014/main" id="{D2CD1B74-7BC3-46EE-93E4-DB6E320C1DC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-5281642" y="2181547"/>
                <a:ext cx="0" cy="522117"/>
              </a:xfrm>
              <a:prstGeom prst="line">
                <a:avLst/>
              </a:prstGeom>
              <a:ln w="38100">
                <a:solidFill>
                  <a:srgbClr val="CE5E1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Connecteur droit 17">
                <a:extLst>
                  <a:ext uri="{FF2B5EF4-FFF2-40B4-BE49-F238E27FC236}">
                    <a16:creationId xmlns:a16="http://schemas.microsoft.com/office/drawing/2014/main" id="{076DA18D-3B48-44CC-BBEC-E9ED6BEF572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-7021288" y="2187168"/>
                <a:ext cx="0" cy="516496"/>
              </a:xfrm>
              <a:prstGeom prst="line">
                <a:avLst/>
              </a:prstGeom>
              <a:ln w="38100">
                <a:solidFill>
                  <a:srgbClr val="CE5E1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ZoneTexte 19">
                <a:extLst>
                  <a:ext uri="{FF2B5EF4-FFF2-40B4-BE49-F238E27FC236}">
                    <a16:creationId xmlns:a16="http://schemas.microsoft.com/office/drawing/2014/main" id="{0668FA8F-0554-4F30-956E-6ADF4AF7E84E}"/>
                  </a:ext>
                </a:extLst>
              </p:cNvPr>
              <p:cNvSpPr txBox="1"/>
              <p:nvPr/>
            </p:nvSpPr>
            <p:spPr>
              <a:xfrm>
                <a:off x="-7165304" y="1929725"/>
                <a:ext cx="108973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BE" sz="1400" b="1" dirty="0">
                    <a:solidFill>
                      <a:srgbClr val="C3550A"/>
                    </a:solidFill>
                  </a:rPr>
                  <a:t>29.07.2011</a:t>
                </a:r>
              </a:p>
            </p:txBody>
          </p:sp>
          <p:sp>
            <p:nvSpPr>
              <p:cNvPr id="22" name="ZoneTexte 21">
                <a:extLst>
                  <a:ext uri="{FF2B5EF4-FFF2-40B4-BE49-F238E27FC236}">
                    <a16:creationId xmlns:a16="http://schemas.microsoft.com/office/drawing/2014/main" id="{0A378D21-35D5-4D08-9386-CEAAB1D002DF}"/>
                  </a:ext>
                </a:extLst>
              </p:cNvPr>
              <p:cNvSpPr txBox="1"/>
              <p:nvPr/>
            </p:nvSpPr>
            <p:spPr>
              <a:xfrm>
                <a:off x="-5734757" y="1935082"/>
                <a:ext cx="108973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BE" sz="1400" b="1" dirty="0">
                    <a:solidFill>
                      <a:srgbClr val="C3550A"/>
                    </a:solidFill>
                  </a:rPr>
                  <a:t>28.07.2014</a:t>
                </a:r>
              </a:p>
            </p:txBody>
          </p:sp>
          <p:cxnSp>
            <p:nvCxnSpPr>
              <p:cNvPr id="26" name="Connecteur droit 25">
                <a:extLst>
                  <a:ext uri="{FF2B5EF4-FFF2-40B4-BE49-F238E27FC236}">
                    <a16:creationId xmlns:a16="http://schemas.microsoft.com/office/drawing/2014/main" id="{E3E3E687-8DB9-44E1-8BC8-29EF3BDB357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5581128" y="1884176"/>
                <a:ext cx="0" cy="959916"/>
              </a:xfrm>
              <a:prstGeom prst="line">
                <a:avLst/>
              </a:prstGeom>
              <a:ln w="381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9" name="Groupe 28">
            <a:extLst>
              <a:ext uri="{FF2B5EF4-FFF2-40B4-BE49-F238E27FC236}">
                <a16:creationId xmlns:a16="http://schemas.microsoft.com/office/drawing/2014/main" id="{E96B142B-F39B-4474-AE4F-8592FD0AC6A8}"/>
              </a:ext>
            </a:extLst>
          </p:cNvPr>
          <p:cNvGrpSpPr/>
          <p:nvPr/>
        </p:nvGrpSpPr>
        <p:grpSpPr>
          <a:xfrm>
            <a:off x="611560" y="3545709"/>
            <a:ext cx="7930631" cy="1910536"/>
            <a:chOff x="-7898278" y="1438794"/>
            <a:chExt cx="7930631" cy="1910536"/>
          </a:xfrm>
        </p:grpSpPr>
        <p:sp>
          <p:nvSpPr>
            <p:cNvPr id="30" name="ZoneTexte 29">
              <a:extLst>
                <a:ext uri="{FF2B5EF4-FFF2-40B4-BE49-F238E27FC236}">
                  <a16:creationId xmlns:a16="http://schemas.microsoft.com/office/drawing/2014/main" id="{2DEE54A3-AFFB-443F-B623-4A414F384DCD}"/>
                </a:ext>
              </a:extLst>
            </p:cNvPr>
            <p:cNvSpPr txBox="1"/>
            <p:nvPr/>
          </p:nvSpPr>
          <p:spPr>
            <a:xfrm>
              <a:off x="-7898278" y="1438794"/>
              <a:ext cx="165088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BE" sz="1400" b="1" dirty="0">
                  <a:solidFill>
                    <a:prstClr val="black"/>
                  </a:solidFill>
                </a:rPr>
                <a:t>Affilié cohabitant</a:t>
              </a:r>
            </a:p>
            <a:p>
              <a:pPr algn="ctr"/>
              <a:r>
                <a:rPr lang="fr-BE" sz="1400" b="1" dirty="0">
                  <a:solidFill>
                    <a:prstClr val="black"/>
                  </a:solidFill>
                </a:rPr>
                <a:t>né le 05.01.1992</a:t>
              </a:r>
            </a:p>
          </p:txBody>
        </p:sp>
        <p:grpSp>
          <p:nvGrpSpPr>
            <p:cNvPr id="31" name="Groupe 30">
              <a:extLst>
                <a:ext uri="{FF2B5EF4-FFF2-40B4-BE49-F238E27FC236}">
                  <a16:creationId xmlns:a16="http://schemas.microsoft.com/office/drawing/2014/main" id="{33453F5B-EBE4-4E08-B896-98D2822E2207}"/>
                </a:ext>
              </a:extLst>
            </p:cNvPr>
            <p:cNvGrpSpPr/>
            <p:nvPr/>
          </p:nvGrpSpPr>
          <p:grpSpPr>
            <a:xfrm>
              <a:off x="-7178198" y="1884176"/>
              <a:ext cx="7210551" cy="1465154"/>
              <a:chOff x="-7178198" y="1884176"/>
              <a:chExt cx="7210551" cy="1465154"/>
            </a:xfrm>
          </p:grpSpPr>
          <p:sp>
            <p:nvSpPr>
              <p:cNvPr id="32" name="ZoneTexte 31">
                <a:extLst>
                  <a:ext uri="{FF2B5EF4-FFF2-40B4-BE49-F238E27FC236}">
                    <a16:creationId xmlns:a16="http://schemas.microsoft.com/office/drawing/2014/main" id="{41D9F316-F8CC-4C37-9AC5-ED2C2BDE6C96}"/>
                  </a:ext>
                </a:extLst>
              </p:cNvPr>
              <p:cNvSpPr txBox="1"/>
              <p:nvPr/>
            </p:nvSpPr>
            <p:spPr>
              <a:xfrm>
                <a:off x="-4548471" y="2826110"/>
                <a:ext cx="176276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BE" sz="1400" b="1" dirty="0">
                    <a:solidFill>
                      <a:srgbClr val="C00000"/>
                    </a:solidFill>
                  </a:rPr>
                  <a:t>Naissance d’un enfant le 28.10.2017</a:t>
                </a:r>
              </a:p>
            </p:txBody>
          </p:sp>
          <p:cxnSp>
            <p:nvCxnSpPr>
              <p:cNvPr id="33" name="Connecteur droit 32">
                <a:extLst>
                  <a:ext uri="{FF2B5EF4-FFF2-40B4-BE49-F238E27FC236}">
                    <a16:creationId xmlns:a16="http://schemas.microsoft.com/office/drawing/2014/main" id="{0E6056FD-772E-4DE3-91A4-9026D924AA4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7062672" y="1884176"/>
                <a:ext cx="7756" cy="828643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4" name="ZoneTexte 33">
                <a:extLst>
                  <a:ext uri="{FF2B5EF4-FFF2-40B4-BE49-F238E27FC236}">
                    <a16:creationId xmlns:a16="http://schemas.microsoft.com/office/drawing/2014/main" id="{5CB39368-0101-4FEC-87BB-6E57E3EF7571}"/>
                  </a:ext>
                </a:extLst>
              </p:cNvPr>
              <p:cNvSpPr txBox="1"/>
              <p:nvPr/>
            </p:nvSpPr>
            <p:spPr>
              <a:xfrm>
                <a:off x="-1849606" y="2826110"/>
                <a:ext cx="188195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BE" sz="1400" b="1" dirty="0">
                    <a:solidFill>
                      <a:srgbClr val="C00000"/>
                    </a:solidFill>
                  </a:rPr>
                  <a:t>DA CC - isolé </a:t>
                </a:r>
              </a:p>
              <a:p>
                <a:pPr algn="ctr"/>
                <a:r>
                  <a:rPr lang="fr-BE" sz="1400" b="1" dirty="0">
                    <a:solidFill>
                      <a:srgbClr val="C00000"/>
                    </a:solidFill>
                  </a:rPr>
                  <a:t>28.10.2022?</a:t>
                </a:r>
              </a:p>
            </p:txBody>
          </p:sp>
          <p:cxnSp>
            <p:nvCxnSpPr>
              <p:cNvPr id="35" name="Connecteur droit 34">
                <a:extLst>
                  <a:ext uri="{FF2B5EF4-FFF2-40B4-BE49-F238E27FC236}">
                    <a16:creationId xmlns:a16="http://schemas.microsoft.com/office/drawing/2014/main" id="{3FED099E-A3DA-47FB-8D69-767549410B2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-883315" y="1962869"/>
                <a:ext cx="1" cy="876718"/>
              </a:xfrm>
              <a:prstGeom prst="line">
                <a:avLst/>
              </a:prstGeom>
              <a:ln w="381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FEC928FA-34C3-4D6A-9C91-CDACB01CA61E}"/>
                  </a:ext>
                </a:extLst>
              </p:cNvPr>
              <p:cNvSpPr/>
              <p:nvPr/>
            </p:nvSpPr>
            <p:spPr>
              <a:xfrm>
                <a:off x="-7034267" y="2259345"/>
                <a:ext cx="1752625" cy="450928"/>
              </a:xfrm>
              <a:prstGeom prst="rect">
                <a:avLst/>
              </a:prstGeom>
              <a:solidFill>
                <a:srgbClr val="FBE5D6"/>
              </a:solidFill>
              <a:ln w="38100">
                <a:solidFill>
                  <a:srgbClr val="CE5E1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BE" sz="1400" b="1" dirty="0">
                    <a:solidFill>
                      <a:schemeClr val="tx1"/>
                    </a:solidFill>
                  </a:rPr>
                  <a:t>01/WB3</a:t>
                </a:r>
              </a:p>
            </p:txBody>
          </p:sp>
          <p:cxnSp>
            <p:nvCxnSpPr>
              <p:cNvPr id="37" name="Connecteur droit avec flèche 36">
                <a:extLst>
                  <a:ext uri="{FF2B5EF4-FFF2-40B4-BE49-F238E27FC236}">
                    <a16:creationId xmlns:a16="http://schemas.microsoft.com/office/drawing/2014/main" id="{831BACE1-66A8-4E6F-84FA-E5A8FEAEB1F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-7178198" y="2710273"/>
                <a:ext cx="6696744" cy="19008"/>
              </a:xfrm>
              <a:prstGeom prst="straightConnector1">
                <a:avLst/>
              </a:prstGeom>
              <a:ln w="38100"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8" name="Connecteur droit 37">
                <a:extLst>
                  <a:ext uri="{FF2B5EF4-FFF2-40B4-BE49-F238E27FC236}">
                    <a16:creationId xmlns:a16="http://schemas.microsoft.com/office/drawing/2014/main" id="{ABC29C71-B9D4-4E47-A046-9DF3699500A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-5281642" y="2181547"/>
                <a:ext cx="0" cy="522117"/>
              </a:xfrm>
              <a:prstGeom prst="line">
                <a:avLst/>
              </a:prstGeom>
              <a:ln w="38100">
                <a:solidFill>
                  <a:srgbClr val="CE5E1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Connecteur droit 38">
                <a:extLst>
                  <a:ext uri="{FF2B5EF4-FFF2-40B4-BE49-F238E27FC236}">
                    <a16:creationId xmlns:a16="http://schemas.microsoft.com/office/drawing/2014/main" id="{720E60B5-0DBD-46A8-9A06-34F242B719C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-7021288" y="2187168"/>
                <a:ext cx="0" cy="516496"/>
              </a:xfrm>
              <a:prstGeom prst="line">
                <a:avLst/>
              </a:prstGeom>
              <a:ln w="38100">
                <a:solidFill>
                  <a:srgbClr val="CE5E1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0" name="ZoneTexte 39">
                <a:extLst>
                  <a:ext uri="{FF2B5EF4-FFF2-40B4-BE49-F238E27FC236}">
                    <a16:creationId xmlns:a16="http://schemas.microsoft.com/office/drawing/2014/main" id="{319A60A0-FCE4-41C4-AC32-B1115293ACCC}"/>
                  </a:ext>
                </a:extLst>
              </p:cNvPr>
              <p:cNvSpPr txBox="1"/>
              <p:nvPr/>
            </p:nvSpPr>
            <p:spPr>
              <a:xfrm>
                <a:off x="-7165304" y="1929725"/>
                <a:ext cx="108973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BE" sz="1400" b="1" dirty="0">
                    <a:solidFill>
                      <a:srgbClr val="C3550A"/>
                    </a:solidFill>
                  </a:rPr>
                  <a:t>29.07.2011</a:t>
                </a:r>
              </a:p>
            </p:txBody>
          </p:sp>
          <p:sp>
            <p:nvSpPr>
              <p:cNvPr id="41" name="ZoneTexte 40">
                <a:extLst>
                  <a:ext uri="{FF2B5EF4-FFF2-40B4-BE49-F238E27FC236}">
                    <a16:creationId xmlns:a16="http://schemas.microsoft.com/office/drawing/2014/main" id="{EF313C19-F6CC-4664-8245-560AFA00942F}"/>
                  </a:ext>
                </a:extLst>
              </p:cNvPr>
              <p:cNvSpPr txBox="1"/>
              <p:nvPr/>
            </p:nvSpPr>
            <p:spPr>
              <a:xfrm>
                <a:off x="-5734757" y="1935082"/>
                <a:ext cx="108973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BE" sz="1400" b="1" dirty="0">
                    <a:solidFill>
                      <a:srgbClr val="C3550A"/>
                    </a:solidFill>
                  </a:rPr>
                  <a:t>28.07.2014</a:t>
                </a:r>
              </a:p>
            </p:txBody>
          </p:sp>
          <p:cxnSp>
            <p:nvCxnSpPr>
              <p:cNvPr id="42" name="Connecteur droit 41">
                <a:extLst>
                  <a:ext uri="{FF2B5EF4-FFF2-40B4-BE49-F238E27FC236}">
                    <a16:creationId xmlns:a16="http://schemas.microsoft.com/office/drawing/2014/main" id="{4DF8EEE5-549E-43AB-977C-603C733CD54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3649806" y="1884176"/>
                <a:ext cx="0" cy="959916"/>
              </a:xfrm>
              <a:prstGeom prst="line">
                <a:avLst/>
              </a:prstGeom>
              <a:ln w="381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534605740"/>
      </p:ext>
    </p:extLst>
  </p:cSld>
  <p:clrMapOvr>
    <a:masterClrMapping/>
  </p:clrMapOvr>
  <p:transition>
    <p:dissolv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ACAA8B1-35A5-459E-BDF0-8E69832E8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370" y="332656"/>
            <a:ext cx="8229600" cy="1143000"/>
          </a:xfrm>
        </p:spPr>
        <p:txBody>
          <a:bodyPr>
            <a:noAutofit/>
          </a:bodyPr>
          <a:lstStyle/>
          <a:p>
            <a:pPr algn="r"/>
            <a:r>
              <a:rPr lang="fr-BE" sz="4000" b="1" i="1" dirty="0"/>
              <a:t>4.2. Art. 42, 30 ou 33?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0D039A5-6F08-414B-AB04-A485DF0F0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21</a:t>
            </a:fld>
            <a:endParaRPr lang="fr-FR"/>
          </a:p>
        </p:txBody>
      </p:sp>
      <p:grpSp>
        <p:nvGrpSpPr>
          <p:cNvPr id="3" name="Groupe 2">
            <a:extLst>
              <a:ext uri="{FF2B5EF4-FFF2-40B4-BE49-F238E27FC236}">
                <a16:creationId xmlns:a16="http://schemas.microsoft.com/office/drawing/2014/main" id="{C78109B4-B86C-49FE-BE25-8CCF10958F93}"/>
              </a:ext>
            </a:extLst>
          </p:cNvPr>
          <p:cNvGrpSpPr/>
          <p:nvPr/>
        </p:nvGrpSpPr>
        <p:grpSpPr>
          <a:xfrm>
            <a:off x="611560" y="1700808"/>
            <a:ext cx="7930631" cy="1910536"/>
            <a:chOff x="611560" y="1700808"/>
            <a:chExt cx="7930631" cy="1910536"/>
          </a:xfrm>
        </p:grpSpPr>
        <p:sp>
          <p:nvSpPr>
            <p:cNvPr id="8" name="ZoneTexte 7">
              <a:extLst>
                <a:ext uri="{FF2B5EF4-FFF2-40B4-BE49-F238E27FC236}">
                  <a16:creationId xmlns:a16="http://schemas.microsoft.com/office/drawing/2014/main" id="{5F3FDFE7-7929-40E6-A58C-5C0D5BAAAD39}"/>
                </a:ext>
              </a:extLst>
            </p:cNvPr>
            <p:cNvSpPr txBox="1"/>
            <p:nvPr/>
          </p:nvSpPr>
          <p:spPr>
            <a:xfrm>
              <a:off x="611560" y="1700808"/>
              <a:ext cx="165088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BE" sz="1400" b="1" dirty="0">
                  <a:solidFill>
                    <a:prstClr val="black"/>
                  </a:solidFill>
                </a:rPr>
                <a:t>Affilié cohabitant</a:t>
              </a:r>
            </a:p>
            <a:p>
              <a:pPr algn="ctr"/>
              <a:r>
                <a:rPr lang="fr-BE" sz="1400" b="1" dirty="0">
                  <a:solidFill>
                    <a:prstClr val="black"/>
                  </a:solidFill>
                </a:rPr>
                <a:t>né le 05.01.1990</a:t>
              </a:r>
            </a:p>
          </p:txBody>
        </p: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2F36F3BF-B36D-4D34-ACD8-7250560FA34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47166" y="2146190"/>
              <a:ext cx="7756" cy="82864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ZoneTexte 11">
              <a:extLst>
                <a:ext uri="{FF2B5EF4-FFF2-40B4-BE49-F238E27FC236}">
                  <a16:creationId xmlns:a16="http://schemas.microsoft.com/office/drawing/2014/main" id="{4A9B9A91-018F-4631-A79E-2A0DD8F1CEFD}"/>
                </a:ext>
              </a:extLst>
            </p:cNvPr>
            <p:cNvSpPr txBox="1"/>
            <p:nvPr/>
          </p:nvSpPr>
          <p:spPr>
            <a:xfrm>
              <a:off x="6660232" y="3088124"/>
              <a:ext cx="188195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BE" sz="1400" b="1" dirty="0">
                  <a:solidFill>
                    <a:srgbClr val="C00000"/>
                  </a:solidFill>
                </a:rPr>
                <a:t>DA CC -  </a:t>
              </a:r>
            </a:p>
            <a:p>
              <a:pPr algn="ctr"/>
              <a:r>
                <a:rPr lang="fr-BE" sz="1400" b="1" dirty="0">
                  <a:solidFill>
                    <a:srgbClr val="C00000"/>
                  </a:solidFill>
                </a:rPr>
                <a:t>03.10.2022?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C8F17D6-57B1-4ECB-A4CE-9FD59CB00C54}"/>
                </a:ext>
              </a:extLst>
            </p:cNvPr>
            <p:cNvSpPr/>
            <p:nvPr/>
          </p:nvSpPr>
          <p:spPr>
            <a:xfrm>
              <a:off x="1475571" y="2521359"/>
              <a:ext cx="2015653" cy="450928"/>
            </a:xfrm>
            <a:prstGeom prst="rect">
              <a:avLst/>
            </a:prstGeom>
            <a:solidFill>
              <a:srgbClr val="FBE5D6"/>
            </a:solidFill>
            <a:ln w="38100">
              <a:solidFill>
                <a:srgbClr val="CE5E1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BE" sz="1400" b="1" dirty="0">
                  <a:solidFill>
                    <a:schemeClr val="tx1"/>
                  </a:solidFill>
                </a:rPr>
                <a:t>01/65BF</a:t>
              </a:r>
            </a:p>
          </p:txBody>
        </p:sp>
        <p:cxnSp>
          <p:nvCxnSpPr>
            <p:cNvPr id="16" name="Connecteur droit 15">
              <a:extLst>
                <a:ext uri="{FF2B5EF4-FFF2-40B4-BE49-F238E27FC236}">
                  <a16:creationId xmlns:a16="http://schemas.microsoft.com/office/drawing/2014/main" id="{83B938AC-186B-4838-9AF6-F0B5AD33939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91880" y="2433684"/>
              <a:ext cx="0" cy="522117"/>
            </a:xfrm>
            <a:prstGeom prst="line">
              <a:avLst/>
            </a:prstGeom>
            <a:ln w="38100">
              <a:solidFill>
                <a:srgbClr val="CE5E1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eur droit 16">
              <a:extLst>
                <a:ext uri="{FF2B5EF4-FFF2-40B4-BE49-F238E27FC236}">
                  <a16:creationId xmlns:a16="http://schemas.microsoft.com/office/drawing/2014/main" id="{CCCE0143-358D-4106-9B8A-80BD042E6B1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88550" y="2449182"/>
              <a:ext cx="0" cy="516496"/>
            </a:xfrm>
            <a:prstGeom prst="line">
              <a:avLst/>
            </a:prstGeom>
            <a:ln w="38100">
              <a:solidFill>
                <a:srgbClr val="CE5E1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ZoneTexte 17">
              <a:extLst>
                <a:ext uri="{FF2B5EF4-FFF2-40B4-BE49-F238E27FC236}">
                  <a16:creationId xmlns:a16="http://schemas.microsoft.com/office/drawing/2014/main" id="{FAF0AF8D-8EF3-4F61-94A2-9C5F56B31502}"/>
                </a:ext>
              </a:extLst>
            </p:cNvPr>
            <p:cNvSpPr txBox="1"/>
            <p:nvPr/>
          </p:nvSpPr>
          <p:spPr>
            <a:xfrm>
              <a:off x="1344534" y="2191739"/>
              <a:ext cx="108973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BE" sz="1400" b="1" dirty="0">
                  <a:solidFill>
                    <a:srgbClr val="C3550A"/>
                  </a:solidFill>
                </a:rPr>
                <a:t>29.07.2011</a:t>
              </a:r>
            </a:p>
          </p:txBody>
        </p:sp>
        <p:sp>
          <p:nvSpPr>
            <p:cNvPr id="19" name="ZoneTexte 18">
              <a:extLst>
                <a:ext uri="{FF2B5EF4-FFF2-40B4-BE49-F238E27FC236}">
                  <a16:creationId xmlns:a16="http://schemas.microsoft.com/office/drawing/2014/main" id="{2D4821CB-78C8-4780-8316-39A27FC68658}"/>
                </a:ext>
              </a:extLst>
            </p:cNvPr>
            <p:cNvSpPr txBox="1"/>
            <p:nvPr/>
          </p:nvSpPr>
          <p:spPr>
            <a:xfrm>
              <a:off x="2483768" y="2217737"/>
              <a:ext cx="108973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BE" sz="1400" b="1" dirty="0">
                  <a:solidFill>
                    <a:srgbClr val="C3550A"/>
                  </a:solidFill>
                </a:rPr>
                <a:t>12.06.2013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452A9B51-8106-4EBF-A71E-4986B450B826}"/>
                </a:ext>
              </a:extLst>
            </p:cNvPr>
            <p:cNvSpPr/>
            <p:nvPr/>
          </p:nvSpPr>
          <p:spPr>
            <a:xfrm>
              <a:off x="3504203" y="2504873"/>
              <a:ext cx="2263001" cy="450928"/>
            </a:xfrm>
            <a:prstGeom prst="rect">
              <a:avLst/>
            </a:prstGeom>
            <a:solidFill>
              <a:srgbClr val="B9CDE5"/>
            </a:solidFill>
            <a:ln w="38100">
              <a:solidFill>
                <a:srgbClr val="385D8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BE" sz="1400" b="1" dirty="0">
                  <a:solidFill>
                    <a:schemeClr val="tx1"/>
                  </a:solidFill>
                </a:rPr>
                <a:t>Incapacité de travail</a:t>
              </a:r>
            </a:p>
          </p:txBody>
        </p:sp>
        <p:cxnSp>
          <p:nvCxnSpPr>
            <p:cNvPr id="15" name="Connecteur droit avec flèche 14">
              <a:extLst>
                <a:ext uri="{FF2B5EF4-FFF2-40B4-BE49-F238E27FC236}">
                  <a16:creationId xmlns:a16="http://schemas.microsoft.com/office/drawing/2014/main" id="{0549D3AC-2D5A-43B1-89B1-65F0FA99427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31640" y="2972287"/>
              <a:ext cx="6696744" cy="19008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Connecteur droit 12">
              <a:extLst>
                <a:ext uri="{FF2B5EF4-FFF2-40B4-BE49-F238E27FC236}">
                  <a16:creationId xmlns:a16="http://schemas.microsoft.com/office/drawing/2014/main" id="{0DF7E2B6-E2DA-4F29-9551-96AB7E44B42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26523" y="2224883"/>
              <a:ext cx="1" cy="876718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eur droit 22">
              <a:extLst>
                <a:ext uri="{FF2B5EF4-FFF2-40B4-BE49-F238E27FC236}">
                  <a16:creationId xmlns:a16="http://schemas.microsoft.com/office/drawing/2014/main" id="{60471314-21E3-460E-8B11-4D0DBEAE0F3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11812" y="2449182"/>
              <a:ext cx="0" cy="522117"/>
            </a:xfrm>
            <a:prstGeom prst="line">
              <a:avLst/>
            </a:prstGeom>
            <a:ln w="38100">
              <a:solidFill>
                <a:srgbClr val="385D8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eur droit 23">
              <a:extLst>
                <a:ext uri="{FF2B5EF4-FFF2-40B4-BE49-F238E27FC236}">
                  <a16:creationId xmlns:a16="http://schemas.microsoft.com/office/drawing/2014/main" id="{0EB62985-1A0E-459F-A16B-1B52F361412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67204" y="2433684"/>
              <a:ext cx="0" cy="522117"/>
            </a:xfrm>
            <a:prstGeom prst="line">
              <a:avLst/>
            </a:prstGeom>
            <a:ln w="38100">
              <a:solidFill>
                <a:srgbClr val="385D8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ZoneTexte 24">
              <a:extLst>
                <a:ext uri="{FF2B5EF4-FFF2-40B4-BE49-F238E27FC236}">
                  <a16:creationId xmlns:a16="http://schemas.microsoft.com/office/drawing/2014/main" id="{5993C626-D04A-4278-A60A-98E5AAB94BBC}"/>
                </a:ext>
              </a:extLst>
            </p:cNvPr>
            <p:cNvSpPr txBox="1"/>
            <p:nvPr/>
          </p:nvSpPr>
          <p:spPr>
            <a:xfrm>
              <a:off x="4813162" y="2212727"/>
              <a:ext cx="108973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BE" sz="1400" b="1" dirty="0">
                  <a:solidFill>
                    <a:srgbClr val="385D8A"/>
                  </a:solidFill>
                </a:rPr>
                <a:t>30.09.2017</a:t>
              </a:r>
            </a:p>
          </p:txBody>
        </p:sp>
        <p:sp>
          <p:nvSpPr>
            <p:cNvPr id="26" name="ZoneTexte 25">
              <a:extLst>
                <a:ext uri="{FF2B5EF4-FFF2-40B4-BE49-F238E27FC236}">
                  <a16:creationId xmlns:a16="http://schemas.microsoft.com/office/drawing/2014/main" id="{F5D59BD8-599E-4C6D-9805-964EBD835606}"/>
                </a:ext>
              </a:extLst>
            </p:cNvPr>
            <p:cNvSpPr txBox="1"/>
            <p:nvPr/>
          </p:nvSpPr>
          <p:spPr>
            <a:xfrm>
              <a:off x="3683267" y="2183368"/>
              <a:ext cx="108973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fr-BE" sz="1400" b="1" dirty="0">
                <a:solidFill>
                  <a:srgbClr val="385D8A"/>
                </a:solidFill>
              </a:endParaRPr>
            </a:p>
          </p:txBody>
        </p:sp>
        <p:sp>
          <p:nvSpPr>
            <p:cNvPr id="27" name="ZoneTexte 26">
              <a:extLst>
                <a:ext uri="{FF2B5EF4-FFF2-40B4-BE49-F238E27FC236}">
                  <a16:creationId xmlns:a16="http://schemas.microsoft.com/office/drawing/2014/main" id="{ECF3A255-1874-42FA-BE23-61C915D095D8}"/>
                </a:ext>
              </a:extLst>
            </p:cNvPr>
            <p:cNvSpPr txBox="1"/>
            <p:nvPr/>
          </p:nvSpPr>
          <p:spPr>
            <a:xfrm>
              <a:off x="3410259" y="2204864"/>
              <a:ext cx="108973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BE" sz="1400" b="1" dirty="0">
                  <a:solidFill>
                    <a:srgbClr val="385D8A"/>
                  </a:solidFill>
                </a:rPr>
                <a:t>13.06.2013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5F3EF02C-89DD-4B4D-825A-AB9584BF33EB}"/>
                </a:ext>
              </a:extLst>
            </p:cNvPr>
            <p:cNvSpPr/>
            <p:nvPr/>
          </p:nvSpPr>
          <p:spPr>
            <a:xfrm>
              <a:off x="5790371" y="2511745"/>
              <a:ext cx="1836149" cy="450928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381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BE" sz="1400" b="1" dirty="0">
                  <a:solidFill>
                    <a:schemeClr val="tx1"/>
                  </a:solidFill>
                </a:rPr>
                <a:t>Travail indépendant</a:t>
              </a:r>
            </a:p>
          </p:txBody>
        </p:sp>
        <p:cxnSp>
          <p:nvCxnSpPr>
            <p:cNvPr id="29" name="Connecteur droit 28">
              <a:extLst>
                <a:ext uri="{FF2B5EF4-FFF2-40B4-BE49-F238E27FC236}">
                  <a16:creationId xmlns:a16="http://schemas.microsoft.com/office/drawing/2014/main" id="{3B31FAEB-E99B-4C2A-9C54-B17E94AF1E0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90371" y="2439303"/>
              <a:ext cx="0" cy="522117"/>
            </a:xfrm>
            <a:prstGeom prst="line">
              <a:avLst/>
            </a:prstGeom>
            <a:ln w="38100">
              <a:solidFill>
                <a:srgbClr val="95373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necteur droit 29">
              <a:extLst>
                <a:ext uri="{FF2B5EF4-FFF2-40B4-BE49-F238E27FC236}">
                  <a16:creationId xmlns:a16="http://schemas.microsoft.com/office/drawing/2014/main" id="{2981B75C-2A48-4EC7-B498-8CF883F3710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26520" y="2428817"/>
              <a:ext cx="0" cy="522117"/>
            </a:xfrm>
            <a:prstGeom prst="line">
              <a:avLst/>
            </a:prstGeom>
            <a:ln w="38100">
              <a:solidFill>
                <a:srgbClr val="95373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ZoneTexte 30">
              <a:extLst>
                <a:ext uri="{FF2B5EF4-FFF2-40B4-BE49-F238E27FC236}">
                  <a16:creationId xmlns:a16="http://schemas.microsoft.com/office/drawing/2014/main" id="{FF7032C9-F9C5-4F09-AB4E-E3CD7F8425CF}"/>
                </a:ext>
              </a:extLst>
            </p:cNvPr>
            <p:cNvSpPr txBox="1"/>
            <p:nvPr/>
          </p:nvSpPr>
          <p:spPr>
            <a:xfrm>
              <a:off x="6654442" y="2230243"/>
              <a:ext cx="108973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BE" sz="1400" b="1" dirty="0">
                  <a:solidFill>
                    <a:srgbClr val="953735"/>
                  </a:solidFill>
                </a:rPr>
                <a:t>30.09.2022</a:t>
              </a:r>
            </a:p>
          </p:txBody>
        </p:sp>
        <p:sp>
          <p:nvSpPr>
            <p:cNvPr id="32" name="ZoneTexte 31">
              <a:extLst>
                <a:ext uri="{FF2B5EF4-FFF2-40B4-BE49-F238E27FC236}">
                  <a16:creationId xmlns:a16="http://schemas.microsoft.com/office/drawing/2014/main" id="{DF6734FF-A0C7-45A2-B09D-F69F6B87C1F1}"/>
                </a:ext>
              </a:extLst>
            </p:cNvPr>
            <p:cNvSpPr txBox="1"/>
            <p:nvPr/>
          </p:nvSpPr>
          <p:spPr>
            <a:xfrm>
              <a:off x="5686988" y="2226455"/>
              <a:ext cx="108973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BE" sz="1400" b="1" dirty="0">
                  <a:solidFill>
                    <a:srgbClr val="953735"/>
                  </a:solidFill>
                </a:rPr>
                <a:t>01.10.2017</a:t>
              </a:r>
            </a:p>
          </p:txBody>
        </p:sp>
      </p:grpSp>
      <p:grpSp>
        <p:nvGrpSpPr>
          <p:cNvPr id="33" name="Groupe 32">
            <a:extLst>
              <a:ext uri="{FF2B5EF4-FFF2-40B4-BE49-F238E27FC236}">
                <a16:creationId xmlns:a16="http://schemas.microsoft.com/office/drawing/2014/main" id="{723F0CB6-D631-4331-89EC-2BA45077DF7B}"/>
              </a:ext>
            </a:extLst>
          </p:cNvPr>
          <p:cNvGrpSpPr/>
          <p:nvPr/>
        </p:nvGrpSpPr>
        <p:grpSpPr>
          <a:xfrm>
            <a:off x="698052" y="3678705"/>
            <a:ext cx="7930631" cy="1910536"/>
            <a:chOff x="611560" y="1700808"/>
            <a:chExt cx="7930631" cy="1910536"/>
          </a:xfrm>
        </p:grpSpPr>
        <p:sp>
          <p:nvSpPr>
            <p:cNvPr id="34" name="ZoneTexte 33">
              <a:extLst>
                <a:ext uri="{FF2B5EF4-FFF2-40B4-BE49-F238E27FC236}">
                  <a16:creationId xmlns:a16="http://schemas.microsoft.com/office/drawing/2014/main" id="{AAA3BC48-17A6-4336-834E-3D742F6E7FFE}"/>
                </a:ext>
              </a:extLst>
            </p:cNvPr>
            <p:cNvSpPr txBox="1"/>
            <p:nvPr/>
          </p:nvSpPr>
          <p:spPr>
            <a:xfrm>
              <a:off x="611560" y="1700808"/>
              <a:ext cx="165088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BE" sz="1400" b="1" dirty="0">
                  <a:solidFill>
                    <a:prstClr val="black"/>
                  </a:solidFill>
                </a:rPr>
                <a:t>Affilié cohabitant</a:t>
              </a:r>
            </a:p>
            <a:p>
              <a:pPr algn="ctr"/>
              <a:r>
                <a:rPr lang="fr-BE" sz="1400" b="1" dirty="0">
                  <a:solidFill>
                    <a:prstClr val="black"/>
                  </a:solidFill>
                </a:rPr>
                <a:t>né le 05.01.1990</a:t>
              </a:r>
            </a:p>
          </p:txBody>
        </p:sp>
        <p:cxnSp>
          <p:nvCxnSpPr>
            <p:cNvPr id="35" name="Connecteur droit 34">
              <a:extLst>
                <a:ext uri="{FF2B5EF4-FFF2-40B4-BE49-F238E27FC236}">
                  <a16:creationId xmlns:a16="http://schemas.microsoft.com/office/drawing/2014/main" id="{7B18ED07-E315-455F-9880-9DB768343E2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47166" y="2146190"/>
              <a:ext cx="7756" cy="82864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ZoneTexte 35">
              <a:extLst>
                <a:ext uri="{FF2B5EF4-FFF2-40B4-BE49-F238E27FC236}">
                  <a16:creationId xmlns:a16="http://schemas.microsoft.com/office/drawing/2014/main" id="{38B47DDD-B50F-4B50-8686-F4D09829EC3D}"/>
                </a:ext>
              </a:extLst>
            </p:cNvPr>
            <p:cNvSpPr txBox="1"/>
            <p:nvPr/>
          </p:nvSpPr>
          <p:spPr>
            <a:xfrm>
              <a:off x="6660232" y="3088124"/>
              <a:ext cx="188195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BE" sz="1400" b="1" dirty="0">
                  <a:solidFill>
                    <a:srgbClr val="C00000"/>
                  </a:solidFill>
                </a:rPr>
                <a:t>DA CC -  </a:t>
              </a:r>
            </a:p>
            <a:p>
              <a:pPr algn="ctr"/>
              <a:r>
                <a:rPr lang="fr-BE" sz="1400" b="1" dirty="0">
                  <a:solidFill>
                    <a:srgbClr val="C00000"/>
                  </a:solidFill>
                </a:rPr>
                <a:t>03.10.2022?</a:t>
              </a: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160D284C-A23C-4C25-A239-A63BAE77988A}"/>
                </a:ext>
              </a:extLst>
            </p:cNvPr>
            <p:cNvSpPr/>
            <p:nvPr/>
          </p:nvSpPr>
          <p:spPr>
            <a:xfrm>
              <a:off x="1475571" y="2521359"/>
              <a:ext cx="2264515" cy="450928"/>
            </a:xfrm>
            <a:prstGeom prst="rect">
              <a:avLst/>
            </a:prstGeom>
            <a:solidFill>
              <a:srgbClr val="FBE5D6"/>
            </a:solidFill>
            <a:ln w="38100">
              <a:solidFill>
                <a:srgbClr val="CE5E1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BE" sz="1400" b="1" dirty="0">
                  <a:solidFill>
                    <a:schemeClr val="tx1"/>
                  </a:solidFill>
                </a:rPr>
                <a:t>01/65BF</a:t>
              </a:r>
            </a:p>
          </p:txBody>
        </p:sp>
        <p:cxnSp>
          <p:nvCxnSpPr>
            <p:cNvPr id="38" name="Connecteur droit 37">
              <a:extLst>
                <a:ext uri="{FF2B5EF4-FFF2-40B4-BE49-F238E27FC236}">
                  <a16:creationId xmlns:a16="http://schemas.microsoft.com/office/drawing/2014/main" id="{8F734274-BAA2-4F65-8FEC-E4234CDB777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40086" y="2428817"/>
              <a:ext cx="0" cy="522117"/>
            </a:xfrm>
            <a:prstGeom prst="line">
              <a:avLst/>
            </a:prstGeom>
            <a:ln w="38100">
              <a:solidFill>
                <a:srgbClr val="CE5E1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necteur droit 38">
              <a:extLst>
                <a:ext uri="{FF2B5EF4-FFF2-40B4-BE49-F238E27FC236}">
                  <a16:creationId xmlns:a16="http://schemas.microsoft.com/office/drawing/2014/main" id="{99D1C863-5DD8-4094-B83C-73F0B43E5B2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88550" y="2449182"/>
              <a:ext cx="0" cy="516496"/>
            </a:xfrm>
            <a:prstGeom prst="line">
              <a:avLst/>
            </a:prstGeom>
            <a:ln w="38100">
              <a:solidFill>
                <a:srgbClr val="CE5E1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ZoneTexte 39">
              <a:extLst>
                <a:ext uri="{FF2B5EF4-FFF2-40B4-BE49-F238E27FC236}">
                  <a16:creationId xmlns:a16="http://schemas.microsoft.com/office/drawing/2014/main" id="{262E0145-D9B1-4CC8-AE60-AA56090DA930}"/>
                </a:ext>
              </a:extLst>
            </p:cNvPr>
            <p:cNvSpPr txBox="1"/>
            <p:nvPr/>
          </p:nvSpPr>
          <p:spPr>
            <a:xfrm>
              <a:off x="1344534" y="2191739"/>
              <a:ext cx="108973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BE" sz="1400" b="1" dirty="0">
                  <a:solidFill>
                    <a:srgbClr val="CE5E12"/>
                  </a:solidFill>
                </a:rPr>
                <a:t>29.07.2011</a:t>
              </a:r>
            </a:p>
          </p:txBody>
        </p:sp>
        <p:sp>
          <p:nvSpPr>
            <p:cNvPr id="41" name="ZoneTexte 40">
              <a:extLst>
                <a:ext uri="{FF2B5EF4-FFF2-40B4-BE49-F238E27FC236}">
                  <a16:creationId xmlns:a16="http://schemas.microsoft.com/office/drawing/2014/main" id="{DA2B3224-774E-4AA4-A270-4952C3CEB3B8}"/>
                </a:ext>
              </a:extLst>
            </p:cNvPr>
            <p:cNvSpPr txBox="1"/>
            <p:nvPr/>
          </p:nvSpPr>
          <p:spPr>
            <a:xfrm>
              <a:off x="2742665" y="2229378"/>
              <a:ext cx="108973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BE" sz="1400" b="1">
                  <a:solidFill>
                    <a:srgbClr val="C3550A"/>
                  </a:solidFill>
                </a:rPr>
                <a:t>08.10.2014</a:t>
              </a:r>
              <a:endParaRPr lang="fr-BE" sz="1400" b="1" dirty="0">
                <a:solidFill>
                  <a:srgbClr val="C3550A"/>
                </a:solidFill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908D4FFD-5D78-4795-82C3-21AFDA9B3501}"/>
                </a:ext>
              </a:extLst>
            </p:cNvPr>
            <p:cNvSpPr/>
            <p:nvPr/>
          </p:nvSpPr>
          <p:spPr>
            <a:xfrm>
              <a:off x="3767109" y="2504873"/>
              <a:ext cx="2000095" cy="450928"/>
            </a:xfrm>
            <a:prstGeom prst="rect">
              <a:avLst/>
            </a:prstGeom>
            <a:solidFill>
              <a:srgbClr val="B9CDE5"/>
            </a:solidFill>
            <a:ln w="38100">
              <a:solidFill>
                <a:srgbClr val="385D8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BE" sz="1400" b="1" dirty="0">
                  <a:solidFill>
                    <a:schemeClr val="tx1"/>
                  </a:solidFill>
                </a:rPr>
                <a:t>Incapacité de travail</a:t>
              </a:r>
            </a:p>
          </p:txBody>
        </p:sp>
        <p:cxnSp>
          <p:nvCxnSpPr>
            <p:cNvPr id="43" name="Connecteur droit avec flèche 42">
              <a:extLst>
                <a:ext uri="{FF2B5EF4-FFF2-40B4-BE49-F238E27FC236}">
                  <a16:creationId xmlns:a16="http://schemas.microsoft.com/office/drawing/2014/main" id="{CD828977-5DD0-4612-BD15-732BD81A3DC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31640" y="2972287"/>
              <a:ext cx="6696744" cy="19008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4" name="Connecteur droit 43">
              <a:extLst>
                <a:ext uri="{FF2B5EF4-FFF2-40B4-BE49-F238E27FC236}">
                  <a16:creationId xmlns:a16="http://schemas.microsoft.com/office/drawing/2014/main" id="{8C77B730-FA77-4C2F-8927-1E71375E92A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26523" y="2224883"/>
              <a:ext cx="1" cy="876718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necteur droit 44">
              <a:extLst>
                <a:ext uri="{FF2B5EF4-FFF2-40B4-BE49-F238E27FC236}">
                  <a16:creationId xmlns:a16="http://schemas.microsoft.com/office/drawing/2014/main" id="{8D74C839-F37D-4713-9107-F34C573E675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67109" y="2428817"/>
              <a:ext cx="0" cy="522117"/>
            </a:xfrm>
            <a:prstGeom prst="line">
              <a:avLst/>
            </a:prstGeom>
            <a:ln w="38100">
              <a:solidFill>
                <a:srgbClr val="385D8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necteur droit 45">
              <a:extLst>
                <a:ext uri="{FF2B5EF4-FFF2-40B4-BE49-F238E27FC236}">
                  <a16:creationId xmlns:a16="http://schemas.microsoft.com/office/drawing/2014/main" id="{FCCA609B-9497-4A8E-AFB9-354E3F3876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67204" y="2433684"/>
              <a:ext cx="0" cy="522117"/>
            </a:xfrm>
            <a:prstGeom prst="line">
              <a:avLst/>
            </a:prstGeom>
            <a:ln w="38100">
              <a:solidFill>
                <a:srgbClr val="385D8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ZoneTexte 46">
              <a:extLst>
                <a:ext uri="{FF2B5EF4-FFF2-40B4-BE49-F238E27FC236}">
                  <a16:creationId xmlns:a16="http://schemas.microsoft.com/office/drawing/2014/main" id="{DD1BF3BB-B23A-43E7-8137-6902F9A80BF2}"/>
                </a:ext>
              </a:extLst>
            </p:cNvPr>
            <p:cNvSpPr txBox="1"/>
            <p:nvPr/>
          </p:nvSpPr>
          <p:spPr>
            <a:xfrm>
              <a:off x="4813162" y="2212727"/>
              <a:ext cx="108973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BE" sz="1400" b="1" dirty="0">
                  <a:solidFill>
                    <a:srgbClr val="385D8A"/>
                  </a:solidFill>
                </a:rPr>
                <a:t>30.09.2017</a:t>
              </a:r>
            </a:p>
          </p:txBody>
        </p:sp>
        <p:sp>
          <p:nvSpPr>
            <p:cNvPr id="48" name="ZoneTexte 47">
              <a:extLst>
                <a:ext uri="{FF2B5EF4-FFF2-40B4-BE49-F238E27FC236}">
                  <a16:creationId xmlns:a16="http://schemas.microsoft.com/office/drawing/2014/main" id="{154FA569-EB7A-42A9-BE5B-52A3F655E3BA}"/>
                </a:ext>
              </a:extLst>
            </p:cNvPr>
            <p:cNvSpPr txBox="1"/>
            <p:nvPr/>
          </p:nvSpPr>
          <p:spPr>
            <a:xfrm>
              <a:off x="3683267" y="2183368"/>
              <a:ext cx="108973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fr-BE" sz="1400" b="1" dirty="0">
                <a:solidFill>
                  <a:srgbClr val="385D8A"/>
                </a:solidFill>
              </a:endParaRPr>
            </a:p>
          </p:txBody>
        </p:sp>
        <p:sp>
          <p:nvSpPr>
            <p:cNvPr id="49" name="ZoneTexte 48">
              <a:extLst>
                <a:ext uri="{FF2B5EF4-FFF2-40B4-BE49-F238E27FC236}">
                  <a16:creationId xmlns:a16="http://schemas.microsoft.com/office/drawing/2014/main" id="{73470587-07A6-458B-A740-20DDE6A1E270}"/>
                </a:ext>
              </a:extLst>
            </p:cNvPr>
            <p:cNvSpPr txBox="1"/>
            <p:nvPr/>
          </p:nvSpPr>
          <p:spPr>
            <a:xfrm>
              <a:off x="3656244" y="2224028"/>
              <a:ext cx="108973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BE" sz="1400" b="1" dirty="0">
                  <a:solidFill>
                    <a:srgbClr val="385D8A"/>
                  </a:solidFill>
                </a:rPr>
                <a:t>09.10.2014</a:t>
              </a: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155A3CC3-5C13-42C4-A950-C5A313BCECCA}"/>
                </a:ext>
              </a:extLst>
            </p:cNvPr>
            <p:cNvSpPr/>
            <p:nvPr/>
          </p:nvSpPr>
          <p:spPr>
            <a:xfrm>
              <a:off x="5790371" y="2511745"/>
              <a:ext cx="1836149" cy="450928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381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BE" sz="1400" b="1" dirty="0">
                  <a:solidFill>
                    <a:schemeClr val="tx1"/>
                  </a:solidFill>
                </a:rPr>
                <a:t>Travail indépendant</a:t>
              </a:r>
            </a:p>
          </p:txBody>
        </p:sp>
        <p:cxnSp>
          <p:nvCxnSpPr>
            <p:cNvPr id="51" name="Connecteur droit 50">
              <a:extLst>
                <a:ext uri="{FF2B5EF4-FFF2-40B4-BE49-F238E27FC236}">
                  <a16:creationId xmlns:a16="http://schemas.microsoft.com/office/drawing/2014/main" id="{F9324670-3917-4DE3-9AFE-AA76A1BBA2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90371" y="2439303"/>
              <a:ext cx="0" cy="522117"/>
            </a:xfrm>
            <a:prstGeom prst="line">
              <a:avLst/>
            </a:prstGeom>
            <a:ln w="38100">
              <a:solidFill>
                <a:srgbClr val="95373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Connecteur droit 51">
              <a:extLst>
                <a:ext uri="{FF2B5EF4-FFF2-40B4-BE49-F238E27FC236}">
                  <a16:creationId xmlns:a16="http://schemas.microsoft.com/office/drawing/2014/main" id="{7DC20048-F7F8-4D39-BA63-40F3120558A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26520" y="2428817"/>
              <a:ext cx="0" cy="522117"/>
            </a:xfrm>
            <a:prstGeom prst="line">
              <a:avLst/>
            </a:prstGeom>
            <a:ln w="38100">
              <a:solidFill>
                <a:srgbClr val="95373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ZoneTexte 52">
              <a:extLst>
                <a:ext uri="{FF2B5EF4-FFF2-40B4-BE49-F238E27FC236}">
                  <a16:creationId xmlns:a16="http://schemas.microsoft.com/office/drawing/2014/main" id="{784692CE-A76A-4B49-A0D6-2711E9C5006E}"/>
                </a:ext>
              </a:extLst>
            </p:cNvPr>
            <p:cNvSpPr txBox="1"/>
            <p:nvPr/>
          </p:nvSpPr>
          <p:spPr>
            <a:xfrm>
              <a:off x="6654442" y="2230243"/>
              <a:ext cx="108973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BE" sz="1400" b="1" dirty="0">
                  <a:solidFill>
                    <a:srgbClr val="953735"/>
                  </a:solidFill>
                </a:rPr>
                <a:t>30.09.2022</a:t>
              </a:r>
            </a:p>
          </p:txBody>
        </p:sp>
        <p:sp>
          <p:nvSpPr>
            <p:cNvPr id="54" name="ZoneTexte 53">
              <a:extLst>
                <a:ext uri="{FF2B5EF4-FFF2-40B4-BE49-F238E27FC236}">
                  <a16:creationId xmlns:a16="http://schemas.microsoft.com/office/drawing/2014/main" id="{DCE8095C-ACD6-4B3B-AA29-4BAF8AD05D6E}"/>
                </a:ext>
              </a:extLst>
            </p:cNvPr>
            <p:cNvSpPr txBox="1"/>
            <p:nvPr/>
          </p:nvSpPr>
          <p:spPr>
            <a:xfrm>
              <a:off x="5686988" y="2226455"/>
              <a:ext cx="108973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BE" sz="1400" b="1" dirty="0">
                  <a:solidFill>
                    <a:srgbClr val="953735"/>
                  </a:solidFill>
                </a:rPr>
                <a:t>01.10.2017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38893241"/>
      </p:ext>
    </p:extLst>
  </p:cSld>
  <p:clrMapOvr>
    <a:masterClrMapping/>
  </p:clrMapOvr>
  <p:transition>
    <p:dissolv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ACAA8B1-35A5-459E-BDF0-8E69832E8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r"/>
            <a:r>
              <a:rPr lang="fr-BE" sz="4000" b="1" i="1" dirty="0"/>
              <a:t>4.2. Art. 42, 30 ou 33?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0D039A5-6F08-414B-AB04-A485DF0F0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22</a:t>
            </a:fld>
            <a:endParaRPr lang="fr-FR"/>
          </a:p>
        </p:txBody>
      </p:sp>
      <p:grpSp>
        <p:nvGrpSpPr>
          <p:cNvPr id="7" name="Groupe 6">
            <a:extLst>
              <a:ext uri="{FF2B5EF4-FFF2-40B4-BE49-F238E27FC236}">
                <a16:creationId xmlns:a16="http://schemas.microsoft.com/office/drawing/2014/main" id="{1D26D82F-4027-4A0A-AA2E-DF8AAF271322}"/>
              </a:ext>
            </a:extLst>
          </p:cNvPr>
          <p:cNvGrpSpPr/>
          <p:nvPr/>
        </p:nvGrpSpPr>
        <p:grpSpPr>
          <a:xfrm>
            <a:off x="606684" y="1749275"/>
            <a:ext cx="7930631" cy="1924013"/>
            <a:chOff x="-7898278" y="1438794"/>
            <a:chExt cx="7930631" cy="1924013"/>
          </a:xfrm>
        </p:grpSpPr>
        <p:sp>
          <p:nvSpPr>
            <p:cNvPr id="8" name="ZoneTexte 7">
              <a:extLst>
                <a:ext uri="{FF2B5EF4-FFF2-40B4-BE49-F238E27FC236}">
                  <a16:creationId xmlns:a16="http://schemas.microsoft.com/office/drawing/2014/main" id="{7E072961-4503-4305-891A-4651C0136695}"/>
                </a:ext>
              </a:extLst>
            </p:cNvPr>
            <p:cNvSpPr txBox="1"/>
            <p:nvPr/>
          </p:nvSpPr>
          <p:spPr>
            <a:xfrm>
              <a:off x="-7898278" y="1438794"/>
              <a:ext cx="165088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BE" sz="1400" b="1" dirty="0">
                  <a:solidFill>
                    <a:prstClr val="black"/>
                  </a:solidFill>
                </a:rPr>
                <a:t>Affilié cohabitant</a:t>
              </a:r>
            </a:p>
            <a:p>
              <a:pPr algn="ctr"/>
              <a:r>
                <a:rPr lang="fr-BE" sz="1400" b="1" dirty="0">
                  <a:solidFill>
                    <a:prstClr val="black"/>
                  </a:solidFill>
                </a:rPr>
                <a:t>né le 05.01.1992</a:t>
              </a:r>
            </a:p>
          </p:txBody>
        </p:sp>
        <p:grpSp>
          <p:nvGrpSpPr>
            <p:cNvPr id="10" name="Groupe 9">
              <a:extLst>
                <a:ext uri="{FF2B5EF4-FFF2-40B4-BE49-F238E27FC236}">
                  <a16:creationId xmlns:a16="http://schemas.microsoft.com/office/drawing/2014/main" id="{7C627852-EE9C-49DA-9CE0-7A69D8589381}"/>
                </a:ext>
              </a:extLst>
            </p:cNvPr>
            <p:cNvGrpSpPr/>
            <p:nvPr/>
          </p:nvGrpSpPr>
          <p:grpSpPr>
            <a:xfrm>
              <a:off x="-7178198" y="1884176"/>
              <a:ext cx="7210551" cy="1478631"/>
              <a:chOff x="-7178198" y="1884176"/>
              <a:chExt cx="7210551" cy="1478631"/>
            </a:xfrm>
          </p:grpSpPr>
          <p:sp>
            <p:nvSpPr>
              <p:cNvPr id="11" name="ZoneTexte 10">
                <a:extLst>
                  <a:ext uri="{FF2B5EF4-FFF2-40B4-BE49-F238E27FC236}">
                    <a16:creationId xmlns:a16="http://schemas.microsoft.com/office/drawing/2014/main" id="{07A3C5D8-3FE7-4941-8DF9-41EBAA081DDA}"/>
                  </a:ext>
                </a:extLst>
              </p:cNvPr>
              <p:cNvSpPr txBox="1"/>
              <p:nvPr/>
            </p:nvSpPr>
            <p:spPr>
              <a:xfrm>
                <a:off x="-6075571" y="2839587"/>
                <a:ext cx="176276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BE" sz="1400" b="1" dirty="0">
                    <a:solidFill>
                      <a:srgbClr val="C00000"/>
                    </a:solidFill>
                  </a:rPr>
                  <a:t>Naissance d’un enfant le 18.10.2014</a:t>
                </a:r>
              </a:p>
            </p:txBody>
          </p:sp>
          <p:cxnSp>
            <p:nvCxnSpPr>
              <p:cNvPr id="12" name="Connecteur droit 11">
                <a:extLst>
                  <a:ext uri="{FF2B5EF4-FFF2-40B4-BE49-F238E27FC236}">
                    <a16:creationId xmlns:a16="http://schemas.microsoft.com/office/drawing/2014/main" id="{2F376FB6-3B1B-4790-9E53-7D3B85B3A4A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7062672" y="1884176"/>
                <a:ext cx="7756" cy="828643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" name="ZoneTexte 12">
                <a:extLst>
                  <a:ext uri="{FF2B5EF4-FFF2-40B4-BE49-F238E27FC236}">
                    <a16:creationId xmlns:a16="http://schemas.microsoft.com/office/drawing/2014/main" id="{062B00A7-958B-4F8F-A0A2-921887FB8D2D}"/>
                  </a:ext>
                </a:extLst>
              </p:cNvPr>
              <p:cNvSpPr txBox="1"/>
              <p:nvPr/>
            </p:nvSpPr>
            <p:spPr>
              <a:xfrm>
                <a:off x="-1849606" y="2826110"/>
                <a:ext cx="188195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BE" sz="1400" b="1" dirty="0">
                    <a:solidFill>
                      <a:srgbClr val="C00000"/>
                    </a:solidFill>
                  </a:rPr>
                  <a:t>DA - cohabitant </a:t>
                </a:r>
              </a:p>
              <a:p>
                <a:pPr algn="ctr"/>
                <a:r>
                  <a:rPr lang="fr-BE" sz="1400" b="1" dirty="0">
                    <a:solidFill>
                      <a:srgbClr val="C00000"/>
                    </a:solidFill>
                  </a:rPr>
                  <a:t>18.10.2022?</a:t>
                </a:r>
              </a:p>
            </p:txBody>
          </p:sp>
          <p:cxnSp>
            <p:nvCxnSpPr>
              <p:cNvPr id="14" name="Connecteur droit 13">
                <a:extLst>
                  <a:ext uri="{FF2B5EF4-FFF2-40B4-BE49-F238E27FC236}">
                    <a16:creationId xmlns:a16="http://schemas.microsoft.com/office/drawing/2014/main" id="{5333277B-5AEA-4331-9F4F-F478337B8AD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-883315" y="1962869"/>
                <a:ext cx="1" cy="876718"/>
              </a:xfrm>
              <a:prstGeom prst="line">
                <a:avLst/>
              </a:prstGeom>
              <a:ln w="381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90F0E561-8A28-46DA-BBDF-263C14E69A61}"/>
                  </a:ext>
                </a:extLst>
              </p:cNvPr>
              <p:cNvSpPr/>
              <p:nvPr/>
            </p:nvSpPr>
            <p:spPr>
              <a:xfrm>
                <a:off x="-7034267" y="2259345"/>
                <a:ext cx="1752625" cy="450928"/>
              </a:xfrm>
              <a:prstGeom prst="rect">
                <a:avLst/>
              </a:prstGeom>
              <a:solidFill>
                <a:srgbClr val="FBE5D6"/>
              </a:solidFill>
              <a:ln w="38100">
                <a:solidFill>
                  <a:srgbClr val="CE5E1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BE" sz="1400" b="1" dirty="0">
                    <a:solidFill>
                      <a:schemeClr val="tx1"/>
                    </a:solidFill>
                  </a:rPr>
                  <a:t>01/WB3</a:t>
                </a:r>
              </a:p>
            </p:txBody>
          </p:sp>
          <p:cxnSp>
            <p:nvCxnSpPr>
              <p:cNvPr id="16" name="Connecteur droit avec flèche 15">
                <a:extLst>
                  <a:ext uri="{FF2B5EF4-FFF2-40B4-BE49-F238E27FC236}">
                    <a16:creationId xmlns:a16="http://schemas.microsoft.com/office/drawing/2014/main" id="{D5CF6F34-8DC7-41C4-9E55-21B95615599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-7178198" y="2710273"/>
                <a:ext cx="6696744" cy="19008"/>
              </a:xfrm>
              <a:prstGeom prst="straightConnector1">
                <a:avLst/>
              </a:prstGeom>
              <a:ln w="38100"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" name="Connecteur droit 16">
                <a:extLst>
                  <a:ext uri="{FF2B5EF4-FFF2-40B4-BE49-F238E27FC236}">
                    <a16:creationId xmlns:a16="http://schemas.microsoft.com/office/drawing/2014/main" id="{183A5CCC-7222-4CDD-9178-B63C5D1C443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-5281642" y="2181547"/>
                <a:ext cx="0" cy="522117"/>
              </a:xfrm>
              <a:prstGeom prst="line">
                <a:avLst/>
              </a:prstGeom>
              <a:ln w="38100">
                <a:solidFill>
                  <a:srgbClr val="CE5E1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Connecteur droit 17">
                <a:extLst>
                  <a:ext uri="{FF2B5EF4-FFF2-40B4-BE49-F238E27FC236}">
                    <a16:creationId xmlns:a16="http://schemas.microsoft.com/office/drawing/2014/main" id="{58555B7F-AAA3-4DA0-9F71-A01567626D0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-7021288" y="2187168"/>
                <a:ext cx="0" cy="516496"/>
              </a:xfrm>
              <a:prstGeom prst="line">
                <a:avLst/>
              </a:prstGeom>
              <a:ln w="38100">
                <a:solidFill>
                  <a:srgbClr val="CE5E1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ZoneTexte 18">
                <a:extLst>
                  <a:ext uri="{FF2B5EF4-FFF2-40B4-BE49-F238E27FC236}">
                    <a16:creationId xmlns:a16="http://schemas.microsoft.com/office/drawing/2014/main" id="{B194984D-7167-455B-8496-57C5C9A6A6A7}"/>
                  </a:ext>
                </a:extLst>
              </p:cNvPr>
              <p:cNvSpPr txBox="1"/>
              <p:nvPr/>
            </p:nvSpPr>
            <p:spPr>
              <a:xfrm>
                <a:off x="-7165304" y="1929725"/>
                <a:ext cx="108973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BE" sz="1400" b="1" dirty="0">
                    <a:solidFill>
                      <a:srgbClr val="C3550A"/>
                    </a:solidFill>
                  </a:rPr>
                  <a:t>29.07.2011</a:t>
                </a:r>
              </a:p>
            </p:txBody>
          </p:sp>
          <p:sp>
            <p:nvSpPr>
              <p:cNvPr id="20" name="ZoneTexte 19">
                <a:extLst>
                  <a:ext uri="{FF2B5EF4-FFF2-40B4-BE49-F238E27FC236}">
                    <a16:creationId xmlns:a16="http://schemas.microsoft.com/office/drawing/2014/main" id="{E20ADBBC-8D3B-4A24-8440-15E7BDCEFBF1}"/>
                  </a:ext>
                </a:extLst>
              </p:cNvPr>
              <p:cNvSpPr txBox="1"/>
              <p:nvPr/>
            </p:nvSpPr>
            <p:spPr>
              <a:xfrm>
                <a:off x="-6237218" y="1935082"/>
                <a:ext cx="108973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BE" sz="1400" b="1" dirty="0">
                    <a:solidFill>
                      <a:srgbClr val="C3550A"/>
                    </a:solidFill>
                  </a:rPr>
                  <a:t>28.07.2014</a:t>
                </a:r>
              </a:p>
            </p:txBody>
          </p:sp>
          <p:cxnSp>
            <p:nvCxnSpPr>
              <p:cNvPr id="21" name="Connecteur droit 20">
                <a:extLst>
                  <a:ext uri="{FF2B5EF4-FFF2-40B4-BE49-F238E27FC236}">
                    <a16:creationId xmlns:a16="http://schemas.microsoft.com/office/drawing/2014/main" id="{E3C82ABF-85B8-416D-A044-1BACC089C4B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5172473" y="1884176"/>
                <a:ext cx="0" cy="959916"/>
              </a:xfrm>
              <a:prstGeom prst="line">
                <a:avLst/>
              </a:prstGeom>
              <a:ln w="381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Connecteur droit 21">
                <a:extLst>
                  <a:ext uri="{FF2B5EF4-FFF2-40B4-BE49-F238E27FC236}">
                    <a16:creationId xmlns:a16="http://schemas.microsoft.com/office/drawing/2014/main" id="{AD79D454-564B-4FF2-818B-7D5B2416E2F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2420794" y="1888984"/>
                <a:ext cx="0" cy="959916"/>
              </a:xfrm>
              <a:prstGeom prst="line">
                <a:avLst/>
              </a:prstGeom>
              <a:ln w="381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" name="ZoneTexte 22">
                <a:extLst>
                  <a:ext uri="{FF2B5EF4-FFF2-40B4-BE49-F238E27FC236}">
                    <a16:creationId xmlns:a16="http://schemas.microsoft.com/office/drawing/2014/main" id="{FDDC4A69-7A6D-4462-8455-C2B2C0A3FA57}"/>
                  </a:ext>
                </a:extLst>
              </p:cNvPr>
              <p:cNvSpPr txBox="1"/>
              <p:nvPr/>
            </p:nvSpPr>
            <p:spPr>
              <a:xfrm>
                <a:off x="-3319459" y="2817087"/>
                <a:ext cx="176276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BE" sz="1400" b="1" dirty="0">
                    <a:solidFill>
                      <a:srgbClr val="C00000"/>
                    </a:solidFill>
                  </a:rPr>
                  <a:t>Naissance d’un enfant le 18.10.2020</a:t>
                </a:r>
              </a:p>
            </p:txBody>
          </p:sp>
        </p:grpSp>
      </p:grpSp>
      <p:grpSp>
        <p:nvGrpSpPr>
          <p:cNvPr id="24" name="Groupe 23">
            <a:extLst>
              <a:ext uri="{FF2B5EF4-FFF2-40B4-BE49-F238E27FC236}">
                <a16:creationId xmlns:a16="http://schemas.microsoft.com/office/drawing/2014/main" id="{C29F9FFA-6DEA-4703-A6F2-E5ECF871D9A7}"/>
              </a:ext>
            </a:extLst>
          </p:cNvPr>
          <p:cNvGrpSpPr/>
          <p:nvPr/>
        </p:nvGrpSpPr>
        <p:grpSpPr>
          <a:xfrm>
            <a:off x="606684" y="3910882"/>
            <a:ext cx="7930631" cy="1924013"/>
            <a:chOff x="-7898278" y="1438794"/>
            <a:chExt cx="7930631" cy="1924013"/>
          </a:xfrm>
        </p:grpSpPr>
        <p:sp>
          <p:nvSpPr>
            <p:cNvPr id="25" name="ZoneTexte 24">
              <a:extLst>
                <a:ext uri="{FF2B5EF4-FFF2-40B4-BE49-F238E27FC236}">
                  <a16:creationId xmlns:a16="http://schemas.microsoft.com/office/drawing/2014/main" id="{B96466A8-34B9-4910-B92A-9BF68A3F49F4}"/>
                </a:ext>
              </a:extLst>
            </p:cNvPr>
            <p:cNvSpPr txBox="1"/>
            <p:nvPr/>
          </p:nvSpPr>
          <p:spPr>
            <a:xfrm>
              <a:off x="-7898278" y="1438794"/>
              <a:ext cx="165088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BE" sz="1400" b="1" dirty="0">
                  <a:solidFill>
                    <a:prstClr val="black"/>
                  </a:solidFill>
                </a:rPr>
                <a:t>Affilié cohabitant</a:t>
              </a:r>
            </a:p>
            <a:p>
              <a:pPr algn="ctr"/>
              <a:r>
                <a:rPr lang="fr-BE" sz="1400" b="1" dirty="0">
                  <a:solidFill>
                    <a:prstClr val="black"/>
                  </a:solidFill>
                </a:rPr>
                <a:t>né le 05.01.1992</a:t>
              </a:r>
            </a:p>
          </p:txBody>
        </p:sp>
        <p:grpSp>
          <p:nvGrpSpPr>
            <p:cNvPr id="26" name="Groupe 25">
              <a:extLst>
                <a:ext uri="{FF2B5EF4-FFF2-40B4-BE49-F238E27FC236}">
                  <a16:creationId xmlns:a16="http://schemas.microsoft.com/office/drawing/2014/main" id="{BA73853F-AD94-4DB2-A3BF-5DABFAEE3E7D}"/>
                </a:ext>
              </a:extLst>
            </p:cNvPr>
            <p:cNvGrpSpPr/>
            <p:nvPr/>
          </p:nvGrpSpPr>
          <p:grpSpPr>
            <a:xfrm>
              <a:off x="-7178198" y="1884176"/>
              <a:ext cx="7210551" cy="1478631"/>
              <a:chOff x="-7178198" y="1884176"/>
              <a:chExt cx="7210551" cy="1478631"/>
            </a:xfrm>
          </p:grpSpPr>
          <p:sp>
            <p:nvSpPr>
              <p:cNvPr id="27" name="ZoneTexte 26">
                <a:extLst>
                  <a:ext uri="{FF2B5EF4-FFF2-40B4-BE49-F238E27FC236}">
                    <a16:creationId xmlns:a16="http://schemas.microsoft.com/office/drawing/2014/main" id="{17450915-961D-4B16-870A-AC2C5CBEE5AC}"/>
                  </a:ext>
                </a:extLst>
              </p:cNvPr>
              <p:cNvSpPr txBox="1"/>
              <p:nvPr/>
            </p:nvSpPr>
            <p:spPr>
              <a:xfrm>
                <a:off x="-6075571" y="2839587"/>
                <a:ext cx="176276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BE" sz="1400" b="1" dirty="0">
                    <a:solidFill>
                      <a:srgbClr val="C00000"/>
                    </a:solidFill>
                  </a:rPr>
                  <a:t>Naissance d’un enfant le 18.10.2014</a:t>
                </a:r>
              </a:p>
            </p:txBody>
          </p:sp>
          <p:cxnSp>
            <p:nvCxnSpPr>
              <p:cNvPr id="28" name="Connecteur droit 27">
                <a:extLst>
                  <a:ext uri="{FF2B5EF4-FFF2-40B4-BE49-F238E27FC236}">
                    <a16:creationId xmlns:a16="http://schemas.microsoft.com/office/drawing/2014/main" id="{D7738B63-103C-4297-AE6A-7252E0DAF9C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7062672" y="1884176"/>
                <a:ext cx="7756" cy="828643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ZoneTexte 28">
                <a:extLst>
                  <a:ext uri="{FF2B5EF4-FFF2-40B4-BE49-F238E27FC236}">
                    <a16:creationId xmlns:a16="http://schemas.microsoft.com/office/drawing/2014/main" id="{9F712914-E7A4-4EE3-A774-A7489EA1ABD9}"/>
                  </a:ext>
                </a:extLst>
              </p:cNvPr>
              <p:cNvSpPr txBox="1"/>
              <p:nvPr/>
            </p:nvSpPr>
            <p:spPr>
              <a:xfrm>
                <a:off x="-1849606" y="2826110"/>
                <a:ext cx="188195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BE" sz="1400" b="1" dirty="0">
                    <a:solidFill>
                      <a:srgbClr val="C00000"/>
                    </a:solidFill>
                  </a:rPr>
                  <a:t>DA - cohabitant </a:t>
                </a:r>
              </a:p>
              <a:p>
                <a:pPr algn="ctr"/>
                <a:r>
                  <a:rPr lang="fr-BE" sz="1400" b="1" dirty="0">
                    <a:solidFill>
                      <a:srgbClr val="C00000"/>
                    </a:solidFill>
                  </a:rPr>
                  <a:t>18.10.2022?</a:t>
                </a:r>
              </a:p>
            </p:txBody>
          </p:sp>
          <p:cxnSp>
            <p:nvCxnSpPr>
              <p:cNvPr id="30" name="Connecteur droit 29">
                <a:extLst>
                  <a:ext uri="{FF2B5EF4-FFF2-40B4-BE49-F238E27FC236}">
                    <a16:creationId xmlns:a16="http://schemas.microsoft.com/office/drawing/2014/main" id="{001BA9EF-DC85-4AE3-915C-8354A09B89D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-883315" y="1962869"/>
                <a:ext cx="1" cy="876718"/>
              </a:xfrm>
              <a:prstGeom prst="line">
                <a:avLst/>
              </a:prstGeom>
              <a:ln w="381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5144918C-2D06-4017-988F-840A724ABAA2}"/>
                  </a:ext>
                </a:extLst>
              </p:cNvPr>
              <p:cNvSpPr/>
              <p:nvPr/>
            </p:nvSpPr>
            <p:spPr>
              <a:xfrm>
                <a:off x="-7034267" y="2259345"/>
                <a:ext cx="1752625" cy="450928"/>
              </a:xfrm>
              <a:prstGeom prst="rect">
                <a:avLst/>
              </a:prstGeom>
              <a:solidFill>
                <a:srgbClr val="FBE5D6"/>
              </a:solidFill>
              <a:ln w="38100">
                <a:solidFill>
                  <a:srgbClr val="CE5E1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BE" sz="1400" b="1" dirty="0">
                    <a:solidFill>
                      <a:schemeClr val="tx1"/>
                    </a:solidFill>
                  </a:rPr>
                  <a:t>01/69BF</a:t>
                </a:r>
              </a:p>
            </p:txBody>
          </p:sp>
          <p:cxnSp>
            <p:nvCxnSpPr>
              <p:cNvPr id="32" name="Connecteur droit avec flèche 31">
                <a:extLst>
                  <a:ext uri="{FF2B5EF4-FFF2-40B4-BE49-F238E27FC236}">
                    <a16:creationId xmlns:a16="http://schemas.microsoft.com/office/drawing/2014/main" id="{053A81E6-8FD7-4F8C-8810-72A13BA9519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-7178198" y="2710273"/>
                <a:ext cx="6696744" cy="19008"/>
              </a:xfrm>
              <a:prstGeom prst="straightConnector1">
                <a:avLst/>
              </a:prstGeom>
              <a:ln w="38100"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3" name="Connecteur droit 32">
                <a:extLst>
                  <a:ext uri="{FF2B5EF4-FFF2-40B4-BE49-F238E27FC236}">
                    <a16:creationId xmlns:a16="http://schemas.microsoft.com/office/drawing/2014/main" id="{1E52CBBC-297C-428F-806F-B13221EA53E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-5281642" y="2181547"/>
                <a:ext cx="0" cy="522117"/>
              </a:xfrm>
              <a:prstGeom prst="line">
                <a:avLst/>
              </a:prstGeom>
              <a:ln w="38100">
                <a:solidFill>
                  <a:srgbClr val="CE5E1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Connecteur droit 33">
                <a:extLst>
                  <a:ext uri="{FF2B5EF4-FFF2-40B4-BE49-F238E27FC236}">
                    <a16:creationId xmlns:a16="http://schemas.microsoft.com/office/drawing/2014/main" id="{7B0EC02B-36B8-4985-8D1F-235956124A8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-7021288" y="2187168"/>
                <a:ext cx="0" cy="516496"/>
              </a:xfrm>
              <a:prstGeom prst="line">
                <a:avLst/>
              </a:prstGeom>
              <a:ln w="38100">
                <a:solidFill>
                  <a:srgbClr val="CE5E1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ZoneTexte 34">
                <a:extLst>
                  <a:ext uri="{FF2B5EF4-FFF2-40B4-BE49-F238E27FC236}">
                    <a16:creationId xmlns:a16="http://schemas.microsoft.com/office/drawing/2014/main" id="{E75A7890-36F2-489E-B6C1-20C6A03DB584}"/>
                  </a:ext>
                </a:extLst>
              </p:cNvPr>
              <p:cNvSpPr txBox="1"/>
              <p:nvPr/>
            </p:nvSpPr>
            <p:spPr>
              <a:xfrm>
                <a:off x="-7165304" y="1929725"/>
                <a:ext cx="108973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BE" sz="1400" b="1" dirty="0">
                    <a:solidFill>
                      <a:srgbClr val="C3550A"/>
                    </a:solidFill>
                  </a:rPr>
                  <a:t>29.07.2011</a:t>
                </a:r>
              </a:p>
            </p:txBody>
          </p:sp>
          <p:sp>
            <p:nvSpPr>
              <p:cNvPr id="36" name="ZoneTexte 35">
                <a:extLst>
                  <a:ext uri="{FF2B5EF4-FFF2-40B4-BE49-F238E27FC236}">
                    <a16:creationId xmlns:a16="http://schemas.microsoft.com/office/drawing/2014/main" id="{27DAAABE-2B47-4104-AB72-702E1BAB16AF}"/>
                  </a:ext>
                </a:extLst>
              </p:cNvPr>
              <p:cNvSpPr txBox="1"/>
              <p:nvPr/>
            </p:nvSpPr>
            <p:spPr>
              <a:xfrm>
                <a:off x="-6237218" y="1935082"/>
                <a:ext cx="108973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BE" sz="1400" b="1" dirty="0">
                    <a:solidFill>
                      <a:srgbClr val="C3550A"/>
                    </a:solidFill>
                  </a:rPr>
                  <a:t>28.07.2014</a:t>
                </a:r>
              </a:p>
            </p:txBody>
          </p:sp>
          <p:cxnSp>
            <p:nvCxnSpPr>
              <p:cNvPr id="37" name="Connecteur droit 36">
                <a:extLst>
                  <a:ext uri="{FF2B5EF4-FFF2-40B4-BE49-F238E27FC236}">
                    <a16:creationId xmlns:a16="http://schemas.microsoft.com/office/drawing/2014/main" id="{6460A211-0992-488A-B11C-2EDFFAD6FBC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5172473" y="1884176"/>
                <a:ext cx="0" cy="959916"/>
              </a:xfrm>
              <a:prstGeom prst="line">
                <a:avLst/>
              </a:prstGeom>
              <a:ln w="381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Connecteur droit 37">
                <a:extLst>
                  <a:ext uri="{FF2B5EF4-FFF2-40B4-BE49-F238E27FC236}">
                    <a16:creationId xmlns:a16="http://schemas.microsoft.com/office/drawing/2014/main" id="{80004604-164A-4732-8783-11897250800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2420794" y="1888984"/>
                <a:ext cx="0" cy="959916"/>
              </a:xfrm>
              <a:prstGeom prst="line">
                <a:avLst/>
              </a:prstGeom>
              <a:ln w="381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" name="ZoneTexte 38">
                <a:extLst>
                  <a:ext uri="{FF2B5EF4-FFF2-40B4-BE49-F238E27FC236}">
                    <a16:creationId xmlns:a16="http://schemas.microsoft.com/office/drawing/2014/main" id="{AEAA61E9-402A-4EF4-B67E-B3FF3D4B7D0A}"/>
                  </a:ext>
                </a:extLst>
              </p:cNvPr>
              <p:cNvSpPr txBox="1"/>
              <p:nvPr/>
            </p:nvSpPr>
            <p:spPr>
              <a:xfrm>
                <a:off x="-3319459" y="2817087"/>
                <a:ext cx="176276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BE" sz="1400" b="1" dirty="0">
                    <a:solidFill>
                      <a:srgbClr val="C00000"/>
                    </a:solidFill>
                  </a:rPr>
                  <a:t>Naissance d’un enfant le 18.10.2020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299675985"/>
      </p:ext>
    </p:extLst>
  </p:cSld>
  <p:clrMapOvr>
    <a:masterClrMapping/>
  </p:clrMapOvr>
  <p:transition>
    <p:dissolv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r"/>
            <a:r>
              <a:rPr lang="fr-BE" sz="4000" b="1" i="1" dirty="0"/>
              <a:t>4.2. Art. 42, 30 ou 33? </a:t>
            </a:r>
            <a:endParaRPr lang="en-US" sz="4000" b="1" i="1" dirty="0">
              <a:solidFill>
                <a:srgbClr val="0033CC"/>
              </a:solidFill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23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115F2646-E907-42BC-9AD3-BBD671EEF0E4}"/>
              </a:ext>
            </a:extLst>
          </p:cNvPr>
          <p:cNvGrpSpPr/>
          <p:nvPr/>
        </p:nvGrpSpPr>
        <p:grpSpPr>
          <a:xfrm>
            <a:off x="263365" y="1527200"/>
            <a:ext cx="8629115" cy="2408283"/>
            <a:chOff x="275642" y="1478710"/>
            <a:chExt cx="8629115" cy="2408283"/>
          </a:xfrm>
        </p:grpSpPr>
        <p:grpSp>
          <p:nvGrpSpPr>
            <p:cNvPr id="14" name="Groupe 13">
              <a:extLst>
                <a:ext uri="{FF2B5EF4-FFF2-40B4-BE49-F238E27FC236}">
                  <a16:creationId xmlns:a16="http://schemas.microsoft.com/office/drawing/2014/main" id="{322967B9-886C-4682-9887-AA4A997C86D0}"/>
                </a:ext>
              </a:extLst>
            </p:cNvPr>
            <p:cNvGrpSpPr/>
            <p:nvPr/>
          </p:nvGrpSpPr>
          <p:grpSpPr>
            <a:xfrm>
              <a:off x="887202" y="1709658"/>
              <a:ext cx="8017555" cy="2177335"/>
              <a:chOff x="887202" y="1709658"/>
              <a:chExt cx="8017555" cy="2177335"/>
            </a:xfrm>
          </p:grpSpPr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03EBC9C9-9086-4586-B3A6-DAAD0F8DF13D}"/>
                  </a:ext>
                </a:extLst>
              </p:cNvPr>
              <p:cNvSpPr/>
              <p:nvPr/>
            </p:nvSpPr>
            <p:spPr>
              <a:xfrm>
                <a:off x="2914720" y="2677109"/>
                <a:ext cx="1690810" cy="457201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381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BE" sz="1400" b="1" dirty="0">
                    <a:solidFill>
                      <a:prstClr val="black"/>
                    </a:solidFill>
                  </a:rPr>
                  <a:t>Employeur A</a:t>
                </a:r>
              </a:p>
              <a:p>
                <a:pPr algn="ctr"/>
                <a:r>
                  <a:rPr lang="fr-BE" sz="1400" b="1" dirty="0">
                    <a:solidFill>
                      <a:prstClr val="black"/>
                    </a:solidFill>
                  </a:rPr>
                  <a:t>Q/S = 38/38</a:t>
                </a:r>
              </a:p>
            </p:txBody>
          </p:sp>
          <p:cxnSp>
            <p:nvCxnSpPr>
              <p:cNvPr id="50" name="Connecteur droit 49">
                <a:extLst>
                  <a:ext uri="{FF2B5EF4-FFF2-40B4-BE49-F238E27FC236}">
                    <a16:creationId xmlns:a16="http://schemas.microsoft.com/office/drawing/2014/main" id="{F8D75553-7673-4820-B567-B982C26EA43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930162" y="2455220"/>
                <a:ext cx="0" cy="721399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90A03509-46B3-4086-B038-74528BD7F3F5}"/>
                  </a:ext>
                </a:extLst>
              </p:cNvPr>
              <p:cNvSpPr/>
              <p:nvPr/>
            </p:nvSpPr>
            <p:spPr>
              <a:xfrm>
                <a:off x="1031218" y="2677111"/>
                <a:ext cx="1883501" cy="468721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381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BE" sz="1400" b="1" dirty="0">
                    <a:solidFill>
                      <a:prstClr val="black"/>
                    </a:solidFill>
                  </a:rPr>
                  <a:t>CCI – 01/45BF (DJI = 03.11.2018)</a:t>
                </a:r>
              </a:p>
            </p:txBody>
          </p:sp>
          <p:cxnSp>
            <p:nvCxnSpPr>
              <p:cNvPr id="52" name="Connecteur droit 51">
                <a:extLst>
                  <a:ext uri="{FF2B5EF4-FFF2-40B4-BE49-F238E27FC236}">
                    <a16:creationId xmlns:a16="http://schemas.microsoft.com/office/drawing/2014/main" id="{E33A672F-7163-4AB5-935E-E5FD481BA08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26121" y="2176364"/>
                <a:ext cx="2058" cy="1190809"/>
              </a:xfrm>
              <a:prstGeom prst="line">
                <a:avLst/>
              </a:prstGeom>
              <a:ln w="381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3" name="ZoneTexte 52">
                <a:extLst>
                  <a:ext uri="{FF2B5EF4-FFF2-40B4-BE49-F238E27FC236}">
                    <a16:creationId xmlns:a16="http://schemas.microsoft.com/office/drawing/2014/main" id="{92262BF6-7CC6-49F6-92DE-BD3C1384E3FE}"/>
                  </a:ext>
                </a:extLst>
              </p:cNvPr>
              <p:cNvSpPr txBox="1"/>
              <p:nvPr/>
            </p:nvSpPr>
            <p:spPr>
              <a:xfrm>
                <a:off x="3446797" y="3332171"/>
                <a:ext cx="176276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BE" sz="1400" b="1" dirty="0">
                    <a:solidFill>
                      <a:srgbClr val="C00000"/>
                    </a:solidFill>
                  </a:rPr>
                  <a:t>DA : 1</a:t>
                </a:r>
                <a:r>
                  <a:rPr lang="fr-BE" sz="1400" b="1" baseline="30000" dirty="0">
                    <a:solidFill>
                      <a:srgbClr val="C00000"/>
                    </a:solidFill>
                  </a:rPr>
                  <a:t>ier</a:t>
                </a:r>
                <a:r>
                  <a:rPr lang="fr-BE" sz="1400" b="1" dirty="0">
                    <a:solidFill>
                      <a:srgbClr val="C00000"/>
                    </a:solidFill>
                  </a:rPr>
                  <a:t> jour CT chez employeur A</a:t>
                </a:r>
              </a:p>
            </p:txBody>
          </p:sp>
          <p:cxnSp>
            <p:nvCxnSpPr>
              <p:cNvPr id="54" name="Connecteur droit 53">
                <a:extLst>
                  <a:ext uri="{FF2B5EF4-FFF2-40B4-BE49-F238E27FC236}">
                    <a16:creationId xmlns:a16="http://schemas.microsoft.com/office/drawing/2014/main" id="{E6062CF3-5D16-404F-B25A-679B413646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31218" y="1974680"/>
                <a:ext cx="0" cy="117115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Connecteur droit 54">
                <a:extLst>
                  <a:ext uri="{FF2B5EF4-FFF2-40B4-BE49-F238E27FC236}">
                    <a16:creationId xmlns:a16="http://schemas.microsoft.com/office/drawing/2014/main" id="{0527AF01-4741-4CAE-A854-7618D378BCF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337433" y="2455220"/>
                <a:ext cx="4490" cy="690612"/>
              </a:xfrm>
              <a:prstGeom prst="line">
                <a:avLst/>
              </a:prstGeom>
              <a:ln w="28575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6" name="ZoneTexte 55">
                <a:extLst>
                  <a:ext uri="{FF2B5EF4-FFF2-40B4-BE49-F238E27FC236}">
                    <a16:creationId xmlns:a16="http://schemas.microsoft.com/office/drawing/2014/main" id="{BE494A30-154B-4CB3-9F89-8D03DDE04CE9}"/>
                  </a:ext>
                </a:extLst>
              </p:cNvPr>
              <p:cNvSpPr txBox="1"/>
              <p:nvPr/>
            </p:nvSpPr>
            <p:spPr>
              <a:xfrm>
                <a:off x="2422881" y="2176364"/>
                <a:ext cx="108973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BE" sz="1400" b="1" dirty="0">
                    <a:solidFill>
                      <a:schemeClr val="bg1">
                        <a:lumMod val="50000"/>
                      </a:schemeClr>
                    </a:solidFill>
                  </a:rPr>
                  <a:t>05.11.2018</a:t>
                </a:r>
              </a:p>
            </p:txBody>
          </p:sp>
          <p:sp>
            <p:nvSpPr>
              <p:cNvPr id="57" name="ZoneTexte 56">
                <a:extLst>
                  <a:ext uri="{FF2B5EF4-FFF2-40B4-BE49-F238E27FC236}">
                    <a16:creationId xmlns:a16="http://schemas.microsoft.com/office/drawing/2014/main" id="{F8EFF568-A437-4054-8737-7F7A0D879D78}"/>
                  </a:ext>
                </a:extLst>
              </p:cNvPr>
              <p:cNvSpPr txBox="1"/>
              <p:nvPr/>
            </p:nvSpPr>
            <p:spPr>
              <a:xfrm>
                <a:off x="7778624" y="2232878"/>
                <a:ext cx="108973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BE" sz="1400" b="1" dirty="0">
                    <a:solidFill>
                      <a:srgbClr val="003399"/>
                    </a:solidFill>
                  </a:rPr>
                  <a:t>02.10.2022</a:t>
                </a:r>
              </a:p>
            </p:txBody>
          </p:sp>
          <p:sp>
            <p:nvSpPr>
              <p:cNvPr id="58" name="ZoneTexte 57">
                <a:extLst>
                  <a:ext uri="{FF2B5EF4-FFF2-40B4-BE49-F238E27FC236}">
                    <a16:creationId xmlns:a16="http://schemas.microsoft.com/office/drawing/2014/main" id="{A689C73E-E468-4F28-ADEA-6D46DFF02D15}"/>
                  </a:ext>
                </a:extLst>
              </p:cNvPr>
              <p:cNvSpPr txBox="1"/>
              <p:nvPr/>
            </p:nvSpPr>
            <p:spPr>
              <a:xfrm>
                <a:off x="3795197" y="1709658"/>
                <a:ext cx="106184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BE" sz="1400" b="1" dirty="0">
                    <a:solidFill>
                      <a:prstClr val="black"/>
                    </a:solidFill>
                  </a:rPr>
                  <a:t>CT « </a:t>
                </a:r>
                <a:r>
                  <a:rPr lang="fr-BE" sz="1400" b="1" dirty="0">
                    <a:solidFill>
                      <a:srgbClr val="1F497D"/>
                    </a:solidFill>
                  </a:rPr>
                  <a:t>E</a:t>
                </a:r>
                <a:r>
                  <a:rPr lang="fr-BE" sz="1400" b="1" dirty="0">
                    <a:solidFill>
                      <a:prstClr val="black"/>
                    </a:solidFill>
                  </a:rPr>
                  <a:t> »</a:t>
                </a:r>
              </a:p>
              <a:p>
                <a:pPr algn="ctr"/>
                <a:r>
                  <a:rPr lang="fr-BE" sz="1400" b="1" dirty="0">
                    <a:solidFill>
                      <a:prstClr val="black"/>
                    </a:solidFill>
                  </a:rPr>
                  <a:t>22.10.2019</a:t>
                </a:r>
              </a:p>
            </p:txBody>
          </p:sp>
          <p:cxnSp>
            <p:nvCxnSpPr>
              <p:cNvPr id="59" name="Connecteur droit avec flèche 58">
                <a:extLst>
                  <a:ext uri="{FF2B5EF4-FFF2-40B4-BE49-F238E27FC236}">
                    <a16:creationId xmlns:a16="http://schemas.microsoft.com/office/drawing/2014/main" id="{D7F00D42-7254-43FE-B9B6-0FF743611327}"/>
                  </a:ext>
                </a:extLst>
              </p:cNvPr>
              <p:cNvCxnSpPr/>
              <p:nvPr/>
            </p:nvCxnSpPr>
            <p:spPr>
              <a:xfrm>
                <a:off x="887202" y="3145832"/>
                <a:ext cx="7759930" cy="1"/>
              </a:xfrm>
              <a:prstGeom prst="straightConnector1">
                <a:avLst/>
              </a:prstGeom>
              <a:ln w="38100"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60" name="ZoneTexte 59">
                <a:extLst>
                  <a:ext uri="{FF2B5EF4-FFF2-40B4-BE49-F238E27FC236}">
                    <a16:creationId xmlns:a16="http://schemas.microsoft.com/office/drawing/2014/main" id="{CEE55A97-34E8-4314-9222-543A26F1571E}"/>
                  </a:ext>
                </a:extLst>
              </p:cNvPr>
              <p:cNvSpPr txBox="1"/>
              <p:nvPr/>
            </p:nvSpPr>
            <p:spPr>
              <a:xfrm>
                <a:off x="7815024" y="3363773"/>
                <a:ext cx="108973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BE" sz="1400" b="1" dirty="0">
                    <a:solidFill>
                      <a:srgbClr val="C00000"/>
                    </a:solidFill>
                  </a:rPr>
                  <a:t>DA: CC</a:t>
                </a:r>
              </a:p>
              <a:p>
                <a:pPr algn="ctr"/>
                <a:r>
                  <a:rPr lang="fr-BE" sz="1400" b="1" dirty="0">
                    <a:solidFill>
                      <a:srgbClr val="C00000"/>
                    </a:solidFill>
                  </a:rPr>
                  <a:t>03.10.2022?</a:t>
                </a:r>
              </a:p>
            </p:txBody>
          </p:sp>
          <p:cxnSp>
            <p:nvCxnSpPr>
              <p:cNvPr id="61" name="Connecteur droit 60">
                <a:extLst>
                  <a:ext uri="{FF2B5EF4-FFF2-40B4-BE49-F238E27FC236}">
                    <a16:creationId xmlns:a16="http://schemas.microsoft.com/office/drawing/2014/main" id="{7A559081-6FD6-48ED-A4B3-2F852DFB984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376034" y="2145331"/>
                <a:ext cx="0" cy="1186840"/>
              </a:xfrm>
              <a:prstGeom prst="line">
                <a:avLst/>
              </a:prstGeom>
              <a:ln w="381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Connecteur droit 61">
                <a:extLst>
                  <a:ext uri="{FF2B5EF4-FFF2-40B4-BE49-F238E27FC236}">
                    <a16:creationId xmlns:a16="http://schemas.microsoft.com/office/drawing/2014/main" id="{748462F4-238A-40E7-A9F5-37E900561A4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605526" y="2455220"/>
                <a:ext cx="4" cy="679092"/>
              </a:xfrm>
              <a:prstGeom prst="line">
                <a:avLst/>
              </a:prstGeom>
              <a:ln w="3810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3" name="ZoneTexte 62">
                <a:extLst>
                  <a:ext uri="{FF2B5EF4-FFF2-40B4-BE49-F238E27FC236}">
                    <a16:creationId xmlns:a16="http://schemas.microsoft.com/office/drawing/2014/main" id="{9647E949-27A7-4158-A2E3-CF85D47F7CAA}"/>
                  </a:ext>
                </a:extLst>
              </p:cNvPr>
              <p:cNvSpPr txBox="1"/>
              <p:nvPr/>
            </p:nvSpPr>
            <p:spPr>
              <a:xfrm>
                <a:off x="4132299" y="2187960"/>
                <a:ext cx="106184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BE" sz="1400" b="1" dirty="0">
                    <a:solidFill>
                      <a:schemeClr val="tx2"/>
                    </a:solidFill>
                  </a:rPr>
                  <a:t>04.11.2019</a:t>
                </a:r>
              </a:p>
            </p:txBody>
          </p:sp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C4605C45-23FA-4130-B8CA-582B67CB7483}"/>
                  </a:ext>
                </a:extLst>
              </p:cNvPr>
              <p:cNvSpPr/>
              <p:nvPr/>
            </p:nvSpPr>
            <p:spPr>
              <a:xfrm>
                <a:off x="4605529" y="2677109"/>
                <a:ext cx="3736391" cy="457201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BE" sz="1400" dirty="0">
                    <a:solidFill>
                      <a:schemeClr val="tx1"/>
                    </a:solidFill>
                  </a:rPr>
                  <a:t>MEDITATION AU PEROU</a:t>
                </a:r>
              </a:p>
            </p:txBody>
          </p:sp>
        </p:grpSp>
        <p:sp>
          <p:nvSpPr>
            <p:cNvPr id="65" name="ZoneTexte 64">
              <a:extLst>
                <a:ext uri="{FF2B5EF4-FFF2-40B4-BE49-F238E27FC236}">
                  <a16:creationId xmlns:a16="http://schemas.microsoft.com/office/drawing/2014/main" id="{DD577F0F-25E0-4A5E-959F-DF3FF118716B}"/>
                </a:ext>
              </a:extLst>
            </p:cNvPr>
            <p:cNvSpPr txBox="1"/>
            <p:nvPr/>
          </p:nvSpPr>
          <p:spPr>
            <a:xfrm>
              <a:off x="275642" y="1478710"/>
              <a:ext cx="152296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BE" sz="1400" b="1" dirty="0">
                  <a:solidFill>
                    <a:prstClr val="black"/>
                  </a:solidFill>
                </a:rPr>
                <a:t>Affilié isolé</a:t>
              </a:r>
            </a:p>
            <a:p>
              <a:pPr algn="ctr"/>
              <a:r>
                <a:rPr lang="fr-BE" sz="1400" b="1" dirty="0">
                  <a:solidFill>
                    <a:prstClr val="black"/>
                  </a:solidFill>
                </a:rPr>
                <a:t>né le 21.12.1989</a:t>
              </a:r>
            </a:p>
          </p:txBody>
        </p:sp>
      </p:grpSp>
      <p:sp>
        <p:nvSpPr>
          <p:cNvPr id="82" name="ZoneTexte 81">
            <a:extLst>
              <a:ext uri="{FF2B5EF4-FFF2-40B4-BE49-F238E27FC236}">
                <a16:creationId xmlns:a16="http://schemas.microsoft.com/office/drawing/2014/main" id="{7E1BA581-8949-48CD-AE0E-0ECF74E6196C}"/>
              </a:ext>
            </a:extLst>
          </p:cNvPr>
          <p:cNvSpPr txBox="1"/>
          <p:nvPr/>
        </p:nvSpPr>
        <p:spPr>
          <a:xfrm>
            <a:off x="452550" y="4687363"/>
            <a:ext cx="10897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schemeClr val="accent6">
                    <a:lumMod val="75000"/>
                  </a:schemeClr>
                </a:solidFill>
              </a:rPr>
              <a:t>09.05.2013</a:t>
            </a:r>
          </a:p>
        </p:txBody>
      </p: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91BE7D26-94F2-4A0B-86BF-02DECE6F2C73}"/>
              </a:ext>
            </a:extLst>
          </p:cNvPr>
          <p:cNvGrpSpPr/>
          <p:nvPr/>
        </p:nvGrpSpPr>
        <p:grpSpPr>
          <a:xfrm>
            <a:off x="838205" y="4019833"/>
            <a:ext cx="8126283" cy="2260548"/>
            <a:chOff x="838205" y="4019833"/>
            <a:chExt cx="8126283" cy="2260548"/>
          </a:xfrm>
        </p:grpSpPr>
        <p:sp>
          <p:nvSpPr>
            <p:cNvPr id="74" name="ZoneTexte 73">
              <a:extLst>
                <a:ext uri="{FF2B5EF4-FFF2-40B4-BE49-F238E27FC236}">
                  <a16:creationId xmlns:a16="http://schemas.microsoft.com/office/drawing/2014/main" id="{B7872C77-38C6-4015-8FB6-060979C4BB21}"/>
                </a:ext>
              </a:extLst>
            </p:cNvPr>
            <p:cNvSpPr txBox="1"/>
            <p:nvPr/>
          </p:nvSpPr>
          <p:spPr>
            <a:xfrm>
              <a:off x="3497876" y="4019833"/>
              <a:ext cx="106184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BE" sz="1400" b="1" dirty="0">
                  <a:solidFill>
                    <a:prstClr val="black"/>
                  </a:solidFill>
                </a:rPr>
                <a:t>CT « </a:t>
              </a:r>
              <a:r>
                <a:rPr lang="fr-BE" sz="1400" b="1" dirty="0">
                  <a:solidFill>
                    <a:srgbClr val="1F497D"/>
                  </a:solidFill>
                </a:rPr>
                <a:t>E</a:t>
              </a:r>
              <a:r>
                <a:rPr lang="fr-BE" sz="1400" b="1" dirty="0">
                  <a:solidFill>
                    <a:prstClr val="black"/>
                  </a:solidFill>
                </a:rPr>
                <a:t> »</a:t>
              </a:r>
            </a:p>
            <a:p>
              <a:pPr algn="ctr"/>
              <a:r>
                <a:rPr lang="fr-BE" sz="1400" b="1" dirty="0">
                  <a:solidFill>
                    <a:prstClr val="black"/>
                  </a:solidFill>
                </a:rPr>
                <a:t>04.07.2016</a:t>
              </a:r>
            </a:p>
          </p:txBody>
        </p:sp>
        <p:grpSp>
          <p:nvGrpSpPr>
            <p:cNvPr id="12" name="Groupe 11">
              <a:extLst>
                <a:ext uri="{FF2B5EF4-FFF2-40B4-BE49-F238E27FC236}">
                  <a16:creationId xmlns:a16="http://schemas.microsoft.com/office/drawing/2014/main" id="{151742AF-2538-4FC4-92A5-F9331A5CB885}"/>
                </a:ext>
              </a:extLst>
            </p:cNvPr>
            <p:cNvGrpSpPr/>
            <p:nvPr/>
          </p:nvGrpSpPr>
          <p:grpSpPr>
            <a:xfrm>
              <a:off x="838205" y="4367189"/>
              <a:ext cx="8126283" cy="1913192"/>
              <a:chOff x="838205" y="4367189"/>
              <a:chExt cx="8126283" cy="1913192"/>
            </a:xfrm>
          </p:grpSpPr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879588D6-1194-435C-8A85-7B03BDE0F142}"/>
                  </a:ext>
                </a:extLst>
              </p:cNvPr>
              <p:cNvSpPr/>
              <p:nvPr/>
            </p:nvSpPr>
            <p:spPr>
              <a:xfrm>
                <a:off x="2563786" y="5058970"/>
                <a:ext cx="1690810" cy="457201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381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BE" sz="1400" b="1" dirty="0">
                    <a:solidFill>
                      <a:prstClr val="black"/>
                    </a:solidFill>
                  </a:rPr>
                  <a:t>Employeur A</a:t>
                </a:r>
              </a:p>
              <a:p>
                <a:pPr algn="ctr"/>
                <a:r>
                  <a:rPr lang="fr-BE" sz="1400" b="1" dirty="0">
                    <a:solidFill>
                      <a:prstClr val="black"/>
                    </a:solidFill>
                  </a:rPr>
                  <a:t>Q/S = 38/38</a:t>
                </a:r>
              </a:p>
            </p:txBody>
          </p:sp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717B9255-641B-4656-ACA1-672A18508763}"/>
                  </a:ext>
                </a:extLst>
              </p:cNvPr>
              <p:cNvSpPr/>
              <p:nvPr/>
            </p:nvSpPr>
            <p:spPr>
              <a:xfrm>
                <a:off x="982221" y="5058972"/>
                <a:ext cx="1590041" cy="468721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381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BE" sz="1400" b="1" dirty="0">
                    <a:solidFill>
                      <a:prstClr val="black"/>
                    </a:solidFill>
                  </a:rPr>
                  <a:t>CCI – 01/WB3 (DJI = 07.05.2016)</a:t>
                </a:r>
              </a:p>
            </p:txBody>
          </p:sp>
          <p:cxnSp>
            <p:nvCxnSpPr>
              <p:cNvPr id="69" name="Connecteur droit 68">
                <a:extLst>
                  <a:ext uri="{FF2B5EF4-FFF2-40B4-BE49-F238E27FC236}">
                    <a16:creationId xmlns:a16="http://schemas.microsoft.com/office/drawing/2014/main" id="{DA7FC03C-8A56-4248-A285-ECC5B68D552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028800" y="4467311"/>
                <a:ext cx="1" cy="1305822"/>
              </a:xfrm>
              <a:prstGeom prst="line">
                <a:avLst/>
              </a:prstGeom>
              <a:ln w="381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Connecteur droit 69">
                <a:extLst>
                  <a:ext uri="{FF2B5EF4-FFF2-40B4-BE49-F238E27FC236}">
                    <a16:creationId xmlns:a16="http://schemas.microsoft.com/office/drawing/2014/main" id="{71C2C3CF-E7D3-4A7F-AFF2-E7B558D8EAA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82222" y="4367189"/>
                <a:ext cx="8200" cy="116050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Connecteur droit 70">
                <a:extLst>
                  <a:ext uri="{FF2B5EF4-FFF2-40B4-BE49-F238E27FC236}">
                    <a16:creationId xmlns:a16="http://schemas.microsoft.com/office/drawing/2014/main" id="{55C57BC6-EC42-4681-B617-E2048A6A2D3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021827" y="4940612"/>
                <a:ext cx="3" cy="587081"/>
              </a:xfrm>
              <a:prstGeom prst="line">
                <a:avLst/>
              </a:prstGeom>
              <a:ln w="3810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2" name="ZoneTexte 71">
                <a:extLst>
                  <a:ext uri="{FF2B5EF4-FFF2-40B4-BE49-F238E27FC236}">
                    <a16:creationId xmlns:a16="http://schemas.microsoft.com/office/drawing/2014/main" id="{4289A34E-8D45-4535-860E-6DEAB34F278F}"/>
                  </a:ext>
                </a:extLst>
              </p:cNvPr>
              <p:cNvSpPr txBox="1"/>
              <p:nvPr/>
            </p:nvSpPr>
            <p:spPr>
              <a:xfrm>
                <a:off x="2027395" y="4714141"/>
                <a:ext cx="108973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BE" sz="1400" b="1" dirty="0">
                    <a:solidFill>
                      <a:schemeClr val="bg1">
                        <a:lumMod val="50000"/>
                      </a:schemeClr>
                    </a:solidFill>
                  </a:rPr>
                  <a:t>09.05.2016</a:t>
                </a:r>
              </a:p>
            </p:txBody>
          </p:sp>
          <p:sp>
            <p:nvSpPr>
              <p:cNvPr id="73" name="ZoneTexte 72">
                <a:extLst>
                  <a:ext uri="{FF2B5EF4-FFF2-40B4-BE49-F238E27FC236}">
                    <a16:creationId xmlns:a16="http://schemas.microsoft.com/office/drawing/2014/main" id="{A8E3AA17-8623-4F4D-B2A7-71F093F2C39C}"/>
                  </a:ext>
                </a:extLst>
              </p:cNvPr>
              <p:cNvSpPr txBox="1"/>
              <p:nvPr/>
            </p:nvSpPr>
            <p:spPr>
              <a:xfrm>
                <a:off x="7452320" y="4687364"/>
                <a:ext cx="108973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BE" sz="1400" b="1" dirty="0">
                    <a:solidFill>
                      <a:schemeClr val="tx2"/>
                    </a:solidFill>
                  </a:rPr>
                  <a:t>31.08.2021</a:t>
                </a:r>
              </a:p>
            </p:txBody>
          </p:sp>
          <p:cxnSp>
            <p:nvCxnSpPr>
              <p:cNvPr id="75" name="Connecteur droit avec flèche 74">
                <a:extLst>
                  <a:ext uri="{FF2B5EF4-FFF2-40B4-BE49-F238E27FC236}">
                    <a16:creationId xmlns:a16="http://schemas.microsoft.com/office/drawing/2014/main" id="{1893714B-3750-4B56-803E-A4A4A7A1FE19}"/>
                  </a:ext>
                </a:extLst>
              </p:cNvPr>
              <p:cNvCxnSpPr/>
              <p:nvPr/>
            </p:nvCxnSpPr>
            <p:spPr>
              <a:xfrm>
                <a:off x="838205" y="5527693"/>
                <a:ext cx="7759930" cy="1"/>
              </a:xfrm>
              <a:prstGeom prst="straightConnector1">
                <a:avLst/>
              </a:prstGeom>
              <a:ln w="38100"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76" name="ZoneTexte 75">
                <a:extLst>
                  <a:ext uri="{FF2B5EF4-FFF2-40B4-BE49-F238E27FC236}">
                    <a16:creationId xmlns:a16="http://schemas.microsoft.com/office/drawing/2014/main" id="{57C59D1A-BD24-4114-92FF-0A64EAEC9341}"/>
                  </a:ext>
                </a:extLst>
              </p:cNvPr>
              <p:cNvSpPr txBox="1"/>
              <p:nvPr/>
            </p:nvSpPr>
            <p:spPr>
              <a:xfrm>
                <a:off x="7828753" y="5718634"/>
                <a:ext cx="113573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BE" sz="1400" b="1" dirty="0">
                    <a:solidFill>
                      <a:srgbClr val="C00000"/>
                    </a:solidFill>
                  </a:rPr>
                  <a:t>DA 01/WA3</a:t>
                </a:r>
              </a:p>
              <a:p>
                <a:pPr algn="ctr"/>
                <a:r>
                  <a:rPr lang="fr-BE" sz="1400" b="1" dirty="0">
                    <a:solidFill>
                      <a:srgbClr val="C00000"/>
                    </a:solidFill>
                  </a:rPr>
                  <a:t>03.10.2022?</a:t>
                </a:r>
              </a:p>
            </p:txBody>
          </p:sp>
          <p:cxnSp>
            <p:nvCxnSpPr>
              <p:cNvPr id="77" name="Connecteur droit 76">
                <a:extLst>
                  <a:ext uri="{FF2B5EF4-FFF2-40B4-BE49-F238E27FC236}">
                    <a16:creationId xmlns:a16="http://schemas.microsoft.com/office/drawing/2014/main" id="{D7AB49AC-9503-475E-8F04-BB6B839BCA2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399045" y="4742193"/>
                <a:ext cx="0" cy="1030940"/>
              </a:xfrm>
              <a:prstGeom prst="line">
                <a:avLst/>
              </a:prstGeom>
              <a:ln w="381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Connecteur droit 77">
                <a:extLst>
                  <a:ext uri="{FF2B5EF4-FFF2-40B4-BE49-F238E27FC236}">
                    <a16:creationId xmlns:a16="http://schemas.microsoft.com/office/drawing/2014/main" id="{FC1D3527-2F94-4387-A7F2-3149355AE51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272271" y="4947441"/>
                <a:ext cx="7336" cy="580253"/>
              </a:xfrm>
              <a:prstGeom prst="line">
                <a:avLst/>
              </a:prstGeom>
              <a:ln w="3810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9" name="ZoneTexte 78">
                <a:extLst>
                  <a:ext uri="{FF2B5EF4-FFF2-40B4-BE49-F238E27FC236}">
                    <a16:creationId xmlns:a16="http://schemas.microsoft.com/office/drawing/2014/main" id="{4DE98919-B19D-46DF-9670-D532FE98C3A4}"/>
                  </a:ext>
                </a:extLst>
              </p:cNvPr>
              <p:cNvSpPr txBox="1"/>
              <p:nvPr/>
            </p:nvSpPr>
            <p:spPr>
              <a:xfrm>
                <a:off x="3973297" y="4703876"/>
                <a:ext cx="106184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BE" sz="1400" b="1" dirty="0">
                    <a:solidFill>
                      <a:schemeClr val="tx2"/>
                    </a:solidFill>
                  </a:rPr>
                  <a:t>01.09.2016</a:t>
                </a:r>
              </a:p>
            </p:txBody>
          </p:sp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471E0D31-5644-41E3-8670-F5DD60A8D61C}"/>
                  </a:ext>
                </a:extLst>
              </p:cNvPr>
              <p:cNvSpPr/>
              <p:nvPr/>
            </p:nvSpPr>
            <p:spPr>
              <a:xfrm>
                <a:off x="4279608" y="5057894"/>
                <a:ext cx="3742222" cy="457201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BE" sz="1400" dirty="0">
                    <a:solidFill>
                      <a:schemeClr val="tx1"/>
                    </a:solidFill>
                  </a:rPr>
                  <a:t>Etudes sans maintien des allocations</a:t>
                </a:r>
              </a:p>
            </p:txBody>
          </p:sp>
          <p:cxnSp>
            <p:nvCxnSpPr>
              <p:cNvPr id="81" name="Connecteur droit 80">
                <a:extLst>
                  <a:ext uri="{FF2B5EF4-FFF2-40B4-BE49-F238E27FC236}">
                    <a16:creationId xmlns:a16="http://schemas.microsoft.com/office/drawing/2014/main" id="{74608220-8169-417C-9C45-A3C0EE46987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00473" y="4940612"/>
                <a:ext cx="18468" cy="597341"/>
              </a:xfrm>
              <a:prstGeom prst="line">
                <a:avLst/>
              </a:prstGeom>
              <a:ln w="28575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3" name="ZoneTexte 82">
                <a:extLst>
                  <a:ext uri="{FF2B5EF4-FFF2-40B4-BE49-F238E27FC236}">
                    <a16:creationId xmlns:a16="http://schemas.microsoft.com/office/drawing/2014/main" id="{A91BF974-C174-4386-A62D-69C357CBA4BC}"/>
                  </a:ext>
                </a:extLst>
              </p:cNvPr>
              <p:cNvSpPr txBox="1"/>
              <p:nvPr/>
            </p:nvSpPr>
            <p:spPr>
              <a:xfrm>
                <a:off x="3147418" y="5757161"/>
                <a:ext cx="176276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BE" sz="1400" b="1" dirty="0">
                    <a:solidFill>
                      <a:srgbClr val="C00000"/>
                    </a:solidFill>
                  </a:rPr>
                  <a:t>DA : 1</a:t>
                </a:r>
                <a:r>
                  <a:rPr lang="fr-BE" sz="1400" b="1" baseline="30000" dirty="0">
                    <a:solidFill>
                      <a:srgbClr val="C00000"/>
                    </a:solidFill>
                  </a:rPr>
                  <a:t>ier</a:t>
                </a:r>
                <a:r>
                  <a:rPr lang="fr-BE" sz="1400" b="1" dirty="0">
                    <a:solidFill>
                      <a:srgbClr val="C00000"/>
                    </a:solidFill>
                  </a:rPr>
                  <a:t> jour CT chez employeur A</a:t>
                </a:r>
              </a:p>
            </p:txBody>
          </p:sp>
          <p:cxnSp>
            <p:nvCxnSpPr>
              <p:cNvPr id="67" name="Connecteur droit 66">
                <a:extLst>
                  <a:ext uri="{FF2B5EF4-FFF2-40B4-BE49-F238E27FC236}">
                    <a16:creationId xmlns:a16="http://schemas.microsoft.com/office/drawing/2014/main" id="{713CD1ED-DF83-4B1C-9794-739CFBA5BA9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75318" y="4947441"/>
                <a:ext cx="310" cy="611039"/>
              </a:xfrm>
              <a:prstGeom prst="line">
                <a:avLst/>
              </a:prstGeom>
              <a:ln w="38100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85" name="ZoneTexte 84">
            <a:extLst>
              <a:ext uri="{FF2B5EF4-FFF2-40B4-BE49-F238E27FC236}">
                <a16:creationId xmlns:a16="http://schemas.microsoft.com/office/drawing/2014/main" id="{BC094DDA-C832-4DEF-B487-DC23441E9931}"/>
              </a:ext>
            </a:extLst>
          </p:cNvPr>
          <p:cNvSpPr txBox="1"/>
          <p:nvPr/>
        </p:nvSpPr>
        <p:spPr>
          <a:xfrm>
            <a:off x="218010" y="3903881"/>
            <a:ext cx="15229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prstClr val="black"/>
                </a:solidFill>
              </a:rPr>
              <a:t>Affilié cohabitant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</a:rPr>
              <a:t>né le 21.12.1990</a:t>
            </a:r>
          </a:p>
        </p:txBody>
      </p:sp>
    </p:spTree>
    <p:extLst>
      <p:ext uri="{BB962C8B-B14F-4D97-AF65-F5344CB8AC3E}">
        <p14:creationId xmlns:p14="http://schemas.microsoft.com/office/powerpoint/2010/main" val="2108411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r"/>
            <a:r>
              <a:rPr lang="fr-BE" sz="4000" b="1" i="1" dirty="0"/>
              <a:t>4.2. Art. 42, 30 ou 33?</a:t>
            </a:r>
            <a:endParaRPr lang="en-US" sz="4000" b="1" i="1" dirty="0">
              <a:solidFill>
                <a:srgbClr val="0033CC"/>
              </a:solidFill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24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9" name="Groupe 8">
            <a:extLst>
              <a:ext uri="{FF2B5EF4-FFF2-40B4-BE49-F238E27FC236}">
                <a16:creationId xmlns:a16="http://schemas.microsoft.com/office/drawing/2014/main" id="{72EED277-6CEA-4205-9A3A-52967D5E0637}"/>
              </a:ext>
            </a:extLst>
          </p:cNvPr>
          <p:cNvGrpSpPr/>
          <p:nvPr/>
        </p:nvGrpSpPr>
        <p:grpSpPr>
          <a:xfrm>
            <a:off x="203869" y="1473801"/>
            <a:ext cx="8736882" cy="2179496"/>
            <a:chOff x="138108" y="1686279"/>
            <a:chExt cx="8736882" cy="2179496"/>
          </a:xfrm>
        </p:grpSpPr>
        <p:grpSp>
          <p:nvGrpSpPr>
            <p:cNvPr id="4" name="Groupe 3">
              <a:extLst>
                <a:ext uri="{FF2B5EF4-FFF2-40B4-BE49-F238E27FC236}">
                  <a16:creationId xmlns:a16="http://schemas.microsoft.com/office/drawing/2014/main" id="{E0B044B7-3BA5-4751-9DCE-915A760655F6}"/>
                </a:ext>
              </a:extLst>
            </p:cNvPr>
            <p:cNvGrpSpPr/>
            <p:nvPr/>
          </p:nvGrpSpPr>
          <p:grpSpPr>
            <a:xfrm>
              <a:off x="768070" y="1904404"/>
              <a:ext cx="8106920" cy="1961371"/>
              <a:chOff x="768070" y="1904404"/>
              <a:chExt cx="8106920" cy="1961371"/>
            </a:xfrm>
          </p:grpSpPr>
          <p:cxnSp>
            <p:nvCxnSpPr>
              <p:cNvPr id="22" name="Connecteur droit 21">
                <a:extLst>
                  <a:ext uri="{FF2B5EF4-FFF2-40B4-BE49-F238E27FC236}">
                    <a16:creationId xmlns:a16="http://schemas.microsoft.com/office/drawing/2014/main" id="{E7ADC2F1-34CF-4180-BE3C-3CC52849EE5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420864" y="2369842"/>
                <a:ext cx="0" cy="594138"/>
              </a:xfrm>
              <a:prstGeom prst="line">
                <a:avLst/>
              </a:prstGeom>
              <a:ln w="38100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D8CDA234-A197-448B-A1DA-0CCB15CCE11C}"/>
                  </a:ext>
                </a:extLst>
              </p:cNvPr>
              <p:cNvSpPr/>
              <p:nvPr/>
            </p:nvSpPr>
            <p:spPr>
              <a:xfrm>
                <a:off x="899592" y="2528231"/>
                <a:ext cx="2503430" cy="468721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BE" sz="1400" b="1" dirty="0">
                    <a:solidFill>
                      <a:prstClr val="black"/>
                    </a:solidFill>
                  </a:rPr>
                  <a:t>CCI – Art. 36 </a:t>
                </a:r>
              </a:p>
              <a:p>
                <a:pPr algn="ctr"/>
                <a:endParaRPr lang="fr-BE" sz="1400" b="1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1F8E8F76-2544-4299-8729-1C2E070993D7}"/>
                  </a:ext>
                </a:extLst>
              </p:cNvPr>
              <p:cNvSpPr/>
              <p:nvPr/>
            </p:nvSpPr>
            <p:spPr>
              <a:xfrm>
                <a:off x="4424331" y="2528231"/>
                <a:ext cx="3785966" cy="450928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381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BE" sz="1400" b="1" dirty="0">
                    <a:solidFill>
                      <a:prstClr val="black"/>
                    </a:solidFill>
                  </a:rPr>
                  <a:t>Employeur A</a:t>
                </a:r>
              </a:p>
              <a:p>
                <a:pPr algn="ctr"/>
                <a:r>
                  <a:rPr lang="fr-BE" sz="1400" b="1" dirty="0">
                    <a:solidFill>
                      <a:prstClr val="black"/>
                    </a:solidFill>
                  </a:rPr>
                  <a:t>Q/S = 38/38 &amp; sal. ≥ sal. de référence </a:t>
                </a:r>
                <a:endParaRPr lang="fr-BE" b="1" dirty="0">
                  <a:solidFill>
                    <a:prstClr val="black"/>
                  </a:solidFill>
                </a:endParaRPr>
              </a:p>
            </p:txBody>
          </p:sp>
          <p:cxnSp>
            <p:nvCxnSpPr>
              <p:cNvPr id="30" name="Connecteur droit 29">
                <a:extLst>
                  <a:ext uri="{FF2B5EF4-FFF2-40B4-BE49-F238E27FC236}">
                    <a16:creationId xmlns:a16="http://schemas.microsoft.com/office/drawing/2014/main" id="{B890C5F6-DBB1-40E1-9AE2-251104492AC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82503" y="2369842"/>
                <a:ext cx="0" cy="824362"/>
              </a:xfrm>
              <a:prstGeom prst="line">
                <a:avLst/>
              </a:prstGeom>
              <a:ln w="381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ZoneTexte 34">
                <a:extLst>
                  <a:ext uri="{FF2B5EF4-FFF2-40B4-BE49-F238E27FC236}">
                    <a16:creationId xmlns:a16="http://schemas.microsoft.com/office/drawing/2014/main" id="{E6105F04-A7FC-4212-A531-FC3E92594222}"/>
                  </a:ext>
                </a:extLst>
              </p:cNvPr>
              <p:cNvSpPr txBox="1"/>
              <p:nvPr/>
            </p:nvSpPr>
            <p:spPr>
              <a:xfrm>
                <a:off x="6001121" y="3194204"/>
                <a:ext cx="176276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BE" sz="1400" b="1" dirty="0">
                    <a:solidFill>
                      <a:srgbClr val="C00000"/>
                    </a:solidFill>
                  </a:rPr>
                  <a:t>DA : 1</a:t>
                </a:r>
                <a:r>
                  <a:rPr lang="fr-BE" sz="1400" b="1" baseline="30000" dirty="0">
                    <a:solidFill>
                      <a:srgbClr val="C00000"/>
                    </a:solidFill>
                  </a:rPr>
                  <a:t>ier</a:t>
                </a:r>
                <a:r>
                  <a:rPr lang="fr-BE" sz="1400" b="1" dirty="0">
                    <a:solidFill>
                      <a:srgbClr val="C00000"/>
                    </a:solidFill>
                  </a:rPr>
                  <a:t> jour CT chez employeur A</a:t>
                </a:r>
              </a:p>
            </p:txBody>
          </p:sp>
          <p:cxnSp>
            <p:nvCxnSpPr>
              <p:cNvPr id="36" name="Connecteur droit 35">
                <a:extLst>
                  <a:ext uri="{FF2B5EF4-FFF2-40B4-BE49-F238E27FC236}">
                    <a16:creationId xmlns:a16="http://schemas.microsoft.com/office/drawing/2014/main" id="{7797A3CD-FCB2-4C8B-8EB9-977673402CE2}"/>
                  </a:ext>
                </a:extLst>
              </p:cNvPr>
              <p:cNvCxnSpPr>
                <a:cxnSpLocks/>
                <a:stCxn id="46" idx="2"/>
              </p:cNvCxnSpPr>
              <p:nvPr/>
            </p:nvCxnSpPr>
            <p:spPr>
              <a:xfrm>
                <a:off x="899592" y="2209499"/>
                <a:ext cx="0" cy="787453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Connecteur droit 36">
                <a:extLst>
                  <a:ext uri="{FF2B5EF4-FFF2-40B4-BE49-F238E27FC236}">
                    <a16:creationId xmlns:a16="http://schemas.microsoft.com/office/drawing/2014/main" id="{4320B98D-BB23-4593-8308-274A0274D1B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210297" y="2369842"/>
                <a:ext cx="0" cy="627110"/>
              </a:xfrm>
              <a:prstGeom prst="line">
                <a:avLst/>
              </a:prstGeom>
              <a:ln w="38100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" name="ZoneTexte 37">
                <a:extLst>
                  <a:ext uri="{FF2B5EF4-FFF2-40B4-BE49-F238E27FC236}">
                    <a16:creationId xmlns:a16="http://schemas.microsoft.com/office/drawing/2014/main" id="{AB4154F4-B87C-499B-B7FB-F60B29C88069}"/>
                  </a:ext>
                </a:extLst>
              </p:cNvPr>
              <p:cNvSpPr txBox="1"/>
              <p:nvPr/>
            </p:nvSpPr>
            <p:spPr>
              <a:xfrm>
                <a:off x="3896410" y="2098837"/>
                <a:ext cx="108973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BE" sz="1400" b="1" dirty="0">
                    <a:solidFill>
                      <a:schemeClr val="bg1">
                        <a:lumMod val="50000"/>
                      </a:schemeClr>
                    </a:solidFill>
                  </a:rPr>
                  <a:t>07.12.2020</a:t>
                </a:r>
              </a:p>
            </p:txBody>
          </p:sp>
          <p:sp>
            <p:nvSpPr>
              <p:cNvPr id="39" name="ZoneTexte 38">
                <a:extLst>
                  <a:ext uri="{FF2B5EF4-FFF2-40B4-BE49-F238E27FC236}">
                    <a16:creationId xmlns:a16="http://schemas.microsoft.com/office/drawing/2014/main" id="{9881A4B7-127A-4DC0-B57C-D8EC1B648412}"/>
                  </a:ext>
                </a:extLst>
              </p:cNvPr>
              <p:cNvSpPr txBox="1"/>
              <p:nvPr/>
            </p:nvSpPr>
            <p:spPr>
              <a:xfrm>
                <a:off x="7665430" y="2139707"/>
                <a:ext cx="108973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BE" sz="1400" b="1" dirty="0">
                    <a:solidFill>
                      <a:schemeClr val="bg1">
                        <a:lumMod val="50000"/>
                      </a:schemeClr>
                    </a:solidFill>
                  </a:rPr>
                  <a:t>02.10.2022</a:t>
                </a:r>
              </a:p>
            </p:txBody>
          </p:sp>
          <p:sp>
            <p:nvSpPr>
              <p:cNvPr id="40" name="ZoneTexte 39">
                <a:extLst>
                  <a:ext uri="{FF2B5EF4-FFF2-40B4-BE49-F238E27FC236}">
                    <a16:creationId xmlns:a16="http://schemas.microsoft.com/office/drawing/2014/main" id="{5D821389-858C-4278-A612-C37C8277E2B6}"/>
                  </a:ext>
                </a:extLst>
              </p:cNvPr>
              <p:cNvSpPr txBox="1"/>
              <p:nvPr/>
            </p:nvSpPr>
            <p:spPr>
              <a:xfrm>
                <a:off x="6351579" y="1904404"/>
                <a:ext cx="106184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BE" sz="1400" b="1" dirty="0">
                    <a:solidFill>
                      <a:prstClr val="black"/>
                    </a:solidFill>
                  </a:rPr>
                  <a:t>CT « </a:t>
                </a:r>
                <a:r>
                  <a:rPr lang="fr-BE" sz="1400" b="1" dirty="0">
                    <a:solidFill>
                      <a:srgbClr val="1F497D"/>
                    </a:solidFill>
                  </a:rPr>
                  <a:t>E</a:t>
                </a:r>
                <a:r>
                  <a:rPr lang="fr-BE" sz="1400" b="1" dirty="0">
                    <a:solidFill>
                      <a:prstClr val="black"/>
                    </a:solidFill>
                  </a:rPr>
                  <a:t> »</a:t>
                </a:r>
              </a:p>
              <a:p>
                <a:pPr algn="ctr"/>
                <a:r>
                  <a:rPr lang="fr-BE" sz="1400" b="1" dirty="0">
                    <a:solidFill>
                      <a:prstClr val="black"/>
                    </a:solidFill>
                  </a:rPr>
                  <a:t>26.05.2021</a:t>
                </a:r>
              </a:p>
            </p:txBody>
          </p:sp>
          <p:cxnSp>
            <p:nvCxnSpPr>
              <p:cNvPr id="41" name="Connecteur droit avec flèche 40">
                <a:extLst>
                  <a:ext uri="{FF2B5EF4-FFF2-40B4-BE49-F238E27FC236}">
                    <a16:creationId xmlns:a16="http://schemas.microsoft.com/office/drawing/2014/main" id="{36E41140-7E1B-48F5-A1AB-062552692AF4}"/>
                  </a:ext>
                </a:extLst>
              </p:cNvPr>
              <p:cNvCxnSpPr/>
              <p:nvPr/>
            </p:nvCxnSpPr>
            <p:spPr>
              <a:xfrm>
                <a:off x="768070" y="3007744"/>
                <a:ext cx="7759930" cy="1"/>
              </a:xfrm>
              <a:prstGeom prst="straightConnector1">
                <a:avLst/>
              </a:prstGeom>
              <a:ln w="38100"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2" name="ZoneTexte 41">
                <a:extLst>
                  <a:ext uri="{FF2B5EF4-FFF2-40B4-BE49-F238E27FC236}">
                    <a16:creationId xmlns:a16="http://schemas.microsoft.com/office/drawing/2014/main" id="{5275982B-E720-4BDF-974C-30ABE3293DAF}"/>
                  </a:ext>
                </a:extLst>
              </p:cNvPr>
              <p:cNvSpPr txBox="1"/>
              <p:nvPr/>
            </p:nvSpPr>
            <p:spPr>
              <a:xfrm>
                <a:off x="7623560" y="3127111"/>
                <a:ext cx="1251430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BE" sz="1400" b="1" dirty="0">
                    <a:solidFill>
                      <a:srgbClr val="C00000"/>
                    </a:solidFill>
                  </a:rPr>
                  <a:t>Affilié isolé</a:t>
                </a:r>
              </a:p>
              <a:p>
                <a:pPr algn="ctr"/>
                <a:r>
                  <a:rPr lang="fr-BE" sz="1400" b="1" dirty="0">
                    <a:solidFill>
                      <a:srgbClr val="C00000"/>
                    </a:solidFill>
                  </a:rPr>
                  <a:t>DA CC</a:t>
                </a:r>
              </a:p>
              <a:p>
                <a:pPr algn="ctr"/>
                <a:r>
                  <a:rPr lang="fr-BE" sz="1400" b="1" dirty="0">
                    <a:solidFill>
                      <a:srgbClr val="C00000"/>
                    </a:solidFill>
                  </a:rPr>
                  <a:t>03.10.2022?</a:t>
                </a:r>
              </a:p>
            </p:txBody>
          </p:sp>
          <p:cxnSp>
            <p:nvCxnSpPr>
              <p:cNvPr id="43" name="Connecteur droit 42">
                <a:extLst>
                  <a:ext uri="{FF2B5EF4-FFF2-40B4-BE49-F238E27FC236}">
                    <a16:creationId xmlns:a16="http://schemas.microsoft.com/office/drawing/2014/main" id="{FF8637E4-4823-404D-83B7-138393960FF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244407" y="2220503"/>
                <a:ext cx="0" cy="973701"/>
              </a:xfrm>
              <a:prstGeom prst="line">
                <a:avLst/>
              </a:prstGeom>
              <a:ln w="381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Connecteur droit 43">
                <a:extLst>
                  <a:ext uri="{FF2B5EF4-FFF2-40B4-BE49-F238E27FC236}">
                    <a16:creationId xmlns:a16="http://schemas.microsoft.com/office/drawing/2014/main" id="{928ED1B4-DE88-432A-AAEE-D2C1679D054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424923" y="2354197"/>
                <a:ext cx="1196" cy="609784"/>
              </a:xfrm>
              <a:prstGeom prst="line">
                <a:avLst/>
              </a:prstGeom>
              <a:ln w="381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6" name="ZoneTexte 45">
              <a:extLst>
                <a:ext uri="{FF2B5EF4-FFF2-40B4-BE49-F238E27FC236}">
                  <a16:creationId xmlns:a16="http://schemas.microsoft.com/office/drawing/2014/main" id="{7E5B641D-E87D-4D6D-A5B7-F3A0D5B39F50}"/>
                </a:ext>
              </a:extLst>
            </p:cNvPr>
            <p:cNvSpPr txBox="1"/>
            <p:nvPr/>
          </p:nvSpPr>
          <p:spPr>
            <a:xfrm>
              <a:off x="138108" y="1686279"/>
              <a:ext cx="152296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BE" sz="1400" b="1" dirty="0">
                  <a:solidFill>
                    <a:prstClr val="black"/>
                  </a:solidFill>
                </a:rPr>
                <a:t>Affilié cohabitant</a:t>
              </a:r>
            </a:p>
            <a:p>
              <a:pPr algn="ctr"/>
              <a:r>
                <a:rPr lang="fr-BE" sz="1400" b="1" dirty="0">
                  <a:solidFill>
                    <a:prstClr val="black"/>
                  </a:solidFill>
                </a:rPr>
                <a:t>né le 23.02.1994</a:t>
              </a:r>
            </a:p>
          </p:txBody>
        </p:sp>
      </p:grpSp>
      <p:cxnSp>
        <p:nvCxnSpPr>
          <p:cNvPr id="47" name="Connecteur droit 46">
            <a:extLst>
              <a:ext uri="{FF2B5EF4-FFF2-40B4-BE49-F238E27FC236}">
                <a16:creationId xmlns:a16="http://schemas.microsoft.com/office/drawing/2014/main" id="{AA03FD6D-F32B-4DC6-AB2A-41AD017188A2}"/>
              </a:ext>
            </a:extLst>
          </p:cNvPr>
          <p:cNvCxnSpPr>
            <a:cxnSpLocks/>
          </p:cNvCxnSpPr>
          <p:nvPr/>
        </p:nvCxnSpPr>
        <p:spPr>
          <a:xfrm flipH="1" flipV="1">
            <a:off x="980613" y="2156897"/>
            <a:ext cx="1196" cy="609784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ZoneTexte 47">
            <a:extLst>
              <a:ext uri="{FF2B5EF4-FFF2-40B4-BE49-F238E27FC236}">
                <a16:creationId xmlns:a16="http://schemas.microsoft.com/office/drawing/2014/main" id="{BB0BEF91-9B6C-4335-BE17-E098846F0C31}"/>
              </a:ext>
            </a:extLst>
          </p:cNvPr>
          <p:cNvSpPr txBox="1"/>
          <p:nvPr/>
        </p:nvSpPr>
        <p:spPr>
          <a:xfrm>
            <a:off x="399753" y="1908212"/>
            <a:ext cx="10897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schemeClr val="accent6">
                    <a:lumMod val="75000"/>
                  </a:schemeClr>
                </a:solidFill>
              </a:rPr>
              <a:t>20.03.2017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9CEBB1EC-4834-47C9-B3EF-2FC78048BD36}"/>
              </a:ext>
            </a:extLst>
          </p:cNvPr>
          <p:cNvSpPr txBox="1"/>
          <p:nvPr/>
        </p:nvSpPr>
        <p:spPr>
          <a:xfrm>
            <a:off x="2978211" y="1908212"/>
            <a:ext cx="10897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schemeClr val="accent6">
                    <a:lumMod val="75000"/>
                  </a:schemeClr>
                </a:solidFill>
              </a:rPr>
              <a:t>19.03.2020</a:t>
            </a:r>
          </a:p>
        </p:txBody>
      </p:sp>
      <p:cxnSp>
        <p:nvCxnSpPr>
          <p:cNvPr id="50" name="Connecteur droit 49">
            <a:extLst>
              <a:ext uri="{FF2B5EF4-FFF2-40B4-BE49-F238E27FC236}">
                <a16:creationId xmlns:a16="http://schemas.microsoft.com/office/drawing/2014/main" id="{A5FE5B32-3B40-41A7-9BC9-3349C0A951AB}"/>
              </a:ext>
            </a:extLst>
          </p:cNvPr>
          <p:cNvCxnSpPr>
            <a:cxnSpLocks/>
          </p:cNvCxnSpPr>
          <p:nvPr/>
        </p:nvCxnSpPr>
        <p:spPr>
          <a:xfrm flipV="1">
            <a:off x="5107473" y="4638631"/>
            <a:ext cx="0" cy="542114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826F2C89-3C73-4FE7-A163-52B0A1B5AF39}"/>
              </a:ext>
            </a:extLst>
          </p:cNvPr>
          <p:cNvSpPr/>
          <p:nvPr/>
        </p:nvSpPr>
        <p:spPr>
          <a:xfrm>
            <a:off x="965354" y="4712023"/>
            <a:ext cx="2026158" cy="46872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400" b="1" dirty="0">
                <a:solidFill>
                  <a:prstClr val="black"/>
                </a:solidFill>
              </a:rPr>
              <a:t>CCI – Art. 36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9831DC84-9E22-4C02-992B-7244C41269DC}"/>
              </a:ext>
            </a:extLst>
          </p:cNvPr>
          <p:cNvSpPr/>
          <p:nvPr/>
        </p:nvSpPr>
        <p:spPr>
          <a:xfrm>
            <a:off x="5107473" y="4712023"/>
            <a:ext cx="3168585" cy="450928"/>
          </a:xfrm>
          <a:prstGeom prst="rect">
            <a:avLst/>
          </a:prstGeom>
          <a:solidFill>
            <a:schemeClr val="bg1">
              <a:lumMod val="85000"/>
            </a:schemeClr>
          </a:solidFill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400" b="1" dirty="0">
                <a:solidFill>
                  <a:prstClr val="black"/>
                </a:solidFill>
              </a:rPr>
              <a:t>Employeur B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</a:rPr>
              <a:t>Q/S = 16/38 &amp; sal. &lt; sal. de référence</a:t>
            </a:r>
          </a:p>
        </p:txBody>
      </p:sp>
      <p:cxnSp>
        <p:nvCxnSpPr>
          <p:cNvPr id="53" name="Connecteur droit 52">
            <a:extLst>
              <a:ext uri="{FF2B5EF4-FFF2-40B4-BE49-F238E27FC236}">
                <a16:creationId xmlns:a16="http://schemas.microsoft.com/office/drawing/2014/main" id="{380A910C-A5FD-4AB1-BC7B-E5B5D7D5BB62}"/>
              </a:ext>
            </a:extLst>
          </p:cNvPr>
          <p:cNvCxnSpPr>
            <a:cxnSpLocks/>
            <a:stCxn id="60" idx="2"/>
          </p:cNvCxnSpPr>
          <p:nvPr/>
        </p:nvCxnSpPr>
        <p:spPr>
          <a:xfrm>
            <a:off x="6819870" y="4446287"/>
            <a:ext cx="2730" cy="885065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ZoneTexte 53">
            <a:extLst>
              <a:ext uri="{FF2B5EF4-FFF2-40B4-BE49-F238E27FC236}">
                <a16:creationId xmlns:a16="http://schemas.microsoft.com/office/drawing/2014/main" id="{9E9B0794-BAC5-441E-9B64-06E0D78A0F45}"/>
              </a:ext>
            </a:extLst>
          </p:cNvPr>
          <p:cNvSpPr txBox="1"/>
          <p:nvPr/>
        </p:nvSpPr>
        <p:spPr>
          <a:xfrm>
            <a:off x="5937079" y="5377996"/>
            <a:ext cx="17627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srgbClr val="C00000"/>
                </a:solidFill>
              </a:rPr>
              <a:t>DA : 1</a:t>
            </a:r>
            <a:r>
              <a:rPr lang="fr-BE" sz="1400" b="1" baseline="30000" dirty="0">
                <a:solidFill>
                  <a:srgbClr val="C00000"/>
                </a:solidFill>
              </a:rPr>
              <a:t>ier</a:t>
            </a:r>
            <a:r>
              <a:rPr lang="fr-BE" sz="1400" b="1" dirty="0">
                <a:solidFill>
                  <a:srgbClr val="C00000"/>
                </a:solidFill>
              </a:rPr>
              <a:t> jour CT chez employeur B</a:t>
            </a:r>
          </a:p>
        </p:txBody>
      </p: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621569C4-D9EF-47E8-A4F6-EF2D129AAFD9}"/>
              </a:ext>
            </a:extLst>
          </p:cNvPr>
          <p:cNvCxnSpPr>
            <a:cxnSpLocks/>
          </p:cNvCxnSpPr>
          <p:nvPr/>
        </p:nvCxnSpPr>
        <p:spPr>
          <a:xfrm flipH="1">
            <a:off x="936863" y="4335639"/>
            <a:ext cx="7756" cy="82864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ZoneTexte 55">
            <a:extLst>
              <a:ext uri="{FF2B5EF4-FFF2-40B4-BE49-F238E27FC236}">
                <a16:creationId xmlns:a16="http://schemas.microsoft.com/office/drawing/2014/main" id="{29295EA3-8186-48F8-84A4-F16B0CAAC8EA}"/>
              </a:ext>
            </a:extLst>
          </p:cNvPr>
          <p:cNvSpPr txBox="1"/>
          <p:nvPr/>
        </p:nvSpPr>
        <p:spPr>
          <a:xfrm>
            <a:off x="203249" y="3863325"/>
            <a:ext cx="15229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prstClr val="black"/>
                </a:solidFill>
              </a:rPr>
              <a:t>Affilié cohabitant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</a:rPr>
              <a:t>né le 23.02.1994</a:t>
            </a:r>
          </a:p>
        </p:txBody>
      </p:sp>
      <p:cxnSp>
        <p:nvCxnSpPr>
          <p:cNvPr id="57" name="Connecteur droit 56">
            <a:extLst>
              <a:ext uri="{FF2B5EF4-FFF2-40B4-BE49-F238E27FC236}">
                <a16:creationId xmlns:a16="http://schemas.microsoft.com/office/drawing/2014/main" id="{A1E95ECA-9B09-4DF2-A3CA-E8945218CF6D}"/>
              </a:ext>
            </a:extLst>
          </p:cNvPr>
          <p:cNvCxnSpPr>
            <a:cxnSpLocks/>
          </p:cNvCxnSpPr>
          <p:nvPr/>
        </p:nvCxnSpPr>
        <p:spPr>
          <a:xfrm flipH="1" flipV="1">
            <a:off x="8276057" y="4638631"/>
            <a:ext cx="1" cy="542113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ZoneTexte 57">
            <a:extLst>
              <a:ext uri="{FF2B5EF4-FFF2-40B4-BE49-F238E27FC236}">
                <a16:creationId xmlns:a16="http://schemas.microsoft.com/office/drawing/2014/main" id="{962BB045-FA6D-4459-9CFE-62B96D404A1C}"/>
              </a:ext>
            </a:extLst>
          </p:cNvPr>
          <p:cNvSpPr txBox="1"/>
          <p:nvPr/>
        </p:nvSpPr>
        <p:spPr>
          <a:xfrm>
            <a:off x="4780395" y="4390914"/>
            <a:ext cx="10897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schemeClr val="bg1">
                    <a:lumMod val="50000"/>
                  </a:schemeClr>
                </a:solidFill>
              </a:rPr>
              <a:t>07.02.2022</a:t>
            </a:r>
          </a:p>
        </p:txBody>
      </p:sp>
      <p:sp>
        <p:nvSpPr>
          <p:cNvPr id="59" name="ZoneTexte 58">
            <a:extLst>
              <a:ext uri="{FF2B5EF4-FFF2-40B4-BE49-F238E27FC236}">
                <a16:creationId xmlns:a16="http://schemas.microsoft.com/office/drawing/2014/main" id="{6EDCCA31-7F17-4D82-9C55-16E2615B910D}"/>
              </a:ext>
            </a:extLst>
          </p:cNvPr>
          <p:cNvSpPr txBox="1"/>
          <p:nvPr/>
        </p:nvSpPr>
        <p:spPr>
          <a:xfrm>
            <a:off x="7547639" y="4398648"/>
            <a:ext cx="10897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schemeClr val="bg1">
                    <a:lumMod val="50000"/>
                  </a:schemeClr>
                </a:solidFill>
              </a:rPr>
              <a:t>02.10.2022</a:t>
            </a:r>
          </a:p>
        </p:txBody>
      </p:sp>
      <p:sp>
        <p:nvSpPr>
          <p:cNvPr id="60" name="ZoneTexte 59">
            <a:extLst>
              <a:ext uri="{FF2B5EF4-FFF2-40B4-BE49-F238E27FC236}">
                <a16:creationId xmlns:a16="http://schemas.microsoft.com/office/drawing/2014/main" id="{59DBBA27-725A-41FC-B9F5-3A62BF99D72A}"/>
              </a:ext>
            </a:extLst>
          </p:cNvPr>
          <p:cNvSpPr txBox="1"/>
          <p:nvPr/>
        </p:nvSpPr>
        <p:spPr>
          <a:xfrm>
            <a:off x="6288946" y="3923067"/>
            <a:ext cx="10618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prstClr val="black"/>
                </a:solidFill>
              </a:rPr>
              <a:t>CT « </a:t>
            </a:r>
            <a:r>
              <a:rPr lang="fr-BE" sz="1400" b="1" dirty="0">
                <a:solidFill>
                  <a:srgbClr val="1F497D"/>
                </a:solidFill>
              </a:rPr>
              <a:t>E</a:t>
            </a:r>
            <a:r>
              <a:rPr lang="fr-BE" sz="1400" b="1" dirty="0">
                <a:solidFill>
                  <a:prstClr val="black"/>
                </a:solidFill>
              </a:rPr>
              <a:t> »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</a:rPr>
              <a:t>26.05.2021</a:t>
            </a:r>
          </a:p>
        </p:txBody>
      </p:sp>
      <p:sp>
        <p:nvSpPr>
          <p:cNvPr id="62" name="ZoneTexte 61">
            <a:extLst>
              <a:ext uri="{FF2B5EF4-FFF2-40B4-BE49-F238E27FC236}">
                <a16:creationId xmlns:a16="http://schemas.microsoft.com/office/drawing/2014/main" id="{90AAC7D8-CA59-4FB1-A645-C1F1C9E1EE5D}"/>
              </a:ext>
            </a:extLst>
          </p:cNvPr>
          <p:cNvSpPr txBox="1"/>
          <p:nvPr/>
        </p:nvSpPr>
        <p:spPr>
          <a:xfrm>
            <a:off x="7689321" y="5310903"/>
            <a:ext cx="125143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srgbClr val="C00000"/>
                </a:solidFill>
              </a:rPr>
              <a:t>Affilié cohabitant</a:t>
            </a:r>
          </a:p>
          <a:p>
            <a:pPr algn="ctr"/>
            <a:r>
              <a:rPr lang="fr-BE" sz="1400" b="1" dirty="0">
                <a:solidFill>
                  <a:srgbClr val="C00000"/>
                </a:solidFill>
              </a:rPr>
              <a:t>DA CC</a:t>
            </a:r>
          </a:p>
          <a:p>
            <a:pPr algn="ctr"/>
            <a:r>
              <a:rPr lang="fr-BE" sz="1400" b="1" dirty="0">
                <a:solidFill>
                  <a:srgbClr val="C00000"/>
                </a:solidFill>
              </a:rPr>
              <a:t>03.10.2022?</a:t>
            </a:r>
          </a:p>
        </p:txBody>
      </p:sp>
      <p:cxnSp>
        <p:nvCxnSpPr>
          <p:cNvPr id="63" name="Connecteur droit 62">
            <a:extLst>
              <a:ext uri="{FF2B5EF4-FFF2-40B4-BE49-F238E27FC236}">
                <a16:creationId xmlns:a16="http://schemas.microsoft.com/office/drawing/2014/main" id="{64D66C07-C287-4DB2-BFC6-362922FA673A}"/>
              </a:ext>
            </a:extLst>
          </p:cNvPr>
          <p:cNvCxnSpPr>
            <a:cxnSpLocks/>
          </p:cNvCxnSpPr>
          <p:nvPr/>
        </p:nvCxnSpPr>
        <p:spPr>
          <a:xfrm flipV="1">
            <a:off x="8310168" y="4404295"/>
            <a:ext cx="0" cy="973701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necteur droit 63">
            <a:extLst>
              <a:ext uri="{FF2B5EF4-FFF2-40B4-BE49-F238E27FC236}">
                <a16:creationId xmlns:a16="http://schemas.microsoft.com/office/drawing/2014/main" id="{98010BD4-9CC2-4E22-B43A-CDE6D42E67CE}"/>
              </a:ext>
            </a:extLst>
          </p:cNvPr>
          <p:cNvCxnSpPr>
            <a:cxnSpLocks/>
          </p:cNvCxnSpPr>
          <p:nvPr/>
        </p:nvCxnSpPr>
        <p:spPr>
          <a:xfrm flipH="1" flipV="1">
            <a:off x="2986628" y="4631276"/>
            <a:ext cx="1196" cy="516497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ZoneTexte 64">
            <a:extLst>
              <a:ext uri="{FF2B5EF4-FFF2-40B4-BE49-F238E27FC236}">
                <a16:creationId xmlns:a16="http://schemas.microsoft.com/office/drawing/2014/main" id="{FE69AAD8-92BE-43E8-87A1-35F33384F3E2}"/>
              </a:ext>
            </a:extLst>
          </p:cNvPr>
          <p:cNvSpPr txBox="1"/>
          <p:nvPr/>
        </p:nvSpPr>
        <p:spPr>
          <a:xfrm>
            <a:off x="2039130" y="4375737"/>
            <a:ext cx="10501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1400" b="1" dirty="0">
                <a:solidFill>
                  <a:schemeClr val="accent6">
                    <a:lumMod val="75000"/>
                  </a:schemeClr>
                </a:solidFill>
              </a:rPr>
              <a:t>14.03.2020</a:t>
            </a:r>
          </a:p>
        </p:txBody>
      </p:sp>
      <p:cxnSp>
        <p:nvCxnSpPr>
          <p:cNvPr id="69" name="Connecteur droit 68">
            <a:extLst>
              <a:ext uri="{FF2B5EF4-FFF2-40B4-BE49-F238E27FC236}">
                <a16:creationId xmlns:a16="http://schemas.microsoft.com/office/drawing/2014/main" id="{94678997-F975-4A49-BBF1-9B0FEAF9765D}"/>
              </a:ext>
            </a:extLst>
          </p:cNvPr>
          <p:cNvCxnSpPr>
            <a:cxnSpLocks/>
          </p:cNvCxnSpPr>
          <p:nvPr/>
        </p:nvCxnSpPr>
        <p:spPr>
          <a:xfrm flipH="1" flipV="1">
            <a:off x="981724" y="4570960"/>
            <a:ext cx="1196" cy="609784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ZoneTexte 69">
            <a:extLst>
              <a:ext uri="{FF2B5EF4-FFF2-40B4-BE49-F238E27FC236}">
                <a16:creationId xmlns:a16="http://schemas.microsoft.com/office/drawing/2014/main" id="{4A5BA50C-18F5-440F-87DB-B2031EE89419}"/>
              </a:ext>
            </a:extLst>
          </p:cNvPr>
          <p:cNvSpPr txBox="1"/>
          <p:nvPr/>
        </p:nvSpPr>
        <p:spPr>
          <a:xfrm>
            <a:off x="616699" y="4347229"/>
            <a:ext cx="10897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schemeClr val="accent6">
                    <a:lumMod val="75000"/>
                  </a:schemeClr>
                </a:solidFill>
              </a:rPr>
              <a:t>15.03.2017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43D1A692-EC3B-44B7-A0C8-A530A35A88AB}"/>
              </a:ext>
            </a:extLst>
          </p:cNvPr>
          <p:cNvSpPr/>
          <p:nvPr/>
        </p:nvSpPr>
        <p:spPr>
          <a:xfrm>
            <a:off x="3129349" y="4709820"/>
            <a:ext cx="1450057" cy="450928"/>
          </a:xfrm>
          <a:prstGeom prst="rect">
            <a:avLst/>
          </a:prstGeom>
          <a:solidFill>
            <a:schemeClr val="bg1">
              <a:lumMod val="85000"/>
            </a:schemeClr>
          </a:solidFill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400" b="1" dirty="0">
                <a:solidFill>
                  <a:prstClr val="black"/>
                </a:solidFill>
              </a:rPr>
              <a:t>Employeur A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</a:rPr>
              <a:t>Q/S = 38/38</a:t>
            </a:r>
          </a:p>
        </p:txBody>
      </p:sp>
      <p:cxnSp>
        <p:nvCxnSpPr>
          <p:cNvPr id="61" name="Connecteur droit avec flèche 60">
            <a:extLst>
              <a:ext uri="{FF2B5EF4-FFF2-40B4-BE49-F238E27FC236}">
                <a16:creationId xmlns:a16="http://schemas.microsoft.com/office/drawing/2014/main" id="{566D3D41-CFF3-4F86-BDC6-647FD180FFD3}"/>
              </a:ext>
            </a:extLst>
          </p:cNvPr>
          <p:cNvCxnSpPr/>
          <p:nvPr/>
        </p:nvCxnSpPr>
        <p:spPr>
          <a:xfrm>
            <a:off x="821337" y="5180744"/>
            <a:ext cx="7759930" cy="1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Connecteur droit 72">
            <a:extLst>
              <a:ext uri="{FF2B5EF4-FFF2-40B4-BE49-F238E27FC236}">
                <a16:creationId xmlns:a16="http://schemas.microsoft.com/office/drawing/2014/main" id="{6A0FA25E-1EC6-4698-86D3-EF3479EFD7A4}"/>
              </a:ext>
            </a:extLst>
          </p:cNvPr>
          <p:cNvCxnSpPr>
            <a:cxnSpLocks/>
          </p:cNvCxnSpPr>
          <p:nvPr/>
        </p:nvCxnSpPr>
        <p:spPr>
          <a:xfrm flipV="1">
            <a:off x="4579406" y="4638631"/>
            <a:ext cx="0" cy="522117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necteur droit 73">
            <a:extLst>
              <a:ext uri="{FF2B5EF4-FFF2-40B4-BE49-F238E27FC236}">
                <a16:creationId xmlns:a16="http://schemas.microsoft.com/office/drawing/2014/main" id="{177578B6-F7F0-4E7C-A749-5DD1DB71F01C}"/>
              </a:ext>
            </a:extLst>
          </p:cNvPr>
          <p:cNvCxnSpPr>
            <a:cxnSpLocks/>
          </p:cNvCxnSpPr>
          <p:nvPr/>
        </p:nvCxnSpPr>
        <p:spPr>
          <a:xfrm flipV="1">
            <a:off x="3129349" y="4631276"/>
            <a:ext cx="0" cy="516496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ZoneTexte 74">
            <a:extLst>
              <a:ext uri="{FF2B5EF4-FFF2-40B4-BE49-F238E27FC236}">
                <a16:creationId xmlns:a16="http://schemas.microsoft.com/office/drawing/2014/main" id="{EFEABCC0-B3AE-4E8E-9C15-17A548E7AE06}"/>
              </a:ext>
            </a:extLst>
          </p:cNvPr>
          <p:cNvSpPr txBox="1"/>
          <p:nvPr/>
        </p:nvSpPr>
        <p:spPr>
          <a:xfrm>
            <a:off x="2946415" y="4380200"/>
            <a:ext cx="10897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schemeClr val="bg1">
                    <a:lumMod val="50000"/>
                  </a:schemeClr>
                </a:solidFill>
              </a:rPr>
              <a:t>01.04.2020</a:t>
            </a:r>
          </a:p>
        </p:txBody>
      </p:sp>
      <p:sp>
        <p:nvSpPr>
          <p:cNvPr id="78" name="ZoneTexte 77">
            <a:extLst>
              <a:ext uri="{FF2B5EF4-FFF2-40B4-BE49-F238E27FC236}">
                <a16:creationId xmlns:a16="http://schemas.microsoft.com/office/drawing/2014/main" id="{3529DBE6-9CD0-4D73-B51F-3D4AAEB41C11}"/>
              </a:ext>
            </a:extLst>
          </p:cNvPr>
          <p:cNvSpPr txBox="1"/>
          <p:nvPr/>
        </p:nvSpPr>
        <p:spPr>
          <a:xfrm>
            <a:off x="3856074" y="4375736"/>
            <a:ext cx="10897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schemeClr val="bg1">
                    <a:lumMod val="50000"/>
                  </a:schemeClr>
                </a:solidFill>
              </a:rPr>
              <a:t>30.04.2020</a:t>
            </a:r>
          </a:p>
        </p:txBody>
      </p:sp>
      <p:cxnSp>
        <p:nvCxnSpPr>
          <p:cNvPr id="82" name="Connecteur droit 81">
            <a:extLst>
              <a:ext uri="{FF2B5EF4-FFF2-40B4-BE49-F238E27FC236}">
                <a16:creationId xmlns:a16="http://schemas.microsoft.com/office/drawing/2014/main" id="{2BCA03CD-5FB0-4EAF-B4D9-3F8D76DE53F2}"/>
              </a:ext>
            </a:extLst>
          </p:cNvPr>
          <p:cNvCxnSpPr>
            <a:cxnSpLocks/>
          </p:cNvCxnSpPr>
          <p:nvPr/>
        </p:nvCxnSpPr>
        <p:spPr>
          <a:xfrm>
            <a:off x="3965491" y="4398648"/>
            <a:ext cx="0" cy="959916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ZoneTexte 84">
            <a:extLst>
              <a:ext uri="{FF2B5EF4-FFF2-40B4-BE49-F238E27FC236}">
                <a16:creationId xmlns:a16="http://schemas.microsoft.com/office/drawing/2014/main" id="{FEA72F6C-2F93-4226-B27F-8CE9A94EA531}"/>
              </a:ext>
            </a:extLst>
          </p:cNvPr>
          <p:cNvSpPr txBox="1"/>
          <p:nvPr/>
        </p:nvSpPr>
        <p:spPr>
          <a:xfrm>
            <a:off x="3468783" y="3923067"/>
            <a:ext cx="10618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prstClr val="black"/>
                </a:solidFill>
              </a:rPr>
              <a:t>CT « </a:t>
            </a:r>
            <a:r>
              <a:rPr lang="fr-BE" sz="1400" b="1" dirty="0">
                <a:solidFill>
                  <a:srgbClr val="1F497D"/>
                </a:solidFill>
              </a:rPr>
              <a:t>E</a:t>
            </a:r>
            <a:r>
              <a:rPr lang="fr-BE" sz="1400" b="1" dirty="0">
                <a:solidFill>
                  <a:prstClr val="black"/>
                </a:solidFill>
              </a:rPr>
              <a:t> »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</a:rPr>
              <a:t>14.10.2019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D53D8439-B327-47D7-BCD4-C02889B56DC7}"/>
              </a:ext>
            </a:extLst>
          </p:cNvPr>
          <p:cNvSpPr txBox="1"/>
          <p:nvPr/>
        </p:nvSpPr>
        <p:spPr>
          <a:xfrm>
            <a:off x="3080790" y="5341114"/>
            <a:ext cx="17627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srgbClr val="C00000"/>
                </a:solidFill>
              </a:rPr>
              <a:t>DA : 1</a:t>
            </a:r>
            <a:r>
              <a:rPr lang="fr-BE" sz="1400" b="1" baseline="30000" dirty="0">
                <a:solidFill>
                  <a:srgbClr val="C00000"/>
                </a:solidFill>
              </a:rPr>
              <a:t>ier</a:t>
            </a:r>
            <a:r>
              <a:rPr lang="fr-BE" sz="1400" b="1" dirty="0">
                <a:solidFill>
                  <a:srgbClr val="C00000"/>
                </a:solidFill>
              </a:rPr>
              <a:t> jour CT chez employeur A</a:t>
            </a:r>
          </a:p>
        </p:txBody>
      </p:sp>
    </p:spTree>
    <p:extLst>
      <p:ext uri="{BB962C8B-B14F-4D97-AF65-F5344CB8AC3E}">
        <p14:creationId xmlns:p14="http://schemas.microsoft.com/office/powerpoint/2010/main" val="1529859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/>
    </p:bld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Matériel Formation" ma:contentTypeID="0x01010011E8FC1629FD884B95A0235DC4123BD80037E0190D7060C1489B20FAF4695DD315" ma:contentTypeVersion="56" ma:contentTypeDescription="" ma:contentTypeScope="" ma:versionID="cd92e5dc8922b9f814c45ae25cc72c2f">
  <xsd:schema xmlns:xsd="http://www.w3.org/2001/XMLSchema" xmlns:xs="http://www.w3.org/2001/XMLSchema" xmlns:p="http://schemas.microsoft.com/office/2006/metadata/properties" xmlns:ns2="bdec1399-7c99-4025-bfb6-e1e799e6630a" xmlns:ns3="7d2a3af0-b854-4018-b3fb-98bf2b75e19a" xmlns:ns4="1e832426-6819-49af-b751-404cdfce1567" targetNamespace="http://schemas.microsoft.com/office/2006/metadata/properties" ma:root="true" ma:fieldsID="f74107414c9e56c27ee6d145e01d70b8" ns2:_="" ns3:_="" ns4:_="">
    <xsd:import namespace="bdec1399-7c99-4025-bfb6-e1e799e6630a"/>
    <xsd:import namespace="7d2a3af0-b854-4018-b3fb-98bf2b75e19a"/>
    <xsd:import namespace="1e832426-6819-49af-b751-404cdfce1567"/>
    <xsd:element name="properties">
      <xsd:complexType>
        <xsd:sequence>
          <xsd:element name="documentManagement">
            <xsd:complexType>
              <xsd:all>
                <xsd:element ref="ns2:Module" minOccurs="0"/>
                <xsd:element ref="ns2:Statut"/>
                <xsd:element ref="ns4:_dlc_DocIdPersistId" minOccurs="0"/>
                <xsd:element ref="ns2:md32eaf952984c26aec09f4d347b7a74" minOccurs="0"/>
                <xsd:element ref="ns4:TaxCatchAll" minOccurs="0"/>
                <xsd:element ref="ns4:TaxCatchAllLabel" minOccurs="0"/>
                <xsd:element ref="ns2:jf19b1af64ba461daa355c445df11db3" minOccurs="0"/>
                <xsd:element ref="ns2:j804b76d84c34da19371d405cb7d8703" minOccurs="0"/>
                <xsd:element ref="ns2:k7d10f80c005470c98686ee276ce795b" minOccurs="0"/>
                <xsd:element ref="ns4:_dlc_DocId" minOccurs="0"/>
                <xsd:element ref="ns2:occ5f7d46c654b18859d90e8d617f5d0" minOccurs="0"/>
                <xsd:element ref="ns4:_dlc_DocIdUrl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Location" minOccurs="0"/>
                <xsd:element ref="ns3:MediaServiceOCR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dec1399-7c99-4025-bfb6-e1e799e6630a" elementFormDefault="qualified">
    <xsd:import namespace="http://schemas.microsoft.com/office/2006/documentManagement/types"/>
    <xsd:import namespace="http://schemas.microsoft.com/office/infopath/2007/PartnerControls"/>
    <xsd:element name="Module" ma:index="4" nillable="true" ma:displayName="Module" ma:description="Valeurs 1 à 80" ma:indexed="true" ma:internalName="Module" ma:readOnly="false" ma:percentage="FALSE">
      <xsd:simpleType>
        <xsd:restriction base="dms:Number">
          <xsd:maxInclusive value="80"/>
          <xsd:minInclusive value="0"/>
        </xsd:restriction>
      </xsd:simpleType>
    </xsd:element>
    <xsd:element name="Statut" ma:index="5" ma:displayName="Statut" ma:default="En cours" ma:format="RadioButtons" ma:indexed="true" ma:internalName="Statut" ma:readOnly="false">
      <xsd:simpleType>
        <xsd:restriction base="dms:Choice">
          <xsd:enumeration value="En cours"/>
          <xsd:enumeration value="Final"/>
          <xsd:enumeration value="Archive"/>
        </xsd:restriction>
      </xsd:simpleType>
    </xsd:element>
    <xsd:element name="md32eaf952984c26aec09f4d347b7a74" ma:index="11" nillable="true" ma:taxonomy="true" ma:internalName="md32eaf952984c26aec09f4d347b7a74" ma:taxonomyFieldName="Type_x0020_document" ma:displayName="Type document" ma:indexed="true" ma:readOnly="false" ma:fieldId="{6d32eaf9-5298-4c26-aec0-9f4d347b7a74}" ma:sspId="4a2598b1-08ab-4950-8754-92b55e3dff8f" ma:termSetId="2e89b6d9-ed4d-4b29-9fc3-ad84c74cbacb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jf19b1af64ba461daa355c445df11db3" ma:index="15" nillable="true" ma:taxonomy="true" ma:internalName="jf19b1af64ba461daa355c445df11db3" ma:taxonomyFieldName="Type_x0020_formation" ma:displayName="Type formation" ma:indexed="true" ma:readOnly="false" ma:fieldId="{3f19b1af-64ba-461d-aa35-5c445df11db3}" ma:sspId="4a2598b1-08ab-4950-8754-92b55e3dff8f" ma:termSetId="f1b6e414-f9e1-424a-b54b-6296e61f8b60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j804b76d84c34da19371d405cb7d8703" ma:index="19" nillable="true" ma:taxonomy="true" ma:internalName="j804b76d84c34da19371d405cb7d8703" ma:taxonomyFieldName="Domaine" ma:displayName="Domaine" ma:readOnly="false" ma:fieldId="{3804b76d-84c3-4da1-9371-d405cb7d8703}" ma:taxonomyMulti="true" ma:sspId="4a2598b1-08ab-4950-8754-92b55e3dff8f" ma:termSetId="9aa396fc-6b21-4f6c-8f09-b5be8f19703d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k7d10f80c005470c98686ee276ce795b" ma:index="21" nillable="true" ma:taxonomy="true" ma:internalName="k7d10f80c005470c98686ee276ce795b" ma:taxonomyFieldName="Th_x00e8_me" ma:displayName="Thème" ma:readOnly="false" ma:fieldId="{47d10f80-c005-470c-9868-6ee276ce795b}" ma:taxonomyMulti="true" ma:sspId="4a2598b1-08ab-4950-8754-92b55e3dff8f" ma:termSetId="96e8d8b8-5f8c-4d13-a79b-e20e52e17201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occ5f7d46c654b18859d90e8d617f5d0" ma:index="23" nillable="true" ma:taxonomy="true" ma:internalName="occ5f7d46c654b18859d90e8d617f5d0" ma:taxonomyFieldName="Public_x0020_Cible" ma:displayName="Public Cible" ma:readOnly="false" ma:fieldId="{8cc5f7d4-6c65-4b18-859d-90e8d617f5d0}" ma:taxonomyMulti="true" ma:sspId="4a2598b1-08ab-4950-8754-92b55e3dff8f" ma:termSetId="15f25491-8512-4b98-b974-b3af985da75a" ma:anchorId="00000000-0000-0000-0000-000000000000" ma:open="fals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2a3af0-b854-4018-b3fb-98bf2b75e19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25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26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27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28" nillable="true" ma:displayName="Tags" ma:internalName="MediaServiceAutoTags" ma:readOnly="true">
      <xsd:simpleType>
        <xsd:restriction base="dms:Text"/>
      </xsd:simpleType>
    </xsd:element>
    <xsd:element name="MediaServiceLocation" ma:index="29" nillable="true" ma:displayName="Location" ma:internalName="MediaServiceLocation" ma:readOnly="true">
      <xsd:simpleType>
        <xsd:restriction base="dms:Text"/>
      </xsd:simpleType>
    </xsd:element>
    <xsd:element name="MediaServiceOCR" ma:index="3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3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3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e832426-6819-49af-b751-404cdfce1567" elementFormDefault="qualified">
    <xsd:import namespace="http://schemas.microsoft.com/office/2006/documentManagement/types"/>
    <xsd:import namespace="http://schemas.microsoft.com/office/infopath/2007/PartnerControls"/>
    <xsd:element name="_dlc_DocIdPersistId" ma:index="10" nillable="true" ma:displayName="Id blijven behouden" ma:description="Id behouden tijdens toevoegen." ma:hidden="true" ma:internalName="_dlc_DocIdPersistId" ma:readOnly="true">
      <xsd:simpleType>
        <xsd:restriction base="dms:Boolean"/>
      </xsd:simpleType>
    </xsd:element>
    <xsd:element name="TaxCatchAll" ma:index="12" nillable="true" ma:displayName="Taxonomy Catch All Column" ma:hidden="true" ma:list="{323679a5-830d-4928-9bb5-b6f35125faa4}" ma:internalName="TaxCatchAll" ma:readOnly="false" ma:showField="CatchAllData" ma:web="bdec1399-7c99-4025-bfb6-e1e799e6630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3" nillable="true" ma:displayName="Taxonomy Catch All Column1" ma:hidden="true" ma:list="{323679a5-830d-4928-9bb5-b6f35125faa4}" ma:internalName="TaxCatchAllLabel" ma:readOnly="true" ma:showField="CatchAllDataLabel" ma:web="bdec1399-7c99-4025-bfb6-e1e799e6630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_dlc_DocId" ma:index="22" nillable="true" ma:displayName="Valeur d’ID de document" ma:description="Valeur de l’ID de document affecté à cet élément." ma:internalName="_dlc_DocId" ma:readOnly="true">
      <xsd:simpleType>
        <xsd:restriction base="dms:Text"/>
      </xsd:simpleType>
    </xsd:element>
    <xsd:element name="_dlc_DocIdUrl" ma:index="24" nillable="true" ma:displayName="ID de document" ma:description="Lien permanent vers ce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14" ma:displayName="Type de contenu"/>
        <xsd:element ref="dc:title" minOccurs="0" maxOccurs="1" ma:index="1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e832426-6819-49af-b751-404cdfce1567">
      <Value>12</Value>
      <Value>17</Value>
      <Value>79</Value>
      <Value>29</Value>
      <Value>42</Value>
    </TaxCatchAll>
    <j804b76d84c34da19371d405cb7d8703 xmlns="bdec1399-7c99-4025-bfb6-e1e799e6630a">
      <Terms xmlns="http://schemas.microsoft.com/office/infopath/2007/PartnerControls">
        <TermInfo xmlns="http://schemas.microsoft.com/office/infopath/2007/PartnerControls">
          <TermName xmlns="http://schemas.microsoft.com/office/infopath/2007/PartnerControls">Admissibilité</TermName>
          <TermId xmlns="http://schemas.microsoft.com/office/infopath/2007/PartnerControls">d1ac0b1f-1e4c-4aa8-9a97-5b01e61985ba</TermId>
        </TermInfo>
      </Terms>
    </j804b76d84c34da19371d405cb7d8703>
    <occ5f7d46c654b18859d90e8d617f5d0 xmlns="bdec1399-7c99-4025-bfb6-e1e799e6630a">
      <Terms xmlns="http://schemas.microsoft.com/office/infopath/2007/PartnerControls">
        <TermInfo xmlns="http://schemas.microsoft.com/office/infopath/2007/PartnerControls">
          <TermName xmlns="http://schemas.microsoft.com/office/infopath/2007/PartnerControls">FLT</TermName>
          <TermId xmlns="http://schemas.microsoft.com/office/infopath/2007/PartnerControls">f342c2bc-e504-4fe0-8d5d-34c04f2f783f</TermId>
        </TermInfo>
      </Terms>
    </occ5f7d46c654b18859d90e8d617f5d0>
    <md32eaf952984c26aec09f4d347b7a74 xmlns="bdec1399-7c99-4025-bfb6-e1e799e6630a">
      <Terms xmlns="http://schemas.microsoft.com/office/infopath/2007/PartnerControls">
        <TermInfo xmlns="http://schemas.microsoft.com/office/infopath/2007/PartnerControls">
          <TermName xmlns="http://schemas.microsoft.com/office/infopath/2007/PartnerControls">Présentation</TermName>
          <TermId xmlns="http://schemas.microsoft.com/office/infopath/2007/PartnerControls">66a9a075-20e6-47e0-8483-85d2e9240401</TermId>
        </TermInfo>
      </Terms>
    </md32eaf952984c26aec09f4d347b7a74>
    <k7d10f80c005470c98686ee276ce795b xmlns="bdec1399-7c99-4025-bfb6-e1e799e6630a">
      <Terms xmlns="http://schemas.microsoft.com/office/infopath/2007/PartnerControls">
        <TermInfo xmlns="http://schemas.microsoft.com/office/infopath/2007/PartnerControls">
          <TermName xmlns="http://schemas.microsoft.com/office/infopath/2007/PartnerControls">Dispense de stage (AR42) - Base</TermName>
          <TermId xmlns="http://schemas.microsoft.com/office/infopath/2007/PartnerControls">8df99972-05a0-4214-b9b9-fa131325ca55</TermId>
        </TermInfo>
      </Terms>
    </k7d10f80c005470c98686ee276ce795b>
    <Statut xmlns="bdec1399-7c99-4025-bfb6-e1e799e6630a">En cours</Statut>
    <Module xmlns="bdec1399-7c99-4025-bfb6-e1e799e6630a">29</Module>
    <jf19b1af64ba461daa355c445df11db3 xmlns="bdec1399-7c99-4025-bfb6-e1e799e6630a">
      <Terms xmlns="http://schemas.microsoft.com/office/infopath/2007/PartnerControls">
        <TermInfo xmlns="http://schemas.microsoft.com/office/infopath/2007/PartnerControls">
          <TermName xmlns="http://schemas.microsoft.com/office/infopath/2007/PartnerControls">FCJ formation junior</TermName>
          <TermId xmlns="http://schemas.microsoft.com/office/infopath/2007/PartnerControls">010f76d4-1162-4810-b874-62b7f270a9bc</TermId>
        </TermInfo>
      </Terms>
    </jf19b1af64ba461daa355c445df11db3>
    <_dlc_DocIdPersistId xmlns="1e832426-6819-49af-b751-404cdfce1567" xsi:nil="true"/>
    <_dlc_DocId xmlns="1e832426-6819-49af-b751-404cdfce1567">FORMATIONFLT-1274042595-3487</_dlc_DocId>
    <_dlc_DocIdUrl xmlns="1e832426-6819-49af-b751-404cdfce1567">
      <Url>https://acvcsc.sharepoint.com/sites/FLT/_layouts/15/DocIdRedir.aspx?ID=FORMATIONFLT-1274042595-3487</Url>
      <Description>FORMATIONFLT-1274042595-3487</Description>
    </_dlc_DocIdUrl>
  </documentManagement>
</p:properties>
</file>

<file path=customXml/itemProps1.xml><?xml version="1.0" encoding="utf-8"?>
<ds:datastoreItem xmlns:ds="http://schemas.openxmlformats.org/officeDocument/2006/customXml" ds:itemID="{FB9A2BD3-0645-4B76-9346-E523F7DA354B}">
  <ds:schemaRefs>
    <ds:schemaRef ds:uri="http://schemas.microsoft.com/sharepoint/events"/>
  </ds:schemaRefs>
</ds:datastoreItem>
</file>

<file path=customXml/itemProps2.xml><?xml version="1.0" encoding="utf-8"?>
<ds:datastoreItem xmlns:ds="http://schemas.openxmlformats.org/officeDocument/2006/customXml" ds:itemID="{823F1AC0-32ED-442E-8465-7EBC3C986B7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5BA1E2E-F2EC-4AF9-A369-B1148A7DB00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dec1399-7c99-4025-bfb6-e1e799e6630a"/>
    <ds:schemaRef ds:uri="7d2a3af0-b854-4018-b3fb-98bf2b75e19a"/>
    <ds:schemaRef ds:uri="1e832426-6819-49af-b751-404cdfce156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2BE5C57D-BA94-447F-B615-5DE4A3A43A04}">
  <ds:schemaRefs>
    <ds:schemaRef ds:uri="http://schemas.microsoft.com/office/infopath/2007/PartnerControls"/>
    <ds:schemaRef ds:uri="http://purl.org/dc/terms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7d2a3af0-b854-4018-b3fb-98bf2b75e19a"/>
    <ds:schemaRef ds:uri="bdec1399-7c99-4025-bfb6-e1e799e6630a"/>
    <ds:schemaRef ds:uri="1e832426-6819-49af-b751-404cdfce1567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8435</TotalTime>
  <Words>1477</Words>
  <Application>Microsoft Office PowerPoint</Application>
  <PresentationFormat>Affichage à l'écran (4:3)</PresentationFormat>
  <Paragraphs>413</Paragraphs>
  <Slides>24</Slides>
  <Notes>17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24</vt:i4>
      </vt:variant>
    </vt:vector>
  </HeadingPairs>
  <TitlesOfParts>
    <vt:vector size="28" baseType="lpstr">
      <vt:lpstr>Arial</vt:lpstr>
      <vt:lpstr>Calibri</vt:lpstr>
      <vt:lpstr>Wingdings</vt:lpstr>
      <vt:lpstr>Thème Office</vt:lpstr>
      <vt:lpstr>Dispense de stage</vt:lpstr>
      <vt:lpstr>Table des matières</vt:lpstr>
      <vt:lpstr>Table des matières</vt:lpstr>
      <vt:lpstr>1.1. Rappel: exemple 1 art.42</vt:lpstr>
      <vt:lpstr>1.1. Rappel: exemple 2 art. 42</vt:lpstr>
      <vt:lpstr>1.2. Rappel: règle générale  art. 42</vt:lpstr>
      <vt:lpstr>1.3 Rappel: Le principe de prolongation art.42</vt:lpstr>
      <vt:lpstr>2.1. Les évènements prolongateurs</vt:lpstr>
      <vt:lpstr>2.1. Les évènements prolongateurs</vt:lpstr>
      <vt:lpstr>2.1. Les évènements prolongateurs  </vt:lpstr>
      <vt:lpstr>2.1. Les évènements prolongateurs</vt:lpstr>
      <vt:lpstr>2.2. Exemple 1: L’inactivité pour l’éducation d’un enfant </vt:lpstr>
      <vt:lpstr>2.3.  Exemple2:L’inactivité pour l’éducation d’un enfant </vt:lpstr>
      <vt:lpstr>2.3. Exemple 3: l’inactivité pour l’éducation d’un enfant </vt:lpstr>
      <vt:lpstr>3.1 Art. 42 &amp; allocations d’insertion</vt:lpstr>
      <vt:lpstr>3.2 Art. 42 &amp; allocation d’insertion – exemple 1</vt:lpstr>
      <vt:lpstr>3.2 Art. 42 &amp; allocation d’insertion –Exemple 2</vt:lpstr>
      <vt:lpstr>3.2 Art. 42 &amp; allocation d’insertion –Exemple 3</vt:lpstr>
      <vt:lpstr>4.1. Art. 42 &amp; chômage temporaire</vt:lpstr>
      <vt:lpstr>4.2. Art. 42, 30 ou 33?</vt:lpstr>
      <vt:lpstr>4.2. Art. 42, 30 ou 33?</vt:lpstr>
      <vt:lpstr>4.2. Art. 42, 30 ou 33?</vt:lpstr>
      <vt:lpstr>4.2. Art. 42, 30 ou 33? </vt:lpstr>
      <vt:lpstr>4.2. Art. 42, 30 ou 33?</vt:lpstr>
    </vt:vector>
  </TitlesOfParts>
  <Company>ACV-CSC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FCJ-M29-Dispense de stage (niv. 2)-FLT</dc:title>
  <dc:creator>u69lcr</dc:creator>
  <cp:lastModifiedBy>Anja Sobkowiak</cp:lastModifiedBy>
  <cp:revision>526</cp:revision>
  <cp:lastPrinted>2022-10-25T11:36:23Z</cp:lastPrinted>
  <dcterms:created xsi:type="dcterms:W3CDTF">2010-09-22T12:12:06Z</dcterms:created>
  <dcterms:modified xsi:type="dcterms:W3CDTF">2022-10-25T11:39:08Z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0x01010011E8FC1629FD884B95A0235DC4123BD80037E0190D7060C1489B20FAF4695DD315</vt:lpwstr>
  </property>
  <property fmtid="{D5CDD505-2E9C-101B-9397-08002B2CF9AE}" pid="3" name="Type formation">
    <vt:lpwstr>42;#FCJ formation junior|010f76d4-1162-4810-b874-62b7f270a9bc</vt:lpwstr>
  </property>
  <property fmtid="{D5CDD505-2E9C-101B-9397-08002B2CF9AE}" pid="4" name="Type document">
    <vt:lpwstr>29;#Présentation|66a9a075-20e6-47e0-8483-85d2e9240401</vt:lpwstr>
  </property>
  <property fmtid="{D5CDD505-2E9C-101B-9397-08002B2CF9AE}" pid="5" name="Public Cible">
    <vt:lpwstr>12;#FLT|f342c2bc-e504-4fe0-8d5d-34c04f2f783f</vt:lpwstr>
  </property>
  <property fmtid="{D5CDD505-2E9C-101B-9397-08002B2CF9AE}" pid="6" name="Domaine">
    <vt:lpwstr>17;#Admissibilité|d1ac0b1f-1e4c-4aa8-9a97-5b01e61985ba</vt:lpwstr>
  </property>
  <property fmtid="{D5CDD505-2E9C-101B-9397-08002B2CF9AE}" pid="7" name="Thème">
    <vt:lpwstr>79;#Dispense de stage (AR42) - Base|8df99972-05a0-4214-b9b9-fa131325ca55</vt:lpwstr>
  </property>
  <property fmtid="{D5CDD505-2E9C-101B-9397-08002B2CF9AE}" pid="8" name="Order">
    <vt:r8>244600</vt:r8>
  </property>
  <property fmtid="{D5CDD505-2E9C-101B-9397-08002B2CF9AE}" pid="9" name="_dlc_DocIdItemGuid">
    <vt:lpwstr>255864a4-99ce-4df8-9443-11c5903a0cc7</vt:lpwstr>
  </property>
  <property fmtid="{D5CDD505-2E9C-101B-9397-08002B2CF9AE}" pid="10" name="AuthorIds_UIVersion_2560">
    <vt:lpwstr>19</vt:lpwstr>
  </property>
</Properties>
</file>