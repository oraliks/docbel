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22" r:id="rId5"/>
    <p:sldId id="321" r:id="rId6"/>
    <p:sldId id="512" r:id="rId7"/>
    <p:sldId id="332" r:id="rId8"/>
    <p:sldId id="339" r:id="rId9"/>
    <p:sldId id="340" r:id="rId10"/>
    <p:sldId id="341" r:id="rId11"/>
    <p:sldId id="505" r:id="rId12"/>
    <p:sldId id="506" r:id="rId13"/>
    <p:sldId id="384" r:id="rId14"/>
    <p:sldId id="509" r:id="rId15"/>
    <p:sldId id="262" r:id="rId16"/>
    <p:sldId id="263" r:id="rId17"/>
    <p:sldId id="272" r:id="rId18"/>
    <p:sldId id="510" r:id="rId19"/>
    <p:sldId id="271" r:id="rId20"/>
    <p:sldId id="276" r:id="rId21"/>
    <p:sldId id="519" r:id="rId22"/>
    <p:sldId id="520" r:id="rId23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7374AE1-80EA-4BC8-BAD6-DDDC9284A22A}">
          <p14:sldIdLst>
            <p14:sldId id="322"/>
            <p14:sldId id="321"/>
            <p14:sldId id="512"/>
            <p14:sldId id="332"/>
            <p14:sldId id="339"/>
            <p14:sldId id="340"/>
            <p14:sldId id="341"/>
            <p14:sldId id="505"/>
            <p14:sldId id="506"/>
            <p14:sldId id="384"/>
            <p14:sldId id="509"/>
            <p14:sldId id="262"/>
            <p14:sldId id="263"/>
            <p14:sldId id="272"/>
            <p14:sldId id="510"/>
            <p14:sldId id="271"/>
            <p14:sldId id="276"/>
            <p14:sldId id="519"/>
            <p14:sldId id="5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FF9933"/>
    <a:srgbClr val="0080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9CA61-F29D-4D49-81D2-F0D69DE7D29C}" v="2" dt="2023-01-06T23:14:42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2" autoAdjust="0"/>
    <p:restoredTop sz="94249" autoAdjust="0"/>
  </p:normalViewPr>
  <p:slideViewPr>
    <p:cSldViewPr>
      <p:cViewPr varScale="1">
        <p:scale>
          <a:sx n="86" d="100"/>
          <a:sy n="86" d="100"/>
        </p:scale>
        <p:origin x="14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BE99CA61-F29D-4D49-81D2-F0D69DE7D29C}"/>
    <pc:docChg chg="undo custSel modSld">
      <pc:chgData name="Anja Sobkowiak" userId="7f76af53-32f2-4907-b707-590db301fc0c" providerId="ADAL" clId="{BE99CA61-F29D-4D49-81D2-F0D69DE7D29C}" dt="2023-01-06T23:14:24.294" v="6"/>
      <pc:docMkLst>
        <pc:docMk/>
      </pc:docMkLst>
      <pc:sldChg chg="modSp mod">
        <pc:chgData name="Anja Sobkowiak" userId="7f76af53-32f2-4907-b707-590db301fc0c" providerId="ADAL" clId="{BE99CA61-F29D-4D49-81D2-F0D69DE7D29C}" dt="2023-01-06T23:13:50.361" v="5" actId="1035"/>
        <pc:sldMkLst>
          <pc:docMk/>
          <pc:sldMk cId="1128936076" sldId="263"/>
        </pc:sldMkLst>
        <pc:spChg chg="mod">
          <ac:chgData name="Anja Sobkowiak" userId="7f76af53-32f2-4907-b707-590db301fc0c" providerId="ADAL" clId="{BE99CA61-F29D-4D49-81D2-F0D69DE7D29C}" dt="2023-01-06T22:55:29.594" v="2" actId="1076"/>
          <ac:spMkLst>
            <pc:docMk/>
            <pc:sldMk cId="1128936076" sldId="263"/>
            <ac:spMk id="3" creationId="{00000000-0000-0000-0000-000000000000}"/>
          </ac:spMkLst>
        </pc:spChg>
        <pc:spChg chg="mod">
          <ac:chgData name="Anja Sobkowiak" userId="7f76af53-32f2-4907-b707-590db301fc0c" providerId="ADAL" clId="{BE99CA61-F29D-4D49-81D2-F0D69DE7D29C}" dt="2023-01-06T22:55:35.260" v="3" actId="1076"/>
          <ac:spMkLst>
            <pc:docMk/>
            <pc:sldMk cId="1128936076" sldId="263"/>
            <ac:spMk id="4" creationId="{00000000-0000-0000-0000-000000000000}"/>
          </ac:spMkLst>
        </pc:spChg>
        <pc:graphicFrameChg chg="mod">
          <ac:chgData name="Anja Sobkowiak" userId="7f76af53-32f2-4907-b707-590db301fc0c" providerId="ADAL" clId="{BE99CA61-F29D-4D49-81D2-F0D69DE7D29C}" dt="2023-01-06T23:13:50.361" v="5" actId="1035"/>
          <ac:graphicFrameMkLst>
            <pc:docMk/>
            <pc:sldMk cId="1128936076" sldId="263"/>
            <ac:graphicFrameMk id="5" creationId="{7A6A306B-7E03-4FA6-AEC6-BC9EDF8823CC}"/>
          </ac:graphicFrameMkLst>
        </pc:graphicFrameChg>
      </pc:sldChg>
      <pc:sldChg chg="modSp">
        <pc:chgData name="Anja Sobkowiak" userId="7f76af53-32f2-4907-b707-590db301fc0c" providerId="ADAL" clId="{BE99CA61-F29D-4D49-81D2-F0D69DE7D29C}" dt="2023-01-06T23:14:24.294" v="6"/>
        <pc:sldMkLst>
          <pc:docMk/>
          <pc:sldMk cId="3053844699" sldId="276"/>
        </pc:sldMkLst>
        <pc:graphicFrameChg chg="mod">
          <ac:chgData name="Anja Sobkowiak" userId="7f76af53-32f2-4907-b707-590db301fc0c" providerId="ADAL" clId="{BE99CA61-F29D-4D49-81D2-F0D69DE7D29C}" dt="2023-01-06T23:14:24.294" v="6"/>
          <ac:graphicFrameMkLst>
            <pc:docMk/>
            <pc:sldMk cId="3053844699" sldId="276"/>
            <ac:graphicFrameMk id="3" creationId="{EFC8B070-7520-422C-8769-F0596800570E}"/>
          </ac:graphicFrameMkLst>
        </pc:graphicFrameChg>
      </pc:sldChg>
      <pc:sldChg chg="modSp mod">
        <pc:chgData name="Anja Sobkowiak" userId="7f76af53-32f2-4907-b707-590db301fc0c" providerId="ADAL" clId="{BE99CA61-F29D-4D49-81D2-F0D69DE7D29C}" dt="2023-01-06T22:13:04.146" v="0" actId="1076"/>
        <pc:sldMkLst>
          <pc:docMk/>
          <pc:sldMk cId="2039283096" sldId="512"/>
        </pc:sldMkLst>
        <pc:graphicFrameChg chg="mod">
          <ac:chgData name="Anja Sobkowiak" userId="7f76af53-32f2-4907-b707-590db301fc0c" providerId="ADAL" clId="{BE99CA61-F29D-4D49-81D2-F0D69DE7D29C}" dt="2023-01-06T22:13:04.146" v="0" actId="1076"/>
          <ac:graphicFrameMkLst>
            <pc:docMk/>
            <pc:sldMk cId="2039283096" sldId="512"/>
            <ac:graphicFrameMk id="5" creationId="{24EDC52D-29EE-49B4-B6E9-7EA72F42EFD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06/01/2023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06/01/2023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90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15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8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544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478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21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624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170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510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599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Voir commentaire 2 de la page 6 de la note </a:t>
            </a:r>
            <a:r>
              <a:rPr lang="fr-BE" dirty="0" err="1"/>
              <a:t>riodoc</a:t>
            </a:r>
            <a:r>
              <a:rPr lang="fr-BE" dirty="0"/>
              <a:t> 160899 « </a:t>
            </a:r>
            <a:r>
              <a:rPr lang="fr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Prouver l'admissibilité sur la base de prestations à l’étranger - limitation aux pays parties à une convention - condition de 3 mois de travail en Belgique »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520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r>
              <a:rPr lang="fr-FR" dirty="0"/>
              <a:t>Voir commentaire 14 de l’article 37 de l’AR du 25/11/1991 </a:t>
            </a:r>
          </a:p>
          <a:p>
            <a:pPr marL="0" marR="0" lvl="0" indent="0" algn="l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Voir tableau page 10 de la note </a:t>
            </a:r>
            <a:r>
              <a:rPr lang="fr-FR" dirty="0" err="1"/>
              <a:t>riodoc</a:t>
            </a:r>
            <a:r>
              <a:rPr lang="fr-FR" dirty="0"/>
              <a:t> 160899 « </a:t>
            </a:r>
            <a:r>
              <a:rPr lang="fr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Prouver l'admissibilité sur la base de prestations à l’étranger - limitation aux pays parties à une convention - condition de 3 mois de travail en Belgique »</a:t>
            </a:r>
          </a:p>
          <a:p>
            <a:pPr defTabSz="918149"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126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Reprendre </a:t>
            </a:r>
            <a:r>
              <a:rPr lang="fr-BE" dirty="0" err="1"/>
              <a:t>Riolex</a:t>
            </a:r>
            <a:r>
              <a:rPr lang="fr-BE" dirty="0"/>
              <a:t> :</a:t>
            </a:r>
          </a:p>
          <a:p>
            <a:r>
              <a:rPr lang="fr-BE" dirty="0"/>
              <a:t>	Onglet « Travail frontalier » ;</a:t>
            </a:r>
          </a:p>
          <a:p>
            <a:r>
              <a:rPr lang="fr-BE" dirty="0"/>
              <a:t>	AR 19/09/1980</a:t>
            </a:r>
          </a:p>
          <a:p>
            <a:r>
              <a:rPr lang="fr-BE" dirty="0"/>
              <a:t>	Art. 1bis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41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026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Voir note </a:t>
            </a:r>
            <a:r>
              <a:rPr lang="fr-FR" dirty="0" err="1"/>
              <a:t>riodoc</a:t>
            </a:r>
            <a:r>
              <a:rPr lang="fr-FR" dirty="0"/>
              <a:t>  </a:t>
            </a:r>
            <a:r>
              <a:rPr lang="fr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153168  </a:t>
            </a:r>
            <a:r>
              <a:rPr lang="fr-FR" dirty="0"/>
              <a:t>« </a:t>
            </a:r>
            <a:r>
              <a:rPr lang="fr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Attestations européennes - adresses des services compétents en matière de chômage dans les pays de l'EEE et en Suisse »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9323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30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ED0B-8308-4CD3-BB8E-10C51F4592D0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2E4A-6308-43CA-8A56-450F051C7091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879B0-42FA-4548-BDBA-1EA4B86B2F51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BFFA-28C4-4227-A433-63447FFA291E}" type="datetime1">
              <a:rPr lang="fr-FR" smtClean="0"/>
              <a:t>06/01/2023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36DD-5C76-4BC0-9D07-AE101F11D426}" type="datetime1">
              <a:rPr lang="fr-FR" smtClean="0"/>
              <a:t>06/01/2023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15B0B-36B7-4829-A696-0E99AFE7BFB6}" type="datetime1">
              <a:rPr lang="fr-FR" smtClean="0"/>
              <a:t>06/01/2023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2BC98-55A0-4640-8406-A32173CD3434}" type="datetime1">
              <a:rPr lang="fr-FR" smtClean="0"/>
              <a:t>06/01/2023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5F40-2F0C-4EF2-9002-1F24F1AB6E44}" type="datetime1">
              <a:rPr lang="fr-FR" smtClean="0"/>
              <a:t>06/01/2023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EDA1-62A2-4998-83AB-9428889B58A6}" type="datetime1">
              <a:rPr lang="fr-FR" smtClean="0"/>
              <a:t>06/01/2023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51CB-7511-498B-B05E-37604DD6CF59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1FA6F-B94A-464A-BF80-84B7F2E926D6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85800" y="63658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6D266CB-3DFB-4A06-A024-002ED2203087}" type="datetime1">
              <a:rPr lang="fr-FR" smtClean="0"/>
              <a:t>06/01/2023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658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658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DCDE95E-3EB1-4057-AF34-A4F908CA524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36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92AFF-46D0-459F-8460-312A3E956313}" type="datetime1">
              <a:rPr lang="fr-FR" smtClean="0"/>
              <a:t>06/01/2023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onem.be/apps/docmgt/docmgt.nsf/%24%24OpenDominoDocument.xsp?documentId=EAA17954719E4C2FC12579CF00269E93&amp;action=openDocument&amp;searchterms=tru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323528" y="1571612"/>
            <a:ext cx="8363272" cy="2786083"/>
          </a:xfrm>
        </p:spPr>
        <p:txBody>
          <a:bodyPr>
            <a:noAutofit/>
          </a:bodyPr>
          <a:lstStyle/>
          <a:p>
            <a:r>
              <a:rPr lang="fr-BE" sz="5000" b="1" i="1" dirty="0"/>
              <a:t>Admission sur base d’un travail salarié « temps plein »</a:t>
            </a:r>
            <a:br>
              <a:rPr lang="fr-BE" sz="5000" b="1" i="1" dirty="0"/>
            </a:br>
            <a:r>
              <a:rPr lang="fr-BE" b="1" i="1" dirty="0"/>
              <a:t>(Niveau 2)</a:t>
            </a:r>
            <a:endParaRPr lang="fr-FR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1043608" y="4572008"/>
            <a:ext cx="6728792" cy="10667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Art. 30 - 32 - 37 - 38 </a:t>
            </a:r>
            <a:r>
              <a:rPr lang="fr-BE" sz="3600" b="1" dirty="0">
                <a:solidFill>
                  <a:schemeClr val="tx1"/>
                </a:solidFill>
              </a:rPr>
              <a:t>de l’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AR</a:t>
            </a:r>
            <a:r>
              <a:rPr lang="fr-BE" sz="3600" b="1" dirty="0">
                <a:solidFill>
                  <a:srgbClr val="C00000"/>
                </a:solidFill>
              </a:rPr>
              <a:t> </a:t>
            </a:r>
            <a:r>
              <a:rPr lang="fr-BE" sz="3600" b="1" dirty="0">
                <a:solidFill>
                  <a:schemeClr val="tx1"/>
                </a:solidFill>
              </a:rPr>
              <a:t>du 25.11.1991 </a:t>
            </a:r>
            <a:endParaRPr lang="fr-FR" sz="36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683568" y="613394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26.10.2022</a:t>
            </a:r>
          </a:p>
        </p:txBody>
      </p:sp>
    </p:spTree>
    <p:extLst>
      <p:ext uri="{BB962C8B-B14F-4D97-AF65-F5344CB8AC3E}">
        <p14:creationId xmlns:p14="http://schemas.microsoft.com/office/powerpoint/2010/main" val="284839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Table des matières</a:t>
            </a:r>
            <a:endParaRPr lang="fr-FR" sz="4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spcBef>
                <a:spcPts val="600"/>
              </a:spcBef>
              <a:buAutoNum type="arabicPeriod"/>
            </a:pPr>
            <a:r>
              <a:rPr lang="fr-BE" sz="2200" dirty="0"/>
              <a:t>Exercice de rappel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fr-BE" sz="2200" dirty="0"/>
              <a:t>3</a:t>
            </a:r>
            <a:r>
              <a:rPr lang="fr-BE" sz="2200" baseline="30000" dirty="0"/>
              <a:t>ème</a:t>
            </a:r>
            <a:r>
              <a:rPr lang="fr-BE" sz="2200" dirty="0"/>
              <a:t> assouplissement : appel au passé professionnel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fr-BE" sz="2200" dirty="0"/>
              <a:t>Prolongation de la période de référence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fr-BE" sz="2200" dirty="0"/>
              <a:t>Prestations en dehors de la Belgique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4.1. Le travail à l’étranger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4.2. Le travailleur détaché &amp; frontalier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4.3. Cotisation Sécurité Sociale d’Outre-mer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4.4. Constitution du dossier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5.    Régularisation ONSS secteur public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7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87F80-9F85-4BD2-A824-DF438A8A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2. 3</a:t>
            </a:r>
            <a:r>
              <a:rPr lang="fr-BE" b="1" i="1" baseline="30000" dirty="0"/>
              <a:t>ème</a:t>
            </a:r>
            <a:r>
              <a:rPr lang="fr-BE" b="1" i="1" dirty="0"/>
              <a:t> Assouplissement : Appel au passé professionnel (Art. 32)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24EDC52D-29EE-49B4-B6E9-7EA72F42E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587437"/>
              </p:ext>
            </p:extLst>
          </p:nvPr>
        </p:nvGraphicFramePr>
        <p:xfrm>
          <a:off x="251520" y="1540510"/>
          <a:ext cx="8712969" cy="4815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04323">
                  <a:extLst>
                    <a:ext uri="{9D8B030D-6E8A-4147-A177-3AD203B41FA5}">
                      <a16:colId xmlns:a16="http://schemas.microsoft.com/office/drawing/2014/main" val="3617202851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3461589220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2067064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Conditions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Si l’intéressé justifie </a:t>
                      </a:r>
                      <a:r>
                        <a:rPr lang="fr-BE" sz="2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 ½</a:t>
                      </a:r>
                      <a:r>
                        <a:rPr lang="fr-BE" sz="2600" dirty="0"/>
                        <a:t>  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du nombre de jours requis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Si l’intéressé justifie </a:t>
                      </a:r>
                      <a:r>
                        <a:rPr lang="fr-BE" sz="2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 ⅔</a:t>
                      </a:r>
                      <a:r>
                        <a:rPr lang="fr-BE" sz="2600" dirty="0"/>
                        <a:t> 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du nombre de jours requis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4433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fr-BE" sz="2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 36 </a:t>
                      </a:r>
                      <a:r>
                        <a:rPr lang="fr-BE" sz="2000" dirty="0"/>
                        <a:t>ans </a:t>
                      </a:r>
                      <a:r>
                        <a:rPr lang="fr-BE" sz="2000" b="1" dirty="0"/>
                        <a:t>à la DA</a:t>
                      </a:r>
                    </a:p>
                    <a:p>
                      <a:r>
                        <a:rPr lang="fr-BE" sz="2000" dirty="0"/>
                        <a:t>Justifier </a:t>
                      </a:r>
                      <a:r>
                        <a:rPr lang="fr-BE" sz="2000" b="1" dirty="0"/>
                        <a:t>un nombre de jours suffisant dans la période de référence (éventuellement prolongée)</a:t>
                      </a:r>
                    </a:p>
                    <a:p>
                      <a:endParaRPr lang="fr-BE" sz="2000" dirty="0"/>
                    </a:p>
                    <a:p>
                      <a:endParaRPr lang="fr-BE" sz="2000" dirty="0"/>
                    </a:p>
                    <a:p>
                      <a:r>
                        <a:rPr lang="fr-BE" sz="2000" b="1" dirty="0"/>
                        <a:t>Pas</a:t>
                      </a:r>
                      <a:r>
                        <a:rPr lang="fr-BE" sz="2000" dirty="0"/>
                        <a:t> d’application du recours à la catégorie d’âge supérieure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Justifier 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 ans de travail </a:t>
                      </a:r>
                      <a:r>
                        <a:rPr lang="fr-BE" sz="2000" dirty="0"/>
                        <a:t>et/ou assimilés (1560 jours 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R6</a:t>
                      </a:r>
                      <a:r>
                        <a:rPr lang="fr-BE" sz="2000" dirty="0"/>
                        <a:t>) </a:t>
                      </a:r>
                      <a:r>
                        <a:rPr lang="fr-BE" sz="2000" b="1" dirty="0"/>
                        <a:t>dans les 10 ans qui précèdent immédiatement la période de référence </a:t>
                      </a:r>
                      <a:r>
                        <a:rPr lang="fr-BE" sz="2000" dirty="0"/>
                        <a:t>(éventuellement prolongée)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Justifier 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 jours de travail </a:t>
                      </a:r>
                      <a:r>
                        <a:rPr lang="fr-BE" sz="2000" dirty="0"/>
                        <a:t>et/ou assimilés 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R6</a:t>
                      </a:r>
                      <a:r>
                        <a:rPr lang="fr-BE" sz="2000" dirty="0"/>
                        <a:t>) </a:t>
                      </a:r>
                      <a:r>
                        <a:rPr lang="fr-BE" sz="2000" b="1" dirty="0"/>
                        <a:t>par 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jour manquant</a:t>
                      </a:r>
                      <a:r>
                        <a:rPr lang="fr-BE" sz="2000" b="1" dirty="0"/>
                        <a:t> dans les 10 ans qui précèdent immédiatement la période de référence </a:t>
                      </a:r>
                      <a:r>
                        <a:rPr lang="fr-BE" sz="2000" dirty="0"/>
                        <a:t>(éventuellement prolongée)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561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BE" dirty="0"/>
                        <a:t>SI la carrière professionnelle débute au cours de la période des 10 ans, justifier la ½  du nombre de jours ouvrables compris entre le début de la carrière professionnelle et la fin de la période de 10 ans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9381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049876-6FCF-434D-83D7-F0701DBA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28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En résumé … assouplissements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spcBef>
                <a:spcPts val="0"/>
              </a:spcBef>
              <a:buSzPct val="80000"/>
              <a:buNone/>
            </a:pPr>
            <a:r>
              <a:rPr lang="fr-BE" dirty="0">
                <a:cs typeface="Times New Roman" pitchFamily="18" charset="0"/>
              </a:rPr>
              <a:t>1. 	Satisfaire aux conditions </a:t>
            </a:r>
            <a:r>
              <a:rPr lang="fr-BE" b="1" u="sng" dirty="0">
                <a:cs typeface="Times New Roman" pitchFamily="18" charset="0"/>
              </a:rPr>
              <a:t>d’une</a:t>
            </a:r>
            <a:r>
              <a:rPr lang="fr-BE" dirty="0">
                <a:cs typeface="Times New Roman" pitchFamily="18" charset="0"/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catégorie d’âge supérieure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.</a:t>
            </a:r>
          </a:p>
          <a:p>
            <a:pPr marL="609600" indent="-609600">
              <a:spcBef>
                <a:spcPts val="0"/>
              </a:spcBef>
              <a:buSzPct val="80000"/>
              <a:buNone/>
            </a:pPr>
            <a:endParaRPr lang="fr-BE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609600" indent="-609600">
              <a:spcBef>
                <a:spcPts val="0"/>
              </a:spcBef>
              <a:buSzPct val="80000"/>
              <a:buAutoNum type="arabicPeriod" startAt="2"/>
            </a:pPr>
            <a:r>
              <a:rPr lang="fr-BE" dirty="0">
                <a:cs typeface="Times New Roman" pitchFamily="18" charset="0"/>
              </a:rPr>
              <a:t>Possibilité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prolonger la période de référence</a:t>
            </a:r>
            <a:endParaRPr lang="fr-BE" dirty="0">
              <a:solidFill>
                <a:schemeClr val="accent2">
                  <a:lumMod val="75000"/>
                </a:schemeClr>
              </a:solidFill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SzPct val="80000"/>
              <a:buNone/>
            </a:pPr>
            <a:endParaRPr lang="fr-BE" dirty="0">
              <a:cs typeface="Times New Roman" pitchFamily="18" charset="0"/>
            </a:endParaRPr>
          </a:p>
          <a:p>
            <a:pPr marL="609600" indent="-609600">
              <a:spcBef>
                <a:spcPts val="0"/>
              </a:spcBef>
              <a:buSzPct val="80000"/>
              <a:buNone/>
            </a:pPr>
            <a:r>
              <a:rPr lang="fr-BE" sz="3600" b="1" dirty="0">
                <a:cs typeface="Times New Roman" pitchFamily="18" charset="0"/>
              </a:rPr>
              <a:t>3. 	Appel au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passé professionnel (Art. 32)</a:t>
            </a:r>
            <a:endParaRPr lang="fr-FR" sz="3600" b="1" dirty="0">
              <a:solidFill>
                <a:schemeClr val="accent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17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3. Prolongation de la période de référence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102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08912" cy="492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96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3. Prolongation de la période de référence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799"/>
            <a:ext cx="8208912" cy="4855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558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3. Prolongation de la période de référence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208912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654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 Prolongation de la période de référence: Exemple 1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20.10.2022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38096" y="5841423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21.01.2021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238409" y="165300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Arrêt de l’activité le 07.03.2017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4754618" y="3816487"/>
            <a:ext cx="373206" cy="4734176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1926060" y="6202711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21.01.2016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4371711" y="6365571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755576" y="3286726"/>
            <a:ext cx="3418936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Occupation temps plein 38/38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Fin le 07.03.2017</a:t>
            </a:r>
          </a:p>
        </p:txBody>
      </p:sp>
      <p:cxnSp>
        <p:nvCxnSpPr>
          <p:cNvPr id="49" name="Connecteur droit avec flèche 48"/>
          <p:cNvCxnSpPr/>
          <p:nvPr/>
        </p:nvCxnSpPr>
        <p:spPr>
          <a:xfrm flipH="1" flipV="1">
            <a:off x="4174513" y="2185192"/>
            <a:ext cx="1" cy="173454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cxnSpLocks/>
            <a:stCxn id="31" idx="0"/>
          </p:cNvCxnSpPr>
          <p:nvPr/>
        </p:nvCxnSpPr>
        <p:spPr>
          <a:xfrm flipV="1">
            <a:off x="2574133" y="2821835"/>
            <a:ext cx="0" cy="317513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5808356" y="1681644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07.03.2022</a:t>
            </a:r>
          </a:p>
        </p:txBody>
      </p:sp>
      <p:cxnSp>
        <p:nvCxnSpPr>
          <p:cNvPr id="6" name="Connecteur droit avec flèche 5"/>
          <p:cNvCxnSpPr>
            <a:cxnSpLocks/>
          </p:cNvCxnSpPr>
          <p:nvPr/>
        </p:nvCxnSpPr>
        <p:spPr>
          <a:xfrm>
            <a:off x="3238409" y="2424601"/>
            <a:ext cx="3571205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014289" y="2424600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ccolade ouvrante 40"/>
          <p:cNvSpPr/>
          <p:nvPr/>
        </p:nvSpPr>
        <p:spPr>
          <a:xfrm rot="16200000">
            <a:off x="5349686" y="2741242"/>
            <a:ext cx="285642" cy="263598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3243039" y="2439127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206837" y="4883687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08.03.2016</a:t>
            </a:r>
          </a:p>
        </p:txBody>
      </p:sp>
      <p:cxnSp>
        <p:nvCxnSpPr>
          <p:cNvPr id="40" name="Connecteur droit 39"/>
          <p:cNvCxnSpPr/>
          <p:nvPr/>
        </p:nvCxnSpPr>
        <p:spPr>
          <a:xfrm>
            <a:off x="7273395" y="2823432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5652120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6625323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20.10.2022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cxnSp>
        <p:nvCxnSpPr>
          <p:cNvPr id="44" name="Connecteur droit 43"/>
          <p:cNvCxnSpPr/>
          <p:nvPr/>
        </p:nvCxnSpPr>
        <p:spPr>
          <a:xfrm>
            <a:off x="6809614" y="2185192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7308304" y="2204864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372200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21.10.2022</a:t>
            </a:r>
          </a:p>
          <a:p>
            <a:pPr algn="ctr"/>
            <a:r>
              <a:rPr lang="fr-BE" sz="1400" b="1" dirty="0"/>
              <a:t>Agée de 34 ans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376466" y="4228816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5 ans</a:t>
            </a:r>
          </a:p>
        </p:txBody>
      </p:sp>
    </p:spTree>
    <p:extLst>
      <p:ext uri="{BB962C8B-B14F-4D97-AF65-F5344CB8AC3E}">
        <p14:creationId xmlns:p14="http://schemas.microsoft.com/office/powerpoint/2010/main" val="23530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0" grpId="0"/>
      <p:bldP spid="36" grpId="0"/>
      <p:bldP spid="41" grpId="0" animBg="1"/>
      <p:bldP spid="38" grpId="0"/>
      <p:bldP spid="43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633" y="274638"/>
            <a:ext cx="8404167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 Prolongation de la période de référence: Exemple 2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20.10.2022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74356" y="5829034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21.01.2021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094372" y="167683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Arrêt de l’activité le 24.04.2015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4814554" y="3876424"/>
            <a:ext cx="378992" cy="4608515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2051720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21.01.2015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3840821" y="6348778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82633" y="3275216"/>
            <a:ext cx="2735147" cy="657842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Occupation temps plein 38/38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Fin le 24.04.2015</a:t>
            </a:r>
          </a:p>
        </p:txBody>
      </p:sp>
      <p:cxnSp>
        <p:nvCxnSpPr>
          <p:cNvPr id="49" name="Connecteur droit avec flèche 48"/>
          <p:cNvCxnSpPr/>
          <p:nvPr/>
        </p:nvCxnSpPr>
        <p:spPr>
          <a:xfrm flipH="1" flipV="1">
            <a:off x="3017779" y="2198507"/>
            <a:ext cx="1" cy="173454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V="1">
            <a:off x="2699792" y="2875839"/>
            <a:ext cx="0" cy="312998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3491880" y="2424600"/>
            <a:ext cx="2709640" cy="1543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014289" y="2424600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ccolade ouvrante 40"/>
          <p:cNvSpPr/>
          <p:nvPr/>
        </p:nvSpPr>
        <p:spPr>
          <a:xfrm rot="16200000">
            <a:off x="4701491" y="2702022"/>
            <a:ext cx="290422" cy="2709639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3491880" y="2424599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583322" y="4904437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05.07.2015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6625326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20.10.2022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cxnSp>
        <p:nvCxnSpPr>
          <p:cNvPr id="42" name="Connecteur droit avec flèche 41"/>
          <p:cNvCxnSpPr/>
          <p:nvPr/>
        </p:nvCxnSpPr>
        <p:spPr>
          <a:xfrm>
            <a:off x="7308304" y="2204864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7273396" y="2801374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5652120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5147795" y="1671193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04.07.2021</a:t>
            </a:r>
          </a:p>
        </p:txBody>
      </p:sp>
      <p:cxnSp>
        <p:nvCxnSpPr>
          <p:cNvPr id="48" name="Connecteur droit 47"/>
          <p:cNvCxnSpPr/>
          <p:nvPr/>
        </p:nvCxnSpPr>
        <p:spPr>
          <a:xfrm>
            <a:off x="6201520" y="2198507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3551116" y="4230714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6 ans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372200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21.10.2022</a:t>
            </a:r>
          </a:p>
          <a:p>
            <a:pPr algn="ctr"/>
            <a:r>
              <a:rPr lang="fr-BE" sz="1400" b="1" dirty="0"/>
              <a:t>Agée de 34 ans</a:t>
            </a:r>
          </a:p>
        </p:txBody>
      </p:sp>
    </p:spTree>
    <p:extLst>
      <p:ext uri="{BB962C8B-B14F-4D97-AF65-F5344CB8AC3E}">
        <p14:creationId xmlns:p14="http://schemas.microsoft.com/office/powerpoint/2010/main" val="275722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6" grpId="0"/>
      <p:bldP spid="41" grpId="0" animBg="1"/>
      <p:bldP spid="38" grpId="0"/>
      <p:bldP spid="40" grpId="0"/>
      <p:bldP spid="45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633" y="274638"/>
            <a:ext cx="8404167" cy="1143000"/>
          </a:xfrm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 Prolongation de la période de référence: Exemple 3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20.10.2022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74356" y="5829034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21.01.2021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094372" y="167683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Arrêt de l’activité le 06.10.2012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5589097" y="4650967"/>
            <a:ext cx="387256" cy="3051166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3536998" y="6186674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06.05.2016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4649204" y="6301734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82633" y="3275216"/>
            <a:ext cx="2735147" cy="657842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Occupation temps plein 38/38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Fin le 06.10.2012</a:t>
            </a:r>
          </a:p>
        </p:txBody>
      </p:sp>
      <p:cxnSp>
        <p:nvCxnSpPr>
          <p:cNvPr id="49" name="Connecteur droit avec flèche 48"/>
          <p:cNvCxnSpPr/>
          <p:nvPr/>
        </p:nvCxnSpPr>
        <p:spPr>
          <a:xfrm flipH="1" flipV="1">
            <a:off x="3017779" y="2198507"/>
            <a:ext cx="1" cy="173454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V="1">
            <a:off x="4264992" y="2861199"/>
            <a:ext cx="0" cy="312998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3142941" y="2424600"/>
            <a:ext cx="2050303" cy="1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3061002" y="2447029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veille naissance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enfant suivant</a:t>
            </a:r>
          </a:p>
        </p:txBody>
      </p: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3142941" y="2424600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206837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06.02.2013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5193244" y="2424601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4257139" y="4868021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06.02.2018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5236253" y="2452767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sp>
        <p:nvSpPr>
          <p:cNvPr id="50" name="Accolade ouvrante 49"/>
          <p:cNvSpPr/>
          <p:nvPr/>
        </p:nvSpPr>
        <p:spPr>
          <a:xfrm rot="16200000">
            <a:off x="4559560" y="3986042"/>
            <a:ext cx="423565" cy="5075236"/>
          </a:xfrm>
          <a:prstGeom prst="leftBrac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1558765" y="6533785"/>
            <a:ext cx="12961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06.05.2011</a:t>
            </a:r>
            <a:endParaRPr lang="fr-BE" sz="1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3472001" y="6581554"/>
            <a:ext cx="259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Période référence prolongée x 2</a:t>
            </a:r>
          </a:p>
        </p:txBody>
      </p:sp>
      <p:cxnSp>
        <p:nvCxnSpPr>
          <p:cNvPr id="54" name="Connecteur droit avec flèche 53"/>
          <p:cNvCxnSpPr>
            <a:stCxn id="50" idx="0"/>
          </p:cNvCxnSpPr>
          <p:nvPr/>
        </p:nvCxnSpPr>
        <p:spPr>
          <a:xfrm flipV="1">
            <a:off x="2233725" y="2917925"/>
            <a:ext cx="0" cy="339395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6975662" y="1716383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05.02.2024</a:t>
            </a:r>
          </a:p>
        </p:txBody>
      </p:sp>
      <p:cxnSp>
        <p:nvCxnSpPr>
          <p:cNvPr id="56" name="Connecteur droit 55"/>
          <p:cNvCxnSpPr/>
          <p:nvPr/>
        </p:nvCxnSpPr>
        <p:spPr>
          <a:xfrm>
            <a:off x="7976920" y="2219931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/>
          <p:nvPr/>
        </p:nvCxnSpPr>
        <p:spPr>
          <a:xfrm>
            <a:off x="7308304" y="2204864"/>
            <a:ext cx="0" cy="266429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7273395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5649799" y="2847647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 flipV="1">
            <a:off x="5193244" y="2424600"/>
            <a:ext cx="2783676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ccolade ouvrante 60"/>
          <p:cNvSpPr/>
          <p:nvPr/>
        </p:nvSpPr>
        <p:spPr>
          <a:xfrm rot="16200000">
            <a:off x="6115168" y="2990377"/>
            <a:ext cx="280971" cy="2105301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6637612" y="617654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20.10.2022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63" name="Accolade ouvrante 62"/>
          <p:cNvSpPr/>
          <p:nvPr/>
        </p:nvSpPr>
        <p:spPr>
          <a:xfrm rot="16200000">
            <a:off x="3999380" y="3008191"/>
            <a:ext cx="337425" cy="2050303"/>
          </a:xfrm>
          <a:prstGeom prst="leftBr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6660889" y="6533785"/>
            <a:ext cx="12961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20.10.2022</a:t>
            </a:r>
            <a:endParaRPr lang="fr-BE" sz="1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372200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21.10.2022</a:t>
            </a:r>
          </a:p>
          <a:p>
            <a:pPr algn="ctr"/>
            <a:r>
              <a:rPr lang="fr-BE" sz="1400" b="1" dirty="0"/>
              <a:t>Agée de 34 ans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5225622" y="4236161"/>
            <a:ext cx="20600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4 ans, 8 mois </a:t>
            </a:r>
          </a:p>
          <a:p>
            <a:pPr algn="ctr"/>
            <a:r>
              <a:rPr lang="fr-BE" sz="1400" b="1" dirty="0"/>
              <a:t>&amp; 15 jours cal.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142941" y="4221308"/>
            <a:ext cx="2060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5 ans</a:t>
            </a:r>
          </a:p>
        </p:txBody>
      </p:sp>
    </p:spTree>
    <p:extLst>
      <p:ext uri="{BB962C8B-B14F-4D97-AF65-F5344CB8AC3E}">
        <p14:creationId xmlns:p14="http://schemas.microsoft.com/office/powerpoint/2010/main" val="405852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6" grpId="0"/>
      <p:bldP spid="38" grpId="0"/>
      <p:bldP spid="42" grpId="0"/>
      <p:bldP spid="48" grpId="0"/>
      <p:bldP spid="50" grpId="0" animBg="1"/>
      <p:bldP spid="51" grpId="0"/>
      <p:bldP spid="53" grpId="0"/>
      <p:bldP spid="41" grpId="0"/>
      <p:bldP spid="61" grpId="0" animBg="1"/>
      <p:bldP spid="62" grpId="0"/>
      <p:bldP spid="63" grpId="0" animBg="1"/>
      <p:bldP spid="64" grpId="0"/>
      <p:bldP spid="45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9383A-F2C7-49B6-9264-26D50C9C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 le travail à l’étranger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14B79-BC29-4C8B-8537-32E1F11DB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Nous allons distinguer 3 situations:</a:t>
            </a: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travail à l’étranger</a:t>
            </a:r>
            <a:endParaRPr lang="fr-BE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Le</a:t>
            </a:r>
            <a:r>
              <a:rPr lang="fr-BE" b="1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travail détaché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dirty="0"/>
              <a:t>et 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travail frontalier</a:t>
            </a:r>
            <a:endParaRPr lang="fr-BE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Prestations hors EEE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avec cotisation sécurité sociale d’outre-mer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sz="2800" i="1" dirty="0"/>
              <a:t>(anciennement OSSOM)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A57A66-35F2-4C5A-BEDF-56E4A7F2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30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4.1 Le travail à l’étranger</a:t>
            </a:r>
            <a:endParaRPr lang="fr-FR" b="1" i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fr-BE" sz="3000" dirty="0">
                <a:ea typeface="Times New Roman" panose="02020603050405020304" pitchFamily="18" charset="0"/>
              </a:rPr>
              <a:t>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travail</a:t>
            </a:r>
            <a:r>
              <a:rPr lang="fr-BE" sz="3000" dirty="0">
                <a:ea typeface="Times New Roman" panose="02020603050405020304" pitchFamily="18" charset="0"/>
              </a:rPr>
              <a:t> effectué à l'étranger et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les journées assimilées </a:t>
            </a:r>
            <a:r>
              <a:rPr lang="fr-BE" sz="3000" dirty="0">
                <a:ea typeface="Times New Roman" panose="02020603050405020304" pitchFamily="18" charset="0"/>
              </a:rPr>
              <a:t>à l’étranger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ne sont pris en considération que dans les limites des conventions bilatérales et internationales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  </a:t>
            </a:r>
            <a:r>
              <a:rPr lang="fr-BE" sz="3000" dirty="0">
                <a:ea typeface="Times New Roman" panose="02020603050405020304" pitchFamily="18" charset="0"/>
              </a:rPr>
              <a:t>et pour autant que le travailleur ait,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après le travail effectué à l'étranger</a:t>
            </a:r>
            <a:r>
              <a:rPr lang="fr-BE" sz="3000" dirty="0">
                <a:ea typeface="Times New Roman" panose="02020603050405020304" pitchFamily="18" charset="0"/>
              </a:rPr>
              <a:t>, accompli des périodes 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travail comme salarié selon la réglementation belge, pendant au moins trois mois</a:t>
            </a:r>
            <a:r>
              <a:rPr lang="fr-BE" sz="3000" dirty="0">
                <a:ea typeface="Times New Roman" panose="02020603050405020304" pitchFamily="18" charset="0"/>
              </a:rPr>
              <a:t> </a:t>
            </a:r>
            <a:r>
              <a:rPr lang="fr-BE" sz="2800" dirty="0"/>
              <a:t>(AR 37§2 et 38§2) </a:t>
            </a:r>
          </a:p>
          <a:p>
            <a:pPr marL="0" indent="0">
              <a:buClr>
                <a:schemeClr val="tx1"/>
              </a:buClr>
              <a:buNone/>
            </a:pPr>
            <a:endParaRPr lang="fr-BE" dirty="0"/>
          </a:p>
          <a:p>
            <a:pPr marL="0" indent="0">
              <a:buNone/>
            </a:pPr>
            <a:endParaRPr lang="fr-FR" sz="2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93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938" y="136525"/>
            <a:ext cx="8229600" cy="634082"/>
          </a:xfrm>
        </p:spPr>
        <p:txBody>
          <a:bodyPr>
            <a:noAutofit/>
          </a:bodyPr>
          <a:lstStyle/>
          <a:p>
            <a:pPr algn="r"/>
            <a:br>
              <a:rPr lang="fr-BE" b="1" i="1" dirty="0"/>
            </a:br>
            <a:r>
              <a:rPr lang="fr-BE" b="1" i="1" dirty="0"/>
              <a:t>4.1. Le travail à l’étranger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>
              <a:buNone/>
            </a:pPr>
            <a:r>
              <a:rPr lang="fr-BE" b="1" dirty="0"/>
              <a:t>Deux</a:t>
            </a:r>
            <a:r>
              <a:rPr lang="fr-BE" dirty="0"/>
              <a:t> conditions: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1</a:t>
            </a:r>
            <a:r>
              <a:rPr lang="fr-BE" sz="3000" baseline="30000" dirty="0"/>
              <a:t>ère</a:t>
            </a:r>
            <a:r>
              <a:rPr lang="fr-BE" sz="3000" dirty="0"/>
              <a:t> condition</a:t>
            </a:r>
            <a:r>
              <a:rPr lang="fr-BE" sz="3000" b="1" dirty="0">
                <a:solidFill>
                  <a:srgbClr val="C00000"/>
                </a:solidFill>
              </a:rPr>
              <a:t>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« être situé dans un  pays partie à convention 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2</a:t>
            </a:r>
            <a:r>
              <a:rPr lang="fr-BE" sz="3000" baseline="30000" dirty="0"/>
              <a:t>ème</a:t>
            </a:r>
            <a:r>
              <a:rPr lang="fr-BE" sz="3000" dirty="0"/>
              <a:t> condition: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« suivi d’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au moins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3 mois de travail »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48279" y="6369745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7A6A306B-7E03-4FA6-AEC6-BC9EDF882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914843"/>
              </p:ext>
            </p:extLst>
          </p:nvPr>
        </p:nvGraphicFramePr>
        <p:xfrm>
          <a:off x="647564" y="3861048"/>
          <a:ext cx="7848872" cy="1920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00600">
                  <a:extLst>
                    <a:ext uri="{9D8B030D-6E8A-4147-A177-3AD203B41FA5}">
                      <a16:colId xmlns:a16="http://schemas.microsoft.com/office/drawing/2014/main" val="399080462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902536583"/>
                    </a:ext>
                  </a:extLst>
                </a:gridCol>
              </a:tblGrid>
              <a:tr h="594624"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Dans quel pays?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Durée d’occupation requise en Belgique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840544"/>
                  </a:ext>
                </a:extLst>
              </a:tr>
              <a:tr h="594624">
                <a:tc>
                  <a:txBody>
                    <a:bodyPr/>
                    <a:lstStyle/>
                    <a:p>
                      <a:r>
                        <a:rPr lang="fr-BE" dirty="0"/>
                        <a:t>UE, ROYAUME UNI, ISLANDE, LIECHTENSTEIN, NORVÈGE, SUISSE, ALGERIE, TURQUIE, MAROC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 </a:t>
                      </a:r>
                      <a:r>
                        <a:rPr lang="fr-BE" sz="2400" b="1" dirty="0"/>
                        <a:t>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89106"/>
                  </a:ext>
                </a:extLst>
              </a:tr>
              <a:tr h="594624">
                <a:tc>
                  <a:txBody>
                    <a:bodyPr/>
                    <a:lstStyle/>
                    <a:p>
                      <a:r>
                        <a:rPr lang="fr-BE" dirty="0"/>
                        <a:t>TUNISIE, BOSNIE-HERZÉGOVINE, ARY DE MACEDOINE, MONTENEGRO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 </a:t>
                      </a:r>
                      <a:r>
                        <a:rPr lang="fr-BE" sz="2400" b="1" dirty="0"/>
                        <a:t>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93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4.1. Le travail à l’étranger</a:t>
            </a:r>
            <a:endParaRPr lang="en-GB" b="1" i="1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fr-BE" i="1" u="sng" dirty="0"/>
              <a:t>Si</a:t>
            </a:r>
            <a:r>
              <a:rPr lang="fr-BE" i="1" dirty="0"/>
              <a:t> le </a:t>
            </a:r>
            <a:r>
              <a:rPr lang="fr-BE" b="1" i="1" dirty="0"/>
              <a:t>travail à l’étranger ne peut pas être pris en compte</a:t>
            </a:r>
            <a:r>
              <a:rPr lang="fr-BE" i="1" dirty="0"/>
              <a:t> pour une admissibilité :</a:t>
            </a:r>
          </a:p>
          <a:p>
            <a:pPr indent="11113">
              <a:buClr>
                <a:schemeClr val="tx1"/>
              </a:buClr>
              <a:buFont typeface="Wingdings" pitchFamily="2" charset="2"/>
              <a:buNone/>
            </a:pPr>
            <a:r>
              <a:rPr lang="fr-BE" dirty="0"/>
              <a:t>Il est alors considéré comme du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travail sans ONSS secteur chômage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indent="11113">
              <a:buClr>
                <a:schemeClr val="tx1"/>
              </a:buClr>
              <a:buFont typeface="Wingdings" pitchFamily="2" charset="2"/>
              <a:buNone/>
            </a:pPr>
            <a:endParaRPr lang="fr-BE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è"/>
            </a:pPr>
            <a:r>
              <a:rPr lang="fr-BE" dirty="0">
                <a:sym typeface="Wingdings" pitchFamily="2" charset="2"/>
              </a:rPr>
              <a:t>permet de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prolonger la période de référence </a:t>
            </a:r>
            <a:r>
              <a:rPr lang="fr-BE" sz="2800" dirty="0">
                <a:sym typeface="Wingdings" pitchFamily="2" charset="2"/>
              </a:rPr>
              <a:t>(AR 30 et AR 42)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è"/>
            </a:pPr>
            <a:r>
              <a:rPr lang="fr-BE" dirty="0">
                <a:sym typeface="Wingdings" pitchFamily="2" charset="2"/>
              </a:rPr>
              <a:t>permet de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prolonger les périodes d’indemnisation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sz="2800" dirty="0">
                <a:sym typeface="Wingdings" pitchFamily="2" charset="2"/>
              </a:rPr>
              <a:t>(AR 116§2)</a:t>
            </a:r>
            <a:endParaRPr lang="fr-BE" sz="2800" dirty="0"/>
          </a:p>
          <a:p>
            <a:pPr>
              <a:buClr>
                <a:schemeClr val="tx1"/>
              </a:buClr>
              <a:buFont typeface="Wingdings" pitchFamily="2" charset="2"/>
              <a:buChar char="ü"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9822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36FBD4-EF48-4F2B-8983-ECFEB1EF1FA6}"/>
              </a:ext>
            </a:extLst>
          </p:cNvPr>
          <p:cNvSpPr/>
          <p:nvPr/>
        </p:nvSpPr>
        <p:spPr>
          <a:xfrm>
            <a:off x="323528" y="5085184"/>
            <a:ext cx="8568952" cy="12711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FFBD1-2ED2-4BF2-BA31-BB5D9B47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4.2 Le travail détaché &amp; le travail frontalier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A8186E-4886-4B70-8EFD-0E9CC3C5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travailleur détaché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Personne qui travaille temporairement à l’étranger mais lié par un contrat de travail belge et soumis aux cotisations ONSS secteur chômage</a:t>
            </a:r>
            <a:endParaRPr lang="fr-BE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travailleur frontalier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Quiconque</a:t>
            </a:r>
            <a:r>
              <a:rPr lang="fr-FR" dirty="0"/>
              <a:t> effectue un </a:t>
            </a:r>
            <a:r>
              <a:rPr lang="fr-FR" b="1" dirty="0"/>
              <a:t>travail salarié dans un pays contigu à la Belgique</a:t>
            </a:r>
            <a:r>
              <a:rPr lang="fr-FR" dirty="0"/>
              <a:t> et qui est lié avec un employeur dans les liens d'un contrat de travail, qui est domicilié en Belgique et qui y</a:t>
            </a:r>
            <a:r>
              <a:rPr lang="fr-FR" b="1" dirty="0"/>
              <a:t> retourne journellement ou au moins une fois par semaine</a:t>
            </a:r>
          </a:p>
          <a:p>
            <a:pPr marL="0" indent="0">
              <a:buNone/>
            </a:pPr>
            <a:endParaRPr lang="fr-BE" sz="2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BE" sz="2900" b="1" dirty="0">
                <a:sym typeface="Wingdings 3" panose="05040102010807070707" pitchFamily="18" charset="2"/>
              </a:rPr>
              <a:t> Ces 2 types de prestations sont « assimilées » à du travail en Belgique; Aucune prestation en Belgique n’est requise pour une admissibilité art. 30</a:t>
            </a:r>
            <a:endParaRPr lang="fr-BE" sz="29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01028C-7521-4B7B-85E1-960AB2C1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36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4.3 Prestations hors EEE avec cotisations SSOM</a:t>
            </a:r>
            <a:endParaRPr lang="fr-BE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fr-BE" sz="3200" dirty="0">
                <a:sym typeface="Wingdings" panose="05000000000000000000" pitchFamily="2" charset="2"/>
              </a:rPr>
              <a:t>P</a:t>
            </a:r>
            <a:r>
              <a:rPr lang="fr-BE" sz="3200" dirty="0"/>
              <a:t>restations hors EEE avec cotisations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sécurité sociale d’outre-mer</a:t>
            </a:r>
            <a:r>
              <a:rPr lang="fr-BE" sz="3200" b="1" dirty="0">
                <a:solidFill>
                  <a:srgbClr val="C00000"/>
                </a:solidFill>
              </a:rPr>
              <a:t> </a:t>
            </a:r>
            <a:r>
              <a:rPr lang="fr-BE" sz="3200" dirty="0"/>
              <a:t>(ancien OSSOM)</a:t>
            </a:r>
            <a:r>
              <a:rPr lang="fr-BE" sz="3200" dirty="0">
                <a:sym typeface="Wingdings" panose="05000000000000000000" pitchFamily="2" charset="2"/>
              </a:rPr>
              <a:t>:</a:t>
            </a:r>
          </a:p>
          <a:p>
            <a:pPr marL="857250" lvl="2" indent="-457200">
              <a:buFont typeface="Wingdings" panose="05000000000000000000" pitchFamily="2" charset="2"/>
              <a:buChar char="Ø"/>
            </a:pPr>
            <a:r>
              <a:rPr lang="fr-BE" sz="3200" b="1" dirty="0">
                <a:sym typeface="Wingdings" panose="05000000000000000000" pitchFamily="2" charset="2"/>
              </a:rPr>
              <a:t>doivent être </a:t>
            </a:r>
            <a:r>
              <a:rPr lang="fr-BE" sz="3200" b="1" dirty="0"/>
              <a:t>suivies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d’un jour de travail en Belgique</a:t>
            </a:r>
            <a:r>
              <a:rPr lang="fr-BE" sz="3200" b="1" dirty="0"/>
              <a:t> </a:t>
            </a:r>
            <a:r>
              <a:rPr lang="fr-BE" sz="3200" dirty="0"/>
              <a:t>peu importe la date de début de l’occupation</a:t>
            </a:r>
            <a:endParaRPr lang="fr-BE" sz="2800" dirty="0"/>
          </a:p>
          <a:p>
            <a:pPr marL="857250" lvl="2" indent="-457200">
              <a:buFont typeface="Wingdings" panose="05000000000000000000" pitchFamily="2" charset="2"/>
              <a:buChar char="Ø"/>
            </a:pPr>
            <a:r>
              <a:rPr lang="fr-BE" sz="3200" b="1" dirty="0">
                <a:sym typeface="Wingdings" panose="05000000000000000000" pitchFamily="2" charset="2"/>
              </a:rPr>
              <a:t>Peu importe le pays </a:t>
            </a:r>
            <a:r>
              <a:rPr lang="fr-BE" sz="3200" dirty="0">
                <a:sym typeface="Wingdings" panose="05000000000000000000" pitchFamily="2" charset="2"/>
              </a:rPr>
              <a:t>où elles ont été effectuées (ne doit pas être partie à convention avec la Belgique)</a:t>
            </a:r>
          </a:p>
          <a:p>
            <a:pPr marL="857250" lvl="3" indent="0">
              <a:buNone/>
            </a:pPr>
            <a:endParaRPr lang="fr-BE" sz="2800" b="1" dirty="0"/>
          </a:p>
          <a:p>
            <a:pPr marL="1201738" lvl="2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58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332656"/>
            <a:ext cx="7772400" cy="1143000"/>
          </a:xfrm>
        </p:spPr>
        <p:txBody>
          <a:bodyPr>
            <a:normAutofit/>
          </a:bodyPr>
          <a:lstStyle/>
          <a:p>
            <a:pPr algn="r"/>
            <a:r>
              <a:rPr lang="fr-BE" b="1" i="1" dirty="0"/>
              <a:t>4.4. Constitution du dossier</a:t>
            </a:r>
            <a:endParaRPr lang="fr-FR" b="1" i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988840"/>
            <a:ext cx="8136904" cy="41148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endParaRPr lang="fr-FR" sz="2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E95E-3EB1-4057-AF34-A4F908CA5247}" type="slidenum">
              <a:rPr lang="fr-FR" smtClean="0"/>
              <a:pPr/>
              <a:t>17</a:t>
            </a:fld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EFC8B070-7520-422C-8769-F05968005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72317"/>
              </p:ext>
            </p:extLst>
          </p:nvPr>
        </p:nvGraphicFramePr>
        <p:xfrm>
          <a:off x="395536" y="1861676"/>
          <a:ext cx="8136903" cy="42952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12301">
                  <a:extLst>
                    <a:ext uri="{9D8B030D-6E8A-4147-A177-3AD203B41FA5}">
                      <a16:colId xmlns:a16="http://schemas.microsoft.com/office/drawing/2014/main" val="2131566238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692362858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939722626"/>
                    </a:ext>
                  </a:extLst>
                </a:gridCol>
              </a:tblGrid>
              <a:tr h="697025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Travail EEE + Suisse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Travail hors EEE + Suisse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810007"/>
                  </a:ext>
                </a:extLst>
              </a:tr>
              <a:tr h="626390">
                <a:tc rowSpan="4">
                  <a:txBody>
                    <a:bodyPr/>
                    <a:lstStyle/>
                    <a:p>
                      <a:r>
                        <a:rPr lang="fr-BE" b="1" u="sng" dirty="0">
                          <a:solidFill>
                            <a:schemeClr val="tx1"/>
                          </a:solidFill>
                        </a:rPr>
                        <a:t>Documents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C1 (+ C1 Annexe Regis si nécessaire) et flux R-ELEC si interruption de &gt; d’un an (ou 1</a:t>
                      </a:r>
                      <a:r>
                        <a:rPr lang="fr-BE" b="1" baseline="30000" dirty="0">
                          <a:solidFill>
                            <a:schemeClr val="tx1"/>
                          </a:solidFill>
                        </a:rPr>
                        <a:t>ère</a:t>
                      </a:r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 DA)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9553"/>
                  </a:ext>
                </a:extLst>
              </a:tr>
              <a:tr h="313195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C4 ou C109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814648"/>
                  </a:ext>
                </a:extLst>
              </a:tr>
              <a:tr h="313195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Flux A820 si nécessaire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91153"/>
                  </a:ext>
                </a:extLst>
              </a:tr>
              <a:tr h="2226659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BE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BE" b="1" dirty="0">
                          <a:solidFill>
                            <a:schemeClr val="tx1"/>
                          </a:solidFill>
                          <a:hlinkClick r:id="rId3"/>
                        </a:rPr>
                        <a:t>Formulaire U1</a:t>
                      </a:r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(+ documents complémentaires si nécessaire)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BE" b="1" dirty="0"/>
                        <a:t>Contrat(s);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BE" b="1" dirty="0"/>
                        <a:t>Attestation patronale;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BE" b="1" dirty="0"/>
                        <a:t>Fiche de salaire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fr-BE" b="1" dirty="0"/>
                        <a:t>Documents complémentaires prouvant l’occupation de travail à l’étranger;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4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84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1143000"/>
          </a:xfrm>
        </p:spPr>
        <p:txBody>
          <a:bodyPr>
            <a:normAutofit/>
          </a:bodyPr>
          <a:lstStyle/>
          <a:p>
            <a:pPr algn="r"/>
            <a:r>
              <a:rPr lang="fr-BE" b="1" i="1" dirty="0"/>
              <a:t>5. Régularisation ONSS secteur public</a:t>
            </a:r>
            <a:endParaRPr lang="fr-BE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85000" lnSpcReduction="10000"/>
          </a:bodyPr>
          <a:lstStyle/>
          <a:p>
            <a:pPr marL="0" lvl="1" indent="0"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Employeurs concernés</a:t>
            </a:r>
            <a:r>
              <a:rPr lang="fr-BE" sz="3000" dirty="0"/>
              <a:t>: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Les services publics et les organismes de droit public</a:t>
            </a:r>
          </a:p>
          <a:p>
            <a:pPr marL="0" lvl="1" indent="0"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Travailleurs concernés</a:t>
            </a:r>
            <a:r>
              <a:rPr lang="fr-BE" sz="3000" dirty="0"/>
              <a:t>: Membres du personnel statutaire dont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la relation de travail dans un service public ou tout autre organisme de droit public prend fin parce qu'elle est rompue </a:t>
            </a:r>
            <a:r>
              <a:rPr lang="fr-BE" sz="3000" b="1" dirty="0"/>
              <a:t>unilatéralement</a:t>
            </a:r>
            <a:r>
              <a:rPr lang="fr-BE" sz="3000" dirty="0"/>
              <a:t> par l'autorité ou parce que l'acte de nomination est annulé, retiré, abrogé ou non renouvelé et qui,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du fait de leur relation de travail, ne sont </a:t>
            </a:r>
            <a:r>
              <a:rPr lang="fr-BE" sz="3000" b="1" dirty="0"/>
              <a:t>pas couvertes </a:t>
            </a:r>
            <a:r>
              <a:rPr lang="fr-BE" sz="3000" dirty="0"/>
              <a:t>en matière de sécurité sociale par les régimes du chômage et de l'assurance maladie-invalidité</a:t>
            </a:r>
          </a:p>
          <a:p>
            <a:pPr marL="1201738" lvl="2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08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354FEE-9A9C-49DC-8B26-BA5FE56B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342107"/>
            <a:ext cx="8964488" cy="1143000"/>
          </a:xfrm>
        </p:spPr>
        <p:txBody>
          <a:bodyPr>
            <a:noAutofit/>
          </a:bodyPr>
          <a:lstStyle/>
          <a:p>
            <a:pPr algn="r"/>
            <a:r>
              <a:rPr lang="fr-BE" b="1" i="1" dirty="0"/>
              <a:t>5. Régularisation ONSS secteur public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97EE1-5F7B-4E13-BA9D-FA9999823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Conditions:</a:t>
            </a:r>
            <a:endParaRPr lang="fr-BE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dirty="0"/>
              <a:t>Dans les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30 jours </a:t>
            </a:r>
            <a:r>
              <a:rPr lang="fr-BE" dirty="0"/>
              <a:t>qui suivent la fin de la relation de travail, le travailleur a soit: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acquis la </a:t>
            </a:r>
            <a:r>
              <a:rPr lang="fr-BE" b="1" dirty="0"/>
              <a:t>qualité de travailleur </a:t>
            </a:r>
            <a:r>
              <a:rPr lang="fr-BE" dirty="0"/>
              <a:t>soumis à la législation sur la sécurité sociale des travailleurs salariés, des ouvriers mineurs ou des marins de la marine marchande;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s'est inscrit en qualité de </a:t>
            </a:r>
            <a:r>
              <a:rPr lang="fr-BE" b="1" dirty="0"/>
              <a:t>demandeur d'emploi </a:t>
            </a:r>
            <a:r>
              <a:rPr lang="fr-BE" dirty="0"/>
              <a:t>auprès d'un bureau régional de l'emploi;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fournit la preuve qu'elle s'est trouvée </a:t>
            </a:r>
            <a:r>
              <a:rPr lang="fr-BE" b="1" dirty="0"/>
              <a:t>en incapacité de travail ou en repos de maternité</a:t>
            </a:r>
            <a:r>
              <a:rPr lang="fr-BE" dirty="0"/>
              <a:t> conformément à la législation en matière de maladie-invalidité.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45494C-B215-4B61-9B84-15E6BB2D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00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453B75-33C8-432D-83FD-851A64844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F2E68E-E222-496D-8EBA-6D4758AB9728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d2a3af0-b854-4018-b3fb-98bf2b75e19a"/>
    <ds:schemaRef ds:uri="bdec1399-7c99-4025-bfb6-e1e799e6630a"/>
    <ds:schemaRef ds:uri="1e832426-6819-49af-b751-404cdfce1567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357B76-7DF4-43B7-89FF-792BE0DEE2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10782</TotalTime>
  <Words>1335</Words>
  <Application>Microsoft Office PowerPoint</Application>
  <PresentationFormat>Affichage à l'écran (4:3)</PresentationFormat>
  <Paragraphs>205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Thème Office</vt:lpstr>
      <vt:lpstr>Admission sur base d’un travail salarié « temps plein » (Niveau 2)</vt:lpstr>
      <vt:lpstr>Table des matières</vt:lpstr>
      <vt:lpstr>2. 3ème Assouplissement : Appel au passé professionnel (Art. 32)</vt:lpstr>
      <vt:lpstr>En résumé … assouplissements</vt:lpstr>
      <vt:lpstr>3. Prolongation de la période de référence</vt:lpstr>
      <vt:lpstr>3. Prolongation de la période de référence</vt:lpstr>
      <vt:lpstr>3. Prolongation de la période de référence</vt:lpstr>
      <vt:lpstr>3. Prolongation de la période de référence: Exemple 1 </vt:lpstr>
      <vt:lpstr>3. Prolongation de la période de référence: Exemple 2 </vt:lpstr>
      <vt:lpstr>3. Prolongation de la période de référence: Exemple 3 </vt:lpstr>
      <vt:lpstr>4. le travail à l’étranger</vt:lpstr>
      <vt:lpstr>4.1 Le travail à l’étranger</vt:lpstr>
      <vt:lpstr> 4.1. Le travail à l’étranger</vt:lpstr>
      <vt:lpstr>4.1. Le travail à l’étranger</vt:lpstr>
      <vt:lpstr>4.2 Le travail détaché &amp; le travail frontalier</vt:lpstr>
      <vt:lpstr>4.3 Prestations hors EEE avec cotisations SSOM</vt:lpstr>
      <vt:lpstr>4.4. Constitution du dossier</vt:lpstr>
      <vt:lpstr>5. Régularisation ONSS secteur public</vt:lpstr>
      <vt:lpstr>5. Régularisation ONSS secteur public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FCJ-M30-Admis. sur base d'un trav. sal. (niv. 2)-Participants</dc:title>
  <dc:creator>u69lcr</dc:creator>
  <cp:lastModifiedBy>Anja Sobkowiak</cp:lastModifiedBy>
  <cp:revision>740</cp:revision>
  <cp:lastPrinted>2013-04-29T06:30:01Z</cp:lastPrinted>
  <dcterms:created xsi:type="dcterms:W3CDTF">2010-09-22T12:12:06Z</dcterms:created>
  <dcterms:modified xsi:type="dcterms:W3CDTF">2023-01-06T23:14:43Z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60;#Admis. CC sur base d'un trav. sal. (AR30-AR32) - Base|5e483229-1371-4bf6-bb30-789d46ec0992</vt:lpwstr>
  </property>
  <property fmtid="{D5CDD505-2E9C-101B-9397-08002B2CF9AE}" pid="8" name="Order">
    <vt:r8>242000</vt:r8>
  </property>
  <property fmtid="{D5CDD505-2E9C-101B-9397-08002B2CF9AE}" pid="9" name="_dlc_DocIdItemGuid">
    <vt:lpwstr>9fb5d6f7-7255-46f1-a92b-51339a3bdd64</vt:lpwstr>
  </property>
</Properties>
</file>