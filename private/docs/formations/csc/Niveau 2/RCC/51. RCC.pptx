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465" r:id="rId5"/>
    <p:sldId id="466" r:id="rId6"/>
    <p:sldId id="530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89" r:id="rId16"/>
    <p:sldId id="477" r:id="rId17"/>
    <p:sldId id="478" r:id="rId18"/>
    <p:sldId id="479" r:id="rId19"/>
    <p:sldId id="481" r:id="rId20"/>
    <p:sldId id="522" r:id="rId21"/>
    <p:sldId id="482" r:id="rId22"/>
    <p:sldId id="483" r:id="rId23"/>
    <p:sldId id="523" r:id="rId24"/>
    <p:sldId id="521" r:id="rId25"/>
    <p:sldId id="496" r:id="rId26"/>
    <p:sldId id="497" r:id="rId27"/>
    <p:sldId id="524" r:id="rId28"/>
    <p:sldId id="484" r:id="rId29"/>
    <p:sldId id="485" r:id="rId30"/>
    <p:sldId id="486" r:id="rId31"/>
    <p:sldId id="487" r:id="rId32"/>
    <p:sldId id="528" r:id="rId33"/>
    <p:sldId id="529" r:id="rId34"/>
    <p:sldId id="488" r:id="rId35"/>
    <p:sldId id="526" r:id="rId36"/>
    <p:sldId id="527" r:id="rId3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933C"/>
    <a:srgbClr val="E46C0A"/>
    <a:srgbClr val="4F81BD"/>
    <a:srgbClr val="4F6228"/>
    <a:srgbClr val="385D8A"/>
    <a:srgbClr val="008000"/>
    <a:srgbClr val="E9EDF4"/>
    <a:srgbClr val="E6E6E6"/>
    <a:srgbClr val="1F497D"/>
    <a:srgbClr val="E6B9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9FE00-605B-4B37-BB6E-9BEC1B8BD4B0}" v="27" dt="2023-09-05T11:01:10.8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5" autoAdjust="0"/>
    <p:restoredTop sz="83659" autoAdjust="0"/>
  </p:normalViewPr>
  <p:slideViewPr>
    <p:cSldViewPr>
      <p:cViewPr varScale="1">
        <p:scale>
          <a:sx n="68" d="100"/>
          <a:sy n="68" d="100"/>
        </p:scale>
        <p:origin x="12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4102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05/09/2023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12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36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0344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5113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7986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9181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9007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514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 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210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788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 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135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017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610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7622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765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956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495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0313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2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63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2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035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2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575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2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973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2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8725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2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0255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8061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9359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b="0" i="0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37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B959E-77E5-4756-981D-732962DA3F31}" type="datetime1">
              <a:rPr lang="fr-FR" smtClean="0"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27CC-8090-4083-8D93-36D05AEE1F83}" type="datetime1">
              <a:rPr lang="fr-FR" smtClean="0"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A0E88-C581-4512-80ED-E63DD581583D}" type="datetime1">
              <a:rPr lang="fr-FR" smtClean="0"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52744-8E66-4A9B-97A1-8089F72940D6}" type="datetime1">
              <a:rPr lang="fr-FR" smtClean="0"/>
              <a:t>05/09/2023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7CBF7-1CB4-4A30-B228-C4131098B88A}" type="datetime1">
              <a:rPr lang="fr-FR" smtClean="0"/>
              <a:t>05/09/2023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FA2D-3CE5-46B9-BD9C-3047813A0DB8}" type="datetime1">
              <a:rPr lang="fr-FR" smtClean="0"/>
              <a:t>05/09/2023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C162-271F-4334-8B61-4C527DD49DAD}" type="datetime1">
              <a:rPr lang="fr-FR" smtClean="0"/>
              <a:t>05/09/2023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5761-3712-497B-844E-04A1C7F446E8}" type="datetime1">
              <a:rPr lang="fr-FR" smtClean="0"/>
              <a:t>05/09/2023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A4D6-893F-4A13-993D-E9237DAA5811}" type="datetime1">
              <a:rPr lang="fr-FR" smtClean="0"/>
              <a:t>05/09/2023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8F760-3A56-4739-888D-EE8B9DF97470}" type="datetime1">
              <a:rPr lang="fr-FR" smtClean="0"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D346F-D754-429D-BDAC-A3D519EDBDFB}" type="datetime1">
              <a:rPr lang="fr-FR" smtClean="0"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6C735-C148-4A16-8E7F-C9820126C1AF}" type="datetime1">
              <a:rPr lang="fr-FR" smtClean="0"/>
              <a:t>05/09/2023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3568" y="1628800"/>
            <a:ext cx="7772400" cy="3528392"/>
          </a:xfrm>
        </p:spPr>
        <p:txBody>
          <a:bodyPr anchor="t">
            <a:noAutofit/>
          </a:bodyPr>
          <a:lstStyle/>
          <a:p>
            <a:pPr>
              <a:spcBef>
                <a:spcPts val="0"/>
              </a:spcBef>
            </a:pPr>
            <a:r>
              <a:rPr lang="fr-BE" sz="6000" b="1" i="1">
                <a:solidFill>
                  <a:srgbClr val="C00000"/>
                </a:solidFill>
              </a:rPr>
              <a:t>RCC</a:t>
            </a:r>
            <a:br>
              <a:rPr lang="fr-BE" sz="2000" b="1" i="1" u="sng" dirty="0">
                <a:solidFill>
                  <a:srgbClr val="C00000"/>
                </a:solidFill>
              </a:rPr>
            </a:br>
            <a:br>
              <a:rPr lang="fr-BE" sz="2000" b="1" i="1" u="sng" dirty="0">
                <a:solidFill>
                  <a:srgbClr val="C00000"/>
                </a:solidFill>
              </a:rPr>
            </a:br>
            <a:r>
              <a:rPr lang="fr-BE" sz="5400" b="1" i="1" u="sng" dirty="0">
                <a:solidFill>
                  <a:srgbClr val="C00000"/>
                </a:solidFill>
              </a:rPr>
              <a:t>R</a:t>
            </a:r>
            <a:r>
              <a:rPr lang="fr-BE" sz="5400" b="1" i="1" dirty="0"/>
              <a:t>égime </a:t>
            </a:r>
            <a:r>
              <a:rPr lang="fr-BE" sz="5400" b="1" i="1" u="sng" dirty="0">
                <a:solidFill>
                  <a:srgbClr val="C00000"/>
                </a:solidFill>
              </a:rPr>
              <a:t>C</a:t>
            </a:r>
            <a:r>
              <a:rPr lang="fr-BE" sz="5400" b="1" i="1" dirty="0"/>
              <a:t>hômage avec </a:t>
            </a:r>
            <a:r>
              <a:rPr lang="fr-BE" sz="5400" b="1" i="1" u="sng">
                <a:solidFill>
                  <a:srgbClr val="C00000"/>
                </a:solidFill>
              </a:rPr>
              <a:t>C</a:t>
            </a:r>
            <a:r>
              <a:rPr lang="fr-BE" sz="5400" b="1" i="1"/>
              <a:t>omplément d’entreprise</a:t>
            </a:r>
            <a:br>
              <a:rPr lang="fr-BE" sz="5400" b="1" i="1"/>
            </a:br>
            <a:r>
              <a:rPr lang="fr-BE" b="1" i="1"/>
              <a:t>AR du 03.05.2007</a:t>
            </a:r>
            <a:endParaRPr lang="fr-FR" sz="5400" b="1" i="1" dirty="0">
              <a:solidFill>
                <a:srgbClr val="C0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043608" y="594928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06.09.2023</a:t>
            </a:r>
          </a:p>
        </p:txBody>
      </p:sp>
    </p:spTree>
    <p:extLst>
      <p:ext uri="{BB962C8B-B14F-4D97-AF65-F5344CB8AC3E}">
        <p14:creationId xmlns:p14="http://schemas.microsoft.com/office/powerpoint/2010/main" val="15298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>
                <a:solidFill>
                  <a:srgbClr val="C00000"/>
                </a:solidFill>
              </a:rPr>
              <a:t>Table des matières</a:t>
            </a:r>
            <a:endParaRPr lang="fr-FR" sz="4000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spcBef>
                <a:spcPts val="400"/>
              </a:spcBef>
              <a:buAutoNum type="arabicPeriod"/>
            </a:pPr>
            <a:r>
              <a:rPr lang="fr-BE" sz="2200" b="1" dirty="0"/>
              <a:t>Le statut du RCC</a:t>
            </a:r>
            <a:r>
              <a:rPr lang="fr-BE" sz="3100" b="1" dirty="0"/>
              <a:t>:</a:t>
            </a:r>
            <a:r>
              <a:rPr lang="fr-BE" sz="3100" dirty="0"/>
              <a:t>	</a:t>
            </a:r>
            <a:r>
              <a:rPr lang="fr-BE" sz="2200" dirty="0"/>
              <a:t>				</a:t>
            </a:r>
            <a:endParaRPr lang="fr-BE" sz="1600" dirty="0"/>
          </a:p>
          <a:p>
            <a:pPr marL="685800"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200" dirty="0"/>
              <a:t>RCC – Licenciement</a:t>
            </a:r>
          </a:p>
          <a:p>
            <a:pPr marL="685800"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200" dirty="0"/>
              <a:t>RCC – Admissibilité CC					</a:t>
            </a:r>
            <a:endParaRPr lang="fr-BE" sz="1600" dirty="0"/>
          </a:p>
          <a:p>
            <a:pPr marL="685800"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200" dirty="0"/>
              <a:t>RCC – La CCT						</a:t>
            </a:r>
            <a:endParaRPr lang="fr-BE" sz="1600" dirty="0"/>
          </a:p>
          <a:p>
            <a:pPr marL="685800"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200" dirty="0"/>
              <a:t>RCC – Age						</a:t>
            </a:r>
            <a:endParaRPr lang="fr-BE" sz="1600" dirty="0"/>
          </a:p>
          <a:p>
            <a:pPr marL="685800"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200" dirty="0"/>
              <a:t>RCC – Passé professionnel	</a:t>
            </a:r>
          </a:p>
          <a:p>
            <a:pPr marL="400050" lvl="1" indent="0">
              <a:spcBef>
                <a:spcPts val="400"/>
              </a:spcBef>
              <a:buNone/>
            </a:pPr>
            <a:r>
              <a:rPr lang="fr-BE" sz="2200" dirty="0"/>
              <a:t>				</a:t>
            </a:r>
            <a:endParaRPr lang="fr-BE" sz="1600" dirty="0"/>
          </a:p>
          <a:p>
            <a:pPr>
              <a:spcBef>
                <a:spcPts val="400"/>
              </a:spcBef>
              <a:buNone/>
            </a:pPr>
            <a:r>
              <a:rPr lang="fr-BE" sz="2200" b="1" dirty="0"/>
              <a:t>2. RCC – Aperçu général	</a:t>
            </a:r>
          </a:p>
          <a:p>
            <a:pPr>
              <a:spcBef>
                <a:spcPts val="400"/>
              </a:spcBef>
              <a:buNone/>
            </a:pPr>
            <a:r>
              <a:rPr lang="fr-BE" sz="2200" b="1" dirty="0"/>
              <a:t>					</a:t>
            </a:r>
            <a:endParaRPr lang="fr-BE" sz="1600" b="1" dirty="0"/>
          </a:p>
          <a:p>
            <a:pPr lvl="0">
              <a:spcBef>
                <a:spcPts val="400"/>
              </a:spcBef>
              <a:buNone/>
            </a:pPr>
            <a:r>
              <a:rPr lang="fr-BE" sz="2200" b="1" dirty="0"/>
              <a:t>3. Remplacement du travailleur		</a:t>
            </a:r>
          </a:p>
          <a:p>
            <a:pPr lvl="0">
              <a:spcBef>
                <a:spcPts val="400"/>
              </a:spcBef>
              <a:buNone/>
            </a:pPr>
            <a:r>
              <a:rPr lang="fr-BE" sz="2200" b="1" dirty="0"/>
              <a:t>			</a:t>
            </a:r>
            <a:endParaRPr lang="fr-BE" sz="1600" b="1" dirty="0"/>
          </a:p>
          <a:p>
            <a:pPr lvl="0">
              <a:spcBef>
                <a:spcPts val="400"/>
              </a:spcBef>
              <a:buNone/>
            </a:pPr>
            <a:r>
              <a:rPr lang="fr-BE" sz="2200" b="1" dirty="0"/>
              <a:t>4. Droits &amp; obligations du RCC</a:t>
            </a:r>
            <a:r>
              <a:rPr lang="fr-BE" sz="2200" dirty="0"/>
              <a:t>	</a:t>
            </a:r>
          </a:p>
          <a:p>
            <a:pPr marL="685800"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200" dirty="0"/>
              <a:t>« Ancien cas »</a:t>
            </a:r>
          </a:p>
          <a:p>
            <a:pPr marL="685800"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200" dirty="0"/>
              <a:t>« Cas entrants »</a:t>
            </a:r>
            <a:r>
              <a:rPr lang="fr-BE" sz="2000" dirty="0"/>
              <a:t>	</a:t>
            </a:r>
          </a:p>
          <a:p>
            <a:pPr marL="0" indent="0">
              <a:spcBef>
                <a:spcPts val="400"/>
              </a:spcBef>
              <a:buNone/>
            </a:pPr>
            <a:endParaRPr lang="fr-BE" sz="2200" dirty="0"/>
          </a:p>
          <a:p>
            <a:pPr marL="0" indent="0">
              <a:spcBef>
                <a:spcPts val="400"/>
              </a:spcBef>
              <a:buNone/>
            </a:pPr>
            <a:r>
              <a:rPr lang="fr-BE" sz="2200" b="1" dirty="0"/>
              <a:t>5. Licenciement collectif « la cellule pour l’emploi »	</a:t>
            </a:r>
            <a:endParaRPr lang="fr-BE" sz="1600" b="1" dirty="0"/>
          </a:p>
          <a:p>
            <a:pPr>
              <a:spcBef>
                <a:spcPts val="400"/>
              </a:spcBef>
              <a:buNone/>
            </a:pPr>
            <a:r>
              <a:rPr lang="fr-BE" sz="2200" dirty="0"/>
              <a:t>					</a:t>
            </a:r>
            <a:endParaRPr lang="fr-BE" sz="16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922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8C76E-8933-9159-DA0A-90218B69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4400" b="1" i="1" dirty="0">
                <a:solidFill>
                  <a:srgbClr val="C00000"/>
                </a:solidFill>
              </a:rPr>
              <a:t>Table des matières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C2231D-1DFA-CEF4-7736-094EAB36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400"/>
              </a:spcBef>
              <a:buNone/>
            </a:pPr>
            <a:r>
              <a:rPr lang="fr-BE" sz="2000" b="1" dirty="0"/>
              <a:t>	</a:t>
            </a:r>
          </a:p>
          <a:p>
            <a:pPr>
              <a:spcBef>
                <a:spcPts val="400"/>
              </a:spcBef>
              <a:buNone/>
            </a:pPr>
            <a:r>
              <a:rPr lang="fr-BE" sz="2000" b="1" dirty="0"/>
              <a:t>6. Licenciement individuel « Outplacement » </a:t>
            </a:r>
          </a:p>
          <a:p>
            <a:pPr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000" dirty="0"/>
              <a:t>Outplacement – Régime général</a:t>
            </a:r>
          </a:p>
          <a:p>
            <a:pPr lvl="1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fr-BE" sz="2000" dirty="0"/>
              <a:t>Outplacement – Régime spécifique</a:t>
            </a:r>
          </a:p>
          <a:p>
            <a:pPr marL="457200" lvl="1" indent="0">
              <a:spcBef>
                <a:spcPts val="400"/>
              </a:spcBef>
              <a:buNone/>
            </a:pPr>
            <a:r>
              <a:rPr lang="fr-BE" sz="2000" b="1" dirty="0"/>
              <a:t>                                    	</a:t>
            </a:r>
          </a:p>
          <a:p>
            <a:pPr lvl="0">
              <a:spcBef>
                <a:spcPts val="400"/>
              </a:spcBef>
              <a:buNone/>
            </a:pPr>
            <a:r>
              <a:rPr lang="fr-BE" sz="2000" b="1" dirty="0"/>
              <a:t>7. Constitution du dossier</a:t>
            </a:r>
          </a:p>
          <a:p>
            <a:pPr lvl="0">
              <a:spcBef>
                <a:spcPts val="400"/>
              </a:spcBef>
              <a:buNone/>
            </a:pPr>
            <a:r>
              <a:rPr lang="fr-BE" sz="2000" b="1" dirty="0"/>
              <a:t>						</a:t>
            </a:r>
          </a:p>
          <a:p>
            <a:pPr lvl="0">
              <a:spcBef>
                <a:spcPts val="400"/>
              </a:spcBef>
              <a:buNone/>
            </a:pPr>
            <a:r>
              <a:rPr lang="fr-BE" sz="2000" b="1" dirty="0"/>
              <a:t>8. Délai d’introduction</a:t>
            </a:r>
          </a:p>
          <a:p>
            <a:pPr lvl="0">
              <a:spcBef>
                <a:spcPts val="400"/>
              </a:spcBef>
              <a:buNone/>
            </a:pPr>
            <a:endParaRPr lang="fr-BE" sz="2000" b="1" dirty="0"/>
          </a:p>
          <a:p>
            <a:pPr lvl="0">
              <a:spcBef>
                <a:spcPts val="400"/>
              </a:spcBef>
              <a:buNone/>
            </a:pPr>
            <a:r>
              <a:rPr lang="fr-BE" sz="2000" b="1" dirty="0"/>
              <a:t>9. Réception de la C2</a:t>
            </a:r>
          </a:p>
          <a:p>
            <a:pPr lvl="0">
              <a:spcBef>
                <a:spcPts val="400"/>
              </a:spcBef>
              <a:buNone/>
            </a:pPr>
            <a:endParaRPr lang="fr-BE" sz="2000" b="1" dirty="0"/>
          </a:p>
          <a:p>
            <a:pPr lvl="0">
              <a:spcBef>
                <a:spcPts val="400"/>
              </a:spcBef>
              <a:buNone/>
            </a:pPr>
            <a:r>
              <a:rPr lang="fr-BE" sz="2000" b="1" dirty="0"/>
              <a:t>10. Indemnisation	</a:t>
            </a:r>
          </a:p>
          <a:p>
            <a:pPr lvl="0">
              <a:spcBef>
                <a:spcPts val="400"/>
              </a:spcBef>
              <a:buNone/>
            </a:pPr>
            <a:r>
              <a:rPr lang="fr-BE" sz="2000" b="1" dirty="0"/>
              <a:t>		</a:t>
            </a:r>
          </a:p>
          <a:p>
            <a:pPr lvl="0">
              <a:spcBef>
                <a:spcPts val="400"/>
              </a:spcBef>
              <a:buNone/>
            </a:pPr>
            <a:r>
              <a:rPr lang="fr-BE" sz="2000" b="1" dirty="0"/>
              <a:t>11. L’indemnité complémentaire</a:t>
            </a:r>
          </a:p>
          <a:p>
            <a:pPr lvl="0">
              <a:spcBef>
                <a:spcPts val="400"/>
              </a:spcBef>
              <a:buNone/>
            </a:pPr>
            <a:endParaRPr lang="fr-BE" sz="2000" b="1" dirty="0"/>
          </a:p>
          <a:p>
            <a:pPr lvl="0">
              <a:spcBef>
                <a:spcPts val="400"/>
              </a:spcBef>
              <a:buNone/>
            </a:pPr>
            <a:r>
              <a:rPr lang="fr-BE" sz="2000" b="1" dirty="0"/>
              <a:t>12. Bibliographie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AC162D-CC36-A390-8912-53E77E67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31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1.1. RCC – </a:t>
            </a:r>
            <a:r>
              <a:rPr lang="fr-BE" sz="4000" b="1" i="1" dirty="0">
                <a:solidFill>
                  <a:srgbClr val="C00000"/>
                </a:solidFill>
              </a:rPr>
              <a:t>Licenciement</a:t>
            </a:r>
            <a:endParaRPr lang="fr-FR" sz="4000" b="1" i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000" dirty="0"/>
              <a:t>Le </a:t>
            </a:r>
            <a:r>
              <a:rPr lang="fr-BE" sz="3000" b="1" dirty="0">
                <a:solidFill>
                  <a:srgbClr val="C00000"/>
                </a:solidFill>
              </a:rPr>
              <a:t>travailleur</a:t>
            </a:r>
            <a:r>
              <a:rPr lang="fr-BE" sz="3000" dirty="0"/>
              <a:t> </a:t>
            </a:r>
            <a:r>
              <a:rPr lang="fr-BE" sz="3000" b="1" dirty="0"/>
              <a:t>doit être </a:t>
            </a:r>
            <a:r>
              <a:rPr lang="fr-BE" sz="3000" b="1" dirty="0">
                <a:solidFill>
                  <a:srgbClr val="C00000"/>
                </a:solidFill>
              </a:rPr>
              <a:t>licencié</a:t>
            </a:r>
            <a:r>
              <a:rPr lang="fr-BE" sz="3000" dirty="0"/>
              <a:t> </a:t>
            </a:r>
            <a:r>
              <a:rPr lang="fr-BE" sz="3000" b="1" u="sng" dirty="0"/>
              <a:t>par</a:t>
            </a:r>
            <a:r>
              <a:rPr lang="fr-BE" sz="3000" dirty="0"/>
              <a:t> un </a:t>
            </a:r>
            <a:r>
              <a:rPr lang="fr-BE" sz="3000" b="1" dirty="0"/>
              <a:t>employeur du secteur privé</a:t>
            </a:r>
            <a:r>
              <a:rPr lang="fr-BE" sz="3000" dirty="0"/>
              <a:t>. </a:t>
            </a:r>
          </a:p>
          <a:p>
            <a:pPr marL="361950" indent="0">
              <a:spcBef>
                <a:spcPts val="600"/>
              </a:spcBef>
              <a:buSzPct val="100000"/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sz="3000" dirty="0">
                <a:sym typeface="Wingdings" pitchFamily="2" charset="2"/>
              </a:rPr>
              <a:t> Le travailleur ne peut pas exiger de son employeur d’être mis en RCC.</a:t>
            </a: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000" dirty="0">
                <a:sym typeface="Wingdings" pitchFamily="2" charset="2"/>
              </a:rPr>
              <a:t>Si l’employeur décide de licencier le travailleur et que ce dernier </a:t>
            </a:r>
            <a:r>
              <a:rPr lang="fr-BE" sz="2800" dirty="0">
                <a:sym typeface="Wingdings" pitchFamily="2" charset="2"/>
              </a:rPr>
              <a:t>:</a:t>
            </a:r>
          </a:p>
          <a:p>
            <a:pPr lvl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>
                <a:sym typeface="Wingdings" pitchFamily="2" charset="2"/>
              </a:rPr>
              <a:t>Remplit les conditions de la CCT </a:t>
            </a:r>
            <a:r>
              <a:rPr lang="fr-BE" sz="20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Droit au RCC même si l’employeur n'avait pas l’intention de lui offrir.</a:t>
            </a:r>
          </a:p>
          <a:p>
            <a:pPr lvl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>
                <a:sym typeface="Wingdings" pitchFamily="2" charset="2"/>
              </a:rPr>
              <a:t>Refuse le RCC </a:t>
            </a:r>
            <a:r>
              <a:rPr lang="fr-BE" sz="20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DA en CC (ordinaire).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86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1.1. RCC – </a:t>
            </a:r>
            <a:r>
              <a:rPr lang="fr-BE" sz="4000" b="1" i="1" dirty="0">
                <a:solidFill>
                  <a:srgbClr val="C00000"/>
                </a:solidFill>
              </a:rPr>
              <a:t>Licenciement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/>
              <a:t>Licenciement du travailleur : </a:t>
            </a:r>
          </a:p>
          <a:p>
            <a:pPr marL="358775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BE" sz="3000" b="1" dirty="0">
                <a:sym typeface="Wingdings" panose="05000000000000000000" pitchFamily="2" charset="2"/>
              </a:rPr>
              <a:t>S</a:t>
            </a:r>
            <a:r>
              <a:rPr lang="fr-BE" sz="3000" b="1" dirty="0"/>
              <a:t>oit</a:t>
            </a:r>
            <a:r>
              <a:rPr lang="fr-BE" sz="3000" dirty="0"/>
              <a:t> </a:t>
            </a:r>
            <a:r>
              <a:rPr lang="fr-BE" sz="3000" b="1" dirty="0">
                <a:solidFill>
                  <a:srgbClr val="C00000"/>
                </a:solidFill>
              </a:rPr>
              <a:t>notification d’un délai de préavis</a:t>
            </a:r>
            <a:r>
              <a:rPr lang="fr-BE" sz="3000" dirty="0"/>
              <a:t>.</a:t>
            </a:r>
          </a:p>
          <a:p>
            <a:pPr marL="358775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BE" sz="3000" b="1" dirty="0">
                <a:sym typeface="Wingdings" panose="05000000000000000000" pitchFamily="2" charset="2"/>
              </a:rPr>
              <a:t>S</a:t>
            </a:r>
            <a:r>
              <a:rPr lang="fr-BE" sz="3000" b="1" dirty="0"/>
              <a:t>oit</a:t>
            </a:r>
            <a:r>
              <a:rPr lang="fr-BE" sz="3000" dirty="0"/>
              <a:t> rupture immédiate du contrat de travail avec </a:t>
            </a:r>
            <a:r>
              <a:rPr lang="fr-BE" sz="3000" b="1" dirty="0">
                <a:solidFill>
                  <a:srgbClr val="C00000"/>
                </a:solidFill>
              </a:rPr>
              <a:t>paiement d’une indemnité de congé</a:t>
            </a:r>
            <a:r>
              <a:rPr lang="fr-BE" sz="3000" dirty="0"/>
              <a:t>.</a:t>
            </a:r>
          </a:p>
          <a:p>
            <a:pPr marL="342900" lvl="1" indent="-342900">
              <a:spcBef>
                <a:spcPts val="600"/>
              </a:spcBef>
              <a:buFont typeface="Wingdings" pitchFamily="2" charset="2"/>
              <a:buChar char="§"/>
            </a:pPr>
            <a:endParaRPr lang="fr-BE" sz="400" dirty="0"/>
          </a:p>
          <a:p>
            <a:pPr marL="342900" lvl="1" indent="-342900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/>
              <a:t>Le statut de RCC sera refusé si la fin du contrat est due à : </a:t>
            </a:r>
          </a:p>
          <a:p>
            <a:pPr marL="10779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Un motif grave.</a:t>
            </a:r>
          </a:p>
          <a:p>
            <a:pPr marL="10779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Un abandon d’emploi.</a:t>
            </a:r>
          </a:p>
          <a:p>
            <a:pPr marL="1077912" lvl="1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/>
              <a:t>La fin d’un CDD.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84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1.2. RCC – </a:t>
            </a:r>
            <a:r>
              <a:rPr lang="fr-BE" sz="4000" b="1" i="1" dirty="0">
                <a:solidFill>
                  <a:srgbClr val="C00000"/>
                </a:solidFill>
              </a:rPr>
              <a:t>Admissibilité CC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/>
              <a:t>Le travailleur doit être admissible sur base des articles 30, 32, 33 ou 42 et être indemnisable.</a:t>
            </a:r>
          </a:p>
          <a:p>
            <a:pPr marL="0" indent="0">
              <a:spcBef>
                <a:spcPts val="600"/>
              </a:spcBef>
              <a:buNone/>
            </a:pPr>
            <a:endParaRPr lang="fr-BE" sz="3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3000" dirty="0">
                <a:sym typeface="Wingdings" pitchFamily="2" charset="2"/>
              </a:rPr>
              <a:t>Nous devons donc v</a:t>
            </a:r>
            <a:r>
              <a:rPr lang="fr-BE" sz="3000" dirty="0"/>
              <a:t>érifier l’admissibilité et le régime d’indemnisation 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 </a:t>
            </a:r>
            <a:r>
              <a:rPr lang="fr-BE" sz="3000" dirty="0"/>
              <a:t>Préfixe </a:t>
            </a:r>
            <a:r>
              <a:rPr lang="fr-BE" sz="3000" b="1" dirty="0">
                <a:solidFill>
                  <a:srgbClr val="C00000"/>
                </a:solidFill>
              </a:rPr>
              <a:t>09</a:t>
            </a:r>
            <a:r>
              <a:rPr lang="fr-BE" sz="3000" dirty="0"/>
              <a:t> = Admission temps plein.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 </a:t>
            </a:r>
            <a:r>
              <a:rPr lang="fr-BE" sz="3000" dirty="0"/>
              <a:t>Préfixe </a:t>
            </a:r>
            <a:r>
              <a:rPr lang="fr-BE" sz="3000" b="1" dirty="0">
                <a:solidFill>
                  <a:srgbClr val="C00000"/>
                </a:solidFill>
              </a:rPr>
              <a:t>10</a:t>
            </a:r>
            <a:r>
              <a:rPr lang="fr-BE" sz="3000" dirty="0"/>
              <a:t> = Admission à temps partiel volontaire.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95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1.3. RCC – </a:t>
            </a:r>
            <a:r>
              <a:rPr lang="fr-BE" sz="4000" b="1" i="1" dirty="0">
                <a:solidFill>
                  <a:srgbClr val="C00000"/>
                </a:solidFill>
              </a:rPr>
              <a:t>La CCT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Le travailleur doit avoir droit à une indemnité complémentaire en vertu d’une CCT valable.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3000" dirty="0">
                <a:sym typeface="Wingdings" panose="05000000000000000000" pitchFamily="2" charset="2"/>
              </a:rPr>
              <a:t>Nous devons donc </a:t>
            </a:r>
            <a:r>
              <a:rPr lang="fr-BE" sz="3000" dirty="0"/>
              <a:t>vérifier pour la CCT 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Son existence,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Sa durée de validité,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Sa conformité,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Si le travailleur répond à toutes les conditions (supplémentaires).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31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1.3. RCC – </a:t>
            </a:r>
            <a:r>
              <a:rPr lang="fr-BE" sz="4000" b="1" i="1" dirty="0">
                <a:solidFill>
                  <a:srgbClr val="C00000"/>
                </a:solidFill>
              </a:rPr>
              <a:t>La CCT</a:t>
            </a:r>
            <a:endParaRPr lang="fr-BE" sz="40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b="1" dirty="0"/>
              <a:t>La CCT est applicable si 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Le </a:t>
            </a:r>
            <a:r>
              <a:rPr lang="fr-BE" sz="3000" b="1" dirty="0"/>
              <a:t>délai de préavis </a:t>
            </a:r>
            <a:r>
              <a:rPr lang="fr-BE" sz="3000" dirty="0"/>
              <a:t>est :</a:t>
            </a:r>
          </a:p>
          <a:p>
            <a:pPr lvl="1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b="1" u="sng" dirty="0"/>
              <a:t>Notifié durant</a:t>
            </a:r>
            <a:r>
              <a:rPr lang="fr-BE" sz="3000" b="1" dirty="0"/>
              <a:t> </a:t>
            </a:r>
            <a:r>
              <a:rPr lang="fr-BE" sz="3000" dirty="0"/>
              <a:t>la période de validité de la CCT.</a:t>
            </a:r>
          </a:p>
          <a:p>
            <a:pPr lvl="1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b="1" u="sng" dirty="0"/>
              <a:t>Notifié avant</a:t>
            </a:r>
            <a:r>
              <a:rPr lang="fr-BE" sz="3000" dirty="0"/>
              <a:t> le début de la validité de la CCT mais le préavis est toujours en cours lorsque la CCT débute.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/>
              <a:t>Le </a:t>
            </a:r>
            <a:r>
              <a:rPr lang="fr-BE" sz="3000" b="1" dirty="0"/>
              <a:t>contrat est rompu </a:t>
            </a:r>
            <a:r>
              <a:rPr lang="fr-BE" sz="3000" dirty="0"/>
              <a:t>avec une indemnité de congé </a:t>
            </a:r>
            <a:r>
              <a:rPr lang="fr-BE" sz="3000" b="1" u="sng" dirty="0"/>
              <a:t>dans</a:t>
            </a:r>
            <a:r>
              <a:rPr lang="fr-BE" sz="3000" dirty="0"/>
              <a:t> la période de </a:t>
            </a:r>
            <a:r>
              <a:rPr lang="fr-BE" sz="3000" b="1" dirty="0"/>
              <a:t>validité de la CCT</a:t>
            </a:r>
            <a:r>
              <a:rPr lang="fr-BE" sz="3000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60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1.4. RCC – </a:t>
            </a:r>
            <a:r>
              <a:rPr lang="fr-BE" sz="4000" b="1" i="1" dirty="0">
                <a:solidFill>
                  <a:srgbClr val="C00000"/>
                </a:solidFill>
              </a:rPr>
              <a:t>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Le travailleur doit </a:t>
            </a:r>
            <a:r>
              <a:rPr lang="fr-BE" sz="3000" b="1" dirty="0"/>
              <a:t>avoir l’âge requis </a:t>
            </a:r>
            <a:r>
              <a:rPr lang="fr-BE" sz="2400" dirty="0"/>
              <a:t>(en fonction du RCC invoqué) </a:t>
            </a:r>
            <a:r>
              <a:rPr lang="fr-BE" sz="3000" b="1" dirty="0"/>
              <a:t>par la CCT et au plus tard le dernier jour</a:t>
            </a:r>
            <a:r>
              <a:rPr lang="fr-BE" sz="3000" dirty="0"/>
              <a:t> :</a:t>
            </a:r>
          </a:p>
          <a:p>
            <a:pPr marL="465138" lvl="1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/>
              <a:t>Du contrat de travail, si une indemnité de congé est payée.</a:t>
            </a:r>
          </a:p>
          <a:p>
            <a:pPr marL="457200" lvl="1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/>
              <a:t>Du délai de préavis </a:t>
            </a:r>
            <a:r>
              <a:rPr lang="fr-BE" sz="2400" dirty="0"/>
              <a:t>(éventuellement prolongé)</a:t>
            </a:r>
            <a:r>
              <a:rPr lang="fr-BE" sz="3000" dirty="0"/>
              <a:t>,</a:t>
            </a:r>
            <a:r>
              <a:rPr lang="fr-BE" sz="2400" dirty="0"/>
              <a:t> </a:t>
            </a:r>
            <a:r>
              <a:rPr lang="fr-BE" sz="3000" dirty="0"/>
              <a:t>si celui-ci prend fin durant la période de validité de la CCT.</a:t>
            </a:r>
          </a:p>
          <a:p>
            <a:pPr marL="457200" lvl="1" indent="-457200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dirty="0"/>
              <a:t>De validité de la CCT, si le délai de préavis dépasse la durée de validité de la CCT.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199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1.4. RCC – </a:t>
            </a:r>
            <a:r>
              <a:rPr lang="fr-BE" sz="4000" b="1" i="1" dirty="0">
                <a:solidFill>
                  <a:srgbClr val="C00000"/>
                </a:solidFill>
              </a:rPr>
              <a:t>Age </a:t>
            </a:r>
            <a:r>
              <a:rPr lang="fr-BE" sz="4000" b="1" i="1" dirty="0"/>
              <a:t>– Exemple 1</a:t>
            </a:r>
            <a:endParaRPr lang="fr-BE" sz="4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  <p:cxnSp>
        <p:nvCxnSpPr>
          <p:cNvPr id="11" name="Connecteur droit 10"/>
          <p:cNvCxnSpPr>
            <a:cxnSpLocks/>
          </p:cNvCxnSpPr>
          <p:nvPr/>
        </p:nvCxnSpPr>
        <p:spPr>
          <a:xfrm>
            <a:off x="8316416" y="2142147"/>
            <a:ext cx="0" cy="23446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ccolade ouvrante 11"/>
          <p:cNvSpPr/>
          <p:nvPr/>
        </p:nvSpPr>
        <p:spPr>
          <a:xfrm rot="16200000">
            <a:off x="4977750" y="1560777"/>
            <a:ext cx="412640" cy="626469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ZoneTexte 12"/>
          <p:cNvSpPr txBox="1"/>
          <p:nvPr/>
        </p:nvSpPr>
        <p:spPr>
          <a:xfrm>
            <a:off x="1187626" y="1771787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01.07.2023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7452320" y="1698065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30.06.2025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3491882" y="4972483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Période de validité de la CCT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22194"/>
            <a:ext cx="1882551" cy="926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Occupation 38/38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9750" y="3222193"/>
            <a:ext cx="3664461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Préavis</a:t>
            </a:r>
          </a:p>
        </p:txBody>
      </p:sp>
      <p:cxnSp>
        <p:nvCxnSpPr>
          <p:cNvPr id="28" name="Connecteur droit 27"/>
          <p:cNvCxnSpPr>
            <a:cxnSpLocks/>
            <a:stCxn id="13" idx="2"/>
            <a:endCxn id="12" idx="0"/>
          </p:cNvCxnSpPr>
          <p:nvPr/>
        </p:nvCxnSpPr>
        <p:spPr>
          <a:xfrm>
            <a:off x="2051722" y="2141119"/>
            <a:ext cx="0" cy="23456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>
            <a:cxnSpLocks/>
          </p:cNvCxnSpPr>
          <p:nvPr/>
        </p:nvCxnSpPr>
        <p:spPr>
          <a:xfrm>
            <a:off x="323528" y="4136752"/>
            <a:ext cx="8352928" cy="1232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2339751" y="2902629"/>
            <a:ext cx="0" cy="158417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1666032" y="2588958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10.07.2023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5140115" y="2597799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04.01.2024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6004211" y="2902629"/>
            <a:ext cx="0" cy="158417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397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1.4. RCC – </a:t>
            </a:r>
            <a:r>
              <a:rPr lang="fr-BE" sz="4000" b="1" i="1" dirty="0">
                <a:solidFill>
                  <a:srgbClr val="C00000"/>
                </a:solidFill>
              </a:rPr>
              <a:t>Age </a:t>
            </a:r>
            <a:r>
              <a:rPr lang="fr-BE" sz="4000" b="1" i="1" dirty="0"/>
              <a:t>– Exemple 2</a:t>
            </a:r>
            <a:endParaRPr lang="fr-BE" sz="4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1187626" y="1771787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01.07.2023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6516216" y="177281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30.06.2025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592" y="3234680"/>
            <a:ext cx="4649509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Occupation 38/38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49101" y="3234680"/>
            <a:ext cx="276731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 Préavis</a:t>
            </a:r>
          </a:p>
        </p:txBody>
      </p:sp>
      <p:cxnSp>
        <p:nvCxnSpPr>
          <p:cNvPr id="30" name="Connecteur droit avec flèche 29"/>
          <p:cNvCxnSpPr/>
          <p:nvPr/>
        </p:nvCxnSpPr>
        <p:spPr>
          <a:xfrm>
            <a:off x="755576" y="4149080"/>
            <a:ext cx="792088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5549101" y="2902629"/>
            <a:ext cx="0" cy="158417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>
            <a:off x="8316416" y="2884869"/>
            <a:ext cx="0" cy="158417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4690486" y="2511042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14.10.2024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7452320" y="2511042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30.10.2025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023828" y="501317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Période de validité de la CCT</a:t>
            </a:r>
          </a:p>
        </p:txBody>
      </p:sp>
      <p:cxnSp>
        <p:nvCxnSpPr>
          <p:cNvPr id="20" name="Connecteur droit 19"/>
          <p:cNvCxnSpPr>
            <a:endCxn id="21" idx="2"/>
          </p:cNvCxnSpPr>
          <p:nvPr/>
        </p:nvCxnSpPr>
        <p:spPr>
          <a:xfrm>
            <a:off x="7380312" y="2142148"/>
            <a:ext cx="0" cy="23446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ccolade ouvrante 20"/>
          <p:cNvSpPr/>
          <p:nvPr/>
        </p:nvSpPr>
        <p:spPr>
          <a:xfrm rot="16200000">
            <a:off x="4551139" y="1987388"/>
            <a:ext cx="329755" cy="532859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2" name="Connecteur droit 21"/>
          <p:cNvCxnSpPr>
            <a:endCxn id="21" idx="0"/>
          </p:cNvCxnSpPr>
          <p:nvPr/>
        </p:nvCxnSpPr>
        <p:spPr>
          <a:xfrm>
            <a:off x="2051722" y="2141119"/>
            <a:ext cx="0" cy="23456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90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1.4. RCC – </a:t>
            </a:r>
            <a:r>
              <a:rPr lang="fr-BE" sz="4000" b="1" i="1" dirty="0">
                <a:solidFill>
                  <a:srgbClr val="C00000"/>
                </a:solidFill>
              </a:rPr>
              <a:t>Age </a:t>
            </a:r>
            <a:r>
              <a:rPr lang="fr-BE" sz="4000" b="1" i="1" dirty="0"/>
              <a:t>– Exemple 3</a:t>
            </a:r>
            <a:endParaRPr lang="fr-BE" sz="4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1187626" y="1771787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01.07.2023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6516216" y="177281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30.06.2025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592" y="3234680"/>
            <a:ext cx="4631195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Occupation 38/38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49101" y="3234680"/>
            <a:ext cx="2911331" cy="914400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 Indemnité de congé</a:t>
            </a:r>
          </a:p>
        </p:txBody>
      </p:sp>
      <p:cxnSp>
        <p:nvCxnSpPr>
          <p:cNvPr id="30" name="Connecteur droit avec flèche 29"/>
          <p:cNvCxnSpPr/>
          <p:nvPr/>
        </p:nvCxnSpPr>
        <p:spPr>
          <a:xfrm>
            <a:off x="755576" y="4149080"/>
            <a:ext cx="792088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5549101" y="2902629"/>
            <a:ext cx="0" cy="158417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>
            <a:off x="8460432" y="2884869"/>
            <a:ext cx="0" cy="158417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4690486" y="2511042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14.10.2024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7596336" y="2509955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30.10.2025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023828" y="501317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Période de validité de la CCT</a:t>
            </a:r>
          </a:p>
        </p:txBody>
      </p:sp>
      <p:cxnSp>
        <p:nvCxnSpPr>
          <p:cNvPr id="20" name="Connecteur droit 19"/>
          <p:cNvCxnSpPr>
            <a:endCxn id="21" idx="2"/>
          </p:cNvCxnSpPr>
          <p:nvPr/>
        </p:nvCxnSpPr>
        <p:spPr>
          <a:xfrm>
            <a:off x="7380312" y="2142148"/>
            <a:ext cx="0" cy="23446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ccolade ouvrante 20"/>
          <p:cNvSpPr/>
          <p:nvPr/>
        </p:nvSpPr>
        <p:spPr>
          <a:xfrm rot="16200000">
            <a:off x="4551139" y="1987388"/>
            <a:ext cx="329755" cy="532859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cxnSp>
        <p:nvCxnSpPr>
          <p:cNvPr id="22" name="Connecteur droit 21"/>
          <p:cNvCxnSpPr>
            <a:endCxn id="21" idx="0"/>
          </p:cNvCxnSpPr>
          <p:nvPr/>
        </p:nvCxnSpPr>
        <p:spPr>
          <a:xfrm>
            <a:off x="2051722" y="2141119"/>
            <a:ext cx="0" cy="23456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87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1.5. RCC – </a:t>
            </a:r>
            <a:r>
              <a:rPr lang="fr-BE" sz="4000" b="1" i="1" dirty="0">
                <a:solidFill>
                  <a:srgbClr val="C00000"/>
                </a:solidFill>
              </a:rPr>
              <a:t>PP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Le </a:t>
            </a:r>
            <a:r>
              <a:rPr lang="fr-BE" sz="3000" b="1" dirty="0">
                <a:solidFill>
                  <a:srgbClr val="C00000"/>
                </a:solidFill>
              </a:rPr>
              <a:t>passé professionnel</a:t>
            </a:r>
            <a:r>
              <a:rPr lang="fr-BE" sz="3000" b="1" dirty="0"/>
              <a:t> </a:t>
            </a:r>
            <a:r>
              <a:rPr lang="fr-BE" sz="3000" dirty="0"/>
              <a:t>(PP) requis doit être justifié au plus tard 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Le </a:t>
            </a:r>
            <a:r>
              <a:rPr lang="fr-BE" sz="3000" b="1" dirty="0">
                <a:sym typeface="Wingdings" panose="05000000000000000000" pitchFamily="2" charset="2"/>
              </a:rPr>
              <a:t>dernier jour du contrat </a:t>
            </a:r>
            <a:r>
              <a:rPr lang="fr-BE" sz="2400" dirty="0">
                <a:sym typeface="Wingdings" panose="05000000000000000000" pitchFamily="2" charset="2"/>
              </a:rPr>
              <a:t>(si préavis).</a:t>
            </a:r>
            <a:endParaRPr lang="fr-BE" sz="3000" dirty="0"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Le </a:t>
            </a:r>
            <a:r>
              <a:rPr lang="fr-BE" sz="3000" b="1" dirty="0">
                <a:sym typeface="Wingdings" panose="05000000000000000000" pitchFamily="2" charset="2"/>
              </a:rPr>
              <a:t>jour de la rupture du contrat </a:t>
            </a:r>
            <a:r>
              <a:rPr lang="fr-BE" sz="2400" dirty="0">
                <a:sym typeface="Wingdings" panose="05000000000000000000" pitchFamily="2" charset="2"/>
              </a:rPr>
              <a:t>(si indemnité de congé).</a:t>
            </a:r>
          </a:p>
          <a:p>
            <a:pPr marL="0" indent="0">
              <a:spcBef>
                <a:spcPts val="600"/>
              </a:spcBef>
              <a:buNone/>
            </a:pPr>
            <a:endParaRPr lang="fr-BE" sz="1800" dirty="0"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3000" b="1" i="1" u="sng" dirty="0">
                <a:sym typeface="Wingdings" panose="05000000000000000000" pitchFamily="2" charset="2"/>
              </a:rPr>
              <a:t>Rmq</a:t>
            </a:r>
            <a:r>
              <a:rPr lang="fr-BE" sz="3000" dirty="0">
                <a:sym typeface="Wingdings" panose="05000000000000000000" pitchFamily="2" charset="2"/>
              </a:rPr>
              <a:t> : Le nombre d’année de PP et les assimilations </a:t>
            </a:r>
            <a:r>
              <a:rPr lang="fr-BE" sz="2400" dirty="0">
                <a:sym typeface="Wingdings" panose="05000000000000000000" pitchFamily="2" charset="2"/>
              </a:rPr>
              <a:t>(crédit calendrier &amp; crédit pondéré) </a:t>
            </a:r>
            <a:r>
              <a:rPr lang="fr-BE" sz="3000" dirty="0">
                <a:sym typeface="Wingdings" panose="05000000000000000000" pitchFamily="2" charset="2"/>
              </a:rPr>
              <a:t>peuvent varier en fonction du RCC invoqué.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042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Titre 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fr-BE" sz="4000" b="1" i="1" dirty="0"/>
              <a:t>2. RCC – </a:t>
            </a:r>
            <a:r>
              <a:rPr lang="fr-BE" sz="4000" b="1" i="1" dirty="0">
                <a:solidFill>
                  <a:srgbClr val="C00000"/>
                </a:solidFill>
              </a:rPr>
              <a:t>Aperçu général</a:t>
            </a:r>
            <a:endParaRPr lang="fr-BE" sz="4000" b="1" i="1" dirty="0"/>
          </a:p>
        </p:txBody>
      </p: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03622346-9939-4E88-B76F-85B54BDFB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511143"/>
              </p:ext>
            </p:extLst>
          </p:nvPr>
        </p:nvGraphicFramePr>
        <p:xfrm>
          <a:off x="457200" y="1417638"/>
          <a:ext cx="8075241" cy="49634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6648">
                  <a:extLst>
                    <a:ext uri="{9D8B030D-6E8A-4147-A177-3AD203B41FA5}">
                      <a16:colId xmlns:a16="http://schemas.microsoft.com/office/drawing/2014/main" val="80542462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377506414"/>
                    </a:ext>
                  </a:extLst>
                </a:gridCol>
                <a:gridCol w="2592289">
                  <a:extLst>
                    <a:ext uri="{9D8B030D-6E8A-4147-A177-3AD203B41FA5}">
                      <a16:colId xmlns:a16="http://schemas.microsoft.com/office/drawing/2014/main" val="2659538421"/>
                    </a:ext>
                  </a:extLst>
                </a:gridCol>
              </a:tblGrid>
              <a:tr h="618604">
                <a:tc>
                  <a:txBody>
                    <a:bodyPr/>
                    <a:lstStyle/>
                    <a:p>
                      <a:pPr algn="ctr"/>
                      <a:r>
                        <a:rPr lang="fr-BE" sz="2400" i="0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i="0" dirty="0"/>
                        <a:t>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i="0" dirty="0"/>
                        <a:t>CCT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486211"/>
                  </a:ext>
                </a:extLst>
              </a:tr>
              <a:tr h="864022"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tx1"/>
                          </a:solidFill>
                        </a:rPr>
                        <a:t>62</a:t>
                      </a:r>
                      <a:r>
                        <a:rPr lang="fr-BE" sz="1800" b="1" dirty="0"/>
                        <a:t> 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/>
                        <a:t>40 ans PP (H)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tx1"/>
                          </a:solidFill>
                        </a:rPr>
                        <a:t>39</a:t>
                      </a:r>
                      <a:r>
                        <a:rPr lang="fr-BE" sz="18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BE" sz="1800" b="1" dirty="0"/>
                        <a:t>ans PP (F)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/>
                        <a:t>CCT 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306604"/>
                  </a:ext>
                </a:extLst>
              </a:tr>
              <a:tr h="888776"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1F497D"/>
                          </a:solidFill>
                        </a:rPr>
                        <a:t>60 ans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rgbClr val="1F497D"/>
                          </a:solidFill>
                        </a:rPr>
                        <a:t>« longue carrière 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1F497D"/>
                          </a:solidFill>
                        </a:rPr>
                        <a:t>40 ans 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C00000"/>
                          </a:solidFill>
                        </a:rPr>
                        <a:t>CCT 167</a:t>
                      </a:r>
                    </a:p>
                    <a:p>
                      <a:pPr algn="ctr"/>
                      <a:r>
                        <a:rPr lang="fr-BE" sz="1400" b="0" dirty="0">
                          <a:solidFill>
                            <a:srgbClr val="1F497D"/>
                          </a:solidFill>
                        </a:rPr>
                        <a:t>(Auparavant CCT 152)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76282"/>
                  </a:ext>
                </a:extLst>
              </a:tr>
              <a:tr h="864022"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60 ans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« travail de nuit 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33 ans PP</a:t>
                      </a:r>
                      <a:r>
                        <a:rPr lang="fr-BE" sz="1600" b="0" dirty="0">
                          <a:solidFill>
                            <a:schemeClr val="tx2"/>
                          </a:solidFill>
                        </a:rPr>
                        <a:t>  dont au moins 20 ans de « travail de nuit 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C00000"/>
                          </a:solidFill>
                        </a:rPr>
                        <a:t>CCT 166</a:t>
                      </a:r>
                      <a:r>
                        <a:rPr lang="fr-BE" sz="1800" b="0" dirty="0">
                          <a:solidFill>
                            <a:schemeClr val="tx2"/>
                          </a:solidFill>
                        </a:rPr>
                        <a:t> + </a:t>
                      </a:r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CCT 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sectorielle (exigée)</a:t>
                      </a:r>
                    </a:p>
                    <a:p>
                      <a:pPr algn="ctr"/>
                      <a:r>
                        <a:rPr lang="fr-BE" sz="1400" b="0" dirty="0">
                          <a:solidFill>
                            <a:schemeClr val="tx2"/>
                          </a:solidFill>
                        </a:rPr>
                        <a:t>(Auparavant CCT 151)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699179"/>
                  </a:ext>
                </a:extLst>
              </a:tr>
              <a:tr h="864022"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60 ans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« incapacité construction 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33 ans PP</a:t>
                      </a:r>
                      <a:endParaRPr lang="fr-BE" sz="1800" b="0" dirty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fr-BE" sz="1600" b="0" dirty="0">
                          <a:solidFill>
                            <a:schemeClr val="tx2"/>
                          </a:solidFill>
                        </a:rPr>
                        <a:t>&amp; incapacité définitive</a:t>
                      </a:r>
                      <a:endParaRPr lang="fr-BE" sz="16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C00000"/>
                          </a:solidFill>
                        </a:rPr>
                        <a:t>CCT 166</a:t>
                      </a:r>
                      <a:r>
                        <a:rPr lang="fr-BE" sz="1800" b="0" dirty="0">
                          <a:solidFill>
                            <a:schemeClr val="tx2"/>
                          </a:solidFill>
                        </a:rPr>
                        <a:t> + </a:t>
                      </a:r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CCT 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sectorielle (exigée)</a:t>
                      </a:r>
                    </a:p>
                    <a:p>
                      <a:pPr algn="ctr"/>
                      <a:r>
                        <a:rPr lang="fr-BE" sz="1400" b="0" dirty="0">
                          <a:solidFill>
                            <a:schemeClr val="tx2"/>
                          </a:solidFill>
                        </a:rPr>
                        <a:t>(Auparavant CCT 151)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230443"/>
                  </a:ext>
                </a:extLst>
              </a:tr>
              <a:tr h="864022"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60 ans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« métier lourd 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33 ans PP</a:t>
                      </a:r>
                      <a:r>
                        <a:rPr lang="fr-BE" sz="18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fr-BE" sz="1600" b="0" dirty="0">
                          <a:solidFill>
                            <a:schemeClr val="tx2"/>
                          </a:solidFill>
                        </a:rPr>
                        <a:t>dont 5 ou 7 ans </a:t>
                      </a:r>
                    </a:p>
                    <a:p>
                      <a:pPr algn="ctr"/>
                      <a:r>
                        <a:rPr lang="fr-BE" sz="1600" b="0" dirty="0">
                          <a:solidFill>
                            <a:schemeClr val="tx2"/>
                          </a:solidFill>
                        </a:rPr>
                        <a:t>de « métier lourd 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C00000"/>
                          </a:solidFill>
                        </a:rPr>
                        <a:t>CCT 166</a:t>
                      </a:r>
                      <a:r>
                        <a:rPr lang="fr-BE" sz="1800" b="0" dirty="0">
                          <a:solidFill>
                            <a:schemeClr val="tx2"/>
                          </a:solidFill>
                        </a:rPr>
                        <a:t> + </a:t>
                      </a:r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CCT 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tx2"/>
                          </a:solidFill>
                        </a:rPr>
                        <a:t>sectorielle (exigée)</a:t>
                      </a:r>
                    </a:p>
                    <a:p>
                      <a:pPr algn="ctr"/>
                      <a:r>
                        <a:rPr lang="fr-BE" sz="1400" b="0" dirty="0">
                          <a:solidFill>
                            <a:schemeClr val="tx2"/>
                          </a:solidFill>
                        </a:rPr>
                        <a:t>(Auparavant CCT 151)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64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313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5" name="Titre 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fr-BE" sz="4000" b="1" i="1" dirty="0"/>
              <a:t>2. RCC – </a:t>
            </a:r>
            <a:r>
              <a:rPr lang="fr-BE" sz="4000" b="1" i="1" dirty="0">
                <a:solidFill>
                  <a:srgbClr val="C00000"/>
                </a:solidFill>
              </a:rPr>
              <a:t>Aperçu général</a:t>
            </a:r>
          </a:p>
        </p:txBody>
      </p: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7E1A98CD-69FE-4833-A0A4-27CA552BD7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5140627"/>
              </p:ext>
            </p:extLst>
          </p:nvPr>
        </p:nvGraphicFramePr>
        <p:xfrm>
          <a:off x="457578" y="2042295"/>
          <a:ext cx="8229222" cy="2188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074">
                  <a:extLst>
                    <a:ext uri="{9D8B030D-6E8A-4147-A177-3AD203B41FA5}">
                      <a16:colId xmlns:a16="http://schemas.microsoft.com/office/drawing/2014/main" val="805424621"/>
                    </a:ext>
                  </a:extLst>
                </a:gridCol>
                <a:gridCol w="2743074">
                  <a:extLst>
                    <a:ext uri="{9D8B030D-6E8A-4147-A177-3AD203B41FA5}">
                      <a16:colId xmlns:a16="http://schemas.microsoft.com/office/drawing/2014/main" val="3377506414"/>
                    </a:ext>
                  </a:extLst>
                </a:gridCol>
                <a:gridCol w="2743074">
                  <a:extLst>
                    <a:ext uri="{9D8B030D-6E8A-4147-A177-3AD203B41FA5}">
                      <a16:colId xmlns:a16="http://schemas.microsoft.com/office/drawing/2014/main" val="2659538421"/>
                    </a:ext>
                  </a:extLst>
                </a:gridCol>
              </a:tblGrid>
              <a:tr h="577004">
                <a:tc>
                  <a:txBody>
                    <a:bodyPr/>
                    <a:lstStyle/>
                    <a:p>
                      <a:pPr algn="ctr"/>
                      <a:r>
                        <a:rPr lang="fr-BE" sz="2400" i="0" dirty="0"/>
                        <a:t>Age</a:t>
                      </a: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i="0" dirty="0"/>
                        <a:t>PP</a:t>
                      </a: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i="0" dirty="0"/>
                        <a:t>CCT</a:t>
                      </a:r>
                    </a:p>
                  </a:txBody>
                  <a:tcPr marL="93184" marR="93184" anchor="ctr"/>
                </a:tc>
                <a:extLst>
                  <a:ext uri="{0D108BD9-81ED-4DB2-BD59-A6C34878D82A}">
                    <a16:rowId xmlns:a16="http://schemas.microsoft.com/office/drawing/2014/main" val="3101486211"/>
                  </a:ext>
                </a:extLst>
              </a:tr>
              <a:tr h="805918"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accent6"/>
                          </a:solidFill>
                        </a:rPr>
                        <a:t>60 ans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accent6"/>
                          </a:solidFill>
                        </a:rPr>
                        <a:t>« métier lourd » </a:t>
                      </a: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35 ans PP </a:t>
                      </a:r>
                      <a:r>
                        <a:rPr kumimoji="0" lang="fr-B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dont 5 ou 7 ans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 « métier lourd »</a:t>
                      </a:r>
                      <a:endParaRPr lang="fr-BE" sz="1800" b="0" dirty="0">
                        <a:solidFill>
                          <a:schemeClr val="accent6"/>
                        </a:solidFill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C00000"/>
                          </a:solidFill>
                        </a:rPr>
                        <a:t>CCT sectorielle ou d’entreprise</a:t>
                      </a:r>
                    </a:p>
                  </a:txBody>
                  <a:tcPr marL="93184" marR="93184" anchor="ctr"/>
                </a:tc>
                <a:extLst>
                  <a:ext uri="{0D108BD9-81ED-4DB2-BD59-A6C34878D82A}">
                    <a16:rowId xmlns:a16="http://schemas.microsoft.com/office/drawing/2014/main" val="482306604"/>
                  </a:ext>
                </a:extLst>
              </a:tr>
              <a:tr h="805918"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accent4"/>
                          </a:solidFill>
                        </a:rPr>
                        <a:t>58 ans</a:t>
                      </a:r>
                    </a:p>
                    <a:p>
                      <a:pPr algn="ctr"/>
                      <a:r>
                        <a:rPr lang="fr-BE" sz="1800" b="1" dirty="0">
                          <a:solidFill>
                            <a:schemeClr val="accent4"/>
                          </a:solidFill>
                        </a:rPr>
                        <a:t>« Problèmes médicaux »</a:t>
                      </a: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chemeClr val="accent4"/>
                          </a:solidFill>
                        </a:rPr>
                        <a:t>35 ans PP</a:t>
                      </a:r>
                      <a:endParaRPr lang="fr-BE" sz="1800" b="0" dirty="0">
                        <a:solidFill>
                          <a:schemeClr val="accent4"/>
                        </a:solidFill>
                      </a:endParaRPr>
                    </a:p>
                    <a:p>
                      <a:pPr algn="ctr"/>
                      <a:r>
                        <a:rPr lang="fr-BE" sz="1800" b="0" dirty="0">
                          <a:solidFill>
                            <a:schemeClr val="accent4"/>
                          </a:solidFill>
                        </a:rPr>
                        <a:t>+ attestation médicale</a:t>
                      </a:r>
                      <a:endParaRPr lang="fr-BE" sz="1800" b="1" dirty="0">
                        <a:solidFill>
                          <a:schemeClr val="accent4"/>
                        </a:solidFill>
                      </a:endParaRPr>
                    </a:p>
                  </a:txBody>
                  <a:tcPr marL="93184" marR="931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C00000"/>
                          </a:solidFill>
                        </a:rPr>
                        <a:t>CCT 165</a:t>
                      </a:r>
                    </a:p>
                    <a:p>
                      <a:pPr algn="ctr"/>
                      <a:r>
                        <a:rPr lang="fr-BE" sz="1400" b="0" dirty="0">
                          <a:solidFill>
                            <a:schemeClr val="accent4"/>
                          </a:solidFill>
                        </a:rPr>
                        <a:t>(Auparavant CCT 150)</a:t>
                      </a:r>
                    </a:p>
                  </a:txBody>
                  <a:tcPr marL="93184" marR="93184" anchor="ctr"/>
                </a:tc>
                <a:extLst>
                  <a:ext uri="{0D108BD9-81ED-4DB2-BD59-A6C34878D82A}">
                    <a16:rowId xmlns:a16="http://schemas.microsoft.com/office/drawing/2014/main" val="406176282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52C87E73-AE52-4FCF-B158-6ADA50811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266124"/>
              </p:ext>
            </p:extLst>
          </p:nvPr>
        </p:nvGraphicFramePr>
        <p:xfrm>
          <a:off x="454720" y="4304352"/>
          <a:ext cx="8229222" cy="11408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074">
                  <a:extLst>
                    <a:ext uri="{9D8B030D-6E8A-4147-A177-3AD203B41FA5}">
                      <a16:colId xmlns:a16="http://schemas.microsoft.com/office/drawing/2014/main" val="228220721"/>
                    </a:ext>
                  </a:extLst>
                </a:gridCol>
                <a:gridCol w="2743074">
                  <a:extLst>
                    <a:ext uri="{9D8B030D-6E8A-4147-A177-3AD203B41FA5}">
                      <a16:colId xmlns:a16="http://schemas.microsoft.com/office/drawing/2014/main" val="2548241956"/>
                    </a:ext>
                  </a:extLst>
                </a:gridCol>
                <a:gridCol w="2743074">
                  <a:extLst>
                    <a:ext uri="{9D8B030D-6E8A-4147-A177-3AD203B41FA5}">
                      <a16:colId xmlns:a16="http://schemas.microsoft.com/office/drawing/2014/main" val="1731279729"/>
                    </a:ext>
                  </a:extLst>
                </a:gridCol>
              </a:tblGrid>
              <a:tr h="500792">
                <a:tc gridSpan="3">
                  <a:txBody>
                    <a:bodyPr/>
                    <a:lstStyle/>
                    <a:p>
                      <a:pPr algn="ctr"/>
                      <a:r>
                        <a:rPr lang="fr-BE" sz="2400" i="0" dirty="0"/>
                        <a:t>RCC entreprise restructuration /difficulté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BE" sz="2400" i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BE" sz="2400" i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512527"/>
                  </a:ext>
                </a:extLst>
              </a:tr>
              <a:tr h="42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Reconnaissance débute </a:t>
                      </a:r>
                      <a:r>
                        <a:rPr lang="fr-BE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à partir </a:t>
                      </a:r>
                      <a:r>
                        <a:rPr lang="fr-BE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 31.12.2020</a:t>
                      </a:r>
                      <a:endParaRPr lang="fr-BE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ans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20/10 ans de 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1" dirty="0">
                          <a:solidFill>
                            <a:srgbClr val="C00000"/>
                          </a:solidFill>
                        </a:rPr>
                        <a:t>CCT d’entreprise</a:t>
                      </a:r>
                      <a:endParaRPr lang="fr-BE" sz="1800" b="1" u="non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1201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671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 Remplacement du travailleur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5E31237-D27D-105F-F6E6-150C01825681}"/>
              </a:ext>
            </a:extLst>
          </p:cNvPr>
          <p:cNvGrpSpPr/>
          <p:nvPr/>
        </p:nvGrpSpPr>
        <p:grpSpPr>
          <a:xfrm>
            <a:off x="539552" y="1556792"/>
            <a:ext cx="8229600" cy="4357522"/>
            <a:chOff x="457200" y="1684420"/>
            <a:chExt cx="8229600" cy="43575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FD53D1-8B40-91D3-B201-307609A81619}"/>
                </a:ext>
              </a:extLst>
            </p:cNvPr>
            <p:cNvSpPr/>
            <p:nvPr/>
          </p:nvSpPr>
          <p:spPr>
            <a:xfrm>
              <a:off x="457200" y="2920328"/>
              <a:ext cx="8229600" cy="3121614"/>
            </a:xfrm>
            <a:prstGeom prst="rect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42F0C6B6-D18C-A166-0626-1508FDFAF8D2}"/>
                </a:ext>
              </a:extLst>
            </p:cNvPr>
            <p:cNvSpPr/>
            <p:nvPr/>
          </p:nvSpPr>
          <p:spPr>
            <a:xfrm>
              <a:off x="868278" y="1684420"/>
              <a:ext cx="6392183" cy="1854186"/>
            </a:xfrm>
            <a:custGeom>
              <a:avLst/>
              <a:gdLst>
                <a:gd name="connsiteX0" fmla="*/ 0 w 6392183"/>
                <a:gd name="connsiteY0" fmla="*/ 230589 h 1383507"/>
                <a:gd name="connsiteX1" fmla="*/ 230589 w 6392183"/>
                <a:gd name="connsiteY1" fmla="*/ 0 h 1383507"/>
                <a:gd name="connsiteX2" fmla="*/ 6161594 w 6392183"/>
                <a:gd name="connsiteY2" fmla="*/ 0 h 1383507"/>
                <a:gd name="connsiteX3" fmla="*/ 6392183 w 6392183"/>
                <a:gd name="connsiteY3" fmla="*/ 230589 h 1383507"/>
                <a:gd name="connsiteX4" fmla="*/ 6392183 w 6392183"/>
                <a:gd name="connsiteY4" fmla="*/ 1152918 h 1383507"/>
                <a:gd name="connsiteX5" fmla="*/ 6161594 w 6392183"/>
                <a:gd name="connsiteY5" fmla="*/ 1383507 h 1383507"/>
                <a:gd name="connsiteX6" fmla="*/ 230589 w 6392183"/>
                <a:gd name="connsiteY6" fmla="*/ 1383507 h 1383507"/>
                <a:gd name="connsiteX7" fmla="*/ 0 w 6392183"/>
                <a:gd name="connsiteY7" fmla="*/ 1152918 h 1383507"/>
                <a:gd name="connsiteX8" fmla="*/ 0 w 6392183"/>
                <a:gd name="connsiteY8" fmla="*/ 230589 h 138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92183" h="1383507">
                  <a:moveTo>
                    <a:pt x="0" y="230589"/>
                  </a:moveTo>
                  <a:cubicBezTo>
                    <a:pt x="0" y="103238"/>
                    <a:pt x="103238" y="0"/>
                    <a:pt x="230589" y="0"/>
                  </a:cubicBezTo>
                  <a:lnTo>
                    <a:pt x="6161594" y="0"/>
                  </a:lnTo>
                  <a:cubicBezTo>
                    <a:pt x="6288945" y="0"/>
                    <a:pt x="6392183" y="103238"/>
                    <a:pt x="6392183" y="230589"/>
                  </a:cubicBezTo>
                  <a:lnTo>
                    <a:pt x="6392183" y="1152918"/>
                  </a:lnTo>
                  <a:cubicBezTo>
                    <a:pt x="6392183" y="1280269"/>
                    <a:pt x="6288945" y="1383507"/>
                    <a:pt x="6161594" y="1383507"/>
                  </a:cubicBezTo>
                  <a:lnTo>
                    <a:pt x="230589" y="1383507"/>
                  </a:lnTo>
                  <a:cubicBezTo>
                    <a:pt x="103238" y="1383507"/>
                    <a:pt x="0" y="1280269"/>
                    <a:pt x="0" y="1152918"/>
                  </a:cubicBezTo>
                  <a:lnTo>
                    <a:pt x="0" y="230589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5279" tIns="67537" rIns="285279" bIns="67537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BE" sz="2400" b="1" kern="1200" dirty="0"/>
                <a:t>Obligation </a:t>
              </a:r>
              <a:r>
                <a:rPr lang="fr-BE" sz="2400" b="1" dirty="0"/>
                <a:t>de l’employeur de remplacer tous les travailleur mis en RCC</a:t>
              </a:r>
              <a:r>
                <a:rPr lang="fr-BE" sz="2400" b="1" kern="1200" dirty="0"/>
                <a:t>, à l’exception:</a:t>
              </a:r>
              <a:endParaRPr lang="fr-BE" sz="1200" kern="1200" dirty="0"/>
            </a:p>
          </p:txBody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8C7B9AD3-1927-F82E-53C1-D87C41AD92A1}"/>
              </a:ext>
            </a:extLst>
          </p:cNvPr>
          <p:cNvSpPr txBox="1"/>
          <p:nvPr/>
        </p:nvSpPr>
        <p:spPr>
          <a:xfrm>
            <a:off x="539552" y="3616205"/>
            <a:ext cx="82296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400" dirty="0">
                <a:sym typeface="Wingdings" pitchFamily="2" charset="2"/>
              </a:rPr>
              <a:t>Agé d’au moins 62 ans à la fin du contrat.</a:t>
            </a:r>
          </a:p>
          <a:p>
            <a:pPr marL="0" lvl="1" indent="0">
              <a:spcBef>
                <a:spcPts val="600"/>
              </a:spcBef>
              <a:buNone/>
            </a:pPr>
            <a:endParaRPr lang="fr-BE" sz="1000" dirty="0">
              <a:sym typeface="Wingdings" pitchFamily="2" charset="2"/>
            </a:endParaRPr>
          </a:p>
          <a:p>
            <a:pPr marL="452438" lvl="1" indent="0">
              <a:spcBef>
                <a:spcPts val="600"/>
              </a:spcBef>
              <a:buNone/>
            </a:pPr>
            <a:r>
              <a:rPr lang="fr-BE" i="1" dirty="0">
                <a:sym typeface="Wingdings" pitchFamily="2" charset="2"/>
              </a:rPr>
              <a:t>OU</a:t>
            </a:r>
          </a:p>
          <a:p>
            <a:pPr marL="0" lvl="1" indent="0">
              <a:spcBef>
                <a:spcPts val="600"/>
              </a:spcBef>
              <a:buNone/>
            </a:pPr>
            <a:endParaRPr lang="fr-BE" sz="1000" i="1" dirty="0">
              <a:sym typeface="Wingdings" pitchFamily="2" charset="2"/>
            </a:endParaRPr>
          </a:p>
          <a:p>
            <a:pPr marL="457200" lvl="1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400" dirty="0">
                <a:sym typeface="Wingdings" pitchFamily="2" charset="2"/>
              </a:rPr>
              <a:t>Mis en RCC sur base d’une entreprise reconnue en difficulté ou en restructuration.</a:t>
            </a:r>
          </a:p>
        </p:txBody>
      </p:sp>
    </p:spTree>
    <p:extLst>
      <p:ext uri="{BB962C8B-B14F-4D97-AF65-F5344CB8AC3E}">
        <p14:creationId xmlns:p14="http://schemas.microsoft.com/office/powerpoint/2010/main" val="3960744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 Remplacement du travailleur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BF1B846-4922-94FA-392C-4126B7A85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866" y="1292592"/>
            <a:ext cx="6214268" cy="506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5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 Droits &amp; obligations RCC </a:t>
            </a:r>
            <a:br>
              <a:rPr lang="fr-BE" sz="4000" b="1" i="1" dirty="0"/>
            </a:br>
            <a:r>
              <a:rPr lang="fr-BE" sz="4000" b="1" i="1" dirty="0"/>
              <a:t>« </a:t>
            </a:r>
            <a:r>
              <a:rPr lang="fr-BE" sz="4000" b="1" i="1" dirty="0">
                <a:solidFill>
                  <a:srgbClr val="C00000"/>
                </a:solidFill>
              </a:rPr>
              <a:t>anciens cas</a:t>
            </a:r>
            <a:r>
              <a:rPr lang="fr-BE" sz="4000" b="1" i="1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683567" y="1600200"/>
            <a:ext cx="2664295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RCC « anciens cas »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3567" y="2708920"/>
            <a:ext cx="2664296" cy="648072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b="1" i="1" dirty="0">
                <a:solidFill>
                  <a:schemeClr val="tx1"/>
                </a:solidFill>
              </a:rPr>
              <a:t>RCC régimes généraux licenciés </a:t>
            </a:r>
          </a:p>
          <a:p>
            <a:pPr algn="ctr"/>
            <a:r>
              <a:rPr lang="fr-BE" sz="1400" b="1" i="1" dirty="0">
                <a:solidFill>
                  <a:schemeClr val="tx1"/>
                </a:solidFill>
              </a:rPr>
              <a:t>avant le 01/01/2015</a:t>
            </a:r>
            <a:endParaRPr lang="en-US" sz="1400" b="1" i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3567" y="5230652"/>
            <a:ext cx="2660917" cy="936104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i="1" dirty="0">
                <a:solidFill>
                  <a:schemeClr val="tx1"/>
                </a:solidFill>
              </a:rPr>
              <a:t>RCC reconnaissance restructuration / difficulté </a:t>
            </a:r>
          </a:p>
          <a:p>
            <a:pPr algn="ctr"/>
            <a:r>
              <a:rPr lang="fr-FR" sz="1400" b="1" i="1" dirty="0">
                <a:solidFill>
                  <a:schemeClr val="tx1"/>
                </a:solidFill>
              </a:rPr>
              <a:t>avant le 09/10/2014</a:t>
            </a:r>
          </a:p>
          <a:p>
            <a:pPr algn="ctr"/>
            <a:r>
              <a:rPr lang="fr-FR" sz="1400" b="1" i="1" dirty="0">
                <a:solidFill>
                  <a:schemeClr val="tx1"/>
                </a:solidFill>
              </a:rPr>
              <a:t>Et 58 ans ou 38 ans PP </a:t>
            </a:r>
            <a:endParaRPr lang="en-US" sz="1400" b="1" i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59732" y="2893539"/>
            <a:ext cx="3970784" cy="227039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b="1" i="1" dirty="0">
                <a:solidFill>
                  <a:schemeClr val="tx1"/>
                </a:solidFill>
              </a:rPr>
              <a:t>"Maxi-Dispense" - S02 : </a:t>
            </a:r>
            <a:r>
              <a:rPr lang="fr-BE" sz="1400" b="1" i="1" dirty="0">
                <a:solidFill>
                  <a:srgbClr val="C00000"/>
                </a:solidFill>
              </a:rPr>
              <a:t>89,22T</a:t>
            </a:r>
            <a:r>
              <a:rPr lang="fr-BE" sz="1400" b="1" i="1" dirty="0">
                <a:solidFill>
                  <a:schemeClr val="tx1"/>
                </a:solidFill>
              </a:rPr>
              <a:t> ou </a:t>
            </a:r>
            <a:r>
              <a:rPr lang="fr-BE" sz="1400" b="1" i="1" dirty="0">
                <a:solidFill>
                  <a:srgbClr val="C00000"/>
                </a:solidFill>
              </a:rPr>
              <a:t>89,2S</a:t>
            </a:r>
            <a:endParaRPr lang="en-US" sz="1400" b="1" i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59732" y="3120578"/>
            <a:ext cx="3970784" cy="211007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i="1" dirty="0">
                <a:solidFill>
                  <a:schemeClr val="tx1"/>
                </a:solidFill>
              </a:rPr>
              <a:t>Dispense IDE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Dispense de disponibilité sur le marché de l'emploi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Dispense de recherche active d'emploi (Dispo) 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Possibilité de refuser un emploi convenable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Possibilité de débuter une activité accessoire C1A durant CC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Possibilité d'exercer toute activité relative aux biens propres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Dispense d'inscription ALE</a:t>
            </a:r>
          </a:p>
          <a:p>
            <a:r>
              <a:rPr lang="fr-FR" sz="1200" i="1" dirty="0">
                <a:solidFill>
                  <a:schemeClr val="tx2"/>
                </a:solidFill>
              </a:rPr>
              <a:t>Dispense d'utilisation d'une carte de contrôle</a:t>
            </a:r>
          </a:p>
          <a:p>
            <a:r>
              <a:rPr lang="fr-FR" sz="1200" i="1" dirty="0">
                <a:solidFill>
                  <a:schemeClr val="tx2"/>
                </a:solidFill>
              </a:rPr>
              <a:t>Dispense d'aptitude (art. 60)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Dès 60 ans, dispense de résidence en Belgique (art. 66)							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		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					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						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			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					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				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											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				</a:t>
            </a:r>
          </a:p>
          <a:p>
            <a:endParaRPr lang="en-US" sz="1200" i="1" dirty="0">
              <a:solidFill>
                <a:schemeClr val="tx1"/>
              </a:solidFill>
            </a:endParaRPr>
          </a:p>
        </p:txBody>
      </p:sp>
      <p:cxnSp>
        <p:nvCxnSpPr>
          <p:cNvPr id="12" name="Connecteur droit avec flèche 11"/>
          <p:cNvCxnSpPr>
            <a:stCxn id="4" idx="2"/>
            <a:endCxn id="7" idx="0"/>
          </p:cNvCxnSpPr>
          <p:nvPr/>
        </p:nvCxnSpPr>
        <p:spPr>
          <a:xfrm>
            <a:off x="2015715" y="2032248"/>
            <a:ext cx="0" cy="6766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3347861" y="3032956"/>
            <a:ext cx="583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94717" y="4019716"/>
            <a:ext cx="658283" cy="331440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OUI</a:t>
            </a:r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18" name="Connecteur droit avec flèche 17"/>
          <p:cNvCxnSpPr/>
          <p:nvPr/>
        </p:nvCxnSpPr>
        <p:spPr>
          <a:xfrm flipH="1">
            <a:off x="3923859" y="3032956"/>
            <a:ext cx="68" cy="972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>
            <a:off x="3344484" y="5698704"/>
            <a:ext cx="59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rot="10800000">
            <a:off x="3923858" y="4363104"/>
            <a:ext cx="0" cy="13356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 rot="16200000">
            <a:off x="4606366" y="3852508"/>
            <a:ext cx="0" cy="6766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rot="5400000">
            <a:off x="1909905" y="6283756"/>
            <a:ext cx="23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068626" y="6231030"/>
            <a:ext cx="658283" cy="3314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NON</a:t>
            </a:r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43" name="Connecteur droit avec flèche 42"/>
          <p:cNvCxnSpPr/>
          <p:nvPr/>
        </p:nvCxnSpPr>
        <p:spPr>
          <a:xfrm rot="16200000">
            <a:off x="5065245" y="6058414"/>
            <a:ext cx="0" cy="67667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425325" y="6180725"/>
            <a:ext cx="2664295" cy="43204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RCC « cas entrants » ?</a:t>
            </a:r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46" name="Connecteur droit avec flèche 45"/>
          <p:cNvCxnSpPr/>
          <p:nvPr/>
        </p:nvCxnSpPr>
        <p:spPr>
          <a:xfrm rot="16200000">
            <a:off x="3030400" y="5387182"/>
            <a:ext cx="1690" cy="2034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80188" y="3995922"/>
            <a:ext cx="2664296" cy="648072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b="1" i="1" dirty="0">
                <a:solidFill>
                  <a:schemeClr val="tx1"/>
                </a:solidFill>
              </a:rPr>
              <a:t>RCC avec « cliquet » </a:t>
            </a:r>
          </a:p>
          <a:p>
            <a:pPr algn="ctr"/>
            <a:r>
              <a:rPr lang="fr-BE" sz="1400" b="1" i="1" dirty="0">
                <a:solidFill>
                  <a:schemeClr val="tx1"/>
                </a:solidFill>
              </a:rPr>
              <a:t>licenciés après le 31/12/2014</a:t>
            </a:r>
            <a:endParaRPr lang="en-US" sz="1400" b="1" i="1" dirty="0">
              <a:solidFill>
                <a:schemeClr val="tx1"/>
              </a:solidFill>
            </a:endParaRPr>
          </a:p>
        </p:txBody>
      </p:sp>
      <p:cxnSp>
        <p:nvCxnSpPr>
          <p:cNvPr id="27" name="Connecteur droit avec flèche 26"/>
          <p:cNvCxnSpPr/>
          <p:nvPr/>
        </p:nvCxnSpPr>
        <p:spPr>
          <a:xfrm>
            <a:off x="2029018" y="4628157"/>
            <a:ext cx="4137" cy="252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2033155" y="5050661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786623" y="4891563"/>
            <a:ext cx="488607" cy="16132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i="1" dirty="0">
                <a:solidFill>
                  <a:schemeClr val="tx1"/>
                </a:solidFill>
              </a:rPr>
              <a:t>NON</a:t>
            </a:r>
            <a:endParaRPr lang="en-US" sz="1000" b="1" i="1" dirty="0">
              <a:solidFill>
                <a:schemeClr val="tx1"/>
              </a:solidFill>
            </a:endParaRPr>
          </a:p>
        </p:txBody>
      </p:sp>
      <p:cxnSp>
        <p:nvCxnSpPr>
          <p:cNvPr id="39" name="Connecteur droit avec flèche 38"/>
          <p:cNvCxnSpPr/>
          <p:nvPr/>
        </p:nvCxnSpPr>
        <p:spPr>
          <a:xfrm>
            <a:off x="2024996" y="3366901"/>
            <a:ext cx="4137" cy="2691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>
            <a:off x="2029133" y="3809227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782601" y="3650129"/>
            <a:ext cx="488607" cy="16132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i="1" dirty="0">
                <a:solidFill>
                  <a:schemeClr val="tx1"/>
                </a:solidFill>
              </a:rPr>
              <a:t>NON</a:t>
            </a:r>
            <a:endParaRPr lang="en-US" sz="1000" b="1" i="1" dirty="0">
              <a:solidFill>
                <a:schemeClr val="tx1"/>
              </a:solidFill>
            </a:endParaRPr>
          </a:p>
        </p:txBody>
      </p:sp>
      <p:cxnSp>
        <p:nvCxnSpPr>
          <p:cNvPr id="47" name="Connecteur droit avec flèche 46"/>
          <p:cNvCxnSpPr/>
          <p:nvPr/>
        </p:nvCxnSpPr>
        <p:spPr>
          <a:xfrm rot="-5400000">
            <a:off x="3467533" y="4048881"/>
            <a:ext cx="4137" cy="252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81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Connecteur droit 86"/>
          <p:cNvCxnSpPr/>
          <p:nvPr/>
        </p:nvCxnSpPr>
        <p:spPr>
          <a:xfrm rot="5400000">
            <a:off x="3041405" y="4431017"/>
            <a:ext cx="288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 Droits &amp; obligations RCC </a:t>
            </a:r>
            <a:br>
              <a:rPr lang="fr-BE" sz="4000" b="1" i="1" dirty="0"/>
            </a:br>
            <a:r>
              <a:rPr lang="fr-BE" sz="4000" b="1" i="1" dirty="0"/>
              <a:t>« </a:t>
            </a:r>
            <a:r>
              <a:rPr lang="fr-BE" sz="4000" b="1" i="1" dirty="0">
                <a:solidFill>
                  <a:srgbClr val="C00000"/>
                </a:solidFill>
              </a:rPr>
              <a:t>cas entrants</a:t>
            </a:r>
            <a:r>
              <a:rPr lang="fr-BE" sz="4000" b="1" i="1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277894" y="839110"/>
            <a:ext cx="2124235" cy="43204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RCC « cas entrants »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46" y="1621087"/>
            <a:ext cx="2498813" cy="648072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400" b="1" i="1" dirty="0">
                <a:solidFill>
                  <a:schemeClr val="tx1"/>
                </a:solidFill>
              </a:rPr>
              <a:t>RCC régimes généraux licenciés </a:t>
            </a:r>
          </a:p>
          <a:p>
            <a:pPr algn="ctr"/>
            <a:r>
              <a:rPr lang="fr-BE" sz="1400" b="1" i="1" dirty="0">
                <a:solidFill>
                  <a:schemeClr val="tx1"/>
                </a:solidFill>
              </a:rPr>
              <a:t>après le 31/12/2014</a:t>
            </a:r>
            <a:endParaRPr lang="en-US" sz="1400" b="1" i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92859" y="1556726"/>
            <a:ext cx="2284015" cy="770021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i="1" dirty="0">
                <a:solidFill>
                  <a:schemeClr val="tx1"/>
                </a:solidFill>
              </a:rPr>
              <a:t>RCC reconnaissance restructuration / difficulté </a:t>
            </a:r>
          </a:p>
          <a:p>
            <a:pPr algn="ctr"/>
            <a:r>
              <a:rPr lang="fr-FR" sz="1400" b="1" i="1" dirty="0">
                <a:solidFill>
                  <a:schemeClr val="tx1"/>
                </a:solidFill>
              </a:rPr>
              <a:t>après le 08/10/2014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4135" y="4672802"/>
            <a:ext cx="3572120" cy="227039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Disponibilité adaptée</a:t>
            </a:r>
            <a:endParaRPr lang="en-US" sz="1200" b="1" i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4135" y="4899841"/>
            <a:ext cx="3572120" cy="19033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200" i="1" dirty="0">
                <a:solidFill>
                  <a:schemeClr val="tx1"/>
                </a:solidFill>
              </a:rPr>
              <a:t>Etre et rester IDE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Etre disponible sur le marché de l'emploi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Collaborer au plan d'accompagnement adapté du SRE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Se présenter au SRE (ou employeur) en cas de convocation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Accepter tout emploi convenable ou formation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Ne pas abandonner un emploi sans motif légitime</a:t>
            </a:r>
          </a:p>
          <a:p>
            <a:r>
              <a:rPr lang="fr-FR" sz="1200" i="1" dirty="0">
                <a:solidFill>
                  <a:schemeClr val="tx2"/>
                </a:solidFill>
              </a:rPr>
              <a:t>Dispense d'utilisation d'une carte de contrôle</a:t>
            </a:r>
          </a:p>
          <a:p>
            <a:r>
              <a:rPr lang="fr-FR" sz="1200" i="1" dirty="0">
                <a:solidFill>
                  <a:schemeClr val="tx2"/>
                </a:solidFill>
              </a:rPr>
              <a:t>Dispense d'aptitude (art. 60)</a:t>
            </a:r>
            <a:endParaRPr lang="en-US" sz="1200" i="1" dirty="0">
              <a:solidFill>
                <a:schemeClr val="tx2"/>
              </a:solidFill>
            </a:endParaRPr>
          </a:p>
        </p:txBody>
      </p:sp>
      <p:cxnSp>
        <p:nvCxnSpPr>
          <p:cNvPr id="34" name="Connecteur droit avec flèche 33"/>
          <p:cNvCxnSpPr/>
          <p:nvPr/>
        </p:nvCxnSpPr>
        <p:spPr>
          <a:xfrm>
            <a:off x="1310553" y="2275184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1305725" y="1271158"/>
            <a:ext cx="0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rot="16200000">
            <a:off x="2928319" y="1426610"/>
            <a:ext cx="0" cy="72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>
            <a:off x="1313485" y="2645397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78505" y="2474746"/>
            <a:ext cx="448939" cy="172218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i="1" dirty="0">
                <a:solidFill>
                  <a:schemeClr val="tx1"/>
                </a:solidFill>
              </a:rPr>
              <a:t>OUI</a:t>
            </a:r>
            <a:endParaRPr lang="en-US" sz="1000" b="1" i="1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46716" y="2839470"/>
            <a:ext cx="1944216" cy="606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Agé d’au moins 62 ans</a:t>
            </a:r>
          </a:p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 </a:t>
            </a:r>
            <a:r>
              <a:rPr lang="fr-BE" sz="1200" b="1" i="1" dirty="0">
                <a:solidFill>
                  <a:srgbClr val="C00000"/>
                </a:solidFill>
              </a:rPr>
              <a:t>+ CCT sectorielle ?          </a:t>
            </a:r>
            <a:r>
              <a:rPr lang="fr-BE" sz="1100" i="1" dirty="0">
                <a:solidFill>
                  <a:schemeClr val="tx1"/>
                </a:solidFill>
              </a:rPr>
              <a:t>(sauf RCC - CCT 17)</a:t>
            </a:r>
            <a:endParaRPr lang="fr-BE" sz="1400" b="1" i="1" dirty="0">
              <a:solidFill>
                <a:srgbClr val="C00000"/>
              </a:solidFill>
            </a:endParaRPr>
          </a:p>
        </p:txBody>
      </p:sp>
      <p:cxnSp>
        <p:nvCxnSpPr>
          <p:cNvPr id="46" name="Connecteur droit avec flèche 45"/>
          <p:cNvCxnSpPr/>
          <p:nvPr/>
        </p:nvCxnSpPr>
        <p:spPr>
          <a:xfrm>
            <a:off x="1310552" y="3446133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>
            <a:off x="1310552" y="3808184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066991" y="3646856"/>
            <a:ext cx="488607" cy="16132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i="1" dirty="0">
                <a:solidFill>
                  <a:schemeClr val="tx1"/>
                </a:solidFill>
              </a:rPr>
              <a:t>NON</a:t>
            </a:r>
            <a:endParaRPr lang="en-US" sz="1000" b="1" i="1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3215" y="4007803"/>
            <a:ext cx="2004367" cy="6678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Justifie au moins 42 ans de PP </a:t>
            </a:r>
            <a:r>
              <a:rPr lang="fr-BE" sz="1200" b="1" i="1" dirty="0">
                <a:solidFill>
                  <a:srgbClr val="C00000"/>
                </a:solidFill>
              </a:rPr>
              <a:t>+ CCT sectorielle ?              </a:t>
            </a:r>
            <a:r>
              <a:rPr lang="fr-BE" sz="1100" i="1" dirty="0">
                <a:solidFill>
                  <a:schemeClr val="tx1"/>
                </a:solidFill>
              </a:rPr>
              <a:t>(43 ans de PP, si RCC - CCT 17)</a:t>
            </a:r>
            <a:endParaRPr lang="en-US" sz="1100" i="1" dirty="0">
              <a:solidFill>
                <a:schemeClr val="tx1"/>
              </a:solidFill>
            </a:endParaRPr>
          </a:p>
        </p:txBody>
      </p:sp>
      <p:cxnSp>
        <p:nvCxnSpPr>
          <p:cNvPr id="50" name="Connecteur droit avec flèche 49"/>
          <p:cNvCxnSpPr/>
          <p:nvPr/>
        </p:nvCxnSpPr>
        <p:spPr>
          <a:xfrm>
            <a:off x="1331371" y="4675649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/>
          <p:nvPr/>
        </p:nvCxnSpPr>
        <p:spPr>
          <a:xfrm>
            <a:off x="1331371" y="5028780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084839" y="4869682"/>
            <a:ext cx="488607" cy="16132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i="1" dirty="0">
                <a:solidFill>
                  <a:schemeClr val="tx1"/>
                </a:solidFill>
              </a:rPr>
              <a:t>NON</a:t>
            </a:r>
            <a:endParaRPr lang="en-US" sz="1000" b="1" i="1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29188" y="5220583"/>
            <a:ext cx="2006780" cy="4591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RCC « 58 ans &amp; problèmes médicaux » ?</a:t>
            </a:r>
            <a:endParaRPr lang="en-US" sz="1200" b="1" i="1" dirty="0">
              <a:solidFill>
                <a:schemeClr val="tx1"/>
              </a:solidFill>
            </a:endParaRPr>
          </a:p>
        </p:txBody>
      </p:sp>
      <p:cxnSp>
        <p:nvCxnSpPr>
          <p:cNvPr id="54" name="Connecteur droit 53"/>
          <p:cNvCxnSpPr/>
          <p:nvPr/>
        </p:nvCxnSpPr>
        <p:spPr>
          <a:xfrm rot="5400000">
            <a:off x="1060925" y="5935299"/>
            <a:ext cx="511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062165" y="6016475"/>
            <a:ext cx="658283" cy="3314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NON</a:t>
            </a:r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57" name="Connecteur droit avec flèche 56"/>
          <p:cNvCxnSpPr/>
          <p:nvPr/>
        </p:nvCxnSpPr>
        <p:spPr>
          <a:xfrm rot="16200000">
            <a:off x="5098649" y="5826673"/>
            <a:ext cx="0" cy="7128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868384" y="2017197"/>
            <a:ext cx="3363356" cy="251034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Dispense de disponibilité adaptée - S02 : </a:t>
            </a:r>
            <a:r>
              <a:rPr lang="fr-BE" sz="1200" b="1" i="1" dirty="0">
                <a:solidFill>
                  <a:srgbClr val="C00000"/>
                </a:solidFill>
              </a:rPr>
              <a:t>89,22</a:t>
            </a:r>
            <a:endParaRPr lang="en-US" sz="1200" b="1" i="1" dirty="0">
              <a:solidFill>
                <a:srgbClr val="C0000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868384" y="2268231"/>
            <a:ext cx="3363356" cy="157298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200" i="1" dirty="0">
                <a:solidFill>
                  <a:schemeClr val="tx1"/>
                </a:solidFill>
              </a:rPr>
              <a:t>Dispense IDE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Dispense d'être disponible sur le marché de l'emploi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Dispense de se présenter au SRE (ou employeur) en cas de convocation</a:t>
            </a:r>
          </a:p>
          <a:p>
            <a:r>
              <a:rPr lang="fr-FR" sz="1200" i="1" dirty="0">
                <a:solidFill>
                  <a:schemeClr val="tx1"/>
                </a:solidFill>
              </a:rPr>
              <a:t>Possibilité de refuser un emploi convenable</a:t>
            </a:r>
          </a:p>
          <a:p>
            <a:r>
              <a:rPr lang="fr-FR" sz="1200" i="1" dirty="0">
                <a:solidFill>
                  <a:schemeClr val="tx2"/>
                </a:solidFill>
              </a:rPr>
              <a:t>Dispense d'utilisation d'une carte de contrôle</a:t>
            </a:r>
          </a:p>
          <a:p>
            <a:r>
              <a:rPr lang="fr-FR" sz="1200" i="1" dirty="0">
                <a:solidFill>
                  <a:schemeClr val="tx2"/>
                </a:solidFill>
              </a:rPr>
              <a:t>Dispense d'aptitude (art. 60)</a:t>
            </a:r>
            <a:endParaRPr lang="en-US" sz="1200" i="1" dirty="0">
              <a:solidFill>
                <a:schemeClr val="tx2"/>
              </a:solidFill>
            </a:endParaRPr>
          </a:p>
        </p:txBody>
      </p:sp>
      <p:cxnSp>
        <p:nvCxnSpPr>
          <p:cNvPr id="63" name="Connecteur droit avec flèche 62"/>
          <p:cNvCxnSpPr/>
          <p:nvPr/>
        </p:nvCxnSpPr>
        <p:spPr>
          <a:xfrm>
            <a:off x="7885201" y="2348485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/>
          <p:cNvCxnSpPr/>
          <p:nvPr/>
        </p:nvCxnSpPr>
        <p:spPr>
          <a:xfrm>
            <a:off x="7885201" y="2719098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7649775" y="2536770"/>
            <a:ext cx="448939" cy="172218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i="1" dirty="0">
                <a:solidFill>
                  <a:schemeClr val="tx1"/>
                </a:solidFill>
              </a:rPr>
              <a:t>OUI</a:t>
            </a:r>
            <a:endParaRPr lang="en-US" sz="1000" b="1" i="1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72060" y="2904636"/>
            <a:ext cx="2004367" cy="4488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Agé d’au moins 62 ans ?</a:t>
            </a:r>
          </a:p>
        </p:txBody>
      </p:sp>
      <p:cxnSp>
        <p:nvCxnSpPr>
          <p:cNvPr id="67" name="Connecteur droit avec flèche 66"/>
          <p:cNvCxnSpPr/>
          <p:nvPr/>
        </p:nvCxnSpPr>
        <p:spPr>
          <a:xfrm>
            <a:off x="7885201" y="3346779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/>
          <p:nvPr/>
        </p:nvCxnSpPr>
        <p:spPr>
          <a:xfrm>
            <a:off x="7885200" y="3682208"/>
            <a:ext cx="0" cy="18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7640897" y="3520880"/>
            <a:ext cx="488607" cy="16132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i="1" dirty="0">
                <a:solidFill>
                  <a:schemeClr val="tx1"/>
                </a:solidFill>
              </a:rPr>
              <a:t>NON</a:t>
            </a:r>
            <a:endParaRPr lang="en-US" sz="1000" b="1" i="1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875310" y="3870609"/>
            <a:ext cx="2004367" cy="4591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Justifie au moins </a:t>
            </a:r>
          </a:p>
          <a:p>
            <a:pPr algn="ctr"/>
            <a:r>
              <a:rPr lang="fr-BE" sz="1200" b="1" i="1" dirty="0">
                <a:solidFill>
                  <a:schemeClr val="tx1"/>
                </a:solidFill>
              </a:rPr>
              <a:t>42 ans de PP ?</a:t>
            </a:r>
          </a:p>
        </p:txBody>
      </p:sp>
      <p:cxnSp>
        <p:nvCxnSpPr>
          <p:cNvPr id="79" name="Connecteur droit 78"/>
          <p:cNvCxnSpPr/>
          <p:nvPr/>
        </p:nvCxnSpPr>
        <p:spPr>
          <a:xfrm rot="10800000">
            <a:off x="4378215" y="4481175"/>
            <a:ext cx="34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 rot="5400000">
            <a:off x="7795043" y="4407687"/>
            <a:ext cx="158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/>
          <p:cNvCxnSpPr/>
          <p:nvPr/>
        </p:nvCxnSpPr>
        <p:spPr>
          <a:xfrm>
            <a:off x="4391591" y="4472487"/>
            <a:ext cx="0" cy="1519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/>
          <p:cNvCxnSpPr/>
          <p:nvPr/>
        </p:nvCxnSpPr>
        <p:spPr>
          <a:xfrm rot="16200000">
            <a:off x="2682854" y="4809750"/>
            <a:ext cx="1690" cy="27432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856265" y="4582491"/>
            <a:ext cx="658283" cy="331440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OUI</a:t>
            </a:r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85" name="Connecteur droit 84"/>
          <p:cNvCxnSpPr/>
          <p:nvPr/>
        </p:nvCxnSpPr>
        <p:spPr>
          <a:xfrm>
            <a:off x="2335968" y="5445224"/>
            <a:ext cx="871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/>
          <p:cNvCxnSpPr/>
          <p:nvPr/>
        </p:nvCxnSpPr>
        <p:spPr>
          <a:xfrm rot="10800000">
            <a:off x="3207168" y="4938780"/>
            <a:ext cx="0" cy="522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/>
          <p:cNvCxnSpPr/>
          <p:nvPr/>
        </p:nvCxnSpPr>
        <p:spPr>
          <a:xfrm>
            <a:off x="3169699" y="4287017"/>
            <a:ext cx="910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/>
          <p:cNvCxnSpPr/>
          <p:nvPr/>
        </p:nvCxnSpPr>
        <p:spPr>
          <a:xfrm rot="10800000">
            <a:off x="4080499" y="3852816"/>
            <a:ext cx="0" cy="4428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/>
          <p:cNvCxnSpPr>
            <a:stCxn id="45" idx="3"/>
          </p:cNvCxnSpPr>
          <p:nvPr/>
        </p:nvCxnSpPr>
        <p:spPr>
          <a:xfrm flipV="1">
            <a:off x="2290931" y="3140968"/>
            <a:ext cx="385200" cy="18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/>
          <p:cNvCxnSpPr/>
          <p:nvPr/>
        </p:nvCxnSpPr>
        <p:spPr>
          <a:xfrm rot="5400000">
            <a:off x="2277879" y="4479216"/>
            <a:ext cx="54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 rot="16200000">
            <a:off x="2689082" y="4589460"/>
            <a:ext cx="0" cy="3024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/>
          <p:cNvCxnSpPr/>
          <p:nvPr/>
        </p:nvCxnSpPr>
        <p:spPr>
          <a:xfrm>
            <a:off x="2314205" y="4221088"/>
            <a:ext cx="237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/>
          <p:cNvCxnSpPr/>
          <p:nvPr/>
        </p:nvCxnSpPr>
        <p:spPr>
          <a:xfrm rot="5400000">
            <a:off x="2042214" y="3765008"/>
            <a:ext cx="126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/>
          <p:cNvCxnSpPr/>
          <p:nvPr/>
        </p:nvCxnSpPr>
        <p:spPr>
          <a:xfrm flipV="1">
            <a:off x="2662474" y="4388516"/>
            <a:ext cx="334800" cy="18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/>
          <p:cNvCxnSpPr/>
          <p:nvPr/>
        </p:nvCxnSpPr>
        <p:spPr>
          <a:xfrm>
            <a:off x="2985534" y="4371216"/>
            <a:ext cx="0" cy="198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6476043" y="3448300"/>
            <a:ext cx="616237" cy="331440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i="1" dirty="0">
                <a:solidFill>
                  <a:schemeClr val="tx1"/>
                </a:solidFill>
              </a:rPr>
              <a:t>OUI</a:t>
            </a:r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98" name="Connecteur droit avec flèche 97"/>
          <p:cNvCxnSpPr/>
          <p:nvPr/>
        </p:nvCxnSpPr>
        <p:spPr>
          <a:xfrm rot="5400000">
            <a:off x="6344119" y="3524645"/>
            <a:ext cx="0" cy="216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/>
          <p:cNvCxnSpPr/>
          <p:nvPr/>
        </p:nvCxnSpPr>
        <p:spPr>
          <a:xfrm rot="10800000">
            <a:off x="6713660" y="3111012"/>
            <a:ext cx="158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/>
          <p:cNvCxnSpPr/>
          <p:nvPr/>
        </p:nvCxnSpPr>
        <p:spPr>
          <a:xfrm rot="10800000">
            <a:off x="6713660" y="4107833"/>
            <a:ext cx="158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avec flèche 101"/>
          <p:cNvCxnSpPr/>
          <p:nvPr/>
        </p:nvCxnSpPr>
        <p:spPr>
          <a:xfrm rot="10800000">
            <a:off x="6730663" y="3798585"/>
            <a:ext cx="0" cy="306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/>
          <p:cNvCxnSpPr/>
          <p:nvPr/>
        </p:nvCxnSpPr>
        <p:spPr>
          <a:xfrm>
            <a:off x="6728060" y="3111012"/>
            <a:ext cx="0" cy="306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3305452" y="1706734"/>
            <a:ext cx="488607" cy="16132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000" b="1" i="1" dirty="0">
                <a:solidFill>
                  <a:schemeClr val="tx1"/>
                </a:solidFill>
              </a:rPr>
              <a:t>NON</a:t>
            </a:r>
            <a:endParaRPr lang="en-US" sz="1000" b="1" i="1" dirty="0">
              <a:solidFill>
                <a:schemeClr val="tx1"/>
              </a:solidFill>
            </a:endParaRPr>
          </a:p>
        </p:txBody>
      </p:sp>
      <p:cxnSp>
        <p:nvCxnSpPr>
          <p:cNvPr id="60" name="Connecteur droit avec flèche 59"/>
          <p:cNvCxnSpPr/>
          <p:nvPr/>
        </p:nvCxnSpPr>
        <p:spPr>
          <a:xfrm rot="16200000">
            <a:off x="5293459" y="287209"/>
            <a:ext cx="0" cy="29988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467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4. Droits &amp; obligations RCC </a:t>
            </a:r>
            <a:br>
              <a:rPr lang="fr-BE" sz="4000" b="1" i="1" dirty="0"/>
            </a:br>
            <a:r>
              <a:rPr lang="fr-BE" sz="4000" b="1" i="1" dirty="0"/>
              <a:t>« </a:t>
            </a:r>
            <a:r>
              <a:rPr lang="fr-BE" sz="4000" b="1" i="1" dirty="0">
                <a:solidFill>
                  <a:srgbClr val="C00000"/>
                </a:solidFill>
              </a:rPr>
              <a:t>cas entrants</a:t>
            </a:r>
            <a:r>
              <a:rPr lang="fr-BE" sz="4000" b="1" i="1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DA94C6E-86AE-22F0-BA27-E420B53E2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1545969"/>
            <a:ext cx="5019626" cy="477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89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E9175-2DB4-4E1B-B4F5-72FE2DF9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63383"/>
            <a:ext cx="8229600" cy="1143000"/>
          </a:xfrm>
        </p:spPr>
        <p:txBody>
          <a:bodyPr>
            <a:noAutofit/>
          </a:bodyPr>
          <a:lstStyle/>
          <a:p>
            <a:pPr algn="r"/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5. Licenciement collectif</a:t>
            </a:r>
            <a:b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la « 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cellule pour l’emploi 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»</a:t>
            </a:r>
            <a:endParaRPr lang="fr-BE" sz="2800" b="1" i="1" dirty="0">
              <a:solidFill>
                <a:srgbClr val="C00000"/>
              </a:solidFill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36B38C1C-382F-C6F1-C181-510D9D5E2B8B}"/>
              </a:ext>
            </a:extLst>
          </p:cNvPr>
          <p:cNvGrpSpPr/>
          <p:nvPr/>
        </p:nvGrpSpPr>
        <p:grpSpPr>
          <a:xfrm>
            <a:off x="457200" y="1684420"/>
            <a:ext cx="8229600" cy="4357522"/>
            <a:chOff x="457200" y="1684420"/>
            <a:chExt cx="8229600" cy="435752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152778-D7FA-AA35-6E0E-DD29E739A17E}"/>
                </a:ext>
              </a:extLst>
            </p:cNvPr>
            <p:cNvSpPr/>
            <p:nvPr/>
          </p:nvSpPr>
          <p:spPr>
            <a:xfrm>
              <a:off x="457200" y="2920328"/>
              <a:ext cx="8229600" cy="3121614"/>
            </a:xfrm>
            <a:prstGeom prst="rect">
              <a:avLst/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CCE9CC1C-C601-EE14-8E9A-1F67B5BDC467}"/>
                </a:ext>
              </a:extLst>
            </p:cNvPr>
            <p:cNvSpPr/>
            <p:nvPr/>
          </p:nvSpPr>
          <p:spPr>
            <a:xfrm>
              <a:off x="868278" y="1684420"/>
              <a:ext cx="6392183" cy="1854186"/>
            </a:xfrm>
            <a:custGeom>
              <a:avLst/>
              <a:gdLst>
                <a:gd name="connsiteX0" fmla="*/ 0 w 6392183"/>
                <a:gd name="connsiteY0" fmla="*/ 230589 h 1383507"/>
                <a:gd name="connsiteX1" fmla="*/ 230589 w 6392183"/>
                <a:gd name="connsiteY1" fmla="*/ 0 h 1383507"/>
                <a:gd name="connsiteX2" fmla="*/ 6161594 w 6392183"/>
                <a:gd name="connsiteY2" fmla="*/ 0 h 1383507"/>
                <a:gd name="connsiteX3" fmla="*/ 6392183 w 6392183"/>
                <a:gd name="connsiteY3" fmla="*/ 230589 h 1383507"/>
                <a:gd name="connsiteX4" fmla="*/ 6392183 w 6392183"/>
                <a:gd name="connsiteY4" fmla="*/ 1152918 h 1383507"/>
                <a:gd name="connsiteX5" fmla="*/ 6161594 w 6392183"/>
                <a:gd name="connsiteY5" fmla="*/ 1383507 h 1383507"/>
                <a:gd name="connsiteX6" fmla="*/ 230589 w 6392183"/>
                <a:gd name="connsiteY6" fmla="*/ 1383507 h 1383507"/>
                <a:gd name="connsiteX7" fmla="*/ 0 w 6392183"/>
                <a:gd name="connsiteY7" fmla="*/ 1152918 h 1383507"/>
                <a:gd name="connsiteX8" fmla="*/ 0 w 6392183"/>
                <a:gd name="connsiteY8" fmla="*/ 230589 h 138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92183" h="1383507">
                  <a:moveTo>
                    <a:pt x="0" y="230589"/>
                  </a:moveTo>
                  <a:cubicBezTo>
                    <a:pt x="0" y="103238"/>
                    <a:pt x="103238" y="0"/>
                    <a:pt x="230589" y="0"/>
                  </a:cubicBezTo>
                  <a:lnTo>
                    <a:pt x="6161594" y="0"/>
                  </a:lnTo>
                  <a:cubicBezTo>
                    <a:pt x="6288945" y="0"/>
                    <a:pt x="6392183" y="103238"/>
                    <a:pt x="6392183" y="230589"/>
                  </a:cubicBezTo>
                  <a:lnTo>
                    <a:pt x="6392183" y="1152918"/>
                  </a:lnTo>
                  <a:cubicBezTo>
                    <a:pt x="6392183" y="1280269"/>
                    <a:pt x="6288945" y="1383507"/>
                    <a:pt x="6161594" y="1383507"/>
                  </a:cubicBezTo>
                  <a:lnTo>
                    <a:pt x="230589" y="1383507"/>
                  </a:lnTo>
                  <a:cubicBezTo>
                    <a:pt x="103238" y="1383507"/>
                    <a:pt x="0" y="1280269"/>
                    <a:pt x="0" y="1152918"/>
                  </a:cubicBezTo>
                  <a:lnTo>
                    <a:pt x="0" y="230589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5279" tIns="67537" rIns="285279" bIns="67537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BE" sz="2400" b="1" kern="1200" dirty="0"/>
                <a:t>Obligation pour tous les RCC de s’inscrire à la CPE si l’employeur en crée une, à l’exception:</a:t>
              </a:r>
              <a:endParaRPr lang="fr-BE" sz="1200" kern="1200" dirty="0"/>
            </a:p>
          </p:txBody>
        </p: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94AE0C-09D2-4DE2-93C7-61B4D36A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341AADEF-68ED-4A0A-A762-0D186A07B619}"/>
              </a:ext>
            </a:extLst>
          </p:cNvPr>
          <p:cNvGraphicFramePr>
            <a:graphicFrameLocks noGrp="1"/>
          </p:cNvGraphicFramePr>
          <p:nvPr/>
        </p:nvGraphicFramePr>
        <p:xfrm>
          <a:off x="686154" y="4077640"/>
          <a:ext cx="7792379" cy="1088154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256649">
                  <a:extLst>
                    <a:ext uri="{9D8B030D-6E8A-4147-A177-3AD203B41FA5}">
                      <a16:colId xmlns:a16="http://schemas.microsoft.com/office/drawing/2014/main" val="1900697985"/>
                    </a:ext>
                  </a:extLst>
                </a:gridCol>
                <a:gridCol w="887486">
                  <a:extLst>
                    <a:ext uri="{9D8B030D-6E8A-4147-A177-3AD203B41FA5}">
                      <a16:colId xmlns:a16="http://schemas.microsoft.com/office/drawing/2014/main" val="1428010542"/>
                    </a:ext>
                  </a:extLst>
                </a:gridCol>
                <a:gridCol w="1648244">
                  <a:extLst>
                    <a:ext uri="{9D8B030D-6E8A-4147-A177-3AD203B41FA5}">
                      <a16:colId xmlns:a16="http://schemas.microsoft.com/office/drawing/2014/main" val="1738538348"/>
                    </a:ext>
                  </a:extLst>
                </a:gridCol>
              </a:tblGrid>
              <a:tr h="1088154">
                <a:tc>
                  <a:txBody>
                    <a:bodyPr/>
                    <a:lstStyle/>
                    <a:p>
                      <a:pPr algn="just"/>
                      <a:r>
                        <a:rPr lang="fr-BE" sz="1800" kern="1200" dirty="0">
                          <a:ln>
                            <a:noFill/>
                          </a:ln>
                          <a:solidFill>
                            <a:schemeClr val="dk1">
                              <a:alpha val="99000"/>
                            </a:schemeClr>
                          </a:solidFill>
                          <a:effectLst/>
                        </a:rPr>
                        <a:t>Les RCC « régimes généraux » licenciés après le 31.12.2014 mais qui bénéficie d’une dispense de disponibilité adaptée </a:t>
                      </a:r>
                      <a:endParaRPr lang="fr-BE" dirty="0">
                        <a:ln>
                          <a:noFill/>
                        </a:ln>
                        <a:solidFill>
                          <a:schemeClr val="dk1">
                            <a:alpha val="99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BE" dirty="0">
                        <a:ln>
                          <a:noFill/>
                        </a:ln>
                        <a:solidFill>
                          <a:schemeClr val="dk1">
                            <a:alpha val="99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fr-BE" dirty="0">
                          <a:ln>
                            <a:noFill/>
                          </a:ln>
                          <a:solidFill>
                            <a:schemeClr val="dk1">
                              <a:alpha val="99000"/>
                            </a:schemeClr>
                          </a:solidFill>
                        </a:rPr>
                        <a:t>89,22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ln>
                            <a:noFill/>
                          </a:ln>
                          <a:solidFill>
                            <a:schemeClr val="dk1">
                              <a:alpha val="99000"/>
                            </a:schemeClr>
                          </a:solidFill>
                        </a:rPr>
                        <a:t>Dispense automatique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53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320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A2458-C254-4716-9D30-E35625E8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kumimoji="0" lang="fr-BE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6. 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Licenciement individuel</a:t>
            </a:r>
            <a:b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« 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Outplacement – régime général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 »</a:t>
            </a:r>
            <a:endParaRPr lang="fr-BE" sz="2800" b="1" i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CAA072-77CB-44E3-AC1B-2676AC39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fr-BE" u="sng" dirty="0"/>
          </a:p>
          <a:p>
            <a:pPr marL="0" indent="0" algn="just">
              <a:buNone/>
            </a:pPr>
            <a:endParaRPr lang="fr-BE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92E12-6B2C-41FE-A45A-5CF863D2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4951A12-92DD-62C9-BFEF-57748870C93E}"/>
              </a:ext>
            </a:extLst>
          </p:cNvPr>
          <p:cNvGrpSpPr/>
          <p:nvPr/>
        </p:nvGrpSpPr>
        <p:grpSpPr>
          <a:xfrm>
            <a:off x="475479" y="1867800"/>
            <a:ext cx="8229600" cy="3712677"/>
            <a:chOff x="-7368010" y="1888881"/>
            <a:chExt cx="8229600" cy="3712677"/>
          </a:xfrm>
        </p:grpSpPr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C4747C5A-8A98-8DE9-47FF-1F4AEBAFF73B}"/>
                </a:ext>
              </a:extLst>
            </p:cNvPr>
            <p:cNvSpPr/>
            <p:nvPr/>
          </p:nvSpPr>
          <p:spPr>
            <a:xfrm>
              <a:off x="-7368010" y="2792105"/>
              <a:ext cx="8229600" cy="2809453"/>
            </a:xfrm>
            <a:custGeom>
              <a:avLst/>
              <a:gdLst>
                <a:gd name="connsiteX0" fmla="*/ 0 w 8229600"/>
                <a:gd name="connsiteY0" fmla="*/ 0 h 2809453"/>
                <a:gd name="connsiteX1" fmla="*/ 8229600 w 8229600"/>
                <a:gd name="connsiteY1" fmla="*/ 0 h 2809453"/>
                <a:gd name="connsiteX2" fmla="*/ 8229600 w 8229600"/>
                <a:gd name="connsiteY2" fmla="*/ 2809453 h 2809453"/>
                <a:gd name="connsiteX3" fmla="*/ 0 w 8229600"/>
                <a:gd name="connsiteY3" fmla="*/ 2809453 h 2809453"/>
                <a:gd name="connsiteX4" fmla="*/ 0 w 8229600"/>
                <a:gd name="connsiteY4" fmla="*/ 0 h 2809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29600" h="2809453">
                  <a:moveTo>
                    <a:pt x="0" y="0"/>
                  </a:moveTo>
                  <a:lnTo>
                    <a:pt x="8229600" y="0"/>
                  </a:lnTo>
                  <a:lnTo>
                    <a:pt x="8229600" y="2809453"/>
                  </a:lnTo>
                  <a:lnTo>
                    <a:pt x="0" y="2809453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FFA7A6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38708" tIns="187452" rIns="638708" bIns="64008" numCol="1" spcCol="1270" anchor="t" anchorCtr="0">
              <a:noAutofit/>
            </a:bodyPr>
            <a:lstStyle/>
            <a:p>
              <a:pPr marL="57150" lvl="1" indent="-57150" algn="l" defTabSz="4000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fr-BE" sz="900" kern="120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9A71E931-E6B4-E224-7CAB-CCCF79FA2F12}"/>
                </a:ext>
              </a:extLst>
            </p:cNvPr>
            <p:cNvSpPr/>
            <p:nvPr/>
          </p:nvSpPr>
          <p:spPr>
            <a:xfrm>
              <a:off x="-6998217" y="1888881"/>
              <a:ext cx="6392183" cy="1578043"/>
            </a:xfrm>
            <a:custGeom>
              <a:avLst/>
              <a:gdLst>
                <a:gd name="connsiteX0" fmla="*/ 0 w 6392183"/>
                <a:gd name="connsiteY0" fmla="*/ 263012 h 1578043"/>
                <a:gd name="connsiteX1" fmla="*/ 263012 w 6392183"/>
                <a:gd name="connsiteY1" fmla="*/ 0 h 1578043"/>
                <a:gd name="connsiteX2" fmla="*/ 6129171 w 6392183"/>
                <a:gd name="connsiteY2" fmla="*/ 0 h 1578043"/>
                <a:gd name="connsiteX3" fmla="*/ 6392183 w 6392183"/>
                <a:gd name="connsiteY3" fmla="*/ 263012 h 1578043"/>
                <a:gd name="connsiteX4" fmla="*/ 6392183 w 6392183"/>
                <a:gd name="connsiteY4" fmla="*/ 1315031 h 1578043"/>
                <a:gd name="connsiteX5" fmla="*/ 6129171 w 6392183"/>
                <a:gd name="connsiteY5" fmla="*/ 1578043 h 1578043"/>
                <a:gd name="connsiteX6" fmla="*/ 263012 w 6392183"/>
                <a:gd name="connsiteY6" fmla="*/ 1578043 h 1578043"/>
                <a:gd name="connsiteX7" fmla="*/ 0 w 6392183"/>
                <a:gd name="connsiteY7" fmla="*/ 1315031 h 1578043"/>
                <a:gd name="connsiteX8" fmla="*/ 0 w 6392183"/>
                <a:gd name="connsiteY8" fmla="*/ 263012 h 157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92183" h="1578043">
                  <a:moveTo>
                    <a:pt x="0" y="263012"/>
                  </a:moveTo>
                  <a:cubicBezTo>
                    <a:pt x="0" y="117754"/>
                    <a:pt x="117754" y="0"/>
                    <a:pt x="263012" y="0"/>
                  </a:cubicBezTo>
                  <a:lnTo>
                    <a:pt x="6129171" y="0"/>
                  </a:lnTo>
                  <a:cubicBezTo>
                    <a:pt x="6274429" y="0"/>
                    <a:pt x="6392183" y="117754"/>
                    <a:pt x="6392183" y="263012"/>
                  </a:cubicBezTo>
                  <a:lnTo>
                    <a:pt x="6392183" y="1315031"/>
                  </a:lnTo>
                  <a:cubicBezTo>
                    <a:pt x="6392183" y="1460289"/>
                    <a:pt x="6274429" y="1578043"/>
                    <a:pt x="6129171" y="1578043"/>
                  </a:cubicBezTo>
                  <a:lnTo>
                    <a:pt x="263012" y="1578043"/>
                  </a:lnTo>
                  <a:cubicBezTo>
                    <a:pt x="117754" y="1578043"/>
                    <a:pt x="0" y="1460289"/>
                    <a:pt x="0" y="1315031"/>
                  </a:cubicBezTo>
                  <a:lnTo>
                    <a:pt x="0" y="263012"/>
                  </a:lnTo>
                  <a:close/>
                </a:path>
              </a:pathLst>
            </a:custGeom>
            <a:solidFill>
              <a:srgbClr val="FFA7A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4776" tIns="77034" rIns="294776" bIns="77034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BE" sz="2400" b="1" kern="1200" dirty="0"/>
                <a:t>Régime général:</a:t>
              </a:r>
            </a:p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BE" sz="2000" kern="1200" dirty="0"/>
                <a:t>≥ 30 semaines de préavis ou d’indemnité de congé</a:t>
              </a:r>
            </a:p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BE" sz="2000" kern="1200" dirty="0"/>
                <a:t>Être licencié à partir du 01.01.2014</a:t>
              </a:r>
            </a:p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BE" sz="2000" kern="1200" dirty="0"/>
                <a:t>Ne pas être licencié pour motif grave</a:t>
              </a:r>
              <a:endParaRPr lang="fr-BE" sz="1600" kern="1200" dirty="0"/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59C6C0A2-ECC1-DAC2-41AB-BD01EA1C9CF0}"/>
              </a:ext>
            </a:extLst>
          </p:cNvPr>
          <p:cNvSpPr txBox="1"/>
          <p:nvPr/>
        </p:nvSpPr>
        <p:spPr>
          <a:xfrm>
            <a:off x="707019" y="3470265"/>
            <a:ext cx="7766520" cy="203132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è"/>
            </a:pPr>
            <a:r>
              <a:rPr lang="fr-BE" dirty="0">
                <a:sym typeface="Wingdings" panose="05000000000000000000" pitchFamily="2" charset="2"/>
              </a:rPr>
              <a:t>Obligation d’accepter l’outplacement</a:t>
            </a:r>
          </a:p>
          <a:p>
            <a:pPr marL="285750" indent="-285750" algn="l">
              <a:buFont typeface="Wingdings" panose="05000000000000000000" pitchFamily="2" charset="2"/>
              <a:buChar char="è"/>
            </a:pPr>
            <a:endParaRPr lang="fr-BE" dirty="0">
              <a:sym typeface="Wingdings" panose="05000000000000000000" pitchFamily="2" charset="2"/>
            </a:endParaRPr>
          </a:p>
          <a:p>
            <a:pPr algn="l"/>
            <a:r>
              <a:rPr lang="fr-BE" dirty="0">
                <a:sym typeface="Wingdings" panose="05000000000000000000" pitchFamily="2" charset="2"/>
              </a:rPr>
              <a:t>Toutefois, </a:t>
            </a:r>
          </a:p>
          <a:p>
            <a:pPr algn="l"/>
            <a:endParaRPr lang="fr-BE" dirty="0"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è"/>
            </a:pPr>
            <a:r>
              <a:rPr lang="fr-BE" dirty="0">
                <a:sym typeface="Wingdings" panose="05000000000000000000" pitchFamily="2" charset="2"/>
              </a:rPr>
              <a:t>Pas de sanction art.51;</a:t>
            </a:r>
          </a:p>
          <a:p>
            <a:pPr marL="285750" indent="-285750" algn="l">
              <a:buFont typeface="Wingdings" panose="05000000000000000000" pitchFamily="2" charset="2"/>
              <a:buChar char="è"/>
            </a:pPr>
            <a:r>
              <a:rPr lang="fr-BE" dirty="0">
                <a:sym typeface="Wingdings" panose="05000000000000000000" pitchFamily="2" charset="2"/>
              </a:rPr>
              <a:t>Possibilité de sanction à la demande du SRE dans le cadre du contrôle de la disponibilité passive; </a:t>
            </a:r>
          </a:p>
        </p:txBody>
      </p:sp>
    </p:spTree>
    <p:extLst>
      <p:ext uri="{BB962C8B-B14F-4D97-AF65-F5344CB8AC3E}">
        <p14:creationId xmlns:p14="http://schemas.microsoft.com/office/powerpoint/2010/main" val="3121631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6210B3-B4D9-48E7-BF76-58AB2B77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6. Licenciement individuel</a:t>
            </a:r>
            <a:b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« 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Outplacement – régime spécifique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 »</a:t>
            </a:r>
            <a:endParaRPr lang="fr-BE" sz="28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AC749A-1381-48F0-A57E-AA88350E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D3C27FD2-BAB1-6712-2C37-88A71A6F615E}"/>
              </a:ext>
            </a:extLst>
          </p:cNvPr>
          <p:cNvGrpSpPr/>
          <p:nvPr/>
        </p:nvGrpSpPr>
        <p:grpSpPr>
          <a:xfrm>
            <a:off x="0" y="2970908"/>
            <a:ext cx="8983463" cy="3726041"/>
            <a:chOff x="0" y="1772406"/>
            <a:chExt cx="8983463" cy="388884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AFCEEA-9F5E-4645-BAC5-49403434BAD3}"/>
                </a:ext>
              </a:extLst>
            </p:cNvPr>
            <p:cNvSpPr/>
            <p:nvPr/>
          </p:nvSpPr>
          <p:spPr>
            <a:xfrm>
              <a:off x="0" y="2482913"/>
              <a:ext cx="1639891" cy="3547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200" dirty="0">
                  <a:solidFill>
                    <a:schemeClr val="tx1"/>
                  </a:solidFill>
                </a:rPr>
                <a:t>Licencié avant le 01.12.2018</a:t>
              </a:r>
            </a:p>
          </p:txBody>
        </p: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C5D7BA50-6C6A-9196-926D-E8EB30BC1667}"/>
                </a:ext>
              </a:extLst>
            </p:cNvPr>
            <p:cNvGrpSpPr/>
            <p:nvPr/>
          </p:nvGrpSpPr>
          <p:grpSpPr>
            <a:xfrm>
              <a:off x="261675" y="1772406"/>
              <a:ext cx="8721788" cy="3888841"/>
              <a:chOff x="261675" y="1772406"/>
              <a:chExt cx="8721788" cy="388884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4314BD-F75A-49BC-A5C4-6E0F822F2BA3}"/>
                  </a:ext>
                </a:extLst>
              </p:cNvPr>
              <p:cNvSpPr/>
              <p:nvPr/>
            </p:nvSpPr>
            <p:spPr>
              <a:xfrm>
                <a:off x="953973" y="1772406"/>
                <a:ext cx="2465191" cy="4271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b="1" dirty="0">
                    <a:solidFill>
                      <a:schemeClr val="tx1"/>
                    </a:solidFill>
                  </a:rPr>
                  <a:t>RCC « régimes généraux et spécifiques »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EE68E2D-F6A4-48DA-B5D0-2246ECDC1F6A}"/>
                  </a:ext>
                </a:extLst>
              </p:cNvPr>
              <p:cNvSpPr/>
              <p:nvPr/>
            </p:nvSpPr>
            <p:spPr>
              <a:xfrm>
                <a:off x="2706767" y="2482913"/>
                <a:ext cx="1639892" cy="35476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dirty="0">
                    <a:solidFill>
                      <a:schemeClr val="tx1"/>
                    </a:solidFill>
                  </a:rPr>
                  <a:t>Licencié après le 30.11.2018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5E2728A-F18D-420C-B353-F3849BD4BFA3}"/>
                  </a:ext>
                </a:extLst>
              </p:cNvPr>
              <p:cNvSpPr/>
              <p:nvPr/>
            </p:nvSpPr>
            <p:spPr>
              <a:xfrm>
                <a:off x="261675" y="5316188"/>
                <a:ext cx="1116539" cy="3395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b="1" dirty="0">
                    <a:solidFill>
                      <a:srgbClr val="C00000"/>
                    </a:solidFill>
                  </a:rPr>
                  <a:t>Dispense automatique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972AD47-8636-44DF-A605-C0849A81911C}"/>
                  </a:ext>
                </a:extLst>
              </p:cNvPr>
              <p:cNvSpPr/>
              <p:nvPr/>
            </p:nvSpPr>
            <p:spPr>
              <a:xfrm>
                <a:off x="1742600" y="3237007"/>
                <a:ext cx="894941" cy="35476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dirty="0">
                    <a:solidFill>
                      <a:schemeClr val="tx1"/>
                    </a:solidFill>
                  </a:rPr>
                  <a:t>RCC CCT17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90C168F-5DEA-4C15-B7FB-778E93BDF7DC}"/>
                  </a:ext>
                </a:extLst>
              </p:cNvPr>
              <p:cNvSpPr/>
              <p:nvPr/>
            </p:nvSpPr>
            <p:spPr>
              <a:xfrm>
                <a:off x="2706957" y="3237007"/>
                <a:ext cx="1639892" cy="6492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dirty="0">
                    <a:solidFill>
                      <a:schemeClr val="tx1"/>
                    </a:solidFill>
                  </a:rPr>
                  <a:t>- RCC « longue carrière »</a:t>
                </a:r>
              </a:p>
              <a:p>
                <a:pPr algn="ctr"/>
                <a:r>
                  <a:rPr lang="fr-BE" sz="1200" dirty="0">
                    <a:solidFill>
                      <a:schemeClr val="tx1"/>
                    </a:solidFill>
                  </a:rPr>
                  <a:t>- RCC « métier lourds »</a:t>
                </a:r>
              </a:p>
              <a:p>
                <a:pPr algn="ctr"/>
                <a:r>
                  <a:rPr lang="fr-BE" sz="1200" dirty="0">
                    <a:solidFill>
                      <a:schemeClr val="tx1"/>
                    </a:solidFill>
                  </a:rPr>
                  <a:t>- RCC &amp; 33PP</a:t>
                </a:r>
                <a:endParaRPr lang="fr-BE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9548224-479C-4076-987C-68D393C66795}"/>
                  </a:ext>
                </a:extLst>
              </p:cNvPr>
              <p:cNvSpPr/>
              <p:nvPr/>
            </p:nvSpPr>
            <p:spPr>
              <a:xfrm>
                <a:off x="4450317" y="3434146"/>
                <a:ext cx="924927" cy="35476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dirty="0">
                    <a:solidFill>
                      <a:schemeClr val="tx1"/>
                    </a:solidFill>
                  </a:rPr>
                  <a:t>RCC « raisons médicales » 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5C32B0A-35E5-47BF-B241-58B527DCD198}"/>
                  </a:ext>
                </a:extLst>
              </p:cNvPr>
              <p:cNvSpPr/>
              <p:nvPr/>
            </p:nvSpPr>
            <p:spPr>
              <a:xfrm>
                <a:off x="1742600" y="4301308"/>
                <a:ext cx="894941" cy="4648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b="1" dirty="0">
                    <a:solidFill>
                      <a:schemeClr val="tx1"/>
                    </a:solidFill>
                  </a:rPr>
                  <a:t>62 ans ou 42PP?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63F121-5E55-4BA6-9815-E69546B66CF1}"/>
                  </a:ext>
                </a:extLst>
              </p:cNvPr>
              <p:cNvSpPr/>
              <p:nvPr/>
            </p:nvSpPr>
            <p:spPr>
              <a:xfrm>
                <a:off x="3045258" y="4301308"/>
                <a:ext cx="894941" cy="4648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b="1" dirty="0">
                    <a:solidFill>
                      <a:schemeClr val="tx1"/>
                    </a:solidFill>
                  </a:rPr>
                  <a:t>62 ans ou 40PP?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0FDD048-0E90-4640-A12D-A3B0A7049A40}"/>
                  </a:ext>
                </a:extLst>
              </p:cNvPr>
              <p:cNvSpPr/>
              <p:nvPr/>
            </p:nvSpPr>
            <p:spPr>
              <a:xfrm>
                <a:off x="4354509" y="5267884"/>
                <a:ext cx="1116541" cy="3813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b="1" dirty="0">
                    <a:solidFill>
                      <a:srgbClr val="C00000"/>
                    </a:solidFill>
                  </a:rPr>
                  <a:t>Dispense automatique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DBB94CB-6652-4574-95F3-2E304C89D8EC}"/>
                  </a:ext>
                </a:extLst>
              </p:cNvPr>
              <p:cNvSpPr/>
              <p:nvPr/>
            </p:nvSpPr>
            <p:spPr>
              <a:xfrm>
                <a:off x="2185837" y="5291253"/>
                <a:ext cx="1348076" cy="35476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1200" b="1" dirty="0">
                    <a:solidFill>
                      <a:srgbClr val="C00000"/>
                    </a:solidFill>
                  </a:rPr>
                  <a:t>C17-OP-01.12.2018</a:t>
                </a:r>
              </a:p>
            </p:txBody>
          </p:sp>
          <p:cxnSp>
            <p:nvCxnSpPr>
              <p:cNvPr id="25" name="Connecteur : en arc 24">
                <a:extLst>
                  <a:ext uri="{FF2B5EF4-FFF2-40B4-BE49-F238E27FC236}">
                    <a16:creationId xmlns:a16="http://schemas.microsoft.com/office/drawing/2014/main" id="{E0CE492C-E501-4A0F-9FFF-00EDA8F73DB6}"/>
                  </a:ext>
                </a:extLst>
              </p:cNvPr>
              <p:cNvCxnSpPr>
                <a:cxnSpLocks/>
                <a:stCxn id="5" idx="2"/>
                <a:endCxn id="8" idx="0"/>
              </p:cNvCxnSpPr>
              <p:nvPr/>
            </p:nvCxnSpPr>
            <p:spPr>
              <a:xfrm rot="5400000">
                <a:off x="1361598" y="1657941"/>
                <a:ext cx="283321" cy="1366623"/>
              </a:xfrm>
              <a:prstGeom prst="curved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Connecteur : en arc 25">
                <a:extLst>
                  <a:ext uri="{FF2B5EF4-FFF2-40B4-BE49-F238E27FC236}">
                    <a16:creationId xmlns:a16="http://schemas.microsoft.com/office/drawing/2014/main" id="{F6CFA499-1558-49E2-B06E-87A204B64ED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731967" y="1648729"/>
                <a:ext cx="291600" cy="1370124"/>
              </a:xfrm>
              <a:prstGeom prst="curved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Connecteur : en arc 27">
                <a:extLst>
                  <a:ext uri="{FF2B5EF4-FFF2-40B4-BE49-F238E27FC236}">
                    <a16:creationId xmlns:a16="http://schemas.microsoft.com/office/drawing/2014/main" id="{97E07D19-1E01-4AB5-B2B3-AC08FE98577C}"/>
                  </a:ext>
                </a:extLst>
              </p:cNvPr>
              <p:cNvCxnSpPr>
                <a:stCxn id="10" idx="2"/>
                <a:endCxn id="14" idx="0"/>
              </p:cNvCxnSpPr>
              <p:nvPr/>
            </p:nvCxnSpPr>
            <p:spPr>
              <a:xfrm rot="5400000">
                <a:off x="2658729" y="2369022"/>
                <a:ext cx="399327" cy="1336642"/>
              </a:xfrm>
              <a:prstGeom prst="curved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avec flèche 30">
                <a:extLst>
                  <a:ext uri="{FF2B5EF4-FFF2-40B4-BE49-F238E27FC236}">
                    <a16:creationId xmlns:a16="http://schemas.microsoft.com/office/drawing/2014/main" id="{8146F721-C35C-4CF3-8D51-E2559BA364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2519" y="2846684"/>
                <a:ext cx="190" cy="39932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Connecteur droit avec flèche 34">
                <a:extLst>
                  <a:ext uri="{FF2B5EF4-FFF2-40B4-BE49-F238E27FC236}">
                    <a16:creationId xmlns:a16="http://schemas.microsoft.com/office/drawing/2014/main" id="{83AAB96B-F0FF-433A-BA8A-F8D15A04DE06}"/>
                  </a:ext>
                </a:extLst>
              </p:cNvPr>
              <p:cNvCxnSpPr>
                <a:stCxn id="14" idx="2"/>
                <a:endCxn id="18" idx="0"/>
              </p:cNvCxnSpPr>
              <p:nvPr/>
            </p:nvCxnSpPr>
            <p:spPr>
              <a:xfrm>
                <a:off x="2190071" y="3591774"/>
                <a:ext cx="0" cy="709534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Connecteur droit avec flèche 35">
                <a:extLst>
                  <a:ext uri="{FF2B5EF4-FFF2-40B4-BE49-F238E27FC236}">
                    <a16:creationId xmlns:a16="http://schemas.microsoft.com/office/drawing/2014/main" id="{F40F239E-EAC3-4377-B1CF-760CAD80238E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3520918" y="3886255"/>
                <a:ext cx="5985" cy="42077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Connecteur droit avec flèche 37">
                <a:extLst>
                  <a:ext uri="{FF2B5EF4-FFF2-40B4-BE49-F238E27FC236}">
                    <a16:creationId xmlns:a16="http://schemas.microsoft.com/office/drawing/2014/main" id="{AD9894B7-6C32-4E3F-BE3E-49E57BC53E36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>
                <a:off x="4912781" y="3788913"/>
                <a:ext cx="5706" cy="147897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avec flèche 39">
                <a:extLst>
                  <a:ext uri="{FF2B5EF4-FFF2-40B4-BE49-F238E27FC236}">
                    <a16:creationId xmlns:a16="http://schemas.microsoft.com/office/drawing/2014/main" id="{39329A65-4FD9-46A7-9FA4-B067137C67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945" y="2846684"/>
                <a:ext cx="0" cy="245979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Connecteur : en arc 42">
                <a:extLst>
                  <a:ext uri="{FF2B5EF4-FFF2-40B4-BE49-F238E27FC236}">
                    <a16:creationId xmlns:a16="http://schemas.microsoft.com/office/drawing/2014/main" id="{BEFDC446-5C7E-4731-B9F7-D23452898E34}"/>
                  </a:ext>
                </a:extLst>
              </p:cNvPr>
              <p:cNvCxnSpPr>
                <a:stCxn id="18" idx="2"/>
                <a:endCxn id="21" idx="0"/>
              </p:cNvCxnSpPr>
              <p:nvPr/>
            </p:nvCxnSpPr>
            <p:spPr>
              <a:xfrm rot="16200000" flipH="1">
                <a:off x="2262416" y="4693793"/>
                <a:ext cx="525115" cy="669805"/>
              </a:xfrm>
              <a:prstGeom prst="curved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Connecteur : en arc 47">
                <a:extLst>
                  <a:ext uri="{FF2B5EF4-FFF2-40B4-BE49-F238E27FC236}">
                    <a16:creationId xmlns:a16="http://schemas.microsoft.com/office/drawing/2014/main" id="{89C2B22E-DFA0-4E6C-BC0C-D52432957E9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927399" y="4709021"/>
                <a:ext cx="525115" cy="669805"/>
              </a:xfrm>
              <a:prstGeom prst="curved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37119C07-35EB-23C3-2378-6401C5343E50}"/>
                  </a:ext>
                </a:extLst>
              </p:cNvPr>
              <p:cNvGrpSpPr/>
              <p:nvPr/>
            </p:nvGrpSpPr>
            <p:grpSpPr>
              <a:xfrm>
                <a:off x="5428555" y="1806992"/>
                <a:ext cx="3554908" cy="3854255"/>
                <a:chOff x="646844" y="1582348"/>
                <a:chExt cx="6648642" cy="4366932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1754717-2387-48AC-1616-BB34C3911A12}"/>
                    </a:ext>
                  </a:extLst>
                </p:cNvPr>
                <p:cNvSpPr/>
                <p:nvPr/>
              </p:nvSpPr>
              <p:spPr>
                <a:xfrm>
                  <a:off x="1200970" y="1582348"/>
                  <a:ext cx="5687766" cy="43204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200" b="1" dirty="0">
                      <a:solidFill>
                        <a:schemeClr val="tx1"/>
                      </a:solidFill>
                    </a:rPr>
                    <a:t>RCC « entreprise en restructuration ou reconnue en difficulté »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6F79C236-769D-06E6-1435-F5820F25BEF3}"/>
                    </a:ext>
                  </a:extLst>
                </p:cNvPr>
                <p:cNvSpPr/>
                <p:nvPr/>
              </p:nvSpPr>
              <p:spPr>
                <a:xfrm>
                  <a:off x="646844" y="2366621"/>
                  <a:ext cx="2540267" cy="43204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200" dirty="0">
                      <a:solidFill>
                        <a:schemeClr val="tx1"/>
                      </a:solidFill>
                    </a:rPr>
                    <a:t>Licencié avant le 01.12.2018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56CAE17-DE4C-196F-38AF-72944909F2DA}"/>
                    </a:ext>
                  </a:extLst>
                </p:cNvPr>
                <p:cNvSpPr/>
                <p:nvPr/>
              </p:nvSpPr>
              <p:spPr>
                <a:xfrm>
                  <a:off x="4755218" y="2366620"/>
                  <a:ext cx="2540268" cy="43204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200" dirty="0">
                      <a:solidFill>
                        <a:schemeClr val="tx1"/>
                      </a:solidFill>
                    </a:rPr>
                    <a:t>Licencié après le 30.11.2018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FEA1D139-21C6-297F-6F3E-B36537485F89}"/>
                    </a:ext>
                  </a:extLst>
                </p:cNvPr>
                <p:cNvSpPr/>
                <p:nvPr/>
              </p:nvSpPr>
              <p:spPr>
                <a:xfrm>
                  <a:off x="872860" y="5517232"/>
                  <a:ext cx="2088232" cy="43204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200" b="1" dirty="0">
                      <a:solidFill>
                        <a:srgbClr val="C00000"/>
                      </a:solidFill>
                    </a:rPr>
                    <a:t>C17-OP-30.11.2018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1B6C044-124C-040C-F913-3A6FFF9FC8CA}"/>
                    </a:ext>
                  </a:extLst>
                </p:cNvPr>
                <p:cNvSpPr/>
                <p:nvPr/>
              </p:nvSpPr>
              <p:spPr>
                <a:xfrm>
                  <a:off x="5332199" y="4369021"/>
                  <a:ext cx="1386305" cy="5660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200" b="1" dirty="0">
                      <a:solidFill>
                        <a:schemeClr val="tx1"/>
                      </a:solidFill>
                    </a:rPr>
                    <a:t>62 ans ou 40PP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FCE16EC-016D-C277-D8B5-8FFC0621F38D}"/>
                    </a:ext>
                  </a:extLst>
                </p:cNvPr>
                <p:cNvSpPr/>
                <p:nvPr/>
              </p:nvSpPr>
              <p:spPr>
                <a:xfrm>
                  <a:off x="5065767" y="5517232"/>
                  <a:ext cx="2088232" cy="43204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200" b="1" dirty="0">
                      <a:solidFill>
                        <a:srgbClr val="C00000"/>
                      </a:solidFill>
                    </a:rPr>
                    <a:t>C17-OP-01.12.2018</a:t>
                  </a:r>
                </a:p>
              </p:txBody>
            </p:sp>
            <p:cxnSp>
              <p:nvCxnSpPr>
                <p:cNvPr id="23" name="Connecteur : en arc 22">
                  <a:extLst>
                    <a:ext uri="{FF2B5EF4-FFF2-40B4-BE49-F238E27FC236}">
                      <a16:creationId xmlns:a16="http://schemas.microsoft.com/office/drawing/2014/main" id="{302BEB9E-B97D-4F41-483D-21BF1CD4FFCE}"/>
                    </a:ext>
                  </a:extLst>
                </p:cNvPr>
                <p:cNvCxnSpPr>
                  <a:cxnSpLocks/>
                  <a:stCxn id="7" idx="2"/>
                  <a:endCxn id="9" idx="0"/>
                </p:cNvCxnSpPr>
                <p:nvPr/>
              </p:nvCxnSpPr>
              <p:spPr>
                <a:xfrm rot="5400000">
                  <a:off x="2804804" y="1126571"/>
                  <a:ext cx="352225" cy="2127875"/>
                </a:xfrm>
                <a:prstGeom prst="curvedConnector3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Connecteur : en arc 23">
                  <a:extLst>
                    <a:ext uri="{FF2B5EF4-FFF2-40B4-BE49-F238E27FC236}">
                      <a16:creationId xmlns:a16="http://schemas.microsoft.com/office/drawing/2014/main" id="{736775C1-4B70-55C2-D089-26B59D276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4927077" y="1123822"/>
                  <a:ext cx="355121" cy="2122385"/>
                </a:xfrm>
                <a:prstGeom prst="curvedConnector3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avec flèche 26">
                  <a:extLst>
                    <a:ext uri="{FF2B5EF4-FFF2-40B4-BE49-F238E27FC236}">
                      <a16:creationId xmlns:a16="http://schemas.microsoft.com/office/drawing/2014/main" id="{C7281AB1-7781-4776-725E-8F3E55A5794E}"/>
                    </a:ext>
                  </a:extLst>
                </p:cNvPr>
                <p:cNvCxnSpPr>
                  <a:cxnSpLocks/>
                  <a:stCxn id="11" idx="2"/>
                  <a:endCxn id="17" idx="0"/>
                </p:cNvCxnSpPr>
                <p:nvPr/>
              </p:nvCxnSpPr>
              <p:spPr>
                <a:xfrm flipH="1">
                  <a:off x="6025351" y="2798669"/>
                  <a:ext cx="2" cy="1570352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eur droit avec flèche 29">
                  <a:extLst>
                    <a:ext uri="{FF2B5EF4-FFF2-40B4-BE49-F238E27FC236}">
                      <a16:creationId xmlns:a16="http://schemas.microsoft.com/office/drawing/2014/main" id="{969DE354-9112-2AE6-2CCA-EBAE44329719}"/>
                    </a:ext>
                  </a:extLst>
                </p:cNvPr>
                <p:cNvCxnSpPr>
                  <a:cxnSpLocks/>
                  <a:endCxn id="22" idx="0"/>
                </p:cNvCxnSpPr>
                <p:nvPr/>
              </p:nvCxnSpPr>
              <p:spPr>
                <a:xfrm>
                  <a:off x="6080756" y="4935107"/>
                  <a:ext cx="29128" cy="582124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eur droit avec flèche 31">
                  <a:extLst>
                    <a:ext uri="{FF2B5EF4-FFF2-40B4-BE49-F238E27FC236}">
                      <a16:creationId xmlns:a16="http://schemas.microsoft.com/office/drawing/2014/main" id="{794F85FF-A12E-C198-D7B8-612B49FBC8CA}"/>
                    </a:ext>
                  </a:extLst>
                </p:cNvPr>
                <p:cNvCxnSpPr>
                  <a:cxnSpLocks/>
                  <a:stCxn id="9" idx="2"/>
                  <a:endCxn id="33" idx="0"/>
                </p:cNvCxnSpPr>
                <p:nvPr/>
              </p:nvCxnSpPr>
              <p:spPr>
                <a:xfrm flipH="1">
                  <a:off x="1887851" y="2798669"/>
                  <a:ext cx="29128" cy="1570352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6D57A69-C084-498D-75F7-4D572BD97689}"/>
                    </a:ext>
                  </a:extLst>
                </p:cNvPr>
                <p:cNvSpPr/>
                <p:nvPr/>
              </p:nvSpPr>
              <p:spPr>
                <a:xfrm>
                  <a:off x="1194699" y="4369021"/>
                  <a:ext cx="1386305" cy="5660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BE" sz="1200" b="1" dirty="0">
                      <a:solidFill>
                        <a:schemeClr val="tx1"/>
                      </a:solidFill>
                    </a:rPr>
                    <a:t>58 ans ou 38PP</a:t>
                  </a:r>
                </a:p>
              </p:txBody>
            </p:sp>
            <p:cxnSp>
              <p:nvCxnSpPr>
                <p:cNvPr id="34" name="Connecteur droit avec flèche 33">
                  <a:extLst>
                    <a:ext uri="{FF2B5EF4-FFF2-40B4-BE49-F238E27FC236}">
                      <a16:creationId xmlns:a16="http://schemas.microsoft.com/office/drawing/2014/main" id="{F3DE7DFF-62A6-5351-4EF7-7FF3271F3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6977" y="4935107"/>
                  <a:ext cx="0" cy="582124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" name="Connecteur : en arc 54">
                <a:extLst>
                  <a:ext uri="{FF2B5EF4-FFF2-40B4-BE49-F238E27FC236}">
                    <a16:creationId xmlns:a16="http://schemas.microsoft.com/office/drawing/2014/main" id="{5E48E234-6FF9-2C8E-5AE8-88F68C25AF3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4019623" y="2384758"/>
                <a:ext cx="399327" cy="1336642"/>
              </a:xfrm>
              <a:prstGeom prst="curvedConnector3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3" name="ZoneTexte 62">
            <a:extLst>
              <a:ext uri="{FF2B5EF4-FFF2-40B4-BE49-F238E27FC236}">
                <a16:creationId xmlns:a16="http://schemas.microsoft.com/office/drawing/2014/main" id="{995EA7F8-73B7-FCE9-8983-4E5D1A03237B}"/>
              </a:ext>
            </a:extLst>
          </p:cNvPr>
          <p:cNvSpPr txBox="1"/>
          <p:nvPr/>
        </p:nvSpPr>
        <p:spPr>
          <a:xfrm>
            <a:off x="5491268" y="1786063"/>
            <a:ext cx="3479258" cy="369332"/>
          </a:xfrm>
          <a:prstGeom prst="rect">
            <a:avLst/>
          </a:prstGeom>
          <a:noFill/>
          <a:ln w="38100">
            <a:solidFill>
              <a:srgbClr val="60E146"/>
            </a:solidFill>
          </a:ln>
        </p:spPr>
        <p:txBody>
          <a:bodyPr wrap="square" rtlCol="0">
            <a:spAutoFit/>
          </a:bodyPr>
          <a:lstStyle/>
          <a:p>
            <a:r>
              <a:rPr lang="fr-BE" b="1" dirty="0"/>
              <a:t>OBLIGATION</a:t>
            </a:r>
            <a:r>
              <a:rPr lang="fr-BE" dirty="0"/>
              <a:t> d’outplacement </a:t>
            </a:r>
            <a:r>
              <a:rPr lang="fr-BE" b="1" u="sng" dirty="0">
                <a:solidFill>
                  <a:srgbClr val="C00000"/>
                </a:solidFill>
              </a:rPr>
              <a:t>SAUF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F55DC8FF-2063-4D10-5EB2-C69FC6053ADD}"/>
              </a:ext>
            </a:extLst>
          </p:cNvPr>
          <p:cNvSpPr txBox="1">
            <a:spLocks/>
          </p:cNvSpPr>
          <p:nvPr/>
        </p:nvSpPr>
        <p:spPr>
          <a:xfrm>
            <a:off x="445084" y="1444893"/>
            <a:ext cx="4754866" cy="1328023"/>
          </a:xfrm>
          <a:prstGeom prst="roundRect">
            <a:avLst/>
          </a:prstGeom>
          <a:solidFill>
            <a:srgbClr val="8DEA7A"/>
          </a:solidFill>
          <a:ln w="38100">
            <a:solidFill>
              <a:srgbClr val="60E14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BE" dirty="0"/>
          </a:p>
          <a:p>
            <a:pPr algn="ctr"/>
            <a:r>
              <a:rPr lang="fr-BE" sz="3600" dirty="0">
                <a:solidFill>
                  <a:schemeClr val="bg1"/>
                </a:solidFill>
              </a:rPr>
              <a:t>REGIME DEROGATOIRE</a:t>
            </a:r>
          </a:p>
          <a:p>
            <a:pPr algn="ctr"/>
            <a:r>
              <a:rPr lang="fr-BE" dirty="0">
                <a:solidFill>
                  <a:schemeClr val="bg1"/>
                </a:solidFill>
              </a:rPr>
              <a:t> 45 ans &amp; </a:t>
            </a:r>
            <a:r>
              <a:rPr lang="fr-BE" dirty="0">
                <a:solidFill>
                  <a:schemeClr val="bg1"/>
                </a:solidFill>
                <a:sym typeface="Symbol" panose="05050102010706020507" pitchFamily="18" charset="2"/>
              </a:rPr>
              <a:t> 1 an d’ancienneté &amp; ≥ mi-temps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64" name="Flèche : droite 63">
            <a:extLst>
              <a:ext uri="{FF2B5EF4-FFF2-40B4-BE49-F238E27FC236}">
                <a16:creationId xmlns:a16="http://schemas.microsoft.com/office/drawing/2014/main" id="{C0910B58-853D-5501-E2FC-412D4FA9F415}"/>
              </a:ext>
            </a:extLst>
          </p:cNvPr>
          <p:cNvSpPr/>
          <p:nvPr/>
        </p:nvSpPr>
        <p:spPr>
          <a:xfrm>
            <a:off x="5076056" y="1786063"/>
            <a:ext cx="473346" cy="408294"/>
          </a:xfrm>
          <a:prstGeom prst="rightArrow">
            <a:avLst/>
          </a:prstGeom>
          <a:solidFill>
            <a:srgbClr val="00B050"/>
          </a:solidFill>
          <a:ln w="38100">
            <a:solidFill>
              <a:srgbClr val="60E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" name="Bouton d'action : Retour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BE855D1-2D91-B2B2-0A7E-58CC35F298F8}"/>
              </a:ext>
            </a:extLst>
          </p:cNvPr>
          <p:cNvSpPr/>
          <p:nvPr/>
        </p:nvSpPr>
        <p:spPr>
          <a:xfrm>
            <a:off x="252622" y="6090878"/>
            <a:ext cx="689267" cy="556171"/>
          </a:xfrm>
          <a:prstGeom prst="actionButtonReturn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79281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6210B3-B4D9-48E7-BF76-58AB2B77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6. Licenciement individuel</a:t>
            </a:r>
            <a:b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« 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Outplacement </a:t>
            </a:r>
            <a:r>
              <a:rPr kumimoji="0" lang="fr-BE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»</a:t>
            </a:r>
            <a:endParaRPr lang="fr-BE" sz="28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AC749A-1381-48F0-A57E-AA88350E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3" name="Bouton d'action : Retour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BE855D1-2D91-B2B2-0A7E-58CC35F298F8}"/>
              </a:ext>
            </a:extLst>
          </p:cNvPr>
          <p:cNvSpPr/>
          <p:nvPr/>
        </p:nvSpPr>
        <p:spPr>
          <a:xfrm>
            <a:off x="252622" y="6090878"/>
            <a:ext cx="689267" cy="556171"/>
          </a:xfrm>
          <a:prstGeom prst="actionButtonReturn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933A3D9C-E4F1-3756-1D9C-7B1A4E7A3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210" y="1473757"/>
            <a:ext cx="5135580" cy="492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8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7. Constitution du dossier</a:t>
            </a:r>
            <a:endParaRPr lang="fr-FR" sz="40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fr-BE" sz="3000" b="1" u="sng" dirty="0"/>
              <a:t>1</a:t>
            </a:r>
            <a:r>
              <a:rPr lang="fr-BE" sz="3000" b="1" u="sng" baseline="30000" dirty="0"/>
              <a:t>ier</a:t>
            </a:r>
            <a:r>
              <a:rPr lang="fr-BE" sz="3000" b="1" u="sng" dirty="0"/>
              <a:t> dossier</a:t>
            </a:r>
            <a:r>
              <a:rPr lang="fr-BE" sz="3000" b="1" dirty="0"/>
              <a:t> </a:t>
            </a:r>
            <a:r>
              <a:rPr lang="fr-BE" sz="3000" dirty="0"/>
              <a:t>: </a:t>
            </a:r>
            <a:r>
              <a:rPr lang="fr-BE" sz="3000" b="1" u="sng" dirty="0">
                <a:solidFill>
                  <a:srgbClr val="C00000"/>
                </a:solidFill>
              </a:rPr>
              <a:t>Calcul du PP-script 8.2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/>
              <a:t>En fonction du RCC invoqué, un formulaire :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ym typeface="Wingdings" panose="05000000000000000000" pitchFamily="2" charset="2"/>
              </a:rPr>
              <a:t>C17 Passé Professionnel – CCT17.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ym typeface="Wingdings" panose="05000000000000000000" pitchFamily="2" charset="2"/>
              </a:rPr>
              <a:t>C17 Passé Professionnel.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ym typeface="Wingdings" panose="05000000000000000000" pitchFamily="2" charset="2"/>
              </a:rPr>
              <a:t>C17 Passé Professionnel – Moins valide ou Problèmes physiques.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/>
              <a:t>Flux L710.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/>
              <a:t>Eventuellement d’autres justificatifs de la carrière professionnelle.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fr-BE" sz="3000" dirty="0">
                <a:sym typeface="Wingdings" panose="05000000000000000000" pitchFamily="2" charset="2"/>
              </a:rPr>
              <a:t> </a:t>
            </a:r>
            <a:r>
              <a:rPr lang="fr-BE" sz="3000" b="1" dirty="0">
                <a:sym typeface="Wingdings" panose="05000000000000000000" pitchFamily="2" charset="2"/>
              </a:rPr>
              <a:t>Type C9 </a:t>
            </a:r>
            <a:r>
              <a:rPr lang="fr-BE" sz="3000" b="1" dirty="0">
                <a:solidFill>
                  <a:srgbClr val="C00000"/>
                </a:solidFill>
                <a:sym typeface="Wingdings" panose="05000000000000000000" pitchFamily="2" charset="2"/>
              </a:rPr>
              <a:t>310</a:t>
            </a:r>
            <a:endParaRPr lang="fr-BE" sz="3000" dirty="0">
              <a:solidFill>
                <a:srgbClr val="C00000"/>
              </a:solidFill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endParaRPr lang="fr-BE" dirty="0"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7163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7. Constitution du dossier</a:t>
            </a:r>
            <a:endParaRPr lang="fr-FR" sz="40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fr-BE" sz="3000" b="1" u="sng" dirty="0"/>
              <a:t>2</a:t>
            </a:r>
            <a:r>
              <a:rPr lang="fr-BE" sz="3000" b="1" u="sng" baseline="30000" dirty="0"/>
              <a:t>ème</a:t>
            </a:r>
            <a:r>
              <a:rPr lang="fr-BE" sz="3000" b="1" u="sng" dirty="0"/>
              <a:t> dossier </a:t>
            </a:r>
            <a:r>
              <a:rPr lang="fr-BE" sz="3000" b="1" dirty="0"/>
              <a:t>: </a:t>
            </a:r>
            <a:r>
              <a:rPr lang="fr-BE" sz="3000" b="1" u="sng" dirty="0">
                <a:solidFill>
                  <a:srgbClr val="C00000"/>
                </a:solidFill>
              </a:rPr>
              <a:t>DA RCC –script 4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</a:rPr>
              <a:t>Formulaire C4-RCC </a:t>
            </a:r>
            <a:r>
              <a:rPr lang="fr-BE" sz="3000" b="1" dirty="0"/>
              <a:t>+ A820 </a:t>
            </a:r>
            <a:r>
              <a:rPr lang="fr-BE" sz="2400" dirty="0"/>
              <a:t>(</a:t>
            </a:r>
            <a:r>
              <a:rPr lang="fr-BE" sz="2400" dirty="0">
                <a:solidFill>
                  <a:prstClr val="black"/>
                </a:solidFill>
              </a:rPr>
              <a:t>+ Annexe C4 certificat de travail si interruption).</a:t>
            </a:r>
            <a:endParaRPr lang="fr-BE" sz="2400" u="sng" dirty="0">
              <a:solidFill>
                <a:prstClr val="black"/>
              </a:solidFill>
            </a:endParaRPr>
          </a:p>
          <a:p>
            <a:pPr marL="365125" lvl="0" indent="0">
              <a:spcBef>
                <a:spcPts val="0"/>
              </a:spcBef>
              <a:buNone/>
              <a:defRPr/>
            </a:pPr>
            <a:r>
              <a:rPr lang="fr-BE" sz="3000" i="1" dirty="0">
                <a:solidFill>
                  <a:prstClr val="black"/>
                </a:solidFill>
              </a:rPr>
              <a:t>ou C4-RCC DRS + WECH 501 + A820.</a:t>
            </a:r>
          </a:p>
          <a:p>
            <a:pPr marL="0" lvl="0" indent="0">
              <a:spcBef>
                <a:spcPts val="0"/>
              </a:spcBef>
              <a:buNone/>
              <a:defRPr/>
            </a:pPr>
            <a:endParaRPr lang="fr-BE" sz="1200" i="1" dirty="0">
              <a:solidFill>
                <a:prstClr val="black"/>
              </a:solidFill>
            </a:endParaRPr>
          </a:p>
          <a:p>
            <a:pPr marL="0" lvl="0" indent="0">
              <a:spcBef>
                <a:spcPts val="600"/>
              </a:spcBef>
              <a:buNone/>
              <a:defRPr/>
            </a:pPr>
            <a:r>
              <a:rPr lang="fr-BE" sz="3000" i="1" u="sng" dirty="0">
                <a:solidFill>
                  <a:prstClr val="black"/>
                </a:solidFill>
              </a:rPr>
              <a:t>Si nécessaire joindre à la DA</a:t>
            </a:r>
            <a:r>
              <a:rPr lang="fr-BE" sz="3000" dirty="0">
                <a:solidFill>
                  <a:prstClr val="black"/>
                </a:solidFill>
              </a:rPr>
              <a:t> :</a:t>
            </a:r>
          </a:p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</a:rPr>
              <a:t>Une Copie de la CCT et date de dépôt au greffe du SPF ou mention du numéro d’enregistrement de la CCT.</a:t>
            </a:r>
          </a:p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</a:rPr>
              <a:t>Un Formulaire C1 &amp; REGIS </a:t>
            </a:r>
            <a:r>
              <a:rPr lang="fr-BE" sz="2400" dirty="0">
                <a:solidFill>
                  <a:prstClr val="black"/>
                </a:solidFill>
              </a:rPr>
              <a:t>(R-Elec).</a:t>
            </a:r>
          </a:p>
          <a:p>
            <a:pPr marL="0" lvl="1" indent="0">
              <a:spcBef>
                <a:spcPts val="0"/>
              </a:spcBef>
              <a:buNone/>
              <a:defRPr/>
            </a:pPr>
            <a:r>
              <a:rPr lang="fr-BE" sz="2400" b="1" dirty="0">
                <a:solidFill>
                  <a:prstClr val="black"/>
                </a:solidFill>
                <a:sym typeface="Wingdings" panose="05000000000000000000" pitchFamily="2" charset="2"/>
              </a:rPr>
              <a:t> Type C9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300</a:t>
            </a:r>
            <a:endParaRPr lang="fr-BE" sz="2400" b="1" dirty="0">
              <a:solidFill>
                <a:prstClr val="black"/>
              </a:solidFill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fr-BE" sz="2800" i="1" dirty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421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7. Constitution du dossier</a:t>
            </a:r>
            <a:endParaRPr lang="fr-FR" sz="40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600"/>
              </a:spcBef>
              <a:buNone/>
              <a:defRPr/>
            </a:pPr>
            <a:r>
              <a:rPr lang="fr-BE" sz="3000" i="1" u="sng" dirty="0">
                <a:solidFill>
                  <a:prstClr val="black"/>
                </a:solidFill>
              </a:rPr>
              <a:t>Si nécessaire joindre à la DA (suite)</a:t>
            </a:r>
            <a:r>
              <a:rPr lang="fr-BE" sz="3000" dirty="0">
                <a:solidFill>
                  <a:prstClr val="black"/>
                </a:solidFill>
              </a:rPr>
              <a:t> :</a:t>
            </a:r>
          </a:p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</a:rPr>
              <a:t>Une copie de la décision du Ministère reconnaissant l’entreprise comme étant en restructuration ou en difficulté.</a:t>
            </a:r>
          </a:p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</a:rPr>
              <a:t>La preuve d’inscription à la cellule pour l’emploi ou acceptation outplacement individuel.</a:t>
            </a:r>
          </a:p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</a:rPr>
              <a:t>Attestation avec le régime de travail.</a:t>
            </a:r>
          </a:p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</a:rPr>
              <a:t>Attestation FAT ou FMP.</a:t>
            </a:r>
          </a:p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olidFill>
                  <a:prstClr val="black"/>
                </a:solidFill>
              </a:rPr>
              <a:t>Le flux L710 + C17 Passé professionnel </a:t>
            </a:r>
            <a:r>
              <a:rPr lang="fr-BE" sz="2400" dirty="0">
                <a:solidFill>
                  <a:prstClr val="black"/>
                </a:solidFill>
              </a:rPr>
              <a:t>(si pas de S16).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333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8. Délai d’introduction</a:t>
            </a:r>
            <a:endParaRPr lang="fr-FR" sz="40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fr-BE" sz="3000" b="1" i="1" u="sng" dirty="0"/>
              <a:t>Script 8.2</a:t>
            </a:r>
            <a:r>
              <a:rPr lang="fr-BE" sz="3000" b="1" i="1" dirty="0"/>
              <a:t> : </a:t>
            </a:r>
            <a:r>
              <a:rPr lang="fr-BE" sz="3000" b="1" i="1" u="sng" dirty="0">
                <a:solidFill>
                  <a:srgbClr val="C00000"/>
                </a:solidFill>
              </a:rPr>
              <a:t>Calcul PP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ym typeface="Wingdings" panose="05000000000000000000" pitchFamily="2" charset="2"/>
              </a:rPr>
              <a:t>Au plus tôt dans le courant du 6</a:t>
            </a:r>
            <a:r>
              <a:rPr lang="fr-BE" sz="3000" baseline="30000" dirty="0">
                <a:sym typeface="Wingdings" panose="05000000000000000000" pitchFamily="2" charset="2"/>
              </a:rPr>
              <a:t>ème</a:t>
            </a:r>
            <a:r>
              <a:rPr lang="fr-BE" sz="3000" dirty="0">
                <a:sym typeface="Wingdings" panose="05000000000000000000" pitchFamily="2" charset="2"/>
              </a:rPr>
              <a:t> mois précédant le mois au cours duquel le licenciement interviendra.</a:t>
            </a:r>
          </a:p>
          <a:p>
            <a:pPr marL="0" indent="0">
              <a:spcBef>
                <a:spcPts val="600"/>
              </a:spcBef>
              <a:buNone/>
              <a:defRPr/>
            </a:pPr>
            <a:endParaRPr lang="fr-BE" sz="1000" dirty="0"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fr-BE" sz="3000" b="1" i="1" u="sng" dirty="0"/>
              <a:t>Script 4</a:t>
            </a:r>
            <a:r>
              <a:rPr lang="fr-BE" sz="3000" b="1" i="1" dirty="0"/>
              <a:t> : </a:t>
            </a:r>
            <a:r>
              <a:rPr lang="fr-BE" sz="3000" b="1" i="1" u="sng" dirty="0">
                <a:solidFill>
                  <a:srgbClr val="C00000"/>
                </a:solidFill>
              </a:rPr>
              <a:t>DA RCC</a:t>
            </a:r>
            <a:r>
              <a:rPr lang="fr-BE" sz="3000" b="1" i="1" dirty="0">
                <a:solidFill>
                  <a:srgbClr val="C00000"/>
                </a:solidFill>
              </a:rPr>
              <a:t> </a:t>
            </a:r>
            <a:endParaRPr lang="fr-BE" sz="3000" i="1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>
                <a:sym typeface="Wingdings" panose="05000000000000000000" pitchFamily="2" charset="2"/>
              </a:rPr>
              <a:t>Délai maximum de </a:t>
            </a:r>
            <a:r>
              <a:rPr lang="fr-BE" sz="3000" b="1" dirty="0"/>
              <a:t>2 mois à dater du lendemain de la DA</a:t>
            </a:r>
            <a:r>
              <a:rPr lang="fr-BE" sz="3000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BE" sz="3000" dirty="0"/>
              <a:t>Application possible de l’</a:t>
            </a:r>
            <a:r>
              <a:rPr lang="fr-BE" sz="3000" b="1" dirty="0"/>
              <a:t>Art. 92§5 de l’AM.</a:t>
            </a:r>
            <a:endParaRPr lang="fr-BE" sz="3000" dirty="0">
              <a:sym typeface="Wingdings" panose="05000000000000000000" pitchFamily="2" charset="2"/>
            </a:endParaRPr>
          </a:p>
          <a:p>
            <a:pPr marL="365125" indent="0">
              <a:spcBef>
                <a:spcPts val="600"/>
              </a:spcBef>
              <a:buNone/>
              <a:defRPr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Prolongation d’un mois.</a:t>
            </a:r>
            <a:endParaRPr lang="fr-BE" sz="3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964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9. Réception de la C2 </a:t>
            </a:r>
            <a:endParaRPr lang="fr-FR" sz="40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fr-BE" sz="2400" b="1" i="1" dirty="0"/>
              <a:t>En S25: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fr-BE" sz="2400" i="1" dirty="0"/>
              <a:t>Préfixe  </a:t>
            </a:r>
            <a:r>
              <a:rPr lang="fr-BE" sz="2400" b="1" i="1" dirty="0">
                <a:solidFill>
                  <a:srgbClr val="C00000"/>
                </a:solidFill>
              </a:rPr>
              <a:t>09/</a:t>
            </a:r>
            <a:r>
              <a:rPr lang="fr-BE" sz="2400" i="1" dirty="0">
                <a:solidFill>
                  <a:srgbClr val="C00000"/>
                </a:solidFill>
              </a:rPr>
              <a:t>  </a:t>
            </a:r>
            <a:r>
              <a:rPr lang="fr-BE" sz="2400" i="1" dirty="0"/>
              <a:t>+ code chiffré + </a:t>
            </a:r>
            <a:r>
              <a:rPr lang="fr-BE" sz="2400" i="1" dirty="0" err="1"/>
              <a:t>sit</a:t>
            </a:r>
            <a:r>
              <a:rPr lang="fr-BE" sz="2400" i="1" dirty="0"/>
              <a:t>. Fam.  </a:t>
            </a:r>
            <a:r>
              <a:rPr lang="fr-BE" sz="2400" b="1" i="1" dirty="0">
                <a:solidFill>
                  <a:srgbClr val="C00000"/>
                </a:solidFill>
              </a:rPr>
              <a:t>E</a:t>
            </a:r>
            <a:endParaRPr lang="fr-BE" sz="3000" b="1" i="1" dirty="0">
              <a:solidFill>
                <a:srgbClr val="C00000"/>
              </a:solidFill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fr-BE" i="1" dirty="0"/>
              <a:t>           </a:t>
            </a:r>
            <a:r>
              <a:rPr lang="fr-BE" sz="2400" b="1" i="1" dirty="0">
                <a:solidFill>
                  <a:srgbClr val="C00000"/>
                </a:solidFill>
              </a:rPr>
              <a:t>10/</a:t>
            </a:r>
            <a:r>
              <a:rPr lang="fr-BE" b="1" i="1" dirty="0">
                <a:solidFill>
                  <a:srgbClr val="C00000"/>
                </a:solidFill>
              </a:rPr>
              <a:t>                                   </a:t>
            </a:r>
            <a:r>
              <a:rPr lang="fr-BE" sz="2400" b="1" i="1" dirty="0">
                <a:solidFill>
                  <a:srgbClr val="C00000"/>
                </a:solidFill>
              </a:rPr>
              <a:t>GN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fr-BE" sz="2400" b="1" i="1" dirty="0">
                <a:solidFill>
                  <a:srgbClr val="C00000"/>
                </a:solidFill>
              </a:rPr>
              <a:t>					 GB</a:t>
            </a:r>
          </a:p>
          <a:p>
            <a:pPr marL="0" indent="0">
              <a:spcBef>
                <a:spcPts val="600"/>
              </a:spcBef>
              <a:buNone/>
              <a:defRPr/>
            </a:pPr>
            <a:endParaRPr lang="fr-BE" sz="3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5" name="Flèche : virage 4">
            <a:extLst>
              <a:ext uri="{FF2B5EF4-FFF2-40B4-BE49-F238E27FC236}">
                <a16:creationId xmlns:a16="http://schemas.microsoft.com/office/drawing/2014/main" id="{26248AE2-E9DE-9564-AE1D-BF090988A02F}"/>
              </a:ext>
            </a:extLst>
          </p:cNvPr>
          <p:cNvSpPr/>
          <p:nvPr/>
        </p:nvSpPr>
        <p:spPr>
          <a:xfrm flipV="1">
            <a:off x="2884992" y="2369918"/>
            <a:ext cx="288027" cy="432048"/>
          </a:xfrm>
          <a:prstGeom prst="bentArrow">
            <a:avLst>
              <a:gd name="adj1" fmla="val 0"/>
              <a:gd name="adj2" fmla="val 11562"/>
              <a:gd name="adj3" fmla="val 25000"/>
              <a:gd name="adj4" fmla="val 19114"/>
            </a:avLst>
          </a:prstGeom>
          <a:solidFill>
            <a:srgbClr val="C00000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>
              <a:solidFill>
                <a:schemeClr val="tx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5909420-FA8F-8878-888C-60C91C889DA1}"/>
              </a:ext>
            </a:extLst>
          </p:cNvPr>
          <p:cNvSpPr txBox="1"/>
          <p:nvPr/>
        </p:nvSpPr>
        <p:spPr>
          <a:xfrm>
            <a:off x="3173019" y="2444807"/>
            <a:ext cx="1512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rgbClr val="C00000"/>
                </a:solidFill>
              </a:rPr>
              <a:t>63</a:t>
            </a:r>
            <a:r>
              <a:rPr lang="fr-BE" dirty="0"/>
              <a:t> code chiffré max.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3AB50B6-EA61-021B-3F0E-F51E20F5BF42}"/>
              </a:ext>
            </a:extLst>
          </p:cNvPr>
          <p:cNvCxnSpPr>
            <a:cxnSpLocks/>
          </p:cNvCxnSpPr>
          <p:nvPr/>
        </p:nvCxnSpPr>
        <p:spPr>
          <a:xfrm>
            <a:off x="1475656" y="2071588"/>
            <a:ext cx="0" cy="6911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511CCB8-3872-9CE5-55B7-BB3F78FD7845}"/>
              </a:ext>
            </a:extLst>
          </p:cNvPr>
          <p:cNvCxnSpPr>
            <a:cxnSpLocks/>
          </p:cNvCxnSpPr>
          <p:nvPr/>
        </p:nvCxnSpPr>
        <p:spPr>
          <a:xfrm>
            <a:off x="5148064" y="2071588"/>
            <a:ext cx="0" cy="10947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au 11">
            <a:extLst>
              <a:ext uri="{FF2B5EF4-FFF2-40B4-BE49-F238E27FC236}">
                <a16:creationId xmlns:a16="http://schemas.microsoft.com/office/drawing/2014/main" id="{95C855C7-EEBB-A394-226C-4E5D16D20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090902"/>
              </p:ext>
            </p:extLst>
          </p:nvPr>
        </p:nvGraphicFramePr>
        <p:xfrm>
          <a:off x="457206" y="3430270"/>
          <a:ext cx="822959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729">
                  <a:extLst>
                    <a:ext uri="{9D8B030D-6E8A-4147-A177-3AD203B41FA5}">
                      <a16:colId xmlns:a16="http://schemas.microsoft.com/office/drawing/2014/main" val="1527135994"/>
                    </a:ext>
                  </a:extLst>
                </a:gridCol>
                <a:gridCol w="4762865">
                  <a:extLst>
                    <a:ext uri="{9D8B030D-6E8A-4147-A177-3AD203B41FA5}">
                      <a16:colId xmlns:a16="http://schemas.microsoft.com/office/drawing/2014/main" val="456272848"/>
                    </a:ext>
                  </a:extLst>
                </a:gridCol>
              </a:tblGrid>
              <a:tr h="266117">
                <a:tc gridSpan="2">
                  <a:txBody>
                    <a:bodyPr/>
                    <a:lstStyle/>
                    <a:p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Avec un article d’indemnisation: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BE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290734"/>
                  </a:ext>
                </a:extLst>
              </a:tr>
              <a:tr h="262725"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B1S2A1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RCC CCT17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51671"/>
                  </a:ext>
                </a:extLst>
              </a:tr>
              <a:tr h="262725"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B1S2A7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RCC 60 ans (carrière longue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666316"/>
                  </a:ext>
                </a:extLst>
              </a:tr>
              <a:tr h="262725"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B1S2A5, B2S2A5, B3S2A5, B4S2A5, B5S2A5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RCC 60 ans &amp; 33 ans de 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652380"/>
                  </a:ext>
                </a:extLst>
              </a:tr>
              <a:tr h="262725"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B1S2A3, B2S2A3, B3S2A3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RCC 60 ans &amp; 35 and de PP (métier lourd)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260200"/>
                  </a:ext>
                </a:extLst>
              </a:tr>
              <a:tr h="262725"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B1S2A4, B2S2A4, B3S2A4, B4S2A4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RCC 58 ans (« problème médicaux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455300"/>
                  </a:ext>
                </a:extLst>
              </a:tr>
              <a:tr h="262725"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BPS3C1, BPS3C2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Entreprise en restructuration avec annonce de licenciement collectif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292354"/>
                  </a:ext>
                </a:extLst>
              </a:tr>
              <a:tr h="262725">
                <a:tc>
                  <a:txBody>
                    <a:bodyPr/>
                    <a:lstStyle/>
                    <a:p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BPS3D1, BPS3D2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400" b="1" dirty="0">
                          <a:solidFill>
                            <a:schemeClr val="tx1"/>
                          </a:solidFill>
                        </a:rPr>
                        <a:t>Entreprise en restructuration sans annonce de licenciement collectif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086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442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10. Indemnisation </a:t>
            </a:r>
            <a:endParaRPr lang="fr-FR" sz="40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fr-BE" sz="3000" b="1" i="1" dirty="0"/>
              <a:t>Dispense d’utiliser une carte de contrôle</a:t>
            </a:r>
          </a:p>
          <a:p>
            <a:pPr marL="0" indent="0">
              <a:spcBef>
                <a:spcPts val="600"/>
              </a:spcBef>
              <a:buNone/>
              <a:defRPr/>
            </a:pPr>
            <a:endParaRPr lang="fr-BE" sz="3000" b="1" i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 algn="ctr">
              <a:spcBef>
                <a:spcPts val="600"/>
              </a:spcBef>
              <a:buNone/>
              <a:defRPr/>
            </a:pPr>
            <a:r>
              <a:rPr lang="fr-BE" sz="3000" b="1" i="1" dirty="0">
                <a:solidFill>
                  <a:srgbClr val="C00000"/>
                </a:solidFill>
                <a:sym typeface="Wingdings" panose="05000000000000000000" pitchFamily="2" charset="2"/>
              </a:rPr>
              <a:t></a:t>
            </a:r>
            <a:r>
              <a:rPr lang="fr-BE" sz="3000" b="1" i="1" dirty="0" err="1">
                <a:solidFill>
                  <a:srgbClr val="C00000"/>
                </a:solidFill>
              </a:rPr>
              <a:t>Atoma</a:t>
            </a:r>
            <a:r>
              <a:rPr lang="fr-BE" sz="3000" b="1" i="1" dirty="0">
                <a:solidFill>
                  <a:srgbClr val="C00000"/>
                </a:solidFill>
              </a:rPr>
              <a:t> /Formulaire C99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fr-BE" sz="3000" b="1" i="1" dirty="0">
              <a:solidFill>
                <a:srgbClr val="C00000"/>
              </a:solidFill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fr-BE" sz="3000" b="1" i="1" dirty="0"/>
              <a:t>Mais toujours possibilité d’utiliser une carte de contrôle</a:t>
            </a:r>
          </a:p>
          <a:p>
            <a:pPr algn="ctr">
              <a:spcBef>
                <a:spcPts val="600"/>
              </a:spcBef>
              <a:buFont typeface="Wingdings" panose="05000000000000000000" pitchFamily="2" charset="2"/>
              <a:buChar char="è"/>
              <a:defRPr/>
            </a:pPr>
            <a:r>
              <a:rPr lang="fr-BE" sz="3000" b="1" i="1" dirty="0">
                <a:solidFill>
                  <a:srgbClr val="C00000"/>
                </a:solidFill>
                <a:sym typeface="Wingdings" panose="05000000000000000000" pitchFamily="2" charset="2"/>
              </a:rPr>
              <a:t>Carte de contrôle C3-RCC/ EC3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fr-BE" sz="3000" b="1" i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fr-BE" sz="3000" b="1" i="1" dirty="0">
                <a:solidFill>
                  <a:srgbClr val="C00000"/>
                </a:solidFill>
                <a:sym typeface="Wingdings" panose="05000000000000000000" pitchFamily="2" charset="2"/>
              </a:rPr>
              <a:t>          </a:t>
            </a:r>
            <a:r>
              <a:rPr lang="fr-BE" sz="3000" b="1" i="1" dirty="0">
                <a:sym typeface="Wingdings" panose="05000000000000000000" pitchFamily="2" charset="2"/>
              </a:rPr>
              <a:t> Travailleurs des arts</a:t>
            </a:r>
            <a:endParaRPr lang="fr-BE" sz="3000" b="1" i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fr-BE" sz="3000" b="1" i="1" dirty="0">
              <a:solidFill>
                <a:srgbClr val="C00000"/>
              </a:solidFill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fr-BE" sz="3000" b="1" i="1" dirty="0">
              <a:solidFill>
                <a:srgbClr val="C00000"/>
              </a:solidFill>
            </a:endParaRPr>
          </a:p>
          <a:p>
            <a:pPr marL="0" indent="0" algn="ctr">
              <a:spcBef>
                <a:spcPts val="600"/>
              </a:spcBef>
              <a:buNone/>
              <a:defRPr/>
            </a:pPr>
            <a:endParaRPr lang="fr-BE" sz="3000" b="1" i="1" dirty="0">
              <a:solidFill>
                <a:srgbClr val="C00000"/>
              </a:solidFill>
            </a:endParaRPr>
          </a:p>
          <a:p>
            <a:pPr marL="0" indent="0" algn="ctr">
              <a:spcBef>
                <a:spcPts val="600"/>
              </a:spcBef>
              <a:buNone/>
              <a:defRPr/>
            </a:pPr>
            <a:endParaRPr lang="fr-BE" sz="3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/>
          </a:p>
        </p:txBody>
      </p:sp>
      <p:pic>
        <p:nvPicPr>
          <p:cNvPr id="10" name="Graphique 9" descr="Avertissement avec un remplissage uni">
            <a:extLst>
              <a:ext uri="{FF2B5EF4-FFF2-40B4-BE49-F238E27FC236}">
                <a16:creationId xmlns:a16="http://schemas.microsoft.com/office/drawing/2014/main" id="{B5016B59-E853-3202-D3AC-08AC2F1F7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547299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678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11. Indemnité complémentaire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/>
              <a:t>Montant minimum = </a:t>
            </a:r>
            <a:r>
              <a:rPr lang="fr-BE" sz="3000" b="1" dirty="0">
                <a:solidFill>
                  <a:srgbClr val="C00000"/>
                </a:solidFill>
              </a:rPr>
              <a:t>50% </a:t>
            </a:r>
            <a:r>
              <a:rPr lang="fr-BE" sz="3000" dirty="0"/>
              <a:t>de la </a:t>
            </a:r>
            <a:r>
              <a:rPr lang="fr-BE" sz="3000" b="1" dirty="0"/>
              <a:t>≠</a:t>
            </a:r>
            <a:r>
              <a:rPr lang="fr-BE" sz="3000" dirty="0"/>
              <a:t> entre le montant des </a:t>
            </a:r>
            <a:r>
              <a:rPr lang="fr-BE" sz="3000" b="1" dirty="0"/>
              <a:t>allocations de chômage</a:t>
            </a:r>
            <a:r>
              <a:rPr lang="fr-BE" sz="3000" dirty="0"/>
              <a:t> et le </a:t>
            </a:r>
            <a:r>
              <a:rPr lang="fr-BE" sz="3000" b="1" dirty="0"/>
              <a:t>salaire net</a:t>
            </a:r>
            <a:r>
              <a:rPr lang="fr-BE" sz="3000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fr-BE" sz="3000" b="1" dirty="0"/>
              <a:t>Fixée au moment du licenciement.</a:t>
            </a:r>
          </a:p>
          <a:p>
            <a:pPr marL="365125" indent="0">
              <a:spcBef>
                <a:spcPts val="0"/>
              </a:spcBef>
              <a:buNone/>
              <a:defRPr/>
            </a:pPr>
            <a:r>
              <a:rPr lang="fr-BE" sz="3000" dirty="0"/>
              <a:t>Et celle-ci peut être indexée au 1</a:t>
            </a:r>
            <a:r>
              <a:rPr lang="fr-BE" sz="3000" baseline="30000" dirty="0"/>
              <a:t>ier</a:t>
            </a:r>
            <a:r>
              <a:rPr lang="fr-BE" sz="3000" dirty="0"/>
              <a:t> janvier en fonction du « coefficient de revalorisation » fixé annuellement par le CNT.</a:t>
            </a:r>
          </a:p>
          <a:p>
            <a:pPr marL="365125" indent="0">
              <a:spcBef>
                <a:spcPts val="0"/>
              </a:spcBef>
              <a:buNone/>
              <a:defRPr/>
            </a:pP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fr-BE" sz="3000" dirty="0"/>
              <a:t>Une </a:t>
            </a:r>
            <a:r>
              <a:rPr lang="fr-BE" sz="3000" b="1" dirty="0"/>
              <a:t>retenue de 6,5% </a:t>
            </a:r>
            <a:r>
              <a:rPr lang="fr-BE" sz="3000" dirty="0"/>
              <a:t>du montant « allocations sociales + indemnité complémentaire » est effectué sur </a:t>
            </a:r>
            <a:r>
              <a:rPr lang="fr-BE" sz="3000"/>
              <a:t>l’indemnité complémentaire.</a:t>
            </a:r>
            <a:endParaRPr lang="fr-BE" sz="3000" dirty="0"/>
          </a:p>
          <a:p>
            <a:pPr marL="365125" indent="0">
              <a:spcBef>
                <a:spcPts val="0"/>
              </a:spcBef>
              <a:buNone/>
              <a:defRPr/>
            </a:pPr>
            <a:endParaRPr lang="fr-BE" sz="30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891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12. Bibliographie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fr-BE" sz="2000" b="1" u="sng" dirty="0" err="1"/>
              <a:t>Riolex</a:t>
            </a:r>
            <a:endParaRPr lang="fr-BE" sz="2000" b="1" u="sng" dirty="0"/>
          </a:p>
          <a:p>
            <a:pPr marL="0" indent="0" algn="ctr">
              <a:spcBef>
                <a:spcPts val="600"/>
              </a:spcBef>
              <a:buNone/>
            </a:pPr>
            <a:endParaRPr lang="fr-BE" sz="2000" b="1" u="sng" dirty="0"/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 err="1">
                <a:solidFill>
                  <a:srgbClr val="C00000"/>
                </a:solidFill>
              </a:rPr>
              <a:t>Riolex</a:t>
            </a:r>
            <a:r>
              <a:rPr lang="fr-BE" sz="1600" b="1" dirty="0">
                <a:solidFill>
                  <a:srgbClr val="C00000"/>
                </a:solidFill>
              </a:rPr>
              <a:t> – AR du 03/05/2007 </a:t>
            </a:r>
          </a:p>
          <a:p>
            <a:pPr marL="0" indent="0" algn="just">
              <a:spcBef>
                <a:spcPts val="600"/>
              </a:spcBef>
              <a:buNone/>
            </a:pPr>
            <a:endParaRPr lang="fr-BE" sz="1600" b="1" dirty="0">
              <a:solidFill>
                <a:srgbClr val="C0000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fr-BE" sz="2000" b="1" u="sng" dirty="0"/>
              <a:t>Riodoc</a:t>
            </a:r>
          </a:p>
          <a:p>
            <a:pPr marL="0" indent="0" algn="ctr">
              <a:spcBef>
                <a:spcPts val="600"/>
              </a:spcBef>
              <a:buNone/>
            </a:pPr>
            <a:endParaRPr lang="fr-BE" sz="2000" b="1" u="sng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>
                <a:solidFill>
                  <a:srgbClr val="C00000"/>
                </a:solidFill>
              </a:rPr>
              <a:t>Note Riodoc 100 147 – Document de synthèse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>
                <a:solidFill>
                  <a:srgbClr val="C00000"/>
                </a:solidFill>
              </a:rPr>
              <a:t>Note Riodoc 151 752 – Directives pour le traitement des demandes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Note Riodoc 140 056 – Harmonisation partielle des statuts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Note Riodoc 181 751 – Outplacement – Nouvelle réglementation à partir du 01.12.2018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Note Riodoc 071 132 – Manquement utilisation de carte de contrôle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A.04 – 093 230 – Droit ou obligation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B.02 – 071 922 - Condition 1 : L’employeur</a:t>
            </a:r>
          </a:p>
          <a:p>
            <a:pPr marL="0" indent="0">
              <a:spcBef>
                <a:spcPts val="600"/>
              </a:spcBef>
              <a:buNone/>
            </a:pPr>
            <a:endParaRPr lang="fr-BE" sz="3000" b="1" dirty="0"/>
          </a:p>
          <a:p>
            <a:pPr marL="365125" indent="0">
              <a:spcBef>
                <a:spcPts val="0"/>
              </a:spcBef>
              <a:buNone/>
              <a:defRPr/>
            </a:pPr>
            <a:endParaRPr lang="fr-BE" sz="30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835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9. Bibliographie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B.03 – 081 997 - Condition 2 : Le travailleur doit être licencié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B.04 – 081 998 - Condition 3 : Avoir droit aux allocations de chômage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B.09 – 082 103 - RCC à partir de 58 ans avec problèmes médicaux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B.18 – 071 915 - RCC – Calcul du passé professionnel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B.28 – 081 970 - RCC – Articles d’indemnisation S04 &amp; S02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B.29 – 120 465 - RCC – Fixation des conditions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Fiche Riodoc C.01 – 152 779 – RCC – Entreprises en restructuration ou en difficulté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Note Riodoc 093 180 - Liste des employeurs reconnus comme étant en restructuration ou en difficulté 	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1600" b="1" dirty="0"/>
              <a:t>Note Riodoc 152 706 - Utilisation des anciens formulaires C4 RCC</a:t>
            </a:r>
            <a:endParaRPr lang="fr-BE" sz="2000" b="1" dirty="0"/>
          </a:p>
          <a:p>
            <a:pPr marL="0" indent="0">
              <a:spcBef>
                <a:spcPts val="600"/>
              </a:spcBef>
              <a:buNone/>
            </a:pPr>
            <a:endParaRPr lang="fr-BE" sz="3000" b="1" dirty="0"/>
          </a:p>
          <a:p>
            <a:pPr marL="365125" indent="0">
              <a:spcBef>
                <a:spcPts val="0"/>
              </a:spcBef>
              <a:buNone/>
              <a:defRPr/>
            </a:pPr>
            <a:endParaRPr lang="fr-BE" sz="30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1050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5" ma:contentTypeDescription="Crée un document." ma:contentTypeScope="" ma:versionID="d4244a7d8751254152acbe39de457eaf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6f809ffd179f214ffaf2bf983589f92f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3C131F-246E-4C3D-95EB-A45011B1EBAB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7d2a3af0-b854-4018-b3fb-98bf2b75e19a"/>
    <ds:schemaRef ds:uri="http://www.w3.org/XML/1998/namespace"/>
    <ds:schemaRef ds:uri="http://purl.org/dc/elements/1.1/"/>
    <ds:schemaRef ds:uri="http://schemas.openxmlformats.org/package/2006/metadata/core-properties"/>
    <ds:schemaRef ds:uri="1e832426-6819-49af-b751-404cdfce1567"/>
    <ds:schemaRef ds:uri="bdec1399-7c99-4025-bfb6-e1e799e6630a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CC3ACFB-E2B4-4CA2-8267-F5CB60EE5F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7CC4BE-FA4D-44DA-84CB-B5EE83F280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12689</TotalTime>
  <Words>2378</Words>
  <Application>Microsoft Office PowerPoint</Application>
  <PresentationFormat>On-screen Show (4:3)</PresentationFormat>
  <Paragraphs>438</Paragraphs>
  <Slides>33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Thème Office</vt:lpstr>
      <vt:lpstr>RCC  Régime Chômage avec Complément d’entreprise AR du 03.05.2007</vt:lpstr>
      <vt:lpstr>Table des matières</vt:lpstr>
      <vt:lpstr>Table des matières</vt:lpstr>
      <vt:lpstr>1.1. RCC – Licenciement</vt:lpstr>
      <vt:lpstr>1.1. RCC – Licenciement</vt:lpstr>
      <vt:lpstr>1.2. RCC – Admissibilité CC</vt:lpstr>
      <vt:lpstr>1.3. RCC – La CCT</vt:lpstr>
      <vt:lpstr>1.3. RCC – La CCT</vt:lpstr>
      <vt:lpstr>1.4. RCC – Age</vt:lpstr>
      <vt:lpstr>1.4. RCC – Age – Exemple 1</vt:lpstr>
      <vt:lpstr>1.4. RCC – Age – Exemple 2</vt:lpstr>
      <vt:lpstr>1.4. RCC – Age – Exemple 3</vt:lpstr>
      <vt:lpstr>1.5. RCC – PP</vt:lpstr>
      <vt:lpstr>2. RCC – Aperçu général</vt:lpstr>
      <vt:lpstr>2. RCC – Aperçu général</vt:lpstr>
      <vt:lpstr>3. Remplacement du travailleur</vt:lpstr>
      <vt:lpstr>3. Remplacement du travailleur</vt:lpstr>
      <vt:lpstr>4. Droits &amp; obligations RCC  « anciens cas »</vt:lpstr>
      <vt:lpstr>4. Droits &amp; obligations RCC  « cas entrants »</vt:lpstr>
      <vt:lpstr>4. Droits &amp; obligations RCC  « cas entrants »</vt:lpstr>
      <vt:lpstr>5. Licenciement collectif la « cellule pour l’emploi »</vt:lpstr>
      <vt:lpstr>6. Licenciement individuel « Outplacement – régime général »</vt:lpstr>
      <vt:lpstr>6. Licenciement individuel « Outplacement – régime spécifique »</vt:lpstr>
      <vt:lpstr>6. Licenciement individuel « Outplacement »</vt:lpstr>
      <vt:lpstr>7. Constitution du dossier</vt:lpstr>
      <vt:lpstr>7. Constitution du dossier</vt:lpstr>
      <vt:lpstr>7. Constitution du dossier</vt:lpstr>
      <vt:lpstr>8. Délai d’introduction</vt:lpstr>
      <vt:lpstr>9. Réception de la C2 </vt:lpstr>
      <vt:lpstr>10. Indemnisation </vt:lpstr>
      <vt:lpstr>11. Indemnité complémentaire</vt:lpstr>
      <vt:lpstr>12. Bibliographie</vt:lpstr>
      <vt:lpstr>9. Bibliographie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FSP-M05-RCC- FLT -2022.07.05</dc:title>
  <dc:creator>u69lcr;u69tdr</dc:creator>
  <cp:lastModifiedBy>Jerome Martini</cp:lastModifiedBy>
  <cp:revision>686</cp:revision>
  <dcterms:created xsi:type="dcterms:W3CDTF">2010-09-22T12:12:06Z</dcterms:created>
  <dcterms:modified xsi:type="dcterms:W3CDTF">2023-09-05T12:48:09Z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139;#FCS formation senior|7e1aeef4-3046-4f78-a284-cec5c2bef1bf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17;#Admissibilité|d1ac0b1f-1e4c-4aa8-9a97-5b01e61985ba;#22;##Indemnisabilité|b5f95997-28b8-41b1-bbb7-1a3d8a5995b4;#18;##Vérités|91331765-02c2-47c0-8605-37a5a3e877f2;#36;##Vacances|ab505a86-c61c-48a5-b361-99af8670ba5a</vt:lpwstr>
  </property>
  <property fmtid="{D5CDD505-2E9C-101B-9397-08002B2CF9AE}" pid="7" name="Thème">
    <vt:lpwstr>61;#RCC: Droits ＆ Obligations|f4090fd5-0b2c-44a4-b0d3-08865045a287</vt:lpwstr>
  </property>
  <property fmtid="{D5CDD505-2E9C-101B-9397-08002B2CF9AE}" pid="8" name="Order">
    <vt:r8>19000</vt:r8>
  </property>
  <property fmtid="{D5CDD505-2E9C-101B-9397-08002B2CF9AE}" pid="9" name="_dlc_DocIdItemGuid">
    <vt:lpwstr>f8547a21-753d-42d8-b434-10eec9e7f2d9</vt:lpwstr>
  </property>
  <property fmtid="{D5CDD505-2E9C-101B-9397-08002B2CF9AE}" pid="10" name="AuthorIds_UIVersion_14848">
    <vt:lpwstr>19</vt:lpwstr>
  </property>
  <property fmtid="{D5CDD505-2E9C-101B-9397-08002B2CF9AE}" pid="11" name="AuthorIds_UIVersion_15360">
    <vt:lpwstr>19</vt:lpwstr>
  </property>
</Properties>
</file>