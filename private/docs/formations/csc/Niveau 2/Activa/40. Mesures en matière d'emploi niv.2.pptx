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636" r:id="rId5"/>
    <p:sldId id="257" r:id="rId6"/>
    <p:sldId id="642" r:id="rId7"/>
    <p:sldId id="260" r:id="rId8"/>
    <p:sldId id="262" r:id="rId9"/>
    <p:sldId id="268" r:id="rId10"/>
    <p:sldId id="269" r:id="rId11"/>
    <p:sldId id="270" r:id="rId12"/>
    <p:sldId id="273" r:id="rId13"/>
    <p:sldId id="643" r:id="rId14"/>
    <p:sldId id="319" r:id="rId15"/>
    <p:sldId id="275" r:id="rId16"/>
    <p:sldId id="276" r:id="rId17"/>
    <p:sldId id="321" r:id="rId18"/>
    <p:sldId id="292" r:id="rId19"/>
    <p:sldId id="320" r:id="rId20"/>
    <p:sldId id="280" r:id="rId21"/>
    <p:sldId id="286" r:id="rId22"/>
    <p:sldId id="325" r:id="rId23"/>
    <p:sldId id="322" r:id="rId24"/>
    <p:sldId id="327" r:id="rId25"/>
    <p:sldId id="291" r:id="rId26"/>
    <p:sldId id="328" r:id="rId27"/>
    <p:sldId id="298" r:id="rId28"/>
    <p:sldId id="632" r:id="rId29"/>
    <p:sldId id="300" r:id="rId30"/>
    <p:sldId id="305" r:id="rId31"/>
    <p:sldId id="306" r:id="rId32"/>
    <p:sldId id="307" r:id="rId33"/>
    <p:sldId id="633" r:id="rId34"/>
    <p:sldId id="634" r:id="rId35"/>
    <p:sldId id="635" r:id="rId36"/>
    <p:sldId id="615" r:id="rId37"/>
    <p:sldId id="616" r:id="rId38"/>
    <p:sldId id="622" r:id="rId39"/>
    <p:sldId id="631" r:id="rId4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3399"/>
    <a:srgbClr val="669900"/>
    <a:srgbClr val="FF9933"/>
    <a:srgbClr val="00FF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88" autoAdjust="0"/>
    <p:restoredTop sz="84369" autoAdjust="0"/>
  </p:normalViewPr>
  <p:slideViewPr>
    <p:cSldViewPr>
      <p:cViewPr varScale="1">
        <p:scale>
          <a:sx n="69" d="100"/>
          <a:sy n="69" d="100"/>
        </p:scale>
        <p:origin x="1810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14/12/2022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14/12/2022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7151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7</a:t>
            </a:fld>
            <a:endParaRPr lang="fr-F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555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5126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71461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10</a:t>
            </a:fld>
            <a:endParaRPr lang="fr-F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347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11</a:t>
            </a:fld>
            <a:endParaRPr lang="fr-F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26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9903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4271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0662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18766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6227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5247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04116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19016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30673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0392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B7598-6A2C-4803-A971-B21A40E3B1DC}" type="datetime1">
              <a:rPr lang="fr-FR" smtClean="0"/>
              <a:t>14/12/2022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2070-658A-4BA4-96EB-F8D7571932FC}" type="datetime1">
              <a:rPr lang="fr-FR" smtClean="0"/>
              <a:t>14/12/2022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E8507-624E-4034-8784-5768A254F469}" type="datetime1">
              <a:rPr lang="fr-FR" smtClean="0"/>
              <a:t>14/12/2022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CE55-37A3-4E0C-B009-6CAC84DA8280}" type="datetime1">
              <a:rPr lang="fr-FR" smtClean="0"/>
              <a:t>14/12/2022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CF61A-37A1-478A-83AC-D3AC0E4A81D9}" type="datetime1">
              <a:rPr lang="fr-FR" smtClean="0"/>
              <a:t>14/12/2022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78E54-B153-4785-A3E3-895B02CF9956}" type="datetime1">
              <a:rPr lang="fr-FR" smtClean="0"/>
              <a:t>14/12/2022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0799E-39DC-46F8-B9A6-9FCC70B4418F}" type="datetime1">
              <a:rPr lang="fr-FR" smtClean="0"/>
              <a:t>14/12/2022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91E9-FFB5-4F4F-96A3-A5898EA3BEC6}" type="datetime1">
              <a:rPr lang="fr-FR" smtClean="0"/>
              <a:t>14/12/2022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D16D9-B620-4081-97BA-7989F10686CE}" type="datetime1">
              <a:rPr lang="fr-FR" smtClean="0"/>
              <a:t>14/12/2022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1A84-1F6A-4697-915C-8CED1A4F22D4}" type="datetime1">
              <a:rPr lang="fr-FR" smtClean="0"/>
              <a:t>14/12/2022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7ED5-DA29-48EB-A182-B02B3276C0F7}" type="datetime1">
              <a:rPr lang="fr-FR" smtClean="0"/>
              <a:t>14/12/2022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7391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228600" y="1981200"/>
            <a:ext cx="7391400" cy="4114800"/>
          </a:xfrm>
        </p:spPr>
        <p:txBody>
          <a:bodyPr/>
          <a:lstStyle/>
          <a:p>
            <a:pPr lvl="0"/>
            <a:r>
              <a:rPr lang="fr-FR" noProof="0" dirty="0"/>
              <a:t>Cliquez sur l'icône pour ajouter un tableau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D713C-6AB0-4950-9672-CBA7C0E4D06A}" type="datetime1">
              <a:rPr lang="fr-FR" smtClean="0"/>
              <a:t>14/12/2022</a:t>
            </a:fld>
            <a:endParaRPr 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1126E2-B633-460E-B2FC-238B1E9D24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57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EC08E-C548-494A-BAC9-6AE1E4A791D1}" type="datetime1">
              <a:rPr lang="fr-FR" smtClean="0"/>
              <a:t>14/12/2022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fr-BE" sz="5400" b="1" i="1" dirty="0">
                <a:latin typeface="+mj-lt"/>
                <a:cs typeface="Times New Roman" pitchFamily="18" charset="0"/>
              </a:rPr>
              <a:t>FCJ – Module 40</a:t>
            </a:r>
          </a:p>
          <a:p>
            <a:pPr algn="ctr">
              <a:buNone/>
            </a:pPr>
            <a:r>
              <a:rPr lang="fr-BE" sz="5400" b="1" i="1" dirty="0">
                <a:latin typeface="+mj-lt"/>
                <a:cs typeface="Times New Roman" pitchFamily="18" charset="0"/>
              </a:rPr>
              <a:t>Mesures en matière d’emploi</a:t>
            </a:r>
          </a:p>
          <a:p>
            <a:pPr algn="ctr">
              <a:buNone/>
            </a:pPr>
            <a:r>
              <a:rPr lang="fr-BE" sz="3600" b="1" i="1" dirty="0">
                <a:latin typeface="+mj-lt"/>
                <a:cs typeface="Times New Roman" pitchFamily="18" charset="0"/>
              </a:rPr>
              <a:t>Niv.2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395536" y="616530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Version 14.12.2022</a:t>
            </a:r>
          </a:p>
        </p:txBody>
      </p:sp>
    </p:spTree>
    <p:extLst>
      <p:ext uri="{BB962C8B-B14F-4D97-AF65-F5344CB8AC3E}">
        <p14:creationId xmlns:p14="http://schemas.microsoft.com/office/powerpoint/2010/main" val="143415321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i="1" dirty="0">
                <a:solidFill>
                  <a:srgbClr val="C00000"/>
                </a:solidFill>
              </a:rPr>
              <a:t>Table des matières</a:t>
            </a:r>
            <a:endParaRPr lang="fr-FR" b="1" i="1" dirty="0">
              <a:solidFill>
                <a:srgbClr val="C00000"/>
              </a:solidFill>
            </a:endParaRPr>
          </a:p>
        </p:txBody>
      </p:sp>
      <p:sp>
        <p:nvSpPr>
          <p:cNvPr id="15" name="Espace réservé du contenu 1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BE" sz="2400" dirty="0"/>
              <a:t>Rappel 							</a:t>
            </a:r>
          </a:p>
          <a:p>
            <a:pPr marL="457200" indent="-457200">
              <a:buFont typeface="+mj-lt"/>
              <a:buAutoNum type="arabicPeriod"/>
            </a:pPr>
            <a:r>
              <a:rPr lang="fr-BE" sz="2400" dirty="0"/>
              <a:t>Aperçu par Régions					P. 4</a:t>
            </a:r>
          </a:p>
          <a:p>
            <a:pPr marL="457200" indent="-457200">
              <a:buFont typeface="+mj-lt"/>
              <a:buAutoNum type="arabicPeriod"/>
            </a:pPr>
            <a:r>
              <a:rPr lang="fr-BE" sz="2400" dirty="0"/>
              <a:t>Impulsion							P. 5</a:t>
            </a:r>
          </a:p>
          <a:p>
            <a:pPr marL="0" indent="0">
              <a:buNone/>
            </a:pPr>
            <a:r>
              <a:rPr lang="fr-BE" sz="2400" dirty="0"/>
              <a:t>	3.1  Nouvelle DA					p. 6</a:t>
            </a:r>
          </a:p>
          <a:p>
            <a:pPr marL="0" indent="0">
              <a:buNone/>
            </a:pPr>
            <a:r>
              <a:rPr lang="fr-BE" sz="2400" dirty="0"/>
              <a:t>	3.2  Portabilité						p. 9</a:t>
            </a:r>
          </a:p>
          <a:p>
            <a:pPr marL="0" indent="0">
              <a:buNone/>
            </a:pPr>
            <a:r>
              <a:rPr lang="fr-BE" sz="2400" dirty="0"/>
              <a:t>	3.3  Chronologie					p. 12</a:t>
            </a:r>
          </a:p>
          <a:p>
            <a:pPr marL="0" indent="0">
              <a:buNone/>
            </a:pPr>
            <a:r>
              <a:rPr lang="fr-BE" sz="2400" dirty="0"/>
              <a:t>	3.4   Déménagement					p. 14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4031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i="1" dirty="0">
                <a:solidFill>
                  <a:srgbClr val="C00000"/>
                </a:solidFill>
              </a:rPr>
              <a:t>Table des matières</a:t>
            </a:r>
            <a:endParaRPr lang="fr-FR" b="1" i="1" dirty="0">
              <a:solidFill>
                <a:srgbClr val="C00000"/>
              </a:solidFill>
            </a:endParaRPr>
          </a:p>
        </p:txBody>
      </p:sp>
      <p:sp>
        <p:nvSpPr>
          <p:cNvPr id="15" name="Espace réservé du contenu 1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400" dirty="0"/>
              <a:t>4.  Activa-Bruxelles						p. 16</a:t>
            </a:r>
          </a:p>
          <a:p>
            <a:pPr marL="400050" lvl="1" indent="0">
              <a:buNone/>
            </a:pPr>
            <a:r>
              <a:rPr lang="fr-BE" sz="2400" dirty="0"/>
              <a:t>	4.1   DA						p. 17</a:t>
            </a:r>
          </a:p>
          <a:p>
            <a:pPr marL="400050" lvl="1" indent="0">
              <a:buNone/>
            </a:pPr>
            <a:r>
              <a:rPr lang="fr-BE" sz="2400" dirty="0"/>
              <a:t>	4.2   Durée Avantage					p. 18</a:t>
            </a:r>
          </a:p>
          <a:p>
            <a:pPr marL="0" indent="0">
              <a:buNone/>
            </a:pPr>
            <a:r>
              <a:rPr lang="fr-BE" sz="2400" dirty="0"/>
              <a:t>5.  Sine								P. 20</a:t>
            </a:r>
          </a:p>
          <a:p>
            <a:pPr marL="0" indent="0">
              <a:buNone/>
            </a:pPr>
            <a:r>
              <a:rPr lang="fr-BE" sz="2400" dirty="0"/>
              <a:t>	5.1 Déménagement					p. 21</a:t>
            </a:r>
          </a:p>
          <a:p>
            <a:pPr marL="0" indent="0">
              <a:buNone/>
            </a:pPr>
            <a:r>
              <a:rPr lang="fr-BE" sz="2400" dirty="0"/>
              <a:t>6.  Le Programme de Transition Professionnelle 		P. 24</a:t>
            </a:r>
          </a:p>
          <a:p>
            <a:pPr marL="400050" lvl="1" indent="0">
              <a:buNone/>
            </a:pPr>
            <a:r>
              <a:rPr lang="fr-BE" sz="2000" dirty="0"/>
              <a:t>	</a:t>
            </a:r>
            <a:r>
              <a:rPr lang="fr-BE" sz="2400" dirty="0"/>
              <a:t>6.1  D.A						P. 28</a:t>
            </a:r>
          </a:p>
          <a:p>
            <a:pPr marL="400050" lvl="1" indent="0">
              <a:buNone/>
            </a:pPr>
            <a:r>
              <a:rPr lang="fr-BE" sz="2400" dirty="0"/>
              <a:t>	6.2  Allocation d’Intégration				P. 29</a:t>
            </a:r>
          </a:p>
          <a:p>
            <a:pPr marL="400050" lvl="1" indent="0">
              <a:buNone/>
            </a:pPr>
            <a:r>
              <a:rPr lang="fr-BE" sz="2400" dirty="0"/>
              <a:t>	6.3 Déménagement					P. 31</a:t>
            </a:r>
          </a:p>
          <a:p>
            <a:pPr marL="400050" lvl="1" indent="0">
              <a:buNone/>
            </a:pPr>
            <a:r>
              <a:rPr lang="fr-BE" sz="2400" dirty="0"/>
              <a:t>                                                                                              </a:t>
            </a:r>
          </a:p>
          <a:p>
            <a:pPr marL="400050" lvl="1" indent="0">
              <a:buNone/>
            </a:pPr>
            <a:r>
              <a:rPr lang="fr-BE" sz="2400" b="1" dirty="0"/>
              <a:t>Contrôles Horizon et Tâches</a:t>
            </a:r>
            <a:r>
              <a:rPr lang="fr-BE" sz="2400" dirty="0"/>
              <a:t>				P. 34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0092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dirty="0"/>
              <a:t>2. Aperçu  des régimes par région</a:t>
            </a:r>
            <a:endParaRPr lang="en-US" b="1" i="1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525963"/>
          </a:xfrm>
        </p:spPr>
        <p:txBody>
          <a:bodyPr>
            <a:normAutofit fontScale="92500" lnSpcReduction="20000"/>
          </a:bodyPr>
          <a:lstStyle/>
          <a:p>
            <a:r>
              <a:rPr lang="fr-BE" sz="2400" b="1" u="sng" dirty="0">
                <a:solidFill>
                  <a:srgbClr val="C00000"/>
                </a:solidFill>
              </a:rPr>
              <a:t>Région flamande</a:t>
            </a:r>
            <a:r>
              <a:rPr lang="fr-BE" sz="2400" b="1" dirty="0">
                <a:solidFill>
                  <a:srgbClr val="C00000"/>
                </a:solidFill>
              </a:rPr>
              <a:t>:</a:t>
            </a:r>
            <a:r>
              <a:rPr lang="fr-BE" sz="2400" b="1" dirty="0"/>
              <a:t> </a:t>
            </a:r>
            <a:r>
              <a:rPr lang="fr-BE" sz="2400" dirty="0"/>
              <a:t>Adaptation de la règlementation et suppression progressive des différents régimes Activa et PTP (sauf Activa APS)</a:t>
            </a:r>
          </a:p>
          <a:p>
            <a:r>
              <a:rPr lang="fr-BE" sz="2400" b="1" u="sng" dirty="0">
                <a:solidFill>
                  <a:srgbClr val="C00000"/>
                </a:solidFill>
              </a:rPr>
              <a:t>Communauté germanophone</a:t>
            </a:r>
            <a:r>
              <a:rPr lang="fr-BE" sz="2400" b="1" dirty="0">
                <a:solidFill>
                  <a:srgbClr val="C00000"/>
                </a:solidFill>
              </a:rPr>
              <a:t>:</a:t>
            </a:r>
            <a:r>
              <a:rPr lang="fr-BE" sz="2400" b="1" dirty="0">
                <a:solidFill>
                  <a:srgbClr val="FF0000"/>
                </a:solidFill>
              </a:rPr>
              <a:t> </a:t>
            </a:r>
            <a:r>
              <a:rPr lang="fr-BE" sz="2400" dirty="0"/>
              <a:t>Adaptation de la règlementation et suppression progressives des régimes d’aides à l’emploi « fédéraux » </a:t>
            </a:r>
            <a:r>
              <a:rPr lang="fr-BE" sz="2400" dirty="0">
                <a:sym typeface="Wingdings" panose="05000000000000000000" pitchFamily="2" charset="2"/>
              </a:rPr>
              <a:t> BC et OP n’interviennent plus dans les nouveaux régimes mis en place</a:t>
            </a:r>
            <a:endParaRPr lang="fr-BE" sz="2400" dirty="0"/>
          </a:p>
          <a:p>
            <a:r>
              <a:rPr lang="fr-BE" sz="2400" b="1" u="sng" dirty="0">
                <a:solidFill>
                  <a:srgbClr val="C00000"/>
                </a:solidFill>
              </a:rPr>
              <a:t>Région wallonne</a:t>
            </a:r>
            <a:r>
              <a:rPr lang="fr-BE" sz="2400" b="1" dirty="0">
                <a:solidFill>
                  <a:srgbClr val="C00000"/>
                </a:solidFill>
              </a:rPr>
              <a:t>: </a:t>
            </a:r>
            <a:r>
              <a:rPr lang="fr-BE" sz="2400" dirty="0"/>
              <a:t>Adaptation de la règlementation et suppression  des régimes  Activa et PTP depuis le 01/07/2017 </a:t>
            </a:r>
            <a:r>
              <a:rPr lang="fr-BE" sz="2400" dirty="0">
                <a:sym typeface="Wingdings" panose="05000000000000000000" pitchFamily="2" charset="2"/>
              </a:rPr>
              <a:t> régime « Impulsion »</a:t>
            </a:r>
            <a:endParaRPr lang="fr-BE" sz="2400" dirty="0"/>
          </a:p>
          <a:p>
            <a:r>
              <a:rPr lang="fr-BE" sz="2400" b="1" u="sng" dirty="0">
                <a:solidFill>
                  <a:srgbClr val="C00000"/>
                </a:solidFill>
              </a:rPr>
              <a:t>Région Bruxelles-Capitale</a:t>
            </a:r>
            <a:r>
              <a:rPr lang="fr-BE" sz="2400" b="1" dirty="0">
                <a:solidFill>
                  <a:srgbClr val="C00000"/>
                </a:solidFill>
              </a:rPr>
              <a:t>: </a:t>
            </a:r>
            <a:r>
              <a:rPr lang="fr-BE" sz="2400" dirty="0"/>
              <a:t>Adaptation de la règlementation et suppression des régimes  Activa depuis le 01/10/2017  </a:t>
            </a:r>
            <a:r>
              <a:rPr lang="fr-BE" sz="2400" dirty="0">
                <a:sym typeface="Wingdings" panose="05000000000000000000" pitchFamily="2" charset="2"/>
              </a:rPr>
              <a:t> régime « Activa-Bruxelles »</a:t>
            </a:r>
            <a:endParaRPr lang="fr-BE" sz="2400" dirty="0"/>
          </a:p>
          <a:p>
            <a:endParaRPr lang="fr-BE" sz="2400" dirty="0"/>
          </a:p>
          <a:p>
            <a:pPr marL="0" indent="0" algn="ctr">
              <a:buNone/>
            </a:pPr>
            <a:r>
              <a:rPr lang="fr-BE" sz="2400" b="1" dirty="0">
                <a:sym typeface="Wingdings" panose="05000000000000000000" pitchFamily="2" charset="2"/>
              </a:rPr>
              <a:t> A ce jour l’ONEm reste habilité à traiter les demandes d’allocations et à payer</a:t>
            </a:r>
            <a:endParaRPr lang="fr-BE" sz="2400" b="1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46452776"/>
      </p:ext>
    </p:extLst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 3. Impulsion</a:t>
            </a:r>
            <a:endParaRPr lang="fr-BE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BE" sz="2000" dirty="0"/>
              <a:t>En région wallonne, mise en place des plans « Impulsion »</a:t>
            </a:r>
          </a:p>
          <a:p>
            <a:pPr marL="358775" indent="0">
              <a:buNone/>
            </a:pPr>
            <a:r>
              <a:rPr lang="fr-BE" sz="2000" b="1" u="sng" dirty="0"/>
              <a:t>3 Mesures:</a:t>
            </a:r>
          </a:p>
          <a:p>
            <a:pPr marL="1216025" lvl="1" indent="-457200">
              <a:buFont typeface="Wingdings" panose="05000000000000000000" pitchFamily="2" charset="2"/>
              <a:buChar char="§"/>
            </a:pPr>
            <a:r>
              <a:rPr lang="fr-BE" sz="1800" b="1" dirty="0">
                <a:solidFill>
                  <a:srgbClr val="C00000"/>
                </a:solidFill>
              </a:rPr>
              <a:t>Impulsion – 25 ans     </a:t>
            </a:r>
          </a:p>
          <a:p>
            <a:pPr marL="1216025" lvl="1" indent="-457200">
              <a:buFont typeface="Wingdings" panose="05000000000000000000" pitchFamily="2" charset="2"/>
              <a:buChar char="§"/>
            </a:pPr>
            <a:r>
              <a:rPr lang="fr-BE" sz="1800" b="1" dirty="0">
                <a:solidFill>
                  <a:srgbClr val="C00000"/>
                </a:solidFill>
              </a:rPr>
              <a:t>Impulsion 12 mois +   </a:t>
            </a:r>
          </a:p>
          <a:p>
            <a:pPr marL="1216025" lvl="1" indent="-457200">
              <a:buFont typeface="Wingdings" panose="05000000000000000000" pitchFamily="2" charset="2"/>
              <a:buChar char="§"/>
            </a:pPr>
            <a:r>
              <a:rPr lang="fr-BE" sz="1800" b="1" dirty="0">
                <a:solidFill>
                  <a:srgbClr val="C00000"/>
                </a:solidFill>
              </a:rPr>
              <a:t>Impulsion 55 ans +</a:t>
            </a:r>
          </a:p>
          <a:p>
            <a:pPr marL="1216025" lvl="1" indent="-457200"/>
            <a:endParaRPr lang="fr-BE" sz="1800" dirty="0"/>
          </a:p>
          <a:p>
            <a:r>
              <a:rPr lang="fr-BE" sz="2000" dirty="0"/>
              <a:t>L’ONEM prend en charge une partie de la rémunération nette du travailleur par </a:t>
            </a:r>
            <a:r>
              <a:rPr lang="fr-BE" sz="2000" b="1" dirty="0">
                <a:solidFill>
                  <a:srgbClr val="C00000"/>
                </a:solidFill>
              </a:rPr>
              <a:t>l’allocation de travail</a:t>
            </a:r>
            <a:r>
              <a:rPr lang="fr-BE" sz="2000" b="1" dirty="0">
                <a:solidFill>
                  <a:srgbClr val="0033CC"/>
                </a:solidFill>
              </a:rPr>
              <a:t> </a:t>
            </a:r>
            <a:r>
              <a:rPr lang="fr-BE" sz="2000" dirty="0"/>
              <a:t>(sauf « Impulsion 55 ans + »)</a:t>
            </a:r>
          </a:p>
          <a:p>
            <a:pPr marL="0" indent="0">
              <a:buNone/>
            </a:pPr>
            <a:endParaRPr lang="fr-BE" sz="2000" dirty="0"/>
          </a:p>
          <a:p>
            <a:r>
              <a:rPr lang="fr-BE" sz="2000" b="1" dirty="0"/>
              <a:t>Diminution du </a:t>
            </a:r>
            <a:r>
              <a:rPr lang="fr-BE" sz="2000" b="1" dirty="0">
                <a:solidFill>
                  <a:srgbClr val="C00000"/>
                </a:solidFill>
              </a:rPr>
              <a:t>montant des cotisations ONSS </a:t>
            </a:r>
            <a:r>
              <a:rPr lang="fr-BE" sz="2000" dirty="0"/>
              <a:t>patronales pour le régime « Impulsion 55 ans+ »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 dirty="0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42A5ACA7-0963-4C53-8E68-0CE54A223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232162"/>
              </p:ext>
            </p:extLst>
          </p:nvPr>
        </p:nvGraphicFramePr>
        <p:xfrm>
          <a:off x="4067944" y="2204864"/>
          <a:ext cx="417646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11371115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86765008"/>
                    </a:ext>
                  </a:extLst>
                </a:gridCol>
                <a:gridCol w="1944217">
                  <a:extLst>
                    <a:ext uri="{9D8B030D-6E8A-4147-A177-3AD203B41FA5}">
                      <a16:colId xmlns:a16="http://schemas.microsoft.com/office/drawing/2014/main" val="3558505665"/>
                    </a:ext>
                  </a:extLst>
                </a:gridCol>
              </a:tblGrid>
              <a:tr h="329756">
                <a:tc>
                  <a:txBody>
                    <a:bodyPr/>
                    <a:lstStyle/>
                    <a:p>
                      <a:r>
                        <a:rPr lang="fr-BE" dirty="0"/>
                        <a:t>G/WA..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24, 6, 6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500, 250, 125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851768"/>
                  </a:ext>
                </a:extLst>
              </a:tr>
              <a:tr h="329756">
                <a:tc>
                  <a:txBody>
                    <a:bodyPr/>
                    <a:lstStyle/>
                    <a:p>
                      <a:r>
                        <a:rPr lang="fr-BE" dirty="0"/>
                        <a:t>G/WB..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12, 6, 6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500, 250, 125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912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366964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b="1" i="1" dirty="0">
                <a:cs typeface="Times New Roman" pitchFamily="18" charset="0"/>
              </a:rPr>
              <a:t>3.1 DA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7118" y="1624012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tabLst>
                <a:tab pos="1349375" algn="l"/>
              </a:tabLst>
            </a:pPr>
            <a:r>
              <a:rPr lang="fr-BE" sz="2400" b="1" dirty="0">
                <a:solidFill>
                  <a:srgbClr val="C00000"/>
                </a:solidFill>
                <a:cs typeface="Times New Roman" pitchFamily="18" charset="0"/>
              </a:rPr>
              <a:t>Délai</a:t>
            </a:r>
            <a:r>
              <a:rPr lang="fr-BE" sz="2400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fr-BE" sz="2400" dirty="0">
                <a:cs typeface="Times New Roman" pitchFamily="18" charset="0"/>
              </a:rPr>
              <a:t>: fin du 2</a:t>
            </a:r>
            <a:r>
              <a:rPr lang="fr-BE" sz="2400" baseline="30000" dirty="0">
                <a:cs typeface="Times New Roman" pitchFamily="18" charset="0"/>
              </a:rPr>
              <a:t>ème</a:t>
            </a:r>
            <a:r>
              <a:rPr lang="fr-BE" sz="2400" dirty="0">
                <a:cs typeface="Times New Roman" pitchFamily="18" charset="0"/>
              </a:rPr>
              <a:t> mois qui suit l’entrée en service </a:t>
            </a:r>
            <a:r>
              <a:rPr lang="en-GB" sz="2400" dirty="0">
                <a:cs typeface="Times New Roman" pitchFamily="18" charset="0"/>
              </a:rPr>
              <a:t>(AM 92&amp;5 non applicable)</a:t>
            </a:r>
          </a:p>
          <a:p>
            <a:pPr marL="358775" indent="0">
              <a:lnSpc>
                <a:spcPct val="90000"/>
              </a:lnSpc>
              <a:buNone/>
              <a:tabLst>
                <a:tab pos="1349375" algn="l"/>
              </a:tabLst>
            </a:pPr>
            <a:endParaRPr lang="fr-BE" sz="2400" b="1" dirty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fr-BE" sz="2400" b="1" dirty="0">
                <a:solidFill>
                  <a:srgbClr val="C00000"/>
                </a:solidFill>
                <a:cs typeface="Times New Roman" pitchFamily="18" charset="0"/>
              </a:rPr>
              <a:t>Nouvelle D.A:</a:t>
            </a:r>
          </a:p>
          <a:p>
            <a:pPr lvl="1">
              <a:lnSpc>
                <a:spcPct val="90000"/>
              </a:lnSpc>
            </a:pPr>
            <a:r>
              <a:rPr lang="fr-BE" sz="2200" dirty="0">
                <a:cs typeface="Times New Roman" pitchFamily="18" charset="0"/>
              </a:rPr>
              <a:t>En cas de </a:t>
            </a:r>
            <a:r>
              <a:rPr lang="fr-BE" sz="2200" b="1" dirty="0">
                <a:cs typeface="Times New Roman" pitchFamily="18" charset="0"/>
              </a:rPr>
              <a:t>changement d’employeur </a:t>
            </a:r>
          </a:p>
          <a:p>
            <a:pPr lvl="1">
              <a:lnSpc>
                <a:spcPct val="90000"/>
              </a:lnSpc>
            </a:pPr>
            <a:r>
              <a:rPr lang="fr-BE" sz="2200" dirty="0">
                <a:cs typeface="Times New Roman" pitchFamily="18" charset="0"/>
              </a:rPr>
              <a:t>Si il y a une </a:t>
            </a:r>
            <a:r>
              <a:rPr lang="fr-BE" sz="2200" b="1" dirty="0">
                <a:cs typeface="Times New Roman" pitchFamily="18" charset="0"/>
              </a:rPr>
              <a:t>interruption de plus de 12 mois entre deux occupations</a:t>
            </a:r>
            <a:r>
              <a:rPr lang="fr-BE" sz="2200" dirty="0">
                <a:cs typeface="Times New Roman" pitchFamily="18" charset="0"/>
              </a:rPr>
              <a:t> pour un même employeur</a:t>
            </a:r>
          </a:p>
          <a:p>
            <a:pPr lvl="1">
              <a:lnSpc>
                <a:spcPct val="90000"/>
              </a:lnSpc>
            </a:pPr>
            <a:r>
              <a:rPr lang="fr-BE" sz="2200" dirty="0">
                <a:cs typeface="Times New Roman" pitchFamily="18" charset="0"/>
              </a:rPr>
              <a:t>Après une </a:t>
            </a:r>
            <a:r>
              <a:rPr lang="fr-BE" sz="2200" b="1" dirty="0">
                <a:cs typeface="Times New Roman" pitchFamily="18" charset="0"/>
              </a:rPr>
              <a:t>suspension de l’allocation suite à un déménagement </a:t>
            </a:r>
            <a:r>
              <a:rPr lang="fr-BE" sz="2200" dirty="0">
                <a:cs typeface="Times New Roman" pitchFamily="18" charset="0"/>
              </a:rPr>
              <a:t>dans une autre région si l’intéressé déménage à nouveau vers la région wallonne 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GB" sz="2200" dirty="0"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br>
              <a:rPr lang="en-GB" sz="2400" b="1" dirty="0">
                <a:cs typeface="Times New Roman" pitchFamily="18" charset="0"/>
              </a:rPr>
            </a:br>
            <a:r>
              <a:rPr lang="en-GB" sz="2400" dirty="0">
                <a:cs typeface="Times New Roman" pitchFamily="18" charset="0"/>
              </a:rPr>
              <a:t>	</a:t>
            </a:r>
          </a:p>
          <a:p>
            <a:pPr>
              <a:lnSpc>
                <a:spcPct val="90000"/>
              </a:lnSpc>
              <a:tabLst>
                <a:tab pos="1349375" algn="l"/>
              </a:tabLst>
            </a:pPr>
            <a:endParaRPr lang="en-GB" sz="2400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351568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3.1 DA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36" name="ZoneTexte 35"/>
          <p:cNvSpPr txBox="1"/>
          <p:nvPr/>
        </p:nvSpPr>
        <p:spPr>
          <a:xfrm>
            <a:off x="781254" y="3266514"/>
            <a:ext cx="194732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EMP A 32/38</a:t>
            </a:r>
          </a:p>
        </p:txBody>
      </p:sp>
      <p:cxnSp>
        <p:nvCxnSpPr>
          <p:cNvPr id="43" name="Connecteur droit avec flèche 42"/>
          <p:cNvCxnSpPr>
            <a:stCxn id="44" idx="0"/>
          </p:cNvCxnSpPr>
          <p:nvPr/>
        </p:nvCxnSpPr>
        <p:spPr>
          <a:xfrm flipV="1">
            <a:off x="781254" y="3671872"/>
            <a:ext cx="0" cy="1117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270518" y="4789776"/>
            <a:ext cx="102147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01/01/21,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EMPL A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Impulsion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- 25 ans</a:t>
            </a:r>
            <a:r>
              <a:rPr lang="fr-BE" sz="1200" b="1" dirty="0">
                <a:solidFill>
                  <a:srgbClr val="FF0000"/>
                </a:solidFill>
              </a:rPr>
              <a:t> </a:t>
            </a:r>
            <a:r>
              <a:rPr lang="fr-BE" sz="1200" b="1" dirty="0"/>
              <a:t>+TTPMD 99/</a:t>
            </a:r>
            <a:endParaRPr lang="fr-BE" sz="1200" b="1" dirty="0">
              <a:solidFill>
                <a:srgbClr val="FF0000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4018373" y="3259217"/>
            <a:ext cx="141772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EMP B 38/38</a:t>
            </a:r>
          </a:p>
        </p:txBody>
      </p:sp>
      <p:cxnSp>
        <p:nvCxnSpPr>
          <p:cNvPr id="26" name="Connecteur droit avec flèche 25"/>
          <p:cNvCxnSpPr/>
          <p:nvPr/>
        </p:nvCxnSpPr>
        <p:spPr>
          <a:xfrm flipV="1">
            <a:off x="2748929" y="3643142"/>
            <a:ext cx="0" cy="8640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/>
        </p:nvSpPr>
        <p:spPr>
          <a:xfrm>
            <a:off x="2238193" y="4528281"/>
            <a:ext cx="102147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CC</a:t>
            </a:r>
          </a:p>
          <a:p>
            <a:pPr algn="ctr"/>
            <a:r>
              <a:rPr lang="fr-BE" sz="1400" b="1" dirty="0"/>
              <a:t>31/12/21</a:t>
            </a:r>
          </a:p>
          <a:p>
            <a:pPr algn="ctr"/>
            <a:r>
              <a:rPr lang="fr-BE" sz="1100" b="1" dirty="0">
                <a:solidFill>
                  <a:srgbClr val="FF0000"/>
                </a:solidFill>
              </a:rPr>
              <a:t> </a:t>
            </a:r>
            <a:r>
              <a:rPr lang="fr-BE" sz="1100" b="1" dirty="0">
                <a:solidFill>
                  <a:srgbClr val="C00000"/>
                </a:solidFill>
                <a:sym typeface="Wingdings" panose="05000000000000000000" pitchFamily="2" charset="2"/>
              </a:rPr>
              <a:t> S07 et S29 restent ouverts pour EMPL A</a:t>
            </a:r>
            <a:endParaRPr lang="fr-BE" sz="1100" b="1" dirty="0">
              <a:solidFill>
                <a:srgbClr val="C00000"/>
              </a:solidFill>
            </a:endParaRPr>
          </a:p>
        </p:txBody>
      </p:sp>
      <p:cxnSp>
        <p:nvCxnSpPr>
          <p:cNvPr id="33" name="Connecteur droit avec flèche 32"/>
          <p:cNvCxnSpPr/>
          <p:nvPr/>
        </p:nvCxnSpPr>
        <p:spPr>
          <a:xfrm flipV="1">
            <a:off x="477089" y="3643142"/>
            <a:ext cx="8435280" cy="213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 dirty="0"/>
          </a:p>
        </p:txBody>
      </p:sp>
      <p:cxnSp>
        <p:nvCxnSpPr>
          <p:cNvPr id="20" name="Connecteur droit avec flèche 19"/>
          <p:cNvCxnSpPr/>
          <p:nvPr/>
        </p:nvCxnSpPr>
        <p:spPr>
          <a:xfrm flipV="1">
            <a:off x="4018373" y="3666320"/>
            <a:ext cx="1" cy="1571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3537512" y="5274032"/>
            <a:ext cx="10214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01/04/22 ?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EMPL B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Impulsion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- 25 ans</a:t>
            </a:r>
            <a:r>
              <a:rPr lang="fr-BE" sz="1200" b="1" dirty="0">
                <a:solidFill>
                  <a:srgbClr val="FF0000"/>
                </a:solidFill>
              </a:rPr>
              <a:t> </a:t>
            </a:r>
          </a:p>
        </p:txBody>
      </p:sp>
      <p:cxnSp>
        <p:nvCxnSpPr>
          <p:cNvPr id="28" name="Connecteur droit avec flèche 27"/>
          <p:cNvCxnSpPr/>
          <p:nvPr/>
        </p:nvCxnSpPr>
        <p:spPr>
          <a:xfrm flipH="1" flipV="1">
            <a:off x="5415413" y="3664188"/>
            <a:ext cx="5479" cy="11366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4875718" y="4775514"/>
            <a:ext cx="1021472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CC</a:t>
            </a:r>
          </a:p>
          <a:p>
            <a:pPr algn="ctr"/>
            <a:r>
              <a:rPr lang="fr-BE" sz="1400" b="1" dirty="0"/>
              <a:t>31/08/22</a:t>
            </a:r>
          </a:p>
          <a:p>
            <a:pPr algn="ctr"/>
            <a:r>
              <a:rPr lang="fr-BE" sz="1100" b="1" dirty="0">
                <a:solidFill>
                  <a:srgbClr val="C00000"/>
                </a:solidFill>
                <a:sym typeface="Wingdings" panose="05000000000000000000" pitchFamily="2" charset="2"/>
              </a:rPr>
              <a:t> S07 et S29 restent ouverts pour EMPL B</a:t>
            </a:r>
            <a:endParaRPr lang="fr-BE" sz="1100" b="1" dirty="0">
              <a:solidFill>
                <a:srgbClr val="C00000"/>
              </a:solidFill>
            </a:endParaRPr>
          </a:p>
          <a:p>
            <a:pPr algn="ctr"/>
            <a:r>
              <a:rPr lang="fr-BE" sz="1100" b="1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6847469" y="3273810"/>
            <a:ext cx="194732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EMP A 38/38</a:t>
            </a:r>
          </a:p>
        </p:txBody>
      </p:sp>
      <p:cxnSp>
        <p:nvCxnSpPr>
          <p:cNvPr id="32" name="Connecteur droit avec flèche 31"/>
          <p:cNvCxnSpPr/>
          <p:nvPr/>
        </p:nvCxnSpPr>
        <p:spPr>
          <a:xfrm flipV="1">
            <a:off x="6847469" y="3659807"/>
            <a:ext cx="0" cy="8069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>
          <a:xfrm>
            <a:off x="5807131" y="5828127"/>
            <a:ext cx="264790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Pas de DA  impulsion EMPL A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14/12/22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  <a:sym typeface="Wingdings" panose="05000000000000000000" pitchFamily="2" charset="2"/>
              </a:rPr>
              <a:t> &lt;12 mois interr.</a:t>
            </a:r>
            <a:endParaRPr lang="fr-BE" sz="1400" b="1" dirty="0">
              <a:solidFill>
                <a:srgbClr val="C00000"/>
              </a:solidFill>
            </a:endParaRPr>
          </a:p>
          <a:p>
            <a:pPr algn="ctr"/>
            <a:endParaRPr lang="fr-BE" sz="11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71986" y="1681379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u="sng" dirty="0"/>
              <a:t>Exemple</a:t>
            </a:r>
            <a:r>
              <a:rPr lang="fr-BE" sz="2400" b="1" u="sng" dirty="0"/>
              <a:t>: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6150639" y="4465688"/>
            <a:ext cx="1547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 au 14/12/2022?</a:t>
            </a:r>
            <a:r>
              <a:rPr lang="fr-BE" b="1" dirty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7" name="Flèche vers le bas 6"/>
          <p:cNvSpPr/>
          <p:nvPr/>
        </p:nvSpPr>
        <p:spPr>
          <a:xfrm>
            <a:off x="6762908" y="5098411"/>
            <a:ext cx="323056" cy="7581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63983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4" grpId="0"/>
      <p:bldP spid="19" grpId="0" animBg="1"/>
      <p:bldP spid="40" grpId="0"/>
      <p:bldP spid="21" grpId="0"/>
      <p:bldP spid="29" grpId="0"/>
      <p:bldP spid="31" grpId="0" animBg="1"/>
      <p:bldP spid="35" grpId="0"/>
      <p:bldP spid="6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3.1 Allocation de travail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dirty="0"/>
              <a:t>Le montant et la durée d’octroi de l’avantage sont déterminés en fonction </a:t>
            </a:r>
          </a:p>
          <a:p>
            <a:pPr marL="0" indent="0">
              <a:buNone/>
            </a:pPr>
            <a:endParaRPr lang="fr-BE" dirty="0"/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du type d’« impulsion » </a:t>
            </a:r>
          </a:p>
          <a:p>
            <a:pPr>
              <a:buFont typeface="Wingdings" panose="05000000000000000000" pitchFamily="2" charset="2"/>
              <a:buChar char="Ø"/>
            </a:pPr>
            <a:endParaRPr lang="fr-BE" dirty="0"/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et du </a:t>
            </a:r>
            <a:r>
              <a:rPr lang="fr-BE" b="1" u="sng" dirty="0">
                <a:solidFill>
                  <a:srgbClr val="C00000"/>
                </a:solidFill>
              </a:rPr>
              <a:t>principe de portabilité</a:t>
            </a:r>
            <a:endParaRPr lang="fr-BE" b="1" u="sng" dirty="0"/>
          </a:p>
          <a:p>
            <a:pPr marL="0" indent="0">
              <a:buNone/>
            </a:pPr>
            <a:endParaRPr lang="fr-BE" b="1" u="sng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fr-BE" b="1" u="sng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fr-BE" b="1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142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3.2 Portabilité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BE" b="1" dirty="0">
                <a:solidFill>
                  <a:srgbClr val="C00000"/>
                </a:solidFill>
              </a:rPr>
              <a:t>Portabilité </a:t>
            </a:r>
            <a:r>
              <a:rPr lang="fr-BE" dirty="0"/>
              <a:t>:</a:t>
            </a:r>
          </a:p>
          <a:p>
            <a:pPr marL="457200" lvl="1" indent="0">
              <a:buNone/>
            </a:pPr>
            <a:r>
              <a:rPr lang="fr-BE" dirty="0"/>
              <a:t>La durée de l’avantage est déterminée en fonction de la </a:t>
            </a:r>
            <a:r>
              <a:rPr lang="fr-BE" b="1" dirty="0">
                <a:solidFill>
                  <a:srgbClr val="C00000"/>
                </a:solidFill>
              </a:rPr>
              <a:t>1</a:t>
            </a:r>
            <a:r>
              <a:rPr lang="fr-BE" b="1" baseline="30000" dirty="0">
                <a:solidFill>
                  <a:srgbClr val="C00000"/>
                </a:solidFill>
              </a:rPr>
              <a:t>ère</a:t>
            </a:r>
            <a:r>
              <a:rPr lang="fr-BE" b="1" dirty="0">
                <a:solidFill>
                  <a:srgbClr val="C00000"/>
                </a:solidFill>
              </a:rPr>
              <a:t> date de prise de cours de l’avantage </a:t>
            </a:r>
            <a:r>
              <a:rPr lang="fr-BE" dirty="0"/>
              <a:t>même s’il s’agit d’une occupation pour un employeur différent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fr-BE" dirty="0">
                <a:sym typeface="Wingdings" panose="05000000000000000000" pitchFamily="2" charset="2"/>
              </a:rPr>
              <a:t> Le solde du crédit peut donc être transporté mais le 2</a:t>
            </a:r>
            <a:r>
              <a:rPr lang="fr-BE" baseline="30000" dirty="0">
                <a:sym typeface="Wingdings" panose="05000000000000000000" pitchFamily="2" charset="2"/>
              </a:rPr>
              <a:t>ème</a:t>
            </a:r>
            <a:r>
              <a:rPr lang="fr-BE" dirty="0">
                <a:sym typeface="Wingdings" panose="05000000000000000000" pitchFamily="2" charset="2"/>
              </a:rPr>
              <a:t> employeur n’aura donc </a:t>
            </a:r>
            <a:r>
              <a:rPr lang="fr-BE" b="1" dirty="0">
                <a:sym typeface="Wingdings" panose="05000000000000000000" pitchFamily="2" charset="2"/>
              </a:rPr>
              <a:t>pas droit à la durée maximale</a:t>
            </a:r>
            <a:endParaRPr lang="fr-BE" b="1" dirty="0"/>
          </a:p>
          <a:p>
            <a:pPr marL="457200" lvl="1" indent="0">
              <a:buNone/>
            </a:pPr>
            <a:r>
              <a:rPr lang="fr-BE" dirty="0">
                <a:sym typeface="Wingdings" panose="05000000000000000000" pitchFamily="2" charset="2"/>
              </a:rPr>
              <a:t> </a:t>
            </a:r>
            <a:r>
              <a:rPr lang="fr-BE" dirty="0"/>
              <a:t>La date de fin peut être </a:t>
            </a:r>
            <a:r>
              <a:rPr lang="fr-BE" b="1" dirty="0">
                <a:solidFill>
                  <a:srgbClr val="C00000"/>
                </a:solidFill>
              </a:rPr>
              <a:t>postposée</a:t>
            </a:r>
            <a:r>
              <a:rPr lang="fr-BE" dirty="0"/>
              <a:t> dès qu’il y a une </a:t>
            </a:r>
            <a:r>
              <a:rPr lang="fr-BE" b="1" dirty="0"/>
              <a:t>interruption d’au moins 31 jours calendrier </a:t>
            </a:r>
            <a:r>
              <a:rPr lang="fr-BE" dirty="0"/>
              <a:t>(même non consécutifs) dans l’avantage</a:t>
            </a:r>
          </a:p>
        </p:txBody>
      </p:sp>
    </p:spTree>
    <p:extLst>
      <p:ext uri="{BB962C8B-B14F-4D97-AF65-F5344CB8AC3E}">
        <p14:creationId xmlns:p14="http://schemas.microsoft.com/office/powerpoint/2010/main" val="315726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3.2 Portabilité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36" name="ZoneTexte 35"/>
          <p:cNvSpPr txBox="1"/>
          <p:nvPr/>
        </p:nvSpPr>
        <p:spPr>
          <a:xfrm>
            <a:off x="1688570" y="3263777"/>
            <a:ext cx="194732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EMP A 38/38</a:t>
            </a:r>
          </a:p>
        </p:txBody>
      </p:sp>
      <p:cxnSp>
        <p:nvCxnSpPr>
          <p:cNvPr id="43" name="Connecteur droit avec flèche 42"/>
          <p:cNvCxnSpPr>
            <a:stCxn id="44" idx="0"/>
          </p:cNvCxnSpPr>
          <p:nvPr/>
        </p:nvCxnSpPr>
        <p:spPr>
          <a:xfrm flipV="1">
            <a:off x="1688570" y="3643143"/>
            <a:ext cx="0" cy="1117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1177834" y="4761047"/>
            <a:ext cx="1021472" cy="11695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08/06/20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EMPL A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Impulsion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- 25 ans</a:t>
            </a:r>
            <a:r>
              <a:rPr lang="fr-BE" sz="12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4018373" y="3259217"/>
            <a:ext cx="141772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EMP B 38/38</a:t>
            </a:r>
          </a:p>
        </p:txBody>
      </p:sp>
      <p:cxnSp>
        <p:nvCxnSpPr>
          <p:cNvPr id="26" name="Connecteur droit avec flèche 25"/>
          <p:cNvCxnSpPr/>
          <p:nvPr/>
        </p:nvCxnSpPr>
        <p:spPr>
          <a:xfrm flipV="1">
            <a:off x="3635896" y="3643142"/>
            <a:ext cx="0" cy="8640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ZoneTexte 38"/>
          <p:cNvSpPr txBox="1"/>
          <p:nvPr/>
        </p:nvSpPr>
        <p:spPr>
          <a:xfrm>
            <a:off x="611560" y="5965179"/>
            <a:ext cx="2372694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08/06/20 au 31/05/22 : 500 €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01/06/22 au 30/11/22 : 250 €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01/12/22 au 31/05/23 : 125 €</a:t>
            </a:r>
            <a:endParaRPr lang="fr-BE" sz="1200" dirty="0">
              <a:solidFill>
                <a:prstClr val="black"/>
              </a:solidFill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3125160" y="4528281"/>
            <a:ext cx="102147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CC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25/10/21</a:t>
            </a:r>
          </a:p>
          <a:p>
            <a:pPr algn="ctr"/>
            <a:r>
              <a:rPr lang="fr-BE" sz="1100" b="1" dirty="0">
                <a:solidFill>
                  <a:srgbClr val="FF0000"/>
                </a:solidFill>
              </a:rPr>
              <a:t>01AINT </a:t>
            </a:r>
          </a:p>
        </p:txBody>
      </p:sp>
      <p:cxnSp>
        <p:nvCxnSpPr>
          <p:cNvPr id="33" name="Connecteur droit avec flèche 32"/>
          <p:cNvCxnSpPr/>
          <p:nvPr/>
        </p:nvCxnSpPr>
        <p:spPr>
          <a:xfrm flipV="1">
            <a:off x="477089" y="3643142"/>
            <a:ext cx="8435280" cy="213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 dirty="0"/>
          </a:p>
        </p:txBody>
      </p:sp>
      <p:cxnSp>
        <p:nvCxnSpPr>
          <p:cNvPr id="20" name="Connecteur droit avec flèche 19"/>
          <p:cNvCxnSpPr/>
          <p:nvPr/>
        </p:nvCxnSpPr>
        <p:spPr>
          <a:xfrm flipV="1">
            <a:off x="4018373" y="3666320"/>
            <a:ext cx="1" cy="1571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3537512" y="5274032"/>
            <a:ext cx="10214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07/03/22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EMPL B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Impulsion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- 25 ans</a:t>
            </a:r>
            <a:r>
              <a:rPr lang="fr-BE" sz="1200" b="1" dirty="0">
                <a:solidFill>
                  <a:srgbClr val="FF0000"/>
                </a:solidFill>
              </a:rPr>
              <a:t> </a:t>
            </a:r>
          </a:p>
        </p:txBody>
      </p:sp>
      <p:cxnSp>
        <p:nvCxnSpPr>
          <p:cNvPr id="28" name="Connecteur droit avec flèche 27"/>
          <p:cNvCxnSpPr/>
          <p:nvPr/>
        </p:nvCxnSpPr>
        <p:spPr>
          <a:xfrm flipH="1" flipV="1">
            <a:off x="5415413" y="3664188"/>
            <a:ext cx="5479" cy="11366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4875718" y="4775514"/>
            <a:ext cx="1021472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CC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01/08/22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01AINT</a:t>
            </a:r>
          </a:p>
          <a:p>
            <a:pPr algn="ctr"/>
            <a:r>
              <a:rPr lang="fr-BE" sz="11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4558984" y="5987873"/>
            <a:ext cx="2372694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07/03/22 au </a:t>
            </a:r>
            <a:r>
              <a:rPr lang="fr-BE" sz="1400" b="1" dirty="0">
                <a:solidFill>
                  <a:srgbClr val="C00000"/>
                </a:solidFill>
              </a:rPr>
              <a:t>31/05/22</a:t>
            </a:r>
            <a:r>
              <a:rPr lang="fr-BE" sz="1400" b="1" dirty="0">
                <a:solidFill>
                  <a:prstClr val="black"/>
                </a:solidFill>
              </a:rPr>
              <a:t> : 500 €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01/06/22 au 30/11/22 </a:t>
            </a:r>
            <a:r>
              <a:rPr lang="fr-BE" sz="1400" b="1" dirty="0">
                <a:solidFill>
                  <a:prstClr val="black"/>
                </a:solidFill>
              </a:rPr>
              <a:t>: 250 €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01/12/22 au 31/05/23 </a:t>
            </a:r>
            <a:r>
              <a:rPr lang="fr-BE" sz="1400" b="1" dirty="0">
                <a:solidFill>
                  <a:prstClr val="black"/>
                </a:solidFill>
              </a:rPr>
              <a:t>: 125 €</a:t>
            </a:r>
            <a:endParaRPr lang="fr-BE" sz="1200" dirty="0">
              <a:solidFill>
                <a:prstClr val="black"/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5776544" y="3259217"/>
            <a:ext cx="194732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EMP A 38/38</a:t>
            </a:r>
          </a:p>
        </p:txBody>
      </p:sp>
      <p:cxnSp>
        <p:nvCxnSpPr>
          <p:cNvPr id="32" name="Connecteur droit avec flèche 31"/>
          <p:cNvCxnSpPr/>
          <p:nvPr/>
        </p:nvCxnSpPr>
        <p:spPr>
          <a:xfrm flipV="1">
            <a:off x="5776544" y="3687364"/>
            <a:ext cx="0" cy="5872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>
          <a:xfrm>
            <a:off x="5292634" y="4290871"/>
            <a:ext cx="118380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?? impulsion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12/12/22</a:t>
            </a:r>
          </a:p>
          <a:p>
            <a:pPr algn="ctr"/>
            <a:endParaRPr lang="fr-BE" sz="11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71986" y="1681379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dirty="0"/>
              <a:t>David né le 16/11/1998</a:t>
            </a:r>
            <a:endParaRPr lang="fr-BE" sz="2400" b="1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E6F4DC6-FFA7-4143-B710-6767FB911744}"/>
              </a:ext>
            </a:extLst>
          </p:cNvPr>
          <p:cNvSpPr txBox="1"/>
          <p:nvPr/>
        </p:nvSpPr>
        <p:spPr>
          <a:xfrm>
            <a:off x="6630840" y="4036850"/>
            <a:ext cx="2372694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C2 </a:t>
            </a:r>
            <a:r>
              <a:rPr lang="fr-BE" sz="1400" b="1" dirty="0">
                <a:solidFill>
                  <a:srgbClr val="C00000"/>
                </a:solidFill>
                <a:sym typeface="Wingdings" panose="05000000000000000000" pitchFamily="2" charset="2"/>
              </a:rPr>
              <a:t> CSC avec S29 adapté </a:t>
            </a:r>
            <a:r>
              <a:rPr lang="fr-BE" sz="1400" b="1" dirty="0">
                <a:solidFill>
                  <a:srgbClr val="C00000"/>
                </a:solidFill>
              </a:rPr>
              <a:t>12/12/22 au 31/05/23 </a:t>
            </a:r>
            <a:r>
              <a:rPr lang="fr-BE" sz="1400" b="1" dirty="0">
                <a:solidFill>
                  <a:prstClr val="black"/>
                </a:solidFill>
              </a:rPr>
              <a:t>: 125 €</a:t>
            </a:r>
            <a:endParaRPr lang="fr-BE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99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4" grpId="0"/>
      <p:bldP spid="19" grpId="0" animBg="1"/>
      <p:bldP spid="39" grpId="0" animBg="1"/>
      <p:bldP spid="40" grpId="0"/>
      <p:bldP spid="21" grpId="0"/>
      <p:bldP spid="29" grpId="0"/>
      <p:bldP spid="30" grpId="0" animBg="1"/>
      <p:bldP spid="31" grpId="0" animBg="1"/>
      <p:bldP spid="35" grpId="0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3.2 Portabilité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36" name="ZoneTexte 35"/>
          <p:cNvSpPr txBox="1"/>
          <p:nvPr/>
        </p:nvSpPr>
        <p:spPr>
          <a:xfrm>
            <a:off x="1688570" y="3263777"/>
            <a:ext cx="194732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EMP A 38/38</a:t>
            </a:r>
          </a:p>
        </p:txBody>
      </p:sp>
      <p:cxnSp>
        <p:nvCxnSpPr>
          <p:cNvPr id="43" name="Connecteur droit avec flèche 42"/>
          <p:cNvCxnSpPr>
            <a:stCxn id="44" idx="0"/>
          </p:cNvCxnSpPr>
          <p:nvPr/>
        </p:nvCxnSpPr>
        <p:spPr>
          <a:xfrm flipV="1">
            <a:off x="1688570" y="3643143"/>
            <a:ext cx="0" cy="1117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1177834" y="4761047"/>
            <a:ext cx="1021472" cy="11695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08/06/20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EMPL A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Impulsion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- 25 ans</a:t>
            </a:r>
            <a:r>
              <a:rPr lang="fr-BE" sz="12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4018373" y="3259217"/>
            <a:ext cx="141772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EMP B 38/38</a:t>
            </a:r>
          </a:p>
        </p:txBody>
      </p:sp>
      <p:cxnSp>
        <p:nvCxnSpPr>
          <p:cNvPr id="26" name="Connecteur droit avec flèche 25"/>
          <p:cNvCxnSpPr/>
          <p:nvPr/>
        </p:nvCxnSpPr>
        <p:spPr>
          <a:xfrm flipV="1">
            <a:off x="3635896" y="3643142"/>
            <a:ext cx="0" cy="8640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ZoneTexte 38"/>
          <p:cNvSpPr txBox="1"/>
          <p:nvPr/>
        </p:nvSpPr>
        <p:spPr>
          <a:xfrm>
            <a:off x="611560" y="5965179"/>
            <a:ext cx="2372694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08/06/20 au 31/05/22 : 500 €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01/06/22 au 30/11/22 : 250 €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01/12/22 au 31/05/23 : 125 €</a:t>
            </a:r>
            <a:endParaRPr lang="fr-BE" sz="1200" dirty="0">
              <a:solidFill>
                <a:prstClr val="black"/>
              </a:solidFill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3125160" y="4528281"/>
            <a:ext cx="102147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CC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25/10/21</a:t>
            </a:r>
          </a:p>
          <a:p>
            <a:pPr algn="ctr"/>
            <a:r>
              <a:rPr lang="fr-BE" sz="1100" b="1" dirty="0">
                <a:solidFill>
                  <a:srgbClr val="FF0000"/>
                </a:solidFill>
              </a:rPr>
              <a:t>01AINT </a:t>
            </a:r>
          </a:p>
        </p:txBody>
      </p:sp>
      <p:cxnSp>
        <p:nvCxnSpPr>
          <p:cNvPr id="33" name="Connecteur droit avec flèche 32"/>
          <p:cNvCxnSpPr/>
          <p:nvPr/>
        </p:nvCxnSpPr>
        <p:spPr>
          <a:xfrm flipV="1">
            <a:off x="477089" y="3643142"/>
            <a:ext cx="8435280" cy="213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 dirty="0"/>
          </a:p>
        </p:txBody>
      </p:sp>
      <p:cxnSp>
        <p:nvCxnSpPr>
          <p:cNvPr id="20" name="Connecteur droit avec flèche 19"/>
          <p:cNvCxnSpPr/>
          <p:nvPr/>
        </p:nvCxnSpPr>
        <p:spPr>
          <a:xfrm flipV="1">
            <a:off x="4018373" y="3666320"/>
            <a:ext cx="1" cy="1571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3537512" y="5274032"/>
            <a:ext cx="10214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07/03/22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EMPL B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Impulsion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- 25 ans</a:t>
            </a:r>
            <a:r>
              <a:rPr lang="fr-BE" sz="12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2" name="Rectangle avec flèche vers le bas 11"/>
          <p:cNvSpPr/>
          <p:nvPr/>
        </p:nvSpPr>
        <p:spPr>
          <a:xfrm>
            <a:off x="3609123" y="2511006"/>
            <a:ext cx="537507" cy="535387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sz="1600" b="1" dirty="0"/>
              <a:t>133</a:t>
            </a:r>
          </a:p>
        </p:txBody>
      </p:sp>
      <p:cxnSp>
        <p:nvCxnSpPr>
          <p:cNvPr id="28" name="Connecteur droit avec flèche 27"/>
          <p:cNvCxnSpPr/>
          <p:nvPr/>
        </p:nvCxnSpPr>
        <p:spPr>
          <a:xfrm flipH="1" flipV="1">
            <a:off x="5415413" y="3664188"/>
            <a:ext cx="5479" cy="11366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4875718" y="4775514"/>
            <a:ext cx="1021472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CC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01/08/22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01AINT</a:t>
            </a:r>
          </a:p>
          <a:p>
            <a:pPr algn="ctr"/>
            <a:r>
              <a:rPr lang="fr-BE" sz="11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4558984" y="5987873"/>
            <a:ext cx="2372694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07/03/22 au 30</a:t>
            </a:r>
            <a:r>
              <a:rPr lang="fr-BE" sz="1400" b="1" dirty="0">
                <a:solidFill>
                  <a:srgbClr val="C00000"/>
                </a:solidFill>
              </a:rPr>
              <a:t>/09/22</a:t>
            </a:r>
            <a:r>
              <a:rPr lang="fr-BE" sz="1400" b="1" dirty="0">
                <a:solidFill>
                  <a:prstClr val="black"/>
                </a:solidFill>
              </a:rPr>
              <a:t> : 500 €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01/10/22 au 31/03/23 </a:t>
            </a:r>
            <a:r>
              <a:rPr lang="fr-BE" sz="1400" b="1" dirty="0">
                <a:solidFill>
                  <a:prstClr val="black"/>
                </a:solidFill>
              </a:rPr>
              <a:t>: 250 €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01/04/23 au 30/09/23 </a:t>
            </a:r>
            <a:r>
              <a:rPr lang="fr-BE" sz="1400" b="1" dirty="0">
                <a:solidFill>
                  <a:prstClr val="black"/>
                </a:solidFill>
              </a:rPr>
              <a:t>: 125 €</a:t>
            </a:r>
            <a:endParaRPr lang="fr-BE" sz="1200" dirty="0">
              <a:solidFill>
                <a:prstClr val="black"/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5776544" y="3259217"/>
            <a:ext cx="194732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EMP A 38/38</a:t>
            </a:r>
          </a:p>
        </p:txBody>
      </p:sp>
      <p:cxnSp>
        <p:nvCxnSpPr>
          <p:cNvPr id="32" name="Connecteur droit avec flèche 31"/>
          <p:cNvCxnSpPr/>
          <p:nvPr/>
        </p:nvCxnSpPr>
        <p:spPr>
          <a:xfrm flipV="1">
            <a:off x="5776544" y="3687364"/>
            <a:ext cx="0" cy="5872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>
          <a:xfrm>
            <a:off x="5292634" y="4290871"/>
            <a:ext cx="118380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DA ?? impulsion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12/12/22</a:t>
            </a:r>
          </a:p>
          <a:p>
            <a:pPr algn="ctr"/>
            <a:endParaRPr lang="fr-BE" sz="1100" b="1" dirty="0">
              <a:solidFill>
                <a:srgbClr val="FF0000"/>
              </a:solidFill>
            </a:endParaRPr>
          </a:p>
        </p:txBody>
      </p:sp>
      <p:sp>
        <p:nvSpPr>
          <p:cNvPr id="37" name="Rectangle avec flèche vers le bas 36"/>
          <p:cNvSpPr/>
          <p:nvPr/>
        </p:nvSpPr>
        <p:spPr>
          <a:xfrm>
            <a:off x="5367294" y="2502973"/>
            <a:ext cx="529896" cy="535387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sz="1600" b="1" dirty="0"/>
              <a:t>133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6539675" y="4274660"/>
            <a:ext cx="2372694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C2 </a:t>
            </a:r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 CSC avec S29 adapté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12/12/22 au </a:t>
            </a:r>
            <a:r>
              <a:rPr lang="fr-BE" sz="1400" b="1" dirty="0">
                <a:solidFill>
                  <a:srgbClr val="C00000"/>
                </a:solidFill>
              </a:rPr>
              <a:t>31/01/23</a:t>
            </a:r>
            <a:r>
              <a:rPr lang="fr-BE" sz="1400" b="1" dirty="0">
                <a:solidFill>
                  <a:prstClr val="black"/>
                </a:solidFill>
              </a:rPr>
              <a:t> : 500 €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01/02/23</a:t>
            </a:r>
            <a:r>
              <a:rPr lang="fr-BE" sz="1400" b="1" dirty="0">
                <a:solidFill>
                  <a:prstClr val="black"/>
                </a:solidFill>
              </a:rPr>
              <a:t> au</a:t>
            </a:r>
            <a:r>
              <a:rPr lang="fr-BE" sz="1400" b="1" dirty="0">
                <a:solidFill>
                  <a:srgbClr val="FF0000"/>
                </a:solidFill>
              </a:rPr>
              <a:t> </a:t>
            </a:r>
            <a:r>
              <a:rPr lang="fr-BE" sz="1400" b="1" dirty="0">
                <a:solidFill>
                  <a:srgbClr val="C00000"/>
                </a:solidFill>
              </a:rPr>
              <a:t>31/07/23</a:t>
            </a:r>
            <a:r>
              <a:rPr lang="fr-BE" sz="1400" b="1" dirty="0">
                <a:solidFill>
                  <a:srgbClr val="FF0000"/>
                </a:solidFill>
              </a:rPr>
              <a:t> </a:t>
            </a:r>
            <a:r>
              <a:rPr lang="fr-BE" sz="1400" b="1" dirty="0">
                <a:solidFill>
                  <a:prstClr val="black"/>
                </a:solidFill>
              </a:rPr>
              <a:t>: 250 €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01/08/23 </a:t>
            </a:r>
            <a:r>
              <a:rPr lang="fr-BE" sz="1400" b="1" dirty="0"/>
              <a:t>au</a:t>
            </a:r>
            <a:r>
              <a:rPr lang="fr-BE" sz="1400" b="1" dirty="0">
                <a:solidFill>
                  <a:srgbClr val="C00000"/>
                </a:solidFill>
              </a:rPr>
              <a:t> 31/01/24 </a:t>
            </a:r>
            <a:r>
              <a:rPr lang="fr-BE" sz="1400" b="1" dirty="0">
                <a:solidFill>
                  <a:prstClr val="black"/>
                </a:solidFill>
              </a:rPr>
              <a:t>: 125 €</a:t>
            </a:r>
            <a:endParaRPr lang="fr-BE" sz="1200" dirty="0">
              <a:solidFill>
                <a:prstClr val="black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71986" y="1681379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dirty="0"/>
              <a:t>David né </a:t>
            </a:r>
            <a:r>
              <a:rPr lang="fr-BE" sz="2800" b="1"/>
              <a:t>le 16/11/1998</a:t>
            </a:r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164815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4" grpId="0"/>
      <p:bldP spid="19" grpId="0" animBg="1"/>
      <p:bldP spid="39" grpId="0" animBg="1"/>
      <p:bldP spid="40" grpId="0"/>
      <p:bldP spid="21" grpId="0"/>
      <p:bldP spid="12" grpId="0" animBg="1"/>
      <p:bldP spid="29" grpId="0"/>
      <p:bldP spid="30" grpId="0" animBg="1"/>
      <p:bldP spid="31" grpId="0" animBg="1"/>
      <p:bldP spid="35" grpId="0"/>
      <p:bldP spid="37" grpId="0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3.3 Chronologie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b="1" u="sng" dirty="0">
                <a:solidFill>
                  <a:srgbClr val="C00000"/>
                </a:solidFill>
              </a:rPr>
              <a:t>Délai et Chronologie des D.A :</a:t>
            </a:r>
          </a:p>
          <a:p>
            <a:pPr marL="457200" lvl="1" indent="0">
              <a:buNone/>
            </a:pPr>
            <a:r>
              <a:rPr lang="fr-BE" dirty="0"/>
              <a:t>Le BC tient compte de la date d’introduction des D.A pour fixer la prise de cours et la durée de l’avantage en cas d’occupations simultanées chez 2 employeurs.</a:t>
            </a:r>
          </a:p>
          <a:p>
            <a:pPr marL="457200" lvl="1" indent="0">
              <a:buNone/>
            </a:pPr>
            <a:endParaRPr lang="fr-BE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fr-BE" dirty="0">
                <a:sym typeface="Wingdings" panose="05000000000000000000" pitchFamily="2" charset="2"/>
              </a:rPr>
              <a:t>2 éléments sont à prendre en compte: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BE" dirty="0">
                <a:sym typeface="Wingdings" panose="05000000000000000000" pitchFamily="2" charset="2"/>
              </a:rPr>
              <a:t>Le délai d’introduction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BE" dirty="0">
                <a:sym typeface="Wingdings" panose="05000000000000000000" pitchFamily="2" charset="2"/>
              </a:rPr>
              <a:t>La chronologie des D.A</a:t>
            </a:r>
          </a:p>
          <a:p>
            <a:pPr marL="457200" lvl="1" indent="0">
              <a:buNone/>
            </a:pPr>
            <a:r>
              <a:rPr lang="fr-BE" dirty="0">
                <a:sym typeface="Wingdings" panose="05000000000000000000" pitchFamily="2" charset="2"/>
              </a:rPr>
              <a:t> il est donc </a:t>
            </a:r>
            <a:r>
              <a:rPr lang="fr-BE" b="1" dirty="0">
                <a:solidFill>
                  <a:srgbClr val="C00000"/>
                </a:solidFill>
                <a:sym typeface="Wingdings" panose="05000000000000000000" pitchFamily="2" charset="2"/>
              </a:rPr>
              <a:t>PRIMORDIAL DE LES INTRODUIRE DANS L’ORDRE CHRONOLOGIQUE!</a:t>
            </a:r>
            <a:endParaRPr lang="fr-BE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22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51404" cy="1143000"/>
          </a:xfrm>
        </p:spPr>
        <p:txBody>
          <a:bodyPr>
            <a:normAutofit/>
          </a:bodyPr>
          <a:lstStyle/>
          <a:p>
            <a:pPr algn="r"/>
            <a:r>
              <a:rPr lang="fr-BE" sz="4000" b="1" i="1" dirty="0"/>
              <a:t>3.3 Chronologie</a:t>
            </a:r>
            <a:endParaRPr lang="en-US" sz="40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552186" y="5919959"/>
            <a:ext cx="2133600" cy="365125"/>
          </a:xfrm>
        </p:spPr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970586" y="2433676"/>
            <a:ext cx="7632848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BE" sz="2000" b="1" dirty="0">
                <a:solidFill>
                  <a:schemeClr val="tx1"/>
                </a:solidFill>
              </a:rPr>
              <a:t>Employeur A :</a:t>
            </a:r>
          </a:p>
          <a:p>
            <a:r>
              <a:rPr lang="fr-BE" sz="2000" b="1" dirty="0">
                <a:solidFill>
                  <a:schemeClr val="tx1"/>
                </a:solidFill>
              </a:rPr>
              <a:t>19/38</a:t>
            </a:r>
          </a:p>
        </p:txBody>
      </p:sp>
      <p:cxnSp>
        <p:nvCxnSpPr>
          <p:cNvPr id="13" name="Connecteur droit 12"/>
          <p:cNvCxnSpPr/>
          <p:nvPr/>
        </p:nvCxnSpPr>
        <p:spPr>
          <a:xfrm>
            <a:off x="981783" y="2420583"/>
            <a:ext cx="1" cy="201707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340569" y="4448619"/>
            <a:ext cx="1498617" cy="16004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fr-BE" sz="1400" b="1" dirty="0"/>
              <a:t>09/11/2022</a:t>
            </a:r>
          </a:p>
          <a:p>
            <a:pPr algn="ctr"/>
            <a:r>
              <a:rPr lang="fr-BE" sz="1400" b="1" dirty="0"/>
              <a:t>Engagement</a:t>
            </a:r>
          </a:p>
          <a:p>
            <a:pPr algn="ctr"/>
            <a:r>
              <a:rPr lang="fr-BE" sz="1400" b="1" dirty="0"/>
              <a:t>plan impulsion</a:t>
            </a:r>
          </a:p>
          <a:p>
            <a:pPr algn="ctr"/>
            <a:r>
              <a:rPr lang="fr-BE" sz="1400" b="1" dirty="0"/>
              <a:t>12 mois +</a:t>
            </a:r>
          </a:p>
          <a:p>
            <a:pPr algn="ctr"/>
            <a:r>
              <a:rPr lang="fr-BE" sz="1400" b="1" dirty="0"/>
              <a:t>Introduite le 18/01/2023</a:t>
            </a:r>
          </a:p>
          <a:p>
            <a:pPr algn="ctr"/>
            <a:endParaRPr lang="fr-BE" sz="1400" b="1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2020561" y="2932136"/>
            <a:ext cx="0" cy="151648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/>
          <p:nvPr/>
        </p:nvCxnSpPr>
        <p:spPr>
          <a:xfrm>
            <a:off x="250133" y="3358088"/>
            <a:ext cx="8641706" cy="185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Espace réservé du contenu 4"/>
          <p:cNvGraphicFramePr>
            <a:graphicFrameLocks/>
          </p:cNvGraphicFramePr>
          <p:nvPr/>
        </p:nvGraphicFramePr>
        <p:xfrm>
          <a:off x="4570986" y="3614041"/>
          <a:ext cx="3360810" cy="1219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20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4861"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Code S29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Date du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Date au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73"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G./..WB1..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b="1" dirty="0">
                          <a:solidFill>
                            <a:schemeClr val="tx1"/>
                          </a:solidFill>
                        </a:rPr>
                        <a:t>01/12/2022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30/11/2023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273"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G/..WB2..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01/12/2023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31/05/2024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273"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G./..WB3..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01/06/2024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30/11/2024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51147" y="1268760"/>
            <a:ext cx="864170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BE" sz="2800" b="1" u="sng" dirty="0"/>
              <a:t>Exemple: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7456" y="2943415"/>
            <a:ext cx="6585978" cy="404661"/>
          </a:xfrm>
          <a:prstGeom prst="rect">
            <a:avLst/>
          </a:prstGeom>
          <a:solidFill>
            <a:srgbClr val="92D05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BE" b="1" dirty="0">
                <a:solidFill>
                  <a:schemeClr val="tx1"/>
                </a:solidFill>
              </a:rPr>
              <a:t>Employeur B : 15/38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523001" y="4458631"/>
            <a:ext cx="1800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15/12/2022</a:t>
            </a:r>
          </a:p>
          <a:p>
            <a:pPr algn="ctr"/>
            <a:r>
              <a:rPr lang="fr-BE" sz="1400" b="1" dirty="0"/>
              <a:t>Engagement</a:t>
            </a:r>
          </a:p>
          <a:p>
            <a:pPr algn="ctr"/>
            <a:r>
              <a:rPr lang="fr-BE" sz="1400" b="1" dirty="0"/>
              <a:t>plan impulsion</a:t>
            </a:r>
          </a:p>
          <a:p>
            <a:pPr algn="ctr"/>
            <a:r>
              <a:rPr lang="fr-BE" sz="1400" b="1" dirty="0"/>
              <a:t>12 mois +</a:t>
            </a:r>
          </a:p>
          <a:p>
            <a:pPr algn="ctr"/>
            <a:r>
              <a:rPr lang="fr-BE" sz="1400" b="1" dirty="0"/>
              <a:t>Introduite le</a:t>
            </a:r>
          </a:p>
          <a:p>
            <a:pPr algn="ctr"/>
            <a:r>
              <a:rPr lang="fr-BE" sz="1400" b="1" dirty="0"/>
              <a:t>28/12/2022</a:t>
            </a:r>
          </a:p>
        </p:txBody>
      </p:sp>
      <p:graphicFrame>
        <p:nvGraphicFramePr>
          <p:cNvPr id="26" name="Espace réservé du contenu 4"/>
          <p:cNvGraphicFramePr>
            <a:graphicFrameLocks/>
          </p:cNvGraphicFramePr>
          <p:nvPr/>
        </p:nvGraphicFramePr>
        <p:xfrm>
          <a:off x="4570986" y="5188713"/>
          <a:ext cx="3360810" cy="121937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20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974"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Code S29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Date du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Date au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73"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G./..WB1..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b="1" dirty="0">
                          <a:solidFill>
                            <a:schemeClr val="tx1"/>
                          </a:solidFill>
                        </a:rPr>
                        <a:t>15/12/2022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30/11/2023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273"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G/..WB2..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01/12/2023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31/05/2024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273"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G./..WB3..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01/06/2024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>
                          <a:solidFill>
                            <a:schemeClr val="tx1"/>
                          </a:solidFill>
                        </a:rPr>
                        <a:t>30/11/2024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250133" y="5919959"/>
          <a:ext cx="3603300" cy="609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0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273">
                <a:tc>
                  <a:txBody>
                    <a:bodyPr/>
                    <a:lstStyle/>
                    <a:p>
                      <a:pPr algn="ctr"/>
                      <a:r>
                        <a:rPr lang="fr-BE" sz="1400" dirty="0"/>
                        <a:t>Code S29 A</a:t>
                      </a:r>
                      <a:endParaRPr lang="fr-BE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/>
                        <a:t>Date du </a:t>
                      </a:r>
                      <a:endParaRPr lang="fr-BE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/>
                        <a:t>Date au</a:t>
                      </a:r>
                      <a:endParaRPr lang="fr-BE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73">
                <a:tc>
                  <a:txBody>
                    <a:bodyPr/>
                    <a:lstStyle/>
                    <a:p>
                      <a:pPr algn="ctr"/>
                      <a:r>
                        <a:rPr lang="fr-BE" sz="1400" dirty="0"/>
                        <a:t>G./..WB0..</a:t>
                      </a:r>
                      <a:endParaRPr lang="fr-BE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/>
                        <a:t>09/11/2022</a:t>
                      </a:r>
                      <a:endParaRPr lang="fr-BE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400" dirty="0"/>
                        <a:t>30/11/2022</a:t>
                      </a:r>
                      <a:endParaRPr lang="fr-BE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187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/>
      <p:bldP spid="5" grpId="0"/>
      <p:bldP spid="21" grpId="0" animBg="1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3.4  Déménagement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BE" b="1" u="sng" dirty="0">
              <a:solidFill>
                <a:srgbClr val="C00000"/>
              </a:solidFill>
            </a:endParaRPr>
          </a:p>
          <a:p>
            <a:r>
              <a:rPr lang="fr-BE" dirty="0"/>
              <a:t>L’avantage prend </a:t>
            </a:r>
            <a:r>
              <a:rPr lang="fr-BE" b="1" dirty="0">
                <a:solidFill>
                  <a:srgbClr val="C00000"/>
                </a:solidFill>
              </a:rPr>
              <a:t>fin à partir du 1</a:t>
            </a:r>
            <a:r>
              <a:rPr lang="fr-BE" b="1" baseline="30000" dirty="0">
                <a:solidFill>
                  <a:srgbClr val="C00000"/>
                </a:solidFill>
              </a:rPr>
              <a:t>er</a:t>
            </a:r>
            <a:r>
              <a:rPr lang="fr-BE" b="1" dirty="0">
                <a:solidFill>
                  <a:srgbClr val="C00000"/>
                </a:solidFill>
              </a:rPr>
              <a:t> jour du 2</a:t>
            </a:r>
            <a:r>
              <a:rPr lang="fr-BE" b="1" baseline="30000" dirty="0">
                <a:solidFill>
                  <a:srgbClr val="C00000"/>
                </a:solidFill>
              </a:rPr>
              <a:t>ème</a:t>
            </a:r>
            <a:r>
              <a:rPr lang="fr-BE" b="1" dirty="0">
                <a:solidFill>
                  <a:srgbClr val="C00000"/>
                </a:solidFill>
              </a:rPr>
              <a:t> mois </a:t>
            </a:r>
            <a:r>
              <a:rPr lang="fr-BE" dirty="0"/>
              <a:t>qui suit le mois au cours duquel le BC est informé d’un</a:t>
            </a:r>
            <a:r>
              <a:rPr lang="fr-BE" b="1" dirty="0">
                <a:solidFill>
                  <a:srgbClr val="C00000"/>
                </a:solidFill>
              </a:rPr>
              <a:t> déménagement vers une autre région</a:t>
            </a:r>
          </a:p>
        </p:txBody>
      </p:sp>
    </p:spTree>
    <p:extLst>
      <p:ext uri="{BB962C8B-B14F-4D97-AF65-F5344CB8AC3E}">
        <p14:creationId xmlns:p14="http://schemas.microsoft.com/office/powerpoint/2010/main" val="524151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3.4 Déménagement</a:t>
            </a:r>
            <a:endParaRPr lang="en-US" sz="40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683568" y="5686717"/>
            <a:ext cx="13681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Impulsion 12 mois+</a:t>
            </a:r>
            <a:endParaRPr lang="fr-BE" sz="1400" b="1" dirty="0">
              <a:solidFill>
                <a:srgbClr val="00B050"/>
              </a:solidFill>
            </a:endParaRPr>
          </a:p>
          <a:p>
            <a:pPr algn="ctr"/>
            <a:r>
              <a:rPr lang="fr-BE" sz="1400" b="1" dirty="0">
                <a:solidFill>
                  <a:srgbClr val="00B050"/>
                </a:solidFill>
              </a:rPr>
              <a:t> 12.05.22</a:t>
            </a:r>
          </a:p>
          <a:p>
            <a:pPr algn="ctr"/>
            <a:endParaRPr lang="fr-BE" sz="1400" b="1" dirty="0">
              <a:solidFill>
                <a:srgbClr val="00B05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77524" y="3694751"/>
            <a:ext cx="4089822" cy="8888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b="1" dirty="0">
              <a:solidFill>
                <a:schemeClr val="tx1"/>
              </a:solidFill>
            </a:endParaRPr>
          </a:p>
        </p:txBody>
      </p:sp>
      <p:cxnSp>
        <p:nvCxnSpPr>
          <p:cNvPr id="16" name="Connecteur droit 15"/>
          <p:cNvCxnSpPr/>
          <p:nvPr/>
        </p:nvCxnSpPr>
        <p:spPr>
          <a:xfrm>
            <a:off x="3229457" y="4562487"/>
            <a:ext cx="0" cy="46252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>
            <a:cxnSpLocks/>
          </p:cNvCxnSpPr>
          <p:nvPr/>
        </p:nvCxnSpPr>
        <p:spPr>
          <a:xfrm flipH="1">
            <a:off x="5371597" y="3685366"/>
            <a:ext cx="8503" cy="189240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/>
          <p:nvPr/>
        </p:nvCxnSpPr>
        <p:spPr>
          <a:xfrm flipV="1">
            <a:off x="125760" y="4533238"/>
            <a:ext cx="8892480" cy="2283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 flipH="1">
            <a:off x="1262810" y="4589225"/>
            <a:ext cx="6303" cy="113544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2979393" y="2210611"/>
            <a:ext cx="30118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800" b="1" dirty="0"/>
              <a:t>Région Bruxelles-Capitale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529216" y="2233571"/>
            <a:ext cx="2450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800" b="1" dirty="0"/>
              <a:t>Région wallonne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210" y="3158666"/>
            <a:ext cx="2892506" cy="1437329"/>
          </a:xfrm>
          <a:prstGeom prst="rect">
            <a:avLst/>
          </a:prstGeom>
        </p:spPr>
      </p:pic>
      <p:sp>
        <p:nvSpPr>
          <p:cNvPr id="21" name="Parenthèse ouvrante 20"/>
          <p:cNvSpPr/>
          <p:nvPr/>
        </p:nvSpPr>
        <p:spPr>
          <a:xfrm rot="5400000">
            <a:off x="3635567" y="2795047"/>
            <a:ext cx="1320053" cy="2143504"/>
          </a:xfrm>
          <a:prstGeom prst="leftBracket">
            <a:avLst>
              <a:gd name="adj" fmla="val 4897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22" name="ZoneTexte 21"/>
          <p:cNvSpPr txBox="1"/>
          <p:nvPr/>
        </p:nvSpPr>
        <p:spPr>
          <a:xfrm>
            <a:off x="2234942" y="5045038"/>
            <a:ext cx="2046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Déménagement</a:t>
            </a:r>
          </a:p>
          <a:p>
            <a:pPr algn="ctr"/>
            <a:r>
              <a:rPr lang="fr-BE" sz="1400" b="1" dirty="0"/>
              <a:t>Le 30.11.2022</a:t>
            </a:r>
          </a:p>
        </p:txBody>
      </p:sp>
      <p:sp>
        <p:nvSpPr>
          <p:cNvPr id="8" name="Rectangle 7"/>
          <p:cNvSpPr/>
          <p:nvPr/>
        </p:nvSpPr>
        <p:spPr>
          <a:xfrm>
            <a:off x="348008" y="1381735"/>
            <a:ext cx="172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BE" sz="3200" b="1" dirty="0"/>
              <a:t>Exemple 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90B2F27-E57A-4723-AE42-ADC28D1966EC}"/>
              </a:ext>
            </a:extLst>
          </p:cNvPr>
          <p:cNvSpPr txBox="1"/>
          <p:nvPr/>
        </p:nvSpPr>
        <p:spPr>
          <a:xfrm>
            <a:off x="5013069" y="5675242"/>
            <a:ext cx="1920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  <a:sym typeface="Wingdings" panose="05000000000000000000" pitchFamily="2" charset="2"/>
              </a:rPr>
              <a:t>Maintien de l’avantage 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  <a:sym typeface="Wingdings" panose="05000000000000000000" pitchFamily="2" charset="2"/>
              </a:rPr>
              <a:t>Jusqu’au 31.01.2023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B71E04D-8C18-4078-84B2-47A22DB8D689}"/>
              </a:ext>
            </a:extLst>
          </p:cNvPr>
          <p:cNvCxnSpPr/>
          <p:nvPr/>
        </p:nvCxnSpPr>
        <p:spPr>
          <a:xfrm>
            <a:off x="3845537" y="3706892"/>
            <a:ext cx="19206" cy="186198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072A5DAC-7EF2-4D21-8015-C9F3EFF31836}"/>
              </a:ext>
            </a:extLst>
          </p:cNvPr>
          <p:cNvSpPr txBox="1"/>
          <p:nvPr/>
        </p:nvSpPr>
        <p:spPr>
          <a:xfrm>
            <a:off x="2817243" y="5587522"/>
            <a:ext cx="2465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C1 introduit au BC le 09.12.2022</a:t>
            </a:r>
          </a:p>
        </p:txBody>
      </p:sp>
    </p:spTree>
    <p:extLst>
      <p:ext uri="{BB962C8B-B14F-4D97-AF65-F5344CB8AC3E}">
        <p14:creationId xmlns:p14="http://schemas.microsoft.com/office/powerpoint/2010/main" val="2774001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34" grpId="0"/>
      <p:bldP spid="17" grpId="0"/>
      <p:bldP spid="21" grpId="0" animBg="1"/>
      <p:bldP spid="22" grpId="0"/>
      <p:bldP spid="24" grpId="0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 4. Activa-Bruxelles</a:t>
            </a:r>
            <a:endParaRPr lang="fr-BE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sz="2400" dirty="0"/>
              <a:t>Depuis le </a:t>
            </a:r>
            <a:r>
              <a:rPr lang="fr-BE" sz="2400" b="1" dirty="0">
                <a:solidFill>
                  <a:srgbClr val="C00000"/>
                </a:solidFill>
              </a:rPr>
              <a:t>01.10.2017</a:t>
            </a:r>
            <a:r>
              <a:rPr lang="fr-BE" sz="2400" dirty="0"/>
              <a:t> la région Bruxelles-Capitale a mis en place plan « Activa-Bruxelles »</a:t>
            </a:r>
          </a:p>
          <a:p>
            <a:pPr marL="358775" indent="0">
              <a:buNone/>
            </a:pPr>
            <a:r>
              <a:rPr lang="fr-BE" sz="2400" b="1" u="sng" dirty="0"/>
              <a:t>2 Mesures:</a:t>
            </a:r>
          </a:p>
          <a:p>
            <a:pPr marL="1216025" lvl="1" indent="-457200"/>
            <a:r>
              <a:rPr lang="fr-BE" dirty="0"/>
              <a:t>« Activa général »		</a:t>
            </a:r>
          </a:p>
          <a:p>
            <a:pPr marL="758825" lvl="1" indent="0">
              <a:buNone/>
            </a:pPr>
            <a:endParaRPr lang="fr-BE" dirty="0"/>
          </a:p>
          <a:p>
            <a:pPr marL="758825" lvl="1" indent="0">
              <a:buNone/>
            </a:pPr>
            <a:endParaRPr lang="fr-BE" dirty="0"/>
          </a:p>
          <a:p>
            <a:pPr marL="1216025" lvl="1" indent="-457200"/>
            <a:endParaRPr lang="fr-BE" dirty="0"/>
          </a:p>
          <a:p>
            <a:pPr marL="1216025" lvl="1" indent="-457200"/>
            <a:r>
              <a:rPr lang="fr-BE" dirty="0"/>
              <a:t>« Activa aptitude réduites »</a:t>
            </a:r>
          </a:p>
          <a:p>
            <a:pPr marL="358775" indent="0">
              <a:lnSpc>
                <a:spcPct val="90000"/>
              </a:lnSpc>
              <a:buNone/>
              <a:tabLst>
                <a:tab pos="1349375" algn="l"/>
              </a:tabLst>
            </a:pPr>
            <a:endParaRPr lang="fr-BE" sz="3100" b="1" dirty="0">
              <a:solidFill>
                <a:srgbClr val="C00000"/>
              </a:solidFill>
              <a:cs typeface="Times New Roman" pitchFamily="18" charset="0"/>
            </a:endParaRPr>
          </a:p>
          <a:p>
            <a:pPr marL="758825" lvl="1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endParaRPr lang="fr-BE" dirty="0">
              <a:latin typeface="Times New Roman" pitchFamily="18" charset="0"/>
              <a:cs typeface="Times New Roman" pitchFamily="18" charset="0"/>
            </a:endParaRPr>
          </a:p>
          <a:p>
            <a:endParaRPr lang="fr-BE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 dirty="0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46DF0995-6298-4E65-B703-8A749F58D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360821"/>
              </p:ext>
            </p:extLst>
          </p:nvPr>
        </p:nvGraphicFramePr>
        <p:xfrm>
          <a:off x="1835696" y="3404997"/>
          <a:ext cx="5832651" cy="1305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17">
                  <a:extLst>
                    <a:ext uri="{9D8B030D-6E8A-4147-A177-3AD203B41FA5}">
                      <a16:colId xmlns:a16="http://schemas.microsoft.com/office/drawing/2014/main" val="4225228628"/>
                    </a:ext>
                  </a:extLst>
                </a:gridCol>
                <a:gridCol w="1944217">
                  <a:extLst>
                    <a:ext uri="{9D8B030D-6E8A-4147-A177-3AD203B41FA5}">
                      <a16:colId xmlns:a16="http://schemas.microsoft.com/office/drawing/2014/main" val="1487910486"/>
                    </a:ext>
                  </a:extLst>
                </a:gridCol>
                <a:gridCol w="1944217">
                  <a:extLst>
                    <a:ext uri="{9D8B030D-6E8A-4147-A177-3AD203B41FA5}">
                      <a16:colId xmlns:a16="http://schemas.microsoft.com/office/drawing/2014/main" val="2627571251"/>
                    </a:ext>
                  </a:extLst>
                </a:gridCol>
              </a:tblGrid>
              <a:tr h="435328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fr-BE" dirty="0"/>
                        <a:t>G./..BA1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780716"/>
                  </a:ext>
                </a:extLst>
              </a:tr>
              <a:tr h="435328">
                <a:tc>
                  <a:txBody>
                    <a:bodyPr/>
                    <a:lstStyle/>
                    <a:p>
                      <a:r>
                        <a:rPr lang="fr-BE" dirty="0"/>
                        <a:t>G./..BA2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86799"/>
                  </a:ext>
                </a:extLst>
              </a:tr>
              <a:tr h="435328">
                <a:tc>
                  <a:txBody>
                    <a:bodyPr/>
                    <a:lstStyle/>
                    <a:p>
                      <a:r>
                        <a:rPr lang="fr-BE" dirty="0"/>
                        <a:t>G./..BA3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115992"/>
                  </a:ext>
                </a:extLst>
              </a:tr>
            </a:tbl>
          </a:graphicData>
        </a:graphic>
      </p:graphicFrame>
      <p:graphicFrame>
        <p:nvGraphicFramePr>
          <p:cNvPr id="7" name="Tableau 7">
            <a:extLst>
              <a:ext uri="{FF2B5EF4-FFF2-40B4-BE49-F238E27FC236}">
                <a16:creationId xmlns:a16="http://schemas.microsoft.com/office/drawing/2014/main" id="{157FBDE0-A4DA-4586-9633-B9CAC03AD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074654"/>
              </p:ext>
            </p:extLst>
          </p:nvPr>
        </p:nvGraphicFramePr>
        <p:xfrm>
          <a:off x="1835696" y="5589241"/>
          <a:ext cx="5784303" cy="779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101">
                  <a:extLst>
                    <a:ext uri="{9D8B030D-6E8A-4147-A177-3AD203B41FA5}">
                      <a16:colId xmlns:a16="http://schemas.microsoft.com/office/drawing/2014/main" val="1434014268"/>
                    </a:ext>
                  </a:extLst>
                </a:gridCol>
                <a:gridCol w="1928101">
                  <a:extLst>
                    <a:ext uri="{9D8B030D-6E8A-4147-A177-3AD203B41FA5}">
                      <a16:colId xmlns:a16="http://schemas.microsoft.com/office/drawing/2014/main" val="2126982776"/>
                    </a:ext>
                  </a:extLst>
                </a:gridCol>
                <a:gridCol w="1928101">
                  <a:extLst>
                    <a:ext uri="{9D8B030D-6E8A-4147-A177-3AD203B41FA5}">
                      <a16:colId xmlns:a16="http://schemas.microsoft.com/office/drawing/2014/main" val="3225292762"/>
                    </a:ext>
                  </a:extLst>
                </a:gridCol>
              </a:tblGrid>
              <a:tr h="305275">
                <a:tc>
                  <a:txBody>
                    <a:bodyPr/>
                    <a:lstStyle/>
                    <a:p>
                      <a:r>
                        <a:rPr lang="fr-BE" dirty="0"/>
                        <a:t>G./..BB1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543670"/>
                  </a:ext>
                </a:extLst>
              </a:tr>
              <a:tr h="414209">
                <a:tc>
                  <a:txBody>
                    <a:bodyPr/>
                    <a:lstStyle/>
                    <a:p>
                      <a:r>
                        <a:rPr lang="fr-BE" dirty="0"/>
                        <a:t>G./..BB2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61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59082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 4.1 DA</a:t>
            </a:r>
            <a:endParaRPr lang="fr-BE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tabLst>
                <a:tab pos="1349375" algn="l"/>
              </a:tabLst>
            </a:pPr>
            <a:r>
              <a:rPr lang="fr-BE" sz="3100" b="1" dirty="0">
                <a:solidFill>
                  <a:srgbClr val="C00000"/>
                </a:solidFill>
                <a:cs typeface="Times New Roman" pitchFamily="18" charset="0"/>
              </a:rPr>
              <a:t>Délai</a:t>
            </a:r>
            <a:r>
              <a:rPr lang="fr-BE" sz="3100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fr-BE" sz="3100" dirty="0">
                <a:cs typeface="Times New Roman" pitchFamily="18" charset="0"/>
              </a:rPr>
              <a:t>: 4 mois à partir du 1</a:t>
            </a:r>
            <a:r>
              <a:rPr lang="fr-BE" sz="3100" baseline="30000" dirty="0">
                <a:cs typeface="Times New Roman" pitchFamily="18" charset="0"/>
              </a:rPr>
              <a:t>er</a:t>
            </a:r>
            <a:r>
              <a:rPr lang="fr-BE" sz="3100" dirty="0">
                <a:cs typeface="Times New Roman" pitchFamily="18" charset="0"/>
              </a:rPr>
              <a:t>  jour du mois qui suit  l’engagement.</a:t>
            </a:r>
            <a:r>
              <a:rPr lang="en-GB" sz="3100" dirty="0">
                <a:cs typeface="Times New Roman" pitchFamily="18" charset="0"/>
              </a:rPr>
              <a:t>  </a:t>
            </a:r>
          </a:p>
          <a:p>
            <a:pPr>
              <a:lnSpc>
                <a:spcPct val="90000"/>
              </a:lnSpc>
              <a:tabLst>
                <a:tab pos="1349375" algn="l"/>
              </a:tabLst>
            </a:pPr>
            <a:endParaRPr lang="en-GB" sz="3100" dirty="0">
              <a:cs typeface="Times New Roman" pitchFamily="18" charset="0"/>
            </a:endParaRPr>
          </a:p>
          <a:p>
            <a:pPr>
              <a:lnSpc>
                <a:spcPct val="90000"/>
              </a:lnSpc>
              <a:tabLst>
                <a:tab pos="1349375" algn="l"/>
              </a:tabLst>
            </a:pPr>
            <a:r>
              <a:rPr lang="en-GB" sz="3100" b="1" dirty="0">
                <a:solidFill>
                  <a:srgbClr val="C00000"/>
                </a:solidFill>
                <a:cs typeface="Times New Roman" pitchFamily="18" charset="0"/>
              </a:rPr>
              <a:t>Carte de travail </a:t>
            </a:r>
            <a:r>
              <a:rPr lang="en-GB" sz="3100" dirty="0">
                <a:cs typeface="Times New Roman" pitchFamily="18" charset="0"/>
              </a:rPr>
              <a:t>reprise dans S27</a:t>
            </a:r>
          </a:p>
          <a:p>
            <a:pPr marL="358775" indent="0">
              <a:lnSpc>
                <a:spcPct val="90000"/>
              </a:lnSpc>
              <a:buNone/>
              <a:tabLst>
                <a:tab pos="1349375" algn="l"/>
              </a:tabLst>
            </a:pPr>
            <a:endParaRPr lang="fr-BE" sz="3100" b="1" dirty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fr-BE" sz="3100" b="1" dirty="0">
                <a:solidFill>
                  <a:srgbClr val="C00000"/>
                </a:solidFill>
                <a:cs typeface="Times New Roman" pitchFamily="18" charset="0"/>
              </a:rPr>
              <a:t>Nouvelle D.A </a:t>
            </a:r>
            <a:r>
              <a:rPr lang="fr-BE" sz="3100" dirty="0">
                <a:cs typeface="Times New Roman" pitchFamily="18" charset="0"/>
              </a:rPr>
              <a:t>pour chaque prolongation du contrat </a:t>
            </a:r>
            <a:r>
              <a:rPr lang="fr-BE" sz="3100" b="1" dirty="0">
                <a:cs typeface="Times New Roman" pitchFamily="18" charset="0"/>
              </a:rPr>
              <a:t>même si prolongation CDD et qu’il n’y pas d’interruption entre les contrats</a:t>
            </a:r>
          </a:p>
          <a:p>
            <a:pPr marL="758825" lvl="1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endParaRPr lang="fr-BE" dirty="0">
              <a:latin typeface="Times New Roman" pitchFamily="18" charset="0"/>
              <a:cs typeface="Times New Roman" pitchFamily="18" charset="0"/>
            </a:endParaRPr>
          </a:p>
          <a:p>
            <a:endParaRPr lang="fr-BE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089996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4.2 Durée Avantage</a:t>
            </a:r>
            <a:endParaRPr lang="fr-BE" sz="40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/>
              <a:t>La durée de l’avantage </a:t>
            </a:r>
            <a:r>
              <a:rPr lang="fr-BE" b="1" dirty="0">
                <a:solidFill>
                  <a:srgbClr val="C00000"/>
                </a:solidFill>
              </a:rPr>
              <a:t>vaut pour chaque employeur séparément</a:t>
            </a:r>
            <a:r>
              <a:rPr lang="fr-BE" dirty="0"/>
              <a:t> à partir de l’engagement initial.</a:t>
            </a:r>
          </a:p>
          <a:p>
            <a:endParaRPr lang="fr-BE" dirty="0"/>
          </a:p>
          <a:p>
            <a:r>
              <a:rPr lang="fr-BE" dirty="0"/>
              <a:t>L’avantage pour l’employeur recommence pour la durée maximale s’il y </a:t>
            </a:r>
            <a:r>
              <a:rPr lang="fr-BE" b="1" dirty="0">
                <a:solidFill>
                  <a:srgbClr val="C00000"/>
                </a:solidFill>
              </a:rPr>
              <a:t>au moins 12 mois d’interruption entre la date de fin de contrat et le réengagement </a:t>
            </a:r>
            <a:r>
              <a:rPr lang="fr-BE" dirty="0"/>
              <a:t>et que l’intéressé rempli à nouveau les conditions (octroi d’une nouvelle carte).</a:t>
            </a:r>
            <a:endParaRPr lang="fr-BE" b="1" dirty="0">
              <a:solidFill>
                <a:srgbClr val="C00000"/>
              </a:solidFill>
            </a:endParaRPr>
          </a:p>
          <a:p>
            <a:endParaRPr lang="fr-BE" b="1" u="sng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fr-BE" b="1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21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4.2 Durée Avantage</a:t>
            </a:r>
            <a:endParaRPr lang="fr-BE" sz="40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S’il y a une interruption de moins de 12 mois entre 2 occupations pour le même employeur </a:t>
            </a:r>
            <a:r>
              <a:rPr lang="fr-BE" dirty="0">
                <a:sym typeface="Wingdings" panose="05000000000000000000" pitchFamily="2" charset="2"/>
              </a:rPr>
              <a:t></a:t>
            </a:r>
            <a:r>
              <a:rPr lang="fr-BE" b="1" u="sng" dirty="0">
                <a:solidFill>
                  <a:srgbClr val="C00000"/>
                </a:solidFill>
                <a:sym typeface="Wingdings" panose="05000000000000000000" pitchFamily="2" charset="2"/>
              </a:rPr>
              <a:t>perte du </a:t>
            </a:r>
            <a:r>
              <a:rPr lang="fr-BE" b="1" u="sng" dirty="0">
                <a:solidFill>
                  <a:srgbClr val="C00000"/>
                </a:solidFill>
              </a:rPr>
              <a:t>solde de  l’avantage non épuisé. </a:t>
            </a:r>
          </a:p>
          <a:p>
            <a:endParaRPr lang="fr-BE" dirty="0"/>
          </a:p>
          <a:p>
            <a:r>
              <a:rPr lang="fr-BE" dirty="0"/>
              <a:t>L’avantage prend </a:t>
            </a:r>
            <a:r>
              <a:rPr lang="fr-BE" b="1" dirty="0">
                <a:solidFill>
                  <a:srgbClr val="C00000"/>
                </a:solidFill>
              </a:rPr>
              <a:t>fin à partir du 1</a:t>
            </a:r>
            <a:r>
              <a:rPr lang="fr-BE" b="1" baseline="30000" dirty="0">
                <a:solidFill>
                  <a:srgbClr val="C00000"/>
                </a:solidFill>
              </a:rPr>
              <a:t>er</a:t>
            </a:r>
            <a:r>
              <a:rPr lang="fr-BE" b="1" dirty="0">
                <a:solidFill>
                  <a:srgbClr val="C00000"/>
                </a:solidFill>
              </a:rPr>
              <a:t> jour du 2</a:t>
            </a:r>
            <a:r>
              <a:rPr lang="fr-BE" b="1" baseline="30000" dirty="0">
                <a:solidFill>
                  <a:srgbClr val="C00000"/>
                </a:solidFill>
              </a:rPr>
              <a:t>ème</a:t>
            </a:r>
            <a:r>
              <a:rPr lang="fr-BE" b="1" dirty="0">
                <a:solidFill>
                  <a:srgbClr val="C00000"/>
                </a:solidFill>
              </a:rPr>
              <a:t> mois </a:t>
            </a:r>
            <a:r>
              <a:rPr lang="fr-BE" dirty="0"/>
              <a:t>qui suit le mois au cours duquel le BC est informé d’un</a:t>
            </a:r>
            <a:r>
              <a:rPr lang="fr-BE" b="1" dirty="0">
                <a:solidFill>
                  <a:srgbClr val="C00000"/>
                </a:solidFill>
              </a:rPr>
              <a:t> déménagement vers une autre région</a:t>
            </a:r>
          </a:p>
          <a:p>
            <a:endParaRPr lang="fr-BE" b="1" u="sng" dirty="0">
              <a:solidFill>
                <a:srgbClr val="C00000"/>
              </a:solidFill>
            </a:endParaRPr>
          </a:p>
          <a:p>
            <a:endParaRPr lang="fr-BE" b="1" u="sng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fr-BE" b="1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35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5. SINE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BE" sz="2800" dirty="0"/>
              <a:t>La mesure SINE vise les chômeurs très difficiles à placer.</a:t>
            </a:r>
          </a:p>
          <a:p>
            <a:pPr marL="0" indent="0">
              <a:buNone/>
            </a:pPr>
            <a:endParaRPr lang="fr-BE" sz="1600" dirty="0"/>
          </a:p>
          <a:p>
            <a:pPr marL="0" indent="0">
              <a:buNone/>
            </a:pPr>
            <a:r>
              <a:rPr lang="fr-BE" sz="2800" dirty="0"/>
              <a:t>L’employeur bénéficie de réductions ONSS ainsi qu’une intervention de l’ONEm dans le paiement de la rémunération nette : </a:t>
            </a:r>
            <a:r>
              <a:rPr lang="fr-BE" sz="2800" b="1" dirty="0">
                <a:solidFill>
                  <a:srgbClr val="C00000"/>
                </a:solidFill>
              </a:rPr>
              <a:t>l’allocation de réinsertion </a:t>
            </a:r>
            <a:r>
              <a:rPr lang="fr-BE" sz="2800" dirty="0"/>
              <a:t>qui lui est versée directement.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fr-BE" sz="2000" b="1" dirty="0">
              <a:cs typeface="Times New Roman" pitchFamily="18" charset="0"/>
            </a:endParaRPr>
          </a:p>
          <a:p>
            <a:pPr>
              <a:lnSpc>
                <a:spcPct val="90000"/>
              </a:lnSpc>
              <a:tabLst>
                <a:tab pos="1349375" algn="l"/>
              </a:tabLst>
            </a:pP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Nouvelle D.A : </a:t>
            </a:r>
            <a:r>
              <a:rPr lang="fr-BE" sz="2800" b="1" u="sng" dirty="0">
                <a:cs typeface="Times New Roman" pitchFamily="18" charset="0"/>
              </a:rPr>
              <a:t>Impérative</a:t>
            </a:r>
            <a:r>
              <a:rPr lang="fr-BE" sz="2800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fr-BE" sz="2800" dirty="0">
                <a:cs typeface="Times New Roman" pitchFamily="18" charset="0"/>
              </a:rPr>
              <a:t>pour chaque prolongation du contrat ou chaque modification horaire via une nouvelle annexe ou via une copie de l’avenant</a:t>
            </a:r>
          </a:p>
          <a:p>
            <a:pPr>
              <a:lnSpc>
                <a:spcPct val="90000"/>
              </a:lnSpc>
              <a:tabLst>
                <a:tab pos="1349375" algn="l"/>
              </a:tabLst>
            </a:pPr>
            <a:endParaRPr lang="fr-BE" sz="2800" b="1" dirty="0">
              <a:cs typeface="Times New Roman" pitchFamily="18" charset="0"/>
            </a:endParaRPr>
          </a:p>
          <a:p>
            <a:pPr>
              <a:lnSpc>
                <a:spcPct val="90000"/>
              </a:lnSpc>
              <a:tabLst>
                <a:tab pos="1349375" algn="l"/>
              </a:tabLst>
            </a:pP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Délai</a:t>
            </a:r>
            <a:r>
              <a:rPr lang="fr-BE" sz="2800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fr-BE" sz="2800" dirty="0">
                <a:cs typeface="Times New Roman" pitchFamily="18" charset="0"/>
              </a:rPr>
              <a:t>: La demande doit être introduite au plus tard à la fin du 4e mois qui suit le début de l’occupation.  (AM 92&amp;5 pas applicable)</a:t>
            </a:r>
          </a:p>
          <a:p>
            <a:pPr>
              <a:lnSpc>
                <a:spcPct val="90000"/>
              </a:lnSpc>
              <a:tabLst>
                <a:tab pos="1349375" algn="l"/>
              </a:tabLst>
            </a:pPr>
            <a:endParaRPr lang="en-GB" sz="2800" dirty="0">
              <a:cs typeface="Times New Roman" pitchFamily="18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fr-FR" sz="2100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982468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5.1. Déménagement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fr-BE" b="1" dirty="0">
                <a:solidFill>
                  <a:srgbClr val="FF0000"/>
                </a:solidFill>
                <a:cs typeface="Times New Roman" pitchFamily="18" charset="0"/>
                <a:sym typeface="Wingdings" panose="05000000000000000000" pitchFamily="2" charset="2"/>
              </a:rPr>
              <a:t>Déménagement en Communauté Germanophone :</a:t>
            </a:r>
          </a:p>
          <a:p>
            <a:pPr marL="0" indent="0"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Le régime a été abrogé depuis le 01.01.2019</a:t>
            </a:r>
          </a:p>
          <a:p>
            <a:pPr>
              <a:buFontTx/>
              <a:buChar char="-"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Si contrat SINE a débuté avant le 01.01.2019 dans n’importe quelle région, allocation de réinsertion peut continuer à être payée.</a:t>
            </a:r>
          </a:p>
          <a:p>
            <a:pPr>
              <a:buFontTx/>
              <a:buChar char="-"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Si contrat SINE a débuté après le 31.12.2018, </a:t>
            </a:r>
            <a:r>
              <a:rPr lang="fr-BE" sz="2400" dirty="0">
                <a:sym typeface="Wingdings" panose="05000000000000000000" pitchFamily="2" charset="2"/>
              </a:rPr>
              <a:t>l</a:t>
            </a:r>
            <a:r>
              <a:rPr lang="fr-BE" sz="2400" dirty="0"/>
              <a:t>’avantage prend </a:t>
            </a:r>
            <a:r>
              <a:rPr lang="fr-BE" sz="2400" b="1" dirty="0">
                <a:solidFill>
                  <a:srgbClr val="C00000"/>
                </a:solidFill>
              </a:rPr>
              <a:t>fin à partir du 1</a:t>
            </a:r>
            <a:r>
              <a:rPr lang="fr-BE" sz="2400" b="1" baseline="30000" dirty="0">
                <a:solidFill>
                  <a:srgbClr val="C00000"/>
                </a:solidFill>
              </a:rPr>
              <a:t>er</a:t>
            </a:r>
            <a:r>
              <a:rPr lang="fr-BE" sz="2400" b="1" dirty="0">
                <a:solidFill>
                  <a:srgbClr val="C00000"/>
                </a:solidFill>
              </a:rPr>
              <a:t> jour du 2</a:t>
            </a:r>
            <a:r>
              <a:rPr lang="fr-BE" sz="2400" b="1" baseline="30000" dirty="0">
                <a:solidFill>
                  <a:srgbClr val="C00000"/>
                </a:solidFill>
              </a:rPr>
              <a:t>ème</a:t>
            </a:r>
            <a:r>
              <a:rPr lang="fr-BE" sz="2400" b="1" dirty="0">
                <a:solidFill>
                  <a:srgbClr val="C00000"/>
                </a:solidFill>
              </a:rPr>
              <a:t> mois </a:t>
            </a:r>
            <a:r>
              <a:rPr lang="fr-BE" sz="2400" dirty="0"/>
              <a:t>qui suit le mois au cours duquel le BC est informé du déménagement. </a:t>
            </a: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137699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5.1. Déménagement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fr-BE" sz="12800" b="1" dirty="0">
                <a:solidFill>
                  <a:srgbClr val="FF0000"/>
                </a:solidFill>
                <a:cs typeface="Times New Roman" pitchFamily="18" charset="0"/>
                <a:sym typeface="Wingdings" panose="05000000000000000000" pitchFamily="2" charset="2"/>
              </a:rPr>
              <a:t>Déménagement en Région flamande ou Région wallonne </a:t>
            </a:r>
            <a:r>
              <a:rPr lang="fr-BE" sz="9600" dirty="0">
                <a:cs typeface="Times New Roman" pitchFamily="18" charset="0"/>
                <a:sym typeface="Wingdings" panose="05000000000000000000" pitchFamily="2" charset="2"/>
              </a:rPr>
              <a:t>où le Régime SINE existe toujours.</a:t>
            </a:r>
          </a:p>
          <a:p>
            <a:pPr marL="0" indent="0">
              <a:buNone/>
            </a:pPr>
            <a:endParaRPr lang="fr-BE" sz="7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9600" dirty="0">
                <a:cs typeface="Times New Roman" pitchFamily="18" charset="0"/>
                <a:sym typeface="Wingdings" panose="05000000000000000000" pitchFamily="2" charset="2"/>
              </a:rPr>
              <a:t>Vient de la </a:t>
            </a:r>
            <a:r>
              <a:rPr lang="fr-BE" sz="9600" b="1" dirty="0">
                <a:cs typeface="Times New Roman" pitchFamily="18" charset="0"/>
                <a:sym typeface="Wingdings" panose="05000000000000000000" pitchFamily="2" charset="2"/>
              </a:rPr>
              <a:t>Communauté Germanophone </a:t>
            </a:r>
            <a:r>
              <a:rPr lang="fr-BE" sz="9600" dirty="0">
                <a:cs typeface="Times New Roman" pitchFamily="18" charset="0"/>
                <a:sym typeface="Wingdings" panose="05000000000000000000" pitchFamily="2" charset="2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9600" dirty="0">
                <a:cs typeface="Times New Roman" pitchFamily="18" charset="0"/>
                <a:sym typeface="Wingdings" panose="05000000000000000000" pitchFamily="2" charset="2"/>
              </a:rPr>
              <a:t>Si entrée en service &lt;  01.01.2019  SINE OK</a:t>
            </a:r>
          </a:p>
          <a:p>
            <a:pPr marL="0" indent="0">
              <a:buNone/>
            </a:pPr>
            <a:endParaRPr lang="fr-BE" sz="96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9600" dirty="0">
                <a:cs typeface="Times New Roman" pitchFamily="18" charset="0"/>
                <a:sym typeface="Wingdings" panose="05000000000000000000" pitchFamily="2" charset="2"/>
              </a:rPr>
              <a:t>Vient de la </a:t>
            </a:r>
            <a:r>
              <a:rPr lang="fr-BE" sz="9600" b="1" dirty="0">
                <a:cs typeface="Times New Roman" pitchFamily="18" charset="0"/>
                <a:sym typeface="Wingdings" panose="05000000000000000000" pitchFamily="2" charset="2"/>
              </a:rPr>
              <a:t>Région Bruxelles-Capitale </a:t>
            </a:r>
            <a:r>
              <a:rPr lang="fr-BE" sz="9600" dirty="0">
                <a:cs typeface="Times New Roman" pitchFamily="18" charset="0"/>
                <a:sym typeface="Wingdings" panose="05000000000000000000" pitchFamily="2" charset="2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9600" dirty="0">
                <a:cs typeface="Times New Roman" pitchFamily="18" charset="0"/>
                <a:sym typeface="Wingdings" panose="05000000000000000000" pitchFamily="2" charset="2"/>
              </a:rPr>
              <a:t> Si entrée en service  &lt;  01.01.2021  SINE OK  </a:t>
            </a:r>
          </a:p>
          <a:p>
            <a:pPr>
              <a:buFont typeface="Wingdings" panose="05000000000000000000" pitchFamily="2" charset="2"/>
              <a:buChar char="Ø"/>
            </a:pPr>
            <a:endParaRPr lang="fr-BE" sz="96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9600" dirty="0">
                <a:cs typeface="Times New Roman" pitchFamily="18" charset="0"/>
                <a:sym typeface="Wingdings" panose="05000000000000000000" pitchFamily="2" charset="2"/>
              </a:rPr>
              <a:t>Vient d’une </a:t>
            </a:r>
            <a:r>
              <a:rPr lang="fr-BE" sz="9600" b="1" dirty="0">
                <a:cs typeface="Times New Roman" pitchFamily="18" charset="0"/>
                <a:sym typeface="Wingdings" panose="05000000000000000000" pitchFamily="2" charset="2"/>
              </a:rPr>
              <a:t>autre Région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9600" dirty="0">
                <a:cs typeface="Times New Roman" pitchFamily="18" charset="0"/>
                <a:sym typeface="Wingdings" panose="05000000000000000000" pitchFamily="2" charset="2"/>
              </a:rPr>
              <a:t>SINE  OK</a:t>
            </a:r>
          </a:p>
          <a:p>
            <a:pPr>
              <a:buFont typeface="Wingdings" panose="05000000000000000000" pitchFamily="2" charset="2"/>
              <a:buChar char="Ø"/>
            </a:pPr>
            <a:endParaRPr lang="fr-BE" sz="7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578087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5.1. Déménagement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sz="3000" b="1" dirty="0">
                <a:solidFill>
                  <a:srgbClr val="FF0000"/>
                </a:solidFill>
                <a:cs typeface="Times New Roman" pitchFamily="18" charset="0"/>
                <a:sym typeface="Wingdings" panose="05000000000000000000" pitchFamily="2" charset="2"/>
              </a:rPr>
              <a:t>Déménagement en Région Bruxelles-Capitale</a:t>
            </a: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Le Régime Sine a été abrogé à partir du 01.01.2021.</a:t>
            </a:r>
          </a:p>
          <a:p>
            <a:pPr marL="0" indent="0"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DA </a:t>
            </a:r>
            <a:r>
              <a:rPr lang="fr-FR" sz="2400" dirty="0">
                <a:cs typeface="Times New Roman" pitchFamily="18" charset="0"/>
              </a:rPr>
              <a:t>&gt;</a:t>
            </a: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 01.01.2021    fin SINE au dernier jour du mois qui suit celui où il a été informé du déménagement (réception du dossier).</a:t>
            </a:r>
          </a:p>
          <a:p>
            <a:pPr marL="0" indent="0"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548183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3096344"/>
          </a:xfrm>
          <a:noFill/>
          <a:ln w="38100">
            <a:solidFill>
              <a:srgbClr val="669900"/>
            </a:solidFill>
          </a:ln>
        </p:spPr>
        <p:txBody>
          <a:bodyPr>
            <a:noAutofit/>
          </a:bodyPr>
          <a:lstStyle/>
          <a:p>
            <a:pPr algn="ctr">
              <a:buNone/>
            </a:pPr>
            <a:r>
              <a:rPr lang="fr-BE" sz="6000" b="1" dirty="0"/>
              <a:t>6. LE PROGRAMME DE TRANSITION PROFESSIONNELLE</a:t>
            </a:r>
            <a:endParaRPr lang="fr-FR" sz="60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2159732" y="4503889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3200" dirty="0"/>
              <a:t>AR du 09.06.1997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4947484"/>
      </p:ext>
    </p:extLst>
  </p:cSld>
  <p:clrMapOvr>
    <a:masterClrMapping/>
  </p:clrMapOvr>
  <p:transition>
    <p:dissolv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6. PTP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38163" lvl="1" indent="-457200">
              <a:buFont typeface="Arial" panose="020B0604020202020204" pitchFamily="34" charset="0"/>
              <a:buChar char="•"/>
            </a:pPr>
            <a:r>
              <a:rPr lang="fr-BE" dirty="0"/>
              <a:t>L’employeur bénéficie d’une réduction sur les cotisations ONSS et déduit une partie du salaire net : </a:t>
            </a:r>
            <a:r>
              <a:rPr lang="fr-BE" b="1" dirty="0">
                <a:solidFill>
                  <a:srgbClr val="C00000"/>
                </a:solidFill>
              </a:rPr>
              <a:t>l’allocation d’intégration</a:t>
            </a:r>
          </a:p>
          <a:p>
            <a:pPr marL="538163" lvl="1" indent="-457200">
              <a:buFont typeface="Arial" panose="020B0604020202020204" pitchFamily="34" charset="0"/>
              <a:buChar char="•"/>
            </a:pPr>
            <a:endParaRPr lang="fr-BE" dirty="0">
              <a:cs typeface="Times New Roman" pitchFamily="18" charset="0"/>
              <a:sym typeface="Wingdings" panose="05000000000000000000" pitchFamily="2" charset="2"/>
            </a:endParaRPr>
          </a:p>
          <a:p>
            <a:pPr marL="538163" lvl="1" indent="-457200">
              <a:buFont typeface="Arial" panose="020B0604020202020204" pitchFamily="34" charset="0"/>
              <a:buChar char="•"/>
            </a:pPr>
            <a:r>
              <a:rPr lang="fr-BE" dirty="0">
                <a:cs typeface="Times New Roman" pitchFamily="18" charset="0"/>
                <a:sym typeface="Wingdings" panose="05000000000000000000" pitchFamily="2" charset="2"/>
              </a:rPr>
              <a:t>Le Régime  PTP a été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  <a:sym typeface="Wingdings" panose="05000000000000000000" pitchFamily="2" charset="2"/>
              </a:rPr>
              <a:t>abrogé </a:t>
            </a:r>
            <a:r>
              <a:rPr lang="fr-BE" dirty="0">
                <a:cs typeface="Times New Roman" pitchFamily="18" charset="0"/>
                <a:sym typeface="Wingdings" panose="05000000000000000000" pitchFamily="2" charset="2"/>
              </a:rPr>
              <a:t>dans toutes les Régions ainsi qu’en Communauté Germanophone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fr-BE" dirty="0">
                <a:cs typeface="Times New Roman" pitchFamily="18" charset="0"/>
                <a:sym typeface="Wingdings" panose="05000000000000000000" pitchFamily="2" charset="2"/>
              </a:rPr>
              <a:t>à des dates différentes.</a:t>
            </a:r>
          </a:p>
          <a:p>
            <a:pPr marL="80963" lvl="1" indent="0">
              <a:buNone/>
            </a:pPr>
            <a:r>
              <a:rPr lang="fr-BE" dirty="0">
                <a:cs typeface="Times New Roman" pitchFamily="18" charset="0"/>
                <a:sym typeface="Wingdings" panose="05000000000000000000" pitchFamily="2" charset="2"/>
              </a:rPr>
              <a:t> </a:t>
            </a:r>
          </a:p>
          <a:p>
            <a:pPr marL="538163" lvl="1" indent="-457200">
              <a:buFont typeface="Arial" panose="020B0604020202020204" pitchFamily="34" charset="0"/>
              <a:buChar char="•"/>
            </a:pPr>
            <a:r>
              <a:rPr lang="fr-BE" dirty="0">
                <a:cs typeface="Times New Roman" pitchFamily="18" charset="0"/>
                <a:sym typeface="Wingdings" panose="05000000000000000000" pitchFamily="2" charset="2"/>
              </a:rPr>
              <a:t>Certaines Régions ont pris</a:t>
            </a:r>
            <a:r>
              <a:rPr lang="fr-BE" b="1" dirty="0"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  <a:sym typeface="Wingdings" panose="05000000000000000000" pitchFamily="2" charset="2"/>
              </a:rPr>
              <a:t>des dispositions transitoires pour maintenir </a:t>
            </a:r>
            <a:r>
              <a:rPr lang="fr-BE" dirty="0">
                <a:cs typeface="Times New Roman" pitchFamily="18" charset="0"/>
                <a:sym typeface="Wingdings" panose="05000000000000000000" pitchFamily="2" charset="2"/>
              </a:rPr>
              <a:t>l’avantage </a:t>
            </a:r>
            <a:r>
              <a:rPr lang="fr-BE" b="1" dirty="0">
                <a:cs typeface="Times New Roman" pitchFamily="18" charset="0"/>
                <a:sym typeface="Wingdings" panose="05000000000000000000" pitchFamily="2" charset="2"/>
              </a:rPr>
              <a:t>jusqu’au terme initialement </a:t>
            </a:r>
            <a:r>
              <a:rPr lang="fr-BE" dirty="0">
                <a:cs typeface="Times New Roman" pitchFamily="18" charset="0"/>
                <a:sym typeface="Wingdings" panose="05000000000000000000" pitchFamily="2" charset="2"/>
              </a:rPr>
              <a:t>prévu.</a:t>
            </a:r>
          </a:p>
          <a:p>
            <a:pPr marL="538163" lvl="1" indent="-457200">
              <a:buFont typeface="Arial" panose="020B0604020202020204" pitchFamily="34" charset="0"/>
              <a:buChar char="•"/>
            </a:pPr>
            <a:endParaRPr lang="fr-BE" dirty="0">
              <a:cs typeface="Times New Roman" pitchFamily="18" charset="0"/>
              <a:sym typeface="Wingdings" panose="05000000000000000000" pitchFamily="2" charset="2"/>
            </a:endParaRPr>
          </a:p>
          <a:p>
            <a:pPr marL="538163" lvl="1" indent="-457200">
              <a:buFont typeface="Arial" panose="020B0604020202020204" pitchFamily="34" charset="0"/>
              <a:buChar char="•"/>
            </a:pPr>
            <a:r>
              <a:rPr lang="fr-BE" dirty="0">
                <a:cs typeface="Times New Roman" pitchFamily="18" charset="0"/>
                <a:sym typeface="Wingdings" panose="05000000000000000000" pitchFamily="2" charset="2"/>
              </a:rPr>
              <a:t>Pas de nouvelle Demande à introduire. </a:t>
            </a:r>
          </a:p>
          <a:p>
            <a:pPr marL="538163" lvl="1" indent="-457200">
              <a:buFont typeface="Arial" panose="020B0604020202020204" pitchFamily="34" charset="0"/>
              <a:buChar char="•"/>
            </a:pPr>
            <a:endParaRPr lang="fr-BE" dirty="0">
              <a:cs typeface="Times New Roman" pitchFamily="18" charset="0"/>
              <a:sym typeface="Wingdings" panose="05000000000000000000" pitchFamily="2" charset="2"/>
            </a:endParaRPr>
          </a:p>
          <a:p>
            <a:pPr marL="80963" lvl="1" indent="0">
              <a:buNone/>
            </a:pPr>
            <a:endParaRPr lang="fr-BE" dirty="0">
              <a:cs typeface="Times New Roman" pitchFamily="18" charset="0"/>
              <a:sym typeface="Wingdings" panose="05000000000000000000" pitchFamily="2" charset="2"/>
            </a:endParaRPr>
          </a:p>
          <a:p>
            <a:pPr marL="538163" lvl="1" indent="-457200">
              <a:buFont typeface="Arial" panose="020B0604020202020204" pitchFamily="34" charset="0"/>
              <a:buChar char="•"/>
            </a:pPr>
            <a:endParaRPr lang="fr-BE" b="1" u="sng" dirty="0">
              <a:cs typeface="Times New Roman" pitchFamily="18" charset="0"/>
              <a:sym typeface="Wingdings" panose="05000000000000000000" pitchFamily="2" charset="2"/>
            </a:endParaRPr>
          </a:p>
          <a:p>
            <a:pPr marL="538163" lvl="1" indent="-457200">
              <a:buFont typeface="Arial" panose="020B0604020202020204" pitchFamily="34" charset="0"/>
              <a:buChar char="•"/>
            </a:pPr>
            <a:endParaRPr lang="fr-BE" b="1" u="sng" dirty="0">
              <a:cs typeface="Times New Roman" pitchFamily="18" charset="0"/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417290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6. PTP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963" lvl="1" indent="0">
              <a:buNone/>
            </a:pPr>
            <a:r>
              <a:rPr lang="fr-BE" b="1" u="sng" dirty="0">
                <a:cs typeface="Times New Roman" pitchFamily="18" charset="0"/>
                <a:sym typeface="Wingdings" panose="05000000000000000000" pitchFamily="2" charset="2"/>
              </a:rPr>
              <a:t>Région wallonne:</a:t>
            </a:r>
            <a:r>
              <a:rPr lang="fr-BE" dirty="0">
                <a:cs typeface="Times New Roman" pitchFamily="18" charset="0"/>
                <a:sym typeface="Wingdings" panose="05000000000000000000" pitchFamily="2" charset="2"/>
              </a:rPr>
              <a:t> Régime </a:t>
            </a:r>
            <a:r>
              <a:rPr lang="fr-BE" b="1" dirty="0">
                <a:cs typeface="Times New Roman" pitchFamily="18" charset="0"/>
                <a:sym typeface="Wingdings" panose="05000000000000000000" pitchFamily="2" charset="2"/>
              </a:rPr>
              <a:t>abrogé depuis le 01.07.2017  </a:t>
            </a: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 mais dispositions transitoires prévues.</a:t>
            </a:r>
            <a:endParaRPr lang="fr-BE" sz="2400" b="1" dirty="0">
              <a:solidFill>
                <a:srgbClr val="C00000"/>
              </a:solidFill>
              <a:cs typeface="Times New Roman" pitchFamily="18" charset="0"/>
              <a:sym typeface="Wingdings" panose="05000000000000000000" pitchFamily="2" charset="2"/>
            </a:endParaRPr>
          </a:p>
          <a:p>
            <a:pPr marL="80963" lvl="1" indent="0">
              <a:buNone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L’avantage est </a:t>
            </a:r>
            <a:r>
              <a:rPr lang="fr-BE" sz="2400" b="1" dirty="0">
                <a:cs typeface="Times New Roman" pitchFamily="18" charset="0"/>
                <a:sym typeface="Wingdings" panose="05000000000000000000" pitchFamily="2" charset="2"/>
              </a:rPr>
              <a:t>maintenu jusqu’au terme initialement prévu </a:t>
            </a: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pour :</a:t>
            </a:r>
            <a:endParaRPr lang="fr-BE" sz="2400" b="1" dirty="0">
              <a:cs typeface="Times New Roman" pitchFamily="18" charset="0"/>
              <a:sym typeface="Wingdings" panose="05000000000000000000" pitchFamily="2" charset="2"/>
            </a:endParaRPr>
          </a:p>
          <a:p>
            <a:pPr marL="423863" lvl="1" indent="-342900"/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les engagements qui interviennent </a:t>
            </a:r>
            <a:r>
              <a:rPr lang="fr-BE" sz="2400" b="1" dirty="0">
                <a:solidFill>
                  <a:srgbClr val="C00000"/>
                </a:solidFill>
                <a:cs typeface="Times New Roman" pitchFamily="18" charset="0"/>
                <a:sym typeface="Wingdings" panose="05000000000000000000" pitchFamily="2" charset="2"/>
              </a:rPr>
              <a:t>après le 01.07.2017</a:t>
            </a: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 et    qui reposent sur une demande initiale ou de renouvellement de </a:t>
            </a:r>
            <a:r>
              <a:rPr lang="fr-BE" sz="2400" b="1" u="sng" dirty="0">
                <a:solidFill>
                  <a:srgbClr val="C00000"/>
                </a:solidFill>
                <a:cs typeface="Times New Roman" pitchFamily="18" charset="0"/>
                <a:sym typeface="Wingdings" panose="05000000000000000000" pitchFamily="2" charset="2"/>
              </a:rPr>
              <a:t>poste</a:t>
            </a: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 introduite avant le 01.07.2017 restaient possibles.</a:t>
            </a:r>
          </a:p>
          <a:p>
            <a:pPr marL="538163" lvl="1" indent="-457200">
              <a:buFont typeface="Arial" panose="020B0604020202020204" pitchFamily="34" charset="0"/>
              <a:buChar char="•"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80963" lvl="1" indent="0">
              <a:buNone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La plupart des autorisations de renouvellement ont pris fin en 2021.</a:t>
            </a:r>
            <a:endParaRPr lang="fr-BE" sz="2800" dirty="0">
              <a:cs typeface="Times New Roman" pitchFamily="18" charset="0"/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729900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6.1. D.A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fr-BE" sz="2400" dirty="0">
              <a:solidFill>
                <a:srgbClr val="C00000"/>
              </a:solidFill>
              <a:cs typeface="Times New Roman" pitchFamily="18" charset="0"/>
              <a:sym typeface="Wingdings" panose="05000000000000000000" pitchFamily="2" charset="2"/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fr-BE" sz="2000" b="1" dirty="0">
              <a:cs typeface="Times New Roman" pitchFamily="18" charset="0"/>
            </a:endParaRPr>
          </a:p>
          <a:p>
            <a:pPr>
              <a:lnSpc>
                <a:spcPct val="90000"/>
              </a:lnSpc>
              <a:tabLst>
                <a:tab pos="1349375" algn="l"/>
              </a:tabLst>
            </a:pP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Nouvelle D.A </a:t>
            </a:r>
            <a:r>
              <a:rPr lang="fr-BE" sz="2800" dirty="0">
                <a:cs typeface="Times New Roman" pitchFamily="18" charset="0"/>
              </a:rPr>
              <a:t>pour chaque prolongation du contrat ou chaque modification du facteur Q</a:t>
            </a:r>
          </a:p>
          <a:p>
            <a:pPr marL="0" indent="0">
              <a:lnSpc>
                <a:spcPct val="90000"/>
              </a:lnSpc>
              <a:buNone/>
              <a:tabLst>
                <a:tab pos="1349375" algn="l"/>
              </a:tabLst>
            </a:pPr>
            <a:endParaRPr lang="fr-BE" sz="2800" b="1" dirty="0">
              <a:cs typeface="Times New Roman" pitchFamily="18" charset="0"/>
            </a:endParaRPr>
          </a:p>
          <a:p>
            <a:pPr>
              <a:lnSpc>
                <a:spcPct val="90000"/>
              </a:lnSpc>
              <a:tabLst>
                <a:tab pos="1349375" algn="l"/>
              </a:tabLst>
            </a:pP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Délai</a:t>
            </a:r>
            <a:r>
              <a:rPr lang="fr-BE" sz="2800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fr-BE" sz="2800" dirty="0">
                <a:cs typeface="Times New Roman" pitchFamily="18" charset="0"/>
              </a:rPr>
              <a:t>: </a:t>
            </a:r>
            <a:r>
              <a:rPr lang="fr-BE" sz="2800" dirty="0"/>
              <a:t>toute la durée du contrat PTP ou dans un délai de 2 mois en cas d’occupation de courte durée. </a:t>
            </a:r>
            <a:r>
              <a:rPr lang="en-GB" sz="2800" dirty="0">
                <a:cs typeface="Times New Roman" pitchFamily="18" charset="0"/>
              </a:rPr>
              <a:t>(AM 92&amp;5 pas d’application sauf si délai de 2 mois appliqué)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fr-FR" sz="2100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43079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6.2. L’allocation d’intégration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sz="2800" b="1" u="sng" dirty="0">
                <a:solidFill>
                  <a:srgbClr val="C00000"/>
                </a:solidFill>
              </a:rPr>
              <a:t>Durée:</a:t>
            </a:r>
          </a:p>
          <a:p>
            <a:pPr lvl="1"/>
            <a:r>
              <a:rPr lang="fr-BE" sz="2400" dirty="0"/>
              <a:t>Un travailleur peut être engagé en PTP durant maximum </a:t>
            </a:r>
            <a:r>
              <a:rPr lang="fr-BE" sz="2400" u="sng" dirty="0"/>
              <a:t>24 mois </a:t>
            </a:r>
            <a:r>
              <a:rPr lang="fr-BE" sz="2400" dirty="0"/>
              <a:t>sur toute sa carrière professionnelle. </a:t>
            </a:r>
          </a:p>
          <a:p>
            <a:pPr lvl="1"/>
            <a:r>
              <a:rPr lang="fr-BE" sz="2400" dirty="0"/>
              <a:t>La durée passe à </a:t>
            </a:r>
            <a:r>
              <a:rPr lang="fr-BE" sz="2400" u="sng" dirty="0"/>
              <a:t>36 mois si </a:t>
            </a:r>
            <a:r>
              <a:rPr lang="fr-BE" sz="2400" dirty="0"/>
              <a:t>:</a:t>
            </a:r>
          </a:p>
          <a:p>
            <a:pPr marL="1209675" lvl="1" indent="-539750">
              <a:buFont typeface="Wingdings" pitchFamily="2" charset="2"/>
              <a:buChar char="ü"/>
            </a:pPr>
            <a:r>
              <a:rPr lang="fr-BE" sz="2400" dirty="0"/>
              <a:t>dans le mois calendrier qui précède l’engagement, il satisfait aux conditions de la dispense ALE 79&amp;4bis </a:t>
            </a:r>
          </a:p>
          <a:p>
            <a:pPr lvl="1">
              <a:buNone/>
            </a:pPr>
            <a:r>
              <a:rPr lang="fr-BE" b="1" dirty="0"/>
              <a:t>	</a:t>
            </a:r>
            <a:r>
              <a:rPr lang="fr-BE" sz="2400" b="1" dirty="0"/>
              <a:t>OU</a:t>
            </a:r>
          </a:p>
          <a:p>
            <a:pPr lvl="2" indent="-473075">
              <a:buFont typeface="Wingdings" pitchFamily="2" charset="2"/>
              <a:buChar char="ü"/>
            </a:pPr>
            <a:r>
              <a:rPr lang="fr-BE" dirty="0"/>
              <a:t>au moment de l’engagement, il habite une commune à taux de chômage élevé (20%)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801179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6.2. L’allocation d’intégration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sz="2800" b="1" u="sng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Montants et codes:</a:t>
            </a:r>
          </a:p>
          <a:p>
            <a:pPr marL="0" indent="0">
              <a:buNone/>
            </a:pPr>
            <a:r>
              <a:rPr lang="fr-BE" dirty="0">
                <a:latin typeface="+mj-lt"/>
              </a:rPr>
              <a:t> </a:t>
            </a:r>
            <a:r>
              <a:rPr lang="fr-BE" sz="2400" dirty="0">
                <a:latin typeface="+mj-lt"/>
              </a:rPr>
              <a:t>Montant forfaitaire en fonction de l’horaire de travail sur base du facteur Q </a:t>
            </a:r>
            <a:r>
              <a:rPr lang="fr-BE" sz="2400" dirty="0">
                <a:latin typeface="+mj-lt"/>
                <a:sym typeface="Wingdings" panose="05000000000000000000" pitchFamily="2" charset="2"/>
              </a:rPr>
              <a:t> payé par Wech 508</a:t>
            </a:r>
            <a:endParaRPr lang="fr-BE" sz="2400" dirty="0">
              <a:latin typeface="+mj-lt"/>
            </a:endParaRPr>
          </a:p>
          <a:p>
            <a:pPr marL="0" indent="0">
              <a:buNone/>
            </a:pPr>
            <a:endParaRPr lang="fr-BE" sz="1200" dirty="0">
              <a:latin typeface="+mj-lt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29</a:t>
            </a:fld>
            <a:endParaRPr lang="fr-FR" dirty="0"/>
          </a:p>
        </p:txBody>
      </p:sp>
      <p:graphicFrame>
        <p:nvGraphicFramePr>
          <p:cNvPr id="6" name="Objet 5">
            <a:extLst>
              <a:ext uri="{FF2B5EF4-FFF2-40B4-BE49-F238E27FC236}">
                <a16:creationId xmlns:a16="http://schemas.microsoft.com/office/drawing/2014/main" id="{4D3B1ED2-AB3C-4AAF-AC52-E5043935D5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3212976"/>
          <a:ext cx="8229600" cy="3143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487214" imgH="1838227" progId="Excel.Sheet.12">
                  <p:embed/>
                </p:oleObj>
              </mc:Choice>
              <mc:Fallback>
                <p:oleObj name="Worksheet" r:id="rId2" imgW="10487214" imgH="1838227" progId="Excel.Sheet.12">
                  <p:embed/>
                  <p:pic>
                    <p:nvPicPr>
                      <p:cNvPr id="6" name="Objet 5">
                        <a:extLst>
                          <a:ext uri="{FF2B5EF4-FFF2-40B4-BE49-F238E27FC236}">
                            <a16:creationId xmlns:a16="http://schemas.microsoft.com/office/drawing/2014/main" id="{4D3B1ED2-AB3C-4AAF-AC52-E5043935D5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00" y="3212976"/>
                        <a:ext cx="8229600" cy="31433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906651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6.3. Déménagement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fr-BE" b="1" dirty="0">
                <a:solidFill>
                  <a:srgbClr val="FF0000"/>
                </a:solidFill>
                <a:cs typeface="Times New Roman" pitchFamily="18" charset="0"/>
                <a:sym typeface="Wingdings" panose="05000000000000000000" pitchFamily="2" charset="2"/>
              </a:rPr>
              <a:t>Déménagement en Région Flamande :</a:t>
            </a:r>
          </a:p>
          <a:p>
            <a:pPr marL="0" indent="0"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Vient d’une autre Région</a:t>
            </a:r>
          </a:p>
          <a:p>
            <a:pPr>
              <a:buFontTx/>
              <a:buChar char="-"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Si </a:t>
            </a:r>
            <a:r>
              <a:rPr lang="fr-BE" sz="2400" dirty="0">
                <a:sym typeface="Wingdings" panose="05000000000000000000" pitchFamily="2" charset="2"/>
              </a:rPr>
              <a:t>e</a:t>
            </a:r>
            <a:r>
              <a:rPr lang="nl-BE" sz="2400" dirty="0"/>
              <a:t>ntrée en service ≥ 01.01.2017 </a:t>
            </a: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, </a:t>
            </a:r>
            <a:r>
              <a:rPr lang="fr-BE" sz="2400" dirty="0">
                <a:sym typeface="Wingdings" panose="05000000000000000000" pitchFamily="2" charset="2"/>
              </a:rPr>
              <a:t>l</a:t>
            </a:r>
            <a:r>
              <a:rPr lang="fr-BE" sz="2400" dirty="0"/>
              <a:t>’avantage prend </a:t>
            </a:r>
            <a:r>
              <a:rPr lang="fr-BE" sz="2400" b="1" dirty="0">
                <a:solidFill>
                  <a:srgbClr val="C00000"/>
                </a:solidFill>
              </a:rPr>
              <a:t>fin à partir du 1</a:t>
            </a:r>
            <a:r>
              <a:rPr lang="fr-BE" sz="2400" b="1" baseline="30000" dirty="0">
                <a:solidFill>
                  <a:srgbClr val="C00000"/>
                </a:solidFill>
              </a:rPr>
              <a:t>er</a:t>
            </a:r>
            <a:r>
              <a:rPr lang="fr-BE" sz="2400" b="1" dirty="0">
                <a:solidFill>
                  <a:srgbClr val="C00000"/>
                </a:solidFill>
              </a:rPr>
              <a:t> jour du 2</a:t>
            </a:r>
            <a:r>
              <a:rPr lang="fr-BE" sz="2400" b="1" baseline="30000" dirty="0">
                <a:solidFill>
                  <a:srgbClr val="C00000"/>
                </a:solidFill>
              </a:rPr>
              <a:t>ème</a:t>
            </a:r>
            <a:r>
              <a:rPr lang="fr-BE" sz="2400" b="1" dirty="0">
                <a:solidFill>
                  <a:srgbClr val="C00000"/>
                </a:solidFill>
              </a:rPr>
              <a:t> mois </a:t>
            </a:r>
            <a:r>
              <a:rPr lang="fr-BE" sz="2400" dirty="0"/>
              <a:t>qui suit le mois au cours duquel le BC est informé du déménagement. </a:t>
            </a:r>
          </a:p>
          <a:p>
            <a:pPr>
              <a:buFontTx/>
              <a:buChar char="-"/>
            </a:pPr>
            <a:endParaRPr lang="fr-BE" sz="2400" dirty="0"/>
          </a:p>
          <a:p>
            <a:pPr marL="0" indent="0">
              <a:buNone/>
            </a:pPr>
            <a:r>
              <a:rPr lang="fr-BE" b="1" dirty="0">
                <a:solidFill>
                  <a:srgbClr val="FF0000"/>
                </a:solidFill>
                <a:cs typeface="Times New Roman" pitchFamily="18" charset="0"/>
                <a:sym typeface="Wingdings" panose="05000000000000000000" pitchFamily="2" charset="2"/>
              </a:rPr>
              <a:t>Déménagement en Communauté Germanophone :</a:t>
            </a:r>
          </a:p>
          <a:p>
            <a:pPr>
              <a:buFontTx/>
              <a:buChar char="-"/>
            </a:pPr>
            <a:r>
              <a:rPr lang="fr-BE" sz="2400" dirty="0"/>
              <a:t>Avantage refusé </a:t>
            </a:r>
          </a:p>
          <a:p>
            <a:pPr>
              <a:buFontTx/>
              <a:buChar char="-"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722585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6.3. Déménagement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fr-BE" sz="12800" b="1" dirty="0">
                <a:solidFill>
                  <a:srgbClr val="FF0000"/>
                </a:solidFill>
                <a:cs typeface="Times New Roman" pitchFamily="18" charset="0"/>
                <a:sym typeface="Wingdings" panose="05000000000000000000" pitchFamily="2" charset="2"/>
              </a:rPr>
              <a:t>Déménagement en Région wallonne </a:t>
            </a:r>
            <a:endParaRPr lang="fr-BE" sz="96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BE" sz="7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9600" dirty="0">
                <a:cs typeface="Times New Roman" pitchFamily="18" charset="0"/>
                <a:sym typeface="Wingdings" panose="05000000000000000000" pitchFamily="2" charset="2"/>
              </a:rPr>
              <a:t>Vient de la </a:t>
            </a:r>
            <a:r>
              <a:rPr lang="fr-BE" sz="9600" b="1" dirty="0">
                <a:cs typeface="Times New Roman" pitchFamily="18" charset="0"/>
                <a:sym typeface="Wingdings" panose="05000000000000000000" pitchFamily="2" charset="2"/>
              </a:rPr>
              <a:t>Communauté Germanophone ou Région Flamande</a:t>
            </a:r>
            <a:r>
              <a:rPr lang="fr-BE" sz="9600" dirty="0">
                <a:cs typeface="Times New Roman" pitchFamily="18" charset="0"/>
                <a:sym typeface="Wingdings" panose="05000000000000000000" pitchFamily="2" charset="2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9600" dirty="0">
                <a:cs typeface="Times New Roman" pitchFamily="18" charset="0"/>
                <a:sym typeface="Wingdings" panose="05000000000000000000" pitchFamily="2" charset="2"/>
              </a:rPr>
              <a:t>Pas possible</a:t>
            </a:r>
          </a:p>
          <a:p>
            <a:pPr marL="0" indent="0">
              <a:buNone/>
            </a:pPr>
            <a:endParaRPr lang="fr-BE" sz="96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9600" dirty="0">
                <a:cs typeface="Times New Roman" pitchFamily="18" charset="0"/>
                <a:sym typeface="Wingdings" panose="05000000000000000000" pitchFamily="2" charset="2"/>
              </a:rPr>
              <a:t>Vient de la </a:t>
            </a:r>
            <a:r>
              <a:rPr lang="fr-BE" sz="9600" b="1" dirty="0">
                <a:cs typeface="Times New Roman" pitchFamily="18" charset="0"/>
                <a:sym typeface="Wingdings" panose="05000000000000000000" pitchFamily="2" charset="2"/>
              </a:rPr>
              <a:t>Région Bruxelles-Capitale </a:t>
            </a:r>
            <a:r>
              <a:rPr lang="fr-BE" sz="9600" dirty="0">
                <a:cs typeface="Times New Roman" pitchFamily="18" charset="0"/>
                <a:sym typeface="Wingdings" panose="05000000000000000000" pitchFamily="2" charset="2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9600" dirty="0">
                <a:cs typeface="Times New Roman" pitchFamily="18" charset="0"/>
                <a:sym typeface="Wingdings" panose="05000000000000000000" pitchFamily="2" charset="2"/>
              </a:rPr>
              <a:t> Si entrée en service ≥ 01.07.2017   et &lt;  01.01.2021 </a:t>
            </a:r>
          </a:p>
          <a:p>
            <a:pPr marL="0" indent="0">
              <a:buNone/>
            </a:pPr>
            <a:endParaRPr lang="fr-BE" sz="96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9600" dirty="0">
                <a:cs typeface="Times New Roman" pitchFamily="18" charset="0"/>
                <a:sym typeface="Wingdings" panose="05000000000000000000" pitchFamily="2" charset="2"/>
              </a:rPr>
              <a:t> l’avantage prend fin à partir du 1er jour du 2ème mois qui suit le mois au cours duquel le BC est informé du déménagement</a:t>
            </a:r>
          </a:p>
          <a:p>
            <a:pPr>
              <a:buFont typeface="Wingdings" panose="05000000000000000000" pitchFamily="2" charset="2"/>
              <a:buChar char="Ø"/>
            </a:pPr>
            <a:endParaRPr lang="fr-BE" sz="9600" dirty="0">
              <a:cs typeface="Times New Roman" pitchFamily="18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fr-BE" sz="7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949962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6.3. Déménagement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sz="3000" b="1" dirty="0">
                <a:solidFill>
                  <a:srgbClr val="FF0000"/>
                </a:solidFill>
                <a:cs typeface="Times New Roman" pitchFamily="18" charset="0"/>
                <a:sym typeface="Wingdings" panose="05000000000000000000" pitchFamily="2" charset="2"/>
              </a:rPr>
              <a:t>Déménagement en Région Bruxelles-Capitale</a:t>
            </a: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Le Régime PTP a été abrogé à partir du 01.01.2021.</a:t>
            </a:r>
          </a:p>
          <a:p>
            <a:pPr marL="0" indent="0"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Vient de la </a:t>
            </a:r>
            <a:r>
              <a:rPr lang="fr-BE" sz="2400" b="1" dirty="0">
                <a:cs typeface="Times New Roman" pitchFamily="18" charset="0"/>
                <a:sym typeface="Wingdings" panose="05000000000000000000" pitchFamily="2" charset="2"/>
              </a:rPr>
              <a:t>Région Wallonne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DA </a:t>
            </a:r>
            <a:r>
              <a:rPr lang="fr-FR" sz="2400" dirty="0">
                <a:cs typeface="Times New Roman" pitchFamily="18" charset="0"/>
              </a:rPr>
              <a:t>&gt;</a:t>
            </a: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 31.12.2020    fin PTP au dernier jour du mois qui suit celui où il a été informé du déménagement (réception du dossier).</a:t>
            </a:r>
          </a:p>
          <a:p>
            <a:pPr marL="0" indent="0"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Vient de la </a:t>
            </a:r>
            <a:r>
              <a:rPr lang="fr-BE" sz="2400" b="1" dirty="0">
                <a:cs typeface="Times New Roman" pitchFamily="18" charset="0"/>
                <a:sym typeface="Wingdings" panose="05000000000000000000" pitchFamily="2" charset="2"/>
              </a:rPr>
              <a:t>Région flamande </a:t>
            </a: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ou </a:t>
            </a:r>
            <a:r>
              <a:rPr lang="fr-BE" sz="2400" b="1" dirty="0">
                <a:cs typeface="Times New Roman" pitchFamily="18" charset="0"/>
                <a:sym typeface="Wingdings" panose="05000000000000000000" pitchFamily="2" charset="2"/>
              </a:rPr>
              <a:t>Communauté Germanophone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Pas possible</a:t>
            </a:r>
          </a:p>
          <a:p>
            <a:pPr marL="0" indent="0"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BE" sz="24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525378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23F934EA-5929-433F-BEA6-8A8ACAA8FF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5215522"/>
              </p:ext>
            </p:extLst>
          </p:nvPr>
        </p:nvGraphicFramePr>
        <p:xfrm>
          <a:off x="0" y="0"/>
          <a:ext cx="9144000" cy="707014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26191388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19867292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63869063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676923517"/>
                    </a:ext>
                  </a:extLst>
                </a:gridCol>
              </a:tblGrid>
              <a:tr h="1042696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DRS wech 508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Risque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10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11 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ou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 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DRS wech 508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Risque : 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BE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DRS wech 508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Risque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 ou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770501"/>
                  </a:ext>
                </a:extLst>
              </a:tr>
              <a:tr h="667692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BCE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323885"/>
                  </a:ext>
                </a:extLst>
              </a:tr>
              <a:tr h="81743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Q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-----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  <a:endParaRPr lang="fr-BE" sz="1400" b="1" dirty="0"/>
                    </a:p>
                    <a:p>
                      <a:pPr algn="ctr"/>
                      <a:r>
                        <a:rPr lang="fr-BE" sz="1400" b="1" dirty="0"/>
                        <a:t>Sauf si Q/S &lt; 1/2 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  <a:p>
                      <a:pPr algn="ctr"/>
                      <a:r>
                        <a:rPr lang="fr-BE" sz="1400" b="1" dirty="0">
                          <a:solidFill>
                            <a:srgbClr val="C00000"/>
                          </a:solidFill>
                        </a:rPr>
                        <a:t>Pas de contrôle du facteur Q</a:t>
                      </a:r>
                    </a:p>
                    <a:p>
                      <a:pPr algn="ctr"/>
                      <a:r>
                        <a:rPr lang="fr-BE" sz="1400" b="1" dirty="0">
                          <a:solidFill>
                            <a:srgbClr val="C00000"/>
                          </a:solidFill>
                        </a:rPr>
                        <a:t>si « Q moyen 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68199"/>
                  </a:ext>
                </a:extLst>
              </a:tr>
              <a:tr h="667692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S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674357"/>
                  </a:ext>
                </a:extLst>
              </a:tr>
              <a:tr h="667692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Cat. empl.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71633"/>
                  </a:ext>
                </a:extLst>
              </a:tr>
              <a:tr h="667692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Code trav.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051391"/>
                  </a:ext>
                </a:extLst>
              </a:tr>
              <a:tr h="667692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C. P.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722173"/>
                  </a:ext>
                </a:extLst>
              </a:tr>
              <a:tr h="829705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Date début occup. &lt; début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592603"/>
                  </a:ext>
                </a:extLst>
              </a:tr>
              <a:tr h="829705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Date fin occup.</a:t>
                      </a:r>
                    </a:p>
                    <a:p>
                      <a:pPr algn="ctr"/>
                      <a:r>
                        <a:rPr lang="fr-BE" b="1" dirty="0"/>
                        <a:t>&gt; fin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  <a:p>
                      <a:pPr algn="ctr"/>
                      <a:r>
                        <a:rPr lang="fr-BE" sz="1400" b="1" i="0" dirty="0">
                          <a:solidFill>
                            <a:schemeClr val="tx1"/>
                          </a:solidFill>
                        </a:rPr>
                        <a:t>Sauf si réengagement même BCE dans les 12 mois (pour </a:t>
                      </a:r>
                      <a:r>
                        <a:rPr lang="fr-BE" sz="1400" b="1" i="0">
                          <a:solidFill>
                            <a:schemeClr val="tx1"/>
                          </a:solidFill>
                        </a:rPr>
                        <a:t>les risques </a:t>
                      </a:r>
                      <a:r>
                        <a:rPr lang="fr-BE" sz="1400" b="1" i="0" dirty="0">
                          <a:solidFill>
                            <a:schemeClr val="tx1"/>
                          </a:solidFill>
                        </a:rPr>
                        <a:t>10 et 11)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273158"/>
                  </a:ext>
                </a:extLst>
              </a:tr>
            </a:tbl>
          </a:graphicData>
        </a:graphic>
      </p:graphicFrame>
      <p:sp>
        <p:nvSpPr>
          <p:cNvPr id="10" name="Signe de multiplication 9">
            <a:extLst>
              <a:ext uri="{FF2B5EF4-FFF2-40B4-BE49-F238E27FC236}">
                <a16:creationId xmlns:a16="http://schemas.microsoft.com/office/drawing/2014/main" id="{643CD86F-BD22-4BD7-BCE1-DAA7EFC26CAC}"/>
              </a:ext>
            </a:extLst>
          </p:cNvPr>
          <p:cNvSpPr/>
          <p:nvPr/>
        </p:nvSpPr>
        <p:spPr>
          <a:xfrm>
            <a:off x="5555193" y="3310627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igne de multiplication 10">
            <a:extLst>
              <a:ext uri="{FF2B5EF4-FFF2-40B4-BE49-F238E27FC236}">
                <a16:creationId xmlns:a16="http://schemas.microsoft.com/office/drawing/2014/main" id="{0CDCB05A-BA38-42F5-96F6-31F611BCB10D}"/>
              </a:ext>
            </a:extLst>
          </p:cNvPr>
          <p:cNvSpPr/>
          <p:nvPr/>
        </p:nvSpPr>
        <p:spPr>
          <a:xfrm>
            <a:off x="3282283" y="3310627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igne de multiplication 11">
            <a:extLst>
              <a:ext uri="{FF2B5EF4-FFF2-40B4-BE49-F238E27FC236}">
                <a16:creationId xmlns:a16="http://schemas.microsoft.com/office/drawing/2014/main" id="{5CF57641-E73F-4865-BB9D-4E5256D01467}"/>
              </a:ext>
            </a:extLst>
          </p:cNvPr>
          <p:cNvSpPr/>
          <p:nvPr/>
        </p:nvSpPr>
        <p:spPr>
          <a:xfrm>
            <a:off x="3282283" y="3970820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igne de multiplication 12">
            <a:extLst>
              <a:ext uri="{FF2B5EF4-FFF2-40B4-BE49-F238E27FC236}">
                <a16:creationId xmlns:a16="http://schemas.microsoft.com/office/drawing/2014/main" id="{27AB36CC-7E84-4A11-8043-113DBDFEA4F2}"/>
              </a:ext>
            </a:extLst>
          </p:cNvPr>
          <p:cNvSpPr/>
          <p:nvPr/>
        </p:nvSpPr>
        <p:spPr>
          <a:xfrm>
            <a:off x="3272237" y="4655549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Signe de multiplication 13">
            <a:extLst>
              <a:ext uri="{FF2B5EF4-FFF2-40B4-BE49-F238E27FC236}">
                <a16:creationId xmlns:a16="http://schemas.microsoft.com/office/drawing/2014/main" id="{313F2182-2B93-455A-A4EF-C168EA6DD386}"/>
              </a:ext>
            </a:extLst>
          </p:cNvPr>
          <p:cNvSpPr/>
          <p:nvPr/>
        </p:nvSpPr>
        <p:spPr>
          <a:xfrm>
            <a:off x="5555193" y="397518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igne de multiplication 14">
            <a:extLst>
              <a:ext uri="{FF2B5EF4-FFF2-40B4-BE49-F238E27FC236}">
                <a16:creationId xmlns:a16="http://schemas.microsoft.com/office/drawing/2014/main" id="{793FD8CF-3CC2-4554-AD3A-15B0F9269DC7}"/>
              </a:ext>
            </a:extLst>
          </p:cNvPr>
          <p:cNvSpPr/>
          <p:nvPr/>
        </p:nvSpPr>
        <p:spPr>
          <a:xfrm>
            <a:off x="5555193" y="4655549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igne de multiplication 15">
            <a:extLst>
              <a:ext uri="{FF2B5EF4-FFF2-40B4-BE49-F238E27FC236}">
                <a16:creationId xmlns:a16="http://schemas.microsoft.com/office/drawing/2014/main" id="{CE343EF3-91B3-4D07-B2D6-F1E33BC9F377}"/>
              </a:ext>
            </a:extLst>
          </p:cNvPr>
          <p:cNvSpPr/>
          <p:nvPr/>
        </p:nvSpPr>
        <p:spPr>
          <a:xfrm>
            <a:off x="7838934" y="3310627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Signe de multiplication 16">
            <a:extLst>
              <a:ext uri="{FF2B5EF4-FFF2-40B4-BE49-F238E27FC236}">
                <a16:creationId xmlns:a16="http://schemas.microsoft.com/office/drawing/2014/main" id="{7B4800B9-9661-4B12-ACBD-77C3D97D05B8}"/>
              </a:ext>
            </a:extLst>
          </p:cNvPr>
          <p:cNvSpPr/>
          <p:nvPr/>
        </p:nvSpPr>
        <p:spPr>
          <a:xfrm>
            <a:off x="7838934" y="3970820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igne de multiplication 17">
            <a:extLst>
              <a:ext uri="{FF2B5EF4-FFF2-40B4-BE49-F238E27FC236}">
                <a16:creationId xmlns:a16="http://schemas.microsoft.com/office/drawing/2014/main" id="{28496144-459F-4C3E-B0A4-8002446BB519}"/>
              </a:ext>
            </a:extLst>
          </p:cNvPr>
          <p:cNvSpPr/>
          <p:nvPr/>
        </p:nvSpPr>
        <p:spPr>
          <a:xfrm>
            <a:off x="7834356" y="4655549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igne de multiplication 19">
            <a:extLst>
              <a:ext uri="{FF2B5EF4-FFF2-40B4-BE49-F238E27FC236}">
                <a16:creationId xmlns:a16="http://schemas.microsoft.com/office/drawing/2014/main" id="{246C2D86-4684-49D0-A722-AEE883738436}"/>
              </a:ext>
            </a:extLst>
          </p:cNvPr>
          <p:cNvSpPr/>
          <p:nvPr/>
        </p:nvSpPr>
        <p:spPr>
          <a:xfrm>
            <a:off x="5555193" y="1721651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Signe de multiplication 20">
            <a:extLst>
              <a:ext uri="{FF2B5EF4-FFF2-40B4-BE49-F238E27FC236}">
                <a16:creationId xmlns:a16="http://schemas.microsoft.com/office/drawing/2014/main" id="{200CF1BE-6EC1-4DC0-B16B-9768222893A2}"/>
              </a:ext>
            </a:extLst>
          </p:cNvPr>
          <p:cNvSpPr/>
          <p:nvPr/>
        </p:nvSpPr>
        <p:spPr>
          <a:xfrm>
            <a:off x="3272237" y="2645199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EEC0FF4-9724-4C14-8726-4EE9CBF0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6216" y="6440764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Signe de multiplication 18">
            <a:extLst>
              <a:ext uri="{FF2B5EF4-FFF2-40B4-BE49-F238E27FC236}">
                <a16:creationId xmlns:a16="http://schemas.microsoft.com/office/drawing/2014/main" id="{6843D07B-07C2-4E51-938C-BC9189479F83}"/>
              </a:ext>
            </a:extLst>
          </p:cNvPr>
          <p:cNvSpPr/>
          <p:nvPr/>
        </p:nvSpPr>
        <p:spPr>
          <a:xfrm>
            <a:off x="5555192" y="2645199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74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1C5C95-A1F8-4412-BB1B-CA67FC41F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Tâche « Q changé: DA nécessaire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2E330E-0AF3-4DE2-B468-9DB3FE2FE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/>
              <a:t>Si la DRS WECH508 (risque 1 ou 4) reprend un Q ≠ S07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ET</a:t>
            </a:r>
            <a:r>
              <a:rPr lang="fr-BE" dirty="0"/>
              <a:t> qu’il ne s’agit </a:t>
            </a:r>
            <a:r>
              <a:rPr lang="fr-BE" u="sng" dirty="0"/>
              <a:t>pas</a:t>
            </a:r>
            <a:r>
              <a:rPr lang="fr-BE" dirty="0"/>
              <a:t> d’un </a:t>
            </a:r>
            <a:r>
              <a:rPr lang="fr-BE" b="1" dirty="0"/>
              <a:t>Q moyen </a:t>
            </a:r>
            <a:r>
              <a:rPr lang="fr-BE" dirty="0"/>
              <a:t>(valeur 3), une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DA est requise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Communication téléphonique avec l’affilié et confirmation par email ou courrier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Création d’une farde en suspens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Ajout de la DRS au portefeuille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Tâche « traitée »</a:t>
            </a:r>
          </a:p>
          <a:p>
            <a:r>
              <a:rPr lang="fr-BE" dirty="0"/>
              <a:t>Le dossier introduit reprend comme date de DA, la </a:t>
            </a:r>
            <a:r>
              <a:rPr lang="fr-BE" b="1" dirty="0"/>
              <a:t>date réelle </a:t>
            </a:r>
            <a:r>
              <a:rPr lang="fr-BE" dirty="0"/>
              <a:t>du changement du facteur Q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B06360-91B4-40B2-BBE5-0B6D6516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47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60FBD5-6405-491C-B81C-3FABBB318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93" y="290191"/>
            <a:ext cx="8229600" cy="1143000"/>
          </a:xfrm>
        </p:spPr>
        <p:txBody>
          <a:bodyPr/>
          <a:lstStyle/>
          <a:p>
            <a:pPr algn="r"/>
            <a:r>
              <a:rPr lang="fr-BE" b="1" i="1" dirty="0"/>
              <a:t>Situation 1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8A01E1-4160-4930-A4F9-CC7FB806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79E23D-F6C2-4422-8B82-BB76B3CAB178}"/>
              </a:ext>
            </a:extLst>
          </p:cNvPr>
          <p:cNvSpPr/>
          <p:nvPr/>
        </p:nvSpPr>
        <p:spPr>
          <a:xfrm>
            <a:off x="666505" y="3865735"/>
            <a:ext cx="4205487" cy="8662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57/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&amp;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impulsion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Employeur 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>
                <a:solidFill>
                  <a:prstClr val="black"/>
                </a:solidFill>
                <a:latin typeface="Calibri"/>
              </a:rPr>
              <a:t>1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7/38 salaire 1150€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ACC702-E167-4DA3-9C95-0EBA26AE41B3}"/>
              </a:ext>
            </a:extLst>
          </p:cNvPr>
          <p:cNvSpPr/>
          <p:nvPr/>
        </p:nvSpPr>
        <p:spPr>
          <a:xfrm>
            <a:off x="4871992" y="3858982"/>
            <a:ext cx="3372416" cy="8661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Préfixe ? </a:t>
            </a:r>
            <a:r>
              <a:rPr kumimoji="0" lang="fr-BE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&amp;</a:t>
            </a: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Impulsion ?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Employeur 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19/38 salaire 1225€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0BB9B6B0-CBCE-4D55-919C-ED8E2F85BF9F}"/>
              </a:ext>
            </a:extLst>
          </p:cNvPr>
          <p:cNvCxnSpPr>
            <a:cxnSpLocks/>
          </p:cNvCxnSpPr>
          <p:nvPr/>
        </p:nvCxnSpPr>
        <p:spPr>
          <a:xfrm>
            <a:off x="1043608" y="2881435"/>
            <a:ext cx="0" cy="28518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6799480A-76CA-4A3F-B953-4D2B1B5E5AA9}"/>
              </a:ext>
            </a:extLst>
          </p:cNvPr>
          <p:cNvCxnSpPr/>
          <p:nvPr/>
        </p:nvCxnSpPr>
        <p:spPr>
          <a:xfrm>
            <a:off x="377371" y="4725144"/>
            <a:ext cx="82296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5C44F256-C4BB-4D3C-B3F5-968F42CAA2C5}"/>
              </a:ext>
            </a:extLst>
          </p:cNvPr>
          <p:cNvSpPr txBox="1"/>
          <p:nvPr/>
        </p:nvSpPr>
        <p:spPr>
          <a:xfrm>
            <a:off x="1186209" y="2867438"/>
            <a:ext cx="1191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Octobre 2022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4BE8212-9DE0-4064-B7D8-0E53145B1300}"/>
              </a:ext>
            </a:extLst>
          </p:cNvPr>
          <p:cNvSpPr txBox="1"/>
          <p:nvPr/>
        </p:nvSpPr>
        <p:spPr>
          <a:xfrm>
            <a:off x="2521492" y="2881435"/>
            <a:ext cx="1191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400" dirty="0">
                <a:solidFill>
                  <a:prstClr val="black"/>
                </a:solidFill>
                <a:latin typeface="Calibri"/>
              </a:rPr>
              <a:t>Novembre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2022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C22BA48-13BD-4DED-8427-3B13C0EB9B97}"/>
              </a:ext>
            </a:extLst>
          </p:cNvPr>
          <p:cNvSpPr txBox="1"/>
          <p:nvPr/>
        </p:nvSpPr>
        <p:spPr>
          <a:xfrm>
            <a:off x="4012756" y="2863772"/>
            <a:ext cx="1191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400" dirty="0">
                <a:solidFill>
                  <a:prstClr val="black"/>
                </a:solidFill>
                <a:latin typeface="Calibri"/>
              </a:rPr>
              <a:t>Décembre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2022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F9BF4A2-631B-45A6-8648-AAD5B7324824}"/>
              </a:ext>
            </a:extLst>
          </p:cNvPr>
          <p:cNvSpPr txBox="1"/>
          <p:nvPr/>
        </p:nvSpPr>
        <p:spPr>
          <a:xfrm>
            <a:off x="5384440" y="2863772"/>
            <a:ext cx="1321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Janvier 2023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8E8BE3D-1D62-40E0-9AEB-0EFFA7554808}"/>
              </a:ext>
            </a:extLst>
          </p:cNvPr>
          <p:cNvSpPr txBox="1"/>
          <p:nvPr/>
        </p:nvSpPr>
        <p:spPr>
          <a:xfrm>
            <a:off x="6779532" y="2855416"/>
            <a:ext cx="1191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400" dirty="0">
                <a:solidFill>
                  <a:prstClr val="black"/>
                </a:solidFill>
                <a:latin typeface="Calibri"/>
              </a:rPr>
              <a:t>Février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2023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B301E1-022F-4273-96BE-C49638D425A9}"/>
              </a:ext>
            </a:extLst>
          </p:cNvPr>
          <p:cNvSpPr txBox="1"/>
          <p:nvPr/>
        </p:nvSpPr>
        <p:spPr>
          <a:xfrm>
            <a:off x="4211960" y="1844824"/>
            <a:ext cx="648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?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02EB62D-6238-4FB6-AEC7-AF425A651880}"/>
              </a:ext>
            </a:extLst>
          </p:cNvPr>
          <p:cNvSpPr txBox="1"/>
          <p:nvPr/>
        </p:nvSpPr>
        <p:spPr>
          <a:xfrm>
            <a:off x="1331640" y="4994641"/>
            <a:ext cx="10343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17/38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Val.2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37B03AA4-CF6D-4836-92EB-413508147C1A}"/>
              </a:ext>
            </a:extLst>
          </p:cNvPr>
          <p:cNvSpPr txBox="1"/>
          <p:nvPr/>
        </p:nvSpPr>
        <p:spPr>
          <a:xfrm>
            <a:off x="2615692" y="5011216"/>
            <a:ext cx="10343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400" dirty="0">
                <a:solidFill>
                  <a:prstClr val="black"/>
                </a:solidFill>
                <a:latin typeface="Calibri"/>
              </a:rPr>
              <a:t>1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Val.2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1D003-A0A2-463D-BF61-AC4DA7DF74F0}"/>
              </a:ext>
            </a:extLst>
          </p:cNvPr>
          <p:cNvSpPr txBox="1"/>
          <p:nvPr/>
        </p:nvSpPr>
        <p:spPr>
          <a:xfrm>
            <a:off x="4091559" y="5011295"/>
            <a:ext cx="1034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A9B1F1C-1068-469C-8FE1-A9A11E5C48CF}"/>
              </a:ext>
            </a:extLst>
          </p:cNvPr>
          <p:cNvSpPr txBox="1"/>
          <p:nvPr/>
        </p:nvSpPr>
        <p:spPr>
          <a:xfrm>
            <a:off x="5504332" y="4999836"/>
            <a:ext cx="1034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D02A7D6B-0A12-4AC7-9C96-8C2473A89319}"/>
              </a:ext>
            </a:extLst>
          </p:cNvPr>
          <p:cNvSpPr txBox="1"/>
          <p:nvPr/>
        </p:nvSpPr>
        <p:spPr>
          <a:xfrm>
            <a:off x="6933137" y="5034059"/>
            <a:ext cx="1034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5FBD414F-1E1F-4214-BF8C-167CCAD4A824}"/>
              </a:ext>
            </a:extLst>
          </p:cNvPr>
          <p:cNvCxnSpPr>
            <a:cxnSpLocks/>
          </p:cNvCxnSpPr>
          <p:nvPr/>
        </p:nvCxnSpPr>
        <p:spPr>
          <a:xfrm>
            <a:off x="2510487" y="2873531"/>
            <a:ext cx="0" cy="28518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85F69E4C-6C54-40BF-B419-42698ACA0C4E}"/>
              </a:ext>
            </a:extLst>
          </p:cNvPr>
          <p:cNvCxnSpPr>
            <a:cxnSpLocks/>
          </p:cNvCxnSpPr>
          <p:nvPr/>
        </p:nvCxnSpPr>
        <p:spPr>
          <a:xfrm>
            <a:off x="3923928" y="2898010"/>
            <a:ext cx="0" cy="28518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1AB7B331-0933-44DD-8AE8-86731799E907}"/>
              </a:ext>
            </a:extLst>
          </p:cNvPr>
          <p:cNvCxnSpPr>
            <a:cxnSpLocks/>
          </p:cNvCxnSpPr>
          <p:nvPr/>
        </p:nvCxnSpPr>
        <p:spPr>
          <a:xfrm>
            <a:off x="5364088" y="2898010"/>
            <a:ext cx="0" cy="28518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A4943A1E-AE60-467C-8516-003F12A7D9C6}"/>
              </a:ext>
            </a:extLst>
          </p:cNvPr>
          <p:cNvCxnSpPr>
            <a:cxnSpLocks/>
          </p:cNvCxnSpPr>
          <p:nvPr/>
        </p:nvCxnSpPr>
        <p:spPr>
          <a:xfrm>
            <a:off x="6799883" y="2898010"/>
            <a:ext cx="0" cy="28518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3F7DC1EF-B6EF-4E29-B20C-95E4BA76C447}"/>
              </a:ext>
            </a:extLst>
          </p:cNvPr>
          <p:cNvCxnSpPr>
            <a:cxnSpLocks/>
          </p:cNvCxnSpPr>
          <p:nvPr/>
        </p:nvCxnSpPr>
        <p:spPr>
          <a:xfrm>
            <a:off x="8100392" y="2898010"/>
            <a:ext cx="0" cy="28518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89B6E046-93D1-44D0-B03C-5DD650B1DE93}"/>
              </a:ext>
            </a:extLst>
          </p:cNvPr>
          <p:cNvCxnSpPr/>
          <p:nvPr/>
        </p:nvCxnSpPr>
        <p:spPr>
          <a:xfrm flipV="1">
            <a:off x="4871993" y="2492896"/>
            <a:ext cx="0" cy="2232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23B9801C-262F-47CE-9F5E-892C4BBCBD97}"/>
              </a:ext>
            </a:extLst>
          </p:cNvPr>
          <p:cNvSpPr txBox="1"/>
          <p:nvPr/>
        </p:nvSpPr>
        <p:spPr>
          <a:xfrm>
            <a:off x="1343833" y="5759970"/>
            <a:ext cx="10343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17/38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Val.2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9D91B073-B5B5-467C-92A7-A345F203351F}"/>
              </a:ext>
            </a:extLst>
          </p:cNvPr>
          <p:cNvSpPr txBox="1"/>
          <p:nvPr/>
        </p:nvSpPr>
        <p:spPr>
          <a:xfrm>
            <a:off x="2667385" y="5759970"/>
            <a:ext cx="10343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17/38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Val.2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AE73F300-EDDB-45AE-B139-E88BF9A80A3E}"/>
              </a:ext>
            </a:extLst>
          </p:cNvPr>
          <p:cNvSpPr txBox="1"/>
          <p:nvPr/>
        </p:nvSpPr>
        <p:spPr>
          <a:xfrm>
            <a:off x="4169654" y="5759970"/>
            <a:ext cx="1034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228A3D61-FD71-4F92-AAA1-E6A5218A7DD0}"/>
              </a:ext>
            </a:extLst>
          </p:cNvPr>
          <p:cNvSpPr txBox="1"/>
          <p:nvPr/>
        </p:nvSpPr>
        <p:spPr>
          <a:xfrm>
            <a:off x="5518867" y="5778976"/>
            <a:ext cx="1034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8F314B3-CE9A-4FE0-82F6-92BA19174140}"/>
              </a:ext>
            </a:extLst>
          </p:cNvPr>
          <p:cNvSpPr txBox="1"/>
          <p:nvPr/>
        </p:nvSpPr>
        <p:spPr>
          <a:xfrm>
            <a:off x="6933136" y="5778976"/>
            <a:ext cx="1034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?</a:t>
            </a:r>
            <a:endParaRPr kumimoji="0" lang="fr-BE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4650671"/>
      </p:ext>
    </p:extLst>
  </p:cSld>
  <p:clrMapOvr>
    <a:masterClrMapping/>
  </p:clrMapOvr>
  <p:transition>
    <p:dissolv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60FBD5-6405-491C-B81C-3FABBB318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93" y="290191"/>
            <a:ext cx="8229600" cy="1143000"/>
          </a:xfrm>
        </p:spPr>
        <p:txBody>
          <a:bodyPr/>
          <a:lstStyle/>
          <a:p>
            <a:pPr algn="r"/>
            <a:r>
              <a:rPr lang="fr-BE" b="1" i="1" dirty="0"/>
              <a:t>Situation 2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8A01E1-4160-4930-A4F9-CC7FB806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79E23D-F6C2-4422-8B82-BB76B3CAB178}"/>
              </a:ext>
            </a:extLst>
          </p:cNvPr>
          <p:cNvSpPr/>
          <p:nvPr/>
        </p:nvSpPr>
        <p:spPr>
          <a:xfrm>
            <a:off x="666505" y="3865735"/>
            <a:ext cx="4205487" cy="8662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99/ </a:t>
            </a:r>
            <a:r>
              <a:rPr kumimoji="0" lang="fr-BE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et</a:t>
            </a: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PTP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Employeur 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19/38 salaire 1430€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ACC702-E167-4DA3-9C95-0EBA26AE41B3}"/>
              </a:ext>
            </a:extLst>
          </p:cNvPr>
          <p:cNvSpPr/>
          <p:nvPr/>
        </p:nvSpPr>
        <p:spPr>
          <a:xfrm>
            <a:off x="4871992" y="3858982"/>
            <a:ext cx="3372416" cy="8661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Préfixe ? </a:t>
            </a:r>
            <a:r>
              <a:rPr kumimoji="0" lang="fr-BE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Et</a:t>
            </a: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PTP ?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Employeur 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29/38 salaire 1625€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0BB9B6B0-CBCE-4D55-919C-ED8E2F85BF9F}"/>
              </a:ext>
            </a:extLst>
          </p:cNvPr>
          <p:cNvCxnSpPr>
            <a:cxnSpLocks/>
          </p:cNvCxnSpPr>
          <p:nvPr/>
        </p:nvCxnSpPr>
        <p:spPr>
          <a:xfrm>
            <a:off x="1043608" y="2881435"/>
            <a:ext cx="0" cy="28518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6799480A-76CA-4A3F-B953-4D2B1B5E5AA9}"/>
              </a:ext>
            </a:extLst>
          </p:cNvPr>
          <p:cNvCxnSpPr/>
          <p:nvPr/>
        </p:nvCxnSpPr>
        <p:spPr>
          <a:xfrm>
            <a:off x="377371" y="4725144"/>
            <a:ext cx="82296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5C44F256-C4BB-4D3C-B3F5-968F42CAA2C5}"/>
              </a:ext>
            </a:extLst>
          </p:cNvPr>
          <p:cNvSpPr txBox="1"/>
          <p:nvPr/>
        </p:nvSpPr>
        <p:spPr>
          <a:xfrm>
            <a:off x="1186935" y="2856952"/>
            <a:ext cx="1191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Octo</a:t>
            </a:r>
            <a:r>
              <a:rPr lang="fr-BE" sz="1400" dirty="0" err="1">
                <a:solidFill>
                  <a:prstClr val="black"/>
                </a:solidFill>
                <a:latin typeface="Calibri"/>
              </a:rPr>
              <a:t>bre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2022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4BE8212-9DE0-4064-B7D8-0E53145B1300}"/>
              </a:ext>
            </a:extLst>
          </p:cNvPr>
          <p:cNvSpPr txBox="1"/>
          <p:nvPr/>
        </p:nvSpPr>
        <p:spPr>
          <a:xfrm>
            <a:off x="2510487" y="2863772"/>
            <a:ext cx="1191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Novembre  2022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C22BA48-13BD-4DED-8427-3B13C0EB9B97}"/>
              </a:ext>
            </a:extLst>
          </p:cNvPr>
          <p:cNvSpPr txBox="1"/>
          <p:nvPr/>
        </p:nvSpPr>
        <p:spPr>
          <a:xfrm>
            <a:off x="4012756" y="2863772"/>
            <a:ext cx="1191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400" dirty="0">
                <a:solidFill>
                  <a:prstClr val="black"/>
                </a:solidFill>
                <a:latin typeface="Calibri"/>
              </a:rPr>
              <a:t>Décembre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2022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F9BF4A2-631B-45A6-8648-AAD5B7324824}"/>
              </a:ext>
            </a:extLst>
          </p:cNvPr>
          <p:cNvSpPr txBox="1"/>
          <p:nvPr/>
        </p:nvSpPr>
        <p:spPr>
          <a:xfrm>
            <a:off x="5485978" y="2832329"/>
            <a:ext cx="1191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Janvier 2023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8E8BE3D-1D62-40E0-9AEB-0EFFA7554808}"/>
              </a:ext>
            </a:extLst>
          </p:cNvPr>
          <p:cNvSpPr txBox="1"/>
          <p:nvPr/>
        </p:nvSpPr>
        <p:spPr>
          <a:xfrm>
            <a:off x="6779532" y="2855416"/>
            <a:ext cx="1191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400" dirty="0">
                <a:solidFill>
                  <a:prstClr val="black"/>
                </a:solidFill>
                <a:latin typeface="Calibri"/>
              </a:rPr>
              <a:t>Février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2023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B301E1-022F-4273-96BE-C49638D425A9}"/>
              </a:ext>
            </a:extLst>
          </p:cNvPr>
          <p:cNvSpPr txBox="1"/>
          <p:nvPr/>
        </p:nvSpPr>
        <p:spPr>
          <a:xfrm>
            <a:off x="4559739" y="2018579"/>
            <a:ext cx="648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?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02EB62D-6238-4FB6-AEC7-AF425A651880}"/>
              </a:ext>
            </a:extLst>
          </p:cNvPr>
          <p:cNvSpPr txBox="1"/>
          <p:nvPr/>
        </p:nvSpPr>
        <p:spPr>
          <a:xfrm>
            <a:off x="1331640" y="4994641"/>
            <a:ext cx="10343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Val.2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37B03AA4-CF6D-4836-92EB-413508147C1A}"/>
              </a:ext>
            </a:extLst>
          </p:cNvPr>
          <p:cNvSpPr txBox="1"/>
          <p:nvPr/>
        </p:nvSpPr>
        <p:spPr>
          <a:xfrm>
            <a:off x="2615692" y="5011216"/>
            <a:ext cx="10343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400" dirty="0">
                <a:solidFill>
                  <a:prstClr val="black"/>
                </a:solidFill>
                <a:latin typeface="Calibri"/>
              </a:rPr>
              <a:t>19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Val.2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1D003-A0A2-463D-BF61-AC4DA7DF74F0}"/>
              </a:ext>
            </a:extLst>
          </p:cNvPr>
          <p:cNvSpPr txBox="1"/>
          <p:nvPr/>
        </p:nvSpPr>
        <p:spPr>
          <a:xfrm>
            <a:off x="4091559" y="5011295"/>
            <a:ext cx="1034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A9B1F1C-1068-469C-8FE1-A9A11E5C48CF}"/>
              </a:ext>
            </a:extLst>
          </p:cNvPr>
          <p:cNvSpPr txBox="1"/>
          <p:nvPr/>
        </p:nvSpPr>
        <p:spPr>
          <a:xfrm>
            <a:off x="5504332" y="4999836"/>
            <a:ext cx="1034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D02A7D6B-0A12-4AC7-9C96-8C2473A89319}"/>
              </a:ext>
            </a:extLst>
          </p:cNvPr>
          <p:cNvSpPr txBox="1"/>
          <p:nvPr/>
        </p:nvSpPr>
        <p:spPr>
          <a:xfrm>
            <a:off x="6933137" y="5034059"/>
            <a:ext cx="1034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5FBD414F-1E1F-4214-BF8C-167CCAD4A824}"/>
              </a:ext>
            </a:extLst>
          </p:cNvPr>
          <p:cNvCxnSpPr>
            <a:cxnSpLocks/>
          </p:cNvCxnSpPr>
          <p:nvPr/>
        </p:nvCxnSpPr>
        <p:spPr>
          <a:xfrm>
            <a:off x="2510487" y="2873531"/>
            <a:ext cx="0" cy="28518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85F69E4C-6C54-40BF-B419-42698ACA0C4E}"/>
              </a:ext>
            </a:extLst>
          </p:cNvPr>
          <p:cNvCxnSpPr>
            <a:cxnSpLocks/>
          </p:cNvCxnSpPr>
          <p:nvPr/>
        </p:nvCxnSpPr>
        <p:spPr>
          <a:xfrm>
            <a:off x="3923928" y="2898010"/>
            <a:ext cx="0" cy="28518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1AB7B331-0933-44DD-8AE8-86731799E907}"/>
              </a:ext>
            </a:extLst>
          </p:cNvPr>
          <p:cNvCxnSpPr>
            <a:cxnSpLocks/>
          </p:cNvCxnSpPr>
          <p:nvPr/>
        </p:nvCxnSpPr>
        <p:spPr>
          <a:xfrm>
            <a:off x="5364088" y="2898010"/>
            <a:ext cx="0" cy="28518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A4943A1E-AE60-467C-8516-003F12A7D9C6}"/>
              </a:ext>
            </a:extLst>
          </p:cNvPr>
          <p:cNvCxnSpPr>
            <a:cxnSpLocks/>
          </p:cNvCxnSpPr>
          <p:nvPr/>
        </p:nvCxnSpPr>
        <p:spPr>
          <a:xfrm>
            <a:off x="6799883" y="2898010"/>
            <a:ext cx="0" cy="28518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3F7DC1EF-B6EF-4E29-B20C-95E4BA76C447}"/>
              </a:ext>
            </a:extLst>
          </p:cNvPr>
          <p:cNvCxnSpPr>
            <a:cxnSpLocks/>
          </p:cNvCxnSpPr>
          <p:nvPr/>
        </p:nvCxnSpPr>
        <p:spPr>
          <a:xfrm>
            <a:off x="8100392" y="2898010"/>
            <a:ext cx="0" cy="28518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35685169-D6A2-44D0-BC9B-FD3A7C6E9D05}"/>
              </a:ext>
            </a:extLst>
          </p:cNvPr>
          <p:cNvSpPr txBox="1"/>
          <p:nvPr/>
        </p:nvSpPr>
        <p:spPr>
          <a:xfrm>
            <a:off x="2615692" y="5850432"/>
            <a:ext cx="10343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400" dirty="0">
                <a:solidFill>
                  <a:prstClr val="black"/>
                </a:solidFill>
                <a:latin typeface="Calibri"/>
              </a:rPr>
              <a:t>Risque 1</a:t>
            </a:r>
            <a:endParaRPr kumimoji="0" lang="fr-B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Val.2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95BAB908-2B06-44B3-96BB-9B9BCF86833D}"/>
              </a:ext>
            </a:extLst>
          </p:cNvPr>
          <p:cNvSpPr txBox="1"/>
          <p:nvPr/>
        </p:nvSpPr>
        <p:spPr>
          <a:xfrm>
            <a:off x="4163336" y="5833574"/>
            <a:ext cx="103433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400" dirty="0">
                <a:solidFill>
                  <a:prstClr val="black"/>
                </a:solidFill>
                <a:latin typeface="Calibri"/>
              </a:rPr>
              <a:t>Risque 1</a:t>
            </a:r>
            <a:endParaRPr kumimoji="0" lang="fr-B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FB5BCA92-263C-447F-98CE-547F2801556F}"/>
              </a:ext>
            </a:extLst>
          </p:cNvPr>
          <p:cNvSpPr txBox="1"/>
          <p:nvPr/>
        </p:nvSpPr>
        <p:spPr>
          <a:xfrm>
            <a:off x="6933137" y="5833573"/>
            <a:ext cx="103433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400" dirty="0">
                <a:solidFill>
                  <a:prstClr val="black"/>
                </a:solidFill>
                <a:latin typeface="Calibri"/>
              </a:rPr>
              <a:t>Risque 1</a:t>
            </a:r>
            <a:endParaRPr kumimoji="0" lang="fr-B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7296C48-7F8D-47D4-81F9-8575E1FCFB65}"/>
              </a:ext>
            </a:extLst>
          </p:cNvPr>
          <p:cNvSpPr txBox="1"/>
          <p:nvPr/>
        </p:nvSpPr>
        <p:spPr>
          <a:xfrm>
            <a:off x="1324703" y="5844820"/>
            <a:ext cx="10343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400" dirty="0">
                <a:solidFill>
                  <a:prstClr val="black"/>
                </a:solidFill>
                <a:latin typeface="Calibri"/>
              </a:rPr>
              <a:t>Risque 1</a:t>
            </a:r>
            <a:endParaRPr kumimoji="0" lang="fr-B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Val.2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89B6E046-93D1-44D0-B03C-5DD650B1DE93}"/>
              </a:ext>
            </a:extLst>
          </p:cNvPr>
          <p:cNvCxnSpPr/>
          <p:nvPr/>
        </p:nvCxnSpPr>
        <p:spPr>
          <a:xfrm flipV="1">
            <a:off x="4871993" y="2492896"/>
            <a:ext cx="0" cy="2232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369E0EB4-3960-4A06-A392-7560C06105C6}"/>
              </a:ext>
            </a:extLst>
          </p:cNvPr>
          <p:cNvSpPr txBox="1"/>
          <p:nvPr/>
        </p:nvSpPr>
        <p:spPr>
          <a:xfrm>
            <a:off x="5493977" y="5817720"/>
            <a:ext cx="103433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Wech 508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400" dirty="0">
                <a:solidFill>
                  <a:prstClr val="black"/>
                </a:solidFill>
                <a:latin typeface="Calibri"/>
              </a:rPr>
              <a:t>Risque 1</a:t>
            </a:r>
            <a:endParaRPr kumimoji="0" lang="fr-B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24975527"/>
      </p:ext>
    </p:extLst>
  </p:cSld>
  <p:clrMapOvr>
    <a:masterClrMapping/>
  </p:clrMapOvr>
  <p:transition>
    <p:dissolve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9608BEA-AA31-452E-9C7A-D7DDEEEA5D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C3892FE-4BC6-450D-958A-68D89EA85D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75FEFA-702A-4924-840C-B4113CEBEAE2}">
  <ds:schemaRefs>
    <ds:schemaRef ds:uri="7d2a3af0-b854-4018-b3fb-98bf2b75e19a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1e832426-6819-49af-b751-404cdfce1567"/>
    <ds:schemaRef ds:uri="bdec1399-7c99-4025-bfb6-e1e799e6630a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12624</TotalTime>
  <Words>2472</Words>
  <Application>Microsoft Office PowerPoint</Application>
  <PresentationFormat>On-screen Show (4:3)</PresentationFormat>
  <Paragraphs>566</Paragraphs>
  <Slides>36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Thème Office</vt:lpstr>
      <vt:lpstr>PowerPoint Presentation</vt:lpstr>
      <vt:lpstr>Table des matières</vt:lpstr>
      <vt:lpstr>Table des matières</vt:lpstr>
      <vt:lpstr>2. Aperçu  des régimes par région</vt:lpstr>
      <vt:lpstr> 3. Impulsion</vt:lpstr>
      <vt:lpstr>3.1 DA</vt:lpstr>
      <vt:lpstr>3.1 DA</vt:lpstr>
      <vt:lpstr>3.1 Allocation de travail</vt:lpstr>
      <vt:lpstr>3.2 Portabilité</vt:lpstr>
      <vt:lpstr>3.2 Portabilité</vt:lpstr>
      <vt:lpstr>3.2 Portabilité</vt:lpstr>
      <vt:lpstr>3.3 Chronologie</vt:lpstr>
      <vt:lpstr>3.3 Chronologie</vt:lpstr>
      <vt:lpstr>3.4  Déménagement</vt:lpstr>
      <vt:lpstr>3.4 Déménagement</vt:lpstr>
      <vt:lpstr> 4. Activa-Bruxelles</vt:lpstr>
      <vt:lpstr> 4.1 DA</vt:lpstr>
      <vt:lpstr>4.2 Durée Avantage</vt:lpstr>
      <vt:lpstr>4.2 Durée Avantage</vt:lpstr>
      <vt:lpstr>5. SINE</vt:lpstr>
      <vt:lpstr>5.1. Déménagement</vt:lpstr>
      <vt:lpstr>5.1. Déménagement</vt:lpstr>
      <vt:lpstr>5.1. Déménagement</vt:lpstr>
      <vt:lpstr>PowerPoint Presentation</vt:lpstr>
      <vt:lpstr>6. PTP</vt:lpstr>
      <vt:lpstr>6. PTP</vt:lpstr>
      <vt:lpstr>6.1. D.A</vt:lpstr>
      <vt:lpstr>6.2. L’allocation d’intégration</vt:lpstr>
      <vt:lpstr>6.2. L’allocation d’intégration</vt:lpstr>
      <vt:lpstr>6.3. Déménagement</vt:lpstr>
      <vt:lpstr>6.3. Déménagement</vt:lpstr>
      <vt:lpstr>6.3. Déménagement</vt:lpstr>
      <vt:lpstr>PowerPoint Presentation</vt:lpstr>
      <vt:lpstr>Tâche « Q changé: DA nécessaire »</vt:lpstr>
      <vt:lpstr>Situation 1</vt:lpstr>
      <vt:lpstr>Situation 2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FCJ-M40-Mesures en matière d'emploi-(niv. 2)-Participants</dc:title>
  <dc:creator>u99lge</dc:creator>
  <cp:lastModifiedBy>Jerome Martini</cp:lastModifiedBy>
  <cp:revision>707</cp:revision>
  <dcterms:created xsi:type="dcterms:W3CDTF">2010-09-22T12:12:06Z</dcterms:created>
  <dcterms:modified xsi:type="dcterms:W3CDTF">2022-12-14T09:15:44Z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17;#Admissibilité|d1ac0b1f-1e4c-4aa8-9a97-5b01e61985ba;#22;#Indemnisabilité|b5f95997-28b8-41b1-bbb7-1a3d8a5995b4;#13;#Tâches|addb87cc-e52a-4e6f-a061-fdea8baf7830</vt:lpwstr>
  </property>
  <property fmtid="{D5CDD505-2E9C-101B-9397-08002B2CF9AE}" pid="7" name="Thème">
    <vt:lpwstr>55;#Activa - SINE - PTP|b8ca51da-a514-4531-beb2-b799dc7d8f29</vt:lpwstr>
  </property>
  <property fmtid="{D5CDD505-2E9C-101B-9397-08002B2CF9AE}" pid="8" name="Order">
    <vt:r8>31900</vt:r8>
  </property>
  <property fmtid="{D5CDD505-2E9C-101B-9397-08002B2CF9AE}" pid="9" name="_dlc_DocIdItemGuid">
    <vt:lpwstr>8244eedd-62e6-458e-8450-6c2dc136279c</vt:lpwstr>
  </property>
  <property fmtid="{D5CDD505-2E9C-101B-9397-08002B2CF9AE}" pid="10" name="AuthorIds_UIVersion_18944">
    <vt:lpwstr>21</vt:lpwstr>
  </property>
  <property fmtid="{D5CDD505-2E9C-101B-9397-08002B2CF9AE}" pid="11" name="AuthorIds_UIVersion_19456">
    <vt:lpwstr>21</vt:lpwstr>
  </property>
  <property fmtid="{D5CDD505-2E9C-101B-9397-08002B2CF9AE}" pid="12" name="AuthorIds_UIVersion_19968">
    <vt:lpwstr>21</vt:lpwstr>
  </property>
</Properties>
</file>