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78" r:id="rId5"/>
    <p:sldId id="411" r:id="rId6"/>
    <p:sldId id="624" r:id="rId7"/>
    <p:sldId id="625" r:id="rId8"/>
    <p:sldId id="626" r:id="rId9"/>
    <p:sldId id="642" r:id="rId10"/>
    <p:sldId id="582" r:id="rId11"/>
    <p:sldId id="628" r:id="rId12"/>
    <p:sldId id="636" r:id="rId13"/>
    <p:sldId id="535" r:id="rId14"/>
    <p:sldId id="541" r:id="rId15"/>
    <p:sldId id="540" r:id="rId16"/>
    <p:sldId id="542" r:id="rId17"/>
    <p:sldId id="543" r:id="rId18"/>
    <p:sldId id="630" r:id="rId19"/>
    <p:sldId id="643" r:id="rId20"/>
    <p:sldId id="632" r:id="rId21"/>
    <p:sldId id="638" r:id="rId22"/>
    <p:sldId id="644" r:id="rId23"/>
    <p:sldId id="645" r:id="rId24"/>
    <p:sldId id="639" r:id="rId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CE001-A3A9-4EB8-83DB-26BDE7EFF812}" v="2" dt="2022-12-13T07:47:19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3" autoAdjust="0"/>
    <p:restoredTop sz="90775" autoAdjust="0"/>
  </p:normalViewPr>
  <p:slideViewPr>
    <p:cSldViewPr>
      <p:cViewPr varScale="1">
        <p:scale>
          <a:sx n="73" d="100"/>
          <a:sy n="73" d="100"/>
        </p:scale>
        <p:origin x="10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19/12/2022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19/12/2022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83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705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7EB2-8706-4F55-A1EF-2F0318504A71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3D82-B4E1-432B-84E2-DCF9F433AF02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417E-C3DC-4D1C-9210-00E6D8B3D69F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D85B-37F0-4D1E-B040-23C6EB702502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BDD9E-72E4-43AA-A61A-9F020DBDC0B3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EDE86-C941-46A1-AE89-59A23724C22B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A5524-289D-4CB4-914C-6B2205346F63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59EE-03F5-4118-BD1B-54356DB9DD6A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CA02-56FA-40C0-A87A-20C0B335B9B1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ED9EF-2489-40C3-81D0-3073AA76E5A2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A002-9845-4DFE-8882-731181746D38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E8554-5A23-44D2-B74C-833128875430}" type="datetime1">
              <a:rPr lang="fr-FR" smtClean="0"/>
              <a:t>19/12/2022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50703"/>
          </a:xfrm>
        </p:spPr>
        <p:txBody>
          <a:bodyPr>
            <a:normAutofit/>
          </a:bodyPr>
          <a:lstStyle/>
          <a:p>
            <a:r>
              <a:rPr lang="fr-BE" sz="6600" b="1" i="1" dirty="0"/>
              <a:t>Philosophie Horizon</a:t>
            </a:r>
            <a:br>
              <a:rPr lang="fr-BE" sz="6600" b="1" i="1" dirty="0"/>
            </a:br>
            <a:r>
              <a:rPr lang="fr-BE" b="1" i="1" dirty="0"/>
              <a:t>(</a:t>
            </a:r>
            <a:r>
              <a:rPr lang="fr-BE" b="1" i="1" dirty="0" err="1"/>
              <a:t>niv</a:t>
            </a:r>
            <a:r>
              <a:rPr lang="fr-BE" b="1" i="1" dirty="0"/>
              <a:t>. 2)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07523" y="602128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FLT – Version du 13.12.2021</a:t>
            </a:r>
          </a:p>
        </p:txBody>
      </p:sp>
    </p:spTree>
    <p:extLst>
      <p:ext uri="{BB962C8B-B14F-4D97-AF65-F5344CB8AC3E}">
        <p14:creationId xmlns:p14="http://schemas.microsoft.com/office/powerpoint/2010/main" val="196029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Table des matières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spcBef>
                <a:spcPts val="480"/>
              </a:spcBef>
              <a:buAutoNum type="arabicPeriod"/>
            </a:pPr>
            <a:r>
              <a:rPr lang="fr-FR" sz="2400" dirty="0"/>
              <a:t>Procédure 92§5						</a:t>
            </a:r>
            <a:r>
              <a:rPr lang="fr-FR" sz="2000" dirty="0" err="1"/>
              <a:t>Pg</a:t>
            </a:r>
            <a:r>
              <a:rPr lang="fr-FR" sz="2000" dirty="0"/>
              <a:t>. 3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FR" sz="2000" dirty="0"/>
              <a:t>1.1 </a:t>
            </a:r>
            <a:r>
              <a:rPr lang="fr-BE" sz="2000" dirty="0"/>
              <a:t>Délais d’introduction: rappel et application 92§5		</a:t>
            </a:r>
            <a:r>
              <a:rPr lang="fr-BE" sz="2000" dirty="0" err="1"/>
              <a:t>Pg</a:t>
            </a:r>
            <a:r>
              <a:rPr lang="fr-BE" sz="2000" dirty="0"/>
              <a:t>. 4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BE" sz="2000" dirty="0"/>
              <a:t>1.2 Introduction du flux E925					</a:t>
            </a:r>
            <a:r>
              <a:rPr lang="fr-BE" sz="2000" dirty="0" err="1"/>
              <a:t>Pg</a:t>
            </a:r>
            <a:r>
              <a:rPr lang="fr-BE" sz="2000" dirty="0"/>
              <a:t>. 5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BE" sz="2000" dirty="0"/>
              <a:t>1.3 Flux E925: Suivi BC et tâches				</a:t>
            </a:r>
            <a:r>
              <a:rPr lang="fr-BE" sz="2000" dirty="0" err="1"/>
              <a:t>Pg</a:t>
            </a:r>
            <a:r>
              <a:rPr lang="fr-BE" sz="2000" dirty="0"/>
              <a:t>. 6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BE" sz="2000" dirty="0"/>
              <a:t>1.4 Gestion des délais: En résumé…				</a:t>
            </a:r>
            <a:r>
              <a:rPr lang="fr-BE" sz="2000" dirty="0" err="1"/>
              <a:t>Pg</a:t>
            </a:r>
            <a:r>
              <a:rPr lang="fr-BE" sz="2000" dirty="0"/>
              <a:t>. 7</a:t>
            </a:r>
            <a:endParaRPr lang="fr-FR" sz="2400" dirty="0"/>
          </a:p>
          <a:p>
            <a:pPr marL="457200" indent="-457200">
              <a:spcBef>
                <a:spcPts val="480"/>
              </a:spcBef>
              <a:buAutoNum type="arabicPeriod"/>
            </a:pPr>
            <a:r>
              <a:rPr lang="fr-FR" sz="2400" dirty="0"/>
              <a:t>Paramètres de recalcul					</a:t>
            </a:r>
            <a:r>
              <a:rPr lang="fr-FR" sz="2000" dirty="0" err="1"/>
              <a:t>Pg</a:t>
            </a:r>
            <a:r>
              <a:rPr lang="fr-FR" sz="2000" dirty="0"/>
              <a:t>. 8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FR" sz="2000" dirty="0"/>
              <a:t>2.1 Principes généraux						</a:t>
            </a:r>
            <a:r>
              <a:rPr lang="fr-FR" sz="2000" dirty="0" err="1"/>
              <a:t>Pg</a:t>
            </a:r>
            <a:r>
              <a:rPr lang="fr-FR" sz="2000" dirty="0"/>
              <a:t>. 9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FR" sz="2000" dirty="0"/>
              <a:t>2.2 Procédure C144B						</a:t>
            </a:r>
            <a:r>
              <a:rPr lang="fr-FR" sz="2000" dirty="0" err="1"/>
              <a:t>Pg</a:t>
            </a:r>
            <a:r>
              <a:rPr lang="fr-FR" sz="2000" dirty="0"/>
              <a:t>. 15</a:t>
            </a:r>
          </a:p>
          <a:p>
            <a:pPr marL="457200" indent="-457200">
              <a:spcBef>
                <a:spcPts val="480"/>
              </a:spcBef>
              <a:buAutoNum type="arabicPeriod"/>
            </a:pPr>
            <a:r>
              <a:rPr lang="fr-FR" sz="2400" dirty="0"/>
              <a:t>Tâches diverses 						</a:t>
            </a:r>
            <a:r>
              <a:rPr lang="fr-FR" sz="2000" dirty="0" err="1"/>
              <a:t>Pg</a:t>
            </a:r>
            <a:r>
              <a:rPr lang="fr-FR" sz="2000" dirty="0"/>
              <a:t>. 17</a:t>
            </a:r>
            <a:endParaRPr lang="fr-FR" sz="2400" dirty="0"/>
          </a:p>
          <a:p>
            <a:pPr marL="400050" lvl="1" indent="0">
              <a:spcBef>
                <a:spcPts val="480"/>
              </a:spcBef>
              <a:buNone/>
            </a:pPr>
            <a:r>
              <a:rPr lang="fr-FR" sz="2000" dirty="0"/>
              <a:t>3.1 Tâches en lien avec l’écran-pont				</a:t>
            </a:r>
            <a:r>
              <a:rPr lang="fr-FR" sz="2000" dirty="0" err="1"/>
              <a:t>Pg</a:t>
            </a:r>
            <a:r>
              <a:rPr lang="fr-FR" sz="2000" dirty="0"/>
              <a:t>. 18</a:t>
            </a:r>
          </a:p>
          <a:p>
            <a:pPr marL="400050" lvl="1" indent="0">
              <a:spcBef>
                <a:spcPts val="480"/>
              </a:spcBef>
              <a:buNone/>
            </a:pPr>
            <a:r>
              <a:rPr lang="fr-FR" sz="2000" dirty="0"/>
              <a:t>3.2 Autres tâches						</a:t>
            </a:r>
            <a:r>
              <a:rPr lang="fr-FR" sz="2000" dirty="0" err="1"/>
              <a:t>Pg</a:t>
            </a:r>
            <a:r>
              <a:rPr lang="fr-FR" sz="2000" dirty="0"/>
              <a:t>. 21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860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930989-A74A-4518-983D-B37BAAE1E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5400" b="1" dirty="0"/>
              <a:t>1. Procédure 92§5</a:t>
            </a:r>
          </a:p>
        </p:txBody>
      </p:sp>
    </p:spTree>
    <p:extLst>
      <p:ext uri="{BB962C8B-B14F-4D97-AF65-F5344CB8AC3E}">
        <p14:creationId xmlns:p14="http://schemas.microsoft.com/office/powerpoint/2010/main" val="1691918693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12458B-CE2A-403E-9944-DB2F0365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1.1 Délais d’introduction: rappel et application 92§5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0FB5B46-699C-4EBB-B711-8E33E4119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217022"/>
              </p:ext>
            </p:extLst>
          </p:nvPr>
        </p:nvGraphicFramePr>
        <p:xfrm>
          <a:off x="459597" y="1417638"/>
          <a:ext cx="8229600" cy="49347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83182">
                  <a:extLst>
                    <a:ext uri="{9D8B030D-6E8A-4147-A177-3AD203B41FA5}">
                      <a16:colId xmlns:a16="http://schemas.microsoft.com/office/drawing/2014/main" val="1951513576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706251146"/>
                    </a:ext>
                  </a:extLst>
                </a:gridCol>
                <a:gridCol w="861842">
                  <a:extLst>
                    <a:ext uri="{9D8B030D-6E8A-4147-A177-3AD203B41FA5}">
                      <a16:colId xmlns:a16="http://schemas.microsoft.com/office/drawing/2014/main" val="135575053"/>
                    </a:ext>
                  </a:extLst>
                </a:gridCol>
              </a:tblGrid>
              <a:tr h="155451">
                <a:tc>
                  <a:txBody>
                    <a:bodyPr/>
                    <a:lstStyle/>
                    <a:p>
                      <a:r>
                        <a:rPr lang="fr-BE" dirty="0"/>
                        <a:t>Type de D.A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92§5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887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É</a:t>
                      </a:r>
                      <a:r>
                        <a:rPr lang="fr-BE" b="1" dirty="0"/>
                        <a:t>vènement modificatif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6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Chômage complet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524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TTPMD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12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D.A obligatoire en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88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D.A en CT grève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01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D.A facultative en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186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Impulsion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121365"/>
                  </a:ext>
                </a:extLst>
              </a:tr>
              <a:tr h="580682">
                <a:tc>
                  <a:txBody>
                    <a:bodyPr/>
                    <a:lstStyle/>
                    <a:p>
                      <a:r>
                        <a:rPr lang="fr-BE" b="1" dirty="0"/>
                        <a:t>PTP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428760"/>
                  </a:ext>
                </a:extLst>
              </a:tr>
              <a:tr h="547146">
                <a:tc>
                  <a:txBody>
                    <a:bodyPr/>
                    <a:lstStyle/>
                    <a:p>
                      <a:r>
                        <a:rPr lang="fr-BE" b="1" dirty="0"/>
                        <a:t>Sine/Activa Bruxelles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4543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fr-BE" b="1" dirty="0"/>
                        <a:t>ICL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92303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21041A-D20B-4C22-BB71-801EF509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1853949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CC37D23-5462-4819-9266-91FF7D292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22" y="5006492"/>
            <a:ext cx="2109054" cy="159844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2EAAADF-FD82-4A15-B4BC-F91D6FC0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2411794"/>
            <a:ext cx="3200000" cy="135238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5C7EADF-C01E-461B-B2D6-EB11A8C8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1.2. Introduction du Flux E925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14ADC-036B-4F8D-86C5-62DE6DBDB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Envoi du flux E925 </a:t>
            </a:r>
            <a:r>
              <a:rPr lang="fr-BE" sz="2400" dirty="0"/>
              <a:t>après avoir coché la check-box </a:t>
            </a:r>
            <a:r>
              <a:rPr lang="fr-BE" sz="2400" b="1" dirty="0"/>
              <a:t>« Article 92§5 électronique »</a:t>
            </a: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r>
              <a:rPr lang="fr-BE" sz="1600" b="1" dirty="0">
                <a:solidFill>
                  <a:srgbClr val="C00000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⚠ </a:t>
            </a:r>
            <a:r>
              <a:rPr lang="fr-BE" sz="1600" b="1" dirty="0">
                <a:latin typeface="Segoe UI Emoji" panose="020B0502040204020203" pitchFamily="34" charset="0"/>
                <a:ea typeface="Segoe UI Emoji" panose="020B0502040204020203" pitchFamily="34" charset="0"/>
              </a:rPr>
              <a:t>Procédure papier à utiliser si structurez de l’adresse incorrecte  ou résidence à l’étranger</a:t>
            </a:r>
          </a:p>
          <a:p>
            <a:pPr marL="0" indent="0">
              <a:buNone/>
            </a:pPr>
            <a:endParaRPr lang="fr-BE" sz="7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Création </a:t>
            </a:r>
            <a:r>
              <a:rPr lang="fr-BE" sz="24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automatique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 d’un script 925</a:t>
            </a:r>
            <a:r>
              <a:rPr lang="fr-BE" sz="2400" b="1" dirty="0">
                <a:sym typeface="Wingdings" panose="05000000000000000000" pitchFamily="2" charset="2"/>
              </a:rPr>
              <a:t> </a:t>
            </a:r>
            <a:r>
              <a:rPr lang="fr-BE" sz="2400" dirty="0">
                <a:sym typeface="Wingdings" panose="05000000000000000000" pitchFamily="2" charset="2"/>
              </a:rPr>
              <a:t>à la date de D.A après validation de la farde pour laquelle le délai est demandé</a:t>
            </a:r>
            <a:endParaRPr lang="fr-BE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E401AB-11B1-4BE2-B99D-44138CF8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64CE29-DA70-4879-A42F-34DA8D232887}"/>
              </a:ext>
            </a:extLst>
          </p:cNvPr>
          <p:cNvSpPr/>
          <p:nvPr/>
        </p:nvSpPr>
        <p:spPr>
          <a:xfrm>
            <a:off x="2915816" y="3356992"/>
            <a:ext cx="1512168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DAC73-BD01-40DF-9E5B-83BCC95E3C09}"/>
              </a:ext>
            </a:extLst>
          </p:cNvPr>
          <p:cNvSpPr/>
          <p:nvPr/>
        </p:nvSpPr>
        <p:spPr>
          <a:xfrm>
            <a:off x="3131840" y="5949280"/>
            <a:ext cx="1584176" cy="574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6550909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7EADF-C01E-461B-B2D6-EB11A8C8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1.3. Flux E925: Suivi BC et tâches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14ADC-036B-4F8D-86C5-62DE6DBDB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r-BE" sz="7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Délai de réception </a:t>
            </a:r>
            <a:r>
              <a:rPr lang="fr-BE" sz="2400" dirty="0"/>
              <a:t>du flux E925:</a:t>
            </a:r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1100" dirty="0"/>
          </a:p>
          <a:p>
            <a:pPr>
              <a:buFont typeface="Wingdings" panose="05000000000000000000" pitchFamily="2" charset="2"/>
              <a:buChar char="§"/>
            </a:pPr>
            <a:endParaRPr lang="fr-BE" sz="2400" dirty="0"/>
          </a:p>
          <a:p>
            <a:pPr marL="0" indent="0">
              <a:buNone/>
            </a:pPr>
            <a:endParaRPr lang="fr-BE" sz="1300" dirty="0"/>
          </a:p>
          <a:p>
            <a:pPr marL="0" indent="0">
              <a:buNone/>
            </a:pPr>
            <a:endParaRPr lang="fr-BE" sz="15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Tâches: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1900" b="1" u="sng" dirty="0"/>
              <a:t>Réponse art. 92§5 à traiter</a:t>
            </a:r>
            <a:r>
              <a:rPr lang="fr-BE" sz="1900" b="1" dirty="0"/>
              <a:t>: </a:t>
            </a:r>
            <a:r>
              <a:rPr lang="fr-BE" sz="1900" dirty="0"/>
              <a:t>Un</a:t>
            </a:r>
            <a:r>
              <a:rPr lang="fr-BE" sz="1900" dirty="0">
                <a:solidFill>
                  <a:prstClr val="black"/>
                </a:solidFill>
              </a:rPr>
              <a:t> flux E925 est introduit et l’</a:t>
            </a:r>
            <a:r>
              <a:rPr lang="fr-BE" sz="1900" dirty="0" err="1">
                <a:solidFill>
                  <a:prstClr val="black"/>
                </a:solidFill>
              </a:rPr>
              <a:t>ONEm</a:t>
            </a:r>
            <a:r>
              <a:rPr lang="fr-BE" sz="1900" dirty="0">
                <a:solidFill>
                  <a:prstClr val="black"/>
                </a:solidFill>
              </a:rPr>
              <a:t> </a:t>
            </a:r>
            <a:r>
              <a:rPr lang="fr-BE" sz="1900" b="1" dirty="0">
                <a:solidFill>
                  <a:srgbClr val="C00000"/>
                </a:solidFill>
              </a:rPr>
              <a:t>refuse d’accorder la prolongation</a:t>
            </a:r>
            <a:r>
              <a:rPr lang="fr-BE" sz="1900" dirty="0">
                <a:solidFill>
                  <a:prstClr val="black"/>
                </a:solidFill>
              </a:rPr>
              <a:t> d’un mois au délai légal car notre demande leur est </a:t>
            </a:r>
            <a:r>
              <a:rPr lang="fr-BE" sz="1900" b="1" dirty="0">
                <a:solidFill>
                  <a:prstClr val="black"/>
                </a:solidFill>
              </a:rPr>
              <a:t>parvenue en dehors du délai autorisé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BE" sz="1000" b="1" dirty="0">
              <a:solidFill>
                <a:prstClr val="black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1900" b="1" u="sng" dirty="0"/>
              <a:t>Pas de réponse Art. 92§5</a:t>
            </a:r>
            <a:r>
              <a:rPr lang="fr-BE" sz="1900" b="1" dirty="0"/>
              <a:t>: </a:t>
            </a:r>
            <a:r>
              <a:rPr lang="fr-BE" sz="1900" dirty="0"/>
              <a:t>Un </a:t>
            </a:r>
            <a:r>
              <a:rPr lang="fr-BE" sz="1900" dirty="0">
                <a:solidFill>
                  <a:prstClr val="black"/>
                </a:solidFill>
              </a:rPr>
              <a:t>flux E925 est introduit et nous n’avons </a:t>
            </a:r>
            <a:r>
              <a:rPr lang="fr-BE" sz="1900" b="1" dirty="0">
                <a:solidFill>
                  <a:srgbClr val="C00000"/>
                </a:solidFill>
              </a:rPr>
              <a:t>pas reçu de réponse de l’</a:t>
            </a:r>
            <a:r>
              <a:rPr lang="fr-BE" sz="1900" b="1" dirty="0" err="1">
                <a:solidFill>
                  <a:srgbClr val="C00000"/>
                </a:solidFill>
              </a:rPr>
              <a:t>ONEm</a:t>
            </a:r>
            <a:r>
              <a:rPr lang="fr-BE" sz="1900" b="1" dirty="0">
                <a:solidFill>
                  <a:srgbClr val="C00000"/>
                </a:solidFill>
              </a:rPr>
              <a:t> </a:t>
            </a:r>
            <a:r>
              <a:rPr lang="fr-BE" sz="1900" dirty="0">
                <a:solidFill>
                  <a:prstClr val="black"/>
                </a:solidFill>
              </a:rPr>
              <a:t>endéans le </a:t>
            </a:r>
            <a:r>
              <a:rPr lang="fr-BE" sz="1900" b="1" dirty="0">
                <a:solidFill>
                  <a:prstClr val="black"/>
                </a:solidFill>
              </a:rPr>
              <a:t>4 jours calendrier</a:t>
            </a:r>
            <a:endParaRPr lang="fr-BE" sz="1900" b="1" u="sng" dirty="0">
              <a:solidFill>
                <a:prstClr val="black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fr-BE" sz="2000" dirty="0"/>
          </a:p>
          <a:p>
            <a:pPr marL="0" indent="0">
              <a:buNone/>
            </a:pPr>
            <a:endParaRPr lang="fr-BE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E401AB-11B1-4BE2-B99D-44138CF8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7213876E-FFC7-47D9-B6E9-42E396B22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714011"/>
              </p:ext>
            </p:extLst>
          </p:nvPr>
        </p:nvGraphicFramePr>
        <p:xfrm>
          <a:off x="457200" y="2329245"/>
          <a:ext cx="8229600" cy="1651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211918184"/>
                    </a:ext>
                  </a:extLst>
                </a:gridCol>
                <a:gridCol w="2235696">
                  <a:extLst>
                    <a:ext uri="{9D8B030D-6E8A-4147-A177-3AD203B41FA5}">
                      <a16:colId xmlns:a16="http://schemas.microsoft.com/office/drawing/2014/main" val="3195017154"/>
                    </a:ext>
                  </a:extLst>
                </a:gridCol>
                <a:gridCol w="3250704">
                  <a:extLst>
                    <a:ext uri="{9D8B030D-6E8A-4147-A177-3AD203B41FA5}">
                      <a16:colId xmlns:a16="http://schemas.microsoft.com/office/drawing/2014/main" val="1079605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Type de D.A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Type C9 électronique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Délai d’introduction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09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D.A sans transfert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i="0" dirty="0">
                          <a:solidFill>
                            <a:srgbClr val="C00000"/>
                          </a:solidFill>
                        </a:rPr>
                        <a:t>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fr-BE" b="1" baseline="30000" dirty="0">
                          <a:solidFill>
                            <a:srgbClr val="C00000"/>
                          </a:solidFill>
                        </a:rPr>
                        <a:t>ème</a:t>
                      </a: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 jour </a:t>
                      </a:r>
                      <a:r>
                        <a:rPr lang="fr-BE" b="1" u="sng" dirty="0"/>
                        <a:t>ouvrable</a:t>
                      </a:r>
                      <a:r>
                        <a:rPr lang="fr-BE" b="1" u="none" dirty="0"/>
                        <a:t> </a:t>
                      </a:r>
                      <a:r>
                        <a:rPr lang="fr-BE" dirty="0"/>
                        <a:t>qui suit la date de fin du délai ordinaire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561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D.A avec transfert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i="0" dirty="0">
                          <a:solidFill>
                            <a:srgbClr val="C00000"/>
                          </a:solidFill>
                        </a:rPr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 </a:t>
                      </a: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14</a:t>
                      </a:r>
                      <a:r>
                        <a:rPr lang="fr-BE" b="1" baseline="30000" dirty="0">
                          <a:solidFill>
                            <a:srgbClr val="C00000"/>
                          </a:solidFill>
                        </a:rPr>
                        <a:t>ème</a:t>
                      </a: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 jour</a:t>
                      </a:r>
                      <a:r>
                        <a:rPr lang="fr-BE" dirty="0"/>
                        <a:t> </a:t>
                      </a:r>
                      <a:r>
                        <a:rPr lang="fr-BE" b="1" u="sng" dirty="0"/>
                        <a:t>calendrier</a:t>
                      </a:r>
                      <a:r>
                        <a:rPr lang="fr-BE" dirty="0"/>
                        <a:t> qui suit la date de fin du délai ordinaire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024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00481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1.4. Gestion des délais: En résumé…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5D62FB70-6DD2-401B-9EBB-3117AFCE3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946320"/>
              </p:ext>
            </p:extLst>
          </p:nvPr>
        </p:nvGraphicFramePr>
        <p:xfrm>
          <a:off x="457200" y="1556792"/>
          <a:ext cx="8229600" cy="426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24001578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839659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944716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4858686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4932458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Exemple</a:t>
                      </a:r>
                      <a:r>
                        <a:rPr kumimoji="0" lang="fr-BE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DA CC au 28.11.2022 </a:t>
                      </a:r>
                      <a:r>
                        <a:rPr kumimoji="0" lang="fr-BE" sz="1800" b="1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avec</a:t>
                      </a:r>
                      <a:r>
                        <a:rPr kumimoji="0" lang="fr-BE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application art. 92&amp;5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21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Création de la farde</a:t>
                      </a:r>
                    </a:p>
                    <a:p>
                      <a:pPr algn="ctr"/>
                      <a:endParaRPr lang="fr-BE" sz="1600" b="1" dirty="0"/>
                    </a:p>
                    <a:p>
                      <a:pPr algn="ctr"/>
                      <a:endParaRPr lang="fr-BE" sz="1600" b="1" dirty="0"/>
                    </a:p>
                    <a:p>
                      <a:pPr algn="ctr"/>
                      <a:r>
                        <a:rPr lang="fr-BE" sz="1600" b="1" dirty="0"/>
                        <a:t>Courrier </a:t>
                      </a:r>
                      <a:r>
                        <a:rPr lang="fr-BE" sz="1600" b="0" i="1" dirty="0"/>
                        <a:t>ou</a:t>
                      </a:r>
                      <a:r>
                        <a:rPr lang="fr-BE" sz="1600" b="1" dirty="0"/>
                        <a:t> Accusé réception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sz="1600" b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  <a:p>
                      <a:pPr algn="ctr"/>
                      <a:r>
                        <a:rPr lang="fr-BE" sz="1600" b="1" dirty="0">
                          <a:solidFill>
                            <a:schemeClr val="tx1"/>
                          </a:solidFill>
                        </a:rPr>
                        <a:t>« farde à suivre »</a:t>
                      </a:r>
                    </a:p>
                    <a:p>
                      <a:pPr algn="ctr"/>
                      <a:endParaRPr lang="fr-BE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sz="1200" dirty="0"/>
                        <a:t>(le 28/12)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fr-BE" sz="1600" b="1" i="1" baseline="30000" dirty="0">
                          <a:solidFill>
                            <a:srgbClr val="C00000"/>
                          </a:solidFill>
                        </a:rPr>
                        <a:t>ier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rappel</a:t>
                      </a:r>
                    </a:p>
                    <a:p>
                      <a:pPr algn="ctr"/>
                      <a:r>
                        <a:rPr lang="fr-BE" sz="1200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Tâche</a:t>
                      </a:r>
                    </a:p>
                    <a:p>
                      <a:pPr algn="ctr"/>
                      <a:r>
                        <a:rPr lang="fr-BE" sz="1600" b="1" dirty="0"/>
                        <a:t>« échéance pour</a:t>
                      </a:r>
                    </a:p>
                    <a:p>
                      <a:pPr algn="ctr"/>
                      <a:r>
                        <a:rPr lang="fr-BE" sz="1600" b="1" dirty="0"/>
                        <a:t>envoi C9 »</a:t>
                      </a:r>
                    </a:p>
                    <a:p>
                      <a:pPr algn="ctr"/>
                      <a:r>
                        <a:rPr lang="fr-BE" sz="1200" dirty="0"/>
                        <a:t>(le 17/01)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fr-BE" sz="1600" b="1" i="1" baseline="30000" dirty="0">
                          <a:solidFill>
                            <a:srgbClr val="C00000"/>
                          </a:solidFill>
                        </a:rPr>
                        <a:t>ème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rappel</a:t>
                      </a:r>
                    </a:p>
                    <a:p>
                      <a:pPr algn="ctr"/>
                      <a:r>
                        <a:rPr lang="fr-BE" sz="1200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+ 92§5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Tâche « échéance pour envoi C9 »</a:t>
                      </a:r>
                    </a:p>
                    <a:p>
                      <a:pPr algn="ctr"/>
                      <a:r>
                        <a:rPr lang="fr-BE" sz="1200" dirty="0"/>
                        <a:t>(le 21/02)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C9 type K </a:t>
                      </a:r>
                      <a:r>
                        <a:rPr lang="fr-BE" sz="1600" b="1" i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collab. ONEm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2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sz="600" b="0" i="0" dirty="0"/>
                    </a:p>
                    <a:p>
                      <a:r>
                        <a:rPr lang="fr-BE" sz="1600" b="1" i="1" dirty="0"/>
                        <a:t>Date de suivi des flux encore à recevoir</a:t>
                      </a:r>
                    </a:p>
                    <a:p>
                      <a:endParaRPr lang="fr-BE" sz="6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Date par défaut</a:t>
                      </a:r>
                    </a:p>
                    <a:p>
                      <a:pPr algn="ctr"/>
                      <a:r>
                        <a:rPr lang="fr-BE" sz="1600" i="1" dirty="0"/>
                        <a:t>= 30/12/2022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+ 3 sem.</a:t>
                      </a:r>
                    </a:p>
                    <a:p>
                      <a:pPr algn="ctr"/>
                      <a:r>
                        <a:rPr lang="fr-BE" sz="1600" b="0" i="1" dirty="0"/>
                        <a:t>= 20/01/2023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+ 5 sem.</a:t>
                      </a:r>
                    </a:p>
                    <a:p>
                      <a:pPr algn="ctr"/>
                      <a:r>
                        <a:rPr lang="fr-BE" sz="1600" i="1" dirty="0"/>
                        <a:t>= 24/02/2023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Envoi du dossier</a:t>
                      </a:r>
                    </a:p>
                    <a:p>
                      <a:pPr algn="ctr"/>
                      <a:r>
                        <a:rPr lang="fr-BE" sz="1600" i="1" dirty="0"/>
                        <a:t>C9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56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sz="600" b="0" i="0" dirty="0"/>
                    </a:p>
                    <a:p>
                      <a:r>
                        <a:rPr lang="fr-BE" sz="1600" b="1" i="1" dirty="0"/>
                        <a:t>Échéance pour envoyer C9</a:t>
                      </a:r>
                    </a:p>
                    <a:p>
                      <a:endParaRPr lang="fr-BE" sz="6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Date par défaut</a:t>
                      </a:r>
                    </a:p>
                    <a:p>
                      <a:pPr algn="ctr"/>
                      <a:r>
                        <a:rPr lang="fr-BE" sz="1600" i="1" dirty="0"/>
                        <a:t>= 20/01/2023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Date par défaut</a:t>
                      </a:r>
                    </a:p>
                    <a:p>
                      <a:pPr algn="ctr"/>
                      <a:r>
                        <a:rPr lang="fr-BE" sz="1600" i="1" dirty="0"/>
                        <a:t>= 20/01/2023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+ 5 sem.</a:t>
                      </a:r>
                    </a:p>
                    <a:p>
                      <a:pPr algn="ctr"/>
                      <a:r>
                        <a:rPr lang="fr-BE" sz="1600" i="1" dirty="0"/>
                        <a:t>= 24/02/2023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Envoi du dossier</a:t>
                      </a:r>
                    </a:p>
                    <a:p>
                      <a:pPr algn="ctr"/>
                      <a:r>
                        <a:rPr lang="fr-BE" sz="1600" i="1" dirty="0"/>
                        <a:t>C9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157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07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930989-A74A-4518-983D-B37BAAE1E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5400" b="1" dirty="0"/>
              <a:t>2. Paramètres de recalcul</a:t>
            </a:r>
          </a:p>
        </p:txBody>
      </p:sp>
    </p:spTree>
    <p:extLst>
      <p:ext uri="{BB962C8B-B14F-4D97-AF65-F5344CB8AC3E}">
        <p14:creationId xmlns:p14="http://schemas.microsoft.com/office/powerpoint/2010/main" val="1572367488"/>
      </p:ext>
    </p:extLst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i="1" dirty="0"/>
              <a:t>2.1. </a:t>
            </a:r>
            <a:r>
              <a:rPr lang="en-US" b="1" i="1" dirty="0" err="1"/>
              <a:t>Principes</a:t>
            </a:r>
            <a:r>
              <a:rPr lang="en-US" b="1" i="1" dirty="0"/>
              <a:t> </a:t>
            </a:r>
            <a:r>
              <a:rPr lang="en-US" b="1" i="1" dirty="0" err="1"/>
              <a:t>généraux</a:t>
            </a:r>
            <a:endParaRPr lang="en-US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u="sng" dirty="0">
                <a:solidFill>
                  <a:srgbClr val="C00000"/>
                </a:solidFill>
                <a:sym typeface="Wingdings" panose="05000000000000000000" pitchFamily="2" charset="2"/>
              </a:rPr>
              <a:t>Objectifs ?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Libérer les paiements dès que possible.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Recalcul automatique des portefeuilles sur base des éléments réceptionnés.</a:t>
            </a:r>
          </a:p>
          <a:p>
            <a:pPr marL="533400" indent="0">
              <a:buNone/>
            </a:pPr>
            <a:r>
              <a:rPr lang="fr-BE" dirty="0">
                <a:sym typeface="Wingdings" panose="05000000000000000000" pitchFamily="2" charset="2"/>
              </a:rPr>
              <a:t>→ </a:t>
            </a:r>
            <a:r>
              <a:rPr lang="fr-BE" sz="2800" i="1" dirty="0">
                <a:sym typeface="Wingdings" panose="05000000000000000000" pitchFamily="2" charset="2"/>
              </a:rPr>
              <a:t>Favoriser les récupérations avant C12/C13.</a:t>
            </a:r>
          </a:p>
          <a:p>
            <a:pPr marL="533400" indent="0">
              <a:buNone/>
            </a:pPr>
            <a:r>
              <a:rPr lang="fr-BE" sz="2800" i="1" dirty="0">
                <a:sym typeface="Wingdings" panose="05000000000000000000" pitchFamily="2" charset="2"/>
              </a:rPr>
              <a:t>→ Favoriser le paiement des compléments avant C14.</a:t>
            </a:r>
          </a:p>
          <a:p>
            <a:pPr marL="0" indent="0">
              <a:buNone/>
            </a:pPr>
            <a:endParaRPr lang="fr-BE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224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necteur droit 68"/>
          <p:cNvCxnSpPr/>
          <p:nvPr/>
        </p:nvCxnSpPr>
        <p:spPr>
          <a:xfrm>
            <a:off x="4947558" y="2695024"/>
            <a:ext cx="372" cy="288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i="1" dirty="0"/>
              <a:t>2.1. </a:t>
            </a:r>
            <a:r>
              <a:rPr lang="en-US" sz="4000" i="1" dirty="0" err="1"/>
              <a:t>Principes</a:t>
            </a:r>
            <a:r>
              <a:rPr lang="en-US" sz="4000" i="1" dirty="0"/>
              <a:t> </a:t>
            </a:r>
            <a:r>
              <a:rPr lang="en-US" sz="4000" i="1" dirty="0" err="1"/>
              <a:t>généraux</a:t>
            </a:r>
            <a:r>
              <a:rPr lang="en-US" sz="4000" i="1" dirty="0"/>
              <a:t> – </a:t>
            </a:r>
            <a:r>
              <a:rPr lang="en-US" sz="4000" i="1" dirty="0" err="1"/>
              <a:t>Exemple</a:t>
            </a:r>
            <a:r>
              <a:rPr lang="en-US" sz="4000" i="1" dirty="0"/>
              <a:t> 1</a:t>
            </a:r>
            <a:endParaRPr lang="en-US" sz="4000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564452" y="3429000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971600" y="1988840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3851260" y="1988840"/>
            <a:ext cx="660" cy="28783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71600" y="1988840"/>
            <a:ext cx="72846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694744" y="1988840"/>
            <a:ext cx="72515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Aout 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07025" y="1988840"/>
            <a:ext cx="70674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47793" y="1987217"/>
            <a:ext cx="72339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51260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508104" y="5132852"/>
            <a:ext cx="3361995" cy="1392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b="1" dirty="0">
                <a:solidFill>
                  <a:schemeClr val="tx1"/>
                </a:solidFill>
              </a:rPr>
              <a:t>Réception d’une comparaison C2 (suite à demande de révision de la CSC) et modification de la vérité débutant le 18.07.2022 :</a:t>
            </a:r>
          </a:p>
          <a:p>
            <a:r>
              <a:rPr lang="fr-BE" b="1" dirty="0">
                <a:solidFill>
                  <a:schemeClr val="tx1"/>
                </a:solidFill>
                <a:sym typeface="Wingdings" panose="05000000000000000000" pitchFamily="2" charset="2"/>
              </a:rPr>
              <a:t> Le code chiffré devient 64.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56048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88976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Janv.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96207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Fév.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27573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Mars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450632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Avril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69942" y="2708920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3128530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169168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432781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6003732" y="2014399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458939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6721850" y="1983532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8181626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4577408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678045" y="2720888"/>
            <a:ext cx="76341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417323" y="2720888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135580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867341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2" name="Flèche droite 41"/>
          <p:cNvSpPr/>
          <p:nvPr/>
        </p:nvSpPr>
        <p:spPr>
          <a:xfrm>
            <a:off x="964851" y="4894719"/>
            <a:ext cx="3612557" cy="680625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CC payé code chiffré 62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0" name="Connecteur droit 69"/>
          <p:cNvCxnSpPr/>
          <p:nvPr/>
        </p:nvCxnSpPr>
        <p:spPr>
          <a:xfrm>
            <a:off x="528566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 flipV="1">
            <a:off x="4938224" y="5568143"/>
            <a:ext cx="569880" cy="72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èche droite 78"/>
          <p:cNvSpPr/>
          <p:nvPr/>
        </p:nvSpPr>
        <p:spPr>
          <a:xfrm rot="16200000">
            <a:off x="4462244" y="437972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èche droite 79"/>
          <p:cNvSpPr/>
          <p:nvPr/>
        </p:nvSpPr>
        <p:spPr>
          <a:xfrm rot="16200000">
            <a:off x="836178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èche droite 80"/>
          <p:cNvSpPr/>
          <p:nvPr/>
        </p:nvSpPr>
        <p:spPr>
          <a:xfrm rot="16200000">
            <a:off x="1543156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èche droite 81"/>
          <p:cNvSpPr/>
          <p:nvPr/>
        </p:nvSpPr>
        <p:spPr>
          <a:xfrm rot="16200000">
            <a:off x="2296339" y="440429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èche droite 82"/>
          <p:cNvSpPr/>
          <p:nvPr/>
        </p:nvSpPr>
        <p:spPr>
          <a:xfrm rot="16200000">
            <a:off x="3012620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èche droite 83"/>
          <p:cNvSpPr/>
          <p:nvPr/>
        </p:nvSpPr>
        <p:spPr>
          <a:xfrm rot="16200000">
            <a:off x="3741688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970616" y="3435490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+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720524" y="3426346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+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429010" y="3449195"/>
            <a:ext cx="708103" cy="701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+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147773" y="3449413"/>
            <a:ext cx="708103" cy="69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+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877842" y="3451102"/>
            <a:ext cx="708103" cy="69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+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90" name="Flèche droite 89"/>
          <p:cNvSpPr/>
          <p:nvPr/>
        </p:nvSpPr>
        <p:spPr>
          <a:xfrm rot="16200000">
            <a:off x="4462244" y="437972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2" grpId="0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/>
      <p:bldP spid="86" grpId="0"/>
      <p:bldP spid="87" grpId="0"/>
      <p:bldP spid="88" grpId="0"/>
      <p:bldP spid="89" grpId="0"/>
      <p:bldP spid="9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necteur droit 68"/>
          <p:cNvCxnSpPr/>
          <p:nvPr/>
        </p:nvCxnSpPr>
        <p:spPr>
          <a:xfrm>
            <a:off x="4947558" y="2695024"/>
            <a:ext cx="372" cy="288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i="1" dirty="0"/>
              <a:t>2.1. </a:t>
            </a:r>
            <a:r>
              <a:rPr lang="en-US" sz="4000" i="1" dirty="0" err="1"/>
              <a:t>Principes</a:t>
            </a:r>
            <a:r>
              <a:rPr lang="en-US" sz="4000" i="1" dirty="0"/>
              <a:t> </a:t>
            </a:r>
            <a:r>
              <a:rPr lang="en-US" sz="4000" i="1" dirty="0" err="1"/>
              <a:t>généraux</a:t>
            </a:r>
            <a:r>
              <a:rPr lang="en-US" sz="4000" i="1" dirty="0"/>
              <a:t> – </a:t>
            </a:r>
            <a:r>
              <a:rPr lang="en-US" sz="4000" i="1" dirty="0" err="1"/>
              <a:t>Exemple</a:t>
            </a:r>
            <a:r>
              <a:rPr lang="en-US" sz="4000" i="1" dirty="0"/>
              <a:t> 2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564452" y="3429000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971600" y="1988840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3851260" y="1988840"/>
            <a:ext cx="660" cy="28783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508104" y="5231937"/>
            <a:ext cx="3361995" cy="672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b="1" dirty="0">
                <a:solidFill>
                  <a:schemeClr val="tx1"/>
                </a:solidFill>
              </a:rPr>
              <a:t>Réception de la DRS WECH 505 manquante pour 08/2022.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942" y="2708920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3128530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169168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432781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6003732" y="2014399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458939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6721850" y="1983532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8181626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4577408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678045" y="2720888"/>
            <a:ext cx="76341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C00000"/>
                </a:solidFill>
              </a:rPr>
              <a:t>V1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135580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867341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2" name="Flèche droite 41"/>
          <p:cNvSpPr/>
          <p:nvPr/>
        </p:nvSpPr>
        <p:spPr>
          <a:xfrm>
            <a:off x="964851" y="4894719"/>
            <a:ext cx="3612557" cy="680625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CT payé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0" name="Connecteur droit 69"/>
          <p:cNvCxnSpPr/>
          <p:nvPr/>
        </p:nvCxnSpPr>
        <p:spPr>
          <a:xfrm>
            <a:off x="528566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 flipV="1">
            <a:off x="4938224" y="5568143"/>
            <a:ext cx="569880" cy="72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èche droite 78"/>
          <p:cNvSpPr/>
          <p:nvPr/>
        </p:nvSpPr>
        <p:spPr>
          <a:xfrm rot="16200000">
            <a:off x="4462244" y="437972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èche droite 80"/>
          <p:cNvSpPr/>
          <p:nvPr/>
        </p:nvSpPr>
        <p:spPr>
          <a:xfrm rot="16200000">
            <a:off x="1543156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èche droite 81"/>
          <p:cNvSpPr/>
          <p:nvPr/>
        </p:nvSpPr>
        <p:spPr>
          <a:xfrm rot="16200000">
            <a:off x="2296339" y="440429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èche droite 82"/>
          <p:cNvSpPr/>
          <p:nvPr/>
        </p:nvSpPr>
        <p:spPr>
          <a:xfrm rot="16200000">
            <a:off x="3012620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èche droite 83"/>
          <p:cNvSpPr/>
          <p:nvPr/>
        </p:nvSpPr>
        <p:spPr>
          <a:xfrm rot="16200000">
            <a:off x="3741688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3147773" y="3449413"/>
            <a:ext cx="708103" cy="69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=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877842" y="3451102"/>
            <a:ext cx="708103" cy="69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=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90" name="Flèche droite 89"/>
          <p:cNvSpPr/>
          <p:nvPr/>
        </p:nvSpPr>
        <p:spPr>
          <a:xfrm rot="16200000">
            <a:off x="4462244" y="437972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706812" y="2722354"/>
            <a:ext cx="7130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0DFAE7-857A-4FB4-B59A-6433D040056B}"/>
              </a:ext>
            </a:extLst>
          </p:cNvPr>
          <p:cNvSpPr/>
          <p:nvPr/>
        </p:nvSpPr>
        <p:spPr>
          <a:xfrm>
            <a:off x="971600" y="1988840"/>
            <a:ext cx="72846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A2DD99-B506-46C0-9943-748A3F99ECFD}"/>
              </a:ext>
            </a:extLst>
          </p:cNvPr>
          <p:cNvSpPr/>
          <p:nvPr/>
        </p:nvSpPr>
        <p:spPr>
          <a:xfrm>
            <a:off x="1694744" y="1988840"/>
            <a:ext cx="72515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Aout 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6330DE-8438-42D9-8166-C6018600538E}"/>
              </a:ext>
            </a:extLst>
          </p:cNvPr>
          <p:cNvSpPr/>
          <p:nvPr/>
        </p:nvSpPr>
        <p:spPr>
          <a:xfrm>
            <a:off x="2407025" y="1988840"/>
            <a:ext cx="70674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3AAF66-EDF2-4B4A-ACBD-7F33F743B73E}"/>
              </a:ext>
            </a:extLst>
          </p:cNvPr>
          <p:cNvSpPr/>
          <p:nvPr/>
        </p:nvSpPr>
        <p:spPr>
          <a:xfrm>
            <a:off x="3147793" y="1987217"/>
            <a:ext cx="72339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AF49D7A-3ADA-4C48-99DA-A27A98E85C23}"/>
              </a:ext>
            </a:extLst>
          </p:cNvPr>
          <p:cNvSpPr/>
          <p:nvPr/>
        </p:nvSpPr>
        <p:spPr>
          <a:xfrm>
            <a:off x="3851260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2ADEAC-54F6-4768-AFC0-4786ABC6259C}"/>
              </a:ext>
            </a:extLst>
          </p:cNvPr>
          <p:cNvSpPr/>
          <p:nvPr/>
        </p:nvSpPr>
        <p:spPr>
          <a:xfrm>
            <a:off x="4556048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C3C60E-9487-4028-BC98-6B7B3A21D603}"/>
              </a:ext>
            </a:extLst>
          </p:cNvPr>
          <p:cNvSpPr/>
          <p:nvPr/>
        </p:nvSpPr>
        <p:spPr>
          <a:xfrm>
            <a:off x="5288976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Janv.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B355DEF-783F-4F00-8520-C8AD5946007C}"/>
              </a:ext>
            </a:extLst>
          </p:cNvPr>
          <p:cNvSpPr/>
          <p:nvPr/>
        </p:nvSpPr>
        <p:spPr>
          <a:xfrm>
            <a:off x="5996207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Fév.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0051B7-894B-4F64-8042-3E780339A898}"/>
              </a:ext>
            </a:extLst>
          </p:cNvPr>
          <p:cNvSpPr/>
          <p:nvPr/>
        </p:nvSpPr>
        <p:spPr>
          <a:xfrm>
            <a:off x="6727573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Mars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529C4D0-855B-4CFB-B1A0-A05C60E9DA72}"/>
              </a:ext>
            </a:extLst>
          </p:cNvPr>
          <p:cNvSpPr/>
          <p:nvPr/>
        </p:nvSpPr>
        <p:spPr>
          <a:xfrm>
            <a:off x="7450632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Avril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05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2" grpId="0" animBg="1"/>
      <p:bldP spid="79" grpId="0" animBg="1"/>
      <p:bldP spid="79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8" grpId="0"/>
      <p:bldP spid="89" grpId="0"/>
      <p:bldP spid="90" grpId="0" animBg="1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necteur droit 68"/>
          <p:cNvCxnSpPr/>
          <p:nvPr/>
        </p:nvCxnSpPr>
        <p:spPr>
          <a:xfrm>
            <a:off x="4947558" y="2695024"/>
            <a:ext cx="372" cy="288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i="1" dirty="0"/>
              <a:t>2.1. </a:t>
            </a:r>
            <a:r>
              <a:rPr lang="en-US" sz="4000" i="1" dirty="0" err="1"/>
              <a:t>Principes</a:t>
            </a:r>
            <a:r>
              <a:rPr lang="en-US" sz="4000" i="1" dirty="0"/>
              <a:t> </a:t>
            </a:r>
            <a:r>
              <a:rPr lang="en-US" sz="4000" i="1" dirty="0" err="1"/>
              <a:t>généraux</a:t>
            </a:r>
            <a:r>
              <a:rPr lang="en-US" sz="4000" i="1" dirty="0"/>
              <a:t> – </a:t>
            </a:r>
            <a:r>
              <a:rPr lang="en-US" sz="4000" i="1" dirty="0" err="1"/>
              <a:t>Exemple</a:t>
            </a:r>
            <a:r>
              <a:rPr lang="en-US" sz="4000" i="1" dirty="0"/>
              <a:t> 3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564452" y="3429000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971600" y="1988840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3851260" y="1988840"/>
            <a:ext cx="660" cy="28783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508104" y="5267941"/>
            <a:ext cx="3361995" cy="600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b="1" dirty="0">
                <a:solidFill>
                  <a:schemeClr val="tx1"/>
                </a:solidFill>
              </a:rPr>
              <a:t>Réception d’un flux L500 débutant le 29.11.2022</a:t>
            </a:r>
            <a:r>
              <a:rPr lang="fr-BE" b="1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69942" y="2708920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3128530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169168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432781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6003732" y="2014399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458939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6721850" y="1983532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8181626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4577408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678045" y="2720888"/>
            <a:ext cx="76341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417323" y="2720888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135580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867341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2" name="Flèche droite 41"/>
          <p:cNvSpPr/>
          <p:nvPr/>
        </p:nvSpPr>
        <p:spPr>
          <a:xfrm>
            <a:off x="964851" y="4894719"/>
            <a:ext cx="3612557" cy="680625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CC payé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0" name="Connecteur droit 69"/>
          <p:cNvCxnSpPr/>
          <p:nvPr/>
        </p:nvCxnSpPr>
        <p:spPr>
          <a:xfrm>
            <a:off x="528566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 flipV="1">
            <a:off x="4938224" y="5568143"/>
            <a:ext cx="569880" cy="72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èche droite 78"/>
          <p:cNvSpPr/>
          <p:nvPr/>
        </p:nvSpPr>
        <p:spPr>
          <a:xfrm rot="16200000">
            <a:off x="4462244" y="437972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èche droite 83"/>
          <p:cNvSpPr/>
          <p:nvPr/>
        </p:nvSpPr>
        <p:spPr>
          <a:xfrm rot="16200000">
            <a:off x="3741688" y="440133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877842" y="3451102"/>
            <a:ext cx="708103" cy="69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C00000"/>
                </a:solidFill>
              </a:rPr>
              <a:t>V2 –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46" name="Flèche droite 45"/>
          <p:cNvSpPr/>
          <p:nvPr/>
        </p:nvSpPr>
        <p:spPr>
          <a:xfrm rot="16200000">
            <a:off x="4459388" y="4379723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7FD75B-E2F9-48A5-B831-F3814E24E77A}"/>
              </a:ext>
            </a:extLst>
          </p:cNvPr>
          <p:cNvSpPr/>
          <p:nvPr/>
        </p:nvSpPr>
        <p:spPr>
          <a:xfrm>
            <a:off x="971600" y="1988840"/>
            <a:ext cx="72846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1C579F-13D2-49F4-8F3A-E91099A85499}"/>
              </a:ext>
            </a:extLst>
          </p:cNvPr>
          <p:cNvSpPr/>
          <p:nvPr/>
        </p:nvSpPr>
        <p:spPr>
          <a:xfrm>
            <a:off x="1694744" y="1988840"/>
            <a:ext cx="72515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Aout 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47E86D-A13F-4F9B-8996-7F0B3E2BEFFE}"/>
              </a:ext>
            </a:extLst>
          </p:cNvPr>
          <p:cNvSpPr/>
          <p:nvPr/>
        </p:nvSpPr>
        <p:spPr>
          <a:xfrm>
            <a:off x="2407025" y="1988840"/>
            <a:ext cx="70674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7F5814-1BEB-4E80-8B8F-EA0617B06C87}"/>
              </a:ext>
            </a:extLst>
          </p:cNvPr>
          <p:cNvSpPr/>
          <p:nvPr/>
        </p:nvSpPr>
        <p:spPr>
          <a:xfrm>
            <a:off x="3147793" y="1987217"/>
            <a:ext cx="72339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1F7A5E-FF00-4D88-91F9-2BE44127F87C}"/>
              </a:ext>
            </a:extLst>
          </p:cNvPr>
          <p:cNvSpPr/>
          <p:nvPr/>
        </p:nvSpPr>
        <p:spPr>
          <a:xfrm>
            <a:off x="3851260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C2CC148-26C2-4454-BC09-8A729ADE5AF5}"/>
              </a:ext>
            </a:extLst>
          </p:cNvPr>
          <p:cNvSpPr/>
          <p:nvPr/>
        </p:nvSpPr>
        <p:spPr>
          <a:xfrm>
            <a:off x="4556048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EC14442-35D6-4B2D-89AD-99950F3FD44D}"/>
              </a:ext>
            </a:extLst>
          </p:cNvPr>
          <p:cNvSpPr/>
          <p:nvPr/>
        </p:nvSpPr>
        <p:spPr>
          <a:xfrm>
            <a:off x="5288976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Jan.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4F75609-E2E3-454C-91A4-C4CDD73F53D8}"/>
              </a:ext>
            </a:extLst>
          </p:cNvPr>
          <p:cNvSpPr/>
          <p:nvPr/>
        </p:nvSpPr>
        <p:spPr>
          <a:xfrm>
            <a:off x="5996207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Fév.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41BA3E-ADF1-41DB-97A9-6ED3576EEA5F}"/>
              </a:ext>
            </a:extLst>
          </p:cNvPr>
          <p:cNvSpPr/>
          <p:nvPr/>
        </p:nvSpPr>
        <p:spPr>
          <a:xfrm>
            <a:off x="6727573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Mars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9C097F-F075-46E5-9E73-B73C5018B190}"/>
              </a:ext>
            </a:extLst>
          </p:cNvPr>
          <p:cNvSpPr/>
          <p:nvPr/>
        </p:nvSpPr>
        <p:spPr>
          <a:xfrm>
            <a:off x="7450632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Avril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20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2" grpId="0" animBg="1"/>
      <p:bldP spid="79" grpId="0" animBg="1"/>
      <p:bldP spid="79" grpId="1" animBg="1"/>
      <p:bldP spid="84" grpId="0" animBg="1"/>
      <p:bldP spid="84" grpId="1" animBg="1"/>
      <p:bldP spid="89" grpId="0"/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3135104" y="2709726"/>
            <a:ext cx="731701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B050"/>
                </a:solidFill>
              </a:rPr>
              <a:t>V1</a:t>
            </a:r>
            <a:endParaRPr lang="en-US" sz="1600" b="1" dirty="0">
              <a:solidFill>
                <a:srgbClr val="00B050"/>
              </a:solidFill>
            </a:endParaRPr>
          </a:p>
        </p:txBody>
      </p:sp>
      <p:cxnSp>
        <p:nvCxnSpPr>
          <p:cNvPr id="69" name="Connecteur droit 68"/>
          <p:cNvCxnSpPr/>
          <p:nvPr/>
        </p:nvCxnSpPr>
        <p:spPr>
          <a:xfrm>
            <a:off x="4947558" y="2695024"/>
            <a:ext cx="372" cy="288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i="1" dirty="0"/>
              <a:t>2.1. </a:t>
            </a:r>
            <a:r>
              <a:rPr lang="en-US" sz="4000" i="1" dirty="0" err="1"/>
              <a:t>Principes</a:t>
            </a:r>
            <a:r>
              <a:rPr lang="en-US" sz="4000" i="1" dirty="0"/>
              <a:t> </a:t>
            </a:r>
            <a:r>
              <a:rPr lang="en-US" sz="4000" i="1" dirty="0" err="1"/>
              <a:t>généraux</a:t>
            </a:r>
            <a:r>
              <a:rPr lang="en-US" sz="4000" i="1" dirty="0"/>
              <a:t> – </a:t>
            </a:r>
            <a:r>
              <a:rPr lang="en-US" sz="4000" i="1" dirty="0" err="1"/>
              <a:t>Exemple</a:t>
            </a:r>
            <a:r>
              <a:rPr lang="en-US" sz="4000" i="1" dirty="0"/>
              <a:t> 4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564452" y="3429000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971600" y="1988840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3851260" y="1988840"/>
            <a:ext cx="660" cy="28783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508104" y="5231937"/>
            <a:ext cx="3361995" cy="672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b="1" dirty="0">
                <a:solidFill>
                  <a:schemeClr val="tx1"/>
                </a:solidFill>
              </a:rPr>
              <a:t>Réception réponse C104 &amp; adaptation Horizon :</a:t>
            </a:r>
          </a:p>
          <a:p>
            <a:r>
              <a:rPr lang="fr-BE" b="1" dirty="0">
                <a:solidFill>
                  <a:schemeClr val="tx1"/>
                </a:solidFill>
                <a:sym typeface="Wingdings" panose="05000000000000000000" pitchFamily="2" charset="2"/>
              </a:rPr>
              <a:t> Facteur J 2022= 0</a:t>
            </a:r>
            <a:endParaRPr lang="fr-BE" b="1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69942" y="2708920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3128530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169168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432781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6003732" y="2014399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458939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6721850" y="1983532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8181626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4577408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709110" y="2720888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2" name="Flèche droite 41"/>
          <p:cNvSpPr/>
          <p:nvPr/>
        </p:nvSpPr>
        <p:spPr>
          <a:xfrm>
            <a:off x="964851" y="4894719"/>
            <a:ext cx="3612557" cy="124182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CC payé avec déduction de 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2 J en septembre 2022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0" name="Connecteur droit 69"/>
          <p:cNvCxnSpPr/>
          <p:nvPr/>
        </p:nvCxnSpPr>
        <p:spPr>
          <a:xfrm>
            <a:off x="528566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 flipV="1">
            <a:off x="4938224" y="5568143"/>
            <a:ext cx="569880" cy="72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èche droite 78"/>
          <p:cNvSpPr/>
          <p:nvPr/>
        </p:nvSpPr>
        <p:spPr>
          <a:xfrm rot="16200000">
            <a:off x="4462739" y="440222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èche droite 80"/>
          <p:cNvSpPr/>
          <p:nvPr/>
        </p:nvSpPr>
        <p:spPr>
          <a:xfrm rot="16200000">
            <a:off x="2292464" y="4419208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596998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2"/>
                </a:solidFill>
              </a:rPr>
              <a:t>V1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864794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5" name="Flèche droite 44"/>
          <p:cNvSpPr/>
          <p:nvPr/>
        </p:nvSpPr>
        <p:spPr>
          <a:xfrm rot="16200000">
            <a:off x="3010948" y="442782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429242" y="2724064"/>
            <a:ext cx="67264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430705" y="3428165"/>
            <a:ext cx="708103" cy="719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V2 +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146989" y="3448378"/>
            <a:ext cx="708103" cy="701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C00000"/>
                </a:solidFill>
              </a:rPr>
              <a:t>V2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2F9C83-1744-45FF-BAFE-F1B05062C960}"/>
              </a:ext>
            </a:extLst>
          </p:cNvPr>
          <p:cNvSpPr/>
          <p:nvPr/>
        </p:nvSpPr>
        <p:spPr>
          <a:xfrm>
            <a:off x="971600" y="1988840"/>
            <a:ext cx="72846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D5CA6D-406E-4FC1-BED1-272953FD498F}"/>
              </a:ext>
            </a:extLst>
          </p:cNvPr>
          <p:cNvSpPr/>
          <p:nvPr/>
        </p:nvSpPr>
        <p:spPr>
          <a:xfrm>
            <a:off x="1694744" y="1988840"/>
            <a:ext cx="72515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Aout 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EF20E9-E16E-477F-8501-1D282042C653}"/>
              </a:ext>
            </a:extLst>
          </p:cNvPr>
          <p:cNvSpPr/>
          <p:nvPr/>
        </p:nvSpPr>
        <p:spPr>
          <a:xfrm>
            <a:off x="2407025" y="1988840"/>
            <a:ext cx="70674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BBB325-A667-477D-953D-1197A9FA50BB}"/>
              </a:ext>
            </a:extLst>
          </p:cNvPr>
          <p:cNvSpPr/>
          <p:nvPr/>
        </p:nvSpPr>
        <p:spPr>
          <a:xfrm>
            <a:off x="3147793" y="1987217"/>
            <a:ext cx="72339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36859C9-A62E-4E73-990B-20D7D4F998D1}"/>
              </a:ext>
            </a:extLst>
          </p:cNvPr>
          <p:cNvSpPr/>
          <p:nvPr/>
        </p:nvSpPr>
        <p:spPr>
          <a:xfrm>
            <a:off x="3851260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E4E16FE-0D9D-4272-A4FE-D58CF3FE614E}"/>
              </a:ext>
            </a:extLst>
          </p:cNvPr>
          <p:cNvSpPr/>
          <p:nvPr/>
        </p:nvSpPr>
        <p:spPr>
          <a:xfrm>
            <a:off x="4556048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C64C078-0626-44FB-847A-5B878D6EAC86}"/>
              </a:ext>
            </a:extLst>
          </p:cNvPr>
          <p:cNvSpPr/>
          <p:nvPr/>
        </p:nvSpPr>
        <p:spPr>
          <a:xfrm>
            <a:off x="5288976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Jan.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F804FF-8F5E-4F83-B7B9-DC724A255B9C}"/>
              </a:ext>
            </a:extLst>
          </p:cNvPr>
          <p:cNvSpPr/>
          <p:nvPr/>
        </p:nvSpPr>
        <p:spPr>
          <a:xfrm>
            <a:off x="5996207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Fév.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6F42B93-57DA-49C6-A1A3-4A53C6752661}"/>
              </a:ext>
            </a:extLst>
          </p:cNvPr>
          <p:cNvSpPr/>
          <p:nvPr/>
        </p:nvSpPr>
        <p:spPr>
          <a:xfrm>
            <a:off x="6727573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Mars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5E5C04-CB04-434B-9407-592C8E020B9F}"/>
              </a:ext>
            </a:extLst>
          </p:cNvPr>
          <p:cNvSpPr/>
          <p:nvPr/>
        </p:nvSpPr>
        <p:spPr>
          <a:xfrm>
            <a:off x="7450632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Avril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67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2" grpId="0" animBg="1"/>
      <p:bldP spid="79" grpId="0" animBg="1"/>
      <p:bldP spid="79" grpId="1" animBg="1"/>
      <p:bldP spid="81" grpId="0" animBg="1"/>
      <p:bldP spid="81" grpId="1" animBg="1"/>
      <p:bldP spid="45" grpId="0" animBg="1"/>
      <p:bldP spid="53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1687379" y="2720888"/>
            <a:ext cx="754081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B050"/>
                </a:solidFill>
              </a:rPr>
              <a:t>V1</a:t>
            </a:r>
            <a:endParaRPr lang="en-US" sz="1600" b="1" dirty="0">
              <a:solidFill>
                <a:srgbClr val="00B050"/>
              </a:solidFill>
            </a:endParaRPr>
          </a:p>
        </p:txBody>
      </p:sp>
      <p:cxnSp>
        <p:nvCxnSpPr>
          <p:cNvPr id="69" name="Connecteur droit 68"/>
          <p:cNvCxnSpPr/>
          <p:nvPr/>
        </p:nvCxnSpPr>
        <p:spPr>
          <a:xfrm>
            <a:off x="4947558" y="2695024"/>
            <a:ext cx="372" cy="288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i="1" dirty="0"/>
              <a:t>2.1. </a:t>
            </a:r>
            <a:r>
              <a:rPr lang="en-US" sz="4000" i="1" dirty="0" err="1"/>
              <a:t>Principes</a:t>
            </a:r>
            <a:r>
              <a:rPr lang="en-US" sz="4000" i="1" dirty="0"/>
              <a:t> </a:t>
            </a:r>
            <a:r>
              <a:rPr lang="en-US" sz="4000" i="1" dirty="0" err="1"/>
              <a:t>généraux</a:t>
            </a:r>
            <a:r>
              <a:rPr lang="en-US" sz="4000" i="1" dirty="0"/>
              <a:t> – </a:t>
            </a:r>
            <a:r>
              <a:rPr lang="en-US" sz="4000" i="1" dirty="0" err="1"/>
              <a:t>Exemple</a:t>
            </a:r>
            <a:r>
              <a:rPr lang="en-US" sz="4000" i="1" dirty="0"/>
              <a:t> 5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564452" y="3429000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971600" y="1988840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3851260" y="1988840"/>
            <a:ext cx="660" cy="28783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508104" y="5231937"/>
            <a:ext cx="3361995" cy="672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b="1" dirty="0">
                <a:solidFill>
                  <a:schemeClr val="tx1"/>
                </a:solidFill>
              </a:rPr>
              <a:t>Réception de données E-tempora (complémentaire) pour 07/2022.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942" y="2708920"/>
            <a:ext cx="70810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3128530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169168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432781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6003732" y="2014399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458939" y="1986913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6721850" y="1983532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8181626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4577408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135580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2" name="Flèche droite 41"/>
          <p:cNvSpPr/>
          <p:nvPr/>
        </p:nvSpPr>
        <p:spPr>
          <a:xfrm>
            <a:off x="964851" y="4894719"/>
            <a:ext cx="3612557" cy="680625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CT payé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70" name="Connecteur droit 69"/>
          <p:cNvCxnSpPr/>
          <p:nvPr/>
        </p:nvCxnSpPr>
        <p:spPr>
          <a:xfrm>
            <a:off x="5285660" y="2000808"/>
            <a:ext cx="372" cy="2880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 flipV="1">
            <a:off x="4938224" y="5568143"/>
            <a:ext cx="569880" cy="72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èche droite 78"/>
          <p:cNvSpPr/>
          <p:nvPr/>
        </p:nvSpPr>
        <p:spPr>
          <a:xfrm rot="16200000">
            <a:off x="4462739" y="4402222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èche droite 80"/>
          <p:cNvSpPr/>
          <p:nvPr/>
        </p:nvSpPr>
        <p:spPr>
          <a:xfrm rot="16200000">
            <a:off x="834712" y="4431949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596998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2"/>
                </a:solidFill>
              </a:rPr>
              <a:t>V1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864794" y="2708920"/>
            <a:ext cx="6964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008000"/>
                </a:solidFill>
              </a:rPr>
              <a:t>V1</a:t>
            </a:r>
            <a:endParaRPr lang="en-US" sz="1600" b="1" dirty="0">
              <a:solidFill>
                <a:srgbClr val="008000"/>
              </a:solidFill>
            </a:endParaRPr>
          </a:p>
        </p:txBody>
      </p:sp>
      <p:sp>
        <p:nvSpPr>
          <p:cNvPr id="45" name="Flèche droite 44"/>
          <p:cNvSpPr/>
          <p:nvPr/>
        </p:nvSpPr>
        <p:spPr>
          <a:xfrm rot="16200000">
            <a:off x="1564005" y="4436475"/>
            <a:ext cx="978408" cy="484632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70199" y="3428165"/>
            <a:ext cx="708103" cy="69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Tâche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21970" y="3438303"/>
            <a:ext cx="708103" cy="701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rgbClr val="C00000"/>
                </a:solidFill>
              </a:rPr>
              <a:t>V2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81E3C2-F83B-4131-88B5-228C9FCF7FEB}"/>
              </a:ext>
            </a:extLst>
          </p:cNvPr>
          <p:cNvSpPr/>
          <p:nvPr/>
        </p:nvSpPr>
        <p:spPr>
          <a:xfrm>
            <a:off x="971600" y="1988840"/>
            <a:ext cx="72846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6BF196-D55C-4515-9F22-FB076697D632}"/>
              </a:ext>
            </a:extLst>
          </p:cNvPr>
          <p:cNvSpPr/>
          <p:nvPr/>
        </p:nvSpPr>
        <p:spPr>
          <a:xfrm>
            <a:off x="1694744" y="1988840"/>
            <a:ext cx="72515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Aout 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ABCDF0-7A22-4CE8-ABFE-5ACED79A54D5}"/>
              </a:ext>
            </a:extLst>
          </p:cNvPr>
          <p:cNvSpPr/>
          <p:nvPr/>
        </p:nvSpPr>
        <p:spPr>
          <a:xfrm>
            <a:off x="2407025" y="1988840"/>
            <a:ext cx="70674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D19BB9F-0F4F-4F77-80D9-BE9DAB953269}"/>
              </a:ext>
            </a:extLst>
          </p:cNvPr>
          <p:cNvSpPr/>
          <p:nvPr/>
        </p:nvSpPr>
        <p:spPr>
          <a:xfrm>
            <a:off x="3147793" y="1987217"/>
            <a:ext cx="72339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35D860-51BF-4C01-9F3A-78AE33801496}"/>
              </a:ext>
            </a:extLst>
          </p:cNvPr>
          <p:cNvSpPr/>
          <p:nvPr/>
        </p:nvSpPr>
        <p:spPr>
          <a:xfrm>
            <a:off x="3851260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A94AE3-E662-478C-8C2B-261DC04796AC}"/>
              </a:ext>
            </a:extLst>
          </p:cNvPr>
          <p:cNvSpPr/>
          <p:nvPr/>
        </p:nvSpPr>
        <p:spPr>
          <a:xfrm>
            <a:off x="4556048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0C1797-841C-4F82-A57D-31359C75171D}"/>
              </a:ext>
            </a:extLst>
          </p:cNvPr>
          <p:cNvSpPr/>
          <p:nvPr/>
        </p:nvSpPr>
        <p:spPr>
          <a:xfrm>
            <a:off x="5288976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Janv.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325E7CF-DD79-4BDC-910A-D61BAFA441C5}"/>
              </a:ext>
            </a:extLst>
          </p:cNvPr>
          <p:cNvSpPr/>
          <p:nvPr/>
        </p:nvSpPr>
        <p:spPr>
          <a:xfrm>
            <a:off x="5996207" y="1987217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Fév.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E0696B-9A47-48A4-8E2F-2E7E95EBA53A}"/>
              </a:ext>
            </a:extLst>
          </p:cNvPr>
          <p:cNvSpPr/>
          <p:nvPr/>
        </p:nvSpPr>
        <p:spPr>
          <a:xfrm>
            <a:off x="6727573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Mars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5D4AC3-DAB7-4C71-A1EE-8EB1EACBF4E0}"/>
              </a:ext>
            </a:extLst>
          </p:cNvPr>
          <p:cNvSpPr/>
          <p:nvPr/>
        </p:nvSpPr>
        <p:spPr>
          <a:xfrm>
            <a:off x="7450632" y="1986913"/>
            <a:ext cx="7134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Avril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8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2" grpId="0" animBg="1"/>
      <p:bldP spid="79" grpId="0" animBg="1"/>
      <p:bldP spid="79" grpId="1" animBg="1"/>
      <p:bldP spid="81" grpId="0" animBg="1"/>
      <p:bldP spid="81" grpId="1" animBg="1"/>
      <p:bldP spid="45" grpId="0" animBg="1"/>
      <p:bldP spid="4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7EADF-C01E-461B-B2D6-EB11A8C8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2.2. Procédure C144B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14ADC-036B-4F8D-86C5-62DE6DBDB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400" b="1" u="sng" dirty="0"/>
              <a:t>Principe</a:t>
            </a:r>
            <a:r>
              <a:rPr lang="fr-BE" sz="2400" b="1" dirty="0"/>
              <a:t>:</a:t>
            </a:r>
          </a:p>
          <a:p>
            <a:pPr marL="0" indent="0">
              <a:buNone/>
            </a:pPr>
            <a:r>
              <a:rPr lang="fr-BE" sz="2400" b="1" dirty="0"/>
              <a:t>Déclaration spontanée</a:t>
            </a:r>
            <a:r>
              <a:rPr lang="fr-BE" sz="2400" dirty="0"/>
              <a:t> au moyen d’un </a:t>
            </a:r>
            <a:r>
              <a:rPr lang="fr-BE" sz="2400" b="1" u="sng" dirty="0">
                <a:solidFill>
                  <a:srgbClr val="C00000"/>
                </a:solidFill>
              </a:rPr>
              <a:t>formulaire C144B</a:t>
            </a:r>
            <a:r>
              <a:rPr lang="fr-BE" sz="2400" b="1" dirty="0">
                <a:solidFill>
                  <a:srgbClr val="C00000"/>
                </a:solidFill>
              </a:rPr>
              <a:t> </a:t>
            </a:r>
            <a:r>
              <a:rPr lang="fr-BE" sz="2400" dirty="0"/>
              <a:t>d’un montant indûment perçu afin que l’</a:t>
            </a:r>
            <a:r>
              <a:rPr lang="fr-BE" sz="2400" dirty="0" err="1"/>
              <a:t>ONem</a:t>
            </a:r>
            <a:r>
              <a:rPr lang="fr-BE" sz="2400" dirty="0"/>
              <a:t> procède à la récupération (C31)</a:t>
            </a:r>
            <a:r>
              <a:rPr lang="fr-BE" sz="2400" b="1" dirty="0"/>
              <a:t> </a:t>
            </a:r>
            <a:r>
              <a:rPr lang="fr-BE" sz="2400" b="1" dirty="0">
                <a:solidFill>
                  <a:srgbClr val="C00000"/>
                </a:solidFill>
              </a:rPr>
              <a:t>sans audition </a:t>
            </a:r>
            <a:r>
              <a:rPr lang="fr-BE" sz="2400" dirty="0"/>
              <a:t>du chômeur et </a:t>
            </a:r>
            <a:r>
              <a:rPr lang="fr-BE" sz="2400" b="1" dirty="0">
                <a:solidFill>
                  <a:srgbClr val="C00000"/>
                </a:solidFill>
              </a:rPr>
              <a:t>sans appliquer une sanction </a:t>
            </a:r>
          </a:p>
          <a:p>
            <a:pPr marL="0" indent="0">
              <a:buNone/>
            </a:pPr>
            <a:endParaRPr lang="fr-BE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fr-BE" sz="2400" b="1" u="sng" dirty="0"/>
              <a:t>Introduction</a:t>
            </a:r>
            <a:r>
              <a:rPr lang="fr-BE" sz="2400" b="1" dirty="0"/>
              <a:t>:</a:t>
            </a:r>
          </a:p>
          <a:p>
            <a:pPr marL="0" indent="0">
              <a:buNone/>
            </a:pPr>
            <a:r>
              <a:rPr lang="fr-BE" sz="2400" b="1" dirty="0">
                <a:solidFill>
                  <a:srgbClr val="C00000"/>
                </a:solidFill>
              </a:rPr>
              <a:t>C144B</a:t>
            </a:r>
            <a:r>
              <a:rPr lang="fr-BE" sz="2400" b="1" dirty="0"/>
              <a:t> </a:t>
            </a:r>
            <a:r>
              <a:rPr lang="fr-BE" sz="2400" dirty="0"/>
              <a:t>avec</a:t>
            </a:r>
            <a:r>
              <a:rPr lang="fr-BE" sz="2400" b="1" dirty="0"/>
              <a:t> </a:t>
            </a:r>
            <a:r>
              <a:rPr lang="fr-BE" sz="2400" dirty="0"/>
              <a:t>la</a:t>
            </a:r>
            <a:r>
              <a:rPr lang="fr-BE" sz="2400" b="1" dirty="0"/>
              <a:t> renonciation à l’audition signé par l’assuré social </a:t>
            </a:r>
            <a:r>
              <a:rPr lang="fr-BE" sz="2400" dirty="0"/>
              <a:t>et reprenant un </a:t>
            </a:r>
            <a:r>
              <a:rPr lang="fr-BE" sz="2400" b="1" dirty="0"/>
              <a:t>descriptif de la situation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BE" sz="2400" b="1" dirty="0">
                <a:sym typeface="Wingdings" panose="05000000000000000000" pitchFamily="2" charset="2"/>
              </a:rPr>
              <a:t>Soit joint à la D.A </a:t>
            </a:r>
            <a:r>
              <a:rPr lang="fr-BE" sz="2400" dirty="0">
                <a:sym typeface="Wingdings" panose="05000000000000000000" pitchFamily="2" charset="2"/>
              </a:rPr>
              <a:t>si litige constaté lors de celle-ci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BE" sz="2400" b="1" dirty="0">
                <a:sym typeface="Wingdings" panose="05000000000000000000" pitchFamily="2" charset="2"/>
              </a:rPr>
              <a:t>Soit par courrier </a:t>
            </a:r>
            <a:r>
              <a:rPr lang="fr-BE" sz="2400" dirty="0">
                <a:sym typeface="Wingdings" panose="05000000000000000000" pitchFamily="2" charset="2"/>
              </a:rPr>
              <a:t>(pas de C9)</a:t>
            </a:r>
            <a:endParaRPr lang="fr-BE" sz="2400" dirty="0"/>
          </a:p>
          <a:p>
            <a:pPr marL="0" indent="0">
              <a:buNone/>
            </a:pPr>
            <a:endParaRPr lang="fr-BE" sz="2400" b="1" u="sng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E401AB-11B1-4BE2-B99D-44138CF8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08461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7EADF-C01E-461B-B2D6-EB11A8C8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2.2. Procédure C144B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14ADC-036B-4F8D-86C5-62DE6DBDB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400" b="1" u="sng" dirty="0"/>
              <a:t>Conditions à remplir simultanément</a:t>
            </a:r>
            <a:r>
              <a:rPr lang="fr-BE" sz="2400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Pas d’enquête entamée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Montant </a:t>
            </a:r>
            <a:r>
              <a:rPr lang="fr-BE" sz="2400" dirty="0">
                <a:latin typeface="Arial" panose="020B0604020202020204" pitchFamily="34" charset="0"/>
                <a:cs typeface="Arial" panose="020B0604020202020204" pitchFamily="34" charset="0"/>
              </a:rPr>
              <a:t>≥ 25€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>
                <a:cs typeface="Arial" panose="020B0604020202020204" pitchFamily="34" charset="0"/>
              </a:rPr>
              <a:t>Période déclarée = période de perception indue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>
                <a:cs typeface="Arial" panose="020B0604020202020204" pitchFamily="34" charset="0"/>
              </a:rPr>
              <a:t>Période indue se rapporte au dernier mois calendrier payé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>
                <a:cs typeface="Arial" panose="020B0604020202020204" pitchFamily="34" charset="0"/>
              </a:rPr>
              <a:t>Joindre une copie de la carte de contrôle (si c’est encore possible)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>
                <a:cs typeface="Arial" panose="020B0604020202020204" pitchFamily="34" charset="0"/>
              </a:rPr>
              <a:t>Renoncer expressément à une audition</a:t>
            </a:r>
          </a:p>
          <a:p>
            <a:pPr marL="0" indent="0">
              <a:buNone/>
            </a:pPr>
            <a:endParaRPr lang="fr-BE" sz="1100" b="1" dirty="0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fr-BE" sz="2400" b="1" dirty="0">
                <a:solidFill>
                  <a:srgbClr val="008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Condition OK: </a:t>
            </a:r>
            <a:r>
              <a:rPr lang="fr-BE" sz="2400" b="1" dirty="0">
                <a:cs typeface="Arial" panose="020B0604020202020204" pitchFamily="34" charset="0"/>
                <a:sym typeface="Wingdings" panose="05000000000000000000" pitchFamily="2" charset="2"/>
              </a:rPr>
              <a:t>Pas de sanction et récupération via C31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BE" sz="2400" b="1" dirty="0">
                <a:solidFill>
                  <a:srgbClr val="C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Conditions NOK: </a:t>
            </a:r>
            <a:r>
              <a:rPr lang="fr-BE" sz="2400" b="1" dirty="0">
                <a:cs typeface="Arial" panose="020B0604020202020204" pitchFamily="34" charset="0"/>
                <a:sym typeface="Wingdings" panose="05000000000000000000" pitchFamily="2" charset="2"/>
              </a:rPr>
              <a:t>Procédure de litige suit son cours</a:t>
            </a:r>
            <a:endParaRPr lang="fr-BE" sz="2400" b="1" dirty="0"/>
          </a:p>
          <a:p>
            <a:pPr marL="0" indent="0">
              <a:buNone/>
            </a:pPr>
            <a:endParaRPr lang="fr-BE" sz="2400" b="1" u="sng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E401AB-11B1-4BE2-B99D-44138CF8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087194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930989-A74A-4518-983D-B37BAAE1E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5400" b="1" dirty="0"/>
              <a:t>3. Tâches diverses</a:t>
            </a:r>
          </a:p>
        </p:txBody>
      </p:sp>
    </p:spTree>
    <p:extLst>
      <p:ext uri="{BB962C8B-B14F-4D97-AF65-F5344CB8AC3E}">
        <p14:creationId xmlns:p14="http://schemas.microsoft.com/office/powerpoint/2010/main" val="942086458"/>
      </p:ext>
    </p:extLst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4DEBD-A16B-4940-9505-C6A4BF0E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/>
              <a:t>3.1. Tâches en lien avec l’écran pont 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94E4DF-B115-4170-8BA5-5CF923B1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u="sng" dirty="0">
                <a:solidFill>
                  <a:srgbClr val="C00000"/>
                </a:solidFill>
              </a:rPr>
              <a:t>« Signalétique changé » </a:t>
            </a:r>
            <a:r>
              <a:rPr lang="fr-BE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fr-BE" sz="2800" b="1" u="sng" dirty="0"/>
              <a:t>Déclencheur</a:t>
            </a:r>
            <a:r>
              <a:rPr lang="fr-BE" sz="2800" b="1" dirty="0"/>
              <a:t>:</a:t>
            </a:r>
            <a:r>
              <a:rPr lang="fr-BE" sz="2800" dirty="0"/>
              <a:t> </a:t>
            </a:r>
          </a:p>
          <a:p>
            <a:pPr marL="0" indent="0">
              <a:buNone/>
            </a:pPr>
            <a:r>
              <a:rPr lang="fr-BE" sz="2800" dirty="0"/>
              <a:t>Le paiement d’une </a:t>
            </a:r>
            <a:r>
              <a:rPr lang="fr-BE" sz="2800" dirty="0" err="1"/>
              <a:t>indemnisabilité</a:t>
            </a:r>
            <a:r>
              <a:rPr lang="fr-BE" sz="2800" dirty="0"/>
              <a:t> est bloqué car il existe </a:t>
            </a:r>
            <a:r>
              <a:rPr lang="fr-BE" sz="2800" b="1" u="sng" dirty="0">
                <a:solidFill>
                  <a:srgbClr val="C00000"/>
                </a:solidFill>
              </a:rPr>
              <a:t>POUR HORIZON</a:t>
            </a:r>
            <a:r>
              <a:rPr lang="fr-BE" sz="2800" dirty="0"/>
              <a:t> au moins une modification des données signalétiques qui n’a pas été communiquée au BC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Ligne en rouge dans l’écran pont </a:t>
            </a:r>
            <a:r>
              <a:rPr lang="fr-BE" sz="2400" dirty="0">
                <a:sym typeface="Wingdings" panose="05000000000000000000" pitchFamily="2" charset="2"/>
              </a:rPr>
              <a:t>= </a:t>
            </a:r>
            <a:r>
              <a:rPr lang="fr-BE" sz="2400" b="1" dirty="0">
                <a:sym typeface="Wingdings" panose="05000000000000000000" pitchFamily="2" charset="2"/>
              </a:rPr>
              <a:t>Tous les paiements </a:t>
            </a:r>
            <a:r>
              <a:rPr lang="fr-BE" sz="2400" dirty="0">
                <a:sym typeface="Wingdings" panose="05000000000000000000" pitchFamily="2" charset="2"/>
              </a:rPr>
              <a:t>bloquées à partir du 1</a:t>
            </a:r>
            <a:r>
              <a:rPr lang="fr-BE" sz="2400" baseline="30000" dirty="0">
                <a:sym typeface="Wingdings" panose="05000000000000000000" pitchFamily="2" charset="2"/>
              </a:rPr>
              <a:t>er</a:t>
            </a:r>
            <a:r>
              <a:rPr lang="fr-BE" sz="2400" dirty="0">
                <a:sym typeface="Wingdings" panose="05000000000000000000" pitchFamily="2" charset="2"/>
              </a:rPr>
              <a:t> mois</a:t>
            </a:r>
          </a:p>
          <a:p>
            <a:pPr marL="0" indent="0">
              <a:buNone/>
            </a:pPr>
            <a:endParaRPr lang="fr-BE" sz="12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fr-BE" sz="2400" b="1" dirty="0">
                <a:solidFill>
                  <a:schemeClr val="tx2"/>
                </a:solidFill>
                <a:sym typeface="Wingdings" panose="05000000000000000000" pitchFamily="2" charset="2"/>
              </a:rPr>
              <a:t>Ligne en bleu dans l’écran pont</a:t>
            </a:r>
            <a:r>
              <a:rPr lang="fr-BE" sz="2400" dirty="0">
                <a:sym typeface="Wingdings" panose="05000000000000000000" pitchFamily="2" charset="2"/>
              </a:rPr>
              <a:t> = Blocage des </a:t>
            </a:r>
            <a:r>
              <a:rPr lang="fr-BE" sz="2400" b="1" dirty="0">
                <a:sym typeface="Wingdings" panose="05000000000000000000" pitchFamily="2" charset="2"/>
              </a:rPr>
              <a:t>paiements CC</a:t>
            </a:r>
            <a:r>
              <a:rPr lang="fr-BE" sz="2400" dirty="0">
                <a:sym typeface="Wingdings" panose="05000000000000000000" pitchFamily="2" charset="2"/>
              </a:rPr>
              <a:t> pour le(s) mois concerné par la ligne bleue</a:t>
            </a:r>
            <a:endParaRPr lang="fr-BE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E9A0A4-B45F-467D-98AB-095F985E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70110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4DEBD-A16B-4940-9505-C6A4BF0E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/>
              <a:t>3.1. Tâches en lien avec l’écran pont 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94E4DF-B115-4170-8BA5-5CF923B1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BE" sz="2800" b="1" u="sng" dirty="0"/>
              <a:t>Traitement</a:t>
            </a:r>
            <a:r>
              <a:rPr lang="fr-BE" sz="2800" b="1" dirty="0"/>
              <a:t>:</a:t>
            </a:r>
          </a:p>
          <a:p>
            <a:pPr marL="0" indent="0">
              <a:buNone/>
            </a:pPr>
            <a:r>
              <a:rPr lang="fr-BE" sz="2800" dirty="0"/>
              <a:t>Plusieurs possibilités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sz="2400" b="1" dirty="0"/>
              <a:t> </a:t>
            </a:r>
            <a:r>
              <a:rPr lang="fr-BE" sz="2400" b="1" dirty="0">
                <a:solidFill>
                  <a:srgbClr val="C00000"/>
                </a:solidFill>
              </a:rPr>
              <a:t>C1 encore dans les flux à recevoir  </a:t>
            </a:r>
          </a:p>
          <a:p>
            <a:pPr marL="806450" lvl="1" indent="0">
              <a:buNone/>
            </a:pPr>
            <a:r>
              <a:rPr lang="fr-BE" sz="2400" b="1" dirty="0">
                <a:sym typeface="Wingdings" panose="05000000000000000000" pitchFamily="2" charset="2"/>
              </a:rPr>
              <a:t> Régularisation au moment de l’envoi de la farde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sz="2400" b="1" dirty="0">
                <a:sym typeface="Wingdings" panose="05000000000000000000" pitchFamily="2" charset="2"/>
              </a:rPr>
              <a:t>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Pas de farde en suspens </a:t>
            </a:r>
          </a:p>
          <a:p>
            <a:pPr marL="806450" lvl="1" indent="0">
              <a:buNone/>
            </a:pPr>
            <a:r>
              <a:rPr lang="fr-BE" sz="2400" b="1" dirty="0">
                <a:sym typeface="Wingdings" panose="05000000000000000000" pitchFamily="2" charset="2"/>
              </a:rPr>
              <a:t> Création de la farde et envoi du C1 pour signature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sz="2400" b="1" dirty="0">
                <a:sym typeface="Wingdings" panose="05000000000000000000" pitchFamily="2" charset="2"/>
              </a:rPr>
              <a:t>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C1 envoyé au BC mais blocage persiste</a:t>
            </a:r>
          </a:p>
          <a:p>
            <a:pPr marL="1149350" lvl="1" indent="-342900">
              <a:buFont typeface="Wingdings" panose="05000000000000000000" pitchFamily="2" charset="2"/>
              <a:buChar char="è"/>
            </a:pPr>
            <a:r>
              <a:rPr lang="fr-BE" sz="2400" b="1" dirty="0">
                <a:sym typeface="Wingdings" panose="05000000000000000000" pitchFamily="2" charset="2"/>
              </a:rPr>
              <a:t>Modification des données signalétique si erreur </a:t>
            </a:r>
            <a:r>
              <a:rPr lang="fr-BE" sz="2400" dirty="0">
                <a:sym typeface="Wingdings" panose="05000000000000000000" pitchFamily="2" charset="2"/>
              </a:rPr>
              <a:t>(dates,   membres de la famille,…)</a:t>
            </a:r>
          </a:p>
          <a:p>
            <a:pPr marL="1149350" lvl="1" indent="-342900">
              <a:buFont typeface="Wingdings" panose="05000000000000000000" pitchFamily="2" charset="2"/>
              <a:buChar char="è"/>
            </a:pPr>
            <a:r>
              <a:rPr lang="fr-BE" sz="2400" b="1" dirty="0">
                <a:sym typeface="Wingdings" panose="05000000000000000000" pitchFamily="2" charset="2"/>
              </a:rPr>
              <a:t>Envoi d’un script 0.1 fictif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(C9 XXX) </a:t>
            </a:r>
            <a:r>
              <a:rPr lang="fr-BE" sz="2400" b="1" dirty="0">
                <a:sym typeface="Wingdings" panose="05000000000000000000" pitchFamily="2" charset="2"/>
              </a:rPr>
              <a:t>si données correctes ont été communiquée BC mais pas encodées à l’écran</a:t>
            </a:r>
            <a:endParaRPr lang="fr-BE" sz="2400" b="1" dirty="0"/>
          </a:p>
          <a:p>
            <a:pPr lvl="1">
              <a:buFont typeface="Wingdings" panose="05000000000000000000" pitchFamily="2" charset="2"/>
              <a:buChar char="Ø"/>
            </a:pPr>
            <a:endParaRPr lang="fr-BE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E9A0A4-B45F-467D-98AB-095F985E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909771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4DEBD-A16B-4940-9505-C6A4BF0E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/>
              <a:t>3.1. Tâches en lien avec l’écran pont 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94E4DF-B115-4170-8BA5-5CF923B1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u="sng" dirty="0">
                <a:solidFill>
                  <a:srgbClr val="C00000"/>
                </a:solidFill>
              </a:rPr>
              <a:t>« Signalétique ignoré » </a:t>
            </a:r>
            <a:r>
              <a:rPr lang="fr-BE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fr-BE" sz="2800" b="1" u="sng" dirty="0"/>
              <a:t>Déclencheur</a:t>
            </a:r>
            <a:r>
              <a:rPr lang="fr-BE" sz="2800" b="1" dirty="0"/>
              <a:t>:</a:t>
            </a:r>
            <a:r>
              <a:rPr lang="fr-BE" sz="2800" dirty="0"/>
              <a:t> Le paiement d’une </a:t>
            </a:r>
            <a:r>
              <a:rPr lang="fr-BE" sz="2800" dirty="0" err="1"/>
              <a:t>indemnisabilité</a:t>
            </a:r>
            <a:r>
              <a:rPr lang="fr-BE" sz="2800" dirty="0"/>
              <a:t> a échoué car au moins une partie de la période à indemniser a été renseignée comme période ignorée dans l’écran pont.</a:t>
            </a:r>
          </a:p>
          <a:p>
            <a:pPr marL="0" indent="0">
              <a:buNone/>
            </a:pPr>
            <a:endParaRPr lang="fr-BE" sz="1500" dirty="0"/>
          </a:p>
          <a:p>
            <a:pPr marL="0" indent="0">
              <a:buNone/>
            </a:pPr>
            <a:r>
              <a:rPr lang="fr-BE" sz="2800" b="1" u="sng" dirty="0"/>
              <a:t>Traitement</a:t>
            </a:r>
            <a:r>
              <a:rPr lang="fr-BE" sz="2800" b="1" dirty="0"/>
              <a:t>:</a:t>
            </a:r>
          </a:p>
          <a:p>
            <a:pPr marL="0" indent="0">
              <a:buNone/>
            </a:pPr>
            <a:r>
              <a:rPr lang="fr-BE" sz="2800" dirty="0"/>
              <a:t>Si un paiement doit effectivement être effectué pour cette période il convient de: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BE" sz="2800" dirty="0">
                <a:sym typeface="Wingdings" panose="05000000000000000000" pitchFamily="2" charset="2"/>
              </a:rPr>
              <a:t> Supprimer la période renseignée comme ignorée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BE" sz="2800" dirty="0">
                <a:sym typeface="Wingdings" panose="05000000000000000000" pitchFamily="2" charset="2"/>
              </a:rPr>
              <a:t> Traiter les périodes alors redevenues bloquantes afin que celle-ci soient en conformité avec nos données signalétiques  et les données dont l’</a:t>
            </a:r>
            <a:r>
              <a:rPr lang="fr-BE" sz="2800" dirty="0" err="1">
                <a:sym typeface="Wingdings" panose="05000000000000000000" pitchFamily="2" charset="2"/>
              </a:rPr>
              <a:t>ONEm</a:t>
            </a:r>
            <a:r>
              <a:rPr lang="fr-BE" sz="2800" dirty="0">
                <a:sym typeface="Wingdings" panose="05000000000000000000" pitchFamily="2" charset="2"/>
              </a:rPr>
              <a:t> dispose (modification date, envoi C1,…)</a:t>
            </a:r>
            <a:endParaRPr lang="fr-BE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E9A0A4-B45F-467D-98AB-095F985E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170764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4DEBD-A16B-4940-9505-C6A4BF0E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3.2. Autres tâches </a:t>
            </a:r>
            <a:endParaRPr lang="fr-BE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94E4DF-B115-4170-8BA5-5CF923B1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srgbClr val="C00000"/>
                </a:solidFill>
              </a:rPr>
              <a:t>Tâche en lien avec le S07: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b="1" dirty="0"/>
              <a:t>« Occupation rouverte par script » </a:t>
            </a:r>
            <a:r>
              <a:rPr lang="fr-BE" sz="1600" i="1" dirty="0"/>
              <a:t>(Tâche admissibilité)</a:t>
            </a:r>
            <a:endParaRPr lang="fr-BE" sz="2400" i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b="1" dirty="0"/>
              <a:t>« Même numéro de ticket plusieurs flux» </a:t>
            </a:r>
            <a:r>
              <a:rPr lang="fr-BE" sz="1600" i="1" dirty="0"/>
              <a:t>(Tâche tentative de paiement échouée)</a:t>
            </a:r>
            <a:endParaRPr lang="fr-BE" sz="2400" i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b="1" dirty="0"/>
              <a:t>« Total des Q&gt;S » </a:t>
            </a:r>
            <a:r>
              <a:rPr lang="fr-BE" sz="1600" i="1" dirty="0"/>
              <a:t>(Tâche tentative de paiement échouée)</a:t>
            </a:r>
            <a:endParaRPr lang="fr-BE" sz="1600" b="1" i="1" dirty="0"/>
          </a:p>
          <a:p>
            <a:pPr marL="0" lvl="1" indent="0">
              <a:buNone/>
            </a:pPr>
            <a:endParaRPr lang="fr-BE" sz="1600" b="1" i="1" u="sng" dirty="0">
              <a:solidFill>
                <a:srgbClr val="C00000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fr-BE" b="1" u="sng" dirty="0">
                <a:solidFill>
                  <a:srgbClr val="C00000"/>
                </a:solidFill>
              </a:rPr>
              <a:t>Tâche en lien avec le statut payable:</a:t>
            </a:r>
          </a:p>
          <a:p>
            <a:pPr marL="857250" lvl="2" indent="-457200">
              <a:buFont typeface="Wingdings" panose="05000000000000000000" pitchFamily="2" charset="2"/>
              <a:buChar char="Ø"/>
            </a:pPr>
            <a:r>
              <a:rPr lang="fr-BE" b="1" dirty="0"/>
              <a:t>« C8 plainte/C51 envoyé » </a:t>
            </a:r>
            <a:r>
              <a:rPr lang="fr-BE" sz="1600" i="1" dirty="0"/>
              <a:t>(Tâche tentative de paiement échouée)</a:t>
            </a:r>
            <a:endParaRPr lang="fr-BE" b="1" i="1" dirty="0"/>
          </a:p>
          <a:p>
            <a:pPr marL="457200" lvl="1" indent="0">
              <a:buNone/>
            </a:pPr>
            <a:endParaRPr lang="fr-BE" sz="1600" b="1" dirty="0"/>
          </a:p>
          <a:p>
            <a:pPr marL="0" lvl="1" indent="0">
              <a:buNone/>
            </a:pPr>
            <a:endParaRPr lang="fr-BE" b="1" u="sng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fr-BE" sz="2400" b="1" dirty="0"/>
          </a:p>
          <a:p>
            <a:pPr>
              <a:buFont typeface="Wingdings" panose="05000000000000000000" pitchFamily="2" charset="2"/>
              <a:buChar char="§"/>
            </a:pPr>
            <a:endParaRPr lang="fr-BE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sz="2000" dirty="0"/>
          </a:p>
          <a:p>
            <a:pPr marL="0" indent="0">
              <a:buNone/>
            </a:pPr>
            <a:endParaRPr lang="fr-BE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E9A0A4-B45F-467D-98AB-095F985E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157773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A08F00-901F-4536-8775-924A24269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5912B8-7172-455B-B8CB-E7D19A411EF7}">
  <ds:schemaRefs>
    <ds:schemaRef ds:uri="http://schemas.microsoft.com/office/2006/metadata/properties"/>
    <ds:schemaRef ds:uri="http://purl.org/dc/terms/"/>
    <ds:schemaRef ds:uri="7d2a3af0-b854-4018-b3fb-98bf2b75e19a"/>
    <ds:schemaRef ds:uri="bdec1399-7c99-4025-bfb6-e1e799e6630a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e832426-6819-49af-b751-404cdfce156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191F75-C793-484F-A1E1-B36BAD56C6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20308</TotalTime>
  <Words>1373</Words>
  <Application>Microsoft Office PowerPoint</Application>
  <PresentationFormat>On-screen Show (4:3)</PresentationFormat>
  <Paragraphs>341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Thème Office</vt:lpstr>
      <vt:lpstr>Philosophie Horizon (niv. 2)</vt:lpstr>
      <vt:lpstr>Table des matières</vt:lpstr>
      <vt:lpstr>1. Procédure 92§5</vt:lpstr>
      <vt:lpstr>1.1 Délais d’introduction: rappel et application 92§5</vt:lpstr>
      <vt:lpstr>1.2. Introduction du Flux E925</vt:lpstr>
      <vt:lpstr>1.3. Flux E925: Suivi BC et tâches</vt:lpstr>
      <vt:lpstr> 1.4. Gestion des délais: En résumé… </vt:lpstr>
      <vt:lpstr>2. Paramètres de recalcul</vt:lpstr>
      <vt:lpstr>2.1. Principes généraux</vt:lpstr>
      <vt:lpstr>2.1. Principes généraux – Exemple 1</vt:lpstr>
      <vt:lpstr>2.1. Principes généraux – Exemple 2</vt:lpstr>
      <vt:lpstr>2.1. Principes généraux – Exemple 3</vt:lpstr>
      <vt:lpstr>2.1. Principes généraux – Exemple 4</vt:lpstr>
      <vt:lpstr>2.1. Principes généraux – Exemple 5</vt:lpstr>
      <vt:lpstr>2.2. Procédure C144B </vt:lpstr>
      <vt:lpstr>2.2. Procédure C144B </vt:lpstr>
      <vt:lpstr>3. Tâches diverses</vt:lpstr>
      <vt:lpstr>3.1. Tâches en lien avec l’écran pont </vt:lpstr>
      <vt:lpstr>3.1. Tâches en lien avec l’écran pont </vt:lpstr>
      <vt:lpstr>3.1. Tâches en lien avec l’écran pont </vt:lpstr>
      <vt:lpstr>3.2. Autres tâches 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FCJ-M42-Philosophie Hz (niv. 2)-FLT</dc:title>
  <dc:creator>u99lge</dc:creator>
  <cp:lastModifiedBy>Antonella Mimmo</cp:lastModifiedBy>
  <cp:revision>897</cp:revision>
  <dcterms:created xsi:type="dcterms:W3CDTF">2010-09-22T12:12:06Z</dcterms:created>
  <dcterms:modified xsi:type="dcterms:W3CDTF">2022-12-20T07:17:42Z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17;#Admissibilité|d1ac0b1f-1e4c-4aa8-9a97-5b01e61985ba;#22;#Indemnisabilité|b5f95997-28b8-41b1-bbb7-1a3d8a5995b4;#26;#Paiement|bbe82f01-f3c6-4a35-a642-de01f3e9fac7;#13;#Tâches|addb87cc-e52a-4e6f-a061-fdea8baf7830;#18;#Vérités|91331765-02c2-47c0-8605-37a5a3e877f2</vt:lpwstr>
  </property>
  <property fmtid="{D5CDD505-2E9C-101B-9397-08002B2CF9AE}" pid="7" name="Thème">
    <vt:lpwstr>77;#Philosophie horizon - Avancé|8b311a4a-5534-4f9d-89de-e3e16da6c615</vt:lpwstr>
  </property>
  <property fmtid="{D5CDD505-2E9C-101B-9397-08002B2CF9AE}" pid="8" name="Order">
    <vt:r8>243100</vt:r8>
  </property>
  <property fmtid="{D5CDD505-2E9C-101B-9397-08002B2CF9AE}" pid="9" name="_dlc_DocIdItemGuid">
    <vt:lpwstr>680463da-538d-4266-9835-396fc9958c73</vt:lpwstr>
  </property>
</Properties>
</file>