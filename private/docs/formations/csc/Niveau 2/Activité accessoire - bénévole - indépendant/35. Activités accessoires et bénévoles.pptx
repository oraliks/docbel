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4"/>
    <p:sldMasterId id="2147483673" r:id="rId5"/>
  </p:sldMasterIdLst>
  <p:notesMasterIdLst>
    <p:notesMasterId r:id="rId53"/>
  </p:notesMasterIdLst>
  <p:handoutMasterIdLst>
    <p:handoutMasterId r:id="rId54"/>
  </p:handoutMasterIdLst>
  <p:sldIdLst>
    <p:sldId id="608" r:id="rId6"/>
    <p:sldId id="609" r:id="rId7"/>
    <p:sldId id="610" r:id="rId8"/>
    <p:sldId id="611" r:id="rId9"/>
    <p:sldId id="612" r:id="rId10"/>
    <p:sldId id="613" r:id="rId11"/>
    <p:sldId id="614" r:id="rId12"/>
    <p:sldId id="615" r:id="rId13"/>
    <p:sldId id="616" r:id="rId14"/>
    <p:sldId id="617" r:id="rId15"/>
    <p:sldId id="618" r:id="rId16"/>
    <p:sldId id="619" r:id="rId17"/>
    <p:sldId id="620" r:id="rId18"/>
    <p:sldId id="621" r:id="rId19"/>
    <p:sldId id="622" r:id="rId20"/>
    <p:sldId id="623" r:id="rId21"/>
    <p:sldId id="624" r:id="rId22"/>
    <p:sldId id="625" r:id="rId23"/>
    <p:sldId id="402" r:id="rId24"/>
    <p:sldId id="660" r:id="rId25"/>
    <p:sldId id="626" r:id="rId26"/>
    <p:sldId id="627" r:id="rId27"/>
    <p:sldId id="628" r:id="rId28"/>
    <p:sldId id="629" r:id="rId29"/>
    <p:sldId id="630" r:id="rId30"/>
    <p:sldId id="631" r:id="rId31"/>
    <p:sldId id="632" r:id="rId32"/>
    <p:sldId id="633" r:id="rId33"/>
    <p:sldId id="634" r:id="rId34"/>
    <p:sldId id="640" r:id="rId35"/>
    <p:sldId id="641" r:id="rId36"/>
    <p:sldId id="642" r:id="rId37"/>
    <p:sldId id="643" r:id="rId38"/>
    <p:sldId id="644" r:id="rId39"/>
    <p:sldId id="645" r:id="rId40"/>
    <p:sldId id="646" r:id="rId41"/>
    <p:sldId id="647" r:id="rId42"/>
    <p:sldId id="648" r:id="rId43"/>
    <p:sldId id="650" r:id="rId44"/>
    <p:sldId id="406" r:id="rId45"/>
    <p:sldId id="649" r:id="rId46"/>
    <p:sldId id="651" r:id="rId47"/>
    <p:sldId id="652" r:id="rId48"/>
    <p:sldId id="653" r:id="rId49"/>
    <p:sldId id="654" r:id="rId50"/>
    <p:sldId id="655" r:id="rId51"/>
    <p:sldId id="659" r:id="rId52"/>
  </p:sldIdLst>
  <p:sldSz cx="9144000" cy="6858000" type="screen4x3"/>
  <p:notesSz cx="6669088" cy="987266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669900"/>
    <a:srgbClr val="00FF00"/>
    <a:srgbClr val="003399"/>
    <a:srgbClr val="0033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2" autoAdjust="0"/>
    <p:restoredTop sz="90586" autoAdjust="0"/>
  </p:normalViewPr>
  <p:slideViewPr>
    <p:cSldViewPr>
      <p:cViewPr varScale="1">
        <p:scale>
          <a:sx n="74" d="100"/>
          <a:sy n="74" d="100"/>
        </p:scale>
        <p:origin x="162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heme" Target="theme/theme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3634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608" y="0"/>
            <a:ext cx="2889938" cy="493634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28/11/2022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377317"/>
            <a:ext cx="2889938" cy="493634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608" y="9377317"/>
            <a:ext cx="2889938" cy="493634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3634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8" y="0"/>
            <a:ext cx="2889938" cy="493634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28/11/2022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66775" y="739775"/>
            <a:ext cx="4935538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689516"/>
            <a:ext cx="5335270" cy="4442699"/>
          </a:xfrm>
          <a:prstGeom prst="rect">
            <a:avLst/>
          </a:prstGeom>
        </p:spPr>
        <p:txBody>
          <a:bodyPr vert="horz" lIns="91312" tIns="45656" rIns="91312" bIns="45656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377317"/>
            <a:ext cx="2889938" cy="493634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8" y="9377317"/>
            <a:ext cx="2889938" cy="493634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7291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fr-BE" sz="1200" b="1" u="sng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27728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fr-BE" sz="1200" b="1" u="sng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823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7667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6772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0396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54707-722F-4A60-9660-96DE0BD69967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2452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C7C1-4123-4C24-970B-DF08A948B31A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4235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D4349-2926-4739-B2B4-B0A22C79AD76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8135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A9A2-D604-4289-935B-9578668F5708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031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17A7-122D-4D2C-981C-2563884CC80D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3901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4D67-A364-4951-A604-4FB7C704199C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2290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B0018-CA76-4639-9B9A-2AF7193C4869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7728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B98-594B-4234-8183-CBD2456B9B9F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6080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778DC-9C57-4CFF-828C-427A77C042C6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3342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243E-C9CA-4284-A135-5AD0E7301BAF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4105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5C91F-E0F1-4223-AF77-52AB0CC9E474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3542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re. Texte et image de la bibliothè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7772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'image de la bibliothèque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fr-FR" noProof="0" dirty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C4B1BA-7BD6-402B-AD3C-BC5D389A5CB0}" type="datetime1">
              <a:rPr lang="en-GB"/>
              <a:pPr>
                <a:defRPr/>
              </a:pPr>
              <a:t>28/11/2022</a:t>
            </a:fld>
            <a:endParaRPr lang="en-US" dirty="0"/>
          </a:p>
        </p:txBody>
      </p:sp>
      <p:sp>
        <p:nvSpPr>
          <p:cNvPr id="6" name="Rectangle 102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103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D00416-C2B2-430D-937F-8C5FF4E07E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993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007C5-377A-492D-8697-D52B04B50101}" type="datetime1">
              <a:rPr lang="fr-FR" smtClean="0"/>
              <a:t>28/11/2022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398701"/>
      </p:ext>
    </p:extLst>
  </p:cSld>
  <p:clrMapOvr>
    <a:masterClrMapping/>
  </p:clrMapOvr>
  <p:transition>
    <p:dissolv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1BA24-E59E-4025-BE1E-CBD0763D8C51}" type="datetime1">
              <a:rPr lang="fr-FR" smtClean="0"/>
              <a:t>28/11/2022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0442664"/>
      </p:ext>
    </p:extLst>
  </p:cSld>
  <p:clrMapOvr>
    <a:masterClrMapping/>
  </p:clrMapOvr>
  <p:transition>
    <p:dissolv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EED57-EB9D-45AB-A07F-E1A5500B4D72}" type="datetime1">
              <a:rPr lang="fr-FR" smtClean="0"/>
              <a:t>28/11/2022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2315705"/>
      </p:ext>
    </p:extLst>
  </p:cSld>
  <p:clrMapOvr>
    <a:masterClrMapping/>
  </p:clrMapOvr>
  <p:transition>
    <p:dissolv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06A8A-7F13-468B-A864-9F4BAC107769}" type="datetime1">
              <a:rPr lang="fr-FR" smtClean="0"/>
              <a:t>28/11/2022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2170639"/>
      </p:ext>
    </p:extLst>
  </p:cSld>
  <p:clrMapOvr>
    <a:masterClrMapping/>
  </p:clrMapOvr>
  <p:transition>
    <p:dissolv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6D76-5348-41AF-B1AC-4CF3571F614C}" type="datetime1">
              <a:rPr lang="fr-FR" smtClean="0"/>
              <a:t>28/11/2022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4119391"/>
      </p:ext>
    </p:extLst>
  </p:cSld>
  <p:clrMapOvr>
    <a:masterClrMapping/>
  </p:clrMapOvr>
  <p:transition>
    <p:dissolv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7CF2-D51D-4F14-98B3-B2E5AEB824F5}" type="datetime1">
              <a:rPr lang="fr-FR" smtClean="0"/>
              <a:t>28/11/2022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4882959"/>
      </p:ext>
    </p:extLst>
  </p:cSld>
  <p:clrMapOvr>
    <a:masterClrMapping/>
  </p:clrMapOvr>
  <p:transition>
    <p:dissolv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9B145-2497-4405-AC15-1CF500C98E5E}" type="datetime1">
              <a:rPr lang="fr-FR" smtClean="0"/>
              <a:t>28/11/2022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071629"/>
      </p:ext>
    </p:extLst>
  </p:cSld>
  <p:clrMapOvr>
    <a:masterClrMapping/>
  </p:clrMapOvr>
  <p:transition>
    <p:dissolv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C4363-91BF-4478-B893-91A8068B831A}" type="datetime1">
              <a:rPr lang="fr-FR" smtClean="0"/>
              <a:t>28/11/2022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831216"/>
      </p:ext>
    </p:extLst>
  </p:cSld>
  <p:clrMapOvr>
    <a:masterClrMapping/>
  </p:clrMapOvr>
  <p:transition>
    <p:dissolv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A640C-9280-4E03-B934-E236A17B7B47}" type="datetime1">
              <a:rPr lang="fr-FR" smtClean="0"/>
              <a:t>28/11/2022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9718271"/>
      </p:ext>
    </p:extLst>
  </p:cSld>
  <p:clrMapOvr>
    <a:masterClrMapping/>
  </p:clrMapOvr>
  <p:transition>
    <p:dissolv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9F76-C7A8-4E6F-9069-2E43AD2424CD}" type="datetime1">
              <a:rPr lang="fr-FR" smtClean="0"/>
              <a:t>28/11/2022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1456161"/>
      </p:ext>
    </p:extLst>
  </p:cSld>
  <p:clrMapOvr>
    <a:masterClrMapping/>
  </p:clrMapOvr>
  <p:transition>
    <p:dissolv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B9EFD-AFB6-4F03-8C14-881BDBB8D718}" type="datetime1">
              <a:rPr lang="fr-FR" smtClean="0"/>
              <a:t>28/11/2022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0556483"/>
      </p:ext>
    </p:extLst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19711-FEBE-4F6F-8DA5-FF72666C7073}" type="datetime1">
              <a:rPr lang="fr-FR" smtClean="0"/>
              <a:pPr/>
              <a:t>28/11/2022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47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E4FF8-95DE-4B49-8464-A5D7DAE5B823}" type="datetime1">
              <a:rPr lang="fr-FR" smtClean="0"/>
              <a:t>28/11/2022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663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685800" y="1268453"/>
            <a:ext cx="7772400" cy="5235494"/>
          </a:xfrm>
        </p:spPr>
        <p:txBody>
          <a:bodyPr>
            <a:noAutofit/>
          </a:bodyPr>
          <a:lstStyle/>
          <a:p>
            <a:br>
              <a:rPr lang="fr-FR" sz="4800" b="1" dirty="0">
                <a:cs typeface="Times New Roman" pitchFamily="18" charset="0"/>
              </a:rPr>
            </a:br>
            <a:br>
              <a:rPr lang="fr-FR" sz="4800" b="1" dirty="0">
                <a:cs typeface="Times New Roman" pitchFamily="18" charset="0"/>
              </a:rPr>
            </a:br>
            <a:r>
              <a:rPr lang="fr-FR" sz="6000" b="1" i="1" dirty="0">
                <a:cs typeface="Times New Roman" pitchFamily="18" charset="0"/>
              </a:rPr>
              <a:t>Activités accessoires et bénévoles.</a:t>
            </a:r>
            <a:br>
              <a:rPr lang="fr-FR" sz="6000" b="1" i="1" dirty="0">
                <a:cs typeface="Times New Roman" pitchFamily="18" charset="0"/>
              </a:rPr>
            </a:br>
            <a:br>
              <a:rPr lang="fr-FR" sz="4000" b="1" i="1" dirty="0">
                <a:cs typeface="Times New Roman" pitchFamily="18" charset="0"/>
              </a:rPr>
            </a:br>
            <a:br>
              <a:rPr lang="fr-FR" sz="6000" b="1" i="1" dirty="0">
                <a:cs typeface="Times New Roman" pitchFamily="18" charset="0"/>
              </a:rPr>
            </a:br>
            <a:r>
              <a:rPr lang="fr-FR" sz="1200" b="1" dirty="0">
                <a:cs typeface="Times New Roman" pitchFamily="18" charset="0"/>
              </a:rPr>
              <a:t> </a:t>
            </a:r>
            <a:br>
              <a:rPr lang="fr-FR" sz="1200" b="1" dirty="0">
                <a:cs typeface="Times New Roman" pitchFamily="18" charset="0"/>
              </a:rPr>
            </a:br>
            <a:br>
              <a:rPr lang="fr-FR" sz="1200" b="1" dirty="0">
                <a:cs typeface="Times New Roman" pitchFamily="18" charset="0"/>
              </a:rPr>
            </a:br>
            <a:br>
              <a:rPr lang="fr-FR" sz="1200" b="1" dirty="0">
                <a:cs typeface="Times New Roman" pitchFamily="18" charset="0"/>
              </a:rPr>
            </a:br>
            <a:br>
              <a:rPr lang="fr-FR" sz="4800" b="1" dirty="0">
                <a:cs typeface="Times New Roman" pitchFamily="18" charset="0"/>
              </a:rPr>
            </a:br>
            <a:br>
              <a:rPr lang="fr-FR" sz="6000" b="1" i="1" dirty="0"/>
            </a:br>
            <a:endParaRPr lang="fr-FR" sz="6000" b="1" dirty="0">
              <a:cs typeface="Times New Roman" pitchFamily="18" charset="0"/>
            </a:endParaRPr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>
          <a:xfrm>
            <a:off x="8358214" y="6072206"/>
            <a:ext cx="400024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C6EE2CD6-0B48-4E90-9AB5-D69C24A6A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7664" y="3638364"/>
            <a:ext cx="6400800" cy="1752600"/>
          </a:xfrm>
        </p:spPr>
        <p:txBody>
          <a:bodyPr>
            <a:normAutofit/>
          </a:bodyPr>
          <a:lstStyle/>
          <a:p>
            <a:r>
              <a:rPr lang="fr-BE" sz="3600" b="1" dirty="0">
                <a:solidFill>
                  <a:srgbClr val="C00000"/>
                </a:solidFill>
              </a:rPr>
              <a:t>Art. 44</a:t>
            </a:r>
            <a:r>
              <a:rPr lang="fr-BE" sz="3600" b="1" dirty="0">
                <a:solidFill>
                  <a:schemeClr val="tx1"/>
                </a:solidFill>
              </a:rPr>
              <a:t>,</a:t>
            </a:r>
            <a:r>
              <a:rPr lang="fr-BE" sz="3600" b="1" dirty="0">
                <a:solidFill>
                  <a:srgbClr val="C00000"/>
                </a:solidFill>
              </a:rPr>
              <a:t> 45</a:t>
            </a:r>
            <a:r>
              <a:rPr lang="fr-BE" sz="3600" b="1" dirty="0">
                <a:solidFill>
                  <a:schemeClr val="tx1"/>
                </a:solidFill>
              </a:rPr>
              <a:t>,</a:t>
            </a:r>
            <a:r>
              <a:rPr lang="fr-BE" sz="3600" b="1" dirty="0">
                <a:solidFill>
                  <a:srgbClr val="C00000"/>
                </a:solidFill>
              </a:rPr>
              <a:t> 46</a:t>
            </a:r>
            <a:r>
              <a:rPr lang="fr-BE" sz="3600" b="1" dirty="0">
                <a:solidFill>
                  <a:schemeClr val="tx1"/>
                </a:solidFill>
              </a:rPr>
              <a:t>,</a:t>
            </a:r>
            <a:r>
              <a:rPr lang="fr-BE" sz="3600" b="1" dirty="0">
                <a:solidFill>
                  <a:srgbClr val="C00000"/>
                </a:solidFill>
              </a:rPr>
              <a:t> 48 </a:t>
            </a:r>
            <a:r>
              <a:rPr lang="fr-BE" sz="3600" b="1" dirty="0">
                <a:solidFill>
                  <a:schemeClr val="tx1"/>
                </a:solidFill>
              </a:rPr>
              <a:t>et</a:t>
            </a:r>
            <a:r>
              <a:rPr lang="fr-BE" sz="3600" b="1" dirty="0">
                <a:solidFill>
                  <a:srgbClr val="C00000"/>
                </a:solidFill>
              </a:rPr>
              <a:t> 49 </a:t>
            </a:r>
            <a:r>
              <a:rPr lang="fr-BE" sz="3600" b="1" dirty="0">
                <a:solidFill>
                  <a:schemeClr val="tx1"/>
                </a:solidFill>
              </a:rPr>
              <a:t>de l’</a:t>
            </a:r>
            <a:r>
              <a:rPr lang="fr-BE" sz="3600" b="1" dirty="0">
                <a:solidFill>
                  <a:srgbClr val="C00000"/>
                </a:solidFill>
              </a:rPr>
              <a:t>AR</a:t>
            </a:r>
            <a:r>
              <a:rPr lang="fr-BE" sz="3600" b="1" dirty="0">
                <a:solidFill>
                  <a:schemeClr val="tx1"/>
                </a:solidFill>
              </a:rPr>
              <a:t> du 25.11.1991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15733BB-BEAE-45C9-9B3D-D684A802E822}"/>
              </a:ext>
            </a:extLst>
          </p:cNvPr>
          <p:cNvSpPr txBox="1"/>
          <p:nvPr/>
        </p:nvSpPr>
        <p:spPr>
          <a:xfrm>
            <a:off x="685800" y="5661248"/>
            <a:ext cx="244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Version du </a:t>
            </a:r>
            <a:r>
              <a:rPr lang="fr-BE" dirty="0">
                <a:solidFill>
                  <a:prstClr val="black"/>
                </a:solidFill>
                <a:latin typeface="Calibri"/>
              </a:rPr>
              <a:t>28.11.</a:t>
            </a:r>
            <a:r>
              <a:rPr kumimoji="0" lang="fr-B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3015498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25D5DB-E2E8-4320-8109-6CCFB16C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Table des matières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DB28BC-5AB4-4701-AE99-F8FEF7939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dirty="0"/>
              <a:t>Introduction</a:t>
            </a:r>
          </a:p>
          <a:p>
            <a:pPr lvl="1"/>
            <a:r>
              <a:rPr lang="fr-BE" dirty="0"/>
              <a:t>Travail pour son propre compte</a:t>
            </a:r>
          </a:p>
          <a:p>
            <a:pPr lvl="1"/>
            <a:r>
              <a:rPr lang="fr-BE" dirty="0"/>
              <a:t>Travail pour le compte d’un tiers</a:t>
            </a:r>
          </a:p>
          <a:p>
            <a:pPr lvl="1"/>
            <a:r>
              <a:rPr lang="fr-BE" dirty="0"/>
              <a:t>Mandat politique (ou public)</a:t>
            </a:r>
          </a:p>
          <a:p>
            <a:pPr lvl="1"/>
            <a:r>
              <a:rPr lang="fr-BE" dirty="0"/>
              <a:t>Travail bénévole</a:t>
            </a:r>
          </a:p>
          <a:p>
            <a:pPr lvl="1"/>
            <a:r>
              <a:rPr lang="fr-BE" dirty="0"/>
              <a:t>Activité dans le secteur sportif ou socioculturel</a:t>
            </a:r>
          </a:p>
          <a:p>
            <a:pPr lvl="1"/>
            <a:r>
              <a:rPr lang="fr-BE" dirty="0"/>
              <a:t>Préparation à une activité indépendante</a:t>
            </a:r>
          </a:p>
          <a:p>
            <a:pPr lvl="1"/>
            <a:r>
              <a:rPr lang="fr-BE" dirty="0"/>
              <a:t>Activité accessoire</a:t>
            </a:r>
          </a:p>
          <a:p>
            <a:pPr lvl="1"/>
            <a:r>
              <a:rPr lang="fr-BE" dirty="0"/>
              <a:t>Activité « tremplin-indépendant »</a:t>
            </a:r>
          </a:p>
          <a:p>
            <a:pPr lvl="1"/>
            <a:r>
              <a:rPr lang="fr-BE" dirty="0"/>
              <a:t>Travail occasionnel</a:t>
            </a:r>
          </a:p>
          <a:p>
            <a:r>
              <a:rPr lang="fr-BE" dirty="0"/>
              <a:t>Cumul autorisé des revenus (art. 130)</a:t>
            </a:r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D2533F-F11F-43FE-B6D0-A29A04325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990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E02472-EF96-419F-B1A7-74B4C3F52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AE0E35-47DC-43D6-A560-E2C0EAEFF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417638"/>
            <a:ext cx="8640960" cy="4708525"/>
          </a:xfrm>
        </p:spPr>
        <p:txBody>
          <a:bodyPr>
            <a:normAutofit fontScale="92500" lnSpcReduction="20000"/>
          </a:bodyPr>
          <a:lstStyle/>
          <a:p>
            <a:r>
              <a:rPr lang="fr-BE" sz="3500" dirty="0"/>
              <a:t>Pour pouvoir bénéficier d’allocation de chômage, le travailleur </a:t>
            </a:r>
            <a:r>
              <a:rPr lang="fr-BE" sz="3500" b="1" dirty="0"/>
              <a:t>doit être privé </a:t>
            </a:r>
            <a:r>
              <a:rPr lang="fr-BE" sz="3500" dirty="0"/>
              <a:t>de </a:t>
            </a:r>
            <a:r>
              <a:rPr lang="fr-BE" sz="3500" b="1" dirty="0">
                <a:solidFill>
                  <a:schemeClr val="accent2">
                    <a:lumMod val="75000"/>
                  </a:schemeClr>
                </a:solidFill>
              </a:rPr>
              <a:t>travail</a:t>
            </a:r>
            <a:r>
              <a:rPr lang="fr-BE" sz="3500" dirty="0"/>
              <a:t> et de </a:t>
            </a:r>
            <a:r>
              <a:rPr lang="fr-BE" sz="3500" b="1" dirty="0">
                <a:solidFill>
                  <a:schemeClr val="accent2">
                    <a:lumMod val="75000"/>
                  </a:schemeClr>
                </a:solidFill>
              </a:rPr>
              <a:t>rémunération</a:t>
            </a:r>
            <a:r>
              <a:rPr lang="fr-BE" sz="3500" dirty="0"/>
              <a:t> par suite de circonstances indépendantes de sa volonté. </a:t>
            </a:r>
            <a:r>
              <a:rPr lang="fr-BE" sz="2800" dirty="0"/>
              <a:t>(Art.44)</a:t>
            </a:r>
          </a:p>
          <a:p>
            <a:r>
              <a:rPr lang="fr-BE" dirty="0"/>
              <a:t>Sont notamment considérées comme </a:t>
            </a:r>
            <a:r>
              <a:rPr lang="fr-BE" u="sng" dirty="0"/>
              <a:t>rémunération</a:t>
            </a:r>
            <a:r>
              <a:rPr lang="fr-BE" sz="28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600" dirty="0"/>
              <a:t>Salaire,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600" dirty="0"/>
              <a:t>Indemnité de congé,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600" dirty="0"/>
              <a:t>Rémunération différée des enseignants,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600" dirty="0"/>
              <a:t>Repos compensatoire,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600" dirty="0"/>
              <a:t>Pécule de vacances,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600" dirty="0"/>
              <a:t>Avantages accordés dans le cadre d’une formation, d’études ou d’un apprentissage (sauf FP</a:t>
            </a:r>
            <a:r>
              <a:rPr lang="fr-BE" sz="2400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BE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54C385-F649-4E29-B7BF-C0B70649E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17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B4DD88-8858-4B05-A266-8ED5C3130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BBDB4F-FCE9-4053-BB4A-AE124D43C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8759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BE" sz="4300" dirty="0"/>
              <a:t>Il existe des situations où un chômeur </a:t>
            </a:r>
            <a:r>
              <a:rPr lang="fr-BE" sz="4300" b="1" dirty="0">
                <a:solidFill>
                  <a:schemeClr val="accent2">
                    <a:lumMod val="75000"/>
                  </a:schemeClr>
                </a:solidFill>
              </a:rPr>
              <a:t>a droit </a:t>
            </a:r>
            <a:r>
              <a:rPr lang="fr-BE" sz="4300" dirty="0"/>
              <a:t>à des allocations alors qu’il « travaille » .</a:t>
            </a:r>
          </a:p>
          <a:p>
            <a:r>
              <a:rPr lang="fr-BE" sz="4300" dirty="0"/>
              <a:t>Différentes situations: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kumimoji="0" lang="fr-BE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Travail pour son propre compte</a:t>
            </a:r>
            <a:r>
              <a:rPr kumimoji="0" lang="fr-BE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   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kumimoji="0" lang="fr-BE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Travail pour le compte d’un tiers</a:t>
            </a:r>
            <a:r>
              <a:rPr kumimoji="0" lang="fr-BE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kumimoji="0" lang="fr-BE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Mandat politique</a:t>
            </a:r>
            <a:r>
              <a:rPr kumimoji="0" lang="fr-BE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		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kumimoji="0" lang="fr-BE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Travail bénévole</a:t>
            </a:r>
            <a:r>
              <a:rPr kumimoji="0" lang="fr-BE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	  	</a:t>
            </a:r>
            <a:endParaRPr lang="fr-BE" sz="3400" dirty="0">
              <a:solidFill>
                <a:prstClr val="black"/>
              </a:solidFill>
              <a:latin typeface="Calibri"/>
            </a:endParaRP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kumimoji="0" lang="fr-BE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Activité dans le secteur sportif ou socioculturel</a:t>
            </a:r>
            <a:endParaRPr lang="fr-BE" sz="3400" dirty="0">
              <a:solidFill>
                <a:prstClr val="black"/>
              </a:solidFill>
              <a:latin typeface="Calibri"/>
            </a:endParaRP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kumimoji="0" lang="fr-BE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Préparation à une activité indépendante</a:t>
            </a:r>
            <a:r>
              <a:rPr kumimoji="0" lang="fr-BE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kumimoji="0" lang="fr-BE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Activité « accessoire »</a:t>
            </a:r>
            <a:r>
              <a:rPr kumimoji="0" lang="fr-BE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		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kumimoji="0" lang="fr-BE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Activité « Tremplin indépendant »</a:t>
            </a:r>
            <a:r>
              <a:rPr kumimoji="0" lang="fr-BE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                       	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kumimoji="0" lang="fr-BE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Travail « occasionnel »</a:t>
            </a:r>
            <a:r>
              <a:rPr kumimoji="0" lang="fr-BE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fr-B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	</a:t>
            </a:r>
          </a:p>
          <a:p>
            <a:pPr marL="0" indent="0">
              <a:buNone/>
            </a:pPr>
            <a:endParaRPr lang="fr-BE" sz="3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1DB832-C3B6-44F9-B080-2F783D5E9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0490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6251B3-4FC3-415F-8992-6D3178190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i="1" dirty="0"/>
              <a:t>Travail pour son propre compte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909B30-08D0-4A58-9521-C91C83E6C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Activité effectuée pour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son propre compte </a:t>
            </a:r>
            <a:r>
              <a:rPr lang="fr-BE" dirty="0"/>
              <a:t>qui peut être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intégrée dans le courant des échanges économiques des biens et des services et qui n’est pas limitée à la gestion normale des biens propres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fr-BE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Ce travail constitue un obstacle à l’indemnisation, </a:t>
            </a:r>
            <a:r>
              <a:rPr kumimoji="0" lang="fr-BE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sauf si </a:t>
            </a:r>
            <a:r>
              <a:rPr kumimoji="0" lang="fr-BE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l’activité ne dépasse pas la gestion  normale de ses biens propres.</a:t>
            </a:r>
            <a:endParaRPr kumimoji="0" lang="fr-F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C219D0-3F52-4B70-AD91-B97540E2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843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0C6E2F-6B68-4792-AD9A-D0214B09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Travail pour son propre compte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A53649-1BB2-4096-8057-0CEC62CB1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dirty="0"/>
              <a:t>Gestion normales des biens propres:</a:t>
            </a:r>
          </a:p>
          <a:p>
            <a:pPr marL="342900" lvl="0" indent="-342900">
              <a:lnSpc>
                <a:spcPct val="107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"/>
              <a:tabLst>
                <a:tab pos="900430" algn="l"/>
                <a:tab pos="457200" algn="l"/>
                <a:tab pos="900430" algn="l"/>
              </a:tabLst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 pas </a:t>
            </a:r>
            <a:r>
              <a:rPr lang="fr-BE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être réellement intégrée dans le circuit économique ;</a:t>
            </a:r>
          </a:p>
          <a:p>
            <a:pPr marL="342900" lvl="0" indent="-342900">
              <a:lnSpc>
                <a:spcPct val="107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"/>
              <a:tabLst>
                <a:tab pos="900430" algn="l"/>
                <a:tab pos="457200" algn="l"/>
                <a:tab pos="900430" algn="l"/>
              </a:tabLst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 pas </a:t>
            </a:r>
            <a:r>
              <a:rPr lang="fr-BE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être exercée dans un but lucratif ;</a:t>
            </a:r>
          </a:p>
          <a:p>
            <a:pPr marL="342900" lvl="0" indent="-342900">
              <a:lnSpc>
                <a:spcPct val="107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"/>
              <a:tabLst>
                <a:tab pos="900430" algn="l"/>
                <a:tab pos="457200" algn="l"/>
                <a:tab pos="900430" algn="l"/>
              </a:tabLst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</a:t>
            </a:r>
            <a:r>
              <a:rPr lang="fr-BE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permettre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</a:t>
            </a:r>
            <a:r>
              <a:rPr lang="fr-BE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conserver ou d’accroître modérément la valeur des biens ;</a:t>
            </a:r>
          </a:p>
          <a:p>
            <a:pPr marL="342900" lvl="0" indent="-342900">
              <a:lnSpc>
                <a:spcPct val="107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"/>
              <a:tabLst>
                <a:tab pos="900430" algn="l"/>
                <a:tab pos="457200" algn="l"/>
                <a:tab pos="900430" algn="l"/>
              </a:tabLst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permettre</a:t>
            </a:r>
            <a:r>
              <a:rPr lang="fr-BE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au chômeur de rester disponible (l’activité ne doit compromettre ni l’exercice ni la recherche d’un emploi).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84BDEA-E63E-4038-9C4F-B535B36A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2078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3CA444-28CA-47A2-B4EF-5F6AEA495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Travail pour son propre compte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3E9E26-C22A-4CD8-8468-7595177B4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b="1" dirty="0"/>
              <a:t>Formalités à accomplir</a:t>
            </a:r>
            <a:r>
              <a:rPr lang="fr-BE" dirty="0"/>
              <a:t> 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Pas de déclaration en cas de gestion normale de ses bien propres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En cas de doute, possibilité d’introduire un formulaire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C45C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Script 7.1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Type 210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87B260-7CE6-4AB5-8EFB-5F6F235A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13423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E1AF04-9299-45F3-9751-30894DBD8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Travail pour le compte d’un tiers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32DC07-DEF7-4A28-8CF5-D2D75AC92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l’activité effectuée pour un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tiers</a:t>
            </a:r>
            <a:r>
              <a:rPr lang="fr-BE" dirty="0"/>
              <a:t> et qui procure au travailleur une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rémunération</a:t>
            </a:r>
            <a:r>
              <a:rPr lang="fr-BE" dirty="0"/>
              <a:t> ou un avantage matériel de nature à contribuer à sa subsistance ou à celle de sa famille.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Toute activité effectuée pour un tiers est, jusqu’à preuve du contraire, présumée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procurer une rémunération </a:t>
            </a:r>
            <a:r>
              <a:rPr lang="fr-BE" dirty="0"/>
              <a:t>ou un avantage matériel et constitue donc un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obstacle à l’indemnisation </a:t>
            </a:r>
            <a:r>
              <a:rPr lang="fr-BE" dirty="0"/>
              <a:t>en chômage.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Tiers = personne privée, ASBL, centre culturel, organisme d’intérêt public, autres personnes juridiques, …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A15786-3A3B-49BB-9A51-D6C7CB52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6525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3DD292-B521-42DC-A84C-477B352A2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Mandat politique (ou public)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DB5299-D5D1-4247-9D5A-AFA8306F1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363272" cy="51657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dirty="0"/>
              <a:t>Il s’agit de: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Mandats politiques </a:t>
            </a:r>
            <a:r>
              <a:rPr lang="fr-BE" dirty="0"/>
              <a:t>que des personnes exercent suite à leur élection sur des listes électorales 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Mandats publics </a:t>
            </a:r>
            <a:r>
              <a:rPr lang="fr-BE" dirty="0"/>
              <a:t>exercés au sein d’un organisme public ou privé :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en raison d’une fonction dans une administration du Royaume, d’une région, communauté, province, Commune ou d’organisme public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comme représentant d’une organisation représentative des employeurs ou des travailleurs;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comme représentant de l’Etat, d’une Communauté, d’une Région, d’une province ou d’une Commune</a:t>
            </a:r>
            <a:r>
              <a:rPr lang="fr-BE" dirty="0"/>
              <a:t>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40F46E-D5FB-42ED-84F7-AC3D95428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1187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F98DC4-1148-4A9E-87D4-2CA4D2EA3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Mandat politique (ou public)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139846-5421-4192-AA1A-F70B47DA9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363272" cy="4938712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Mandats </a:t>
            </a:r>
            <a:r>
              <a:rPr lang="fr-BE" b="1" dirty="0"/>
              <a:t>autorisés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sans déclaration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dirty="0"/>
              <a:t>ni limite de revenus: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900" dirty="0"/>
              <a:t>conseiller communal  &amp; conseiller provincial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900" dirty="0"/>
              <a:t>membre de CPAS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900" dirty="0"/>
              <a:t>Juge social au tribunal du travail ou conseiller social à la Cour du travail &amp; Juge consulaire au tribunal de commerce</a:t>
            </a:r>
          </a:p>
          <a:p>
            <a:pPr marL="514350" indent="-457200">
              <a:buFont typeface="Wingdings" panose="05000000000000000000" pitchFamily="2" charset="2"/>
              <a:buChar char="§"/>
            </a:pPr>
            <a:r>
              <a:rPr lang="fr-BE" u="sng" dirty="0"/>
              <a:t>Conséquence</a:t>
            </a:r>
            <a:r>
              <a:rPr lang="fr-BE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ne doivent pas </a:t>
            </a:r>
            <a:r>
              <a:rPr lang="fr-BE" sz="2900" dirty="0"/>
              <a:t>être déclarés;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peuvent</a:t>
            </a:r>
            <a:r>
              <a:rPr lang="fr-BE" sz="2900" dirty="0"/>
              <a:t> être entamés en cours de chômage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peuvent </a:t>
            </a:r>
            <a:r>
              <a:rPr lang="fr-BE" sz="2900" dirty="0"/>
              <a:t>être exercés en journée (sans noircir sa carte de contrôle)</a:t>
            </a:r>
          </a:p>
          <a:p>
            <a:pPr marL="5715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379FFE-DB20-474A-B3AA-F958D5680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9374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BA9075-A06D-4740-ACF4-2E247DD10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Mandat politique (ou public)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A6C1AE-19AC-4761-861D-DBEB1D8AA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Les autres mandats politiques (ou public)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Doivent être déclarés au moyen du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C1/C1A </a:t>
            </a:r>
            <a:r>
              <a:rPr lang="fr-BE" dirty="0"/>
              <a:t>au moment de la DA ou au début du mandat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peuvent être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entamés en cours de chômage </a:t>
            </a:r>
            <a:r>
              <a:rPr lang="fr-BE" dirty="0"/>
              <a:t>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peuvent être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exercés en journée </a:t>
            </a:r>
            <a:r>
              <a:rPr lang="fr-BE" dirty="0"/>
              <a:t>(sans noircir la carte de contrôle)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sont soumis à la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limite de revenus </a:t>
            </a:r>
            <a:r>
              <a:rPr lang="fr-BE" dirty="0"/>
              <a:t>(art.130§2 AR)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Quelques exemples:</a:t>
            </a:r>
          </a:p>
          <a:p>
            <a:pPr marL="0" indent="0">
              <a:buNone/>
            </a:pPr>
            <a:r>
              <a:rPr lang="fr-BE" sz="2800" dirty="0"/>
              <a:t>Bourgmestre, échevin, président de CPAS, député, sénateur, membre d’une commission paritaire, …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F18740-DFCA-4518-B5DA-CDDE3AD5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4464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F7FEE73-8DC0-4A16-A2A9-3EC7B8B8656C}"/>
              </a:ext>
            </a:extLst>
          </p:cNvPr>
          <p:cNvSpPr/>
          <p:nvPr/>
        </p:nvSpPr>
        <p:spPr>
          <a:xfrm>
            <a:off x="323528" y="4437112"/>
            <a:ext cx="8496944" cy="19192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28B2971-2EB8-45A4-9082-717A4B25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Mandat dans le secteur culturel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4198D5-B6E3-4121-875C-0375815EE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dirty="0"/>
              <a:t>Il s’agit d’un mandat: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sz="3000" dirty="0"/>
              <a:t>de membre d’un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organe consultatif </a:t>
            </a:r>
            <a:r>
              <a:rPr lang="fr-BE" sz="3000" dirty="0"/>
              <a:t>dans le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secteur culturel </a:t>
            </a:r>
            <a:r>
              <a:rPr lang="fr-BE" sz="3000" dirty="0"/>
              <a:t>désigné par les communautés en vertu des décrets qui régissent ce secteur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BE" sz="3000" dirty="0"/>
              <a:t>De membre de la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Commission Artistes</a:t>
            </a:r>
            <a:r>
              <a:rPr lang="fr-BE" sz="30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BE" dirty="0"/>
              <a:t>Ces membres perçoivent des </a:t>
            </a:r>
            <a:r>
              <a:rPr lang="fr-BE" b="1" dirty="0"/>
              <a:t>jetons de présence </a:t>
            </a:r>
            <a:r>
              <a:rPr lang="fr-BE" dirty="0"/>
              <a:t>qui ne seront </a:t>
            </a:r>
            <a:r>
              <a:rPr lang="fr-BE" b="1" dirty="0"/>
              <a:t>pas considérés </a:t>
            </a:r>
            <a:r>
              <a:rPr lang="fr-BE" dirty="0"/>
              <a:t>comme une rémunération </a:t>
            </a:r>
            <a:r>
              <a:rPr lang="fr-BE" b="1" dirty="0"/>
              <a:t>sous certaines conditions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21EC1A-F595-494B-86E5-688C8BBA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1469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F38A57-6AF9-4641-86B9-2EDF5BA3C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Mandat dans le secteur culturel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E8CF1F-08DD-42F6-8907-2CFF969AC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8531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dirty="0"/>
              <a:t>Cumulables avec les allocations si: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Déclaration du mandat (au moment de la DA ou au moment où débute le mandat)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Cumul limité jusqu’à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1970,80 €</a:t>
            </a:r>
            <a:r>
              <a:rPr lang="fr-BE" sz="3000" dirty="0"/>
              <a:t>/année civile </a:t>
            </a:r>
            <a:r>
              <a:rPr lang="fr-BE" sz="2600" dirty="0"/>
              <a:t>(barème au 01.11.2022)</a:t>
            </a:r>
          </a:p>
          <a:p>
            <a:pPr marL="57150" indent="0">
              <a:buNone/>
            </a:pPr>
            <a:r>
              <a:rPr lang="fr-BE" sz="3000" dirty="0"/>
              <a:t>Formalités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C1 + C46</a:t>
            </a:r>
            <a:r>
              <a:rPr lang="fr-BE" sz="3000" dirty="0"/>
              <a:t> avec référence au moniteur belge ou copie du mandat de nomination (type C9 210)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Aucune mention </a:t>
            </a:r>
            <a:r>
              <a:rPr lang="fr-BE" sz="3000" dirty="0"/>
              <a:t>sur la carte de contrôle si déclaration acceptée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D6D327-9183-4F89-BA07-334E4D11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0792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CB940B-534B-486A-8F0B-D5F0252A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Mandat dans le secteur Culturel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4A2068-676C-4B12-B19E-DE4E055CF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/>
              <a:t>En cas d’absence de déclaration ou de refus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Si les conditions du cumul limité ne sont pas remplies </a:t>
            </a:r>
            <a:r>
              <a:rPr lang="fr-BE" sz="2700" dirty="0"/>
              <a:t>(ou a atteint la limite de 1970,80€)</a:t>
            </a:r>
            <a:r>
              <a:rPr lang="fr-BE" sz="3000" dirty="0"/>
              <a:t> ou que le chômeur ne souhaite pas déclarer ce mandat, il doit alors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mentionner</a:t>
            </a:r>
            <a:r>
              <a:rPr lang="fr-BE" sz="3000" dirty="0"/>
              <a:t> la participation aux réunions </a:t>
            </a:r>
            <a:r>
              <a:rPr lang="fr-BE" sz="3000" b="1" dirty="0"/>
              <a:t>sur la carte de contrôle</a:t>
            </a:r>
            <a:r>
              <a:rPr lang="fr-BE" sz="3000" dirty="0"/>
              <a:t> et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perd une allocation </a:t>
            </a:r>
            <a:r>
              <a:rPr lang="fr-BE" sz="3000" dirty="0"/>
              <a:t>pour ces journées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D2700DF-9B38-48B0-8D41-F73DC2336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3908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71AFEF-64D3-42A4-BB04-68F00E16875E}"/>
              </a:ext>
            </a:extLst>
          </p:cNvPr>
          <p:cNvSpPr/>
          <p:nvPr/>
        </p:nvSpPr>
        <p:spPr>
          <a:xfrm>
            <a:off x="323528" y="4559832"/>
            <a:ext cx="8568952" cy="17610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635A24-DFB6-487C-8E87-9F9C2B7FA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Travail bénévole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AF0495-8C97-4CDF-B0D1-2DE0E1188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363272" cy="47085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dirty="0"/>
              <a:t>Trois catégories: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Activité bénévole qui ne doit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pas</a:t>
            </a:r>
            <a:r>
              <a:rPr lang="fr-BE" b="1" dirty="0"/>
              <a:t> être déclarée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Pas mentionnée sur la carte de contrôle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Peut débuter pendant le chômage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Peut être cumulée avec les allocations</a:t>
            </a:r>
          </a:p>
          <a:p>
            <a:pPr marL="857250" lvl="2" indent="0">
              <a:buNone/>
            </a:pPr>
            <a:r>
              <a:rPr lang="fr-BE" dirty="0"/>
              <a:t>Liste des activités: </a:t>
            </a:r>
            <a:r>
              <a:rPr lang="fr-BE" dirty="0" err="1"/>
              <a:t>riodoc</a:t>
            </a:r>
            <a:r>
              <a:rPr lang="fr-BE" dirty="0"/>
              <a:t> n°062 513  </a:t>
            </a:r>
          </a:p>
          <a:p>
            <a:pPr marL="857250" lvl="2" indent="0">
              <a:buNone/>
            </a:pPr>
            <a:endParaRPr lang="fr-BE" dirty="0"/>
          </a:p>
          <a:p>
            <a:pPr marL="57150" indent="0">
              <a:buNone/>
            </a:pPr>
            <a:r>
              <a:rPr lang="fr-BE" sz="3000" dirty="0"/>
              <a:t>      Situation particulière pour les pompiers/agent de   la protection civile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volontaires</a:t>
            </a:r>
            <a:r>
              <a:rPr lang="fr-BE" sz="3000" dirty="0"/>
              <a:t> pour les activités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avec/sans </a:t>
            </a:r>
            <a:r>
              <a:rPr lang="fr-BE" sz="3000" dirty="0"/>
              <a:t>danger de mort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798CAB-E413-4B3D-B80F-7E130538F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9986DF4-D040-470D-9024-6099F9CA0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4581128"/>
            <a:ext cx="494123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795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7AB2F2-1E85-4045-BB8C-32F3514E7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Travail bénévole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C5BF96-F59B-46C8-8525-6CE1BCF51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BE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Activité bénévole </a:t>
            </a:r>
            <a:r>
              <a:rPr kumimoji="0" lang="fr-BE" sz="32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interdite </a:t>
            </a:r>
            <a:r>
              <a:rPr kumimoji="0" lang="fr-BE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(sauf règles du travail occasionnel)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kumimoji="0" lang="fr-BE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la participation à l’activité d’une </a:t>
            </a:r>
            <a:r>
              <a:rPr kumimoji="0" lang="fr-BE" sz="3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société commerciale</a:t>
            </a:r>
            <a:r>
              <a:rPr kumimoji="0" lang="fr-BE" sz="30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kumimoji="0" lang="fr-BE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la participation à </a:t>
            </a:r>
            <a:r>
              <a:rPr kumimoji="0" lang="fr-BE" sz="3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l’activité professionnelle </a:t>
            </a:r>
            <a:r>
              <a:rPr kumimoji="0" lang="fr-BE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d’un </a:t>
            </a:r>
            <a:r>
              <a:rPr kumimoji="0" lang="fr-BE" sz="3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particulier</a:t>
            </a:r>
            <a:r>
              <a:rPr kumimoji="0" lang="fr-BE" sz="3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(dans un commerce par ex.)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fr-BE" sz="3000" dirty="0">
                <a:latin typeface="Calibri"/>
              </a:rPr>
              <a:t>La participation à une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profession libérale</a:t>
            </a:r>
            <a:endParaRPr kumimoji="0" lang="fr-BE" sz="30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fr-BE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39913B-1074-4428-9018-58B21068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5511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D051DF-918A-4506-9C2C-3F5A1955F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Travail bénévole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81E999-13AF-4341-911C-99BB75382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Activité bénévole qui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doivent être </a:t>
            </a:r>
            <a:r>
              <a:rPr lang="fr-BE" b="1" dirty="0"/>
              <a:t>déclarées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BE" sz="3400" dirty="0"/>
              <a:t> Pour un particulier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200" dirty="0"/>
              <a:t>Déclaration </a:t>
            </a:r>
            <a:r>
              <a:rPr lang="fr-BE" sz="3200" b="1" dirty="0"/>
              <a:t>préalable</a:t>
            </a:r>
            <a:r>
              <a:rPr lang="fr-BE" sz="3200" dirty="0"/>
              <a:t> via le formulaire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C45A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200" dirty="0"/>
              <a:t>Effectuée pour un particulier dans le cadre de sa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vie privée </a:t>
            </a:r>
            <a:r>
              <a:rPr lang="fr-BE" sz="3200" dirty="0"/>
              <a:t>(et non professionnelle)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200" dirty="0"/>
              <a:t>Ne procure 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aucun revenu</a:t>
            </a:r>
          </a:p>
          <a:p>
            <a:pPr marL="914400" lvl="2" indent="0">
              <a:buNone/>
            </a:pPr>
            <a:endParaRPr lang="fr-BE" sz="2600" dirty="0"/>
          </a:p>
          <a:p>
            <a:pPr lvl="2">
              <a:buFont typeface="Wingdings" panose="05000000000000000000" pitchFamily="2" charset="2"/>
              <a:buChar char="Ø"/>
            </a:pPr>
            <a:endParaRPr lang="fr-BE" sz="26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E2FA1E-E6A4-4813-882F-F06E861D0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7177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3FFEAA-854D-4A48-AE02-5DD233C051DE}"/>
              </a:ext>
            </a:extLst>
          </p:cNvPr>
          <p:cNvSpPr/>
          <p:nvPr/>
        </p:nvSpPr>
        <p:spPr>
          <a:xfrm>
            <a:off x="457200" y="4581128"/>
            <a:ext cx="8363272" cy="17752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EB80278-00FE-44CA-B346-56F1705F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Travail bénévole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B2C3EF-59E4-4462-8B7F-0BE4F7F0E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87590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BE" sz="4000" dirty="0"/>
              <a:t>Pour une organisation non commerciale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600" dirty="0"/>
              <a:t>Déclaration </a:t>
            </a:r>
            <a:r>
              <a:rPr lang="fr-BE" sz="3600" b="1" dirty="0"/>
              <a:t>préalable</a:t>
            </a:r>
            <a:r>
              <a:rPr lang="fr-BE" sz="3600" dirty="0"/>
              <a:t> via le formulaire </a:t>
            </a:r>
            <a:r>
              <a:rPr lang="fr-BE" sz="3600" b="1" dirty="0">
                <a:solidFill>
                  <a:schemeClr val="accent2">
                    <a:lumMod val="75000"/>
                  </a:schemeClr>
                </a:solidFill>
              </a:rPr>
              <a:t>C45B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600" b="1" dirty="0"/>
              <a:t> </a:t>
            </a:r>
            <a:r>
              <a:rPr lang="fr-BE" sz="3600" dirty="0"/>
              <a:t>Activité</a:t>
            </a:r>
            <a:r>
              <a:rPr lang="fr-BE" sz="3600" b="1" dirty="0"/>
              <a:t> </a:t>
            </a:r>
            <a:r>
              <a:rPr lang="fr-BE" sz="3600" dirty="0"/>
              <a:t>pour une </a:t>
            </a:r>
            <a:r>
              <a:rPr lang="fr-BE" sz="3600" b="1" dirty="0"/>
              <a:t>organisation</a:t>
            </a:r>
            <a:r>
              <a:rPr lang="fr-BE" sz="3600" dirty="0"/>
              <a:t>: service public, ASBL, centre culturel, maison jeunesse, établissement scolaire, fabrique d’Eglise, ONG,…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600" dirty="0"/>
              <a:t>Ne procure </a:t>
            </a:r>
            <a:r>
              <a:rPr lang="fr-BE" sz="3600" b="1" dirty="0">
                <a:solidFill>
                  <a:schemeClr val="accent2">
                    <a:lumMod val="75000"/>
                  </a:schemeClr>
                </a:solidFill>
              </a:rPr>
              <a:t>aucun revenu</a:t>
            </a:r>
          </a:p>
          <a:p>
            <a:pPr marL="57150" indent="0">
              <a:buNone/>
            </a:pPr>
            <a:endParaRPr lang="fr-BE" sz="3300" dirty="0"/>
          </a:p>
          <a:p>
            <a:pPr marL="57150" indent="0">
              <a:buNone/>
            </a:pPr>
            <a:r>
              <a:rPr lang="fr-BE" sz="3300" dirty="0"/>
              <a:t>L’organisation peut introduire une déclaration générale de bénévolat directement au BC via le formulaire </a:t>
            </a:r>
            <a:r>
              <a:rPr lang="fr-BE" sz="3300" b="1" dirty="0">
                <a:solidFill>
                  <a:schemeClr val="accent2">
                    <a:lumMod val="75000"/>
                  </a:schemeClr>
                </a:solidFill>
              </a:rPr>
              <a:t>C45F</a:t>
            </a:r>
          </a:p>
          <a:p>
            <a:pPr marL="57150" indent="0">
              <a:buNone/>
            </a:pPr>
            <a:r>
              <a:rPr lang="fr-BE" sz="3300" dirty="0"/>
              <a:t>Elle peut aussi demander une dispense de déclaration individuelle.</a:t>
            </a:r>
          </a:p>
          <a:p>
            <a:pPr marL="57150" indent="0">
              <a:buNone/>
            </a:pPr>
            <a:endParaRPr lang="fr-BE" sz="3600" b="1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fr-BE" sz="3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E2F41D-6247-4742-B4AC-3DB79ED4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165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b="1" i="1" dirty="0"/>
              <a:t>Activité dans le secteur sportif ou socioculturel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u="sng" dirty="0">
                <a:solidFill>
                  <a:prstClr val="black"/>
                </a:solidFill>
                <a:sym typeface="Wingdings" panose="05000000000000000000" pitchFamily="2" charset="2"/>
              </a:rPr>
              <a:t>Activité exonérée de cotisation sociale</a:t>
            </a: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fr-BE" sz="3000" b="1" dirty="0">
                <a:solidFill>
                  <a:prstClr val="black"/>
                </a:solidFill>
                <a:sym typeface="Wingdings" panose="05000000000000000000" pitchFamily="2" charset="2"/>
              </a:rPr>
              <a:t>(secteur sportif et socioculturel) </a:t>
            </a:r>
            <a:endParaRPr lang="fr-BE" sz="3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Cumulable avec le </a:t>
            </a:r>
            <a:r>
              <a:rPr lang="fr-BE" sz="2400" u="sng" dirty="0">
                <a:solidFill>
                  <a:prstClr val="black"/>
                </a:solidFill>
                <a:sym typeface="Wingdings" panose="05000000000000000000" pitchFamily="2" charset="2"/>
              </a:rPr>
              <a:t>chômage complet </a:t>
            </a:r>
            <a:r>
              <a:rPr lang="fr-BE" sz="24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si</a:t>
            </a:r>
            <a:r>
              <a:rPr lang="fr-BE" sz="2400" dirty="0">
                <a:solidFill>
                  <a:prstClr val="black"/>
                </a:solidFill>
                <a:sym typeface="Wingdings" panose="05000000000000000000" pitchFamily="2" charset="2"/>
              </a:rPr>
              <a:t> au moment de la D.A: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Contrat déjà en cours  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A déjà été exécuté préalablement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Déclaré via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formulaire C44 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+ copie contrat </a:t>
            </a:r>
            <a:endParaRPr lang="fr-BE" sz="22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è"/>
            </a:pP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Si accord: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BE" sz="2500" dirty="0">
                <a:solidFill>
                  <a:prstClr val="black"/>
                </a:solidFill>
                <a:sym typeface="Wingdings" panose="05000000000000000000" pitchFamily="2" charset="2"/>
              </a:rPr>
              <a:t>S04 avec code valable + art. ind. « </a:t>
            </a:r>
            <a:r>
              <a:rPr lang="fr-BE" sz="25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44</a:t>
            </a:r>
            <a:r>
              <a:rPr lang="fr-BE" sz="2500" dirty="0">
                <a:solidFill>
                  <a:prstClr val="black"/>
                </a:solidFill>
                <a:sym typeface="Wingdings" panose="05000000000000000000" pitchFamily="2" charset="2"/>
              </a:rPr>
              <a:t> »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BE" sz="2500" dirty="0">
                <a:sym typeface="Wingdings" panose="05000000000000000000" pitchFamily="2" charset="2"/>
              </a:rPr>
              <a:t>S16 article spécial d’</a:t>
            </a:r>
            <a:r>
              <a:rPr lang="fr-BE" sz="2500" dirty="0" err="1">
                <a:sym typeface="Wingdings" panose="05000000000000000000" pitchFamily="2" charset="2"/>
              </a:rPr>
              <a:t>ind</a:t>
            </a:r>
            <a:r>
              <a:rPr lang="fr-BE" sz="2500" dirty="0">
                <a:sym typeface="Wingdings" panose="05000000000000000000" pitchFamily="2" charset="2"/>
              </a:rPr>
              <a:t>.</a:t>
            </a:r>
            <a:r>
              <a:rPr lang="fr-BE" sz="2500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fr-BE" sz="2500" dirty="0">
                <a:sym typeface="Wingdings" panose="05000000000000000000" pitchFamily="2" charset="2"/>
              </a:rPr>
              <a:t>«</a:t>
            </a:r>
            <a:r>
              <a:rPr lang="fr-BE" sz="2500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 </a:t>
            </a:r>
            <a:r>
              <a:rPr lang="fr-BE" sz="25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44</a:t>
            </a:r>
            <a:r>
              <a:rPr lang="fr-BE" sz="2500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 </a:t>
            </a:r>
            <a:r>
              <a:rPr lang="fr-BE" sz="2500" dirty="0">
                <a:sym typeface="Wingdings" panose="05000000000000000000" pitchFamily="2" charset="2"/>
              </a:rPr>
              <a:t>»</a:t>
            </a:r>
            <a:r>
              <a:rPr lang="fr-BE" sz="2500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 </a:t>
            </a:r>
            <a:r>
              <a:rPr lang="fr-BE" sz="2500" dirty="0">
                <a:sym typeface="Wingdings" panose="05000000000000000000" pitchFamily="2" charset="2"/>
              </a:rPr>
              <a:t>avec comme date de fin </a:t>
            </a:r>
          </a:p>
          <a:p>
            <a:pPr lvl="3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sz="2400" dirty="0">
                <a:sym typeface="Wingdings" panose="05000000000000000000" pitchFamily="2" charset="2"/>
              </a:rPr>
              <a:t> Si CDD: fin du contrat</a:t>
            </a:r>
          </a:p>
          <a:p>
            <a:pPr lvl="3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fr-BE" sz="2400" dirty="0">
                <a:sym typeface="Wingdings" panose="05000000000000000000" pitchFamily="2" charset="2"/>
              </a:rPr>
              <a:t> Si CDI: 99/99/9999</a:t>
            </a:r>
          </a:p>
          <a:p>
            <a:pPr marL="0" indent="0">
              <a:spcBef>
                <a:spcPts val="600"/>
              </a:spcBef>
              <a:buNone/>
            </a:pPr>
            <a:endParaRPr lang="fr-BE" sz="2400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è"/>
            </a:pPr>
            <a:endParaRPr lang="fr-BE" sz="2400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sz="2800" b="1" u="sng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fr-BE" sz="2400" b="1" u="sng" dirty="0">
              <a:solidFill>
                <a:prstClr val="black"/>
              </a:solidFill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225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b="1" i="1" dirty="0"/>
              <a:t>Activité dans le secteur sportif ou socioculturel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7638"/>
            <a:ext cx="8363272" cy="4708525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è"/>
            </a:pP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Si refus: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BE" sz="2500" dirty="0">
                <a:solidFill>
                  <a:prstClr val="black"/>
                </a:solidFill>
                <a:sym typeface="Wingdings" panose="05000000000000000000" pitchFamily="2" charset="2"/>
              </a:rPr>
              <a:t>S04 avec code </a:t>
            </a:r>
            <a:r>
              <a:rPr lang="fr-BE" sz="25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00/ </a:t>
            </a:r>
            <a:r>
              <a:rPr lang="fr-BE" sz="2500" dirty="0">
                <a:solidFill>
                  <a:prstClr val="black"/>
                </a:solidFill>
                <a:sym typeface="Wingdings" panose="05000000000000000000" pitchFamily="2" charset="2"/>
              </a:rPr>
              <a:t>+ art. ind. « </a:t>
            </a:r>
            <a:r>
              <a:rPr lang="fr-BE" sz="25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44N</a:t>
            </a:r>
            <a:r>
              <a:rPr lang="fr-BE" sz="2500" dirty="0">
                <a:solidFill>
                  <a:prstClr val="black"/>
                </a:solidFill>
                <a:sym typeface="Wingdings" panose="05000000000000000000" pitchFamily="2" charset="2"/>
              </a:rPr>
              <a:t> » 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fr-BE" sz="26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Pas droit au chômage tant que le contrat est en cours</a:t>
            </a:r>
          </a:p>
          <a:p>
            <a:pPr marL="57150" indent="0">
              <a:spcBef>
                <a:spcPts val="600"/>
              </a:spcBef>
              <a:buNone/>
            </a:pPr>
            <a:r>
              <a:rPr lang="fr-BE" sz="2400" dirty="0">
                <a:sym typeface="Wingdings" panose="05000000000000000000" pitchFamily="2" charset="2"/>
              </a:rPr>
              <a:t>Cumulable avec le </a:t>
            </a:r>
            <a:r>
              <a:rPr lang="fr-BE" sz="2400" u="sng" dirty="0">
                <a:sym typeface="Wingdings" panose="05000000000000000000" pitchFamily="2" charset="2"/>
              </a:rPr>
              <a:t>chômage temporaire </a:t>
            </a:r>
            <a:r>
              <a:rPr lang="fr-BE" sz="2400" b="1" dirty="0">
                <a:sym typeface="Wingdings" panose="05000000000000000000" pitchFamily="2" charset="2"/>
              </a:rPr>
              <a:t>sans déclaration</a:t>
            </a:r>
          </a:p>
          <a:p>
            <a:pPr marL="57150" indent="0">
              <a:spcBef>
                <a:spcPts val="600"/>
              </a:spcBef>
              <a:buNone/>
            </a:pPr>
            <a:endParaRPr lang="fr-BE" sz="3000" b="1" dirty="0">
              <a:solidFill>
                <a:schemeClr val="accent2">
                  <a:lumMod val="75000"/>
                </a:schemeClr>
              </a:solidFill>
              <a:sym typeface="Wingdings" panose="05000000000000000000" pitchFamily="2" charset="2"/>
            </a:endParaRP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u="sng" dirty="0">
                <a:solidFill>
                  <a:prstClr val="black"/>
                </a:solidFill>
                <a:sym typeface="Wingdings" panose="05000000000000000000" pitchFamily="2" charset="2"/>
              </a:rPr>
              <a:t>L’économie collaborative</a:t>
            </a: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 :considérée comme du travail et mentionnée sur la carte de contrôle</a:t>
            </a:r>
            <a:endParaRPr lang="fr-BE" sz="3000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endParaRPr lang="fr-BE" sz="2400" b="1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sz="2800" b="1" u="sng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fr-BE" sz="2400" b="1" u="sng" dirty="0">
              <a:solidFill>
                <a:prstClr val="black"/>
              </a:solidFill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508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2F7805-D228-4CD2-891A-309AADD60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Préparation à l’activité indépendante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7A66FB-6147-489E-8DEF-F20E0E4D6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dirty="0"/>
              <a:t>Le chômeur qui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prépare </a:t>
            </a:r>
            <a:r>
              <a:rPr lang="fr-BE" dirty="0"/>
              <a:t>son installation comme indépendant peut effectuer certaines activités en conservant ses allocations de chômage: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études relatives à la faisabilité du projet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Démarches administratives;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aménagement des locaux et l’installation du matériel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établissement de contacts nécessaires à la mise en œuvre du projet.</a:t>
            </a:r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9B2DDB-3A2C-4B51-8251-2F69AE84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741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8347E7-F337-43E6-92C7-83ECE5ED7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Préparation à l’activité indépendante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273B13-A344-41FD-B3DC-CE1351AD5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Demande préalable via formulaire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C45E</a:t>
            </a:r>
            <a:r>
              <a:rPr lang="fr-BE" dirty="0"/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Autorisation de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maximum 6 mois</a:t>
            </a:r>
            <a:r>
              <a:rPr lang="fr-BE" dirty="0"/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Accordée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une seule fois</a:t>
            </a:r>
            <a:r>
              <a:rPr lang="fr-BE" dirty="0"/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Doit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rester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disponible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 et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IDE</a:t>
            </a:r>
            <a:r>
              <a:rPr lang="fr-BE" dirty="0"/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Dès le début </a:t>
            </a:r>
            <a:r>
              <a:rPr lang="fr-BE" b="1" dirty="0"/>
              <a:t>effectif </a:t>
            </a:r>
            <a:r>
              <a:rPr lang="fr-BE" dirty="0"/>
              <a:t>de la profession indépendante,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perte</a:t>
            </a:r>
            <a:r>
              <a:rPr lang="fr-BE" dirty="0"/>
              <a:t> du droit aux allocations</a:t>
            </a:r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4987E7-54E6-4B80-BC8B-475B4BF5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05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769CB-7023-4A04-B7DB-E6D0747E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accessoire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ECF078-7B7A-44BC-8624-2E1BA5648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L’article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48 AR </a:t>
            </a:r>
            <a:r>
              <a:rPr lang="fr-BE" dirty="0"/>
              <a:t>permet au chômeur, à certaines conditions, d’exercer de façon régulière et à titre complémentaire une activité tout en conservant le bénéfice des allocations de chômage.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Pour cela, l’activité doit être exercée à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titre accessoire</a:t>
            </a:r>
            <a:r>
              <a:rPr lang="fr-BE" dirty="0"/>
              <a:t> c’est-à-dire que l’activité doit donc être </a:t>
            </a:r>
            <a:r>
              <a:rPr lang="fr-BE" b="1" dirty="0"/>
              <a:t>compatible avec l’exercice d’un autre travail.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94340F-AA5F-48B9-84A2-DCC19F252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4077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32FB11-F213-4AA1-B7DC-8713D85E6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accessoire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78A02E-23F4-44DC-90EF-F42A007E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6572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 sz="3500" b="1" dirty="0"/>
              <a:t>Quatre </a:t>
            </a:r>
            <a:r>
              <a:rPr lang="fr-BE" sz="3500" dirty="0"/>
              <a:t>conditions</a:t>
            </a:r>
            <a:r>
              <a:rPr lang="fr-BE" sz="3500" b="1" dirty="0"/>
              <a:t> </a:t>
            </a:r>
            <a:r>
              <a:rPr lang="fr-BE" sz="3500" b="1" u="sng" dirty="0">
                <a:solidFill>
                  <a:schemeClr val="accent2">
                    <a:lumMod val="75000"/>
                  </a:schemeClr>
                </a:solidFill>
              </a:rPr>
              <a:t>cumulatives</a:t>
            </a:r>
            <a:r>
              <a:rPr lang="fr-BE" sz="3500" b="1" dirty="0"/>
              <a:t> </a:t>
            </a:r>
            <a:r>
              <a:rPr lang="fr-BE" sz="3500" dirty="0"/>
              <a:t>à remplir</a:t>
            </a:r>
            <a:r>
              <a:rPr lang="fr-BE" sz="3500" b="1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fr-BE" dirty="0"/>
              <a:t>L’activité doit être déclarée via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C1A</a:t>
            </a:r>
          </a:p>
          <a:p>
            <a:pPr marL="514350" indent="-514350">
              <a:buFont typeface="+mj-lt"/>
              <a:buAutoNum type="arabicPeriod"/>
            </a:pPr>
            <a:r>
              <a:rPr lang="fr-BE" dirty="0"/>
              <a:t>avoir exercé l’activité durant au moins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3 mois </a:t>
            </a:r>
            <a:r>
              <a:rPr lang="fr-BE" dirty="0"/>
              <a:t>pendant la période de travail salarié qui précède immédiatement la demande de chômage </a:t>
            </a:r>
          </a:p>
          <a:p>
            <a:pPr marL="514350" indent="-514350">
              <a:buFont typeface="+mj-lt"/>
              <a:buAutoNum type="arabicPeriod"/>
            </a:pPr>
            <a:r>
              <a:rPr lang="fr-BE" dirty="0"/>
              <a:t>l’activité doit être exercée principalement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avant 7 heures et après 18 heures </a:t>
            </a:r>
            <a:r>
              <a:rPr lang="fr-BE" dirty="0"/>
              <a:t>pendant la semaine cela ne s’applique pas les week-end et pour le chômeur temporaire les jours habituels d’inactivité;</a:t>
            </a:r>
          </a:p>
          <a:p>
            <a:pPr marL="514350" indent="-514350">
              <a:buFont typeface="+mj-lt"/>
              <a:buAutoNum type="arabicPeriod"/>
            </a:pPr>
            <a:r>
              <a:rPr lang="fr-BE" dirty="0"/>
              <a:t>il ne peut s’agir d’une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activité non autorisée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D0822B-9526-409D-A05E-C7E8C95C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0667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2BF2EA-83DA-4939-B567-DE73A4AE1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accessoire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3DA228-0C8C-467E-9086-5988D5130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600200"/>
            <a:ext cx="8496944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u="sng" dirty="0"/>
              <a:t>1</a:t>
            </a:r>
            <a:r>
              <a:rPr lang="fr-BE" u="sng" baseline="30000" dirty="0"/>
              <a:t>ère</a:t>
            </a:r>
            <a:r>
              <a:rPr lang="fr-BE" u="sng" dirty="0"/>
              <a:t> condition </a:t>
            </a:r>
            <a:r>
              <a:rPr lang="fr-BE" sz="3400" dirty="0"/>
              <a:t>: </a:t>
            </a:r>
            <a:r>
              <a:rPr lang="fr-BE" sz="3400" b="1" dirty="0">
                <a:solidFill>
                  <a:schemeClr val="accent2">
                    <a:lumMod val="75000"/>
                  </a:schemeClr>
                </a:solidFill>
              </a:rPr>
              <a:t>La déclaration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Via les formulaires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C1 et C1A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Est toujours présumée correspondre à la réalité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Peut être écartée lorsqu'elle est contredite par des présomptions graves, précises et concordantes.</a:t>
            </a:r>
          </a:p>
          <a:p>
            <a:pPr marL="0" indent="0">
              <a:buNone/>
            </a:pPr>
            <a:r>
              <a:rPr lang="fr-BE" b="1" u="sng" dirty="0"/>
              <a:t>SI</a:t>
            </a:r>
            <a:r>
              <a:rPr lang="fr-BE" dirty="0"/>
              <a:t> absence de déclaration ou déclaration inexacte: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Sanction administrative</a:t>
            </a:r>
          </a:p>
          <a:p>
            <a:pPr>
              <a:buFont typeface="Wingdings" panose="05000000000000000000" pitchFamily="2" charset="2"/>
              <a:buChar char="Ø"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BF7D3FF-3222-4222-BC1E-DA2A57DB8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1328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B337BE-F7C3-4D47-9117-F6EE83239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accessoire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A7CA59-B3CE-45CF-8969-2F00EF486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u="sng" dirty="0"/>
              <a:t>2</a:t>
            </a:r>
            <a:r>
              <a:rPr lang="fr-BE" u="sng" baseline="30000" dirty="0"/>
              <a:t>ème</a:t>
            </a:r>
            <a:r>
              <a:rPr lang="fr-BE" u="sng" dirty="0"/>
              <a:t> condition</a:t>
            </a:r>
            <a:r>
              <a:rPr lang="fr-BE" dirty="0"/>
              <a:t>: </a:t>
            </a:r>
            <a:r>
              <a:rPr lang="fr-BE" sz="3400" b="1" dirty="0">
                <a:solidFill>
                  <a:schemeClr val="accent2">
                    <a:lumMod val="75000"/>
                  </a:schemeClr>
                </a:solidFill>
              </a:rPr>
              <a:t>3 mois</a:t>
            </a:r>
          </a:p>
          <a:p>
            <a:pPr marL="0" indent="0">
              <a:buNone/>
            </a:pPr>
            <a:r>
              <a:rPr lang="fr-BE" dirty="0"/>
              <a:t>le chômeur doit: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BE" dirty="0"/>
              <a:t>avoir effectivement exercé l’activité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BE" dirty="0"/>
              <a:t>En même temps qu’une activité comme travailleur salarié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BE" dirty="0"/>
              <a:t>durant au moins 3 mois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BE" dirty="0"/>
              <a:t>qui précède immédiatement la demande d’allocations.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ACA4DA-886C-4977-B710-C7B9C3E1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5447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6DA481-0462-4A34-9247-F1DF50941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accessoire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C3B66D-020C-460F-87F4-85A9286CA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fr-BE" b="1" i="1" dirty="0"/>
              <a:t>Avoir effectivement exercé l’activité</a:t>
            </a:r>
          </a:p>
          <a:p>
            <a:pPr marL="0" indent="0">
              <a:buNone/>
            </a:pPr>
            <a:r>
              <a:rPr lang="fr-BE" dirty="0"/>
              <a:t>L’activité doit avoir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effectivement</a:t>
            </a:r>
            <a:r>
              <a:rPr lang="fr-BE" dirty="0"/>
              <a:t> été exercée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Une inscription auprès de la banque carrefour des entreprises ou d’une caisse d’assurances sociales pour indépendants, l’attribution d’un numéro d’entreprise ne suffisent pas à eux seuls à prouver l’exercice effectif.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4D9A8B-47CE-43F6-A119-B3C0AEE75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266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6DA481-0462-4A34-9247-F1DF50941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accessoire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C3B66D-020C-460F-87F4-85A9286CA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1"/>
            <a:ext cx="8229600" cy="516468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fr-BE" sz="4100" b="1" i="1" dirty="0"/>
              <a:t>En même temps qu’une activité comme travailleur salarié</a:t>
            </a:r>
          </a:p>
          <a:p>
            <a:pPr marL="0" indent="0">
              <a:buNone/>
            </a:pPr>
            <a:r>
              <a:rPr lang="fr-BE" sz="3900" dirty="0"/>
              <a:t>Doit s’agir d’une période de travail </a:t>
            </a:r>
            <a:r>
              <a:rPr lang="fr-BE" sz="3900" b="1" dirty="0">
                <a:solidFill>
                  <a:schemeClr val="accent2">
                    <a:lumMod val="75000"/>
                  </a:schemeClr>
                </a:solidFill>
              </a:rPr>
              <a:t>effectif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700" b="1" u="sng" dirty="0">
                <a:solidFill>
                  <a:schemeClr val="accent2">
                    <a:lumMod val="75000"/>
                  </a:schemeClr>
                </a:solidFill>
              </a:rPr>
              <a:t>Sont</a:t>
            </a:r>
            <a:r>
              <a:rPr lang="fr-BE" sz="3700" dirty="0"/>
              <a:t> assimilées à une période de travail salarié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100" dirty="0"/>
              <a:t>la période de vacances annuelles 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100" dirty="0"/>
              <a:t>la période de repos compensatoire</a:t>
            </a:r>
            <a:r>
              <a:rPr lang="fr-BE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700" b="1" u="sng" dirty="0">
                <a:solidFill>
                  <a:schemeClr val="accent2">
                    <a:lumMod val="75000"/>
                  </a:schemeClr>
                </a:solidFill>
              </a:rPr>
              <a:t>Ne sont </a:t>
            </a:r>
            <a:r>
              <a:rPr lang="fr-BE" sz="3700" dirty="0"/>
              <a:t>pas assimilées à une période de travail salarié, les périodes couvertes par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100" dirty="0"/>
              <a:t>une indemnité de rupture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100" dirty="0"/>
              <a:t>une indemnité en compensation du licenciement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100" dirty="0"/>
              <a:t>une rémunération différée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100" dirty="0"/>
              <a:t>Un congé sans solde</a:t>
            </a:r>
            <a:r>
              <a:rPr lang="fr-BE" dirty="0"/>
              <a:t>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4D9A8B-47CE-43F6-A119-B3C0AEE75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0951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6DA481-0462-4A34-9247-F1DF50941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accessoire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C3B66D-020C-460F-87F4-85A9286CA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fr-BE" b="1" i="1" dirty="0"/>
              <a:t>Durant au mois </a:t>
            </a:r>
            <a:r>
              <a:rPr lang="fr-BE" b="1" i="1" dirty="0">
                <a:solidFill>
                  <a:schemeClr val="accent2">
                    <a:lumMod val="75000"/>
                  </a:schemeClr>
                </a:solidFill>
              </a:rPr>
              <a:t>3 mois</a:t>
            </a:r>
          </a:p>
          <a:p>
            <a:pPr marL="0" indent="0">
              <a:buNone/>
            </a:pPr>
            <a:r>
              <a:rPr lang="fr-BE" sz="3000" dirty="0"/>
              <a:t>Il s’agit en principe d’une période calendrier de 3 mois (de date à date).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BE" b="1" i="1" dirty="0"/>
              <a:t>Qui précèdent </a:t>
            </a:r>
            <a:r>
              <a:rPr lang="fr-BE" b="1" i="1" dirty="0">
                <a:solidFill>
                  <a:schemeClr val="accent2">
                    <a:lumMod val="75000"/>
                  </a:schemeClr>
                </a:solidFill>
              </a:rPr>
              <a:t>immédiatement</a:t>
            </a:r>
            <a:r>
              <a:rPr lang="fr-BE" b="1" i="1" dirty="0"/>
              <a:t> la DA</a:t>
            </a:r>
            <a:endParaRPr lang="fr-BE" dirty="0"/>
          </a:p>
          <a:p>
            <a:pPr marL="0" indent="0">
              <a:buNone/>
            </a:pPr>
            <a:r>
              <a:rPr lang="fr-BE" sz="3000" dirty="0"/>
              <a:t>La période de 3 mois peut être prolongée par</a:t>
            </a:r>
            <a:r>
              <a:rPr lang="fr-BE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les périodes de chômage temporaire dans la profession principale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les périodes d’impossibilité de travailler pour des raisons de force majeure (ex. maladie)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4D9A8B-47CE-43F6-A119-B3C0AEE75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62862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1D5C6E-AD4A-4189-A1DF-CEB762311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accessoire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CEDD33-295C-4E52-B3CE-E18F09A5E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387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sz="3500" dirty="0"/>
              <a:t>Sont </a:t>
            </a:r>
            <a:r>
              <a:rPr lang="fr-BE" sz="3500" b="1" dirty="0">
                <a:solidFill>
                  <a:schemeClr val="accent2">
                    <a:lumMod val="75000"/>
                  </a:schemeClr>
                </a:solidFill>
              </a:rPr>
              <a:t>dispensés</a:t>
            </a:r>
            <a:r>
              <a:rPr lang="fr-BE" sz="3500" dirty="0"/>
              <a:t> de la 2</a:t>
            </a:r>
            <a:r>
              <a:rPr lang="fr-BE" sz="3500" baseline="30000" dirty="0"/>
              <a:t>ème</a:t>
            </a:r>
            <a:r>
              <a:rPr lang="fr-BE" sz="3500" dirty="0"/>
              <a:t> condition</a:t>
            </a:r>
            <a:r>
              <a:rPr lang="fr-BE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100" dirty="0"/>
              <a:t>Le chômeur qui, pour la même activité, a déjà prouver la condition lors d’une précédente DA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100" dirty="0"/>
              <a:t>Le chômeur qui, pour la même activité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BE" sz="2700" dirty="0"/>
              <a:t>A satisfait à la condition quand il travaillait comme salarié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BE" sz="2700" dirty="0"/>
              <a:t>S’installe comme indépendant à titre principal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BE" sz="2700" dirty="0"/>
              <a:t>Cesse d’exercer son activité à titre principal et introduit une DA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100" dirty="0"/>
              <a:t>Le chômeur bénéficiant d’une dispense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BE" sz="2700" dirty="0"/>
              <a:t>89,2 (chômeur âgé)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BE" sz="2700" dirty="0"/>
              <a:t>89,2S ou 89,22T (RCC)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fr-BE" sz="26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05E22B-50C4-40F6-8B80-8322EAF3C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1739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019F89-A4CD-40BD-9C90-9E6334BD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accessoire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9A23C5-387F-4866-BC3D-39E0814AE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u="sng" dirty="0"/>
              <a:t>3</a:t>
            </a:r>
            <a:r>
              <a:rPr lang="fr-BE" u="sng" baseline="30000" dirty="0"/>
              <a:t>ème</a:t>
            </a:r>
            <a:r>
              <a:rPr lang="fr-BE" u="sng" dirty="0"/>
              <a:t> condition </a:t>
            </a:r>
            <a:r>
              <a:rPr lang="fr-BE" dirty="0"/>
              <a:t>: </a:t>
            </a:r>
            <a:r>
              <a:rPr lang="fr-BE" sz="3400" b="1" dirty="0">
                <a:solidFill>
                  <a:schemeClr val="accent2">
                    <a:lumMod val="75000"/>
                  </a:schemeClr>
                </a:solidFill>
              </a:rPr>
              <a:t>Avant 7h et après 18h</a:t>
            </a:r>
          </a:p>
          <a:p>
            <a:pPr marL="0" indent="0">
              <a:buNone/>
            </a:pPr>
            <a:r>
              <a:rPr lang="fr-BE" dirty="0"/>
              <a:t>Il doit s’agir d’une activité qui s’exerce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principalement </a:t>
            </a:r>
            <a:r>
              <a:rPr lang="fr-BE" dirty="0"/>
              <a:t>avant 7 heures et après 18 heures. </a:t>
            </a:r>
          </a:p>
          <a:p>
            <a:pPr marL="0" indent="0">
              <a:buNone/>
            </a:pPr>
            <a:r>
              <a:rPr lang="fr-BE" dirty="0"/>
              <a:t>Cela ne s’applique pas: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 Aux samedis et dimanches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 Aux jours habituels d’inactivité pour le chômeur temporaire </a:t>
            </a:r>
          </a:p>
          <a:p>
            <a:pPr marL="57150" indent="0">
              <a:buNone/>
            </a:pPr>
            <a:r>
              <a:rPr lang="fr-BE" dirty="0"/>
              <a:t>Obligation de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noircir</a:t>
            </a:r>
            <a:r>
              <a:rPr lang="fr-BE" dirty="0"/>
              <a:t> la carte de contrôle: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BE" sz="3000" dirty="0"/>
              <a:t>Si activité entre 7h et 18h du lundi au vendredi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BE" sz="3000" dirty="0"/>
              <a:t>Le WE peu importe l’heure</a:t>
            </a:r>
          </a:p>
          <a:p>
            <a:pPr marL="57150" indent="0">
              <a:buNone/>
            </a:pPr>
            <a:endParaRPr lang="fr-BE" sz="3400" dirty="0"/>
          </a:p>
          <a:p>
            <a:pPr marL="57150" indent="0">
              <a:buNone/>
            </a:pPr>
            <a:endParaRPr lang="fr-BE" sz="3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195ED3-2677-47D7-AB30-EE69F95B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19239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E512E0-4A4D-46AA-9690-BF3A4B97A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accessoire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5BB373-6CFF-4AB3-8B1D-43BE78E7D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363272" cy="493871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u="sng" dirty="0"/>
              <a:t>4</a:t>
            </a:r>
            <a:r>
              <a:rPr lang="fr-BE" u="sng" baseline="30000" dirty="0"/>
              <a:t>ème</a:t>
            </a:r>
            <a:r>
              <a:rPr lang="fr-BE" u="sng" dirty="0"/>
              <a:t> condition</a:t>
            </a:r>
            <a:r>
              <a:rPr lang="fr-BE" dirty="0"/>
              <a:t>: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activité non autorisée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Activité qui ne s’exerce qu’après 18h</a:t>
            </a:r>
            <a:r>
              <a:rPr lang="fr-BE" sz="3000" b="1" dirty="0"/>
              <a:t> </a:t>
            </a:r>
            <a:r>
              <a:rPr lang="fr-BE" sz="3000" dirty="0"/>
              <a:t>(ex: veilleur de nuit)</a:t>
            </a:r>
            <a:endParaRPr lang="fr-BE" sz="3000" b="1" dirty="0"/>
          </a:p>
          <a:p>
            <a:pPr marL="0" indent="0">
              <a:buNone/>
            </a:pPr>
            <a:r>
              <a:rPr lang="fr-BE" sz="3000" b="1" dirty="0"/>
              <a:t>Interdites</a:t>
            </a:r>
            <a:r>
              <a:rPr lang="fr-BE" sz="3000" dirty="0"/>
              <a:t> </a:t>
            </a:r>
            <a:r>
              <a:rPr lang="fr-BE" sz="3000" u="sng" dirty="0"/>
              <a:t>sauf</a:t>
            </a:r>
            <a:r>
              <a:rPr lang="fr-BE" sz="3000" dirty="0"/>
              <a:t> si elles sont de </a:t>
            </a:r>
            <a:r>
              <a:rPr lang="fr-BE" sz="3000" b="1" dirty="0"/>
              <a:t>minime importance</a:t>
            </a:r>
            <a:r>
              <a:rPr lang="fr-BE" sz="3000" dirty="0"/>
              <a:t>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activités dans le secteur </a:t>
            </a:r>
            <a:r>
              <a:rPr lang="fr-BE" sz="3000" dirty="0" err="1"/>
              <a:t>horeca</a:t>
            </a:r>
            <a:r>
              <a:rPr lang="fr-BE" sz="3000" dirty="0"/>
              <a:t> (hôtels, restaurants, débits de boissons)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activités dans le secteur de l'industrie du spectacle (ex: DJ)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des professions de colporteur, démarcheur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3000" dirty="0"/>
              <a:t>l’activité d'agent ou de courtier d'assurances</a:t>
            </a:r>
          </a:p>
          <a:p>
            <a:pPr>
              <a:buFont typeface="Wingdings" panose="05000000000000000000" pitchFamily="2" charset="2"/>
              <a:buChar char="Ø"/>
            </a:pPr>
            <a:endParaRPr lang="fr-BE" sz="3000" dirty="0"/>
          </a:p>
          <a:p>
            <a:pPr>
              <a:buFont typeface="Wingdings" panose="05000000000000000000" pitchFamily="2" charset="2"/>
              <a:buChar char="Ø"/>
            </a:pPr>
            <a:endParaRPr lang="fr-BE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61E6DA-22C0-4F72-92D3-2BFC73BA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46639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68775-AEE2-41F5-83A8-092FB5A8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« Tremplin-Indépendant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8DCFB8-6516-4F83-A9BC-FCA53E666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Qui </a:t>
            </a:r>
            <a:r>
              <a:rPr lang="fr-BE" dirty="0"/>
              <a:t>peut bénéficier de l’avantage ?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Tout chômeur bénéficiaire d’allocations </a:t>
            </a:r>
            <a:r>
              <a:rPr lang="fr-BE" dirty="0"/>
              <a:t>(CC, AGR, CT, RCC)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Ne peuvent donc bénéficier de l’avantage, les jeunes durant leur stage d’insertion professionnelle ou les travailleurs à temps partiel avec maintien des droits sans AGR. (99/)</a:t>
            </a:r>
          </a:p>
          <a:p>
            <a:pPr>
              <a:buFont typeface="Wingdings" panose="05000000000000000000" pitchFamily="2" charset="2"/>
              <a:buChar char="§"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A99283-C63A-4813-8875-2B0B4DB8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22101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68775-AEE2-41F5-83A8-092FB5A8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« Tremplin-Indépendant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8DCFB8-6516-4F83-A9BC-FCA53E666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Activités autorisée ?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Toutes les activités </a:t>
            </a:r>
            <a:r>
              <a:rPr lang="fr-BE" dirty="0"/>
              <a:t>accessoires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quel que soit le secteur </a:t>
            </a:r>
            <a:r>
              <a:rPr lang="fr-BE" dirty="0"/>
              <a:t>dans lequel elle est exercée </a:t>
            </a:r>
          </a:p>
          <a:p>
            <a:pPr marL="0" indent="0">
              <a:buNone/>
            </a:pPr>
            <a:r>
              <a:rPr lang="fr-BE" dirty="0"/>
              <a:t>(sauf activité artistique ou activité exercée en tant que salarié)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Pour quelle durée ?</a:t>
            </a:r>
          </a:p>
          <a:p>
            <a:pPr marL="0" indent="0">
              <a:buNone/>
            </a:pPr>
            <a:r>
              <a:rPr lang="fr-BE" dirty="0"/>
              <a:t>Durée maximale de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12 mois </a:t>
            </a:r>
            <a:r>
              <a:rPr lang="fr-BE" dirty="0"/>
              <a:t>(ne peut être prolongée sauf mesure CORONA)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A99283-C63A-4813-8875-2B0B4DB8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1351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68775-AEE2-41F5-83A8-092FB5A8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« Tremplin-Indépendant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8DCFB8-6516-4F83-A9BC-FCA53E666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003232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5</a:t>
            </a:r>
            <a:r>
              <a:rPr lang="fr-BE" b="1" dirty="0"/>
              <a:t> conditions </a:t>
            </a:r>
            <a:r>
              <a:rPr lang="fr-BE" dirty="0"/>
              <a:t>à remplir: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BE" sz="3000" dirty="0"/>
              <a:t>Le chômeur doit faire la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déclaration</a:t>
            </a:r>
            <a:r>
              <a:rPr lang="fr-BE" sz="3000" dirty="0"/>
              <a:t> de son activité indépendante accessoire au moment de sa demande d’allocations ou, s’il perçoit déjà des allocations, préalablement à son début d’activité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BE" sz="3000" dirty="0"/>
              <a:t>Le chômage ne doit pas trouver son origine dans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l’arrêt ou la réduction </a:t>
            </a:r>
            <a:r>
              <a:rPr lang="fr-BE" sz="3000" dirty="0"/>
              <a:t>d’un travail comme salarié en vue d’obtenir l’avantage « Tremplin-indépendants »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A99283-C63A-4813-8875-2B0B4DB8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24669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68775-AEE2-41F5-83A8-092FB5A8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« Tremplin-Indépendant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8DCFB8-6516-4F83-A9BC-FCA53E666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fr-BE" dirty="0"/>
              <a:t>Le chômeur </a:t>
            </a:r>
            <a:r>
              <a:rPr lang="fr-BE" b="1" dirty="0"/>
              <a:t>ne peut avoir </a:t>
            </a:r>
            <a:r>
              <a:rPr lang="fr-BE" dirty="0"/>
              <a:t>exercé l’activité accessoire en tant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qu’indépendant à titre principal au cours des 6 dernières années</a:t>
            </a:r>
            <a:r>
              <a:rPr lang="fr-BE" dirty="0"/>
              <a:t>, calculées de date à date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BE" dirty="0"/>
              <a:t>Le chômeur </a:t>
            </a:r>
            <a:r>
              <a:rPr lang="fr-BE" b="1" dirty="0"/>
              <a:t>ne peut avoir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bénéficié de l’avantage au cours des 6 dernières années</a:t>
            </a:r>
            <a:r>
              <a:rPr lang="fr-BE" dirty="0"/>
              <a:t>, calculées de date à date, à partir de la date du début de l’avantage;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BE" dirty="0"/>
              <a:t>L’activité </a:t>
            </a:r>
            <a:r>
              <a:rPr lang="fr-BE" b="1" dirty="0"/>
              <a:t>ne peut être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exercée par des tiers</a:t>
            </a:r>
            <a:r>
              <a:rPr lang="fr-BE" dirty="0"/>
              <a:t>, notamment dans le cadre d’un contrat de travail ou d’un contrat de sous-traitance, sauf à titre exceptionnel.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A99283-C63A-4813-8875-2B0B4DB8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0201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549CD1-10C6-413C-A72D-CF6D075DB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« Tremplin-indépendant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1E315E-63FA-49A4-A6E9-A65579B17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000" b="1" dirty="0"/>
              <a:t>Obligation pendant l’avantage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Être inscrit comme demandeur d’emploi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Être disponible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Résider effectivement en Belgique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Tenue de la carte de contrôle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b="1" dirty="0"/>
              <a:t>Procédure CSC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Soit en cours de chômage: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C1+ C1C </a:t>
            </a:r>
            <a:r>
              <a:rPr lang="fr-BE" dirty="0"/>
              <a:t>avec type C9 </a:t>
            </a:r>
            <a:r>
              <a:rPr lang="fr-BE" b="1" dirty="0"/>
              <a:t>460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Soit lors d’une DA: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C1 + C1C + autres documents </a:t>
            </a:r>
            <a:r>
              <a:rPr lang="fr-BE" dirty="0"/>
              <a:t>nécessaires à la DA avec type C9 </a:t>
            </a:r>
            <a:r>
              <a:rPr lang="fr-BE" b="1" dirty="0"/>
              <a:t>habituel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507124-ABFC-4118-89EF-5B75BFA5D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766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E8D8B8-14AD-4DFA-B3E6-3481C0F7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« tremplin-indépendant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C99105-944B-4DE5-92C4-314B98CDB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900" b="1" dirty="0"/>
              <a:t>Procédure BC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fr-BE" sz="3600" dirty="0"/>
              <a:t>Admissibilité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100" dirty="0"/>
              <a:t>S04 avec préfixe </a:t>
            </a:r>
            <a:r>
              <a:rPr lang="fr-BE" sz="3100" b="1" dirty="0">
                <a:solidFill>
                  <a:schemeClr val="accent2">
                    <a:lumMod val="75000"/>
                  </a:schemeClr>
                </a:solidFill>
              </a:rPr>
              <a:t>77/ </a:t>
            </a:r>
            <a:r>
              <a:rPr lang="fr-BE" sz="3100" dirty="0"/>
              <a:t>+ </a:t>
            </a:r>
            <a:r>
              <a:rPr lang="fr-BE" sz="3100" dirty="0" err="1"/>
              <a:t>art.d’indem</a:t>
            </a:r>
            <a:r>
              <a:rPr lang="fr-BE" sz="3100" dirty="0"/>
              <a:t>. </a:t>
            </a:r>
            <a:r>
              <a:rPr lang="fr-BE" sz="3100" b="1" dirty="0">
                <a:solidFill>
                  <a:schemeClr val="accent2">
                    <a:lumMod val="75000"/>
                  </a:schemeClr>
                </a:solidFill>
              </a:rPr>
              <a:t>48&amp;1BN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fr-BE" sz="3600" dirty="0"/>
              <a:t>Indemnisation</a:t>
            </a:r>
          </a:p>
          <a:p>
            <a:pPr marL="0" indent="0">
              <a:buNone/>
            </a:pPr>
            <a:r>
              <a:rPr lang="fr-BE" sz="3600" b="1" u="sng" dirty="0"/>
              <a:t>Si</a:t>
            </a:r>
            <a:r>
              <a:rPr lang="fr-BE" sz="3600" dirty="0"/>
              <a:t> les conditions sont remplies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S04 avec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code valable </a:t>
            </a:r>
            <a:r>
              <a:rPr lang="fr-BE" sz="3000" dirty="0"/>
              <a:t>+ </a:t>
            </a:r>
            <a:r>
              <a:rPr lang="fr-BE" sz="3000" dirty="0" err="1"/>
              <a:t>art.d’indem</a:t>
            </a:r>
            <a:r>
              <a:rPr lang="fr-BE" sz="3000" dirty="0"/>
              <a:t>.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48&amp;1B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S16 valable de la DA à + 12mois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130H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S04 avec code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00/</a:t>
            </a:r>
            <a:r>
              <a:rPr lang="fr-BE" sz="3000" dirty="0"/>
              <a:t> 12 mois plus tard + art. d’</a:t>
            </a:r>
            <a:r>
              <a:rPr lang="fr-BE" sz="3000" dirty="0" err="1"/>
              <a:t>indemn</a:t>
            </a:r>
            <a:r>
              <a:rPr lang="fr-BE" sz="3000" dirty="0"/>
              <a:t>.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48&amp;1B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S04 avec code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00/</a:t>
            </a:r>
            <a:r>
              <a:rPr lang="fr-BE" sz="3000" dirty="0"/>
              <a:t> au 01/07/JJJJ+2 + art. d’</a:t>
            </a:r>
            <a:r>
              <a:rPr lang="fr-BE" sz="3000" dirty="0" err="1"/>
              <a:t>indem</a:t>
            </a:r>
            <a:r>
              <a:rPr lang="fr-BE" sz="3000" dirty="0"/>
              <a:t>.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130&amp;1H</a:t>
            </a:r>
          </a:p>
          <a:p>
            <a:pPr marL="57150" indent="0">
              <a:buNone/>
            </a:pPr>
            <a:r>
              <a:rPr lang="fr-BE" sz="3600" b="1" u="sng" dirty="0"/>
              <a:t>Si </a:t>
            </a:r>
            <a:r>
              <a:rPr lang="fr-BE" sz="3600" dirty="0"/>
              <a:t>les conditions ne sont pas remplies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S04 avec code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00/</a:t>
            </a:r>
            <a:r>
              <a:rPr lang="fr-BE" sz="3000" dirty="0"/>
              <a:t> (remplace le 77/) + art. d’</a:t>
            </a:r>
            <a:r>
              <a:rPr lang="fr-BE" sz="3000" dirty="0" err="1"/>
              <a:t>indem</a:t>
            </a:r>
            <a:r>
              <a:rPr lang="fr-BE" sz="3000" dirty="0"/>
              <a:t>.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48&amp;1BN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3F28CC-7524-4799-B44D-CB6AFAEB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11439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DF41E-B534-4C63-B202-771823010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« tremplin-indépendant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821942-3103-417B-9E22-C60DD4ECD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3871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A la fin de l’avantage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Soit l’AS s’installe comme indépendant à titre principal</a:t>
            </a:r>
          </a:p>
          <a:p>
            <a:pPr lvl="2">
              <a:buFont typeface="Calibri" panose="020F0502020204030204" pitchFamily="34" charset="0"/>
              <a:buChar char="→"/>
            </a:pPr>
            <a:r>
              <a:rPr lang="fr-BE" dirty="0"/>
              <a:t> </a:t>
            </a:r>
            <a:r>
              <a:rPr lang="fr-BE" sz="2800" dirty="0">
                <a:solidFill>
                  <a:schemeClr val="accent2">
                    <a:lumMod val="75000"/>
                  </a:schemeClr>
                </a:solidFill>
              </a:rPr>
              <a:t>S04 avec code 00/ est maintenue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Soit l’AS souhaite maintenir ses allocations et met fin à son activité</a:t>
            </a:r>
          </a:p>
          <a:p>
            <a:pPr lvl="2">
              <a:buFont typeface="Calibri" panose="020F0502020204030204" pitchFamily="34" charset="0"/>
              <a:buChar char="→"/>
            </a:pPr>
            <a:r>
              <a:rPr lang="fr-BE" dirty="0"/>
              <a:t> </a:t>
            </a:r>
            <a:r>
              <a:rPr lang="fr-BE" sz="2800" dirty="0">
                <a:solidFill>
                  <a:schemeClr val="accent2">
                    <a:lumMod val="75000"/>
                  </a:schemeClr>
                </a:solidFill>
              </a:rPr>
              <a:t>Introduction C109 + C1 modificatif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Soit l’AS souhaite conserver ses allocations et poursuivre son activité accessoire car il remplit les conditions de l’AR 48§1.</a:t>
            </a:r>
          </a:p>
          <a:p>
            <a:pPr lvl="2">
              <a:buFont typeface="Calibri" panose="020F0502020204030204" pitchFamily="34" charset="0"/>
              <a:buChar char="→"/>
            </a:pPr>
            <a:r>
              <a:rPr lang="fr-BE" dirty="0"/>
              <a:t> </a:t>
            </a:r>
            <a:r>
              <a:rPr lang="fr-BE" sz="2800" dirty="0">
                <a:solidFill>
                  <a:schemeClr val="accent2">
                    <a:lumMod val="75000"/>
                  </a:schemeClr>
                </a:solidFill>
              </a:rPr>
              <a:t>Introduction C109 + C1 modificatif + C1A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3B606D-C54E-43E1-95D9-F00C0B25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93086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dirty="0">
                <a:solidFill>
                  <a:schemeClr val="hlink"/>
                </a:solidFill>
              </a:rPr>
              <a:t>Activité accessoire : « Tremplin indépendant »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5583" y="1417637"/>
            <a:ext cx="8229600" cy="5303837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Passage art. 48§1bis à art. 48§1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sz="2600" dirty="0"/>
              <a:t>Soit le chômeur a déjà exercé auparavant l’activité dans le cadre de l’article 48,§1</a:t>
            </a:r>
            <a:r>
              <a:rPr lang="fr-BE" sz="2600" baseline="30000" dirty="0"/>
              <a:t>er </a:t>
            </a:r>
          </a:p>
          <a:p>
            <a:pPr marL="800100" lvl="2" indent="0">
              <a:buNone/>
            </a:pPr>
            <a:r>
              <a:rPr lang="fr-BE" sz="1600" dirty="0">
                <a:sym typeface="Wingdings" panose="05000000000000000000" pitchFamily="2" charset="2"/>
              </a:rPr>
              <a:t> </a:t>
            </a:r>
            <a:r>
              <a:rPr lang="fr-BE" sz="25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Ok pour activité accessoire</a:t>
            </a:r>
            <a:endParaRPr lang="fr-BE" sz="25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BE" sz="2600" dirty="0"/>
              <a:t>Soit le chômeur n’a jamais exercé l’activité dans le cadre de l’article 48,§1er  mais il remplissait au moment de la demande d’allocations ou au moment de la DA en tremplin-indépendant les conditions de l’article 48 §1er AR </a:t>
            </a:r>
          </a:p>
          <a:p>
            <a:pPr marL="800100" lvl="2" indent="0">
              <a:buNone/>
            </a:pPr>
            <a:r>
              <a:rPr lang="fr-BE" sz="1600" dirty="0">
                <a:sym typeface="Wingdings" panose="05000000000000000000" pitchFamily="2" charset="2"/>
              </a:rPr>
              <a:t> </a:t>
            </a:r>
            <a:r>
              <a:rPr lang="fr-BE" sz="25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Ok pour activité accessoire</a:t>
            </a:r>
            <a:endParaRPr lang="fr-BE" sz="25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BE" sz="2600" dirty="0"/>
              <a:t>Soit, dans les autres cas, le chômeur dont l’avantage « Tremplin – indépendants » a pris fin, ne peut pas continuer à exercer l’activité accessoire qui a fait l’objet de cet avantage tout en conservant le bénéfice des allocations.</a:t>
            </a:r>
          </a:p>
          <a:p>
            <a:pPr marL="857250" lvl="2" indent="0">
              <a:buNone/>
            </a:pPr>
            <a:r>
              <a:rPr lang="fr-BE" sz="1600" dirty="0">
                <a:sym typeface="Wingdings" panose="05000000000000000000" pitchFamily="2" charset="2"/>
              </a:rPr>
              <a:t> </a:t>
            </a:r>
            <a:r>
              <a:rPr lang="fr-BE" sz="25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NOK pour activité accessoire</a:t>
            </a:r>
            <a:endParaRPr lang="fr-BE" sz="25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Tx/>
              <a:buChar char="-"/>
            </a:pPr>
            <a:endParaRPr lang="fr-BE" sz="2400" dirty="0"/>
          </a:p>
          <a:p>
            <a:pPr marL="0" indent="0">
              <a:buNone/>
            </a:pPr>
            <a:endParaRPr lang="fr-BE" b="1" u="sng" dirty="0"/>
          </a:p>
          <a:p>
            <a:pPr marL="0" indent="0">
              <a:buNone/>
            </a:pPr>
            <a:endParaRPr lang="fr-BE" b="1" u="sng" dirty="0"/>
          </a:p>
          <a:p>
            <a:pPr marL="0" indent="0">
              <a:buNone/>
            </a:pPr>
            <a:endParaRPr lang="fr-BE" dirty="0"/>
          </a:p>
          <a:p>
            <a:pPr>
              <a:buFontTx/>
              <a:buChar char="-"/>
            </a:pPr>
            <a:endParaRPr lang="fr-BE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1251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6DB557-00D8-48F5-AA2E-E3353E9CD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Activité « tremplin-indépendant »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F2D415-7B08-470D-BF4B-7CAC0EFE6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pPr marL="0" indent="0">
              <a:buNone/>
            </a:pPr>
            <a:r>
              <a:rPr lang="fr-BE" b="1" dirty="0"/>
              <a:t>Différence entre l’AR. 48§1 et 48§1bis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63F0B7-13DE-4290-9329-D25D141AA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41</a:t>
            </a:fld>
            <a:endParaRPr lang="fr-FR" dirty="0"/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99655AA4-EEBA-4935-9909-7C23C953D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289444"/>
              </p:ext>
            </p:extLst>
          </p:nvPr>
        </p:nvGraphicFramePr>
        <p:xfrm>
          <a:off x="251520" y="1960563"/>
          <a:ext cx="8640959" cy="4759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3809730011"/>
                    </a:ext>
                  </a:extLst>
                </a:gridCol>
                <a:gridCol w="3303609">
                  <a:extLst>
                    <a:ext uri="{9D8B030D-6E8A-4147-A177-3AD203B41FA5}">
                      <a16:colId xmlns:a16="http://schemas.microsoft.com/office/drawing/2014/main" val="2535457117"/>
                    </a:ext>
                  </a:extLst>
                </a:gridCol>
                <a:gridCol w="3393134">
                  <a:extLst>
                    <a:ext uri="{9D8B030D-6E8A-4147-A177-3AD203B41FA5}">
                      <a16:colId xmlns:a16="http://schemas.microsoft.com/office/drawing/2014/main" val="1887157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Activité accessoire </a:t>
                      </a:r>
                      <a:r>
                        <a:rPr lang="fr-BE" b="0" dirty="0"/>
                        <a:t>(48§1)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Tremplin indépendant </a:t>
                      </a:r>
                      <a:r>
                        <a:rPr lang="fr-BE" b="0" dirty="0"/>
                        <a:t>(48§1bis)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186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Conditions d’accès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fr-BE" dirty="0"/>
                        <a:t>Déclarée via </a:t>
                      </a:r>
                      <a:r>
                        <a:rPr lang="fr-B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C1A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BE" dirty="0"/>
                        <a:t>Exercée en même temps qu’une occupation salariée </a:t>
                      </a:r>
                      <a:r>
                        <a:rPr lang="fr-BE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pendant 3 mois </a:t>
                      </a:r>
                      <a:r>
                        <a:rPr lang="fr-BE" dirty="0"/>
                        <a:t>qui précèdent la DA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BE" dirty="0"/>
                        <a:t>Exercée principalement </a:t>
                      </a:r>
                      <a:r>
                        <a:rPr lang="fr-B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avant 7h et après 18h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BE" dirty="0"/>
                        <a:t>Activités </a:t>
                      </a:r>
                      <a:r>
                        <a:rPr lang="fr-B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interdites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fr-BE" dirty="0"/>
                        <a:t>Déclarée via </a:t>
                      </a:r>
                      <a:r>
                        <a:rPr lang="fr-B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C1C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BE" dirty="0"/>
                        <a:t>Peut débuter </a:t>
                      </a:r>
                      <a:r>
                        <a:rPr lang="fr-B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pendant le chômage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BE" dirty="0"/>
                        <a:t>Exercée à </a:t>
                      </a:r>
                      <a:r>
                        <a:rPr lang="fr-B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n’importe quel moment</a:t>
                      </a:r>
                      <a:r>
                        <a:rPr lang="fr-BE" dirty="0"/>
                        <a:t> de la journée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fr-B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Toutes </a:t>
                      </a:r>
                      <a:r>
                        <a:rPr lang="fr-BE" dirty="0"/>
                        <a:t>les activités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688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Durée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valable pour </a:t>
                      </a:r>
                      <a:r>
                        <a:rPr lang="fr-BE" b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toute la durée du chômage</a:t>
                      </a:r>
                      <a:r>
                        <a:rPr lang="fr-BE" dirty="0"/>
                        <a:t> (pour autant qu’elle reste accessoire)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Maximum </a:t>
                      </a:r>
                      <a:r>
                        <a:rPr lang="fr-B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12 mois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488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BE" b="1" dirty="0"/>
                        <a:t>Déclaration sur carte de</a:t>
                      </a:r>
                    </a:p>
                    <a:p>
                      <a:r>
                        <a:rPr lang="fr-BE" b="1" dirty="0"/>
                        <a:t>contrôle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Doit être </a:t>
                      </a:r>
                      <a:r>
                        <a:rPr lang="fr-B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mentionnée</a:t>
                      </a:r>
                      <a:r>
                        <a:rPr lang="fr-BE" dirty="0"/>
                        <a:t> </a:t>
                      </a:r>
                      <a:r>
                        <a:rPr lang="fr-BE" b="1" dirty="0"/>
                        <a:t>si</a:t>
                      </a:r>
                      <a:r>
                        <a:rPr lang="fr-BE" dirty="0"/>
                        <a:t> exercée entre 7h et 18 du lundi au vendredi et le WE peu importe l’heure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Aucune mention </a:t>
                      </a:r>
                      <a:r>
                        <a:rPr lang="fr-BE" dirty="0"/>
                        <a:t>sur la carte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03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7272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D250937-7DCC-4F72-98C2-F853BC38CC79}"/>
              </a:ext>
            </a:extLst>
          </p:cNvPr>
          <p:cNvSpPr/>
          <p:nvPr/>
        </p:nvSpPr>
        <p:spPr>
          <a:xfrm>
            <a:off x="457200" y="5517232"/>
            <a:ext cx="8229600" cy="839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AAB47DE-6765-4E99-A536-96995E554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Travail occasionnel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ED66A5-630D-4701-8484-93B55DA90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59"/>
            <a:ext cx="8229600" cy="5452715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600" b="1" dirty="0"/>
              <a:t>Principe</a:t>
            </a:r>
            <a:r>
              <a:rPr lang="fr-BE" sz="36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400" dirty="0"/>
              <a:t>Une activité non salariée;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400" dirty="0"/>
              <a:t>qui ne répond pas aux conditions de l’art.48;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400" dirty="0"/>
              <a:t>Qui n’est pas exercée de façon régulière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600" b="1" dirty="0"/>
              <a:t>Caractéristiques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400" dirty="0"/>
              <a:t>L’exercice de l’activité doit être occasionnel</a:t>
            </a:r>
          </a:p>
          <a:p>
            <a:pPr marL="400050" lvl="1" indent="0">
              <a:buNone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ET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400" dirty="0"/>
              <a:t>Le montant des revenus doit rester limité</a:t>
            </a:r>
          </a:p>
          <a:p>
            <a:pPr marL="457200" lvl="1" indent="0">
              <a:buNone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ET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400" dirty="0"/>
              <a:t>La nature de l’activité doit permettre le maintien des allocations pour les autres jours de la semaine</a:t>
            </a:r>
          </a:p>
          <a:p>
            <a:pPr marL="57150" indent="0">
              <a:buNone/>
            </a:pPr>
            <a:endParaRPr lang="fr-BE" sz="1300" dirty="0"/>
          </a:p>
          <a:p>
            <a:pPr marL="57150" indent="0">
              <a:buNone/>
            </a:pPr>
            <a:r>
              <a:rPr lang="fr-BE" sz="3400" dirty="0"/>
              <a:t>Les jours prestés doivent être mentionnés sur la carte de contrôle préalablement au début du travail.</a:t>
            </a:r>
          </a:p>
          <a:p>
            <a:pPr marL="0" indent="0">
              <a:buNone/>
            </a:pPr>
            <a:endParaRPr lang="fr-BE" sz="3000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AE2112-B461-44D3-872E-629CC425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05970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2A325C-3EA5-4189-95AE-769AC290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Travail occasionnel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3A62EC-C042-48FF-A7C4-51332FC4F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65724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Le critère principal reste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l’absence de régularité </a:t>
            </a:r>
            <a:r>
              <a:rPr lang="fr-BE" dirty="0"/>
              <a:t>dans les prestations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Il s’agit d’une question d’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appréciation</a:t>
            </a:r>
            <a:r>
              <a:rPr lang="fr-BE" dirty="0"/>
              <a:t> de la part du directeur du bureau du chômage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u="sng" dirty="0"/>
              <a:t>Si les conditions sont remplies </a:t>
            </a:r>
            <a:r>
              <a:rPr lang="fr-BE" dirty="0"/>
              <a:t>: 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lang="fr-BE" dirty="0"/>
              <a:t>Perte de l’allocation pour le jour d’activité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lang="fr-BE" dirty="0"/>
              <a:t>Pas d’application de l’art. 130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u="sng" dirty="0"/>
              <a:t>Si les conditions ne sont pas remplies </a:t>
            </a:r>
            <a:r>
              <a:rPr lang="fr-BE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Perte du droit aux allocations (exclusion totale, depuis le jour où l’activité a débuté)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Récupération peut être limitée aux jours prestés (si preuve que l’activité a été limitée à certains jours/périodes)</a:t>
            </a:r>
          </a:p>
          <a:p>
            <a:pPr>
              <a:buFont typeface="Wingdings" panose="05000000000000000000" pitchFamily="2" charset="2"/>
              <a:buChar char="§"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AEE1DD-9B54-450F-8781-4AC3DED1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26380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6BE812-B152-4CF1-97F6-34E5C2960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Cumul autorisé des revenus</a:t>
            </a:r>
            <a:br>
              <a:rPr lang="fr-BE" b="1" i="1" dirty="0"/>
            </a:br>
            <a:r>
              <a:rPr lang="fr-BE" b="1" i="1" dirty="0"/>
              <a:t>Art. 130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2B7FF4-2879-4A65-B9AE-9E438E41D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5121275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5500" dirty="0"/>
              <a:t>Le chômeur qui exerce des activités dans les conditions de l’art. 48 AR, ne peut cumuler les revenus de cette activité que de </a:t>
            </a:r>
            <a:r>
              <a:rPr lang="fr-BE" sz="5500" b="1" dirty="0">
                <a:solidFill>
                  <a:schemeClr val="accent2">
                    <a:lumMod val="75000"/>
                  </a:schemeClr>
                </a:solidFill>
              </a:rPr>
              <a:t>façon limitée</a:t>
            </a:r>
            <a:endParaRPr lang="fr-BE" sz="5500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5500" dirty="0"/>
              <a:t>Cette limite s’applique aussi, si le cumul est autorisé, aux revenus provenant :</a:t>
            </a:r>
          </a:p>
          <a:p>
            <a:pPr lvl="1">
              <a:buFont typeface="Calibri" panose="020F0502020204030204" pitchFamily="34" charset="0"/>
              <a:buChar char="⁻"/>
            </a:pPr>
            <a:r>
              <a:rPr lang="fr-BE" sz="4400" dirty="0"/>
              <a:t>d’un mandat</a:t>
            </a:r>
          </a:p>
          <a:p>
            <a:pPr lvl="1">
              <a:buFont typeface="Calibri" panose="020F0502020204030204" pitchFamily="34" charset="0"/>
              <a:buChar char="⁻"/>
            </a:pPr>
            <a:r>
              <a:rPr lang="fr-BE" sz="4400" dirty="0"/>
              <a:t>d’une pension complète, de retraite ou de survie</a:t>
            </a:r>
          </a:p>
          <a:p>
            <a:pPr lvl="1">
              <a:buFont typeface="Calibri" panose="020F0502020204030204" pitchFamily="34" charset="0"/>
              <a:buChar char="⁻"/>
            </a:pPr>
            <a:r>
              <a:rPr lang="fr-BE" sz="4400" dirty="0"/>
              <a:t>Indemnité étrangère de maladie ou d’invalidité  </a:t>
            </a:r>
          </a:p>
          <a:p>
            <a:pPr lvl="1">
              <a:buFont typeface="Calibri" panose="020F0502020204030204" pitchFamily="34" charset="0"/>
              <a:buChar char="⁻"/>
            </a:pPr>
            <a:r>
              <a:rPr lang="fr-BE" sz="4400" dirty="0"/>
              <a:t>d'une indemnité de sortie-agriculture</a:t>
            </a:r>
          </a:p>
          <a:p>
            <a:pPr lvl="1">
              <a:buFont typeface="Calibri" panose="020F0502020204030204" pitchFamily="34" charset="0"/>
              <a:buChar char="⁻"/>
            </a:pPr>
            <a:r>
              <a:rPr lang="fr-BE" sz="4400" dirty="0"/>
              <a:t>de l’exercice d’une activité artistique de création ou d’interprétation</a:t>
            </a:r>
            <a:r>
              <a:rPr lang="fr-BE" sz="3700" dirty="0"/>
              <a:t>.</a:t>
            </a:r>
          </a:p>
          <a:p>
            <a:pPr lvl="1">
              <a:buFont typeface="Calibri" panose="020F0502020204030204" pitchFamily="34" charset="0"/>
              <a:buChar char="⁻"/>
            </a:pPr>
            <a:r>
              <a:rPr lang="fr-BE" sz="4400" dirty="0"/>
              <a:t>d’études, de formation, d’un apprentissage ou de stage</a:t>
            </a:r>
            <a:r>
              <a:rPr lang="fr-BE" sz="3700" dirty="0"/>
              <a:t>. </a:t>
            </a:r>
          </a:p>
          <a:p>
            <a:pPr>
              <a:buFont typeface="Wingdings" panose="05000000000000000000" pitchFamily="2" charset="2"/>
              <a:buChar char="§"/>
            </a:pPr>
            <a:endParaRPr lang="fr-BE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BE" b="1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63BED1-12AE-4835-85A7-0AC1F841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68848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19A007-FC46-41FA-8372-BCD9A27AA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Cumul autorisé des revenus</a:t>
            </a:r>
            <a:br>
              <a:rPr lang="fr-BE" b="1" i="1" dirty="0"/>
            </a:br>
            <a:r>
              <a:rPr lang="fr-BE" b="1" i="1" dirty="0"/>
              <a:t>Art. 130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790CA4-4661-48B5-89B3-F14D7E26E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Revenus de l’activité accessoire </a:t>
            </a:r>
            <a:r>
              <a:rPr lang="fr-BE" b="1" dirty="0"/>
              <a:t>totalement cumulables</a:t>
            </a:r>
            <a:r>
              <a:rPr lang="fr-BE" dirty="0"/>
              <a:t> avec les allocations de chômage:</a:t>
            </a:r>
          </a:p>
          <a:p>
            <a:pPr marL="457200" lvl="1" indent="0">
              <a:buNone/>
            </a:pPr>
            <a:r>
              <a:rPr lang="fr-BE" sz="3000" dirty="0"/>
              <a:t>10,18 x 1,6084 =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16,37€/jour </a:t>
            </a:r>
            <a:r>
              <a:rPr lang="fr-BE" sz="2000" dirty="0"/>
              <a:t>(barème au 01.11.2022)</a:t>
            </a:r>
          </a:p>
          <a:p>
            <a:pPr marL="457200" lvl="1" indent="0">
              <a:buNone/>
            </a:pPr>
            <a:r>
              <a:rPr lang="fr-BE" sz="3000" dirty="0"/>
              <a:t>Soit sur base annuelle:</a:t>
            </a:r>
          </a:p>
          <a:p>
            <a:pPr marL="457200" lvl="1" indent="0">
              <a:buNone/>
            </a:pPr>
            <a:r>
              <a:rPr lang="fr-BE" sz="3000" dirty="0"/>
              <a:t>16,37€ x 312 =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5.107,44€</a:t>
            </a:r>
            <a:r>
              <a:rPr lang="fr-BE" sz="3000" dirty="0"/>
              <a:t> </a:t>
            </a:r>
            <a:r>
              <a:rPr lang="fr-BE" sz="2000" dirty="0"/>
              <a:t>(barème au 01.11.2022)</a:t>
            </a:r>
          </a:p>
          <a:p>
            <a:pPr marL="514350" indent="-457200">
              <a:buFont typeface="Wingdings" panose="05000000000000000000" pitchFamily="2" charset="2"/>
              <a:buChar char="§"/>
            </a:pPr>
            <a:r>
              <a:rPr lang="fr-BE" sz="3400" dirty="0"/>
              <a:t>La partie des revenus qui dépasse cette limite est </a:t>
            </a:r>
            <a:r>
              <a:rPr lang="fr-BE" sz="3400" b="1" dirty="0">
                <a:solidFill>
                  <a:schemeClr val="accent2">
                    <a:lumMod val="75000"/>
                  </a:schemeClr>
                </a:solidFill>
              </a:rPr>
              <a:t>déduite</a:t>
            </a:r>
            <a:r>
              <a:rPr lang="fr-BE" sz="3400" dirty="0"/>
              <a:t> des allocations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BF7250-C265-4156-A4B0-80932CF3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23572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5F4F2D-0477-44CD-A344-981A1039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Cumul autorisé des revenus</a:t>
            </a:r>
            <a:br>
              <a:rPr lang="fr-BE" b="1" i="1" dirty="0"/>
            </a:br>
            <a:r>
              <a:rPr lang="fr-BE" b="1" i="1" dirty="0"/>
              <a:t>Art. 130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AF8F80-DA66-4AA2-8047-1A4238E9A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b="1" dirty="0"/>
              <a:t>Calcul de l’allocation réduite:</a:t>
            </a:r>
            <a:endParaRPr lang="fr-BE" dirty="0"/>
          </a:p>
          <a:p>
            <a:pPr marL="0" indent="0">
              <a:buNone/>
            </a:pPr>
            <a:r>
              <a:rPr lang="fr-BE" dirty="0"/>
              <a:t>Montant journalier à déduire =</a:t>
            </a:r>
          </a:p>
          <a:p>
            <a:pPr marL="400050" lvl="1" indent="0">
              <a:buNone/>
            </a:pPr>
            <a:r>
              <a:rPr lang="fr-BE" sz="3000" b="1" u="sng" dirty="0">
                <a:solidFill>
                  <a:schemeClr val="accent2">
                    <a:lumMod val="75000"/>
                  </a:schemeClr>
                </a:solidFill>
              </a:rPr>
              <a:t>Revenu annuel de l’</a:t>
            </a:r>
            <a:r>
              <a:rPr lang="fr-BE" sz="3000" b="1" u="sng" dirty="0" err="1">
                <a:solidFill>
                  <a:schemeClr val="accent2">
                    <a:lumMod val="75000"/>
                  </a:schemeClr>
                </a:solidFill>
              </a:rPr>
              <a:t>act</a:t>
            </a:r>
            <a:r>
              <a:rPr lang="fr-BE" sz="3000" b="1" u="sng" dirty="0">
                <a:solidFill>
                  <a:schemeClr val="accent2">
                    <a:lumMod val="75000"/>
                  </a:schemeClr>
                </a:solidFill>
              </a:rPr>
              <a:t>. acc. – 5.107,44</a:t>
            </a:r>
          </a:p>
          <a:p>
            <a:pPr marL="3086100" lvl="7" indent="0">
              <a:buNone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312</a:t>
            </a:r>
          </a:p>
          <a:p>
            <a:pPr marL="0" indent="0">
              <a:buNone/>
            </a:pPr>
            <a:endParaRPr lang="fr-BE" sz="20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BE" dirty="0"/>
              <a:t>Allocation réduite =</a:t>
            </a:r>
          </a:p>
          <a:p>
            <a:pPr marL="400050" lvl="1" indent="0">
              <a:buNone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Montant allocation théorique (selon le code) – montant journalier à déduire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B74090-FCD8-4CBD-91F2-96CACB1B8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15442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160A61-89A9-4B61-BB7B-41EA7C016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/>
              <a:t>Cumul autorisé des revenus </a:t>
            </a:r>
            <a:br>
              <a:rPr lang="fr-BE" b="1" i="1" dirty="0"/>
            </a:br>
            <a:r>
              <a:rPr lang="fr-BE" b="1" i="1" dirty="0"/>
              <a:t>Art. 130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8A2EF3-CB4C-45F7-90FF-3871A5CCB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/>
              <a:t>Procédure pratique</a:t>
            </a:r>
          </a:p>
          <a:p>
            <a:pPr marL="0" indent="0">
              <a:buNone/>
            </a:pPr>
            <a:r>
              <a:rPr lang="fr-BE" sz="3000" dirty="0"/>
              <a:t>Au 01.07, l’AS doit introduire son AER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Introduction par voie électronique des preuves de revenus pour le calcul « art. 130 ».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Type C9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94C</a:t>
            </a:r>
          </a:p>
          <a:p>
            <a:pPr marL="0" indent="0">
              <a:buNone/>
            </a:pPr>
            <a:r>
              <a:rPr lang="fr-BE" sz="3000" dirty="0"/>
              <a:t>Le BC nous retourne une C2 avec: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le calcul de l’allocation journalière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un code 00/ au 01.07 de l’année suivante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AA1847-54AD-450F-AFE3-C879D8DF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5892802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A75330-C883-496E-AE05-25C5569A13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04BFEC-2CB7-46E4-90CE-EAEA5CFB824F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bdec1399-7c99-4025-bfb6-e1e799e6630a"/>
    <ds:schemaRef ds:uri="1e832426-6819-49af-b751-404cdfce1567"/>
    <ds:schemaRef ds:uri="http://schemas.openxmlformats.org/package/2006/metadata/core-properties"/>
    <ds:schemaRef ds:uri="7d2a3af0-b854-4018-b3fb-98bf2b75e19a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797CFFA-0651-4407-91F0-66B227D0376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13363</TotalTime>
  <Words>3197</Words>
  <Application>Microsoft Office PowerPoint</Application>
  <PresentationFormat>On-screen Show (4:3)</PresentationFormat>
  <Paragraphs>415</Paragraphs>
  <Slides>47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49" baseType="lpstr">
      <vt:lpstr>1_Thème Office</vt:lpstr>
      <vt:lpstr>Thème Office</vt:lpstr>
      <vt:lpstr>  Activités accessoires et bénévoles.         </vt:lpstr>
      <vt:lpstr>Table des matières</vt:lpstr>
      <vt:lpstr>Introduction</vt:lpstr>
      <vt:lpstr>Introduction</vt:lpstr>
      <vt:lpstr>Travail pour son propre compte</vt:lpstr>
      <vt:lpstr>Travail pour son propre compte</vt:lpstr>
      <vt:lpstr>Travail pour son propre compte</vt:lpstr>
      <vt:lpstr>Travail pour le compte d’un tiers</vt:lpstr>
      <vt:lpstr>Mandat politique (ou public)</vt:lpstr>
      <vt:lpstr>Mandat politique (ou public)</vt:lpstr>
      <vt:lpstr>Mandat politique (ou public)</vt:lpstr>
      <vt:lpstr>Mandat dans le secteur culturel</vt:lpstr>
      <vt:lpstr>Mandat dans le secteur culturel</vt:lpstr>
      <vt:lpstr>Mandat dans le secteur Culturel</vt:lpstr>
      <vt:lpstr>Travail bénévole</vt:lpstr>
      <vt:lpstr>Travail bénévole</vt:lpstr>
      <vt:lpstr>Travail bénévole</vt:lpstr>
      <vt:lpstr>Travail bénévole</vt:lpstr>
      <vt:lpstr>Activité dans le secteur sportif ou socioculturel</vt:lpstr>
      <vt:lpstr>Activité dans le secteur sportif ou socioculturel</vt:lpstr>
      <vt:lpstr>Préparation à l’activité indépendante</vt:lpstr>
      <vt:lpstr>Préparation à l’activité indépendante</vt:lpstr>
      <vt:lpstr>Activité accessoire</vt:lpstr>
      <vt:lpstr>Activité accessoire</vt:lpstr>
      <vt:lpstr>Activité accessoire</vt:lpstr>
      <vt:lpstr>Activité accessoire</vt:lpstr>
      <vt:lpstr>Activité accessoire</vt:lpstr>
      <vt:lpstr>Activité accessoire</vt:lpstr>
      <vt:lpstr>Activité accessoire</vt:lpstr>
      <vt:lpstr>Activité accessoire</vt:lpstr>
      <vt:lpstr>Activité accessoire</vt:lpstr>
      <vt:lpstr>Activité accessoire</vt:lpstr>
      <vt:lpstr>Activité « Tremplin-Indépendant »</vt:lpstr>
      <vt:lpstr>Activité « Tremplin-Indépendant »</vt:lpstr>
      <vt:lpstr>Activité « Tremplin-Indépendant »</vt:lpstr>
      <vt:lpstr>Activité « Tremplin-Indépendant »</vt:lpstr>
      <vt:lpstr>Activité « Tremplin-indépendant »</vt:lpstr>
      <vt:lpstr>Activité « tremplin-indépendant »</vt:lpstr>
      <vt:lpstr>Activité « tremplin-indépendant »</vt:lpstr>
      <vt:lpstr>Activité accessoire : « Tremplin indépendant »</vt:lpstr>
      <vt:lpstr>Activité « tremplin-indépendant »</vt:lpstr>
      <vt:lpstr>Travail occasionnel</vt:lpstr>
      <vt:lpstr>Travail occasionnel</vt:lpstr>
      <vt:lpstr>Cumul autorisé des revenus Art. 130</vt:lpstr>
      <vt:lpstr>Cumul autorisé des revenus Art. 130</vt:lpstr>
      <vt:lpstr>Cumul autorisé des revenus Art. 130</vt:lpstr>
      <vt:lpstr>Cumul autorisé des revenus  Art. 130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FCJ-M35-Activités accessoires et bénévoles-Participants</dc:title>
  <dc:creator>u99lge</dc:creator>
  <cp:lastModifiedBy>Jerome Martini</cp:lastModifiedBy>
  <cp:revision>490</cp:revision>
  <cp:lastPrinted>2017-09-25T12:22:55Z</cp:lastPrinted>
  <dcterms:created xsi:type="dcterms:W3CDTF">2010-09-22T12:12:06Z</dcterms:created>
  <dcterms:modified xsi:type="dcterms:W3CDTF">2022-11-28T11:35:37Z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44;#Identification|c878f2ee-3955-448a-86fc-10f3fe74a7ef;#22;#Indemnisabilité|b5f95997-28b8-41b1-bbb7-1a3d8a5995b4;#26;#Paiement|bbe82f01-f3c6-4a35-a642-de01f3e9fac7</vt:lpwstr>
  </property>
  <property fmtid="{D5CDD505-2E9C-101B-9397-08002B2CF9AE}" pid="7" name="Thème">
    <vt:lpwstr>28;#Activités accessoires et bénévoles|6b94fbb3-f2d8-4076-800a-03645eb8299c</vt:lpwstr>
  </property>
  <property fmtid="{D5CDD505-2E9C-101B-9397-08002B2CF9AE}" pid="8" name="Order">
    <vt:r8>45200</vt:r8>
  </property>
  <property fmtid="{D5CDD505-2E9C-101B-9397-08002B2CF9AE}" pid="9" name="_dlc_DocIdItemGuid">
    <vt:lpwstr>f023ebf0-0016-4a09-ac2f-3cc76e96fe2f</vt:lpwstr>
  </property>
</Properties>
</file>