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4"/>
  </p:sldMasterIdLst>
  <p:notesMasterIdLst>
    <p:notesMasterId r:id="rId30"/>
  </p:notesMasterIdLst>
  <p:handoutMasterIdLst>
    <p:handoutMasterId r:id="rId31"/>
  </p:handoutMasterIdLst>
  <p:sldIdLst>
    <p:sldId id="305" r:id="rId5"/>
    <p:sldId id="257" r:id="rId6"/>
    <p:sldId id="463" r:id="rId7"/>
    <p:sldId id="428" r:id="rId8"/>
    <p:sldId id="429" r:id="rId9"/>
    <p:sldId id="430" r:id="rId10"/>
    <p:sldId id="431" r:id="rId11"/>
    <p:sldId id="455" r:id="rId12"/>
    <p:sldId id="435" r:id="rId13"/>
    <p:sldId id="457" r:id="rId14"/>
    <p:sldId id="460" r:id="rId15"/>
    <p:sldId id="465" r:id="rId16"/>
    <p:sldId id="436" r:id="rId17"/>
    <p:sldId id="464" r:id="rId18"/>
    <p:sldId id="456" r:id="rId19"/>
    <p:sldId id="438" r:id="rId20"/>
    <p:sldId id="458" r:id="rId21"/>
    <p:sldId id="461" r:id="rId22"/>
    <p:sldId id="444" r:id="rId23"/>
    <p:sldId id="445" r:id="rId24"/>
    <p:sldId id="447" r:id="rId25"/>
    <p:sldId id="448" r:id="rId26"/>
    <p:sldId id="401" r:id="rId27"/>
    <p:sldId id="449" r:id="rId28"/>
    <p:sldId id="462" r:id="rId29"/>
  </p:sldIdLst>
  <p:sldSz cx="9144000" cy="6858000" type="screen4x3"/>
  <p:notesSz cx="6797675" cy="9926638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8000"/>
    <a:srgbClr val="FF9933"/>
    <a:srgbClr val="669900"/>
    <a:srgbClr val="00FF00"/>
    <a:srgbClr val="003399"/>
    <a:srgbClr val="00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8A7C07B-FAAB-4823-84F8-F1572F80AD81}" v="2" dt="2023-04-03T13:10:32.28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Style léger 1 - Accentuation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088" autoAdjust="0"/>
    <p:restoredTop sz="91897" autoAdjust="0"/>
  </p:normalViewPr>
  <p:slideViewPr>
    <p:cSldViewPr>
      <p:cViewPr varScale="1">
        <p:scale>
          <a:sx n="77" d="100"/>
          <a:sy n="77" d="100"/>
        </p:scale>
        <p:origin x="1224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notesMaster" Target="notesMasters/notesMaster1.xml"/><Relationship Id="rId35" Type="http://schemas.openxmlformats.org/officeDocument/2006/relationships/tableStyles" Target="tableStyles.xml"/><Relationship Id="rId8" Type="http://schemas.openxmlformats.org/officeDocument/2006/relationships/slide" Target="slides/slide4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2945659" cy="496333"/>
          </a:xfrm>
          <a:prstGeom prst="rect">
            <a:avLst/>
          </a:prstGeom>
        </p:spPr>
        <p:txBody>
          <a:bodyPr vert="horz" lIns="92446" tIns="46223" rIns="92446" bIns="46223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quarter" idx="1"/>
          </p:nvPr>
        </p:nvSpPr>
        <p:spPr>
          <a:xfrm>
            <a:off x="3850443" y="1"/>
            <a:ext cx="2945659" cy="496333"/>
          </a:xfrm>
          <a:prstGeom prst="rect">
            <a:avLst/>
          </a:prstGeom>
        </p:spPr>
        <p:txBody>
          <a:bodyPr vert="horz" lIns="92446" tIns="46223" rIns="92446" bIns="46223" rtlCol="0"/>
          <a:lstStyle>
            <a:lvl1pPr algn="r">
              <a:defRPr sz="1200"/>
            </a:lvl1pPr>
          </a:lstStyle>
          <a:p>
            <a:fld id="{E47068CA-F0DC-447A-B9ED-AE95D731C7D8}" type="datetimeFigureOut">
              <a:rPr lang="fr-FR" smtClean="0"/>
              <a:pPr/>
              <a:t>17/04/2023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2"/>
          </p:nvPr>
        </p:nvSpPr>
        <p:spPr>
          <a:xfrm>
            <a:off x="0" y="9428584"/>
            <a:ext cx="2945659" cy="496333"/>
          </a:xfrm>
          <a:prstGeom prst="rect">
            <a:avLst/>
          </a:prstGeom>
        </p:spPr>
        <p:txBody>
          <a:bodyPr vert="horz" lIns="92446" tIns="46223" rIns="92446" bIns="46223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3"/>
          </p:nvPr>
        </p:nvSpPr>
        <p:spPr>
          <a:xfrm>
            <a:off x="3850443" y="9428584"/>
            <a:ext cx="2945659" cy="496333"/>
          </a:xfrm>
          <a:prstGeom prst="rect">
            <a:avLst/>
          </a:prstGeom>
        </p:spPr>
        <p:txBody>
          <a:bodyPr vert="horz" lIns="92446" tIns="46223" rIns="92446" bIns="46223" rtlCol="0" anchor="b"/>
          <a:lstStyle>
            <a:lvl1pPr algn="r">
              <a:defRPr sz="1200"/>
            </a:lvl1pPr>
          </a:lstStyle>
          <a:p>
            <a:fld id="{49110657-391D-4BAF-82B8-BBA3EA77C61C}" type="slidenum">
              <a:rPr lang="fr-FR" smtClean="0"/>
              <a:pPr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9197707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2945659" cy="496333"/>
          </a:xfrm>
          <a:prstGeom prst="rect">
            <a:avLst/>
          </a:prstGeom>
        </p:spPr>
        <p:txBody>
          <a:bodyPr vert="horz" lIns="92446" tIns="46223" rIns="92446" bIns="46223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50443" y="1"/>
            <a:ext cx="2945659" cy="496333"/>
          </a:xfrm>
          <a:prstGeom prst="rect">
            <a:avLst/>
          </a:prstGeom>
        </p:spPr>
        <p:txBody>
          <a:bodyPr vert="horz" lIns="92446" tIns="46223" rIns="92446" bIns="46223" rtlCol="0"/>
          <a:lstStyle>
            <a:lvl1pPr algn="r">
              <a:defRPr sz="1200"/>
            </a:lvl1pPr>
          </a:lstStyle>
          <a:p>
            <a:fld id="{B000F49C-6693-442B-81D1-9FE7387508D2}" type="datetimeFigureOut">
              <a:rPr lang="fr-FR" smtClean="0"/>
              <a:pPr/>
              <a:t>17/04/2023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4538"/>
            <a:ext cx="4962525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446" tIns="46223" rIns="92446" bIns="46223" rtlCol="0" anchor="ctr"/>
          <a:lstStyle/>
          <a:p>
            <a:endParaRPr lang="fr-FR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79768" y="4715157"/>
            <a:ext cx="5438140" cy="4466988"/>
          </a:xfrm>
          <a:prstGeom prst="rect">
            <a:avLst/>
          </a:prstGeom>
        </p:spPr>
        <p:txBody>
          <a:bodyPr vert="horz" lIns="92446" tIns="46223" rIns="92446" bIns="46223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9428584"/>
            <a:ext cx="2945659" cy="496333"/>
          </a:xfrm>
          <a:prstGeom prst="rect">
            <a:avLst/>
          </a:prstGeom>
        </p:spPr>
        <p:txBody>
          <a:bodyPr vert="horz" lIns="92446" tIns="46223" rIns="92446" bIns="46223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50443" y="9428584"/>
            <a:ext cx="2945659" cy="496333"/>
          </a:xfrm>
          <a:prstGeom prst="rect">
            <a:avLst/>
          </a:prstGeom>
        </p:spPr>
        <p:txBody>
          <a:bodyPr vert="horz" lIns="92446" tIns="46223" rIns="92446" bIns="46223" rtlCol="0" anchor="b"/>
          <a:lstStyle>
            <a:lvl1pPr algn="r">
              <a:defRPr sz="1200"/>
            </a:lvl1pPr>
          </a:lstStyle>
          <a:p>
            <a:fld id="{784742A2-A700-4112-A494-09AD92282681}" type="slidenum">
              <a:rPr lang="fr-FR" smtClean="0"/>
              <a:pPr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223693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4742A2-A700-4112-A494-09AD92282681}" type="slidenum">
              <a:rPr lang="fr-FR" smtClean="0"/>
              <a:pPr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3713498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4742A2-A700-4112-A494-09AD92282681}" type="slidenum">
              <a:rPr lang="fr-FR" smtClean="0"/>
              <a:pPr/>
              <a:t>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7632641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4742A2-A700-4112-A494-09AD92282681}" type="slidenum">
              <a:rPr lang="fr-FR" smtClean="0"/>
              <a:pPr/>
              <a:t>3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0306866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4742A2-A700-4112-A494-09AD92282681}" type="slidenum">
              <a:rPr lang="fr-FR" smtClean="0"/>
              <a:pPr/>
              <a:t>4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97054942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4742A2-A700-4112-A494-09AD92282681}" type="slidenum">
              <a:rPr lang="fr-FR" smtClean="0"/>
              <a:pPr/>
              <a:t>5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36606970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4742A2-A700-4112-A494-09AD92282681}" type="slidenum">
              <a:rPr lang="fr-FR" smtClean="0"/>
              <a:pPr/>
              <a:t>6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86283907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4742A2-A700-4112-A494-09AD92282681}" type="slidenum">
              <a:rPr lang="fr-FR" smtClean="0"/>
              <a:pPr/>
              <a:t>7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5919136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4742A2-A700-4112-A494-09AD92282681}" type="slidenum">
              <a:rPr lang="fr-FR" smtClean="0"/>
              <a:pPr/>
              <a:t>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4821361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BE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4742A2-A700-4112-A494-09AD92282681}" type="slidenum">
              <a:rPr lang="fr-FR" smtClean="0"/>
              <a:pPr/>
              <a:t>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9340139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4742A2-A700-4112-A494-09AD92282681}" type="slidenum">
              <a:rPr lang="fr-FR" smtClean="0"/>
              <a:pPr/>
              <a:t>10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94017833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4742A2-A700-4112-A494-09AD92282681}" type="slidenum">
              <a:rPr lang="fr-FR" smtClean="0"/>
              <a:pPr/>
              <a:t>11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87118509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4742A2-A700-4112-A494-09AD92282681}" type="slidenum">
              <a:rPr lang="fr-FR" smtClean="0"/>
              <a:pPr/>
              <a:t>12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3987636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4742A2-A700-4112-A494-09AD92282681}" type="slidenum">
              <a:rPr lang="fr-FR" smtClean="0"/>
              <a:pPr/>
              <a:t>13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99803338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4742A2-A700-4112-A494-09AD92282681}" type="slidenum">
              <a:rPr lang="fr-FR" smtClean="0"/>
              <a:pPr/>
              <a:t>14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88094694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4742A2-A700-4112-A494-09AD92282681}" type="slidenum">
              <a:rPr lang="fr-FR" smtClean="0"/>
              <a:pPr/>
              <a:t>15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49629187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4742A2-A700-4112-A494-09AD92282681}" type="slidenum">
              <a:rPr lang="fr-FR" smtClean="0"/>
              <a:pPr/>
              <a:t>16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20727846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4742A2-A700-4112-A494-09AD92282681}" type="slidenum">
              <a:rPr lang="fr-FR" smtClean="0"/>
              <a:pPr/>
              <a:t>17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37943210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4742A2-A700-4112-A494-09AD92282681}" type="slidenum">
              <a:rPr lang="fr-FR" smtClean="0"/>
              <a:pPr/>
              <a:t>18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65672824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 b="1" i="1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4742A2-A700-4112-A494-09AD92282681}" type="slidenum">
              <a:rPr lang="fr-FR" smtClean="0"/>
              <a:pPr/>
              <a:t>19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22348484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 b="1" i="1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4742A2-A700-4112-A494-09AD92282681}" type="slidenum">
              <a:rPr lang="fr-FR" smtClean="0">
                <a:solidFill>
                  <a:prstClr val="black"/>
                </a:solidFill>
              </a:rPr>
              <a:pPr/>
              <a:t>20</a:t>
            </a:fld>
            <a:endParaRPr lang="fr-FR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8226695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 b="1" i="1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4742A2-A700-4112-A494-09AD92282681}" type="slidenum">
              <a:rPr lang="fr-FR" smtClean="0"/>
              <a:pPr/>
              <a:t>21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66031437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 b="1" i="1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4742A2-A700-4112-A494-09AD92282681}" type="slidenum">
              <a:rPr lang="fr-FR" smtClean="0"/>
              <a:pPr/>
              <a:t>22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80635905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 b="1" i="1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4742A2-A700-4112-A494-09AD92282681}" type="slidenum">
              <a:rPr lang="fr-FR" smtClean="0"/>
              <a:pPr/>
              <a:t>23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73433446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4742A2-A700-4112-A494-09AD92282681}" type="slidenum">
              <a:rPr lang="fr-FR" smtClean="0"/>
              <a:pPr/>
              <a:t>24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025895915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4742A2-A700-4112-A494-09AD92282681}" type="slidenum">
              <a:rPr lang="fr-FR" smtClean="0"/>
              <a:pPr/>
              <a:t>25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242503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Cliquez pour modifier le style des sous-titres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94D896-E50C-4C97-B251-19233033E60A}" type="datetime1">
              <a:rPr lang="fr-FR" smtClean="0"/>
              <a:t>17/04/2023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‹#›</a:t>
            </a:fld>
            <a:endParaRPr lang="fr-FR"/>
          </a:p>
        </p:txBody>
      </p:sp>
    </p:spTree>
  </p:cSld>
  <p:clrMapOvr>
    <a:masterClrMapping/>
  </p:clrMapOvr>
  <p:transition>
    <p:dissolv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0CC82E-2CED-436B-96B5-4D59CECA6102}" type="datetime1">
              <a:rPr lang="fr-FR" smtClean="0"/>
              <a:t>17/04/2023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‹#›</a:t>
            </a:fld>
            <a:endParaRPr lang="fr-FR"/>
          </a:p>
        </p:txBody>
      </p:sp>
    </p:spTree>
  </p:cSld>
  <p:clrMapOvr>
    <a:masterClrMapping/>
  </p:clrMapOvr>
  <p:transition>
    <p:dissolv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9E94B7-AF58-40B7-8A01-63DEC503BFFE}" type="datetime1">
              <a:rPr lang="fr-FR" smtClean="0"/>
              <a:t>17/04/2023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‹#›</a:t>
            </a:fld>
            <a:endParaRPr lang="fr-FR"/>
          </a:p>
        </p:txBody>
      </p:sp>
    </p:spTree>
  </p:cSld>
  <p:clrMapOvr>
    <a:masterClrMapping/>
  </p:clrMapOvr>
  <p:transition>
    <p:dissolv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183F6B-C6C1-43AA-AD28-205EAD374A31}" type="datetime1">
              <a:rPr lang="fr-FR" smtClean="0"/>
              <a:t>17/04/2023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‹#›</a:t>
            </a:fld>
            <a:endParaRPr lang="fr-FR"/>
          </a:p>
        </p:txBody>
      </p:sp>
    </p:spTree>
  </p:cSld>
  <p:clrMapOvr>
    <a:masterClrMapping/>
  </p:clrMapOvr>
  <p:transition>
    <p:dissolv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35FB72-C6F2-44E4-B530-9DCA96E3AB32}" type="datetime1">
              <a:rPr lang="fr-FR" smtClean="0"/>
              <a:t>17/04/2023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‹#›</a:t>
            </a:fld>
            <a:endParaRPr lang="fr-FR"/>
          </a:p>
        </p:txBody>
      </p:sp>
    </p:spTree>
  </p:cSld>
  <p:clrMapOvr>
    <a:masterClrMapping/>
  </p:clrMapOvr>
  <p:transition>
    <p:dissolv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3EC95B-3EB2-4E78-AAAE-1B887D17A4BF}" type="datetime1">
              <a:rPr lang="fr-FR" smtClean="0"/>
              <a:t>17/04/2023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‹#›</a:t>
            </a:fld>
            <a:endParaRPr lang="fr-FR"/>
          </a:p>
        </p:txBody>
      </p:sp>
    </p:spTree>
  </p:cSld>
  <p:clrMapOvr>
    <a:masterClrMapping/>
  </p:clrMapOvr>
  <p:transition>
    <p:dissolv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923E92-28E7-48A8-B2AC-C9FA592DDDBD}" type="datetime1">
              <a:rPr lang="fr-FR" smtClean="0"/>
              <a:t>17/04/2023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‹#›</a:t>
            </a:fld>
            <a:endParaRPr lang="fr-FR"/>
          </a:p>
        </p:txBody>
      </p:sp>
    </p:spTree>
  </p:cSld>
  <p:clrMapOvr>
    <a:masterClrMapping/>
  </p:clrMapOvr>
  <p:transition>
    <p:dissolv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8B2B34-0509-4D74-8E7E-347437480B7F}" type="datetime1">
              <a:rPr lang="fr-FR" smtClean="0"/>
              <a:t>17/04/2023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‹#›</a:t>
            </a:fld>
            <a:endParaRPr lang="fr-FR"/>
          </a:p>
        </p:txBody>
      </p:sp>
    </p:spTree>
  </p:cSld>
  <p:clrMapOvr>
    <a:masterClrMapping/>
  </p:clrMapOvr>
  <p:transition>
    <p:dissolv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A0D698-CBF2-42B0-B7E6-41FF22D965CD}" type="datetime1">
              <a:rPr lang="fr-FR" smtClean="0"/>
              <a:t>17/04/2023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‹#›</a:t>
            </a:fld>
            <a:endParaRPr lang="fr-FR"/>
          </a:p>
        </p:txBody>
      </p:sp>
    </p:spTree>
  </p:cSld>
  <p:clrMapOvr>
    <a:masterClrMapping/>
  </p:clrMapOvr>
  <p:transition>
    <p:dissolv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A94E7B-AAD5-48D6-B163-E6D7834F1099}" type="datetime1">
              <a:rPr lang="fr-FR" smtClean="0"/>
              <a:t>17/04/2023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‹#›</a:t>
            </a:fld>
            <a:endParaRPr lang="fr-FR"/>
          </a:p>
        </p:txBody>
      </p:sp>
    </p:spTree>
  </p:cSld>
  <p:clrMapOvr>
    <a:masterClrMapping/>
  </p:clrMapOvr>
  <p:transition>
    <p:dissolv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7D5E5B-BB39-4E1C-8B5A-D91C2D175DF9}" type="datetime1">
              <a:rPr lang="fr-FR" smtClean="0"/>
              <a:t>17/04/2023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‹#›</a:t>
            </a:fld>
            <a:endParaRPr lang="fr-FR"/>
          </a:p>
        </p:txBody>
      </p:sp>
    </p:spTree>
  </p:cSld>
  <p:clrMapOvr>
    <a:masterClrMapping/>
  </p:clrMapOvr>
  <p:transition>
    <p:dissolv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alphaModFix amt="16000"/>
            <a:lum/>
          </a:blip>
          <a:srcRect/>
          <a:stretch>
            <a:fillRect l="-7000" r="-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9D46D0-C49D-4EEE-9D8A-EC32CF745708}" type="datetime1">
              <a:rPr lang="fr-FR" smtClean="0"/>
              <a:t>17/04/2023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E9056B-6A30-4F99-BDE9-C450E66AE125}" type="slidenum">
              <a:rPr lang="fr-FR" smtClean="0"/>
              <a:pPr/>
              <a:t>‹#›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>
    <p:dissolve/>
  </p:transition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 b="1" i="1" dirty="0">
                <a:latin typeface="Times New Roman" pitchFamily="18" charset="0"/>
                <a:cs typeface="Times New Roman" pitchFamily="18" charset="0"/>
              </a:rPr>
              <a:t>		</a:t>
            </a:r>
            <a:endParaRPr lang="en-US" b="1" i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57200" y="1396342"/>
            <a:ext cx="8229600" cy="4065315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  <a:p>
            <a:pPr marL="0" indent="0" algn="ctr">
              <a:buNone/>
            </a:pPr>
            <a:r>
              <a:rPr lang="en-US" sz="8000" b="1" dirty="0" err="1">
                <a:latin typeface="Times New Roman" pitchFamily="18" charset="0"/>
                <a:cs typeface="Times New Roman" pitchFamily="18" charset="0"/>
              </a:rPr>
              <a:t>Procédures</a:t>
            </a:r>
            <a:r>
              <a:rPr lang="en-US" sz="8000" b="1" dirty="0">
                <a:latin typeface="Times New Roman" pitchFamily="18" charset="0"/>
                <a:cs typeface="Times New Roman" pitchFamily="18" charset="0"/>
              </a:rPr>
              <a:t> Dispo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1</a:t>
            </a:fld>
            <a:endParaRPr lang="fr-FR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F072402C-743F-4E6E-83B3-B91CA5F3A829}"/>
              </a:ext>
            </a:extLst>
          </p:cNvPr>
          <p:cNvSpPr txBox="1"/>
          <p:nvPr/>
        </p:nvSpPr>
        <p:spPr>
          <a:xfrm>
            <a:off x="457200" y="5987018"/>
            <a:ext cx="31683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BE" dirty="0"/>
              <a:t>FLT – Version 30.03.2022</a:t>
            </a:r>
          </a:p>
        </p:txBody>
      </p:sp>
    </p:spTree>
    <p:extLst>
      <p:ext uri="{BB962C8B-B14F-4D97-AF65-F5344CB8AC3E}">
        <p14:creationId xmlns:p14="http://schemas.microsoft.com/office/powerpoint/2010/main" val="4285251041"/>
      </p:ext>
    </p:extLst>
  </p:cSld>
  <p:clrMapOvr>
    <a:masterClrMapping/>
  </p:clrMapOvr>
  <p:transition>
    <p:dissolv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re 10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BE" b="1" dirty="0">
                <a:solidFill>
                  <a:srgbClr val="C00000"/>
                </a:solidFill>
              </a:rPr>
              <a:t>TABLE DES MATIERES</a:t>
            </a:r>
            <a:endParaRPr lang="fr-BE" dirty="0"/>
          </a:p>
        </p:txBody>
      </p:sp>
      <p:sp>
        <p:nvSpPr>
          <p:cNvPr id="12" name="Espace réservé du contenu 11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361950" indent="-361950">
              <a:buAutoNum type="arabicPeriod"/>
            </a:pPr>
            <a:r>
              <a:rPr lang="en-US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Disponibilité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active: Principe general					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pg. 3 </a:t>
            </a:r>
          </a:p>
          <a:p>
            <a:pPr marL="361950" indent="-361950">
              <a:buAutoNum type="arabicPeriod"/>
            </a:pPr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61950" indent="-361950">
              <a:buAutoNum type="arabicPeriod"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Public </a:t>
            </a:r>
            <a:r>
              <a:rPr lang="en-US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cible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BE" sz="1600" b="1" dirty="0">
                <a:latin typeface="Times New Roman" pitchFamily="18" charset="0"/>
                <a:cs typeface="Times New Roman" pitchFamily="18" charset="0"/>
              </a:rPr>
              <a:t>							</a:t>
            </a:r>
            <a:r>
              <a:rPr lang="fr-BE" sz="1400" dirty="0" err="1">
                <a:latin typeface="Times New Roman" pitchFamily="18" charset="0"/>
                <a:cs typeface="Times New Roman" pitchFamily="18" charset="0"/>
              </a:rPr>
              <a:t>pg</a:t>
            </a:r>
            <a:r>
              <a:rPr lang="fr-BE" sz="1400" dirty="0">
                <a:latin typeface="Times New Roman" pitchFamily="18" charset="0"/>
                <a:cs typeface="Times New Roman" pitchFamily="18" charset="0"/>
              </a:rPr>
              <a:t>. 4</a:t>
            </a:r>
          </a:p>
          <a:p>
            <a:pPr marL="361950" indent="-361950">
              <a:buAutoNum type="arabicPeriod"/>
            </a:pPr>
            <a:endParaRPr lang="fr-BE" sz="1600" b="1" dirty="0">
              <a:latin typeface="Times New Roman" pitchFamily="18" charset="0"/>
              <a:cs typeface="Times New Roman" pitchFamily="18" charset="0"/>
            </a:endParaRPr>
          </a:p>
          <a:p>
            <a:pPr marL="361950" indent="-361950">
              <a:buAutoNum type="arabicPeriod"/>
            </a:pPr>
            <a:r>
              <a:rPr lang="fr-BE" sz="1600" b="1" dirty="0">
                <a:latin typeface="Times New Roman" pitchFamily="18" charset="0"/>
                <a:cs typeface="Times New Roman" pitchFamily="18" charset="0"/>
              </a:rPr>
              <a:t>Procédure: Généralités						</a:t>
            </a:r>
            <a:r>
              <a:rPr lang="fr-BE" sz="1400" dirty="0" err="1">
                <a:latin typeface="Times New Roman" pitchFamily="18" charset="0"/>
                <a:cs typeface="Times New Roman" pitchFamily="18" charset="0"/>
              </a:rPr>
              <a:t>pg</a:t>
            </a:r>
            <a:r>
              <a:rPr lang="fr-BE" sz="1400" dirty="0">
                <a:latin typeface="Times New Roman" pitchFamily="18" charset="0"/>
                <a:cs typeface="Times New Roman" pitchFamily="18" charset="0"/>
              </a:rPr>
              <a:t>. 6</a:t>
            </a:r>
          </a:p>
          <a:p>
            <a:pPr marL="361950" indent="0">
              <a:buNone/>
            </a:pPr>
            <a:r>
              <a:rPr lang="fr-BE" sz="1400" dirty="0">
                <a:latin typeface="Times New Roman" pitchFamily="18" charset="0"/>
                <a:cs typeface="Times New Roman" pitchFamily="18" charset="0"/>
              </a:rPr>
              <a:t>3.1. Motifs de suspension			  			</a:t>
            </a:r>
            <a:r>
              <a:rPr lang="fr-BE" sz="1400" dirty="0" err="1">
                <a:latin typeface="Times New Roman" pitchFamily="18" charset="0"/>
                <a:cs typeface="Times New Roman" pitchFamily="18" charset="0"/>
              </a:rPr>
              <a:t>pg</a:t>
            </a:r>
            <a:r>
              <a:rPr lang="fr-BE" sz="1400" dirty="0">
                <a:latin typeface="Times New Roman" pitchFamily="18" charset="0"/>
                <a:cs typeface="Times New Roman" pitchFamily="18" charset="0"/>
              </a:rPr>
              <a:t>. 7</a:t>
            </a:r>
          </a:p>
          <a:p>
            <a:pPr marL="361950" indent="0">
              <a:buNone/>
            </a:pPr>
            <a:r>
              <a:rPr lang="fr-BE" sz="1400" dirty="0">
                <a:latin typeface="Times New Roman" pitchFamily="18" charset="0"/>
                <a:cs typeface="Times New Roman" pitchFamily="18" charset="0"/>
              </a:rPr>
              <a:t>3.2. Convocation et absences						</a:t>
            </a:r>
            <a:r>
              <a:rPr lang="fr-BE" sz="1400" dirty="0" err="1">
                <a:latin typeface="Times New Roman" pitchFamily="18" charset="0"/>
                <a:cs typeface="Times New Roman" pitchFamily="18" charset="0"/>
              </a:rPr>
              <a:t>pg</a:t>
            </a:r>
            <a:r>
              <a:rPr lang="fr-BE" sz="1400" dirty="0">
                <a:latin typeface="Times New Roman" pitchFamily="18" charset="0"/>
                <a:cs typeface="Times New Roman" pitchFamily="18" charset="0"/>
              </a:rPr>
              <a:t>. 8</a:t>
            </a:r>
          </a:p>
          <a:p>
            <a:pPr marL="0" indent="0">
              <a:buNone/>
            </a:pPr>
            <a:endParaRPr lang="fr-BE" sz="1600" b="1" dirty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+mj-lt"/>
              <a:buAutoNum type="arabicPeriod" startAt="4"/>
            </a:pPr>
            <a:r>
              <a:rPr lang="fr-BE" sz="1600" b="1" dirty="0">
                <a:latin typeface="Times New Roman" pitchFamily="18" charset="0"/>
                <a:cs typeface="Times New Roman" pitchFamily="18" charset="0"/>
              </a:rPr>
              <a:t>Entretiens d’évaluation						</a:t>
            </a:r>
            <a:r>
              <a:rPr lang="fr-BE" sz="1400" dirty="0" err="1">
                <a:latin typeface="Times New Roman" pitchFamily="18" charset="0"/>
                <a:cs typeface="Times New Roman" pitchFamily="18" charset="0"/>
              </a:rPr>
              <a:t>pg</a:t>
            </a:r>
            <a:r>
              <a:rPr lang="fr-BE" sz="1400" dirty="0">
                <a:latin typeface="Times New Roman" pitchFamily="18" charset="0"/>
                <a:cs typeface="Times New Roman" pitchFamily="18" charset="0"/>
              </a:rPr>
              <a:t>. 10</a:t>
            </a:r>
            <a:endParaRPr lang="fr-BE" sz="1600" dirty="0">
              <a:latin typeface="Times New Roman" pitchFamily="18" charset="0"/>
              <a:cs typeface="Times New Roman" pitchFamily="18" charset="0"/>
            </a:endParaRPr>
          </a:p>
          <a:p>
            <a:pPr marL="361950" indent="0">
              <a:buNone/>
            </a:pPr>
            <a:r>
              <a:rPr lang="fr-BE" sz="1400" dirty="0">
                <a:latin typeface="Times New Roman" pitchFamily="18" charset="0"/>
                <a:cs typeface="Times New Roman" pitchFamily="18" charset="0"/>
              </a:rPr>
              <a:t>4.1. Evaluations: Procédure Forem (Dispo C) 	 			  	</a:t>
            </a:r>
            <a:r>
              <a:rPr lang="fr-BE" sz="1400" dirty="0" err="1">
                <a:latin typeface="Times New Roman" pitchFamily="18" charset="0"/>
                <a:cs typeface="Times New Roman" pitchFamily="18" charset="0"/>
              </a:rPr>
              <a:t>pg</a:t>
            </a:r>
            <a:r>
              <a:rPr lang="fr-BE" sz="1400" dirty="0">
                <a:latin typeface="Times New Roman" pitchFamily="18" charset="0"/>
                <a:cs typeface="Times New Roman" pitchFamily="18" charset="0"/>
              </a:rPr>
              <a:t>. 12</a:t>
            </a:r>
          </a:p>
          <a:p>
            <a:pPr marL="361950" indent="0">
              <a:buNone/>
            </a:pPr>
            <a:r>
              <a:rPr lang="fr-BE" sz="1400" dirty="0">
                <a:latin typeface="Times New Roman" pitchFamily="18" charset="0"/>
                <a:cs typeface="Times New Roman" pitchFamily="18" charset="0"/>
              </a:rPr>
              <a:t>4.2. Evaluations: Procédure ADG						</a:t>
            </a:r>
            <a:r>
              <a:rPr lang="fr-BE" sz="1400" dirty="0" err="1">
                <a:latin typeface="Times New Roman" pitchFamily="18" charset="0"/>
                <a:cs typeface="Times New Roman" pitchFamily="18" charset="0"/>
              </a:rPr>
              <a:t>pg</a:t>
            </a:r>
            <a:r>
              <a:rPr lang="fr-BE" sz="1400" dirty="0">
                <a:latin typeface="Times New Roman" pitchFamily="18" charset="0"/>
                <a:cs typeface="Times New Roman" pitchFamily="18" charset="0"/>
              </a:rPr>
              <a:t>. 14</a:t>
            </a:r>
          </a:p>
          <a:p>
            <a:pPr marL="361950" indent="0">
              <a:buNone/>
            </a:pPr>
            <a:r>
              <a:rPr lang="fr-BE" sz="1400" dirty="0">
                <a:latin typeface="Times New Roman" pitchFamily="18" charset="0"/>
                <a:cs typeface="Times New Roman" pitchFamily="18" charset="0"/>
              </a:rPr>
              <a:t>4.3. Evaluations: Procédure </a:t>
            </a:r>
            <a:r>
              <a:rPr lang="fr-BE" sz="1400" dirty="0" err="1">
                <a:latin typeface="Times New Roman" pitchFamily="18" charset="0"/>
                <a:cs typeface="Times New Roman" pitchFamily="18" charset="0"/>
              </a:rPr>
              <a:t>Actiris</a:t>
            </a:r>
            <a:r>
              <a:rPr lang="fr-BE" sz="1400" dirty="0">
                <a:latin typeface="Times New Roman" pitchFamily="18" charset="0"/>
                <a:cs typeface="Times New Roman" pitchFamily="18" charset="0"/>
              </a:rPr>
              <a:t> (Dispo G)					</a:t>
            </a:r>
            <a:r>
              <a:rPr lang="fr-BE" sz="1400" dirty="0" err="1">
                <a:latin typeface="Times New Roman" pitchFamily="18" charset="0"/>
                <a:cs typeface="Times New Roman" pitchFamily="18" charset="0"/>
              </a:rPr>
              <a:t>pg</a:t>
            </a:r>
            <a:r>
              <a:rPr lang="fr-BE" sz="1400" dirty="0">
                <a:latin typeface="Times New Roman" pitchFamily="18" charset="0"/>
                <a:cs typeface="Times New Roman" pitchFamily="18" charset="0"/>
              </a:rPr>
              <a:t>. 15</a:t>
            </a:r>
            <a:endParaRPr lang="fr-BE" sz="1400" b="1" dirty="0">
              <a:latin typeface="Times New Roman" pitchFamily="18" charset="0"/>
              <a:cs typeface="Times New Roman" pitchFamily="18" charset="0"/>
            </a:endParaRPr>
          </a:p>
          <a:p>
            <a:pPr marL="361950" indent="0">
              <a:buNone/>
            </a:pPr>
            <a:r>
              <a:rPr lang="fr-BE" sz="1400" dirty="0">
                <a:latin typeface="Times New Roman" pitchFamily="18" charset="0"/>
                <a:cs typeface="Times New Roman" pitchFamily="18" charset="0"/>
              </a:rPr>
              <a:t>4.4. Evaluations: 1er entretien						</a:t>
            </a:r>
            <a:r>
              <a:rPr lang="fr-BE" sz="1400" dirty="0" err="1">
                <a:latin typeface="Times New Roman" pitchFamily="18" charset="0"/>
                <a:cs typeface="Times New Roman" pitchFamily="18" charset="0"/>
              </a:rPr>
              <a:t>pg</a:t>
            </a:r>
            <a:r>
              <a:rPr lang="fr-BE" sz="1400" dirty="0">
                <a:latin typeface="Times New Roman" pitchFamily="18" charset="0"/>
                <a:cs typeface="Times New Roman" pitchFamily="18" charset="0"/>
              </a:rPr>
              <a:t>. 16</a:t>
            </a:r>
          </a:p>
          <a:p>
            <a:pPr marL="361950" indent="0">
              <a:buNone/>
            </a:pPr>
            <a:r>
              <a:rPr lang="fr-BE" sz="1400" dirty="0">
                <a:latin typeface="Times New Roman" pitchFamily="18" charset="0"/>
                <a:cs typeface="Times New Roman" pitchFamily="18" charset="0"/>
              </a:rPr>
              <a:t>4.5. Evaluations: 2</a:t>
            </a:r>
            <a:r>
              <a:rPr lang="fr-BE" sz="1400" baseline="30000" dirty="0">
                <a:latin typeface="Times New Roman" pitchFamily="18" charset="0"/>
                <a:cs typeface="Times New Roman" pitchFamily="18" charset="0"/>
              </a:rPr>
              <a:t>ème </a:t>
            </a:r>
            <a:r>
              <a:rPr lang="fr-BE" sz="1400" dirty="0">
                <a:latin typeface="Times New Roman" pitchFamily="18" charset="0"/>
                <a:cs typeface="Times New Roman" pitchFamily="18" charset="0"/>
              </a:rPr>
              <a:t>entretien						</a:t>
            </a:r>
            <a:r>
              <a:rPr lang="fr-BE" sz="1400" dirty="0" err="1">
                <a:latin typeface="Times New Roman" pitchFamily="18" charset="0"/>
                <a:cs typeface="Times New Roman" pitchFamily="18" charset="0"/>
              </a:rPr>
              <a:t>pg</a:t>
            </a:r>
            <a:r>
              <a:rPr lang="fr-BE" sz="1400" dirty="0">
                <a:latin typeface="Times New Roman" pitchFamily="18" charset="0"/>
                <a:cs typeface="Times New Roman" pitchFamily="18" charset="0"/>
              </a:rPr>
              <a:t>. 17</a:t>
            </a:r>
          </a:p>
          <a:p>
            <a:pPr marL="361950" indent="0">
              <a:buNone/>
            </a:pPr>
            <a:r>
              <a:rPr lang="fr-BE" sz="1400" dirty="0">
                <a:latin typeface="Times New Roman" pitchFamily="18" charset="0"/>
                <a:cs typeface="Times New Roman" pitchFamily="18" charset="0"/>
              </a:rPr>
              <a:t>4.6. Evaluations: 3</a:t>
            </a:r>
            <a:r>
              <a:rPr lang="fr-BE" sz="1400" baseline="30000" dirty="0">
                <a:latin typeface="Times New Roman" pitchFamily="18" charset="0"/>
                <a:cs typeface="Times New Roman" pitchFamily="18" charset="0"/>
              </a:rPr>
              <a:t>ème </a:t>
            </a:r>
            <a:r>
              <a:rPr lang="fr-BE" sz="1400" dirty="0">
                <a:latin typeface="Times New Roman" pitchFamily="18" charset="0"/>
                <a:cs typeface="Times New Roman" pitchFamily="18" charset="0"/>
              </a:rPr>
              <a:t>entretien						</a:t>
            </a:r>
            <a:r>
              <a:rPr lang="fr-BE" sz="1400" dirty="0" err="1">
                <a:latin typeface="Times New Roman" pitchFamily="18" charset="0"/>
                <a:cs typeface="Times New Roman" pitchFamily="18" charset="0"/>
              </a:rPr>
              <a:t>pg</a:t>
            </a:r>
            <a:r>
              <a:rPr lang="fr-BE" sz="1400" dirty="0">
                <a:latin typeface="Times New Roman" pitchFamily="18" charset="0"/>
                <a:cs typeface="Times New Roman" pitchFamily="18" charset="0"/>
              </a:rPr>
              <a:t>. 18</a:t>
            </a:r>
          </a:p>
          <a:p>
            <a:pPr marL="361950" indent="0">
              <a:buNone/>
            </a:pPr>
            <a:r>
              <a:rPr lang="fr-BE" sz="1400" dirty="0">
                <a:latin typeface="Times New Roman" pitchFamily="18" charset="0"/>
                <a:cs typeface="Times New Roman" pitchFamily="18" charset="0"/>
              </a:rPr>
              <a:t>4.7. Contrôle de la disponibilité: Résumé					</a:t>
            </a:r>
            <a:r>
              <a:rPr lang="fr-BE" sz="1400" dirty="0" err="1">
                <a:latin typeface="Times New Roman" pitchFamily="18" charset="0"/>
                <a:cs typeface="Times New Roman" pitchFamily="18" charset="0"/>
              </a:rPr>
              <a:t>pg</a:t>
            </a:r>
            <a:r>
              <a:rPr lang="fr-BE" sz="1400" dirty="0">
                <a:latin typeface="Times New Roman" pitchFamily="18" charset="0"/>
                <a:cs typeface="Times New Roman" pitchFamily="18" charset="0"/>
              </a:rPr>
              <a:t>. 19</a:t>
            </a:r>
          </a:p>
          <a:p>
            <a:pPr marL="368300">
              <a:buFont typeface="+mj-lt"/>
              <a:buAutoNum type="arabicPeriod"/>
            </a:pPr>
            <a:endParaRPr lang="fr-BE" sz="1600" b="1" dirty="0">
              <a:latin typeface="Times New Roman" pitchFamily="18" charset="0"/>
              <a:cs typeface="Times New Roman" pitchFamily="18" charset="0"/>
            </a:endParaRPr>
          </a:p>
          <a:p>
            <a:pPr marL="368300">
              <a:buFont typeface="+mj-lt"/>
              <a:buAutoNum type="arabicPeriod" startAt="5"/>
            </a:pPr>
            <a:r>
              <a:rPr lang="fr-BE" sz="1600" b="1" dirty="0">
                <a:latin typeface="Times New Roman" pitchFamily="18" charset="0"/>
                <a:cs typeface="Times New Roman" pitchFamily="18" charset="0"/>
              </a:rPr>
              <a:t> Sanctions: Détails et suivi						</a:t>
            </a:r>
            <a:r>
              <a:rPr lang="fr-BE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pg</a:t>
            </a:r>
            <a:r>
              <a:rPr lang="fr-BE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22</a:t>
            </a:r>
            <a:endParaRPr lang="fr-BE" sz="1600" u="sng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068848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r"/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</a:t>
            </a:r>
            <a:r>
              <a:rPr lang="en-US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Disponibilité</a:t>
            </a:r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active: Principe general 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fr-FR" sz="2800" b="1" u="sng" dirty="0">
                <a:ea typeface="Times New Roman" panose="02020603050405020304" pitchFamily="18" charset="0"/>
                <a:cs typeface="Calibri" panose="020F0502020204030204" pitchFamily="34" charset="0"/>
              </a:rPr>
              <a:t>AR 58</a:t>
            </a:r>
            <a:r>
              <a:rPr lang="fr-FR" sz="2800" b="1" dirty="0">
                <a:ea typeface="Times New Roman" panose="02020603050405020304" pitchFamily="18" charset="0"/>
                <a:cs typeface="Calibri" panose="020F0502020204030204" pitchFamily="34" charset="0"/>
              </a:rPr>
              <a:t> : </a:t>
            </a:r>
            <a:r>
              <a:rPr lang="fr-FR" sz="2800" dirty="0">
                <a:ea typeface="Times New Roman" panose="02020603050405020304" pitchFamily="18" charset="0"/>
                <a:cs typeface="Calibri" panose="020F0502020204030204" pitchFamily="34" charset="0"/>
              </a:rPr>
              <a:t>« </a:t>
            </a:r>
            <a:r>
              <a:rPr lang="fr-FR" sz="2800" i="1" dirty="0">
                <a:ea typeface="Times New Roman" panose="02020603050405020304" pitchFamily="18" charset="0"/>
                <a:cs typeface="Calibri" panose="020F0502020204030204" pitchFamily="34" charset="0"/>
              </a:rPr>
              <a:t>Pour bénéficier des allocations, le chômeur complet </a:t>
            </a:r>
            <a:r>
              <a:rPr lang="fr-FR" sz="2800" b="1" i="1" dirty="0">
                <a:solidFill>
                  <a:srgbClr val="C00000"/>
                </a:solidFill>
                <a:ea typeface="Times New Roman" panose="02020603050405020304" pitchFamily="18" charset="0"/>
                <a:cs typeface="Calibri" panose="020F0502020204030204" pitchFamily="34" charset="0"/>
              </a:rPr>
              <a:t>doit rechercher activement un emploi </a:t>
            </a:r>
            <a:r>
              <a:rPr lang="fr-FR" sz="2800" i="1" dirty="0">
                <a:ea typeface="Times New Roman" panose="02020603050405020304" pitchFamily="18" charset="0"/>
                <a:cs typeface="Calibri" panose="020F0502020204030204" pitchFamily="34" charset="0"/>
              </a:rPr>
              <a:t>et doit être et rester inscrit comme demandeur d'emploi »</a:t>
            </a:r>
          </a:p>
          <a:p>
            <a:pPr marL="0" indent="0">
              <a:buNone/>
            </a:pPr>
            <a:endParaRPr lang="fr-FR" sz="2400" b="1" i="1" dirty="0"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fr-FR" sz="2400" b="1" dirty="0">
                <a:cs typeface="Calibri" panose="020F0502020204030204" pitchFamily="34" charset="0"/>
              </a:rPr>
              <a:t>Rechercher activement un emploi implique:</a:t>
            </a:r>
          </a:p>
          <a:p>
            <a:pPr marL="266700" lvl="0" indent="0">
              <a:spcBef>
                <a:spcPts val="600"/>
              </a:spcBef>
              <a:buNone/>
            </a:pPr>
            <a:r>
              <a:rPr lang="fr-FR" sz="2400" b="1" dirty="0">
                <a:solidFill>
                  <a:srgbClr val="C00000"/>
                </a:solidFill>
                <a:cs typeface="Calibri" panose="020F0502020204030204" pitchFamily="34" charset="0"/>
              </a:rPr>
              <a:t>1° </a:t>
            </a:r>
            <a:r>
              <a:rPr lang="fr-FR" sz="2400" b="1" dirty="0">
                <a:solidFill>
                  <a:srgbClr val="C00000"/>
                </a:solidFill>
                <a:cs typeface="Arial" panose="020B0604020202020204" pitchFamily="34" charset="0"/>
              </a:rPr>
              <a:t>C</a:t>
            </a:r>
            <a:r>
              <a:rPr lang="fr-FR" sz="2400" b="1" dirty="0">
                <a:solidFill>
                  <a:srgbClr val="C00000"/>
                </a:solidFill>
                <a:ea typeface="Calibri" panose="020F0502020204030204" pitchFamily="34" charset="0"/>
                <a:cs typeface="Arial" panose="020B0604020202020204" pitchFamily="34" charset="0"/>
              </a:rPr>
              <a:t>ollaborer activement</a:t>
            </a:r>
            <a:r>
              <a:rPr lang="fr-FR" sz="2400" dirty="0"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fr-FR" sz="2400" b="1" dirty="0">
                <a:solidFill>
                  <a:srgbClr val="C00000"/>
                </a:solidFill>
                <a:ea typeface="Calibri" panose="020F0502020204030204" pitchFamily="34" charset="0"/>
                <a:cs typeface="Arial" panose="020B0604020202020204" pitchFamily="34" charset="0"/>
              </a:rPr>
              <a:t>aux actions</a:t>
            </a:r>
            <a:r>
              <a:rPr lang="fr-FR" sz="2400" dirty="0">
                <a:ea typeface="Calibri" panose="020F0502020204030204" pitchFamily="34" charset="0"/>
                <a:cs typeface="Arial" panose="020B0604020202020204" pitchFamily="34" charset="0"/>
              </a:rPr>
              <a:t> d’accompagnement, de formation, d’expérience professionnelle ou d’insertion qui peuvent lui être proposées par le SRE</a:t>
            </a:r>
          </a:p>
          <a:p>
            <a:pPr marL="266700" lvl="0" indent="0">
              <a:spcBef>
                <a:spcPts val="600"/>
              </a:spcBef>
              <a:buNone/>
            </a:pPr>
            <a:endParaRPr lang="fr-BE" sz="400" dirty="0"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266700" indent="0">
              <a:buNone/>
            </a:pPr>
            <a:r>
              <a:rPr lang="fr-FR" sz="2400" b="1" dirty="0">
                <a:solidFill>
                  <a:srgbClr val="C00000"/>
                </a:solidFill>
                <a:cs typeface="Calibri" panose="020F0502020204030204" pitchFamily="34" charset="0"/>
              </a:rPr>
              <a:t>2°</a:t>
            </a:r>
            <a:r>
              <a:rPr lang="fr-FR" sz="2400" b="1" dirty="0">
                <a:cs typeface="Calibri" panose="020F0502020204030204" pitchFamily="34" charset="0"/>
              </a:rPr>
              <a:t> </a:t>
            </a:r>
            <a:r>
              <a:rPr lang="fr-FR" sz="2400" b="1" dirty="0">
                <a:solidFill>
                  <a:srgbClr val="C00000"/>
                </a:solidFill>
              </a:rPr>
              <a:t>C</a:t>
            </a:r>
            <a:r>
              <a:rPr lang="fr-FR" sz="2400" b="1" dirty="0">
                <a:solidFill>
                  <a:srgbClr val="C00000"/>
                </a:solidFill>
                <a:ea typeface="Times New Roman" panose="02020603050405020304" pitchFamily="18" charset="0"/>
              </a:rPr>
              <a:t>hercher lui-même activement un emploi</a:t>
            </a:r>
            <a:r>
              <a:rPr lang="fr-FR" sz="2400" dirty="0">
                <a:ea typeface="Times New Roman" panose="02020603050405020304" pitchFamily="18" charset="0"/>
              </a:rPr>
              <a:t> </a:t>
            </a:r>
            <a:r>
              <a:rPr lang="fr-BE" sz="2400" dirty="0">
                <a:solidFill>
                  <a:srgbClr val="000000"/>
                </a:solidFill>
                <a:ea typeface="Times New Roman" panose="02020603050405020304" pitchFamily="18" charset="0"/>
              </a:rPr>
              <a:t>par des </a:t>
            </a:r>
            <a:r>
              <a:rPr lang="fr-BE" sz="2400" b="1" u="sng" dirty="0">
                <a:solidFill>
                  <a:srgbClr val="000000"/>
                </a:solidFill>
                <a:ea typeface="Times New Roman" panose="02020603050405020304" pitchFamily="18" charset="0"/>
              </a:rPr>
              <a:t>démarches personnelles régulières et diversifiées</a:t>
            </a:r>
            <a:endParaRPr lang="fr-FR" sz="2400" b="1" u="sng" dirty="0">
              <a:cs typeface="Calibri" panose="020F0502020204030204" pitchFamily="34" charset="0"/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22223862"/>
      </p:ext>
    </p:extLst>
  </p:cSld>
  <p:clrMapOvr>
    <a:masterClrMapping/>
  </p:clrMapOvr>
  <p:transition>
    <p:dissolv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Public </a:t>
            </a:r>
            <a:r>
              <a:rPr lang="en-US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cible</a:t>
            </a:r>
            <a:endParaRPr lang="en-US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Est soumis au contrôle de la </a:t>
            </a:r>
            <a:r>
              <a:rPr lang="fr-FR" sz="28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disponibilité active  </a:t>
            </a: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 chômeur répondant simultanément aux </a:t>
            </a:r>
            <a:r>
              <a:rPr lang="fr-FR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conditions</a:t>
            </a: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suivantes: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Bénéficie d’AC ou AI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 ≥ 9 mois 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et pas dispensé d’inscription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Apte au travail</a:t>
            </a: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Ayant &lt; 60 ans</a:t>
            </a: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fr-FR" sz="30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 S’applique aussi au</a:t>
            </a:r>
            <a:r>
              <a:rPr lang="fr-FR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TTPMD avec AGR et &lt; ½ temps </a:t>
            </a:r>
            <a:r>
              <a:rPr lang="fr-FR" sz="3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pendant 12 mois</a:t>
            </a:r>
          </a:p>
          <a:p>
            <a:pPr marL="0" indent="0">
              <a:buNone/>
            </a:pPr>
            <a:endParaRPr lang="fr-FR" sz="1800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86578926"/>
      </p:ext>
    </p:extLst>
  </p:cSld>
  <p:clrMapOvr>
    <a:masterClrMapping/>
  </p:clrMapOvr>
  <p:transition>
    <p:dissolv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Public </a:t>
            </a:r>
            <a:r>
              <a:rPr lang="en-US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cible</a:t>
            </a:r>
            <a:endParaRPr lang="en-US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Procédure </a:t>
            </a:r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dispo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adaptée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au chômeur:  </a:t>
            </a:r>
          </a:p>
          <a:p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≥ 60 ans</a:t>
            </a:r>
          </a:p>
          <a:p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TTPMD avec AGR travaillant ≥ ½ temps</a:t>
            </a:r>
          </a:p>
          <a:p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TTPMD avec AGR travaillant &lt; ½ temps          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    procédure adaptée après 12 mois. </a:t>
            </a:r>
          </a:p>
          <a:p>
            <a:pPr marL="0" indent="0">
              <a:buNone/>
            </a:pP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Le demandeur d’emploi soumis à la disponibilité adaptée est </a:t>
            </a:r>
            <a:r>
              <a:rPr lang="fr-FR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dispensé d’une recherche active d’emploi</a:t>
            </a:r>
            <a:endParaRPr lang="fr-FR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endParaRPr lang="fr-FR" sz="1800" dirty="0"/>
          </a:p>
          <a:p>
            <a:pPr marL="0" indent="0">
              <a:buNone/>
            </a:pPr>
            <a:endParaRPr lang="fr-FR" sz="1800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99721463"/>
      </p:ext>
    </p:extLst>
  </p:cSld>
  <p:clrMapOvr>
    <a:masterClrMapping/>
  </p:clrMapOvr>
  <p:transition>
    <p:dissolv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r"/>
            <a:r>
              <a:rPr lang="fr-BE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Procédure: Généralités</a:t>
            </a:r>
            <a:endParaRPr lang="en-US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fr-FR" b="1" u="sng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Point de départ:</a:t>
            </a:r>
            <a:r>
              <a:rPr lang="fr-FR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0" hangingPunct="0"/>
            <a:r>
              <a:rPr lang="fr-BE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fr-BE" b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ère</a:t>
            </a:r>
            <a:r>
              <a:rPr lang="fr-BE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IDE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hangingPunct="0"/>
            <a:r>
              <a:rPr lang="fr-BE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Nouvelle IDE après une interruption </a:t>
            </a:r>
            <a:r>
              <a:rPr lang="fr-BE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 l’inscription </a:t>
            </a:r>
            <a:r>
              <a:rPr lang="fr-BE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≥ 3 mois</a:t>
            </a:r>
          </a:p>
          <a:p>
            <a:pPr marL="360363" lvl="0" indent="0" hangingPunct="0">
              <a:buNone/>
            </a:pPr>
            <a:r>
              <a:rPr lang="fr-BE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 Dans ce cas la procédure en cours est arrêtée et une </a:t>
            </a:r>
            <a:r>
              <a:rPr lang="fr-BE" b="1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nouvelle procédure recommence </a:t>
            </a:r>
            <a:endParaRPr lang="fr-BE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hangingPunct="0">
              <a:buNone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fr-FR" b="1" u="sng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Période évaluée:</a:t>
            </a:r>
            <a:r>
              <a:rPr lang="fr-FR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>
              <a:buNone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Débute le jour de l’IDE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24628218"/>
      </p:ext>
    </p:extLst>
  </p:cSld>
  <p:clrMapOvr>
    <a:masterClrMapping/>
  </p:clrMapOvr>
  <p:transition>
    <p:dissolv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fr-BE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3.1. Motifs de suspension</a:t>
            </a:r>
            <a:endParaRPr lang="en-US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57200" y="1628800"/>
            <a:ext cx="8229600" cy="4525963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fr-BE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La procédure peut être suspendue si :</a:t>
            </a:r>
          </a:p>
          <a:p>
            <a:r>
              <a:rPr lang="fr-BE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Dispenses 79ter §5, 90, 91 à 94bis, 96 &amp; 97</a:t>
            </a:r>
          </a:p>
          <a:p>
            <a:r>
              <a:rPr lang="fr-BE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Suivi d’un trajet spécifique d’accompagnement</a:t>
            </a:r>
          </a:p>
          <a:p>
            <a:r>
              <a:rPr lang="fr-BE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33% d’inaptitude et suivi d’un trajet adapté</a:t>
            </a:r>
          </a:p>
          <a:p>
            <a:r>
              <a:rPr lang="fr-BE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Demandeur d’emploi non mobilisable reconnu par le SRE</a:t>
            </a:r>
          </a:p>
          <a:p>
            <a:r>
              <a:rPr lang="fr-BE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Renonciation irrévocable ≥ 12 mois des AC</a:t>
            </a:r>
          </a:p>
          <a:p>
            <a:r>
              <a:rPr lang="fr-BE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Allocations provisoires</a:t>
            </a:r>
          </a:p>
          <a:p>
            <a:r>
              <a:rPr lang="fr-BE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Maladie</a:t>
            </a:r>
          </a:p>
          <a:p>
            <a:r>
              <a:rPr lang="fr-BE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Travailleuse enceinte 3 mois avant l’accouchement et 4 mois après</a:t>
            </a:r>
          </a:p>
          <a:p>
            <a:r>
              <a:rPr lang="fr-BE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C45E</a:t>
            </a:r>
          </a:p>
          <a:p>
            <a:pPr marL="0" indent="0">
              <a:buNone/>
            </a:pPr>
            <a:endParaRPr lang="fr-BE" dirty="0">
              <a:latin typeface="Times New Roman" panose="02020603050405020304" pitchFamily="18" charset="0"/>
              <a:cs typeface="Times New Roman" panose="02020603050405020304" pitchFamily="18" charset="0"/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fr-BE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Dans ce cas la procédure en cours est </a:t>
            </a:r>
            <a:r>
              <a:rPr lang="fr-BE" b="1" u="sng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suspendue</a:t>
            </a:r>
            <a:r>
              <a:rPr lang="fr-BE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(ou arrêtée si interruption IDE ≥ 3mois) mais les </a:t>
            </a:r>
            <a:r>
              <a:rPr lang="fr-BE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évaluations négatives antérieures continuent à produire leurs effets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33506154"/>
      </p:ext>
    </p:extLst>
  </p:cSld>
  <p:clrMapOvr>
    <a:masterClrMapping/>
  </p:clrMapOvr>
  <p:transition>
    <p:dissolv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r"/>
            <a:r>
              <a:rPr lang="fr-BE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3.2. Convocation et absences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fr-BE" sz="36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Convocation</a:t>
            </a:r>
            <a:r>
              <a:rPr lang="fr-BE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fr-BE" sz="31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fr-BE" sz="3100" b="1" baseline="30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ère</a:t>
            </a:r>
            <a:r>
              <a:rPr lang="fr-BE" sz="31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convocation</a:t>
            </a:r>
            <a:r>
              <a:rPr lang="fr-BE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pli simple </a:t>
            </a:r>
          </a:p>
          <a:p>
            <a:pPr marL="457200" lvl="1" indent="0">
              <a:buNone/>
            </a:pPr>
            <a:endParaRPr lang="fr-BE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Font typeface="Wingdings" panose="05000000000000000000" pitchFamily="2" charset="2"/>
              <a:buChar char="Ø"/>
            </a:pPr>
            <a:r>
              <a:rPr lang="fr-BE" sz="31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fr-BE" sz="3100" b="1" baseline="30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ème</a:t>
            </a:r>
            <a:r>
              <a:rPr lang="fr-BE" sz="31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convocation</a:t>
            </a:r>
            <a:r>
              <a:rPr lang="fr-BE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par pli recommandé si pas de présentation ou absence injustifiée. </a:t>
            </a:r>
          </a:p>
          <a:p>
            <a:pPr marL="457200" lvl="1" indent="0">
              <a:buNone/>
            </a:pPr>
            <a:endParaRPr lang="fr-BE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BE" sz="36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Absences</a:t>
            </a:r>
            <a:r>
              <a:rPr lang="fr-BE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fr-BE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Doivent être </a:t>
            </a:r>
            <a:r>
              <a:rPr lang="fr-BE" sz="31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justifiées: 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fr-BE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Dans les </a:t>
            </a:r>
            <a:r>
              <a:rPr lang="fr-BE" sz="26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 jours ouvrables </a:t>
            </a:r>
            <a:r>
              <a:rPr lang="fr-BE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(Forem)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fr-BE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Dans les </a:t>
            </a:r>
            <a:r>
              <a:rPr lang="fr-BE" sz="26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 jours calendriers </a:t>
            </a:r>
            <a:r>
              <a:rPr lang="fr-BE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fr-BE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Actiris</a:t>
            </a:r>
            <a:r>
              <a:rPr lang="fr-BE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ou ADG) </a:t>
            </a:r>
          </a:p>
          <a:p>
            <a:pPr marL="914400" lvl="2" indent="0">
              <a:buNone/>
            </a:pPr>
            <a:endParaRPr lang="fr-BE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Font typeface="Wingdings" panose="05000000000000000000" pitchFamily="2" charset="2"/>
              <a:buChar char="Ø"/>
            </a:pPr>
            <a:r>
              <a:rPr lang="fr-BE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Motif admis </a:t>
            </a:r>
            <a:r>
              <a:rPr lang="fr-BE" sz="31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 </a:t>
            </a:r>
            <a:r>
              <a:rPr lang="fr-BE" sz="31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nouvelle convocation par pli simple</a:t>
            </a:r>
          </a:p>
          <a:p>
            <a:pPr marL="457200" lvl="1" indent="0">
              <a:buNone/>
            </a:pPr>
            <a:endParaRPr lang="fr-BE" sz="13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Wingdings" panose="05000000000000000000" pitchFamily="2" charset="2"/>
            </a:endParaRPr>
          </a:p>
          <a:p>
            <a:pPr lvl="1">
              <a:buFont typeface="Wingdings" panose="05000000000000000000" pitchFamily="2" charset="2"/>
              <a:buChar char="Ø"/>
            </a:pPr>
            <a:r>
              <a:rPr lang="fr-BE" sz="31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Motif non admis ou pas de réaction à un pli recommandé: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fr-BE" sz="27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Assimilé à une évaluation négative </a:t>
            </a:r>
            <a:r>
              <a:rPr lang="fr-BE" sz="27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(</a:t>
            </a:r>
            <a:r>
              <a:rPr lang="fr-BE" sz="27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Actiris</a:t>
            </a:r>
            <a:r>
              <a:rPr lang="fr-BE" sz="27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ou ADG)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fr-BE" sz="27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Décision prise sur base des éléments du dossier </a:t>
            </a:r>
            <a:r>
              <a:rPr lang="fr-BE" sz="27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(Forem)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fr-BE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Radiation IDE et application dispo passive en cas de non présentation (tout SRE)</a:t>
            </a:r>
          </a:p>
          <a:p>
            <a:endParaRPr lang="fr-BE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31925581"/>
      </p:ext>
    </p:extLst>
  </p:cSld>
  <p:clrMapOvr>
    <a:masterClrMapping/>
  </p:clrMapOvr>
  <p:transition>
    <p:dissolv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r"/>
            <a:r>
              <a:rPr lang="fr-BE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3.2. Convocation et absences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fr-FR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 le chômeur se présente </a:t>
            </a:r>
            <a:r>
              <a:rPr lang="fr-FR" sz="30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spontanément</a:t>
            </a:r>
            <a:r>
              <a:rPr lang="fr-FR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dans les </a:t>
            </a:r>
            <a:r>
              <a:rPr lang="fr-FR" sz="3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30 jours ouvrables</a:t>
            </a:r>
            <a:r>
              <a:rPr lang="fr-FR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à dater de l’entretien, un nouvel entretien sera fixé. </a:t>
            </a:r>
          </a:p>
          <a:p>
            <a:pPr marL="0" indent="0">
              <a:buNone/>
            </a:pPr>
            <a:endParaRPr lang="fr-FR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fr-FR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S’il s’y présente, </a:t>
            </a:r>
            <a:r>
              <a:rPr lang="fr-FR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 possibilités</a:t>
            </a:r>
            <a:r>
              <a:rPr lang="fr-FR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fr-FR" sz="3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Évaluation positive</a:t>
            </a:r>
            <a:r>
              <a:rPr lang="fr-FR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révision de la décision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fr-FR" sz="3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Évaluation négative</a:t>
            </a:r>
            <a:r>
              <a:rPr lang="fr-FR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décision maintenue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fr-BE" sz="1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736244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r"/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</a:t>
            </a:r>
            <a:r>
              <a:rPr lang="en-US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Entretiens</a:t>
            </a:r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d’évaluation</a:t>
            </a:r>
            <a:endParaRPr lang="en-US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57200" y="1628800"/>
            <a:ext cx="8229600" cy="4525963"/>
          </a:xfrm>
        </p:spPr>
        <p:txBody>
          <a:bodyPr>
            <a:normAutofit/>
          </a:bodyPr>
          <a:lstStyle/>
          <a:p>
            <a:r>
              <a:rPr lang="fr-FR" sz="2600" b="1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Éléments analysés pendant la période évaluée: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fr-FR" sz="22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Mise en œuvre et respect du plan d’action individuel convenu avec le SRE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fr-FR" sz="22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Les démarches personnelles de recherche d’emploi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fr-FR" sz="22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Les périodes de travail et/ou de formation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fr-FR" sz="22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Les autres actions personnelles en vue de faciliter la réinsertion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fr-FR" sz="22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Situation socioéconomique de la région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fr-FR" sz="22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Critères humains (âge, qualification, freins à l’emploi,…)</a:t>
            </a:r>
          </a:p>
          <a:p>
            <a:pPr marL="0" lvl="1" indent="0">
              <a:buNone/>
            </a:pPr>
            <a:endParaRPr lang="fr-FR" sz="2200" dirty="0">
              <a:latin typeface="Times New Roman" panose="02020603050405020304" pitchFamily="18" charset="0"/>
              <a:cs typeface="Times New Roman" panose="02020603050405020304" pitchFamily="18" charset="0"/>
              <a:sym typeface="Wingdings" panose="05000000000000000000" pitchFamily="2" charset="2"/>
            </a:endParaRPr>
          </a:p>
          <a:p>
            <a:pPr marL="0" indent="0">
              <a:buNone/>
            </a:pPr>
            <a:endParaRPr lang="fr-FR" sz="2400" b="1" dirty="0">
              <a:latin typeface="Times New Roman" panose="02020603050405020304" pitchFamily="18" charset="0"/>
              <a:cs typeface="Times New Roman" panose="02020603050405020304" pitchFamily="18" charset="0"/>
              <a:sym typeface="Wingdings" panose="05000000000000000000" pitchFamily="2" charset="2"/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10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74942264"/>
      </p:ext>
    </p:extLst>
  </p:cSld>
  <p:clrMapOvr>
    <a:masterClrMapping/>
  </p:clrMapOvr>
  <p:transition>
    <p:dissolv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r"/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</a:t>
            </a:r>
            <a:r>
              <a:rPr lang="en-US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Entretiens</a:t>
            </a:r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d’évaluation</a:t>
            </a:r>
            <a:endParaRPr lang="en-US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57200" y="1628800"/>
            <a:ext cx="8229600" cy="4525963"/>
          </a:xfrm>
        </p:spPr>
        <p:txBody>
          <a:bodyPr>
            <a:normAutofit/>
          </a:bodyPr>
          <a:lstStyle/>
          <a:p>
            <a:pPr marL="342900" lvl="1" indent="-342900">
              <a:buFont typeface="Arial" panose="020B0604020202020204" pitchFamily="34" charset="0"/>
              <a:buChar char="•"/>
            </a:pPr>
            <a:r>
              <a:rPr lang="fr-FR" sz="2600" b="1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Preuves:</a:t>
            </a:r>
            <a:r>
              <a:rPr lang="fr-FR" sz="26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Doivent être matérielles et communiquées au moment de l’entretien</a:t>
            </a:r>
          </a:p>
          <a:p>
            <a:pPr marL="0" lvl="1" indent="0">
              <a:buNone/>
            </a:pPr>
            <a:endParaRPr lang="fr-FR" sz="1500" dirty="0">
              <a:latin typeface="Times New Roman" panose="02020603050405020304" pitchFamily="18" charset="0"/>
              <a:cs typeface="Times New Roman" panose="02020603050405020304" pitchFamily="18" charset="0"/>
              <a:sym typeface="Wingdings" panose="05000000000000000000" pitchFamily="2" charset="2"/>
            </a:endParaRPr>
          </a:p>
          <a:p>
            <a:pPr marL="342900" lvl="1" indent="-342900">
              <a:buFont typeface="Arial" panose="020B0604020202020204" pitchFamily="34" charset="0"/>
              <a:buChar char="•"/>
            </a:pPr>
            <a:r>
              <a:rPr lang="fr-FR" sz="2600" b="1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Décision:</a:t>
            </a:r>
            <a:r>
              <a:rPr lang="fr-FR" sz="26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Communiquée le jour de l’entretien ou au plus tard dans les 10 jours ouvrables</a:t>
            </a:r>
          </a:p>
          <a:p>
            <a:pPr marL="0" lvl="1" indent="0">
              <a:buNone/>
            </a:pPr>
            <a:endParaRPr lang="fr-FR" sz="1400" dirty="0">
              <a:latin typeface="Times New Roman" panose="02020603050405020304" pitchFamily="18" charset="0"/>
              <a:cs typeface="Times New Roman" panose="02020603050405020304" pitchFamily="18" charset="0"/>
              <a:sym typeface="Wingdings" panose="05000000000000000000" pitchFamily="2" charset="2"/>
            </a:endParaRPr>
          </a:p>
          <a:p>
            <a:pPr marL="342900" lvl="1" indent="-342900">
              <a:buFont typeface="Arial" panose="020B0604020202020204" pitchFamily="34" charset="0"/>
              <a:buChar char="•"/>
            </a:pPr>
            <a:r>
              <a:rPr lang="fr-FR" sz="2600" b="1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Particularité</a:t>
            </a:r>
            <a:r>
              <a:rPr lang="fr-FR" sz="26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: Il n’est plus tenu compte des évaluations </a:t>
            </a:r>
            <a:r>
              <a:rPr lang="fr-FR" sz="260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négatives antérieures</a:t>
            </a:r>
            <a:r>
              <a:rPr lang="fr-FR" sz="2600" b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fr-FR" sz="26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après 2 évaluations positives successives</a:t>
            </a:r>
          </a:p>
          <a:p>
            <a:endParaRPr lang="fr-FR" sz="2400" b="1" dirty="0">
              <a:latin typeface="Times New Roman" panose="02020603050405020304" pitchFamily="18" charset="0"/>
              <a:cs typeface="Times New Roman" panose="02020603050405020304" pitchFamily="18" charset="0"/>
              <a:sym typeface="Wingdings" panose="05000000000000000000" pitchFamily="2" charset="2"/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11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76277762"/>
      </p:ext>
    </p:extLst>
  </p:cSld>
  <p:clrMapOvr>
    <a:masterClrMapping/>
  </p:clrMapOvr>
  <p:transition>
    <p:dissolv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r"/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4.1. Evaluations: </a:t>
            </a:r>
            <a:r>
              <a:rPr lang="en-US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Procédure</a:t>
            </a:r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Forem</a:t>
            </a:r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(Dispo C) 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57200" y="1628800"/>
            <a:ext cx="8229600" cy="4525963"/>
          </a:xfrm>
        </p:spPr>
        <p:txBody>
          <a:bodyPr>
            <a:normAutofit fontScale="92500" lnSpcReduction="20000"/>
          </a:bodyPr>
          <a:lstStyle/>
          <a:p>
            <a:r>
              <a:rPr lang="fr-FR" b="1" u="sng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Forem</a:t>
            </a:r>
            <a:r>
              <a:rPr lang="fr-FR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: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fr-FR" sz="26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fr-FR" sz="2600" b="1" u="sng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ère</a:t>
            </a:r>
            <a:r>
              <a:rPr lang="fr-FR" sz="26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phase: L’accompagnement.</a:t>
            </a:r>
            <a:r>
              <a:rPr lang="fr-FR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(durée 11 à 14 mois max)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fr-FR" sz="22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fr-FR" sz="2200" b="1" baseline="30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ère</a:t>
            </a:r>
            <a:r>
              <a:rPr lang="fr-FR" sz="22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étape: </a:t>
            </a:r>
            <a:r>
              <a:rPr lang="fr-FR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Entretien de bilan</a:t>
            </a:r>
            <a:r>
              <a:rPr lang="fr-F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et élaboration d’un plan d’action (en présentiel ou à distance)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fr-FR" sz="22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fr-FR" sz="2200" b="1" baseline="30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ème</a:t>
            </a:r>
            <a:r>
              <a:rPr lang="fr-FR" sz="22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étape : </a:t>
            </a:r>
            <a:r>
              <a:rPr lang="fr-FR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Entretien(s) de suivi</a:t>
            </a:r>
            <a:r>
              <a:rPr lang="fr-F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avec évaluation du plan d’action et adaptation si nécessaire </a:t>
            </a:r>
          </a:p>
          <a:p>
            <a:pPr lvl="3">
              <a:buFont typeface="Wingdings" panose="05000000000000000000" pitchFamily="2" charset="2"/>
              <a:buChar char="v"/>
            </a:pPr>
            <a:r>
              <a:rPr lang="fr-FR" sz="17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 positif :  </a:t>
            </a:r>
            <a:r>
              <a:rPr lang="fr-FR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Maintien ou réinitialisation de la phase d’accompagnement dans un processus non formalisé</a:t>
            </a:r>
          </a:p>
          <a:p>
            <a:pPr lvl="3">
              <a:buFont typeface="Wingdings" panose="05000000000000000000" pitchFamily="2" charset="2"/>
              <a:buChar char="v"/>
            </a:pPr>
            <a:r>
              <a:rPr lang="fr-FR" sz="17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 défavorable: : </a:t>
            </a:r>
            <a:r>
              <a:rPr lang="fr-FR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Élaboration d’un plan d’action « formel » et poursuite dans un processus formalisé. </a:t>
            </a:r>
          </a:p>
          <a:p>
            <a:pPr marL="1371600" lvl="3" indent="0">
              <a:buNone/>
            </a:pPr>
            <a:r>
              <a:rPr lang="fr-FR" sz="17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Rmq</a:t>
            </a:r>
            <a:r>
              <a:rPr lang="fr-FR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fr-FR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 dossier sera </a:t>
            </a:r>
            <a:r>
              <a:rPr lang="fr-FR" sz="17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transmis au service contrôle </a:t>
            </a:r>
            <a:r>
              <a:rPr lang="fr-FR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à </a:t>
            </a:r>
            <a:r>
              <a:rPr lang="fr-FR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l’issue du processus formalisé </a:t>
            </a:r>
            <a:r>
              <a:rPr lang="fr-FR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 en lors de l’</a:t>
            </a:r>
            <a:r>
              <a:rPr lang="fr-FR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 d’un cas dérogatoire</a:t>
            </a:r>
            <a:r>
              <a:rPr lang="fr-FR" sz="1700" b="1" baseline="5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(*)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fr-FR" sz="22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Entre les entretiens de bilan et/ou de suivi: </a:t>
            </a:r>
            <a:r>
              <a:rPr lang="fr-F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Minimum 1 </a:t>
            </a:r>
            <a:r>
              <a:rPr lang="fr-FR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entretien de coaching et de soutien</a:t>
            </a:r>
          </a:p>
          <a:p>
            <a:pPr marL="914400" lvl="2" indent="0">
              <a:buNone/>
            </a:pPr>
            <a:endParaRPr lang="fr-FR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lvl="2" indent="0">
              <a:buNone/>
            </a:pPr>
            <a:r>
              <a:rPr lang="fr-FR" sz="15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(*) Cas dérogatoire = Si au 10</a:t>
            </a:r>
            <a:r>
              <a:rPr lang="fr-FR" sz="1500" i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ème</a:t>
            </a:r>
            <a:r>
              <a:rPr lang="fr-FR" sz="15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mois le conseiller ne possède pas suffisamment d’éléments pour se positionner ou si cumul de 3 absences justifiée/injustifiées n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12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40734847"/>
      </p:ext>
    </p:extLst>
  </p:cSld>
  <p:clrMapOvr>
    <a:masterClrMapping/>
  </p:clrMapOvr>
  <p:transition>
    <p:dissolv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r"/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4.1. Evaluations: </a:t>
            </a:r>
            <a:r>
              <a:rPr lang="en-US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Procédure</a:t>
            </a:r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Forem</a:t>
            </a:r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(Dispo C) 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57200" y="1628800"/>
            <a:ext cx="8229600" cy="4525963"/>
          </a:xfrm>
        </p:spPr>
        <p:txBody>
          <a:bodyPr>
            <a:normAutofit/>
          </a:bodyPr>
          <a:lstStyle/>
          <a:p>
            <a:r>
              <a:rPr lang="fr-FR" b="1" u="sng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Forem</a:t>
            </a:r>
            <a:r>
              <a:rPr lang="fr-FR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(suite)</a:t>
            </a:r>
            <a:r>
              <a:rPr lang="fr-FR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fr-FR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fr-FR" sz="2400" b="1" u="sng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ème</a:t>
            </a:r>
            <a:r>
              <a:rPr lang="fr-FR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Phase: Le contrôle. </a:t>
            </a:r>
          </a:p>
          <a:p>
            <a:pPr marL="457200" lvl="1" indent="0">
              <a:buNone/>
            </a:pP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Maximum </a:t>
            </a:r>
            <a:r>
              <a:rPr lang="fr-FR" sz="2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 évaluations</a:t>
            </a: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(avec ou sans entretien) au cours de la procédure de contrôle</a:t>
            </a:r>
          </a:p>
          <a:p>
            <a:pPr marL="0" indent="0">
              <a:buNone/>
            </a:pPr>
            <a:endParaRPr lang="fr-FR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>
              <a:buFont typeface="Courier New" panose="02070309020205020404" pitchFamily="49" charset="0"/>
              <a:buChar char="o"/>
            </a:pPr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Si évaluation est </a:t>
            </a:r>
            <a:r>
              <a:rPr lang="fr-FR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positive</a:t>
            </a:r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: </a:t>
            </a:r>
            <a:r>
              <a:rPr lang="fr-FR" sz="2000" b="1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Nouvelle phase</a:t>
            </a:r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d’accompagnement recommence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Si évaluation est </a:t>
            </a:r>
            <a:r>
              <a:rPr lang="fr-FR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négative</a:t>
            </a:r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: </a:t>
            </a:r>
            <a:r>
              <a:rPr lang="fr-FR" sz="2000" b="1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Sera reconvoqué </a:t>
            </a:r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pour une nouvelle évaluation + avertissement ou sanction 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13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708732600"/>
      </p:ext>
    </p:extLst>
  </p:cSld>
  <p:clrMapOvr>
    <a:masterClrMapping/>
  </p:clrMapOvr>
  <p:transition>
    <p:dissolv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r"/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4.2. Evaluations: </a:t>
            </a:r>
            <a:r>
              <a:rPr lang="en-US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Procédure</a:t>
            </a:r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ADG  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57200" y="1628800"/>
            <a:ext cx="8229600" cy="4525963"/>
          </a:xfrm>
        </p:spPr>
        <p:txBody>
          <a:bodyPr>
            <a:normAutofit/>
          </a:bodyPr>
          <a:lstStyle/>
          <a:p>
            <a:r>
              <a:rPr lang="fr-FR" b="1" u="sng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ADG</a:t>
            </a:r>
            <a:r>
              <a:rPr lang="fr-FR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:</a:t>
            </a:r>
          </a:p>
          <a:p>
            <a:pPr marL="0" indent="0">
              <a:buNone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Maximum </a:t>
            </a:r>
            <a:r>
              <a:rPr lang="fr-FR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 évaluations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au cours de la procédure de contrôle</a:t>
            </a:r>
          </a:p>
          <a:p>
            <a:pPr marL="0" indent="0">
              <a:buNone/>
            </a:pPr>
            <a:endParaRPr lang="fr-FR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Font typeface="Wingdings" panose="05000000000000000000" pitchFamily="2" charset="2"/>
              <a:buChar char="Ø"/>
            </a:pP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Si évaluation est </a:t>
            </a:r>
            <a:r>
              <a:rPr lang="fr-FR" sz="2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positive</a:t>
            </a: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: </a:t>
            </a:r>
            <a:r>
              <a:rPr lang="fr-FR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Nouvelle procédure</a:t>
            </a: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d’évaluation recommence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Si évaluation est </a:t>
            </a:r>
            <a:r>
              <a:rPr lang="fr-FR" sz="2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négative</a:t>
            </a: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: </a:t>
            </a:r>
            <a:r>
              <a:rPr lang="fr-FR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Sera reconvoqué </a:t>
            </a: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pour un nouvel entretien + avertissement ou sanction 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14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4842429"/>
      </p:ext>
    </p:extLst>
  </p:cSld>
  <p:clrMapOvr>
    <a:masterClrMapping/>
  </p:clrMapOvr>
  <p:transition>
    <p:dissolv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r"/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4.3. Evaluations: </a:t>
            </a:r>
            <a:r>
              <a:rPr lang="en-US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Procédure</a:t>
            </a:r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Actiris</a:t>
            </a:r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(Dispo G) 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57200" y="1628800"/>
            <a:ext cx="8229600" cy="4525963"/>
          </a:xfrm>
        </p:spPr>
        <p:txBody>
          <a:bodyPr>
            <a:normAutofit lnSpcReduction="10000"/>
          </a:bodyPr>
          <a:lstStyle/>
          <a:p>
            <a:r>
              <a:rPr lang="fr-FR" sz="2400" b="1" u="sng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Actiris</a:t>
            </a:r>
            <a:r>
              <a:rPr lang="fr-FR" sz="2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:</a:t>
            </a:r>
          </a:p>
          <a:p>
            <a:pPr marL="0" indent="0">
              <a:buNone/>
            </a:pPr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Maximum </a:t>
            </a:r>
            <a:r>
              <a:rPr lang="fr-FR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 « niveaux » d’entretien</a:t>
            </a:r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au cours de chaque procédure d’évaluation</a:t>
            </a:r>
            <a:r>
              <a:rPr lang="fr-F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et chaque niveau d’évaluation </a:t>
            </a:r>
            <a:r>
              <a:rPr lang="fr-FR" sz="20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peut</a:t>
            </a:r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compter jusqu’à</a:t>
            </a:r>
            <a:r>
              <a:rPr lang="fr-F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 phases </a:t>
            </a:r>
            <a:r>
              <a:rPr lang="fr-FR" sz="20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avant d’aboutir à une décision positive ou négative</a:t>
            </a:r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457200" lvl="1" indent="0">
              <a:buNone/>
            </a:pPr>
            <a:r>
              <a:rPr lang="fr-F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1° </a:t>
            </a:r>
            <a:r>
              <a:rPr lang="fr-FR" sz="20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Evaluation préalable</a:t>
            </a:r>
            <a:r>
              <a:rPr lang="fr-F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avant chaque entretien sur base du dossier connu chez </a:t>
            </a:r>
            <a:r>
              <a:rPr lang="fr-F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Actiris</a:t>
            </a:r>
            <a:endParaRPr lang="fr-F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>
              <a:buNone/>
            </a:pPr>
            <a:r>
              <a:rPr lang="fr-F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2° </a:t>
            </a:r>
            <a:r>
              <a:rPr lang="fr-FR" sz="20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Entretien préparatoire</a:t>
            </a:r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auprès d’un évaluateur</a:t>
            </a:r>
          </a:p>
          <a:p>
            <a:pPr marL="457200" lvl="1" indent="0">
              <a:buNone/>
            </a:pPr>
            <a:r>
              <a:rPr lang="fr-F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3°</a:t>
            </a:r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0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Entretien devant un collège</a:t>
            </a:r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composé de 3 évaluateurs</a:t>
            </a:r>
          </a:p>
          <a:p>
            <a:pPr marL="457200" lvl="1" indent="0">
              <a:buNone/>
            </a:pPr>
            <a:endParaRPr lang="fr-FR" sz="900" dirty="0">
              <a:latin typeface="Times New Roman" panose="02020603050405020304" pitchFamily="18" charset="0"/>
              <a:cs typeface="Times New Roman" panose="02020603050405020304" pitchFamily="18" charset="0"/>
              <a:sym typeface="Wingdings" panose="05000000000000000000" pitchFamily="2" charset="2"/>
            </a:endParaRPr>
          </a:p>
          <a:p>
            <a:pPr marL="1081088" lvl="1" indent="-360363" defTabSz="1081088">
              <a:buFont typeface="Wingdings" panose="05000000000000000000" pitchFamily="2" charset="2"/>
              <a:buChar char="Ø"/>
            </a:pPr>
            <a:r>
              <a:rPr lang="fr-FR" sz="18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Evaluation </a:t>
            </a:r>
            <a:r>
              <a:rPr lang="fr-FR" sz="18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positive</a:t>
            </a:r>
            <a:r>
              <a:rPr lang="fr-FR" sz="18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: </a:t>
            </a:r>
            <a:r>
              <a:rPr lang="fr-FR" sz="1800" b="1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Nouvelle procédure</a:t>
            </a:r>
            <a:r>
              <a:rPr lang="fr-FR" sz="18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d’évaluation recommence </a:t>
            </a:r>
          </a:p>
          <a:p>
            <a:pPr marL="1081088" lvl="1" indent="-360363" defTabSz="1081088">
              <a:buFont typeface="Wingdings" panose="05000000000000000000" pitchFamily="2" charset="2"/>
              <a:buChar char="Ø"/>
            </a:pPr>
            <a:r>
              <a:rPr lang="fr-FR" sz="18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Evaluation </a:t>
            </a:r>
            <a:r>
              <a:rPr lang="fr-FR" sz="18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négative</a:t>
            </a:r>
            <a:r>
              <a:rPr lang="fr-FR" sz="18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:</a:t>
            </a:r>
            <a:endParaRPr lang="fr-FR" sz="1300" dirty="0">
              <a:latin typeface="Times New Roman" panose="02020603050405020304" pitchFamily="18" charset="0"/>
              <a:cs typeface="Times New Roman" panose="02020603050405020304" pitchFamily="18" charset="0"/>
              <a:sym typeface="Wingdings" panose="05000000000000000000" pitchFamily="2" charset="2"/>
            </a:endParaRPr>
          </a:p>
          <a:p>
            <a:pPr marL="1441450" lvl="2" indent="-360363">
              <a:buFont typeface="Wingdings" panose="05000000000000000000" pitchFamily="2" charset="2"/>
              <a:buChar char="è"/>
            </a:pPr>
            <a:r>
              <a:rPr lang="fr-FR" sz="1600" b="1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Passe à la phases suivante</a:t>
            </a:r>
            <a:r>
              <a:rPr lang="fr-FR" sz="16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si cette évaluation est rendue lors de l’</a:t>
            </a:r>
            <a:r>
              <a:rPr lang="fr-FR" sz="1600" u="sng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évaluation préalable ou lors de l’entretien préparatoire</a:t>
            </a:r>
          </a:p>
          <a:p>
            <a:pPr marL="1441450" lvl="2" indent="-360363">
              <a:buFont typeface="Wingdings" panose="05000000000000000000" pitchFamily="2" charset="2"/>
              <a:buChar char="è"/>
            </a:pPr>
            <a:r>
              <a:rPr lang="fr-FR" sz="1600" b="1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Evaluation négative définitive </a:t>
            </a:r>
            <a:r>
              <a:rPr lang="fr-FR" sz="16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+ avertissement ou sanction si cette </a:t>
            </a:r>
            <a:r>
              <a:rPr lang="fr-FR" sz="1600" u="sng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évaluation définitive est rendue par le collège de 3 évaluateurs 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15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7991940"/>
      </p:ext>
    </p:extLst>
  </p:cSld>
  <p:clrMapOvr>
    <a:masterClrMapping/>
  </p:clrMapOvr>
  <p:transition>
    <p:dissolv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4.4. </a:t>
            </a:r>
            <a:r>
              <a:rPr lang="fr-BE" b="1" i="1" cap="all" dirty="0">
                <a:latin typeface="Times New Roman" panose="02020603050405020304" pitchFamily="18" charset="0"/>
                <a:cs typeface="Times New Roman" panose="02020603050405020304" pitchFamily="18" charset="0"/>
              </a:rPr>
              <a:t>é</a:t>
            </a:r>
            <a:r>
              <a:rPr lang="fr-BE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valuations: 1</a:t>
            </a:r>
            <a:r>
              <a:rPr lang="fr-BE" b="1" i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er</a:t>
            </a:r>
            <a:r>
              <a:rPr lang="fr-BE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entretien</a:t>
            </a:r>
            <a:endParaRPr lang="en-US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57200" y="1628800"/>
            <a:ext cx="8229600" cy="4525963"/>
          </a:xfrm>
        </p:spPr>
        <p:txBody>
          <a:bodyPr>
            <a:normAutofit fontScale="77500" lnSpcReduction="20000"/>
          </a:bodyPr>
          <a:lstStyle/>
          <a:p>
            <a:r>
              <a:rPr lang="fr-FR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Période évaluée</a:t>
            </a:r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Depuis</a:t>
            </a:r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début du chômage </a:t>
            </a: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</a:t>
            </a:r>
            <a:r>
              <a:rPr lang="fr-FR" sz="24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ère</a:t>
            </a: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IDE ou après interruption &gt;3 mois)</a:t>
            </a: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Font typeface="Wingdings" panose="05000000000000000000" pitchFamily="2" charset="2"/>
              <a:buChar char="Ø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Depuis le </a:t>
            </a:r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dernier entretien de suivi positif 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 la </a:t>
            </a:r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dernière évaluation positive </a:t>
            </a: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(max 12 mois)</a:t>
            </a:r>
          </a:p>
          <a:p>
            <a:pPr marL="457200" lvl="1" indent="0">
              <a:buNone/>
            </a:pPr>
            <a:endParaRPr lang="fr-FR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-457200">
              <a:buFont typeface="Arial" panose="020B0604020202020204" pitchFamily="34" charset="0"/>
              <a:buChar char="•"/>
            </a:pPr>
            <a:r>
              <a:rPr lang="fr-FR" sz="32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Décision et conséquences</a:t>
            </a:r>
            <a:r>
              <a:rPr lang="fr-FR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fr-FR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Évaluation positive: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Forem : 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Réinitialisation de la phase d’accompagnement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fr-FR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Actiris</a:t>
            </a:r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/ADG: 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Reconvoqué dans les 12 mois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fr-FR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Évaluation négative: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Forem :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Toujours un avertissement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fr-FR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Actiris</a:t>
            </a:r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/ADG: 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Avertissement, sanction ou perte du droit</a:t>
            </a:r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(si pas 2 évaluations positives successives)</a:t>
            </a:r>
          </a:p>
          <a:p>
            <a:pPr marL="457200" lvl="1" indent="0">
              <a:buNone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 Reconvoqué dans les 5 mois à dater de l’évaluation ou de la fin de la sanction</a:t>
            </a: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16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94634144"/>
      </p:ext>
    </p:extLst>
  </p:cSld>
  <p:clrMapOvr>
    <a:masterClrMapping/>
  </p:clrMapOvr>
  <p:transition>
    <p:dissolv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4.5. </a:t>
            </a:r>
            <a:r>
              <a:rPr lang="fr-BE" b="1" i="1" cap="all" dirty="0">
                <a:latin typeface="Times New Roman" panose="02020603050405020304" pitchFamily="18" charset="0"/>
                <a:cs typeface="Times New Roman" panose="02020603050405020304" pitchFamily="18" charset="0"/>
              </a:rPr>
              <a:t>é</a:t>
            </a:r>
            <a:r>
              <a:rPr lang="fr-BE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valuations: 2</a:t>
            </a:r>
            <a:r>
              <a:rPr lang="fr-BE" b="1" i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ème</a:t>
            </a:r>
            <a:r>
              <a:rPr lang="fr-BE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entretien</a:t>
            </a:r>
            <a:endParaRPr lang="en-US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57200" y="1628800"/>
            <a:ext cx="8229600" cy="4525963"/>
          </a:xfrm>
        </p:spPr>
        <p:txBody>
          <a:bodyPr>
            <a:normAutofit fontScale="70000" lnSpcReduction="20000"/>
          </a:bodyPr>
          <a:lstStyle/>
          <a:p>
            <a:r>
              <a:rPr lang="fr-FR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Période évaluée</a:t>
            </a:r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Depuis la dernière évaluation ou la fin de la sanction</a:t>
            </a:r>
          </a:p>
          <a:p>
            <a:pPr marL="457200" lvl="1" indent="0">
              <a:buNone/>
            </a:pPr>
            <a:endParaRPr lang="fr-FR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-457200">
              <a:buFont typeface="Arial" panose="020B0604020202020204" pitchFamily="34" charset="0"/>
              <a:buChar char="•"/>
            </a:pPr>
            <a:r>
              <a:rPr lang="fr-FR" sz="32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Décision et conséquences</a:t>
            </a:r>
            <a:r>
              <a:rPr lang="fr-FR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fr-FR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Évaluation positive:</a:t>
            </a:r>
            <a:endParaRPr lang="fr-F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>
              <a:buFont typeface="Courier New" panose="02070309020205020404" pitchFamily="49" charset="0"/>
              <a:buChar char="o"/>
            </a:pPr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Forem : 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Réinitialisation de la phase d’accompagnement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fr-FR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Actiris</a:t>
            </a:r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/ADG: 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Reconvoqué dans les 12 mois </a:t>
            </a:r>
          </a:p>
          <a:p>
            <a:pPr marL="457200" lvl="1" indent="0">
              <a:buNone/>
            </a:pPr>
            <a:endParaRPr lang="fr-FR" sz="1400" dirty="0">
              <a:latin typeface="Times New Roman" panose="02020603050405020304" pitchFamily="18" charset="0"/>
              <a:cs typeface="Times New Roman" panose="02020603050405020304" pitchFamily="18" charset="0"/>
              <a:sym typeface="Wingdings" panose="05000000000000000000" pitchFamily="2" charset="2"/>
            </a:endParaRPr>
          </a:p>
          <a:p>
            <a:pPr lvl="1">
              <a:buFont typeface="Wingdings" panose="05000000000000000000" pitchFamily="2" charset="2"/>
              <a:buChar char="Ø"/>
            </a:pPr>
            <a:r>
              <a:rPr lang="fr-FR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Évaluation négative:</a:t>
            </a:r>
          </a:p>
          <a:p>
            <a:pPr lvl="2">
              <a:buFont typeface="Wingdings" panose="05000000000000000000" pitchFamily="2" charset="2"/>
              <a:buChar char="Ø"/>
            </a:pPr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Cohabitant ou Allocations d’insertion :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Sanction 13 semaines</a:t>
            </a:r>
            <a:r>
              <a:rPr lang="fr-FR" sz="1700" baseline="500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(*)</a:t>
            </a:r>
          </a:p>
          <a:p>
            <a:pPr lvl="2">
              <a:buFont typeface="Wingdings" panose="05000000000000000000" pitchFamily="2" charset="2"/>
              <a:buChar char="Ø"/>
            </a:pPr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Chef de famille ou isolé: 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Diminution au taux du RIS (+/-) pendant 13 semaines</a:t>
            </a:r>
            <a:r>
              <a:rPr lang="fr-FR" sz="1700" baseline="5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(*)</a:t>
            </a:r>
            <a:endParaRPr lang="fr-FR" baseline="5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Font typeface="Wingdings" panose="05000000000000000000" pitchFamily="2" charset="2"/>
              <a:buChar char="è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Reconvoqué dans les 5 mois à dater de l’évaluation ou de la fin de la sanction</a:t>
            </a:r>
          </a:p>
          <a:p>
            <a:pPr marL="457200" lvl="1" indent="0">
              <a:buNone/>
            </a:pPr>
            <a:endParaRPr lang="fr-FR" sz="1200" dirty="0">
              <a:latin typeface="Times New Roman" panose="02020603050405020304" pitchFamily="18" charset="0"/>
              <a:cs typeface="Times New Roman" panose="02020603050405020304" pitchFamily="18" charset="0"/>
              <a:sym typeface="Wingdings" panose="05000000000000000000" pitchFamily="2" charset="2"/>
            </a:endParaRPr>
          </a:p>
          <a:p>
            <a:pPr marL="457200" lvl="1" indent="0">
              <a:buNone/>
            </a:pPr>
            <a:r>
              <a:rPr lang="fr-FR" sz="21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(*)ADG/</a:t>
            </a:r>
            <a:r>
              <a:rPr lang="fr-FR" sz="21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Actiris</a:t>
            </a:r>
            <a:r>
              <a:rPr lang="fr-FR" sz="21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: Possibilité de perte du droit si pas 2 évaluations positives consécutives avant l’évaluation négative</a:t>
            </a:r>
            <a:endParaRPr lang="fr-FR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17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82193727"/>
      </p:ext>
    </p:extLst>
  </p:cSld>
  <p:clrMapOvr>
    <a:masterClrMapping/>
  </p:clrMapOvr>
  <p:transition>
    <p:dissolv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4.6. </a:t>
            </a:r>
            <a:r>
              <a:rPr lang="fr-BE" b="1" i="1" cap="all" dirty="0">
                <a:latin typeface="Times New Roman" panose="02020603050405020304" pitchFamily="18" charset="0"/>
                <a:cs typeface="Times New Roman" panose="02020603050405020304" pitchFamily="18" charset="0"/>
              </a:rPr>
              <a:t>é</a:t>
            </a:r>
            <a:r>
              <a:rPr lang="fr-BE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valuations: 3</a:t>
            </a:r>
            <a:r>
              <a:rPr lang="fr-BE" b="1" i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ème</a:t>
            </a:r>
            <a:r>
              <a:rPr lang="fr-BE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entretien</a:t>
            </a:r>
            <a:endParaRPr lang="en-US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57200" y="1628800"/>
            <a:ext cx="8229600" cy="4525963"/>
          </a:xfrm>
        </p:spPr>
        <p:txBody>
          <a:bodyPr>
            <a:normAutofit fontScale="92500" lnSpcReduction="10000"/>
          </a:bodyPr>
          <a:lstStyle/>
          <a:p>
            <a:r>
              <a:rPr lang="fr-FR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Période évaluée</a:t>
            </a:r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Depuis la dernière évaluation ou la fin de la sanction</a:t>
            </a:r>
          </a:p>
          <a:p>
            <a:pPr marL="457200" lvl="1" indent="0">
              <a:buNone/>
            </a:pPr>
            <a:endParaRPr lang="fr-FR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-457200">
              <a:buFont typeface="Arial" panose="020B0604020202020204" pitchFamily="34" charset="0"/>
              <a:buChar char="•"/>
            </a:pPr>
            <a:r>
              <a:rPr lang="fr-FR" sz="32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Décision et conséquences</a:t>
            </a:r>
            <a:r>
              <a:rPr lang="fr-FR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fr-FR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Évaluation positive: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Forem : 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Réinitialisation de la phase d’accompagnement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fr-FR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Actiris</a:t>
            </a:r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/ADG: 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Reconvoqué dans les 12 mois </a:t>
            </a:r>
          </a:p>
          <a:p>
            <a:pPr marL="457200" lvl="1" indent="0">
              <a:buNone/>
            </a:pPr>
            <a:endParaRPr lang="fr-FR" sz="1100" dirty="0">
              <a:latin typeface="Times New Roman" panose="02020603050405020304" pitchFamily="18" charset="0"/>
              <a:cs typeface="Times New Roman" panose="02020603050405020304" pitchFamily="18" charset="0"/>
              <a:sym typeface="Wingdings" panose="05000000000000000000" pitchFamily="2" charset="2"/>
            </a:endParaRPr>
          </a:p>
          <a:p>
            <a:pPr lvl="1">
              <a:buFont typeface="Wingdings" panose="05000000000000000000" pitchFamily="2" charset="2"/>
              <a:buChar char="Ø"/>
            </a:pPr>
            <a:r>
              <a:rPr lang="fr-FR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Évaluation négative:</a:t>
            </a:r>
          </a:p>
          <a:p>
            <a:pPr lvl="2">
              <a:buFont typeface="Wingdings" panose="05000000000000000000" pitchFamily="2" charset="2"/>
              <a:buChar char="Ø"/>
            </a:pPr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Cohabitant ou Allocations d’insertion : </a:t>
            </a:r>
            <a:r>
              <a:rPr lang="fr-FR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Perte du droit</a:t>
            </a:r>
            <a:endParaRPr lang="fr-FR" sz="1700" baseline="500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Wingdings" panose="05000000000000000000" pitchFamily="2" charset="2"/>
            </a:endParaRPr>
          </a:p>
          <a:p>
            <a:pPr lvl="2">
              <a:buFont typeface="Wingdings" panose="05000000000000000000" pitchFamily="2" charset="2"/>
              <a:buChar char="Ø"/>
            </a:pPr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Chef de famille ou isolé: </a:t>
            </a:r>
            <a:r>
              <a:rPr lang="fr-FR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Diminution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au taux dur RIS (+/-) pendant 26 semaines et </a:t>
            </a:r>
            <a:r>
              <a:rPr lang="fr-FR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puis perte du droit</a:t>
            </a:r>
            <a:endParaRPr lang="fr-FR" b="1" baseline="500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18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52129516"/>
      </p:ext>
    </p:extLst>
  </p:cSld>
  <p:clrMapOvr>
    <a:masterClrMapping/>
  </p:clrMapOvr>
  <p:transition>
    <p:dissolv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330023" y="3427320"/>
            <a:ext cx="2082470" cy="727568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BE" sz="2400" dirty="0">
                <a:solidFill>
                  <a:schemeClr val="tx1"/>
                </a:solidFill>
              </a:rPr>
              <a:t>Période évaluée</a:t>
            </a:r>
            <a:endParaRPr lang="en-US" sz="2400" dirty="0">
              <a:solidFill>
                <a:schemeClr val="tx1"/>
              </a:solidFill>
            </a:endParaRPr>
          </a:p>
        </p:txBody>
      </p:sp>
      <p:sp>
        <p:nvSpPr>
          <p:cNvPr id="3" name="Titre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r"/>
            <a:r>
              <a:rPr lang="fr-BE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4.7. Contrôle de la disponibilité: Résumé</a:t>
            </a:r>
            <a:endParaRPr lang="en-US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ZoneTexte 14"/>
          <p:cNvSpPr txBox="1"/>
          <p:nvPr/>
        </p:nvSpPr>
        <p:spPr>
          <a:xfrm>
            <a:off x="2491812" y="2612801"/>
            <a:ext cx="174160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BE" sz="3200" dirty="0"/>
              <a:t>12 mois</a:t>
            </a:r>
            <a:endParaRPr lang="en-US" sz="3200" dirty="0"/>
          </a:p>
        </p:txBody>
      </p:sp>
      <p:sp>
        <p:nvSpPr>
          <p:cNvPr id="19" name="Parenthèse fermante 18"/>
          <p:cNvSpPr/>
          <p:nvPr/>
        </p:nvSpPr>
        <p:spPr>
          <a:xfrm rot="16200000">
            <a:off x="3251028" y="2278874"/>
            <a:ext cx="227442" cy="2069450"/>
          </a:xfrm>
          <a:prstGeom prst="rightBracket">
            <a:avLst/>
          </a:prstGeom>
          <a:ln w="412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ZoneTexte 24"/>
          <p:cNvSpPr txBox="1"/>
          <p:nvPr/>
        </p:nvSpPr>
        <p:spPr>
          <a:xfrm>
            <a:off x="427705" y="3466602"/>
            <a:ext cx="1895811" cy="707886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fr-BE" sz="4000" b="1" dirty="0"/>
              <a:t>CCI</a:t>
            </a:r>
            <a:endParaRPr lang="en-US" sz="4000" b="1" dirty="0"/>
          </a:p>
        </p:txBody>
      </p:sp>
      <p:cxnSp>
        <p:nvCxnSpPr>
          <p:cNvPr id="33" name="Connecteur droit avec flèche 32"/>
          <p:cNvCxnSpPr/>
          <p:nvPr/>
        </p:nvCxnSpPr>
        <p:spPr>
          <a:xfrm>
            <a:off x="240955" y="4168896"/>
            <a:ext cx="8798943" cy="0"/>
          </a:xfrm>
          <a:prstGeom prst="straightConnector1">
            <a:avLst/>
          </a:prstGeom>
          <a:ln w="444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necteur droit 35"/>
          <p:cNvCxnSpPr/>
          <p:nvPr/>
        </p:nvCxnSpPr>
        <p:spPr>
          <a:xfrm>
            <a:off x="2330023" y="2612801"/>
            <a:ext cx="0" cy="231216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ZoneTexte 36"/>
          <p:cNvSpPr txBox="1"/>
          <p:nvPr/>
        </p:nvSpPr>
        <p:spPr>
          <a:xfrm>
            <a:off x="1736215" y="5123385"/>
            <a:ext cx="118761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BE" dirty="0">
                <a:solidFill>
                  <a:srgbClr val="00B050"/>
                </a:solidFill>
              </a:rPr>
              <a:t>1 </a:t>
            </a:r>
            <a:r>
              <a:rPr lang="fr-BE" baseline="30000" dirty="0">
                <a:solidFill>
                  <a:srgbClr val="00B050"/>
                </a:solidFill>
              </a:rPr>
              <a:t>er</a:t>
            </a:r>
            <a:r>
              <a:rPr lang="fr-BE" dirty="0">
                <a:solidFill>
                  <a:srgbClr val="00B050"/>
                </a:solidFill>
              </a:rPr>
              <a:t>  Entretien positif</a:t>
            </a:r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40" name="Espace réservé du numéro de diapositive 3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19</a:t>
            </a:fld>
            <a:endParaRPr lang="fr-FR"/>
          </a:p>
        </p:txBody>
      </p:sp>
      <p:cxnSp>
        <p:nvCxnSpPr>
          <p:cNvPr id="5" name="Connecteur droit avec flèche 4"/>
          <p:cNvCxnSpPr/>
          <p:nvPr/>
        </p:nvCxnSpPr>
        <p:spPr>
          <a:xfrm>
            <a:off x="471340" y="4368848"/>
            <a:ext cx="1852176" cy="0"/>
          </a:xfrm>
          <a:prstGeom prst="straightConnector1">
            <a:avLst/>
          </a:prstGeom>
          <a:ln w="476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ZoneTexte 31"/>
          <p:cNvSpPr txBox="1"/>
          <p:nvPr/>
        </p:nvSpPr>
        <p:spPr>
          <a:xfrm>
            <a:off x="3805666" y="5067238"/>
            <a:ext cx="118761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BE" dirty="0">
                <a:solidFill>
                  <a:srgbClr val="00B050"/>
                </a:solidFill>
              </a:rPr>
              <a:t>1 </a:t>
            </a:r>
            <a:r>
              <a:rPr lang="fr-BE" baseline="30000" dirty="0">
                <a:solidFill>
                  <a:srgbClr val="00B050"/>
                </a:solidFill>
              </a:rPr>
              <a:t>er</a:t>
            </a:r>
            <a:r>
              <a:rPr lang="fr-BE" dirty="0">
                <a:solidFill>
                  <a:srgbClr val="00B050"/>
                </a:solidFill>
              </a:rPr>
              <a:t>  Entretien positif</a:t>
            </a:r>
            <a:endParaRPr lang="en-US" dirty="0">
              <a:solidFill>
                <a:srgbClr val="00B050"/>
              </a:solidFill>
            </a:endParaRPr>
          </a:p>
          <a:p>
            <a:pPr algn="ctr"/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41" name="Rectangle 40"/>
          <p:cNvSpPr/>
          <p:nvPr/>
        </p:nvSpPr>
        <p:spPr>
          <a:xfrm>
            <a:off x="4412490" y="3427320"/>
            <a:ext cx="2082470" cy="727568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BE" sz="2400" dirty="0">
                <a:solidFill>
                  <a:schemeClr val="tx1"/>
                </a:solidFill>
              </a:rPr>
              <a:t>Période évaluée</a:t>
            </a:r>
            <a:endParaRPr lang="en-US" sz="2400" dirty="0">
              <a:solidFill>
                <a:schemeClr val="tx1"/>
              </a:solidFill>
            </a:endParaRPr>
          </a:p>
        </p:txBody>
      </p:sp>
      <p:sp>
        <p:nvSpPr>
          <p:cNvPr id="42" name="ZoneTexte 41"/>
          <p:cNvSpPr txBox="1"/>
          <p:nvPr/>
        </p:nvSpPr>
        <p:spPr>
          <a:xfrm>
            <a:off x="4574279" y="2612801"/>
            <a:ext cx="174160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BE" sz="3200" dirty="0"/>
              <a:t>12 mois</a:t>
            </a:r>
            <a:endParaRPr lang="en-US" sz="3200" dirty="0"/>
          </a:p>
        </p:txBody>
      </p:sp>
      <p:sp>
        <p:nvSpPr>
          <p:cNvPr id="43" name="Parenthèse fermante 42"/>
          <p:cNvSpPr/>
          <p:nvPr/>
        </p:nvSpPr>
        <p:spPr>
          <a:xfrm rot="16200000">
            <a:off x="5333495" y="2278874"/>
            <a:ext cx="227442" cy="2069450"/>
          </a:xfrm>
          <a:prstGeom prst="rightBracket">
            <a:avLst/>
          </a:prstGeom>
          <a:ln w="412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ZoneTexte 8"/>
          <p:cNvSpPr txBox="1"/>
          <p:nvPr/>
        </p:nvSpPr>
        <p:spPr>
          <a:xfrm>
            <a:off x="538420" y="4415308"/>
            <a:ext cx="149413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BE" sz="2400" dirty="0"/>
              <a:t>  IDE</a:t>
            </a:r>
            <a:endParaRPr lang="en-US" sz="2400" dirty="0"/>
          </a:p>
          <a:p>
            <a:r>
              <a:rPr lang="en-US" sz="2400" dirty="0"/>
              <a:t>≥ 9 </a:t>
            </a:r>
            <a:r>
              <a:rPr lang="en-US" sz="2400" dirty="0" err="1"/>
              <a:t>mois</a:t>
            </a:r>
            <a:endParaRPr lang="en-US" sz="2400" dirty="0"/>
          </a:p>
        </p:txBody>
      </p:sp>
      <p:sp>
        <p:nvSpPr>
          <p:cNvPr id="45" name="ZoneTexte 44"/>
          <p:cNvSpPr txBox="1"/>
          <p:nvPr/>
        </p:nvSpPr>
        <p:spPr>
          <a:xfrm>
            <a:off x="5881626" y="5067238"/>
            <a:ext cx="118761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BE" dirty="0">
                <a:solidFill>
                  <a:srgbClr val="00B050"/>
                </a:solidFill>
              </a:rPr>
              <a:t>1 </a:t>
            </a:r>
            <a:r>
              <a:rPr lang="fr-BE" baseline="30000" dirty="0">
                <a:solidFill>
                  <a:srgbClr val="00B050"/>
                </a:solidFill>
              </a:rPr>
              <a:t>er</a:t>
            </a:r>
            <a:r>
              <a:rPr lang="fr-BE" dirty="0">
                <a:solidFill>
                  <a:srgbClr val="00B050"/>
                </a:solidFill>
              </a:rPr>
              <a:t>  Entretien positif</a:t>
            </a:r>
            <a:endParaRPr lang="en-US" dirty="0">
              <a:solidFill>
                <a:srgbClr val="00B050"/>
              </a:solidFill>
            </a:endParaRPr>
          </a:p>
          <a:p>
            <a:pPr algn="ctr"/>
            <a:endParaRPr lang="en-US" dirty="0"/>
          </a:p>
        </p:txBody>
      </p:sp>
      <p:sp>
        <p:nvSpPr>
          <p:cNvPr id="46" name="Rectangle 45"/>
          <p:cNvSpPr/>
          <p:nvPr/>
        </p:nvSpPr>
        <p:spPr>
          <a:xfrm>
            <a:off x="6488450" y="3427320"/>
            <a:ext cx="2082470" cy="727568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BE" sz="2400" dirty="0">
                <a:solidFill>
                  <a:schemeClr val="tx1"/>
                </a:solidFill>
              </a:rPr>
              <a:t>Période évaluée</a:t>
            </a:r>
            <a:endParaRPr lang="en-US" sz="2400" dirty="0">
              <a:solidFill>
                <a:schemeClr val="tx1"/>
              </a:solidFill>
            </a:endParaRPr>
          </a:p>
        </p:txBody>
      </p:sp>
      <p:sp>
        <p:nvSpPr>
          <p:cNvPr id="47" name="ZoneTexte 46"/>
          <p:cNvSpPr txBox="1"/>
          <p:nvPr/>
        </p:nvSpPr>
        <p:spPr>
          <a:xfrm>
            <a:off x="6650239" y="2612801"/>
            <a:ext cx="174160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BE" sz="3200" dirty="0"/>
              <a:t>12 mois</a:t>
            </a:r>
            <a:endParaRPr lang="en-US" sz="3200" dirty="0"/>
          </a:p>
        </p:txBody>
      </p:sp>
      <p:sp>
        <p:nvSpPr>
          <p:cNvPr id="48" name="Parenthèse fermante 47"/>
          <p:cNvSpPr/>
          <p:nvPr/>
        </p:nvSpPr>
        <p:spPr>
          <a:xfrm rot="16200000">
            <a:off x="7409455" y="2278874"/>
            <a:ext cx="227442" cy="2069450"/>
          </a:xfrm>
          <a:prstGeom prst="rightBracket">
            <a:avLst/>
          </a:prstGeom>
          <a:ln w="412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9" name="Connecteur droit 48"/>
          <p:cNvCxnSpPr/>
          <p:nvPr/>
        </p:nvCxnSpPr>
        <p:spPr>
          <a:xfrm>
            <a:off x="6485363" y="2595941"/>
            <a:ext cx="9597" cy="232902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Connecteur droit 50"/>
          <p:cNvCxnSpPr/>
          <p:nvPr/>
        </p:nvCxnSpPr>
        <p:spPr>
          <a:xfrm>
            <a:off x="4412825" y="2656032"/>
            <a:ext cx="9597" cy="232902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ZoneTexte 54"/>
          <p:cNvSpPr txBox="1"/>
          <p:nvPr/>
        </p:nvSpPr>
        <p:spPr>
          <a:xfrm>
            <a:off x="7971726" y="5067238"/>
            <a:ext cx="118761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BE" dirty="0">
                <a:solidFill>
                  <a:srgbClr val="00B050"/>
                </a:solidFill>
              </a:rPr>
              <a:t>1 </a:t>
            </a:r>
            <a:r>
              <a:rPr lang="fr-BE" baseline="30000" dirty="0">
                <a:solidFill>
                  <a:srgbClr val="00B050"/>
                </a:solidFill>
              </a:rPr>
              <a:t>er</a:t>
            </a:r>
            <a:r>
              <a:rPr lang="fr-BE" dirty="0">
                <a:solidFill>
                  <a:srgbClr val="00B050"/>
                </a:solidFill>
              </a:rPr>
              <a:t>  Entretien positif</a:t>
            </a:r>
            <a:endParaRPr lang="en-US" dirty="0">
              <a:solidFill>
                <a:srgbClr val="00B050"/>
              </a:solidFill>
            </a:endParaRPr>
          </a:p>
          <a:p>
            <a:pPr algn="ctr"/>
            <a:endParaRPr lang="en-US" dirty="0">
              <a:solidFill>
                <a:srgbClr val="00B050"/>
              </a:solidFill>
            </a:endParaRPr>
          </a:p>
        </p:txBody>
      </p:sp>
      <p:cxnSp>
        <p:nvCxnSpPr>
          <p:cNvPr id="56" name="Connecteur droit 55"/>
          <p:cNvCxnSpPr/>
          <p:nvPr/>
        </p:nvCxnSpPr>
        <p:spPr>
          <a:xfrm>
            <a:off x="8575463" y="2595941"/>
            <a:ext cx="9597" cy="232902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ZoneTexte 3">
            <a:extLst>
              <a:ext uri="{FF2B5EF4-FFF2-40B4-BE49-F238E27FC236}">
                <a16:creationId xmlns:a16="http://schemas.microsoft.com/office/drawing/2014/main" id="{69C4A3B3-8046-4DB5-AA5E-D75AF5CD2B04}"/>
              </a:ext>
            </a:extLst>
          </p:cNvPr>
          <p:cNvSpPr txBox="1"/>
          <p:nvPr/>
        </p:nvSpPr>
        <p:spPr>
          <a:xfrm>
            <a:off x="240955" y="1781422"/>
            <a:ext cx="22508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BE" sz="2400" b="1" u="sng" dirty="0"/>
              <a:t>Exemple 1</a:t>
            </a:r>
            <a:r>
              <a:rPr lang="fr-BE" sz="2400" b="1" dirty="0"/>
              <a:t>:</a:t>
            </a:r>
            <a:endParaRPr lang="fr-BE" sz="2400" b="1" u="sng" dirty="0"/>
          </a:p>
        </p:txBody>
      </p:sp>
    </p:spTree>
    <p:extLst>
      <p:ext uri="{BB962C8B-B14F-4D97-AF65-F5344CB8AC3E}">
        <p14:creationId xmlns:p14="http://schemas.microsoft.com/office/powerpoint/2010/main" val="38438871"/>
      </p:ext>
    </p:extLst>
  </p:cSld>
  <p:clrMapOvr>
    <a:masterClrMapping/>
  </p:clrMapOvr>
  <p:transition>
    <p:dissolv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1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2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5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6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15" grpId="0"/>
      <p:bldP spid="19" grpId="0" animBg="1"/>
      <p:bldP spid="25" grpId="0" animBg="1"/>
      <p:bldP spid="37" grpId="0"/>
      <p:bldP spid="32" grpId="0"/>
      <p:bldP spid="41" grpId="0" animBg="1"/>
      <p:bldP spid="42" grpId="0"/>
      <p:bldP spid="43" grpId="0" animBg="1"/>
      <p:bldP spid="9" grpId="0"/>
      <p:bldP spid="45" grpId="0"/>
      <p:bldP spid="46" grpId="0" animBg="1"/>
      <p:bldP spid="47" grpId="0"/>
      <p:bldP spid="48" grpId="0" animBg="1"/>
      <p:bldP spid="55" grpId="0"/>
      <p:bldP spid="4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261596" y="3306271"/>
            <a:ext cx="2082470" cy="727568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BE" sz="2400" dirty="0">
                <a:solidFill>
                  <a:prstClr val="black"/>
                </a:solidFill>
              </a:rPr>
              <a:t>Période évaluée</a:t>
            </a:r>
            <a:endParaRPr lang="en-US" sz="2400" dirty="0">
              <a:solidFill>
                <a:prstClr val="black"/>
              </a:solidFill>
            </a:endParaRPr>
          </a:p>
        </p:txBody>
      </p:sp>
      <p:sp>
        <p:nvSpPr>
          <p:cNvPr id="3" name="Titre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r"/>
            <a:r>
              <a:rPr lang="fr-BE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4.7. Contrôle de la disponibilité: Résumé</a:t>
            </a:r>
            <a:endParaRPr lang="en-US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ZoneTexte 14"/>
          <p:cNvSpPr txBox="1"/>
          <p:nvPr/>
        </p:nvSpPr>
        <p:spPr>
          <a:xfrm>
            <a:off x="2663264" y="2491419"/>
            <a:ext cx="174160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BE" sz="3200" dirty="0">
                <a:solidFill>
                  <a:prstClr val="black"/>
                </a:solidFill>
              </a:rPr>
              <a:t> </a:t>
            </a:r>
            <a:r>
              <a:rPr lang="fr-BE" sz="2400" dirty="0">
                <a:solidFill>
                  <a:prstClr val="black"/>
                </a:solidFill>
              </a:rPr>
              <a:t>5 mois</a:t>
            </a:r>
            <a:endParaRPr lang="en-US" sz="2400" dirty="0">
              <a:solidFill>
                <a:prstClr val="black"/>
              </a:solidFill>
            </a:endParaRPr>
          </a:p>
        </p:txBody>
      </p:sp>
      <p:sp>
        <p:nvSpPr>
          <p:cNvPr id="19" name="Parenthèse fermante 18"/>
          <p:cNvSpPr/>
          <p:nvPr/>
        </p:nvSpPr>
        <p:spPr>
          <a:xfrm rot="16200000">
            <a:off x="3182601" y="2157825"/>
            <a:ext cx="227442" cy="2069450"/>
          </a:xfrm>
          <a:prstGeom prst="rightBracket">
            <a:avLst/>
          </a:prstGeom>
          <a:ln w="412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black"/>
              </a:solidFill>
            </a:endParaRPr>
          </a:p>
        </p:txBody>
      </p:sp>
      <p:sp>
        <p:nvSpPr>
          <p:cNvPr id="25" name="ZoneTexte 24"/>
          <p:cNvSpPr txBox="1"/>
          <p:nvPr/>
        </p:nvSpPr>
        <p:spPr>
          <a:xfrm>
            <a:off x="359278" y="3345553"/>
            <a:ext cx="1895811" cy="707886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fr-BE" sz="4000" b="1" dirty="0">
                <a:solidFill>
                  <a:prstClr val="black"/>
                </a:solidFill>
              </a:rPr>
              <a:t>CCI</a:t>
            </a:r>
            <a:endParaRPr lang="en-US" sz="4000" b="1" dirty="0">
              <a:solidFill>
                <a:prstClr val="black"/>
              </a:solidFill>
            </a:endParaRPr>
          </a:p>
        </p:txBody>
      </p:sp>
      <p:cxnSp>
        <p:nvCxnSpPr>
          <p:cNvPr id="33" name="Connecteur droit avec flèche 32"/>
          <p:cNvCxnSpPr/>
          <p:nvPr/>
        </p:nvCxnSpPr>
        <p:spPr>
          <a:xfrm>
            <a:off x="172528" y="4047847"/>
            <a:ext cx="8798943" cy="0"/>
          </a:xfrm>
          <a:prstGeom prst="straightConnector1">
            <a:avLst/>
          </a:prstGeom>
          <a:ln w="444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necteur droit 35"/>
          <p:cNvCxnSpPr/>
          <p:nvPr/>
        </p:nvCxnSpPr>
        <p:spPr>
          <a:xfrm>
            <a:off x="2261596" y="2491752"/>
            <a:ext cx="0" cy="231216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ZoneTexte 36"/>
          <p:cNvSpPr txBox="1"/>
          <p:nvPr/>
        </p:nvSpPr>
        <p:spPr>
          <a:xfrm>
            <a:off x="1667788" y="5002336"/>
            <a:ext cx="118761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BE" dirty="0">
                <a:solidFill>
                  <a:srgbClr val="FF0000"/>
                </a:solidFill>
              </a:rPr>
              <a:t>1 </a:t>
            </a:r>
            <a:r>
              <a:rPr lang="fr-BE" baseline="30000" dirty="0">
                <a:solidFill>
                  <a:srgbClr val="FF0000"/>
                </a:solidFill>
              </a:rPr>
              <a:t>er</a:t>
            </a:r>
            <a:r>
              <a:rPr lang="fr-BE" dirty="0">
                <a:solidFill>
                  <a:srgbClr val="FF0000"/>
                </a:solidFill>
              </a:rPr>
              <a:t>  Entretien Négatif</a:t>
            </a:r>
          </a:p>
          <a:p>
            <a:pPr algn="ctr"/>
            <a:r>
              <a:rPr lang="fr-BE" b="1" dirty="0">
                <a:solidFill>
                  <a:srgbClr val="FF0000"/>
                </a:solidFill>
              </a:rPr>
              <a:t>AVERTISSEMENT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40" name="Espace réservé du numéro de diapositive 39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</p:spPr>
        <p:txBody>
          <a:bodyPr/>
          <a:lstStyle/>
          <a:p>
            <a:fld id="{55E9056B-6A30-4F99-BDE9-C450E66AE125}" type="slidenum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20</a:t>
            </a:fld>
            <a:endParaRPr lang="fr-FR" dirty="0">
              <a:solidFill>
                <a:prstClr val="black">
                  <a:tint val="75000"/>
                </a:prstClr>
              </a:solidFill>
            </a:endParaRPr>
          </a:p>
        </p:txBody>
      </p:sp>
      <p:cxnSp>
        <p:nvCxnSpPr>
          <p:cNvPr id="5" name="Connecteur droit avec flèche 4"/>
          <p:cNvCxnSpPr/>
          <p:nvPr/>
        </p:nvCxnSpPr>
        <p:spPr>
          <a:xfrm>
            <a:off x="402913" y="4247799"/>
            <a:ext cx="1852176" cy="0"/>
          </a:xfrm>
          <a:prstGeom prst="straightConnector1">
            <a:avLst/>
          </a:prstGeom>
          <a:ln w="476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ZoneTexte 31"/>
          <p:cNvSpPr txBox="1"/>
          <p:nvPr/>
        </p:nvSpPr>
        <p:spPr>
          <a:xfrm>
            <a:off x="3737239" y="4946189"/>
            <a:ext cx="128453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BE" dirty="0">
                <a:solidFill>
                  <a:srgbClr val="FF0000"/>
                </a:solidFill>
              </a:rPr>
              <a:t>2 </a:t>
            </a:r>
            <a:r>
              <a:rPr lang="fr-BE" baseline="30000" dirty="0" err="1">
                <a:solidFill>
                  <a:srgbClr val="FF0000"/>
                </a:solidFill>
              </a:rPr>
              <a:t>ème</a:t>
            </a:r>
            <a:r>
              <a:rPr lang="fr-BE" dirty="0">
                <a:solidFill>
                  <a:srgbClr val="FF0000"/>
                </a:solidFill>
              </a:rPr>
              <a:t>  Entretien négatif</a:t>
            </a:r>
          </a:p>
          <a:p>
            <a:pPr algn="ctr"/>
            <a:r>
              <a:rPr lang="fr-BE" b="1" dirty="0">
                <a:solidFill>
                  <a:srgbClr val="FF0000"/>
                </a:solidFill>
              </a:rPr>
              <a:t>EXCLUSION 13 SEM.</a:t>
            </a:r>
            <a:endParaRPr lang="en-US" b="1" dirty="0">
              <a:solidFill>
                <a:srgbClr val="FF0000"/>
              </a:solidFill>
            </a:endParaRPr>
          </a:p>
          <a:p>
            <a:pPr algn="ctr"/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41" name="Rectangle 40"/>
          <p:cNvSpPr/>
          <p:nvPr/>
        </p:nvSpPr>
        <p:spPr>
          <a:xfrm>
            <a:off x="4344063" y="3306271"/>
            <a:ext cx="2082470" cy="727568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BE" sz="2400" dirty="0">
                <a:solidFill>
                  <a:prstClr val="black"/>
                </a:solidFill>
              </a:rPr>
              <a:t>Période évaluée</a:t>
            </a:r>
            <a:endParaRPr lang="en-US" sz="2400" dirty="0">
              <a:solidFill>
                <a:prstClr val="black"/>
              </a:solidFill>
            </a:endParaRPr>
          </a:p>
        </p:txBody>
      </p:sp>
      <p:sp>
        <p:nvSpPr>
          <p:cNvPr id="42" name="ZoneTexte 41"/>
          <p:cNvSpPr txBox="1"/>
          <p:nvPr/>
        </p:nvSpPr>
        <p:spPr>
          <a:xfrm>
            <a:off x="4731915" y="2623277"/>
            <a:ext cx="232412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BE" sz="2400" dirty="0">
                <a:solidFill>
                  <a:prstClr val="black"/>
                </a:solidFill>
              </a:rPr>
              <a:t> 6 mois max.</a:t>
            </a:r>
            <a:endParaRPr lang="en-US" sz="2400" dirty="0">
              <a:solidFill>
                <a:prstClr val="black"/>
              </a:solidFill>
            </a:endParaRPr>
          </a:p>
        </p:txBody>
      </p:sp>
      <p:sp>
        <p:nvSpPr>
          <p:cNvPr id="43" name="Parenthèse fermante 42"/>
          <p:cNvSpPr/>
          <p:nvPr/>
        </p:nvSpPr>
        <p:spPr>
          <a:xfrm rot="16200000">
            <a:off x="5475248" y="2364809"/>
            <a:ext cx="177229" cy="1660251"/>
          </a:xfrm>
          <a:prstGeom prst="rightBracket">
            <a:avLst/>
          </a:prstGeom>
          <a:ln w="412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black"/>
              </a:solidFill>
            </a:endParaRPr>
          </a:p>
        </p:txBody>
      </p:sp>
      <p:sp>
        <p:nvSpPr>
          <p:cNvPr id="9" name="ZoneTexte 8"/>
          <p:cNvSpPr txBox="1"/>
          <p:nvPr/>
        </p:nvSpPr>
        <p:spPr>
          <a:xfrm>
            <a:off x="469993" y="4294259"/>
            <a:ext cx="149413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BE" sz="2400" dirty="0">
                <a:solidFill>
                  <a:prstClr val="black"/>
                </a:solidFill>
              </a:rPr>
              <a:t>  IDE</a:t>
            </a:r>
            <a:endParaRPr lang="en-US" sz="2400" dirty="0">
              <a:solidFill>
                <a:prstClr val="black"/>
              </a:solidFill>
            </a:endParaRPr>
          </a:p>
          <a:p>
            <a:r>
              <a:rPr lang="en-US" sz="2400" dirty="0">
                <a:solidFill>
                  <a:prstClr val="black"/>
                </a:solidFill>
              </a:rPr>
              <a:t>≥ 9 </a:t>
            </a:r>
            <a:r>
              <a:rPr lang="en-US" sz="2400" dirty="0" err="1">
                <a:solidFill>
                  <a:prstClr val="black"/>
                </a:solidFill>
              </a:rPr>
              <a:t>mois</a:t>
            </a:r>
            <a:endParaRPr lang="en-US" sz="2400" dirty="0">
              <a:solidFill>
                <a:prstClr val="black"/>
              </a:solidFill>
            </a:endParaRPr>
          </a:p>
        </p:txBody>
      </p:sp>
      <p:sp>
        <p:nvSpPr>
          <p:cNvPr id="45" name="ZoneTexte 44"/>
          <p:cNvSpPr txBox="1"/>
          <p:nvPr/>
        </p:nvSpPr>
        <p:spPr>
          <a:xfrm>
            <a:off x="5813199" y="4946189"/>
            <a:ext cx="129680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BE" dirty="0">
                <a:solidFill>
                  <a:srgbClr val="FF0000"/>
                </a:solidFill>
              </a:rPr>
              <a:t>3</a:t>
            </a:r>
            <a:r>
              <a:rPr lang="fr-BE" baseline="30000" dirty="0">
                <a:solidFill>
                  <a:srgbClr val="FF0000"/>
                </a:solidFill>
              </a:rPr>
              <a:t>ème</a:t>
            </a:r>
            <a:r>
              <a:rPr lang="fr-BE" dirty="0">
                <a:solidFill>
                  <a:srgbClr val="FF0000"/>
                </a:solidFill>
              </a:rPr>
              <a:t>  Entretien négatif</a:t>
            </a:r>
            <a:endParaRPr lang="en-US" dirty="0">
              <a:solidFill>
                <a:srgbClr val="FF0000"/>
              </a:solidFill>
            </a:endParaRPr>
          </a:p>
          <a:p>
            <a:pPr algn="ctr"/>
            <a:r>
              <a:rPr lang="fr-BE" b="1" dirty="0">
                <a:solidFill>
                  <a:srgbClr val="FF0000"/>
                </a:solidFill>
              </a:rPr>
              <a:t>PERTE DU DROIT</a:t>
            </a:r>
            <a:endParaRPr lang="en-US" b="1" dirty="0">
              <a:solidFill>
                <a:srgbClr val="FF0000"/>
              </a:solidFill>
            </a:endParaRPr>
          </a:p>
        </p:txBody>
      </p:sp>
      <p:cxnSp>
        <p:nvCxnSpPr>
          <p:cNvPr id="49" name="Connecteur droit 48"/>
          <p:cNvCxnSpPr/>
          <p:nvPr/>
        </p:nvCxnSpPr>
        <p:spPr>
          <a:xfrm>
            <a:off x="6416936" y="2474892"/>
            <a:ext cx="9597" cy="232902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Connecteur droit 50"/>
          <p:cNvCxnSpPr/>
          <p:nvPr/>
        </p:nvCxnSpPr>
        <p:spPr>
          <a:xfrm>
            <a:off x="4344398" y="2534983"/>
            <a:ext cx="9597" cy="232902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ZoneTexte 5"/>
          <p:cNvSpPr txBox="1"/>
          <p:nvPr/>
        </p:nvSpPr>
        <p:spPr>
          <a:xfrm>
            <a:off x="526574" y="2900276"/>
            <a:ext cx="16048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BE" b="1" dirty="0"/>
              <a:t>Cohabitant</a:t>
            </a:r>
            <a:endParaRPr lang="en-US" b="1" dirty="0"/>
          </a:p>
        </p:txBody>
      </p:sp>
      <p:cxnSp>
        <p:nvCxnSpPr>
          <p:cNvPr id="7" name="Connecteur droit 6"/>
          <p:cNvCxnSpPr/>
          <p:nvPr/>
        </p:nvCxnSpPr>
        <p:spPr>
          <a:xfrm>
            <a:off x="4733737" y="3306271"/>
            <a:ext cx="0" cy="741576"/>
          </a:xfrm>
          <a:prstGeom prst="line">
            <a:avLst/>
          </a:prstGeom>
          <a:ln w="412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ZoneTexte 21">
            <a:extLst>
              <a:ext uri="{FF2B5EF4-FFF2-40B4-BE49-F238E27FC236}">
                <a16:creationId xmlns:a16="http://schemas.microsoft.com/office/drawing/2014/main" id="{BAB2E6F3-2051-439A-8455-8B6C1ED9CB56}"/>
              </a:ext>
            </a:extLst>
          </p:cNvPr>
          <p:cNvSpPr txBox="1"/>
          <p:nvPr/>
        </p:nvSpPr>
        <p:spPr>
          <a:xfrm>
            <a:off x="172528" y="1898188"/>
            <a:ext cx="22508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BE" sz="2400" b="1" u="sng" dirty="0"/>
              <a:t>Exemple 2</a:t>
            </a:r>
            <a:r>
              <a:rPr lang="fr-BE" sz="2400" b="1" dirty="0"/>
              <a:t>:</a:t>
            </a:r>
            <a:endParaRPr lang="fr-BE" sz="2400" b="1" u="sng" dirty="0"/>
          </a:p>
        </p:txBody>
      </p:sp>
    </p:spTree>
    <p:extLst>
      <p:ext uri="{BB962C8B-B14F-4D97-AF65-F5344CB8AC3E}">
        <p14:creationId xmlns:p14="http://schemas.microsoft.com/office/powerpoint/2010/main" val="442069677"/>
      </p:ext>
    </p:extLst>
  </p:cSld>
  <p:clrMapOvr>
    <a:masterClrMapping/>
  </p:clrMapOvr>
  <p:transition>
    <p:dissolv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15" grpId="0"/>
      <p:bldP spid="19" grpId="0" animBg="1"/>
      <p:bldP spid="25" grpId="0" animBg="1"/>
      <p:bldP spid="37" grpId="0"/>
      <p:bldP spid="32" grpId="0"/>
      <p:bldP spid="41" grpId="0" animBg="1"/>
      <p:bldP spid="42" grpId="0"/>
      <p:bldP spid="43" grpId="0" animBg="1"/>
      <p:bldP spid="9" grpId="0"/>
      <p:bldP spid="45" grpId="0"/>
      <p:bldP spid="6" grpId="0"/>
      <p:bldP spid="22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315883" y="3063536"/>
            <a:ext cx="2082470" cy="727568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BE" sz="2400" dirty="0">
                <a:solidFill>
                  <a:schemeClr val="tx1"/>
                </a:solidFill>
              </a:rPr>
              <a:t>Période évaluée</a:t>
            </a:r>
            <a:endParaRPr lang="en-US" sz="2400" dirty="0">
              <a:solidFill>
                <a:schemeClr val="tx1"/>
              </a:solidFill>
            </a:endParaRPr>
          </a:p>
        </p:txBody>
      </p:sp>
      <p:sp>
        <p:nvSpPr>
          <p:cNvPr id="3" name="Titre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r"/>
            <a:r>
              <a:rPr lang="fr-BE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4.7. Contrôle de la disponibilité: Résumé</a:t>
            </a:r>
            <a:endParaRPr lang="en-US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ZoneTexte 14"/>
          <p:cNvSpPr txBox="1"/>
          <p:nvPr/>
        </p:nvSpPr>
        <p:spPr>
          <a:xfrm>
            <a:off x="2477672" y="2249017"/>
            <a:ext cx="174160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BE" sz="3200" dirty="0"/>
              <a:t> 5 mois</a:t>
            </a:r>
            <a:endParaRPr lang="en-US" sz="3200" dirty="0"/>
          </a:p>
        </p:txBody>
      </p:sp>
      <p:sp>
        <p:nvSpPr>
          <p:cNvPr id="19" name="Parenthèse fermante 18"/>
          <p:cNvSpPr/>
          <p:nvPr/>
        </p:nvSpPr>
        <p:spPr>
          <a:xfrm rot="16200000">
            <a:off x="3236888" y="1915090"/>
            <a:ext cx="227442" cy="2069450"/>
          </a:xfrm>
          <a:prstGeom prst="rightBracket">
            <a:avLst/>
          </a:prstGeom>
          <a:ln w="412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ZoneTexte 24"/>
          <p:cNvSpPr txBox="1"/>
          <p:nvPr/>
        </p:nvSpPr>
        <p:spPr>
          <a:xfrm>
            <a:off x="413565" y="3102818"/>
            <a:ext cx="1895811" cy="707886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fr-BE" sz="4000" b="1" dirty="0"/>
              <a:t>CCI</a:t>
            </a:r>
            <a:endParaRPr lang="en-US" sz="4000" b="1" dirty="0"/>
          </a:p>
        </p:txBody>
      </p:sp>
      <p:cxnSp>
        <p:nvCxnSpPr>
          <p:cNvPr id="33" name="Connecteur droit avec flèche 32"/>
          <p:cNvCxnSpPr/>
          <p:nvPr/>
        </p:nvCxnSpPr>
        <p:spPr>
          <a:xfrm>
            <a:off x="226815" y="3805112"/>
            <a:ext cx="8798943" cy="0"/>
          </a:xfrm>
          <a:prstGeom prst="straightConnector1">
            <a:avLst/>
          </a:prstGeom>
          <a:ln w="444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necteur droit 35"/>
          <p:cNvCxnSpPr/>
          <p:nvPr/>
        </p:nvCxnSpPr>
        <p:spPr>
          <a:xfrm>
            <a:off x="2315883" y="2249017"/>
            <a:ext cx="0" cy="231216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ZoneTexte 36"/>
          <p:cNvSpPr txBox="1"/>
          <p:nvPr/>
        </p:nvSpPr>
        <p:spPr>
          <a:xfrm>
            <a:off x="1722075" y="4759601"/>
            <a:ext cx="118761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BE" dirty="0">
                <a:solidFill>
                  <a:srgbClr val="FF0000"/>
                </a:solidFill>
              </a:rPr>
              <a:t>1 </a:t>
            </a:r>
            <a:r>
              <a:rPr lang="fr-BE" baseline="30000" dirty="0">
                <a:solidFill>
                  <a:srgbClr val="FF0000"/>
                </a:solidFill>
              </a:rPr>
              <a:t>er</a:t>
            </a:r>
            <a:r>
              <a:rPr lang="fr-BE" dirty="0">
                <a:solidFill>
                  <a:srgbClr val="FF0000"/>
                </a:solidFill>
              </a:rPr>
              <a:t>  Entretien négatif</a:t>
            </a:r>
          </a:p>
          <a:p>
            <a:pPr algn="ctr"/>
            <a:r>
              <a:rPr lang="fr-BE" b="1" dirty="0">
                <a:solidFill>
                  <a:srgbClr val="FF0000"/>
                </a:solidFill>
              </a:rPr>
              <a:t>AVERTISSEMENT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40" name="Espace réservé du numéro de diapositive 3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21</a:t>
            </a:fld>
            <a:endParaRPr lang="fr-FR"/>
          </a:p>
        </p:txBody>
      </p:sp>
      <p:cxnSp>
        <p:nvCxnSpPr>
          <p:cNvPr id="5" name="Connecteur droit avec flèche 4"/>
          <p:cNvCxnSpPr/>
          <p:nvPr/>
        </p:nvCxnSpPr>
        <p:spPr>
          <a:xfrm>
            <a:off x="457200" y="4005064"/>
            <a:ext cx="1852176" cy="0"/>
          </a:xfrm>
          <a:prstGeom prst="straightConnector1">
            <a:avLst/>
          </a:prstGeom>
          <a:ln w="476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ZoneTexte 31"/>
          <p:cNvSpPr txBox="1"/>
          <p:nvPr/>
        </p:nvSpPr>
        <p:spPr>
          <a:xfrm>
            <a:off x="3791526" y="4703454"/>
            <a:ext cx="118761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BE" dirty="0">
                <a:solidFill>
                  <a:srgbClr val="00B050"/>
                </a:solidFill>
              </a:rPr>
              <a:t>2</a:t>
            </a:r>
            <a:r>
              <a:rPr lang="fr-BE" baseline="30000" dirty="0">
                <a:solidFill>
                  <a:srgbClr val="00B050"/>
                </a:solidFill>
              </a:rPr>
              <a:t>ème</a:t>
            </a:r>
            <a:r>
              <a:rPr lang="fr-BE" dirty="0">
                <a:solidFill>
                  <a:srgbClr val="00B050"/>
                </a:solidFill>
              </a:rPr>
              <a:t>  Entretien positif</a:t>
            </a:r>
            <a:endParaRPr lang="en-US" dirty="0">
              <a:solidFill>
                <a:srgbClr val="00B050"/>
              </a:solidFill>
            </a:endParaRPr>
          </a:p>
          <a:p>
            <a:pPr algn="ctr"/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41" name="Rectangle 40"/>
          <p:cNvSpPr/>
          <p:nvPr/>
        </p:nvSpPr>
        <p:spPr>
          <a:xfrm>
            <a:off x="4398350" y="3063536"/>
            <a:ext cx="2082470" cy="727568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BE" sz="2400" dirty="0">
                <a:solidFill>
                  <a:schemeClr val="tx1"/>
                </a:solidFill>
              </a:rPr>
              <a:t>Période évaluée</a:t>
            </a:r>
            <a:endParaRPr lang="en-US" sz="2400" dirty="0">
              <a:solidFill>
                <a:schemeClr val="tx1"/>
              </a:solidFill>
            </a:endParaRPr>
          </a:p>
        </p:txBody>
      </p:sp>
      <p:sp>
        <p:nvSpPr>
          <p:cNvPr id="42" name="ZoneTexte 41"/>
          <p:cNvSpPr txBox="1"/>
          <p:nvPr/>
        </p:nvSpPr>
        <p:spPr>
          <a:xfrm>
            <a:off x="4560139" y="2249017"/>
            <a:ext cx="174160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BE" sz="3200" dirty="0"/>
              <a:t>12 mois</a:t>
            </a:r>
            <a:endParaRPr lang="en-US" sz="3200" dirty="0"/>
          </a:p>
        </p:txBody>
      </p:sp>
      <p:sp>
        <p:nvSpPr>
          <p:cNvPr id="43" name="Parenthèse fermante 42"/>
          <p:cNvSpPr/>
          <p:nvPr/>
        </p:nvSpPr>
        <p:spPr>
          <a:xfrm rot="16200000">
            <a:off x="5319355" y="1915090"/>
            <a:ext cx="227442" cy="2069450"/>
          </a:xfrm>
          <a:prstGeom prst="rightBracket">
            <a:avLst/>
          </a:prstGeom>
          <a:ln w="412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ZoneTexte 8"/>
          <p:cNvSpPr txBox="1"/>
          <p:nvPr/>
        </p:nvSpPr>
        <p:spPr>
          <a:xfrm>
            <a:off x="524280" y="4051524"/>
            <a:ext cx="149413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BE" sz="2400" dirty="0"/>
              <a:t>   IDE</a:t>
            </a:r>
            <a:endParaRPr lang="en-US" sz="2400" dirty="0"/>
          </a:p>
          <a:p>
            <a:r>
              <a:rPr lang="en-US" sz="2400" dirty="0"/>
              <a:t>≥ 9 </a:t>
            </a:r>
            <a:r>
              <a:rPr lang="en-US" sz="2400" dirty="0" err="1"/>
              <a:t>mois</a:t>
            </a:r>
            <a:endParaRPr lang="en-US" sz="2400" dirty="0"/>
          </a:p>
        </p:txBody>
      </p:sp>
      <p:sp>
        <p:nvSpPr>
          <p:cNvPr id="45" name="ZoneTexte 44"/>
          <p:cNvSpPr txBox="1"/>
          <p:nvPr/>
        </p:nvSpPr>
        <p:spPr>
          <a:xfrm>
            <a:off x="5867486" y="4703454"/>
            <a:ext cx="118761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BE" dirty="0">
                <a:solidFill>
                  <a:srgbClr val="00B050"/>
                </a:solidFill>
              </a:rPr>
              <a:t>1 </a:t>
            </a:r>
            <a:r>
              <a:rPr lang="fr-BE" baseline="30000" dirty="0">
                <a:solidFill>
                  <a:srgbClr val="00B050"/>
                </a:solidFill>
              </a:rPr>
              <a:t>er</a:t>
            </a:r>
            <a:r>
              <a:rPr lang="fr-BE" dirty="0">
                <a:solidFill>
                  <a:srgbClr val="00B050"/>
                </a:solidFill>
              </a:rPr>
              <a:t>  Entretien positif</a:t>
            </a:r>
            <a:endParaRPr lang="en-US" dirty="0">
              <a:solidFill>
                <a:srgbClr val="00B050"/>
              </a:solidFill>
            </a:endParaRPr>
          </a:p>
          <a:p>
            <a:pPr algn="ctr"/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46" name="Rectangle 45"/>
          <p:cNvSpPr/>
          <p:nvPr/>
        </p:nvSpPr>
        <p:spPr>
          <a:xfrm>
            <a:off x="6474310" y="3063536"/>
            <a:ext cx="2082470" cy="727568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BE" sz="2400" dirty="0">
                <a:solidFill>
                  <a:schemeClr val="tx1"/>
                </a:solidFill>
              </a:rPr>
              <a:t>Période évaluée</a:t>
            </a:r>
            <a:endParaRPr lang="en-US" sz="2400" dirty="0">
              <a:solidFill>
                <a:schemeClr val="tx1"/>
              </a:solidFill>
            </a:endParaRPr>
          </a:p>
        </p:txBody>
      </p:sp>
      <p:sp>
        <p:nvSpPr>
          <p:cNvPr id="47" name="ZoneTexte 46"/>
          <p:cNvSpPr txBox="1"/>
          <p:nvPr/>
        </p:nvSpPr>
        <p:spPr>
          <a:xfrm>
            <a:off x="6636099" y="2249017"/>
            <a:ext cx="174160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BE" sz="3200" dirty="0"/>
              <a:t>12 mois</a:t>
            </a:r>
            <a:endParaRPr lang="en-US" sz="3200" dirty="0"/>
          </a:p>
        </p:txBody>
      </p:sp>
      <p:sp>
        <p:nvSpPr>
          <p:cNvPr id="48" name="Parenthèse fermante 47"/>
          <p:cNvSpPr/>
          <p:nvPr/>
        </p:nvSpPr>
        <p:spPr>
          <a:xfrm rot="16200000">
            <a:off x="7395315" y="1915090"/>
            <a:ext cx="227442" cy="2069450"/>
          </a:xfrm>
          <a:prstGeom prst="rightBracket">
            <a:avLst/>
          </a:prstGeom>
          <a:ln w="412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9" name="Connecteur droit 48"/>
          <p:cNvCxnSpPr/>
          <p:nvPr/>
        </p:nvCxnSpPr>
        <p:spPr>
          <a:xfrm>
            <a:off x="6471223" y="2232157"/>
            <a:ext cx="9597" cy="232902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Connecteur droit 50"/>
          <p:cNvCxnSpPr/>
          <p:nvPr/>
        </p:nvCxnSpPr>
        <p:spPr>
          <a:xfrm>
            <a:off x="4398685" y="2292248"/>
            <a:ext cx="9597" cy="232902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ZoneTexte 52"/>
          <p:cNvSpPr txBox="1"/>
          <p:nvPr/>
        </p:nvSpPr>
        <p:spPr>
          <a:xfrm>
            <a:off x="7957588" y="4690202"/>
            <a:ext cx="118761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BE" dirty="0">
                <a:solidFill>
                  <a:srgbClr val="FF0000"/>
                </a:solidFill>
              </a:rPr>
              <a:t>1 </a:t>
            </a:r>
            <a:r>
              <a:rPr lang="fr-BE" baseline="30000" dirty="0">
                <a:solidFill>
                  <a:srgbClr val="FF0000"/>
                </a:solidFill>
              </a:rPr>
              <a:t>er</a:t>
            </a:r>
            <a:r>
              <a:rPr lang="fr-BE" dirty="0">
                <a:solidFill>
                  <a:srgbClr val="FF0000"/>
                </a:solidFill>
              </a:rPr>
              <a:t>  Entretien négatif</a:t>
            </a:r>
          </a:p>
          <a:p>
            <a:pPr algn="ctr"/>
            <a:r>
              <a:rPr lang="fr-BE" b="1" dirty="0">
                <a:solidFill>
                  <a:srgbClr val="FF0000"/>
                </a:solidFill>
              </a:rPr>
              <a:t>AVERTISSEMENT</a:t>
            </a:r>
            <a:endParaRPr lang="en-US" b="1" dirty="0">
              <a:solidFill>
                <a:srgbClr val="FF0000"/>
              </a:solidFill>
            </a:endParaRPr>
          </a:p>
          <a:p>
            <a:pPr algn="ctr"/>
            <a:endParaRPr lang="en-US" dirty="0"/>
          </a:p>
        </p:txBody>
      </p:sp>
      <p:cxnSp>
        <p:nvCxnSpPr>
          <p:cNvPr id="54" name="Connecteur droit 53"/>
          <p:cNvCxnSpPr/>
          <p:nvPr/>
        </p:nvCxnSpPr>
        <p:spPr>
          <a:xfrm>
            <a:off x="8561325" y="2218905"/>
            <a:ext cx="9597" cy="232902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ZoneTexte 30">
            <a:extLst>
              <a:ext uri="{FF2B5EF4-FFF2-40B4-BE49-F238E27FC236}">
                <a16:creationId xmlns:a16="http://schemas.microsoft.com/office/drawing/2014/main" id="{B025D351-D8E4-4D99-907F-7A0319458008}"/>
              </a:ext>
            </a:extLst>
          </p:cNvPr>
          <p:cNvSpPr txBox="1"/>
          <p:nvPr/>
        </p:nvSpPr>
        <p:spPr>
          <a:xfrm>
            <a:off x="224548" y="1760292"/>
            <a:ext cx="22508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BE" sz="2400" b="1" u="sng" dirty="0"/>
              <a:t>Exemple 3</a:t>
            </a:r>
            <a:r>
              <a:rPr lang="fr-BE" sz="2400" b="1" dirty="0"/>
              <a:t>:</a:t>
            </a:r>
            <a:endParaRPr lang="fr-BE" sz="2400" b="1" u="sng" dirty="0"/>
          </a:p>
        </p:txBody>
      </p:sp>
    </p:spTree>
    <p:extLst>
      <p:ext uri="{BB962C8B-B14F-4D97-AF65-F5344CB8AC3E}">
        <p14:creationId xmlns:p14="http://schemas.microsoft.com/office/powerpoint/2010/main" val="3730547056"/>
      </p:ext>
    </p:extLst>
  </p:cSld>
  <p:clrMapOvr>
    <a:masterClrMapping/>
  </p:clrMapOvr>
  <p:transition>
    <p:dissolv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1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2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5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6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15" grpId="0"/>
      <p:bldP spid="19" grpId="0" animBg="1"/>
      <p:bldP spid="25" grpId="0" animBg="1"/>
      <p:bldP spid="37" grpId="0"/>
      <p:bldP spid="32" grpId="0"/>
      <p:bldP spid="41" grpId="0" animBg="1"/>
      <p:bldP spid="42" grpId="0"/>
      <p:bldP spid="43" grpId="0" animBg="1"/>
      <p:bldP spid="9" grpId="0"/>
      <p:bldP spid="45" grpId="0"/>
      <p:bldP spid="46" grpId="0" animBg="1"/>
      <p:bldP spid="47" grpId="0"/>
      <p:bldP spid="48" grpId="0" animBg="1"/>
      <p:bldP spid="53" grpId="0"/>
      <p:bldP spid="31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303442" y="3077575"/>
            <a:ext cx="1828398" cy="75281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BE" sz="2400" dirty="0">
                <a:solidFill>
                  <a:schemeClr val="tx1"/>
                </a:solidFill>
              </a:rPr>
              <a:t>Période évaluée</a:t>
            </a:r>
            <a:endParaRPr lang="en-US" sz="2400" dirty="0">
              <a:solidFill>
                <a:schemeClr val="tx1"/>
              </a:solidFill>
            </a:endParaRPr>
          </a:p>
        </p:txBody>
      </p:sp>
      <p:sp>
        <p:nvSpPr>
          <p:cNvPr id="3" name="Titre 2"/>
          <p:cNvSpPr>
            <a:spLocks noGrp="1"/>
          </p:cNvSpPr>
          <p:nvPr>
            <p:ph type="title"/>
          </p:nvPr>
        </p:nvSpPr>
        <p:spPr>
          <a:xfrm>
            <a:off x="511486" y="271496"/>
            <a:ext cx="8229600" cy="1143000"/>
          </a:xfrm>
        </p:spPr>
        <p:txBody>
          <a:bodyPr>
            <a:normAutofit fontScale="90000"/>
          </a:bodyPr>
          <a:lstStyle/>
          <a:p>
            <a:pPr algn="r"/>
            <a:r>
              <a:rPr lang="fr-BE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4.7. Contrôle de la disponibilité: Résumé</a:t>
            </a:r>
            <a:endParaRPr lang="en-US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ZoneTexte 14"/>
          <p:cNvSpPr txBox="1"/>
          <p:nvPr/>
        </p:nvSpPr>
        <p:spPr>
          <a:xfrm>
            <a:off x="1465231" y="2288298"/>
            <a:ext cx="174160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BE" sz="3200" dirty="0"/>
              <a:t> 5 mois</a:t>
            </a:r>
            <a:endParaRPr lang="en-US" sz="3200" dirty="0"/>
          </a:p>
        </p:txBody>
      </p:sp>
      <p:sp>
        <p:nvSpPr>
          <p:cNvPr id="19" name="Parenthèse fermante 18"/>
          <p:cNvSpPr/>
          <p:nvPr/>
        </p:nvSpPr>
        <p:spPr>
          <a:xfrm rot="16200000">
            <a:off x="2096460" y="2057707"/>
            <a:ext cx="227442" cy="1816967"/>
          </a:xfrm>
          <a:prstGeom prst="rightBracket">
            <a:avLst/>
          </a:prstGeom>
          <a:ln w="412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ZoneTexte 24"/>
          <p:cNvSpPr txBox="1"/>
          <p:nvPr/>
        </p:nvSpPr>
        <p:spPr>
          <a:xfrm>
            <a:off x="212602" y="3102817"/>
            <a:ext cx="1062091" cy="707886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fr-BE" sz="4000" b="1" dirty="0"/>
              <a:t>CCI</a:t>
            </a:r>
            <a:endParaRPr lang="en-US" sz="4000" b="1" dirty="0"/>
          </a:p>
        </p:txBody>
      </p:sp>
      <p:cxnSp>
        <p:nvCxnSpPr>
          <p:cNvPr id="36" name="Connecteur droit 35"/>
          <p:cNvCxnSpPr/>
          <p:nvPr/>
        </p:nvCxnSpPr>
        <p:spPr>
          <a:xfrm>
            <a:off x="1291837" y="2378037"/>
            <a:ext cx="0" cy="231216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ZoneTexte 36"/>
          <p:cNvSpPr txBox="1"/>
          <p:nvPr/>
        </p:nvSpPr>
        <p:spPr>
          <a:xfrm>
            <a:off x="709634" y="4798882"/>
            <a:ext cx="118761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BE" dirty="0">
                <a:solidFill>
                  <a:srgbClr val="FF0000"/>
                </a:solidFill>
              </a:rPr>
              <a:t>1 </a:t>
            </a:r>
            <a:r>
              <a:rPr lang="fr-BE" baseline="30000" dirty="0">
                <a:solidFill>
                  <a:srgbClr val="FF0000"/>
                </a:solidFill>
              </a:rPr>
              <a:t>er</a:t>
            </a:r>
            <a:r>
              <a:rPr lang="fr-BE" dirty="0">
                <a:solidFill>
                  <a:srgbClr val="FF0000"/>
                </a:solidFill>
              </a:rPr>
              <a:t>  Entretien Négatif</a:t>
            </a:r>
          </a:p>
          <a:p>
            <a:pPr algn="ctr"/>
            <a:r>
              <a:rPr lang="fr-BE" b="1" dirty="0">
                <a:solidFill>
                  <a:srgbClr val="FF0000"/>
                </a:solidFill>
              </a:rPr>
              <a:t>AVERTISSEMENT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40" name="Espace réservé du numéro de diapositive 3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22</a:t>
            </a:fld>
            <a:endParaRPr lang="fr-FR" dirty="0"/>
          </a:p>
        </p:txBody>
      </p:sp>
      <p:cxnSp>
        <p:nvCxnSpPr>
          <p:cNvPr id="5" name="Connecteur droit avec flèche 4"/>
          <p:cNvCxnSpPr/>
          <p:nvPr/>
        </p:nvCxnSpPr>
        <p:spPr>
          <a:xfrm rot="-240000">
            <a:off x="302094" y="3959981"/>
            <a:ext cx="969255" cy="76579"/>
          </a:xfrm>
          <a:prstGeom prst="straightConnector1">
            <a:avLst/>
          </a:prstGeom>
          <a:ln w="476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ZoneTexte 31"/>
          <p:cNvSpPr txBox="1"/>
          <p:nvPr/>
        </p:nvSpPr>
        <p:spPr>
          <a:xfrm>
            <a:off x="2539692" y="4703454"/>
            <a:ext cx="118761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BE" dirty="0">
                <a:solidFill>
                  <a:srgbClr val="00B050"/>
                </a:solidFill>
              </a:rPr>
              <a:t>2 </a:t>
            </a:r>
            <a:r>
              <a:rPr lang="fr-BE" baseline="30000" dirty="0" err="1">
                <a:solidFill>
                  <a:srgbClr val="00B050"/>
                </a:solidFill>
              </a:rPr>
              <a:t>ème</a:t>
            </a:r>
            <a:r>
              <a:rPr lang="fr-BE" dirty="0">
                <a:solidFill>
                  <a:srgbClr val="00B050"/>
                </a:solidFill>
              </a:rPr>
              <a:t>  Entretien positif</a:t>
            </a:r>
            <a:endParaRPr lang="en-US" dirty="0">
              <a:solidFill>
                <a:srgbClr val="00B050"/>
              </a:solidFill>
            </a:endParaRPr>
          </a:p>
          <a:p>
            <a:pPr algn="ctr"/>
            <a:endParaRPr lang="en-US" dirty="0"/>
          </a:p>
        </p:txBody>
      </p:sp>
      <p:sp>
        <p:nvSpPr>
          <p:cNvPr id="9" name="ZoneTexte 8"/>
          <p:cNvSpPr txBox="1"/>
          <p:nvPr/>
        </p:nvSpPr>
        <p:spPr>
          <a:xfrm>
            <a:off x="57238" y="3991348"/>
            <a:ext cx="149413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BE" sz="2400" dirty="0"/>
              <a:t>   IDE</a:t>
            </a:r>
            <a:endParaRPr lang="en-US" sz="2400" dirty="0"/>
          </a:p>
          <a:p>
            <a:r>
              <a:rPr lang="en-US" sz="2400" dirty="0"/>
              <a:t>≥ 9 </a:t>
            </a:r>
            <a:r>
              <a:rPr lang="en-US" sz="2400" dirty="0" err="1"/>
              <a:t>mois</a:t>
            </a:r>
            <a:endParaRPr lang="en-US" sz="2400" dirty="0"/>
          </a:p>
        </p:txBody>
      </p:sp>
      <p:sp>
        <p:nvSpPr>
          <p:cNvPr id="45" name="ZoneTexte 44"/>
          <p:cNvSpPr txBox="1"/>
          <p:nvPr/>
        </p:nvSpPr>
        <p:spPr>
          <a:xfrm>
            <a:off x="4420405" y="4703454"/>
            <a:ext cx="1296802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BE" dirty="0">
                <a:solidFill>
                  <a:srgbClr val="FF0000"/>
                </a:solidFill>
              </a:rPr>
              <a:t>1 </a:t>
            </a:r>
            <a:r>
              <a:rPr lang="fr-BE" baseline="30000" dirty="0">
                <a:solidFill>
                  <a:srgbClr val="FF0000"/>
                </a:solidFill>
              </a:rPr>
              <a:t>er</a:t>
            </a:r>
            <a:r>
              <a:rPr lang="fr-BE" dirty="0">
                <a:solidFill>
                  <a:srgbClr val="FF0000"/>
                </a:solidFill>
              </a:rPr>
              <a:t>  Entretien négatif</a:t>
            </a:r>
          </a:p>
          <a:p>
            <a:pPr algn="ctr"/>
            <a:r>
              <a:rPr lang="fr-BE" b="1" dirty="0">
                <a:solidFill>
                  <a:srgbClr val="FF0000"/>
                </a:solidFill>
              </a:rPr>
              <a:t>AVERTISSEMENT</a:t>
            </a:r>
            <a:endParaRPr lang="en-US" b="1" dirty="0">
              <a:solidFill>
                <a:srgbClr val="FF0000"/>
              </a:solidFill>
            </a:endParaRPr>
          </a:p>
          <a:p>
            <a:pPr algn="ctr"/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53" name="ZoneTexte 52"/>
          <p:cNvSpPr txBox="1"/>
          <p:nvPr/>
        </p:nvSpPr>
        <p:spPr>
          <a:xfrm>
            <a:off x="6261144" y="4690202"/>
            <a:ext cx="118761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BE" dirty="0">
                <a:solidFill>
                  <a:srgbClr val="00B050"/>
                </a:solidFill>
              </a:rPr>
              <a:t>2</a:t>
            </a:r>
            <a:r>
              <a:rPr lang="fr-BE" baseline="30000" dirty="0">
                <a:solidFill>
                  <a:srgbClr val="00B050"/>
                </a:solidFill>
              </a:rPr>
              <a:t>ème</a:t>
            </a:r>
            <a:r>
              <a:rPr lang="fr-BE" dirty="0">
                <a:solidFill>
                  <a:srgbClr val="00B050"/>
                </a:solidFill>
              </a:rPr>
              <a:t>  Entretien positif</a:t>
            </a:r>
            <a:endParaRPr lang="en-US" dirty="0">
              <a:solidFill>
                <a:srgbClr val="00B050"/>
              </a:solidFill>
            </a:endParaRPr>
          </a:p>
          <a:p>
            <a:pPr algn="ctr"/>
            <a:endParaRPr lang="en-US" dirty="0">
              <a:solidFill>
                <a:srgbClr val="00B050"/>
              </a:solidFill>
            </a:endParaRPr>
          </a:p>
        </p:txBody>
      </p:sp>
      <p:cxnSp>
        <p:nvCxnSpPr>
          <p:cNvPr id="54" name="Connecteur droit 53"/>
          <p:cNvCxnSpPr/>
          <p:nvPr/>
        </p:nvCxnSpPr>
        <p:spPr>
          <a:xfrm>
            <a:off x="6853239" y="2216444"/>
            <a:ext cx="9597" cy="232902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Rectangle 29"/>
          <p:cNvSpPr/>
          <p:nvPr/>
        </p:nvSpPr>
        <p:spPr>
          <a:xfrm>
            <a:off x="3155942" y="3082019"/>
            <a:ext cx="1848139" cy="727568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BE" sz="2400" dirty="0">
                <a:solidFill>
                  <a:schemeClr val="tx1"/>
                </a:solidFill>
              </a:rPr>
              <a:t>Période évaluée</a:t>
            </a:r>
            <a:endParaRPr lang="en-US" sz="2400" dirty="0">
              <a:solidFill>
                <a:schemeClr val="tx1"/>
              </a:solidFill>
            </a:endParaRPr>
          </a:p>
        </p:txBody>
      </p:sp>
      <p:sp>
        <p:nvSpPr>
          <p:cNvPr id="31" name="ZoneTexte 30"/>
          <p:cNvSpPr txBox="1"/>
          <p:nvPr/>
        </p:nvSpPr>
        <p:spPr>
          <a:xfrm>
            <a:off x="3337472" y="2256437"/>
            <a:ext cx="174160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BE" sz="3200" dirty="0"/>
              <a:t> 12 mois</a:t>
            </a:r>
            <a:endParaRPr lang="en-US" sz="3200" dirty="0"/>
          </a:p>
        </p:txBody>
      </p:sp>
      <p:sp>
        <p:nvSpPr>
          <p:cNvPr id="34" name="Parenthèse fermante 33"/>
          <p:cNvSpPr/>
          <p:nvPr/>
        </p:nvSpPr>
        <p:spPr>
          <a:xfrm rot="16200000">
            <a:off x="3978092" y="2057391"/>
            <a:ext cx="213443" cy="1826926"/>
          </a:xfrm>
          <a:prstGeom prst="rightBracket">
            <a:avLst/>
          </a:prstGeom>
          <a:ln w="412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/>
          <p:cNvSpPr/>
          <p:nvPr/>
        </p:nvSpPr>
        <p:spPr>
          <a:xfrm>
            <a:off x="5023136" y="3077575"/>
            <a:ext cx="1828398" cy="727568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BE" sz="2400" dirty="0">
                <a:solidFill>
                  <a:schemeClr val="tx1"/>
                </a:solidFill>
              </a:rPr>
              <a:t>Période évaluée</a:t>
            </a:r>
            <a:endParaRPr lang="en-US" sz="2400" dirty="0">
              <a:solidFill>
                <a:schemeClr val="tx1"/>
              </a:solidFill>
            </a:endParaRPr>
          </a:p>
        </p:txBody>
      </p:sp>
      <p:sp>
        <p:nvSpPr>
          <p:cNvPr id="38" name="Parenthèse fermante 37"/>
          <p:cNvSpPr/>
          <p:nvPr/>
        </p:nvSpPr>
        <p:spPr>
          <a:xfrm rot="16200000">
            <a:off x="5823886" y="2046450"/>
            <a:ext cx="227442" cy="1816967"/>
          </a:xfrm>
          <a:prstGeom prst="rightBracket">
            <a:avLst/>
          </a:prstGeom>
          <a:ln w="412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9" name="Connecteur droit 38"/>
          <p:cNvCxnSpPr/>
          <p:nvPr/>
        </p:nvCxnSpPr>
        <p:spPr>
          <a:xfrm>
            <a:off x="5002237" y="2228807"/>
            <a:ext cx="9597" cy="232902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ZoneTexte 43"/>
          <p:cNvSpPr txBox="1"/>
          <p:nvPr/>
        </p:nvSpPr>
        <p:spPr>
          <a:xfrm>
            <a:off x="5113347" y="2256407"/>
            <a:ext cx="174160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BE" sz="3200" dirty="0"/>
              <a:t> 5 mois</a:t>
            </a:r>
            <a:endParaRPr lang="en-US" sz="3200" dirty="0"/>
          </a:p>
        </p:txBody>
      </p:sp>
      <p:sp>
        <p:nvSpPr>
          <p:cNvPr id="50" name="ZoneTexte 49"/>
          <p:cNvSpPr txBox="1"/>
          <p:nvPr/>
        </p:nvSpPr>
        <p:spPr>
          <a:xfrm>
            <a:off x="6999482" y="2214412"/>
            <a:ext cx="174160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BE" sz="3200" dirty="0"/>
              <a:t> 12 mois</a:t>
            </a:r>
            <a:endParaRPr lang="en-US" sz="3200" dirty="0"/>
          </a:p>
        </p:txBody>
      </p:sp>
      <p:sp>
        <p:nvSpPr>
          <p:cNvPr id="52" name="Parenthèse fermante 51"/>
          <p:cNvSpPr/>
          <p:nvPr/>
        </p:nvSpPr>
        <p:spPr>
          <a:xfrm rot="16200000">
            <a:off x="7690357" y="2035436"/>
            <a:ext cx="227442" cy="1816967"/>
          </a:xfrm>
          <a:prstGeom prst="rightBracket">
            <a:avLst/>
          </a:prstGeom>
          <a:ln w="412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Rectangle 54"/>
          <p:cNvSpPr/>
          <p:nvPr/>
        </p:nvSpPr>
        <p:spPr>
          <a:xfrm>
            <a:off x="6868886" y="3059282"/>
            <a:ext cx="1852902" cy="727568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BE" sz="2400" dirty="0">
                <a:solidFill>
                  <a:schemeClr val="tx1"/>
                </a:solidFill>
              </a:rPr>
              <a:t>Période évaluée</a:t>
            </a:r>
            <a:endParaRPr lang="en-US" sz="2400" dirty="0">
              <a:solidFill>
                <a:schemeClr val="tx1"/>
              </a:solidFill>
            </a:endParaRPr>
          </a:p>
        </p:txBody>
      </p:sp>
      <p:sp>
        <p:nvSpPr>
          <p:cNvPr id="56" name="ZoneTexte 55"/>
          <p:cNvSpPr txBox="1"/>
          <p:nvPr/>
        </p:nvSpPr>
        <p:spPr>
          <a:xfrm>
            <a:off x="7870284" y="4671390"/>
            <a:ext cx="129680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BE" dirty="0">
                <a:solidFill>
                  <a:srgbClr val="FF0000"/>
                </a:solidFill>
              </a:rPr>
              <a:t>1 </a:t>
            </a:r>
            <a:r>
              <a:rPr lang="fr-BE" baseline="30000" dirty="0">
                <a:solidFill>
                  <a:srgbClr val="FF0000"/>
                </a:solidFill>
              </a:rPr>
              <a:t>er</a:t>
            </a:r>
            <a:r>
              <a:rPr lang="fr-BE" dirty="0">
                <a:solidFill>
                  <a:srgbClr val="FF0000"/>
                </a:solidFill>
              </a:rPr>
              <a:t>  Entretien négatif</a:t>
            </a:r>
          </a:p>
          <a:p>
            <a:pPr algn="ctr"/>
            <a:r>
              <a:rPr lang="fr-BE" b="1" dirty="0">
                <a:solidFill>
                  <a:srgbClr val="FF0000"/>
                </a:solidFill>
              </a:rPr>
              <a:t>AVERTISSEMENT</a:t>
            </a:r>
            <a:endParaRPr lang="en-US" b="1" dirty="0">
              <a:solidFill>
                <a:srgbClr val="FF0000"/>
              </a:solidFill>
            </a:endParaRPr>
          </a:p>
        </p:txBody>
      </p:sp>
      <p:cxnSp>
        <p:nvCxnSpPr>
          <p:cNvPr id="57" name="Connecteur droit 56"/>
          <p:cNvCxnSpPr/>
          <p:nvPr/>
        </p:nvCxnSpPr>
        <p:spPr>
          <a:xfrm>
            <a:off x="3135043" y="2292247"/>
            <a:ext cx="9597" cy="232902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Connecteur droit avec flèche 58"/>
          <p:cNvCxnSpPr/>
          <p:nvPr/>
        </p:nvCxnSpPr>
        <p:spPr>
          <a:xfrm>
            <a:off x="226815" y="3805112"/>
            <a:ext cx="8798943" cy="0"/>
          </a:xfrm>
          <a:prstGeom prst="straightConnector1">
            <a:avLst/>
          </a:prstGeom>
          <a:ln w="444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Connecteur droit 59"/>
          <p:cNvCxnSpPr/>
          <p:nvPr/>
        </p:nvCxnSpPr>
        <p:spPr>
          <a:xfrm>
            <a:off x="8702780" y="2216444"/>
            <a:ext cx="9597" cy="232902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ZoneTexte 60"/>
          <p:cNvSpPr txBox="1"/>
          <p:nvPr/>
        </p:nvSpPr>
        <p:spPr>
          <a:xfrm>
            <a:off x="94914" y="1956771"/>
            <a:ext cx="250832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BE" sz="2000" b="1" dirty="0"/>
              <a:t>Forem </a:t>
            </a:r>
            <a:r>
              <a:rPr lang="fr-BE" sz="2000" dirty="0"/>
              <a:t>(Cohabitant)</a:t>
            </a:r>
            <a:endParaRPr lang="en-US" sz="2000" dirty="0"/>
          </a:p>
        </p:txBody>
      </p:sp>
      <p:sp>
        <p:nvSpPr>
          <p:cNvPr id="33" name="ZoneTexte 32">
            <a:extLst>
              <a:ext uri="{FF2B5EF4-FFF2-40B4-BE49-F238E27FC236}">
                <a16:creationId xmlns:a16="http://schemas.microsoft.com/office/drawing/2014/main" id="{0F69FDAB-B1C4-4B85-88B7-EB7E71D006B8}"/>
              </a:ext>
            </a:extLst>
          </p:cNvPr>
          <p:cNvSpPr txBox="1"/>
          <p:nvPr/>
        </p:nvSpPr>
        <p:spPr>
          <a:xfrm>
            <a:off x="212602" y="1411566"/>
            <a:ext cx="22508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BE" sz="2400" b="1" u="sng" dirty="0"/>
              <a:t>Exemple 4</a:t>
            </a:r>
            <a:r>
              <a:rPr lang="fr-BE" sz="2400" b="1" dirty="0"/>
              <a:t>:</a:t>
            </a:r>
            <a:endParaRPr lang="fr-BE" sz="2400" b="1" u="sng" dirty="0"/>
          </a:p>
        </p:txBody>
      </p:sp>
    </p:spTree>
    <p:extLst>
      <p:ext uri="{BB962C8B-B14F-4D97-AF65-F5344CB8AC3E}">
        <p14:creationId xmlns:p14="http://schemas.microsoft.com/office/powerpoint/2010/main" val="3443671458"/>
      </p:ext>
    </p:extLst>
  </p:cSld>
  <p:clrMapOvr>
    <a:masterClrMapping/>
  </p:clrMapOvr>
  <p:transition>
    <p:dissolv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1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2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8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1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2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8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1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2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5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6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1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2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5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6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15" grpId="0"/>
      <p:bldP spid="19" grpId="0" animBg="1"/>
      <p:bldP spid="25" grpId="0" animBg="1"/>
      <p:bldP spid="37" grpId="0"/>
      <p:bldP spid="32" grpId="0"/>
      <p:bldP spid="9" grpId="0"/>
      <p:bldP spid="45" grpId="0"/>
      <p:bldP spid="53" grpId="0"/>
      <p:bldP spid="30" grpId="0" animBg="1"/>
      <p:bldP spid="31" grpId="0"/>
      <p:bldP spid="34" grpId="0" animBg="1"/>
      <p:bldP spid="35" grpId="0" animBg="1"/>
      <p:bldP spid="38" grpId="0" animBg="1"/>
      <p:bldP spid="44" grpId="0"/>
      <p:bldP spid="50" grpId="0"/>
      <p:bldP spid="52" grpId="0" animBg="1"/>
      <p:bldP spid="55" grpId="0" animBg="1"/>
      <p:bldP spid="56" grpId="0"/>
      <p:bldP spid="61" grpId="0"/>
      <p:bldP spid="33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303442" y="3077575"/>
            <a:ext cx="1828398" cy="75281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BE" sz="2400" dirty="0">
                <a:solidFill>
                  <a:schemeClr val="tx1"/>
                </a:solidFill>
              </a:rPr>
              <a:t>Période évaluée</a:t>
            </a:r>
            <a:endParaRPr lang="en-US" sz="2400" dirty="0">
              <a:solidFill>
                <a:schemeClr val="tx1"/>
              </a:solidFill>
            </a:endParaRPr>
          </a:p>
        </p:txBody>
      </p:sp>
      <p:sp>
        <p:nvSpPr>
          <p:cNvPr id="3" name="Titre 2"/>
          <p:cNvSpPr>
            <a:spLocks noGrp="1"/>
          </p:cNvSpPr>
          <p:nvPr>
            <p:ph type="title"/>
          </p:nvPr>
        </p:nvSpPr>
        <p:spPr>
          <a:xfrm>
            <a:off x="511486" y="271496"/>
            <a:ext cx="8229600" cy="1143000"/>
          </a:xfrm>
        </p:spPr>
        <p:txBody>
          <a:bodyPr>
            <a:normAutofit fontScale="90000"/>
          </a:bodyPr>
          <a:lstStyle/>
          <a:p>
            <a:pPr algn="r"/>
            <a:r>
              <a:rPr lang="fr-BE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4.7. Contrôle de la disponibilité: Résumé</a:t>
            </a:r>
            <a:endParaRPr lang="en-US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ZoneTexte 14"/>
          <p:cNvSpPr txBox="1"/>
          <p:nvPr/>
        </p:nvSpPr>
        <p:spPr>
          <a:xfrm>
            <a:off x="1465231" y="2288298"/>
            <a:ext cx="174160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BE" sz="3200" dirty="0"/>
              <a:t> 5 mois</a:t>
            </a:r>
            <a:endParaRPr lang="en-US" sz="3200" dirty="0"/>
          </a:p>
        </p:txBody>
      </p:sp>
      <p:sp>
        <p:nvSpPr>
          <p:cNvPr id="19" name="Parenthèse fermante 18"/>
          <p:cNvSpPr/>
          <p:nvPr/>
        </p:nvSpPr>
        <p:spPr>
          <a:xfrm rot="16200000">
            <a:off x="2096460" y="2057707"/>
            <a:ext cx="227442" cy="1816967"/>
          </a:xfrm>
          <a:prstGeom prst="rightBracket">
            <a:avLst/>
          </a:prstGeom>
          <a:ln w="412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ZoneTexte 24"/>
          <p:cNvSpPr txBox="1"/>
          <p:nvPr/>
        </p:nvSpPr>
        <p:spPr>
          <a:xfrm>
            <a:off x="212602" y="3102817"/>
            <a:ext cx="1062091" cy="707886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fr-BE" sz="4000" b="1" dirty="0"/>
              <a:t>CCI</a:t>
            </a:r>
            <a:endParaRPr lang="en-US" sz="4000" b="1" dirty="0"/>
          </a:p>
        </p:txBody>
      </p:sp>
      <p:cxnSp>
        <p:nvCxnSpPr>
          <p:cNvPr id="36" name="Connecteur droit 35"/>
          <p:cNvCxnSpPr/>
          <p:nvPr/>
        </p:nvCxnSpPr>
        <p:spPr>
          <a:xfrm>
            <a:off x="1291837" y="2378037"/>
            <a:ext cx="0" cy="231216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ZoneTexte 36"/>
          <p:cNvSpPr txBox="1"/>
          <p:nvPr/>
        </p:nvSpPr>
        <p:spPr>
          <a:xfrm>
            <a:off x="698029" y="4702427"/>
            <a:ext cx="118761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BE" dirty="0">
                <a:solidFill>
                  <a:srgbClr val="FF0000"/>
                </a:solidFill>
              </a:rPr>
              <a:t>1 </a:t>
            </a:r>
            <a:r>
              <a:rPr lang="fr-BE" baseline="30000" dirty="0">
                <a:solidFill>
                  <a:srgbClr val="FF0000"/>
                </a:solidFill>
              </a:rPr>
              <a:t>er</a:t>
            </a:r>
            <a:r>
              <a:rPr lang="fr-BE" dirty="0">
                <a:solidFill>
                  <a:srgbClr val="FF0000"/>
                </a:solidFill>
              </a:rPr>
              <a:t>  Entretien Négatif</a:t>
            </a:r>
          </a:p>
          <a:p>
            <a:pPr algn="ctr"/>
            <a:r>
              <a:rPr lang="fr-BE" b="1" dirty="0">
                <a:solidFill>
                  <a:srgbClr val="FF0000"/>
                </a:solidFill>
              </a:rPr>
              <a:t>AVERTISSEMENT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40" name="Espace réservé du numéro de diapositive 3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23</a:t>
            </a:fld>
            <a:endParaRPr lang="fr-FR" dirty="0"/>
          </a:p>
        </p:txBody>
      </p:sp>
      <p:cxnSp>
        <p:nvCxnSpPr>
          <p:cNvPr id="5" name="Connecteur droit avec flèche 4"/>
          <p:cNvCxnSpPr/>
          <p:nvPr/>
        </p:nvCxnSpPr>
        <p:spPr>
          <a:xfrm rot="-240000">
            <a:off x="302094" y="3959981"/>
            <a:ext cx="969255" cy="76579"/>
          </a:xfrm>
          <a:prstGeom prst="straightConnector1">
            <a:avLst/>
          </a:prstGeom>
          <a:ln w="476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ZoneTexte 31"/>
          <p:cNvSpPr txBox="1"/>
          <p:nvPr/>
        </p:nvSpPr>
        <p:spPr>
          <a:xfrm>
            <a:off x="2539692" y="4703454"/>
            <a:ext cx="118761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BE" dirty="0">
                <a:solidFill>
                  <a:srgbClr val="00B050"/>
                </a:solidFill>
              </a:rPr>
              <a:t>2 </a:t>
            </a:r>
            <a:r>
              <a:rPr lang="fr-BE" baseline="30000" dirty="0" err="1">
                <a:solidFill>
                  <a:srgbClr val="00B050"/>
                </a:solidFill>
              </a:rPr>
              <a:t>ème</a:t>
            </a:r>
            <a:r>
              <a:rPr lang="fr-BE" dirty="0">
                <a:solidFill>
                  <a:srgbClr val="00B050"/>
                </a:solidFill>
              </a:rPr>
              <a:t>  Entretien positif</a:t>
            </a:r>
            <a:endParaRPr lang="en-US" dirty="0">
              <a:solidFill>
                <a:srgbClr val="00B050"/>
              </a:solidFill>
            </a:endParaRPr>
          </a:p>
          <a:p>
            <a:pPr algn="ctr"/>
            <a:endParaRPr lang="en-US" dirty="0"/>
          </a:p>
        </p:txBody>
      </p:sp>
      <p:sp>
        <p:nvSpPr>
          <p:cNvPr id="9" name="ZoneTexte 8"/>
          <p:cNvSpPr txBox="1"/>
          <p:nvPr/>
        </p:nvSpPr>
        <p:spPr>
          <a:xfrm>
            <a:off x="57238" y="3991348"/>
            <a:ext cx="149413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BE" sz="2400" dirty="0"/>
              <a:t>   IDE</a:t>
            </a:r>
            <a:endParaRPr lang="en-US" sz="2400" dirty="0"/>
          </a:p>
          <a:p>
            <a:r>
              <a:rPr lang="en-US" sz="2400" dirty="0"/>
              <a:t>≥ 9 </a:t>
            </a:r>
            <a:r>
              <a:rPr lang="en-US" sz="2400" dirty="0" err="1"/>
              <a:t>mois</a:t>
            </a:r>
            <a:endParaRPr lang="en-US" sz="2400" dirty="0"/>
          </a:p>
        </p:txBody>
      </p:sp>
      <p:sp>
        <p:nvSpPr>
          <p:cNvPr id="45" name="ZoneTexte 44"/>
          <p:cNvSpPr txBox="1"/>
          <p:nvPr/>
        </p:nvSpPr>
        <p:spPr>
          <a:xfrm>
            <a:off x="4420405" y="4703454"/>
            <a:ext cx="1296802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BE" dirty="0">
                <a:solidFill>
                  <a:srgbClr val="FF0000"/>
                </a:solidFill>
              </a:rPr>
              <a:t>1 </a:t>
            </a:r>
            <a:r>
              <a:rPr lang="fr-BE" baseline="30000" dirty="0">
                <a:solidFill>
                  <a:srgbClr val="FF0000"/>
                </a:solidFill>
              </a:rPr>
              <a:t>er</a:t>
            </a:r>
            <a:r>
              <a:rPr lang="fr-BE" dirty="0">
                <a:solidFill>
                  <a:srgbClr val="FF0000"/>
                </a:solidFill>
              </a:rPr>
              <a:t>  Entretien négatif</a:t>
            </a:r>
          </a:p>
          <a:p>
            <a:pPr algn="ctr"/>
            <a:r>
              <a:rPr lang="fr-BE" b="1" dirty="0">
                <a:solidFill>
                  <a:srgbClr val="FF0000"/>
                </a:solidFill>
              </a:rPr>
              <a:t>EXCLUSION</a:t>
            </a:r>
          </a:p>
          <a:p>
            <a:pPr algn="ctr"/>
            <a:r>
              <a:rPr lang="fr-BE" b="1" dirty="0">
                <a:solidFill>
                  <a:srgbClr val="FF0000"/>
                </a:solidFill>
              </a:rPr>
              <a:t>13 SEM.</a:t>
            </a:r>
            <a:endParaRPr lang="en-US" b="1" dirty="0">
              <a:solidFill>
                <a:srgbClr val="FF0000"/>
              </a:solidFill>
            </a:endParaRPr>
          </a:p>
          <a:p>
            <a:pPr algn="ctr"/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53" name="ZoneTexte 52"/>
          <p:cNvSpPr txBox="1"/>
          <p:nvPr/>
        </p:nvSpPr>
        <p:spPr>
          <a:xfrm>
            <a:off x="6261144" y="4690202"/>
            <a:ext cx="118761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BE" dirty="0">
                <a:solidFill>
                  <a:srgbClr val="00B050"/>
                </a:solidFill>
              </a:rPr>
              <a:t>2</a:t>
            </a:r>
            <a:r>
              <a:rPr lang="fr-BE" baseline="30000" dirty="0">
                <a:solidFill>
                  <a:srgbClr val="00B050"/>
                </a:solidFill>
              </a:rPr>
              <a:t>ème</a:t>
            </a:r>
            <a:r>
              <a:rPr lang="fr-BE" dirty="0">
                <a:solidFill>
                  <a:srgbClr val="00B050"/>
                </a:solidFill>
              </a:rPr>
              <a:t>  Entretien positif</a:t>
            </a:r>
            <a:endParaRPr lang="en-US" dirty="0">
              <a:solidFill>
                <a:srgbClr val="00B050"/>
              </a:solidFill>
            </a:endParaRPr>
          </a:p>
          <a:p>
            <a:pPr algn="ctr"/>
            <a:endParaRPr lang="en-US" dirty="0">
              <a:solidFill>
                <a:srgbClr val="00B050"/>
              </a:solidFill>
            </a:endParaRPr>
          </a:p>
        </p:txBody>
      </p:sp>
      <p:cxnSp>
        <p:nvCxnSpPr>
          <p:cNvPr id="54" name="Connecteur droit 53"/>
          <p:cNvCxnSpPr/>
          <p:nvPr/>
        </p:nvCxnSpPr>
        <p:spPr>
          <a:xfrm>
            <a:off x="6853239" y="2216444"/>
            <a:ext cx="9597" cy="232902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Rectangle 29"/>
          <p:cNvSpPr/>
          <p:nvPr/>
        </p:nvSpPr>
        <p:spPr>
          <a:xfrm>
            <a:off x="3155942" y="3082019"/>
            <a:ext cx="1848139" cy="727568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BE" sz="2400" dirty="0">
                <a:solidFill>
                  <a:schemeClr val="tx1"/>
                </a:solidFill>
              </a:rPr>
              <a:t>Période évaluée</a:t>
            </a:r>
            <a:endParaRPr lang="en-US" sz="2400" dirty="0">
              <a:solidFill>
                <a:schemeClr val="tx1"/>
              </a:solidFill>
            </a:endParaRPr>
          </a:p>
        </p:txBody>
      </p:sp>
      <p:sp>
        <p:nvSpPr>
          <p:cNvPr id="31" name="ZoneTexte 30"/>
          <p:cNvSpPr txBox="1"/>
          <p:nvPr/>
        </p:nvSpPr>
        <p:spPr>
          <a:xfrm>
            <a:off x="3337472" y="2256437"/>
            <a:ext cx="174160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BE" sz="3200" dirty="0"/>
              <a:t> 12 mois</a:t>
            </a:r>
            <a:endParaRPr lang="en-US" sz="3200" dirty="0"/>
          </a:p>
        </p:txBody>
      </p:sp>
      <p:sp>
        <p:nvSpPr>
          <p:cNvPr id="34" name="Parenthèse fermante 33"/>
          <p:cNvSpPr/>
          <p:nvPr/>
        </p:nvSpPr>
        <p:spPr>
          <a:xfrm rot="16200000">
            <a:off x="3978092" y="2057391"/>
            <a:ext cx="213443" cy="1826926"/>
          </a:xfrm>
          <a:prstGeom prst="rightBracket">
            <a:avLst/>
          </a:prstGeom>
          <a:ln w="412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/>
          <p:cNvSpPr/>
          <p:nvPr/>
        </p:nvSpPr>
        <p:spPr>
          <a:xfrm>
            <a:off x="5023136" y="3077575"/>
            <a:ext cx="1828398" cy="727568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BE" sz="2400" dirty="0">
                <a:solidFill>
                  <a:schemeClr val="tx1"/>
                </a:solidFill>
              </a:rPr>
              <a:t>Période évaluée</a:t>
            </a:r>
            <a:endParaRPr lang="en-US" sz="2400" dirty="0">
              <a:solidFill>
                <a:schemeClr val="tx1"/>
              </a:solidFill>
            </a:endParaRPr>
          </a:p>
        </p:txBody>
      </p:sp>
      <p:sp>
        <p:nvSpPr>
          <p:cNvPr id="38" name="Parenthèse fermante 37"/>
          <p:cNvSpPr/>
          <p:nvPr/>
        </p:nvSpPr>
        <p:spPr>
          <a:xfrm rot="16200000">
            <a:off x="5823886" y="2046450"/>
            <a:ext cx="227442" cy="1816967"/>
          </a:xfrm>
          <a:prstGeom prst="rightBracket">
            <a:avLst/>
          </a:prstGeom>
          <a:ln w="412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9" name="Connecteur droit 38"/>
          <p:cNvCxnSpPr/>
          <p:nvPr/>
        </p:nvCxnSpPr>
        <p:spPr>
          <a:xfrm>
            <a:off x="5002237" y="2228807"/>
            <a:ext cx="9597" cy="232902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ZoneTexte 43"/>
          <p:cNvSpPr txBox="1"/>
          <p:nvPr/>
        </p:nvSpPr>
        <p:spPr>
          <a:xfrm>
            <a:off x="5113347" y="2256407"/>
            <a:ext cx="174160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BE" sz="3200" dirty="0"/>
              <a:t> 5 mois</a:t>
            </a:r>
            <a:endParaRPr lang="en-US" sz="3200" dirty="0"/>
          </a:p>
        </p:txBody>
      </p:sp>
      <p:sp>
        <p:nvSpPr>
          <p:cNvPr id="50" name="ZoneTexte 49"/>
          <p:cNvSpPr txBox="1"/>
          <p:nvPr/>
        </p:nvSpPr>
        <p:spPr>
          <a:xfrm>
            <a:off x="6999482" y="2214412"/>
            <a:ext cx="174160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BE" sz="3200" dirty="0"/>
              <a:t> 12 mois</a:t>
            </a:r>
            <a:endParaRPr lang="en-US" sz="3200" dirty="0"/>
          </a:p>
        </p:txBody>
      </p:sp>
      <p:sp>
        <p:nvSpPr>
          <p:cNvPr id="52" name="Parenthèse fermante 51"/>
          <p:cNvSpPr/>
          <p:nvPr/>
        </p:nvSpPr>
        <p:spPr>
          <a:xfrm rot="16200000">
            <a:off x="7690357" y="2035436"/>
            <a:ext cx="227442" cy="1816967"/>
          </a:xfrm>
          <a:prstGeom prst="rightBracket">
            <a:avLst/>
          </a:prstGeom>
          <a:ln w="412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Rectangle 54"/>
          <p:cNvSpPr/>
          <p:nvPr/>
        </p:nvSpPr>
        <p:spPr>
          <a:xfrm>
            <a:off x="6868886" y="3059282"/>
            <a:ext cx="1852902" cy="727568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BE" sz="2400" dirty="0">
                <a:solidFill>
                  <a:schemeClr val="tx1"/>
                </a:solidFill>
              </a:rPr>
              <a:t>Période évaluée</a:t>
            </a:r>
            <a:endParaRPr lang="en-US" sz="2400" dirty="0">
              <a:solidFill>
                <a:schemeClr val="tx1"/>
              </a:solidFill>
            </a:endParaRPr>
          </a:p>
        </p:txBody>
      </p:sp>
      <p:sp>
        <p:nvSpPr>
          <p:cNvPr id="56" name="ZoneTexte 55"/>
          <p:cNvSpPr txBox="1"/>
          <p:nvPr/>
        </p:nvSpPr>
        <p:spPr>
          <a:xfrm>
            <a:off x="7887293" y="4688489"/>
            <a:ext cx="1296802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BE" dirty="0">
                <a:solidFill>
                  <a:srgbClr val="FF0000"/>
                </a:solidFill>
              </a:rPr>
              <a:t>1 </a:t>
            </a:r>
            <a:r>
              <a:rPr lang="fr-BE" baseline="30000" dirty="0">
                <a:solidFill>
                  <a:srgbClr val="FF0000"/>
                </a:solidFill>
              </a:rPr>
              <a:t>er</a:t>
            </a:r>
            <a:r>
              <a:rPr lang="fr-BE" dirty="0">
                <a:solidFill>
                  <a:srgbClr val="FF0000"/>
                </a:solidFill>
              </a:rPr>
              <a:t>  Entretien négatif</a:t>
            </a:r>
          </a:p>
          <a:p>
            <a:pPr algn="ctr"/>
            <a:r>
              <a:rPr lang="fr-BE" b="1" dirty="0">
                <a:solidFill>
                  <a:srgbClr val="FF0000"/>
                </a:solidFill>
              </a:rPr>
              <a:t>PERTE DU DROIT</a:t>
            </a:r>
          </a:p>
          <a:p>
            <a:pPr algn="ctr"/>
            <a:endParaRPr lang="en-US" b="1" dirty="0">
              <a:solidFill>
                <a:srgbClr val="FF0000"/>
              </a:solidFill>
            </a:endParaRPr>
          </a:p>
          <a:p>
            <a:pPr algn="ctr"/>
            <a:endParaRPr lang="en-US" dirty="0">
              <a:solidFill>
                <a:srgbClr val="FF0000"/>
              </a:solidFill>
            </a:endParaRPr>
          </a:p>
        </p:txBody>
      </p:sp>
      <p:cxnSp>
        <p:nvCxnSpPr>
          <p:cNvPr id="57" name="Connecteur droit 56"/>
          <p:cNvCxnSpPr/>
          <p:nvPr/>
        </p:nvCxnSpPr>
        <p:spPr>
          <a:xfrm>
            <a:off x="3135043" y="2292247"/>
            <a:ext cx="9597" cy="232902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Connecteur droit avec flèche 58"/>
          <p:cNvCxnSpPr/>
          <p:nvPr/>
        </p:nvCxnSpPr>
        <p:spPr>
          <a:xfrm>
            <a:off x="226815" y="3805112"/>
            <a:ext cx="8798943" cy="0"/>
          </a:xfrm>
          <a:prstGeom prst="straightConnector1">
            <a:avLst/>
          </a:prstGeom>
          <a:ln w="444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Connecteur droit 59"/>
          <p:cNvCxnSpPr/>
          <p:nvPr/>
        </p:nvCxnSpPr>
        <p:spPr>
          <a:xfrm>
            <a:off x="8702780" y="2216444"/>
            <a:ext cx="9597" cy="232902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ZoneTexte 60"/>
          <p:cNvSpPr txBox="1"/>
          <p:nvPr/>
        </p:nvSpPr>
        <p:spPr>
          <a:xfrm>
            <a:off x="89424" y="2025115"/>
            <a:ext cx="292390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BE" sz="2000" b="1" dirty="0" err="1"/>
              <a:t>Actiris</a:t>
            </a:r>
            <a:r>
              <a:rPr lang="fr-BE" sz="2000" b="1" dirty="0"/>
              <a:t>/ADG </a:t>
            </a:r>
            <a:r>
              <a:rPr lang="fr-BE" sz="2000" dirty="0"/>
              <a:t>(cohabitant)</a:t>
            </a:r>
            <a:endParaRPr lang="en-US" sz="2000" b="1" dirty="0"/>
          </a:p>
        </p:txBody>
      </p:sp>
      <p:sp>
        <p:nvSpPr>
          <p:cNvPr id="33" name="ZoneTexte 32">
            <a:extLst>
              <a:ext uri="{FF2B5EF4-FFF2-40B4-BE49-F238E27FC236}">
                <a16:creationId xmlns:a16="http://schemas.microsoft.com/office/drawing/2014/main" id="{EDA28FBF-A81E-491C-8AE0-C98EC9A903D4}"/>
              </a:ext>
            </a:extLst>
          </p:cNvPr>
          <p:cNvSpPr txBox="1"/>
          <p:nvPr/>
        </p:nvSpPr>
        <p:spPr>
          <a:xfrm>
            <a:off x="212602" y="1413409"/>
            <a:ext cx="22508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BE" sz="2400" b="1" u="sng" dirty="0"/>
              <a:t>Exemple 5</a:t>
            </a:r>
            <a:r>
              <a:rPr lang="fr-BE" sz="2400" b="1" dirty="0"/>
              <a:t>:</a:t>
            </a:r>
            <a:endParaRPr lang="fr-BE" sz="2400" b="1" u="sng" dirty="0"/>
          </a:p>
        </p:txBody>
      </p:sp>
    </p:spTree>
    <p:extLst>
      <p:ext uri="{BB962C8B-B14F-4D97-AF65-F5344CB8AC3E}">
        <p14:creationId xmlns:p14="http://schemas.microsoft.com/office/powerpoint/2010/main" val="563816983"/>
      </p:ext>
    </p:extLst>
  </p:cSld>
  <p:clrMapOvr>
    <a:masterClrMapping/>
  </p:clrMapOvr>
  <p:transition>
    <p:dissolv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1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2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8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1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2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8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1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2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5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6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1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2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5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6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15" grpId="0"/>
      <p:bldP spid="19" grpId="0" animBg="1"/>
      <p:bldP spid="25" grpId="0" animBg="1"/>
      <p:bldP spid="37" grpId="0"/>
      <p:bldP spid="32" grpId="0"/>
      <p:bldP spid="9" grpId="0"/>
      <p:bldP spid="45" grpId="0"/>
      <p:bldP spid="53" grpId="0"/>
      <p:bldP spid="30" grpId="0" animBg="1"/>
      <p:bldP spid="31" grpId="0"/>
      <p:bldP spid="34" grpId="0" animBg="1"/>
      <p:bldP spid="35" grpId="0" animBg="1"/>
      <p:bldP spid="38" grpId="0" animBg="1"/>
      <p:bldP spid="44" grpId="0"/>
      <p:bldP spid="50" grpId="0"/>
      <p:bldP spid="52" grpId="0" animBg="1"/>
      <p:bldP spid="55" grpId="0" animBg="1"/>
      <p:bldP spid="56" grpId="0"/>
      <p:bldP spid="61" grpId="0"/>
      <p:bldP spid="33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r"/>
            <a:r>
              <a:rPr lang="fr-BE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Sanctions: Détails et suivi</a:t>
            </a:r>
            <a:endParaRPr lang="en-US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57200" y="1628800"/>
            <a:ext cx="8229600" cy="4525963"/>
          </a:xfrm>
        </p:spPr>
        <p:txBody>
          <a:bodyPr>
            <a:normAutofit fontScale="85000" lnSpcReduction="10000"/>
          </a:bodyPr>
          <a:lstStyle/>
          <a:p>
            <a:r>
              <a:rPr lang="fr-FR" b="1" u="sng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Caractéristiques</a:t>
            </a:r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: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Sanction exécutée par l’</a:t>
            </a:r>
            <a:r>
              <a:rPr lang="fr-FR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ONEm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et notifiée informatiquement aux OP via une </a:t>
            </a:r>
            <a:r>
              <a:rPr lang="fr-FR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C2 (type C9 94X ou 94F)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Prise de cours le </a:t>
            </a:r>
            <a:r>
              <a:rPr lang="fr-FR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1</a:t>
            </a:r>
            <a:r>
              <a:rPr lang="fr-FR" b="1" baseline="30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er</a:t>
            </a:r>
            <a:r>
              <a:rPr lang="fr-FR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jour de la 4</a:t>
            </a:r>
            <a:r>
              <a:rPr lang="fr-FR" b="1" baseline="30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ème</a:t>
            </a:r>
            <a:r>
              <a:rPr lang="fr-FR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semaine 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qui suit celle au cours de laquelle le SRE a communiqué la décision au BC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Période de sanction </a:t>
            </a:r>
            <a:r>
              <a:rPr lang="fr-FR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prolongée par la maladie 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(max. 3 ans)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Si </a:t>
            </a:r>
            <a:r>
              <a:rPr lang="fr-FR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plusieurs sanctions</a:t>
            </a:r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au même moment, leurs durées respectives </a:t>
            </a:r>
            <a:r>
              <a:rPr lang="fr-FR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s’additionnent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fr-FR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Droit aux allocations de chômage temporaire 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pendant la sanction relative au contrôle de la disponibilité active</a:t>
            </a:r>
          </a:p>
          <a:p>
            <a:pPr marL="0" indent="0">
              <a:buNone/>
            </a:pPr>
            <a:endParaRPr lang="fr-FR" sz="1800" dirty="0">
              <a:latin typeface="Times New Roman" panose="02020603050405020304" pitchFamily="18" charset="0"/>
              <a:cs typeface="Times New Roman" panose="02020603050405020304" pitchFamily="18" charset="0"/>
              <a:sym typeface="Wingdings" panose="05000000000000000000" pitchFamily="2" charset="2"/>
            </a:endParaRPr>
          </a:p>
          <a:p>
            <a:pPr marL="0" indent="0">
              <a:buNone/>
            </a:pPr>
            <a:endParaRPr lang="fr-FR" sz="1900" dirty="0">
              <a:latin typeface="Times New Roman" panose="02020603050405020304" pitchFamily="18" charset="0"/>
              <a:cs typeface="Times New Roman" panose="02020603050405020304" pitchFamily="18" charset="0"/>
              <a:sym typeface="Wingdings" panose="05000000000000000000" pitchFamily="2" charset="2"/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24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58351435"/>
      </p:ext>
    </p:extLst>
  </p:cSld>
  <p:clrMapOvr>
    <a:masterClrMapping/>
  </p:clrMapOvr>
  <p:transition>
    <p:dissolv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r"/>
            <a:r>
              <a:rPr lang="fr-BE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Sanctions: Détails et suivi</a:t>
            </a:r>
            <a:endParaRPr lang="en-US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57200" y="1628800"/>
            <a:ext cx="8229600" cy="4525963"/>
          </a:xfrm>
        </p:spPr>
        <p:txBody>
          <a:bodyPr>
            <a:normAutofit lnSpcReduction="10000"/>
          </a:bodyPr>
          <a:lstStyle/>
          <a:p>
            <a:r>
              <a:rPr lang="fr-FR" b="1" u="sng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Fin exclusion définitive</a:t>
            </a:r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:</a:t>
            </a:r>
          </a:p>
          <a:p>
            <a:pPr marL="0" indent="0">
              <a:buNone/>
            </a:pP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En cas de perte du droit aux allocation, le droit aux allocations peut être réouvert si l’intéressé rempli une des conditions suivantes: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Une nouvelle admissibilité sur base des art. 30 à 33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312 jours R6 dans une PR de 21 mois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312 ½ jours R6 dans une PR de 27 mois</a:t>
            </a:r>
            <a:endParaRPr lang="fr-FR" b="1" dirty="0">
              <a:latin typeface="Times New Roman" panose="02020603050405020304" pitchFamily="18" charset="0"/>
              <a:cs typeface="Times New Roman" panose="02020603050405020304" pitchFamily="18" charset="0"/>
              <a:sym typeface="Wingdings" panose="05000000000000000000" pitchFamily="2" charset="2"/>
            </a:endParaRPr>
          </a:p>
          <a:p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fr-FR" b="1" u="sng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D.A après sanction</a:t>
            </a:r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: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Type de script en fonction de la nature de la D.A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fr-FR" sz="2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C109 « Période d’exclusion » </a:t>
            </a: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+ autres documents éventuels (C4, C6, DRS Wech 502,…)</a:t>
            </a:r>
          </a:p>
          <a:p>
            <a:pPr marL="0" indent="0">
              <a:buNone/>
            </a:pPr>
            <a:endParaRPr lang="fr-FR" sz="1800" dirty="0">
              <a:latin typeface="Times New Roman" panose="02020603050405020304" pitchFamily="18" charset="0"/>
              <a:cs typeface="Times New Roman" panose="02020603050405020304" pitchFamily="18" charset="0"/>
              <a:sym typeface="Wingdings" panose="05000000000000000000" pitchFamily="2" charset="2"/>
            </a:endParaRPr>
          </a:p>
          <a:p>
            <a:pPr marL="0" indent="0">
              <a:buNone/>
            </a:pPr>
            <a:endParaRPr lang="fr-FR" sz="1900" dirty="0">
              <a:latin typeface="Times New Roman" panose="02020603050405020304" pitchFamily="18" charset="0"/>
              <a:cs typeface="Times New Roman" panose="02020603050405020304" pitchFamily="18" charset="0"/>
              <a:sym typeface="Wingdings" panose="05000000000000000000" pitchFamily="2" charset="2"/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25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6237564"/>
      </p:ext>
    </p:extLst>
  </p:cSld>
  <p:clrMapOvr>
    <a:masterClrMapping/>
  </p:clrMapOvr>
  <p:transition>
    <p:dissolv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D8C07EE20480F44AE4960B9D2A32DA0" ma:contentTypeVersion="4" ma:contentTypeDescription="Crée un document." ma:contentTypeScope="" ma:versionID="f91216ef509c6a584f12053dcd624016">
  <xsd:schema xmlns:xsd="http://www.w3.org/2001/XMLSchema" xmlns:xs="http://www.w3.org/2001/XMLSchema" xmlns:p="http://schemas.microsoft.com/office/2006/metadata/properties" xmlns:ns2="badce1e3-4228-484a-9cea-a1abab477a44" xmlns:ns3="f1b85f46-8f47-4c7a-8346-9752567dac4a" targetNamespace="http://schemas.microsoft.com/office/2006/metadata/properties" ma:root="true" ma:fieldsID="0302afb9b051af15bdd7c100f38d2307" ns2:_="" ns3:_="">
    <xsd:import namespace="badce1e3-4228-484a-9cea-a1abab477a44"/>
    <xsd:import namespace="f1b85f46-8f47-4c7a-8346-9752567dac4a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adce1e3-4228-484a-9cea-a1abab477a44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Partagé avec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Partagé avec dé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1b85f46-8f47-4c7a-8346-9752567dac4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CEF6DFDE-467C-4331-AC15-264F1D27B968}">
  <ds:schemaRefs>
    <ds:schemaRef ds:uri="http://schemas.microsoft.com/office/2006/documentManagement/types"/>
    <ds:schemaRef ds:uri="http://schemas.microsoft.com/office/2006/metadata/properties"/>
    <ds:schemaRef ds:uri="1e832426-6819-49af-b751-404cdfce1567"/>
    <ds:schemaRef ds:uri="http://purl.org/dc/elements/1.1/"/>
    <ds:schemaRef ds:uri="http://schemas.openxmlformats.org/package/2006/metadata/core-properties"/>
    <ds:schemaRef ds:uri="bdec1399-7c99-4025-bfb6-e1e799e6630a"/>
    <ds:schemaRef ds:uri="http://purl.org/dc/terms/"/>
    <ds:schemaRef ds:uri="http://schemas.microsoft.com/office/infopath/2007/PartnerControls"/>
    <ds:schemaRef ds:uri="7d2a3af0-b854-4018-b3fb-98bf2b75e19a"/>
    <ds:schemaRef ds:uri="http://www.w3.org/XML/1998/namespace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B33E1B7A-B7F9-4124-B2F2-F0CA3235FA90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DE53396E-772A-4A40-BBB6-8186B3D3A07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adce1e3-4228-484a-9cea-a1abab477a44"/>
    <ds:schemaRef ds:uri="f1b85f46-8f47-4c7a-8346-9752567dac4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21102</TotalTime>
  <Words>1991</Words>
  <Application>Microsoft Office PowerPoint</Application>
  <PresentationFormat>On-screen Show (4:3)</PresentationFormat>
  <Paragraphs>339</Paragraphs>
  <Slides>25</Slides>
  <Notes>25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6" baseType="lpstr">
      <vt:lpstr>Thème Office</vt:lpstr>
      <vt:lpstr>  </vt:lpstr>
      <vt:lpstr>TABLE DES MATIERES</vt:lpstr>
      <vt:lpstr>1. Disponibilité active: Principe general </vt:lpstr>
      <vt:lpstr>2. Public cible</vt:lpstr>
      <vt:lpstr>2. Public cible</vt:lpstr>
      <vt:lpstr>3. Procédure: Généralités</vt:lpstr>
      <vt:lpstr>3.1. Motifs de suspension</vt:lpstr>
      <vt:lpstr>3.2. Convocation et absences</vt:lpstr>
      <vt:lpstr>3.2. Convocation et absences</vt:lpstr>
      <vt:lpstr>4. Entretiens d’évaluation</vt:lpstr>
      <vt:lpstr>4. Entretiens d’évaluation</vt:lpstr>
      <vt:lpstr>4.1. Evaluations: Procédure Forem (Dispo C) </vt:lpstr>
      <vt:lpstr>4.1. Evaluations: Procédure Forem (Dispo C) </vt:lpstr>
      <vt:lpstr>4.2. Evaluations: Procédure ADG  </vt:lpstr>
      <vt:lpstr>4.3. Evaluations: Procédure Actiris (Dispo G) </vt:lpstr>
      <vt:lpstr>4.4. évaluations: 1er entretien</vt:lpstr>
      <vt:lpstr>4.5. évaluations: 2ème entretien</vt:lpstr>
      <vt:lpstr>4.6. évaluations: 3ème entretien</vt:lpstr>
      <vt:lpstr>4.7. Contrôle de la disponibilité: Résumé</vt:lpstr>
      <vt:lpstr>4.7. Contrôle de la disponibilité: Résumé</vt:lpstr>
      <vt:lpstr>4.7. Contrôle de la disponibilité: Résumé</vt:lpstr>
      <vt:lpstr>4.7. Contrôle de la disponibilité: Résumé</vt:lpstr>
      <vt:lpstr>4.7. Contrôle de la disponibilité: Résumé</vt:lpstr>
      <vt:lpstr>5. Sanctions: Détails et suivi</vt:lpstr>
      <vt:lpstr>5. Sanctions: Détails et suivi</vt:lpstr>
    </vt:vector>
  </TitlesOfParts>
  <Company>ACV-CSC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FCS-M02-Dispo -FLT</dc:title>
  <dc:creator>u99lge</dc:creator>
  <cp:lastModifiedBy>Jeremie Kempeneers</cp:lastModifiedBy>
  <cp:revision>903</cp:revision>
  <cp:lastPrinted>2019-11-27T09:57:36Z</cp:lastPrinted>
  <dcterms:created xsi:type="dcterms:W3CDTF">2010-09-22T12:12:06Z</dcterms:created>
  <dcterms:modified xsi:type="dcterms:W3CDTF">2023-04-17T09:29:17Z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0x010100BD8C07EE20480F44AE4960B9D2A32DA0</vt:lpwstr>
  </property>
  <property fmtid="{D5CDD505-2E9C-101B-9397-08002B2CF9AE}" pid="3" name="Type formation">
    <vt:lpwstr>139;#FCS formation senior|7e1aeef4-3046-4f78-a284-cec5c2bef1bf</vt:lpwstr>
  </property>
  <property fmtid="{D5CDD505-2E9C-101B-9397-08002B2CF9AE}" pid="4" name="Type document">
    <vt:lpwstr>29;#Présentation|66a9a075-20e6-47e0-8483-85d2e9240401</vt:lpwstr>
  </property>
  <property fmtid="{D5CDD505-2E9C-101B-9397-08002B2CF9AE}" pid="5" name="Public Cible">
    <vt:lpwstr>12;#FLT|f342c2bc-e504-4fe0-8d5d-34c04f2f783f</vt:lpwstr>
  </property>
  <property fmtid="{D5CDD505-2E9C-101B-9397-08002B2CF9AE}" pid="6" name="Domaine">
    <vt:lpwstr>17;#Admissibilité|d1ac0b1f-1e4c-4aa8-9a97-5b01e61985ba</vt:lpwstr>
  </property>
  <property fmtid="{D5CDD505-2E9C-101B-9397-08002B2CF9AE}" pid="7" name="Thème">
    <vt:lpwstr>70;#Dispo|1cc2b50b-793b-4388-813e-5d76a9f8392f</vt:lpwstr>
  </property>
  <property fmtid="{D5CDD505-2E9C-101B-9397-08002B2CF9AE}" pid="8" name="Order">
    <vt:r8>204600</vt:r8>
  </property>
  <property fmtid="{D5CDD505-2E9C-101B-9397-08002B2CF9AE}" pid="9" name="_dlc_DocIdItemGuid">
    <vt:lpwstr>87def3d1-98b5-470d-804f-65bcb602a882</vt:lpwstr>
  </property>
</Properties>
</file>