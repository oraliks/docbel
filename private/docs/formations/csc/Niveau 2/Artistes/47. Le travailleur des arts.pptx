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  <p:sldMasterId id="2147483660" r:id="rId5"/>
    <p:sldMasterId id="2147483672" r:id="rId6"/>
  </p:sldMasterIdLst>
  <p:notesMasterIdLst>
    <p:notesMasterId r:id="rId47"/>
  </p:notesMasterIdLst>
  <p:handoutMasterIdLst>
    <p:handoutMasterId r:id="rId48"/>
  </p:handoutMasterIdLst>
  <p:sldIdLst>
    <p:sldId id="515" r:id="rId7"/>
    <p:sldId id="263" r:id="rId8"/>
    <p:sldId id="544" r:id="rId9"/>
    <p:sldId id="551" r:id="rId10"/>
    <p:sldId id="522" r:id="rId11"/>
    <p:sldId id="491" r:id="rId12"/>
    <p:sldId id="493" r:id="rId13"/>
    <p:sldId id="494" r:id="rId14"/>
    <p:sldId id="497" r:id="rId15"/>
    <p:sldId id="528" r:id="rId16"/>
    <p:sldId id="529" r:id="rId17"/>
    <p:sldId id="277" r:id="rId18"/>
    <p:sldId id="531" r:id="rId19"/>
    <p:sldId id="532" r:id="rId20"/>
    <p:sldId id="496" r:id="rId21"/>
    <p:sldId id="557" r:id="rId22"/>
    <p:sldId id="326" r:id="rId23"/>
    <p:sldId id="490" r:id="rId24"/>
    <p:sldId id="558" r:id="rId25"/>
    <p:sldId id="402" r:id="rId26"/>
    <p:sldId id="500" r:id="rId27"/>
    <p:sldId id="501" r:id="rId28"/>
    <p:sldId id="465" r:id="rId29"/>
    <p:sldId id="541" r:id="rId30"/>
    <p:sldId id="553" r:id="rId31"/>
    <p:sldId id="543" r:id="rId32"/>
    <p:sldId id="504" r:id="rId33"/>
    <p:sldId id="545" r:id="rId34"/>
    <p:sldId id="546" r:id="rId35"/>
    <p:sldId id="505" r:id="rId36"/>
    <p:sldId id="473" r:id="rId37"/>
    <p:sldId id="486" r:id="rId38"/>
    <p:sldId id="487" r:id="rId39"/>
    <p:sldId id="506" r:id="rId40"/>
    <p:sldId id="554" r:id="rId41"/>
    <p:sldId id="555" r:id="rId42"/>
    <p:sldId id="556" r:id="rId43"/>
    <p:sldId id="548" r:id="rId44"/>
    <p:sldId id="507" r:id="rId45"/>
    <p:sldId id="508" r:id="rId46"/>
  </p:sldIdLst>
  <p:sldSz cx="9144000" cy="6858000" type="screen4x3"/>
  <p:notesSz cx="6669088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EA8F3D-DD9C-4BFE-BA8B-C278DB7D071C}" v="1" dt="2023-04-21T07:02:11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9" autoAdjust="0"/>
    <p:restoredTop sz="94249" autoAdjust="0"/>
  </p:normalViewPr>
  <p:slideViewPr>
    <p:cSldViewPr>
      <p:cViewPr varScale="1">
        <p:scale>
          <a:sx n="102" d="100"/>
          <a:sy n="102" d="100"/>
        </p:scale>
        <p:origin x="102" y="20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2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C07C-866A-4437-A814-B9C3B9EE2DA6}" type="datetimeFigureOut">
              <a:rPr lang="fr-BE" smtClean="0"/>
              <a:pPr/>
              <a:t>25/05/2023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7448"/>
            <a:ext cx="2889250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8250" y="9377448"/>
            <a:ext cx="2889250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0C620-349D-44A7-BA2F-2823E794EC15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13475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AEC68-0F3D-42DE-B8E3-FC85FA05E12B}" type="datetimeFigureOut">
              <a:rPr lang="fr-BE" smtClean="0"/>
              <a:pPr/>
              <a:t>25/05/2023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6775" y="739775"/>
            <a:ext cx="4935538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689516"/>
            <a:ext cx="5335270" cy="444269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377316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4705B-F11A-422A-AF37-56CF4704635C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5808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4705B-F11A-422A-AF37-56CF4704635C}" type="slidenum">
              <a:rPr lang="fr-BE" smtClean="0"/>
              <a:pPr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1879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4705B-F11A-422A-AF37-56CF4704635C}" type="slidenum">
              <a:rPr lang="fr-BE" smtClean="0"/>
              <a:pPr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34733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4705B-F11A-422A-AF37-56CF4704635C}" type="slidenum">
              <a:rPr lang="fr-BE" smtClean="0"/>
              <a:pPr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34733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baseline="0" dirty="0"/>
              <a:t>  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705B-F11A-422A-AF37-56CF4704635C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733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B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6030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4705B-F11A-422A-AF37-56CF4704635C}" type="slidenum">
              <a:rPr lang="fr-BE" smtClean="0"/>
              <a:pPr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62612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705B-F11A-422A-AF37-56CF4704635C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246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705B-F11A-422A-AF37-56CF4704635C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677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705B-F11A-422A-AF37-56CF4704635C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2017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E9522-3ECE-44E8-B4E5-83B9858E00E5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2859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080A-4395-4DE9-9455-7537D2903B30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1410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6CB6-02EB-4B9D-BABA-5190D1ED947C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455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C24-6EFE-42A1-8A53-64F44AF6C00A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4461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2A38-3733-4938-ADA5-516313486A82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0917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EAFF-CF25-4132-ABBF-61350DA3002B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74353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5CCCD-134C-4C2C-9B64-6EF1DA3AA8B5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5005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0B165-F90E-4F07-AFFF-BDBAD5B115BC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6187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8C2F-DC60-48D1-AEAE-4ECECBAF46F7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28396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8F51-5FB8-47ED-ABB7-45AC2D8BC43A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03722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B3AD5-0749-4D99-B2FC-522C45BCB001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211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4EAA-A5EA-4E67-BCE6-90A7F57D27B6}" type="datetime1">
              <a:rPr lang="fr-BE" smtClean="0"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23388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873A-1209-495B-AEFD-9ABDB4CE2730}" type="datetime1">
              <a:rPr lang="fr-BE" smtClean="0"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8171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382C-A427-4AB2-9621-7B9C2C60823E}" type="datetime1">
              <a:rPr lang="fr-BE" smtClean="0"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93122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5F8-C471-4471-A4C7-18E5C1D1DB36}" type="datetime1">
              <a:rPr lang="fr-BE" smtClean="0"/>
              <a:t>25/05/2023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77362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3EA81-CDCD-4063-A5B9-E5CBB235EF45}" type="datetime1">
              <a:rPr lang="fr-BE" smtClean="0"/>
              <a:t>25/05/2023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86796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36BA-B7B2-4E28-8955-02A8134C06B8}" type="datetime1">
              <a:rPr lang="fr-BE" smtClean="0"/>
              <a:t>25/05/2023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81887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0F19-0302-4A1F-B5FE-FA650BE064BB}" type="datetime1">
              <a:rPr lang="fr-BE" smtClean="0"/>
              <a:t>25/05/2023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30352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E47-BC0E-463B-A19C-E4BA94D31A2A}" type="datetime1">
              <a:rPr lang="fr-BE" smtClean="0"/>
              <a:t>25/05/2023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1417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E65-8B1B-4879-A5FC-5216D3478B2C}" type="datetime1">
              <a:rPr lang="fr-BE" smtClean="0"/>
              <a:t>25/05/2023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217577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B1DD-75F5-4C68-9C53-95867F345329}" type="datetime1">
              <a:rPr lang="fr-BE" smtClean="0"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26073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26227-2696-4AC8-8FD8-21F937E1F6D5}" type="datetime1">
              <a:rPr lang="fr-BE" smtClean="0"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09.2014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925368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143F-3B39-4954-8CBB-9C89ABF14E73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378803"/>
      </p:ext>
    </p:extLst>
  </p:cSld>
  <p:clrMapOvr>
    <a:masterClrMapping/>
  </p:clrMapOvr>
  <p:transition>
    <p:dissolv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7E0A0-6EBE-413B-A298-218F91FB0BD7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474148"/>
      </p:ext>
    </p:extLst>
  </p:cSld>
  <p:clrMapOvr>
    <a:masterClrMapping/>
  </p:clrMapOvr>
  <p:transition>
    <p:dissolv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8132-8F8D-46AB-B47F-D39324C9D232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733293"/>
      </p:ext>
    </p:extLst>
  </p:cSld>
  <p:clrMapOvr>
    <a:masterClrMapping/>
  </p:clrMapOvr>
  <p:transition>
    <p:dissolv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0547-9E35-4822-8633-EBABDA1FACFD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372729"/>
      </p:ext>
    </p:extLst>
  </p:cSld>
  <p:clrMapOvr>
    <a:masterClrMapping/>
  </p:clrMapOvr>
  <p:transition>
    <p:dissolv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59F7-DC19-4F3F-AD6E-3BF7CD93EF85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684427"/>
      </p:ext>
    </p:extLst>
  </p:cSld>
  <p:clrMapOvr>
    <a:masterClrMapping/>
  </p:clrMapOvr>
  <p:transition>
    <p:dissolv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0F15-DFB9-4658-898A-B223D77F5657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73696"/>
      </p:ext>
    </p:extLst>
  </p:cSld>
  <p:clrMapOvr>
    <a:masterClrMapping/>
  </p:clrMapOvr>
  <p:transition>
    <p:dissolv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082C-946B-4A31-8043-16F92CB016B8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806805"/>
      </p:ext>
    </p:extLst>
  </p:cSld>
  <p:clrMapOvr>
    <a:masterClrMapping/>
  </p:clrMapOvr>
  <p:transition>
    <p:dissolv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B1D7-4D4A-42F9-81EA-1980F1B7DD75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950691"/>
      </p:ext>
    </p:extLst>
  </p:cSld>
  <p:clrMapOvr>
    <a:masterClrMapping/>
  </p:clrMapOvr>
  <p:transition>
    <p:dissolv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853A-AA4F-4786-827E-B303E67A61CF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731592"/>
      </p:ext>
    </p:extLst>
  </p:cSld>
  <p:clrMapOvr>
    <a:masterClrMapping/>
  </p:clrMapOvr>
  <p:transition>
    <p:dissolv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14A2E-E2FA-4482-B68F-C6EDC6341564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405909"/>
      </p:ext>
    </p:extLst>
  </p:cSld>
  <p:clrMapOvr>
    <a:masterClrMapping/>
  </p:clrMapOvr>
  <p:transition>
    <p:dissolv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CB3B-8025-4F52-A2B3-52EBC9A4ABD9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58463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10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CC814-21C4-40DF-9F38-E8CD22078B77}" type="datetime1">
              <a:rPr lang="fr-BE" smtClean="0"/>
              <a:pPr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2D3B9-D46C-4B58-A331-AA90261B604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86768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C96F9-2A9C-4493-83C3-7D3C7447A56E}" type="datetime1">
              <a:rPr lang="fr-BE" smtClean="0"/>
              <a:t>25/05/2023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BE"/>
              <a:t>09.2014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62BA6-1699-4A9A-9A60-37696C293C7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541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2E82F-7C34-4BE0-9469-802D3C1B9FCB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25/05/2023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135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472566"/>
            <a:ext cx="7772400" cy="147002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BE" sz="6500" b="1" i="1" dirty="0"/>
              <a:t>Le travailleur des Arts</a:t>
            </a:r>
            <a:endParaRPr lang="en-US" sz="6500" b="1" i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5800" y="3068960"/>
            <a:ext cx="8001000" cy="3096344"/>
          </a:xfrm>
        </p:spPr>
        <p:txBody>
          <a:bodyPr>
            <a:normAutofit fontScale="92500" lnSpcReduction="20000"/>
          </a:bodyPr>
          <a:lstStyle/>
          <a:p>
            <a:r>
              <a:rPr lang="fr-BE" sz="4800" b="1" i="1" dirty="0">
                <a:solidFill>
                  <a:schemeClr val="tx1"/>
                </a:solidFill>
              </a:rPr>
              <a:t>(Niveau 1)</a:t>
            </a:r>
          </a:p>
          <a:p>
            <a:endParaRPr lang="fr-BE" sz="4400" b="1" i="1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BE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Chapitre XII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BE" sz="5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articles</a:t>
            </a:r>
            <a:r>
              <a:rPr kumimoji="0" lang="fr-BE" sz="5000" b="1" i="0" u="none" strike="noStrike" kern="1200" cap="none" spc="0" normalizeH="0" baseline="0" noProof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181 </a:t>
            </a:r>
            <a:r>
              <a:rPr kumimoji="0" lang="fr-BE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à 195 </a:t>
            </a:r>
            <a:r>
              <a:rPr kumimoji="0" lang="fr-BE" sz="5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</a:t>
            </a:r>
            <a:r>
              <a:rPr kumimoji="0" lang="fr-BE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l’</a:t>
            </a:r>
            <a:r>
              <a:rPr kumimoji="0" lang="fr-BE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</a:t>
            </a:r>
            <a:r>
              <a:rPr kumimoji="0" lang="fr-BE" sz="5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fr-BE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25.11.1991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BE" sz="3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89702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fr-BE" sz="5400" b="1" i="1" dirty="0">
                <a:latin typeface="+mn-lt"/>
              </a:rPr>
              <a:t>Table des matières</a:t>
            </a:r>
            <a:endParaRPr lang="fr-FR" sz="54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>
          <a:xfrm>
            <a:off x="395536" y="1259631"/>
            <a:ext cx="8229600" cy="5461843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fr-BE" sz="2800" dirty="0"/>
              <a:t>Préambule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fr-BE" sz="2800" dirty="0"/>
              <a:t>Définition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fr-BE" sz="2800" dirty="0"/>
              <a:t>Admissibilité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fr-BE" sz="2600" dirty="0"/>
              <a:t>3.1.    Le Stock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fr-BE" sz="2600" dirty="0"/>
              <a:t>3.2.    Les « Entrants »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fr-BE" sz="2600" dirty="0"/>
              <a:t>		</a:t>
            </a:r>
            <a:r>
              <a:rPr lang="fr-BE" dirty="0"/>
              <a:t>3.2.1.   Règles de calcul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fr-BE" dirty="0"/>
              <a:t>		3.2.2.	Règle dérogatoire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fr-BE" dirty="0"/>
              <a:t>		3.2.3.	Limitation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fr-BE" dirty="0"/>
              <a:t>		3.2.4.	Période de référence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fr-BE" dirty="0"/>
              <a:t>		3.2.5. 	Le code chiffré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fr-BE" dirty="0"/>
              <a:t>		3.2.6.	Code C2</a:t>
            </a:r>
          </a:p>
          <a:p>
            <a:pPr marL="514350" indent="-514350">
              <a:spcBef>
                <a:spcPts val="0"/>
              </a:spcBef>
              <a:buAutoNum type="arabicPeriod" startAt="4"/>
            </a:pPr>
            <a:r>
              <a:rPr lang="fr-BE" sz="2800" dirty="0"/>
              <a:t>Montant journalier</a:t>
            </a:r>
          </a:p>
          <a:p>
            <a:pPr marL="514350" indent="-514350">
              <a:spcBef>
                <a:spcPts val="0"/>
              </a:spcBef>
              <a:buAutoNum type="arabicPeriod" startAt="4"/>
            </a:pPr>
            <a:r>
              <a:rPr lang="fr-BE" sz="2800" dirty="0"/>
              <a:t>La période d’application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400" dirty="0"/>
              <a:t>		</a:t>
            </a:r>
          </a:p>
          <a:p>
            <a:pPr>
              <a:spcBef>
                <a:spcPts val="0"/>
              </a:spcBef>
              <a:buNone/>
            </a:pPr>
            <a:r>
              <a:rPr lang="fr-BE" sz="1400" dirty="0"/>
              <a:t>	</a:t>
            </a:r>
            <a:r>
              <a:rPr lang="fr-BE" sz="1800" dirty="0"/>
              <a:t>	</a:t>
            </a:r>
            <a:r>
              <a:rPr lang="fr-BE" sz="1400" dirty="0"/>
              <a:t>					</a:t>
            </a:r>
            <a:endParaRPr lang="fr-BE" sz="1800" dirty="0"/>
          </a:p>
          <a:p>
            <a:pPr>
              <a:spcBef>
                <a:spcPts val="0"/>
              </a:spcBef>
              <a:buNone/>
            </a:pPr>
            <a:endParaRPr lang="fr-BE" sz="1800" dirty="0"/>
          </a:p>
          <a:p>
            <a:pPr>
              <a:spcBef>
                <a:spcPts val="0"/>
              </a:spcBef>
              <a:buNone/>
            </a:pPr>
            <a:r>
              <a:rPr lang="fr-BE" sz="1800" dirty="0"/>
              <a:t>	</a:t>
            </a:r>
          </a:p>
          <a:p>
            <a:pPr>
              <a:buNone/>
            </a:pPr>
            <a:r>
              <a:rPr lang="fr-BE" sz="1800" dirty="0"/>
              <a:t>	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4824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501E8-6C90-4E81-99BF-C61795FB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nl-BE" b="1" i="1" dirty="0" err="1"/>
              <a:t>Table</a:t>
            </a:r>
            <a:r>
              <a:rPr lang="nl-BE" b="1" i="1" dirty="0"/>
              <a:t> des </a:t>
            </a:r>
            <a:r>
              <a:rPr lang="nl-BE" b="1" i="1" dirty="0" err="1"/>
              <a:t>matières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1782DA-DE28-48BC-A44B-DBF43ECC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6"/>
              <a:tabLst/>
              <a:defRPr/>
            </a:pPr>
            <a:r>
              <a:rPr kumimoji="0" lang="fr-B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C3-Artiste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6"/>
              <a:tabLst/>
              <a:defRPr/>
            </a:pPr>
            <a:r>
              <a:rPr lang="fr-BE" sz="2800" dirty="0">
                <a:solidFill>
                  <a:prstClr val="black"/>
                </a:solidFill>
                <a:latin typeface="Calibri"/>
              </a:rPr>
              <a:t>Règle de conversion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6"/>
              <a:tabLst/>
              <a:defRPr/>
            </a:pPr>
            <a:r>
              <a:rPr kumimoji="0" lang="fr-B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Cumul</a:t>
            </a:r>
            <a:endParaRPr lang="fr-BE" sz="2800" dirty="0">
              <a:solidFill>
                <a:prstClr val="black"/>
              </a:solidFill>
              <a:latin typeface="Calibri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6"/>
              <a:tabLst/>
              <a:defRPr/>
            </a:pPr>
            <a:r>
              <a:rPr kumimoji="0" lang="fr-B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renonciation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6"/>
              <a:tabLst/>
              <a:defRPr/>
            </a:pPr>
            <a:r>
              <a:rPr lang="fr-BE" sz="2800" dirty="0">
                <a:solidFill>
                  <a:prstClr val="black"/>
                </a:solidFill>
                <a:latin typeface="Calibri"/>
              </a:rPr>
              <a:t>Dispo &amp; emploi convenable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6"/>
              <a:tabLst/>
              <a:defRPr/>
            </a:pPr>
            <a:r>
              <a:rPr kumimoji="0" lang="fr-B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Régime des Petites Indemnités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6"/>
              <a:tabLst/>
              <a:defRPr/>
            </a:pPr>
            <a:r>
              <a:rPr lang="fr-BE" sz="2800" dirty="0">
                <a:solidFill>
                  <a:prstClr val="black"/>
                </a:solidFill>
                <a:latin typeface="Calibri"/>
              </a:rPr>
              <a:t>Hobby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6"/>
              <a:tabLst/>
              <a:defRPr/>
            </a:pPr>
            <a:r>
              <a:rPr kumimoji="0" lang="fr-B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Quelques infos utiles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356D05-B53C-465E-A373-3CCA5B839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4429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505FB5-8D79-490E-95CC-91F55848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Préambule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4FB948-B71C-40D8-B866-109E43328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Réforme du statut du « </a:t>
            </a:r>
            <a:r>
              <a:rPr lang="fr-BE" b="1" i="1" dirty="0"/>
              <a:t>Travailleur des Arts </a:t>
            </a:r>
            <a:r>
              <a:rPr lang="fr-BE" dirty="0"/>
              <a:t>» et entrée en vigueur au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01.10.2022</a:t>
            </a:r>
            <a:r>
              <a:rPr lang="fr-BE" dirty="0"/>
              <a:t>.</a:t>
            </a:r>
          </a:p>
          <a:p>
            <a:pPr marL="0" indent="0">
              <a:buNone/>
            </a:pPr>
            <a:r>
              <a:rPr lang="fr-BE" dirty="0"/>
              <a:t>Cependant elle nécessite la mise en place de la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commission du travail des arts </a:t>
            </a:r>
            <a:r>
              <a:rPr lang="fr-BE" dirty="0"/>
              <a:t>qui ne sera instituée qu’au cours de l’année 2023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Travail en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2 phases</a:t>
            </a:r>
            <a:r>
              <a:rPr lang="fr-BE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b="1" dirty="0"/>
              <a:t>Phase 1</a:t>
            </a:r>
            <a:r>
              <a:rPr lang="fr-BE" b="1" i="1" dirty="0"/>
              <a:t> </a:t>
            </a:r>
            <a:r>
              <a:rPr lang="fr-BE" dirty="0"/>
              <a:t>au 01.10.2022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i="1" dirty="0"/>
              <a:t>Phase 2 ultérieurement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20DE5B-CD48-4F3E-865D-8BDD50E5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2D3B9-D46C-4B58-A331-AA90261B604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87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Définition</a:t>
            </a:r>
            <a:endParaRPr lang="en-US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2817"/>
            <a:ext cx="8229600" cy="3168352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travailleur des </a:t>
            </a:r>
            <a:r>
              <a:rPr lang="fr-BE" sz="3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Arts est un t</a:t>
            </a:r>
            <a:r>
              <a:rPr kumimoji="0" lang="fr-BE" sz="3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ravailleur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reconnu comme tel par la </a:t>
            </a:r>
            <a:r>
              <a:rPr kumimoji="0" lang="fr-BE" sz="34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commission du travail des arts 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qui dispose d’une </a:t>
            </a:r>
            <a:r>
              <a:rPr kumimoji="0" lang="fr-BE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attestation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individuelle du travail des arts </a:t>
            </a:r>
            <a:r>
              <a:rPr kumimoji="0" lang="fr-BE" sz="34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cours de validité.</a:t>
            </a:r>
            <a:endParaRPr kumimoji="0" lang="fr-BE" sz="3400" b="1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2D3B9-D46C-4B58-A331-AA90261B604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03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 Admissibilité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b="1" dirty="0"/>
              <a:t>Deux groupes </a:t>
            </a:r>
            <a:r>
              <a:rPr lang="fr-BE" dirty="0"/>
              <a:t>de travailleurs pourront bénéficier des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fr-BE" dirty="0"/>
              <a:t>llocations du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fr-BE" dirty="0"/>
              <a:t>ravailleur des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fr-BE" dirty="0"/>
              <a:t>rts (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ATA</a:t>
            </a:r>
            <a:r>
              <a:rPr lang="fr-BE" dirty="0"/>
              <a:t>) durant la phase 1: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Le Stock </a:t>
            </a:r>
            <a:r>
              <a:rPr lang="fr-BE" b="1" dirty="0"/>
              <a:t>: </a:t>
            </a:r>
            <a:r>
              <a:rPr lang="fr-BE" dirty="0"/>
              <a:t>les travailleurs qui, au 30.09.2022, bénéficient de l’avantage 116§5 ou 116§5bis (= suffixe </a:t>
            </a:r>
            <a:r>
              <a:rPr lang="fr-BE" b="1" dirty="0"/>
              <a:t>14</a:t>
            </a:r>
            <a:r>
              <a:rPr lang="fr-BE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Les Entrants phase 1 </a:t>
            </a:r>
            <a:r>
              <a:rPr lang="fr-BE" dirty="0"/>
              <a:t>: Tous ceux qui ne font pas partie du Stock</a:t>
            </a:r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43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3.1. Le STOCK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LE STOCK : </a:t>
            </a:r>
            <a:r>
              <a:rPr lang="fr-BE" sz="3000" u="sng" dirty="0">
                <a:solidFill>
                  <a:schemeClr val="accent2">
                    <a:lumMod val="75000"/>
                  </a:schemeClr>
                </a:solidFill>
              </a:rPr>
              <a:t>Admis d’office</a:t>
            </a:r>
            <a:r>
              <a:rPr lang="fr-BE" sz="3000" dirty="0"/>
              <a:t> aux ATA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au 01.10.2022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b="1" u="sng" dirty="0"/>
              <a:t>S04</a:t>
            </a:r>
            <a:r>
              <a:rPr lang="fr-BE" sz="3000" dirty="0"/>
              <a:t>: 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</a:rPr>
              <a:t>01/xxAy </a:t>
            </a:r>
            <a:r>
              <a:rPr lang="fr-BE" sz="3000" dirty="0"/>
              <a:t>au 01.10.2022 </a:t>
            </a:r>
            <a:r>
              <a:rPr lang="fr-BE" sz="2600" dirty="0"/>
              <a:t>+ art.d’indem « XII1A »</a:t>
            </a:r>
          </a:p>
          <a:p>
            <a:pPr marL="800100" lvl="2" indent="0">
              <a:buNone/>
            </a:pPr>
            <a:r>
              <a:rPr lang="fr-BE" sz="2200" dirty="0"/>
              <a:t>xx = code chiffré qu’il avait dans l’ancien régime</a:t>
            </a:r>
          </a:p>
          <a:p>
            <a:pPr marL="800100" lvl="2" indent="0">
              <a:buNone/>
            </a:pPr>
            <a:r>
              <a:rPr lang="fr-BE" sz="2200" dirty="0"/>
              <a:t>Y = catégorie familiale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b="1" u="sng" dirty="0"/>
              <a:t>S04</a:t>
            </a:r>
            <a:r>
              <a:rPr lang="fr-BE" sz="3000" dirty="0"/>
              <a:t>: 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</a:rPr>
              <a:t>96/</a:t>
            </a:r>
            <a:r>
              <a:rPr lang="fr-BE" sz="3000" dirty="0"/>
              <a:t> au 01.10.2025 </a:t>
            </a:r>
            <a:r>
              <a:rPr lang="fr-BE" sz="2600" dirty="0"/>
              <a:t>+ art.d’indem « XII1A »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b="1" u="sng" dirty="0"/>
              <a:t>S16</a:t>
            </a:r>
            <a:r>
              <a:rPr lang="fr-BE" dirty="0"/>
              <a:t>: « 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XII1A</a:t>
            </a:r>
            <a:r>
              <a:rPr lang="fr-BE" dirty="0"/>
              <a:t> » du 01.10.2022 au 30.09.2025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b="1" u="sng" dirty="0"/>
              <a:t>S16</a:t>
            </a:r>
            <a:r>
              <a:rPr lang="fr-BE" dirty="0"/>
              <a:t>: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clôture au 30.09.2022 </a:t>
            </a:r>
            <a:r>
              <a:rPr lang="fr-BE" dirty="0"/>
              <a:t>des art. 48, 48A, 130A1, 130A2, 130H, 27AR1, 27AR2, 27AR3 et 27AC1</a:t>
            </a:r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74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3.2. Les ENTRANTS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9831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kumimoji="0" lang="fr-BE" sz="3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bénéficier des ATA, au plus tôt au </a:t>
            </a:r>
            <a:r>
              <a:rPr kumimoji="0" lang="fr-BE" sz="35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01.10.2022</a:t>
            </a:r>
            <a:r>
              <a:rPr kumimoji="0" lang="fr-BE" sz="35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fr-BE" sz="3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 travailleur doit :</a:t>
            </a:r>
            <a:r>
              <a:rPr kumimoji="0" lang="fr-BE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kumimoji="0" lang="fr-BE" sz="33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introduire une </a:t>
            </a:r>
            <a:r>
              <a:rPr kumimoji="0" lang="fr-BE" sz="33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</a:t>
            </a:r>
            <a:r>
              <a:rPr kumimoji="0" lang="fr-BE" sz="33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fr-BE" sz="33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 moyen du </a:t>
            </a:r>
            <a:r>
              <a:rPr kumimoji="0" lang="fr-BE" sz="33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C181 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kumimoji="0" lang="fr-BE" sz="33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prouver, dans une période de </a:t>
            </a:r>
            <a:r>
              <a:rPr kumimoji="0" lang="fr-BE" sz="33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 mois </a:t>
            </a:r>
            <a:r>
              <a:rPr kumimoji="0" lang="fr-BE" sz="33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précédant la DA, au moins </a:t>
            </a:r>
            <a:r>
              <a:rPr kumimoji="0" lang="fr-BE" sz="33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156 jours </a:t>
            </a:r>
            <a:r>
              <a:rPr kumimoji="0" lang="fr-BE" sz="33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 travail salarié effectif à temps plein dont au moins </a:t>
            </a:r>
            <a:r>
              <a:rPr kumimoji="0" lang="fr-BE" sz="33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104 jours </a:t>
            </a:r>
            <a:r>
              <a:rPr kumimoji="0" lang="fr-BE" sz="33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 travail à la suite :</a:t>
            </a:r>
          </a:p>
          <a:p>
            <a:pPr marL="857250" lvl="1" indent="-457200">
              <a:buFont typeface="Courier New" panose="02070309020205020404" pitchFamily="49" charset="0"/>
              <a:buChar char="o"/>
              <a:defRPr/>
            </a:pPr>
            <a:r>
              <a:rPr kumimoji="0" lang="fr-BE" sz="3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d’activités artistiques </a:t>
            </a:r>
          </a:p>
          <a:p>
            <a:pPr marL="0" indent="0">
              <a:buNone/>
              <a:defRPr/>
            </a:pPr>
            <a:r>
              <a:rPr kumimoji="0" lang="fr-BE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et/ou </a:t>
            </a:r>
          </a:p>
          <a:p>
            <a:pPr lvl="1">
              <a:buFont typeface="Courier New" panose="02070309020205020404" pitchFamily="49" charset="0"/>
              <a:buChar char="o"/>
              <a:defRPr/>
            </a:pPr>
            <a:r>
              <a:rPr kumimoji="0" lang="fr-BE" sz="31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d’activités techniques </a:t>
            </a:r>
            <a:r>
              <a:rPr kumimoji="0" lang="fr-BE" sz="3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dans le secteur artistique à la suite de contrats de très courte durée.</a:t>
            </a:r>
          </a:p>
          <a:p>
            <a:pPr marL="0" indent="0">
              <a:buNone/>
              <a:defRPr/>
            </a:pPr>
            <a:endParaRPr kumimoji="0" lang="fr-B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buNone/>
              <a:defRPr/>
            </a:pPr>
            <a:endParaRPr kumimoji="0" lang="fr-B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buNone/>
            </a:pP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680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3.2. Les ENTRANTS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BE" sz="30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Ni le nombre de jours à prouver </a:t>
            </a:r>
            <a:r>
              <a:rPr lang="fr-BE" dirty="0"/>
              <a:t>(156 jours R6)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ni la période de référence</a:t>
            </a:r>
            <a:r>
              <a:rPr lang="fr-BE" dirty="0"/>
              <a:t> (24 mois) ne varie en fonction de l’âge du travailleur au moment de sa demande d’allocation.</a:t>
            </a: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31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02E784-21BC-4F19-98C2-AADE06B1DB47}"/>
              </a:ext>
            </a:extLst>
          </p:cNvPr>
          <p:cNvSpPr/>
          <p:nvPr/>
        </p:nvSpPr>
        <p:spPr>
          <a:xfrm>
            <a:off x="457200" y="4941168"/>
            <a:ext cx="8507288" cy="100811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CD6CD45-4FA0-47D2-9AAE-D591ACF00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>
            <a:normAutofit/>
          </a:bodyPr>
          <a:lstStyle/>
          <a:p>
            <a:pPr algn="r"/>
            <a:r>
              <a:rPr lang="nl-BE" b="1" i="1" dirty="0"/>
              <a:t>3.2.1: Règle de </a:t>
            </a:r>
            <a:r>
              <a:rPr lang="nl-BE" b="1" i="1" dirty="0" err="1"/>
              <a:t>calcul</a:t>
            </a:r>
            <a:r>
              <a:rPr lang="nl-BE" b="1" i="1" dirty="0"/>
              <a:t>  (</a:t>
            </a:r>
            <a:r>
              <a:rPr lang="nl-BE" b="1" i="1" dirty="0" err="1"/>
              <a:t>phase</a:t>
            </a:r>
            <a:r>
              <a:rPr lang="nl-BE" b="1" i="1" dirty="0"/>
              <a:t> </a:t>
            </a:r>
            <a:r>
              <a:rPr lang="nl-BE" b="1" i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nl-BE" b="1" i="1" dirty="0"/>
              <a:t>)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47BA5B-A897-4031-90F8-5DC9E4794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07" y="1600200"/>
            <a:ext cx="8507288" cy="47561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BE" b="1" u="sng" dirty="0" err="1">
                <a:solidFill>
                  <a:schemeClr val="accent2">
                    <a:lumMod val="75000"/>
                  </a:schemeClr>
                </a:solidFill>
              </a:rPr>
              <a:t>Calcul</a:t>
            </a:r>
            <a:r>
              <a:rPr lang="nl-BE" b="1" u="sng" dirty="0">
                <a:solidFill>
                  <a:schemeClr val="accent2">
                    <a:lumMod val="75000"/>
                  </a:schemeClr>
                </a:solidFill>
              </a:rPr>
              <a:t> ordinaire </a:t>
            </a:r>
            <a:r>
              <a:rPr lang="nl-BE" b="1" dirty="0"/>
              <a:t>: (AM 7)</a:t>
            </a:r>
          </a:p>
          <a:p>
            <a:pPr marL="0" indent="0">
              <a:buNone/>
            </a:pPr>
            <a:r>
              <a:rPr lang="nl-BE" dirty="0"/>
              <a:t>Concerne les </a:t>
            </a:r>
            <a:r>
              <a:rPr lang="nl-BE" dirty="0" err="1"/>
              <a:t>activités</a:t>
            </a:r>
            <a:r>
              <a:rPr lang="nl-BE" dirty="0"/>
              <a:t> artistiques </a:t>
            </a:r>
            <a:r>
              <a:rPr lang="nl-BE" b="1" u="sng" dirty="0" err="1"/>
              <a:t>avec</a:t>
            </a:r>
            <a:r>
              <a:rPr lang="nl-BE" b="1" u="sng" dirty="0"/>
              <a:t> </a:t>
            </a:r>
            <a:r>
              <a:rPr lang="nl-BE" dirty="0"/>
              <a:t>rénumération ordinaire et </a:t>
            </a:r>
            <a:r>
              <a:rPr lang="nl-BE" u="sng" dirty="0" err="1"/>
              <a:t>toutes</a:t>
            </a:r>
            <a:r>
              <a:rPr lang="nl-BE" dirty="0"/>
              <a:t> les </a:t>
            </a:r>
            <a:r>
              <a:rPr lang="nl-BE" dirty="0" err="1"/>
              <a:t>activités</a:t>
            </a:r>
            <a:r>
              <a:rPr lang="nl-BE" dirty="0"/>
              <a:t> </a:t>
            </a:r>
            <a:r>
              <a:rPr lang="nl-BE" dirty="0" err="1"/>
              <a:t>techniques</a:t>
            </a:r>
            <a:r>
              <a:rPr lang="nl-BE" dirty="0"/>
              <a:t> dans </a:t>
            </a:r>
            <a:r>
              <a:rPr lang="nl-BE" dirty="0" err="1"/>
              <a:t>le</a:t>
            </a:r>
            <a:r>
              <a:rPr lang="nl-BE" dirty="0"/>
              <a:t> </a:t>
            </a:r>
            <a:r>
              <a:rPr lang="nl-BE" dirty="0" err="1"/>
              <a:t>secteur</a:t>
            </a:r>
            <a:r>
              <a:rPr lang="nl-BE" dirty="0"/>
              <a:t> </a:t>
            </a:r>
            <a:r>
              <a:rPr lang="nl-BE" dirty="0" err="1"/>
              <a:t>artistique</a:t>
            </a:r>
            <a:r>
              <a:rPr lang="nl-BE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Si Q/S = 1 		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A x 6/R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Si Q/S &lt; 1		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a x 6/Q</a:t>
            </a:r>
          </a:p>
          <a:p>
            <a:pPr marL="457200" lvl="1" indent="0">
              <a:buNone/>
            </a:pPr>
            <a:r>
              <a:rPr lang="fr-BE" sz="3200" dirty="0"/>
              <a:t>Limité à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 78 jours par trimestre</a:t>
            </a:r>
          </a:p>
          <a:p>
            <a:pPr marL="57150" indent="0">
              <a:buNone/>
            </a:pPr>
            <a:r>
              <a:rPr lang="fr-BE" sz="3600" dirty="0"/>
              <a:t>Il n’est </a:t>
            </a:r>
            <a:r>
              <a:rPr lang="fr-BE" sz="3600" b="1" dirty="0"/>
              <a:t>pas tenu compte </a:t>
            </a:r>
            <a:r>
              <a:rPr lang="fr-BE" sz="3600" dirty="0"/>
              <a:t>des journées assimilées (art.38)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CF293C-5192-411E-9DF6-CFAE6B085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139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6BF61E-F606-4245-9E25-5A0F2DFEE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nl-BE" b="1" i="1" dirty="0"/>
              <a:t>3.2.2. </a:t>
            </a:r>
            <a:r>
              <a:rPr lang="nl-BE" b="1" i="1" dirty="0" err="1"/>
              <a:t>Règle</a:t>
            </a:r>
            <a:r>
              <a:rPr lang="nl-BE" b="1" i="1" dirty="0"/>
              <a:t> </a:t>
            </a:r>
            <a:r>
              <a:rPr lang="nl-BE" b="1" i="1" dirty="0" err="1"/>
              <a:t>dérogatoire</a:t>
            </a:r>
            <a:r>
              <a:rPr lang="nl-BE" b="1" i="1" dirty="0"/>
              <a:t> (</a:t>
            </a:r>
            <a:r>
              <a:rPr lang="nl-BE" b="1" i="1" dirty="0" err="1"/>
              <a:t>phase</a:t>
            </a:r>
            <a:r>
              <a:rPr lang="nl-BE" b="1" i="1" dirty="0"/>
              <a:t> </a:t>
            </a:r>
            <a:r>
              <a:rPr lang="nl-BE" b="1" i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nl-BE" b="1" i="1" dirty="0"/>
              <a:t>)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8556F6-BCAB-4FD1-AA9B-164E8B98C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>
              <a:buNone/>
            </a:pPr>
            <a:r>
              <a:rPr lang="nl-BE" b="1" u="sng" dirty="0">
                <a:solidFill>
                  <a:schemeClr val="accent2">
                    <a:lumMod val="75000"/>
                  </a:schemeClr>
                </a:solidFill>
              </a:rPr>
              <a:t>Calcul spécifique </a:t>
            </a:r>
            <a:r>
              <a:rPr lang="nl-BE" b="1" dirty="0"/>
              <a:t>: (AM 10)</a:t>
            </a:r>
          </a:p>
          <a:p>
            <a:pPr marL="0" indent="0">
              <a:buNone/>
            </a:pPr>
            <a:r>
              <a:rPr lang="nl-BE" sz="3000" dirty="0"/>
              <a:t>Concerne </a:t>
            </a:r>
            <a:r>
              <a:rPr lang="nl-BE" sz="3000" u="sng" dirty="0"/>
              <a:t>uniquement</a:t>
            </a:r>
            <a:r>
              <a:rPr lang="nl-BE" sz="3000" dirty="0"/>
              <a:t> les prestations </a:t>
            </a:r>
            <a:r>
              <a:rPr lang="nl-BE" sz="3000" b="1" dirty="0" err="1">
                <a:solidFill>
                  <a:schemeClr val="accent2">
                    <a:lumMod val="75000"/>
                  </a:schemeClr>
                </a:solidFill>
              </a:rPr>
              <a:t>artistiques</a:t>
            </a:r>
            <a:r>
              <a:rPr lang="nl-BE" sz="3000" dirty="0"/>
              <a:t> </a:t>
            </a:r>
            <a:r>
              <a:rPr lang="nl-BE" sz="3000" dirty="0" err="1"/>
              <a:t>rémunérées</a:t>
            </a:r>
            <a:r>
              <a:rPr lang="nl-BE" sz="3000" dirty="0"/>
              <a:t> à la </a:t>
            </a:r>
            <a:r>
              <a:rPr lang="nl-BE" sz="3000" b="1" dirty="0" err="1">
                <a:solidFill>
                  <a:schemeClr val="accent2">
                    <a:lumMod val="75000"/>
                  </a:schemeClr>
                </a:solidFill>
              </a:rPr>
              <a:t>tâche</a:t>
            </a:r>
            <a:r>
              <a:rPr lang="nl-BE" sz="3000" b="1" dirty="0">
                <a:solidFill>
                  <a:schemeClr val="accent2">
                    <a:lumMod val="75000"/>
                  </a:schemeClr>
                </a:solidFill>
              </a:rPr>
              <a:t>/cachet</a:t>
            </a:r>
            <a:r>
              <a:rPr lang="nl-BE" sz="3000" dirty="0"/>
              <a:t>. </a:t>
            </a:r>
            <a:r>
              <a:rPr lang="nl-BE" sz="3000" i="1" dirty="0"/>
              <a:t>(= pas de lien direct entre les heures prestées et le salaire).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Le nombre de jours est obtenu en divisant la rémunération brute par 1/26 du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salaire de référence </a:t>
            </a:r>
            <a:r>
              <a:rPr lang="fr-BE" sz="2500" dirty="0"/>
              <a:t>(75,19€ au 01.01.2023)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Prendre en compte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le barème en vigueur au moment de la prestation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AC6D1D-5E12-4AA5-9840-41FE310F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4891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3.2.3. Limitation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</a:rPr>
              <a:t>Les limitations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:   </a:t>
            </a:r>
            <a:r>
              <a:rPr lang="fr-BE" b="1" dirty="0"/>
              <a:t>(AM 10)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Limitation du début de la PR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Tenir compte de la rémunération à la tâche qui se situe dans la période de référence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Limitation par trimestre :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(n x 26) + 78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000" b="1" i="1" dirty="0">
                <a:solidFill>
                  <a:schemeClr val="accent2">
                    <a:lumMod val="75000"/>
                  </a:schemeClr>
                </a:solidFill>
              </a:rPr>
              <a:t>n</a:t>
            </a:r>
            <a:r>
              <a:rPr lang="fr-BE" sz="3000" dirty="0"/>
              <a:t> correspond </a:t>
            </a:r>
            <a:r>
              <a:rPr lang="fr-FR" sz="3000" dirty="0"/>
              <a:t>au nombre de mois, dans le trimestre concerné, pour lequel il y a au moins 1 prestation « artistique » rémunérée à la tâche</a:t>
            </a:r>
            <a:endParaRPr lang="fr-BE" sz="30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Limitation à </a:t>
            </a:r>
            <a:r>
              <a:rPr lang="fr-BE" b="1" dirty="0"/>
              <a:t>max</a:t>
            </a:r>
            <a:r>
              <a:rPr lang="fr-BE" dirty="0"/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156 jours par trimestre</a:t>
            </a:r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362BA6-1699-4A9A-9A60-37696C293C7C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41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57B5EE-1E38-4B18-8051-069E531A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3.2.3. Limitation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557037-20E0-4F9E-B3E1-0C9DCB024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Exemple 1</a:t>
            </a:r>
          </a:p>
          <a:p>
            <a:pPr marL="0" indent="0">
              <a:buNone/>
            </a:pPr>
            <a:r>
              <a:rPr lang="fr-BE" sz="3000" dirty="0"/>
              <a:t>Au 1</a:t>
            </a:r>
            <a:r>
              <a:rPr lang="fr-BE" sz="3000" baseline="30000" dirty="0"/>
              <a:t>er</a:t>
            </a:r>
            <a:r>
              <a:rPr lang="fr-BE" sz="3000" dirty="0"/>
              <a:t>   trimestre 2023, un artiste effectue une prestation artistique le 18.01 pour laquelle il perçoit un cachet de 4800€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4800/75,19 = </a:t>
            </a:r>
            <a:r>
              <a:rPr lang="fr-BE" sz="3000" b="1" dirty="0"/>
              <a:t>63,8383</a:t>
            </a:r>
            <a:r>
              <a:rPr lang="fr-BE" sz="3000" dirty="0"/>
              <a:t> jours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Ce nombre de jours n’est pas limité étant donné que le nombre maximal de journées pour le trimestre sera limité à (1 x 26) + 78 = 104 jours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sz="2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B06C31-1E8E-468E-8C24-9B017FBC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2BA6-1699-4A9A-9A60-37696C293C7C}" type="slidenum">
              <a:rPr lang="fr-BE" smtClean="0"/>
              <a:t>13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2300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57B5EE-1E38-4B18-8051-069E531A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3.2.3. Limitation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557037-20E0-4F9E-B3E1-0C9DCB024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Exemple 2</a:t>
            </a:r>
          </a:p>
          <a:p>
            <a:pPr marL="0" indent="0">
              <a:buNone/>
            </a:pPr>
            <a:r>
              <a:rPr lang="fr-BE" sz="3000" dirty="0"/>
              <a:t>Au 4</a:t>
            </a:r>
            <a:r>
              <a:rPr lang="fr-BE" sz="3000" baseline="30000" dirty="0"/>
              <a:t>ème</a:t>
            </a:r>
            <a:r>
              <a:rPr lang="fr-BE" sz="3000" dirty="0"/>
              <a:t>  trimestre 2022, un artiste effectue des prestations artistiques du 24.10 au 07.11 pour laquelle il perçoit un cachet de 9.700€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9.700/72,27 = 134,2189 jours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Ce nombre de jours est limité étant donné que le nombre maximal de journées pour le trimestre est limité à (2 x 26)  + 78 = </a:t>
            </a:r>
            <a:r>
              <a:rPr lang="fr-BE" sz="3000" b="1" dirty="0"/>
              <a:t>130</a:t>
            </a:r>
            <a:r>
              <a:rPr lang="fr-BE" sz="3000" dirty="0"/>
              <a:t> jours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sz="2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B06C31-1E8E-468E-8C24-9B017FBC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362BA6-1699-4A9A-9A60-37696C293C7C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70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75E47C-4852-45F7-A0D5-0525ADC9E025}"/>
              </a:ext>
            </a:extLst>
          </p:cNvPr>
          <p:cNvSpPr/>
          <p:nvPr/>
        </p:nvSpPr>
        <p:spPr>
          <a:xfrm>
            <a:off x="457200" y="5589240"/>
            <a:ext cx="8229600" cy="9941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3.2.4. Période de référence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r-BE" b="1" dirty="0">
                <a:solidFill>
                  <a:prstClr val="black"/>
                </a:solidFill>
                <a:latin typeface="Calibri"/>
              </a:rPr>
              <a:t>L</a:t>
            </a:r>
            <a:r>
              <a:rPr kumimoji="0" lang="fr-BE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période de référence de 24 mois est prolongée par:</a:t>
            </a:r>
          </a:p>
          <a:p>
            <a:pPr lvl="0">
              <a:buFont typeface="Wingdings" panose="05000000000000000000" pitchFamily="2" charset="2"/>
              <a:buChar char="Ø"/>
              <a:defRPr/>
            </a:pPr>
            <a:r>
              <a:rPr lang="fr-BE" sz="3000" dirty="0">
                <a:solidFill>
                  <a:prstClr val="black"/>
                </a:solidFill>
                <a:latin typeface="Calibri"/>
              </a:rPr>
              <a:t>Une période couverte par des indemnités de 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maladie </a:t>
            </a:r>
            <a:r>
              <a:rPr lang="fr-BE" sz="3000" dirty="0">
                <a:solidFill>
                  <a:prstClr val="black"/>
                </a:solidFill>
              </a:rPr>
              <a:t>si </a:t>
            </a:r>
            <a:r>
              <a:rPr lang="fr-BE" sz="3000" b="1" dirty="0">
                <a:solidFill>
                  <a:prstClr val="black"/>
                </a:solidFill>
              </a:rPr>
              <a:t>≥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fr-BE" sz="3000" b="1" dirty="0">
                <a:solidFill>
                  <a:prstClr val="black"/>
                </a:solidFill>
              </a:rPr>
              <a:t> mois</a:t>
            </a:r>
            <a:endParaRPr lang="fr-BE" sz="3000" dirty="0">
              <a:solidFill>
                <a:prstClr val="black"/>
              </a:solidFill>
              <a:latin typeface="Calibri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fr-BE" sz="3000" dirty="0">
                <a:solidFill>
                  <a:prstClr val="black"/>
                </a:solidFill>
                <a:latin typeface="Calibri"/>
              </a:rPr>
              <a:t>Une période couverte par des indemnités en réparation des dommages résultant des 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accidents du travail</a:t>
            </a:r>
            <a:r>
              <a:rPr lang="fr-BE" sz="3000" dirty="0">
                <a:solidFill>
                  <a:prstClr val="black"/>
                </a:solidFill>
                <a:latin typeface="Calibri"/>
              </a:rPr>
              <a:t>, des accidents sur le chemin du travail et des 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maladies professionnelles</a:t>
            </a:r>
            <a:r>
              <a:rPr lang="fr-BE" sz="3000" dirty="0">
                <a:solidFill>
                  <a:prstClr val="black"/>
                </a:solidFill>
                <a:latin typeface="Calibri"/>
              </a:rPr>
              <a:t> si 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≥ 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</a:rPr>
              <a:t>3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mois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r-BE" sz="3000" b="1" dirty="0">
                <a:solidFill>
                  <a:prstClr val="black"/>
                </a:solidFill>
                <a:latin typeface="Calibri"/>
              </a:rPr>
              <a:t>Elle n’est pas prolongée par la période de la crise du Covid-19</a:t>
            </a:r>
            <a:endParaRPr kumimoji="0" lang="fr-BE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fr-BE" sz="3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fr-BE" sz="3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buNone/>
            </a:pP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53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3.2.5. Le code chiffré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r-BE" b="1" u="sng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Durant la phase 1</a:t>
            </a:r>
            <a:endParaRPr lang="fr-BE" u="sng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BE" b="1" u="sng" dirty="0">
                <a:latin typeface="Calibri"/>
              </a:rPr>
              <a:t>Si</a:t>
            </a:r>
            <a:r>
              <a:rPr lang="fr-BE" dirty="0">
                <a:latin typeface="Calibri"/>
              </a:rPr>
              <a:t> code chiffré valable avant la DA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fr-BE" sz="3000" dirty="0">
                <a:solidFill>
                  <a:prstClr val="black"/>
                </a:solidFill>
                <a:latin typeface="Calibri"/>
              </a:rPr>
              <a:t>Code chiffré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maintenu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fr-BE" b="1" u="sng" dirty="0">
                <a:solidFill>
                  <a:prstClr val="black"/>
                </a:solidFill>
                <a:latin typeface="Calibri"/>
              </a:rPr>
              <a:t>Si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 code chiffré valable avant la DA &amp; conditions de l’art.118 remplies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Code chiffré 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</a:rPr>
              <a:t>revu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kumimoji="0" lang="fr-BE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Si</a:t>
            </a:r>
            <a:r>
              <a:rPr kumimoji="0" lang="fr-BE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pas de code chiffré avant la DA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fr-BE" sz="3000" dirty="0">
                <a:solidFill>
                  <a:prstClr val="black"/>
                </a:solidFill>
                <a:latin typeface="Calibri"/>
              </a:rPr>
              <a:t>Code chiffré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sur base des règles ordinaires</a:t>
            </a:r>
            <a:endParaRPr kumimoji="0" lang="fr-BE" sz="3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Calibri"/>
            </a:endParaRPr>
          </a:p>
          <a:p>
            <a:pPr marL="0" indent="0">
              <a:buNone/>
            </a:pP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43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kumimoji="0" lang="fr-BE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3.2.5. Le code chiffré</a:t>
            </a:r>
            <a:r>
              <a:rPr lang="en-GB" b="1" i="1" dirty="0"/>
              <a:t> 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Admissibilité ordinaire </a:t>
            </a:r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AM 65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sym typeface="Wingdings" panose="05000000000000000000" pitchFamily="2" charset="2"/>
              </a:rPr>
              <a:t>Admissibilité spécifique </a:t>
            </a:r>
            <a:r>
              <a:rPr lang="fr-BE" i="1" dirty="0">
                <a:sym typeface="Wingdings" panose="05000000000000000000" pitchFamily="2" charset="2"/>
              </a:rPr>
              <a:t>(AM 10) </a:t>
            </a:r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AM 65 ou 68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>
                <a:sym typeface="Wingdings" panose="05000000000000000000" pitchFamily="2" charset="2"/>
              </a:rPr>
              <a:t>Si occupation ≥ 4 semaines ininterrompues chez le même employeur 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AM 65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>
                <a:sym typeface="Wingdings" panose="05000000000000000000" pitchFamily="2" charset="2"/>
              </a:rPr>
              <a:t>Si occupation &lt; 4 semaines ininterrompues chez le même employeur mais prouve des prestations &lt; 4 semaines rémunérées à la tâche dans le trimestre de référence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AM 68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>
                <a:sym typeface="Wingdings" panose="05000000000000000000" pitchFamily="2" charset="2"/>
              </a:rPr>
              <a:t>Si occupation &lt; 4 semaines ininterrompues chez le même employeur et ne prouve pas de prestations &lt; 4 semaines rémunérées à la tâche dans le trimestre de référence  le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salaire de référence </a:t>
            </a:r>
            <a:r>
              <a:rPr lang="fr-BE" dirty="0">
                <a:sym typeface="Wingdings" panose="05000000000000000000" pitchFamily="2" charset="2"/>
              </a:rPr>
              <a:t>sert de base au calcul.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919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kumimoji="0" lang="fr-BE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3.2.5. Le code chiffré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3000" dirty="0"/>
              <a:t>Calcul du </a:t>
            </a:r>
            <a:r>
              <a:rPr lang="fr-BE" sz="3000" b="1" dirty="0"/>
              <a:t>code chiffré </a:t>
            </a:r>
            <a:r>
              <a:rPr lang="fr-BE" sz="3000" dirty="0"/>
              <a:t>sur base d’une admissibilité spécifique travailleur rémunéré à la tâche </a:t>
            </a:r>
            <a:r>
              <a:rPr lang="fr-BE" sz="3000" dirty="0">
                <a:sym typeface="Wingdings" panose="05000000000000000000" pitchFamily="2" charset="2"/>
              </a:rPr>
              <a:t>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AM 68</a:t>
            </a:r>
            <a:endParaRPr lang="fr-BE" sz="30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fr-BE" sz="3000" dirty="0"/>
              <a:t>Addition de </a:t>
            </a:r>
            <a:r>
              <a:rPr lang="fr-BE" sz="3000" b="1" dirty="0"/>
              <a:t>toutes</a:t>
            </a:r>
            <a:r>
              <a:rPr lang="fr-BE" sz="3000" dirty="0"/>
              <a:t> les rémunérations perçues durant le trimestre civil </a:t>
            </a:r>
            <a:r>
              <a:rPr lang="fr-BE" sz="3000" b="1" dirty="0"/>
              <a:t>précédent</a:t>
            </a:r>
            <a:r>
              <a:rPr lang="fr-BE" sz="3000" dirty="0"/>
              <a:t> la DA.</a:t>
            </a:r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fr-BE" sz="3000" dirty="0"/>
              <a:t>Ce total est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divisé par 78 </a:t>
            </a:r>
            <a:r>
              <a:rPr lang="fr-BE" sz="3000" dirty="0"/>
              <a:t>afin d’obtenir la rémunération journalière moyenne.</a:t>
            </a:r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fr-BE" sz="3000" dirty="0"/>
              <a:t>Si pas de rémunération ou rémunération inférieure à trois fois le salaire de référence = code chiffré sur </a:t>
            </a:r>
            <a:r>
              <a:rPr lang="fr-BE" sz="3000" b="1" dirty="0"/>
              <a:t>base du salaire de référence</a:t>
            </a:r>
            <a:r>
              <a:rPr lang="fr-BE" sz="3000" dirty="0">
                <a:latin typeface="Comic Sans MS" pitchFamily="66" charset="0"/>
              </a:rPr>
              <a:t>.</a:t>
            </a:r>
          </a:p>
          <a:p>
            <a:pPr lvl="1"/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5157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GB" b="1" i="1" dirty="0"/>
              <a:t>3.2.5. Le code chiffré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8507288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b="1" dirty="0"/>
              <a:t>Exemple calcul AM 68</a:t>
            </a:r>
          </a:p>
          <a:p>
            <a:pPr marL="0" indent="0">
              <a:buNone/>
            </a:pPr>
            <a:r>
              <a:rPr lang="fr-BE" sz="3000" dirty="0"/>
              <a:t>1</a:t>
            </a:r>
            <a:r>
              <a:rPr lang="fr-BE" sz="3000" baseline="30000" dirty="0"/>
              <a:t>er</a:t>
            </a:r>
            <a:r>
              <a:rPr lang="fr-BE" sz="3000" dirty="0"/>
              <a:t> DA ATA au 24.05.2023 :</a:t>
            </a:r>
          </a:p>
          <a:p>
            <a:pPr marL="0" indent="0">
              <a:buNone/>
            </a:pPr>
            <a:endParaRPr lang="fr-BE" sz="1200" dirty="0"/>
          </a:p>
          <a:p>
            <a:pPr marL="533400" lvl="1" indent="-350838">
              <a:buFont typeface="Wingdings" pitchFamily="2" charset="2"/>
              <a:buChar char="§"/>
            </a:pPr>
            <a:r>
              <a:rPr lang="fr-BE" dirty="0"/>
              <a:t>Prestations du 4 au 6 novembre 2022 : 2689,79 €</a:t>
            </a:r>
          </a:p>
          <a:p>
            <a:pPr marL="533400" lvl="1" indent="-350838">
              <a:buFont typeface="Wingdings" pitchFamily="2" charset="2"/>
              <a:buChar char="§"/>
            </a:pPr>
            <a:r>
              <a:rPr lang="fr-BE" dirty="0"/>
              <a:t>Prestations du 2 au 13 décembre 2022 : 2145,56 €</a:t>
            </a:r>
          </a:p>
          <a:p>
            <a:pPr marL="533400" lvl="1" indent="-350838">
              <a:buFont typeface="Wingdings" pitchFamily="2" charset="2"/>
              <a:buChar char="§"/>
            </a:pPr>
            <a:r>
              <a:rPr lang="fr-BE" dirty="0"/>
              <a:t>Prestations du 8 au 18 janvier 2023 : 2126,89 €</a:t>
            </a:r>
          </a:p>
          <a:p>
            <a:pPr marL="533400" lvl="1" indent="-350838">
              <a:buFont typeface="Wingdings" pitchFamily="2" charset="2"/>
              <a:buChar char="§"/>
            </a:pPr>
            <a:r>
              <a:rPr lang="fr-BE" dirty="0"/>
              <a:t>Prestations du 19 au 25 février 2023 : 1926,89 €</a:t>
            </a:r>
          </a:p>
          <a:p>
            <a:pPr marL="533400" lvl="1" indent="-350838">
              <a:buFont typeface="Wingdings" pitchFamily="2" charset="2"/>
              <a:buChar char="§"/>
            </a:pPr>
            <a:r>
              <a:rPr lang="fr-BE" dirty="0"/>
              <a:t>Prestations du 9 au 14 mars 2023 : 3689,78 €</a:t>
            </a:r>
          </a:p>
          <a:p>
            <a:pPr marL="533400" lvl="1" indent="-350838">
              <a:buFont typeface="Wingdings" pitchFamily="2" charset="2"/>
              <a:buChar char="§"/>
            </a:pPr>
            <a:r>
              <a:rPr lang="fr-BE" dirty="0"/>
              <a:t>Prestations du 14 au 24 avril 2023 : 3007,56 €</a:t>
            </a:r>
          </a:p>
          <a:p>
            <a:pPr marL="533400" lvl="1" indent="-350838">
              <a:buFont typeface="Wingdings" pitchFamily="2" charset="2"/>
              <a:buChar char="§"/>
            </a:pPr>
            <a:r>
              <a:rPr lang="fr-BE" dirty="0"/>
              <a:t>Prestations du 1 au 23 mai 2023 : 6793,56€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2D3B9-D46C-4B58-A331-AA90261B604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B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808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GB" b="1" i="1" dirty="0"/>
              <a:t>3.2.5. Le code chiffré</a:t>
            </a:r>
            <a:endParaRPr lang="fr-BE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dirty="0"/>
              <a:t>Addition des cachets du 1</a:t>
            </a:r>
            <a:r>
              <a:rPr lang="fr-BE" baseline="30000" dirty="0"/>
              <a:t>er </a:t>
            </a:r>
            <a:r>
              <a:rPr lang="fr-BE" dirty="0"/>
              <a:t>trimestre 2023 :</a:t>
            </a:r>
          </a:p>
          <a:p>
            <a:pPr lvl="1">
              <a:buFont typeface="Wingdings" pitchFamily="2" charset="2"/>
              <a:buChar char="§"/>
            </a:pPr>
            <a:r>
              <a:rPr lang="fr-BE" sz="3200" dirty="0"/>
              <a:t>2126,89 + 1926,89 + 3689,78  = 7743,56€</a:t>
            </a:r>
          </a:p>
          <a:p>
            <a:pPr lvl="1">
              <a:buFont typeface="Wingdings" pitchFamily="2" charset="2"/>
              <a:buChar char="§"/>
            </a:pPr>
            <a:r>
              <a:rPr lang="fr-BE" sz="3200" dirty="0"/>
              <a:t>7743,56/ 78 = 99,2764 €</a:t>
            </a:r>
          </a:p>
          <a:p>
            <a:pPr marL="0" lvl="1" indent="0">
              <a:buNone/>
            </a:pPr>
            <a:r>
              <a:rPr lang="fr-BE" sz="3200" dirty="0">
                <a:sym typeface="Wingdings" pitchFamily="2" charset="2"/>
              </a:rPr>
              <a:t>	 </a:t>
            </a:r>
            <a:r>
              <a:rPr lang="fr-BE" sz="3200" b="1" dirty="0">
                <a:sym typeface="Wingdings" pitchFamily="2" charset="2"/>
              </a:rPr>
              <a:t>Code chiffré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59</a:t>
            </a:r>
          </a:p>
          <a:p>
            <a:pPr marL="0" lvl="1" indent="0">
              <a:buNone/>
            </a:pPr>
            <a:endParaRPr lang="fr-BE" sz="3200" b="1" dirty="0">
              <a:solidFill>
                <a:schemeClr val="accent2">
                  <a:lumMod val="75000"/>
                </a:schemeClr>
              </a:solidFill>
              <a:sym typeface="Wingdings" pitchFamily="2" charset="2"/>
            </a:endParaRPr>
          </a:p>
          <a:p>
            <a:pPr marL="0" lvl="1" indent="0">
              <a:buNone/>
            </a:pPr>
            <a:r>
              <a:rPr lang="fr-BE" b="1" u="sng" dirty="0">
                <a:sym typeface="Wingdings" pitchFamily="2" charset="2"/>
              </a:rPr>
              <a:t>SI </a:t>
            </a:r>
            <a:r>
              <a:rPr lang="fr-BE" b="1" dirty="0">
                <a:sym typeface="Wingdings" pitchFamily="2" charset="2"/>
              </a:rPr>
              <a:t>DA au 03.07.2023</a:t>
            </a:r>
            <a:endParaRPr lang="fr-BE" dirty="0">
              <a:sym typeface="Wingdings" pitchFamily="2" charset="2"/>
            </a:endParaRPr>
          </a:p>
          <a:p>
            <a:pPr marL="0" lvl="1" indent="0">
              <a:buNone/>
            </a:pPr>
            <a:r>
              <a:rPr lang="fr-BE" dirty="0">
                <a:sym typeface="Wingdings" pitchFamily="2" charset="2"/>
              </a:rPr>
              <a:t>Addition des cachets du 2</a:t>
            </a:r>
            <a:r>
              <a:rPr lang="fr-BE" baseline="30000" dirty="0">
                <a:sym typeface="Wingdings" pitchFamily="2" charset="2"/>
              </a:rPr>
              <a:t>ème</a:t>
            </a:r>
            <a:r>
              <a:rPr lang="fr-BE" dirty="0">
                <a:sym typeface="Wingdings" pitchFamily="2" charset="2"/>
              </a:rPr>
              <a:t> trimestre 2023:</a:t>
            </a:r>
          </a:p>
          <a:p>
            <a:pPr marL="857250" lvl="2" indent="-457200">
              <a:buFont typeface="Wingdings" panose="05000000000000000000" pitchFamily="2" charset="2"/>
              <a:buChar char="§"/>
            </a:pPr>
            <a:r>
              <a:rPr lang="fr-BE" sz="2800" dirty="0"/>
              <a:t>3007,56 + 6793,56 = 9801,12€</a:t>
            </a:r>
          </a:p>
          <a:p>
            <a:pPr marL="857250" lvl="2" indent="-457200">
              <a:buFont typeface="Wingdings" panose="05000000000000000000" pitchFamily="2" charset="2"/>
              <a:buChar char="§"/>
            </a:pPr>
            <a:r>
              <a:rPr lang="fr-BE" sz="2800" dirty="0"/>
              <a:t>9801,12 / 78 = 125,6554</a:t>
            </a:r>
          </a:p>
          <a:p>
            <a:pPr marL="857250" lvl="3" indent="0">
              <a:buNone/>
            </a:pPr>
            <a:r>
              <a:rPr lang="fr-BE" sz="2800" dirty="0">
                <a:solidFill>
                  <a:prstClr val="black"/>
                </a:solidFill>
                <a:sym typeface="Wingdings" pitchFamily="2" charset="2"/>
              </a:rPr>
              <a:t> </a:t>
            </a:r>
            <a:r>
              <a:rPr lang="fr-BE" sz="2800" b="1" dirty="0">
                <a:solidFill>
                  <a:prstClr val="black"/>
                </a:solidFill>
                <a:sym typeface="Wingdings" pitchFamily="2" charset="2"/>
              </a:rPr>
              <a:t>Code chiffré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78</a:t>
            </a:r>
            <a:endParaRPr lang="fr-BE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54921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3.2.6. Code C2 « Entrants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fr-BE" b="1" dirty="0">
                <a:solidFill>
                  <a:prstClr val="black"/>
                </a:solidFill>
              </a:rPr>
              <a:t>Codes repris sur la C2 pour les « Entrants »: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BE" sz="3000" b="1" u="sng" dirty="0">
                <a:solidFill>
                  <a:prstClr val="black"/>
                </a:solidFill>
              </a:rPr>
              <a:t>S16</a:t>
            </a:r>
            <a:r>
              <a:rPr lang="fr-BE" sz="3000" dirty="0">
                <a:solidFill>
                  <a:prstClr val="black"/>
                </a:solidFill>
              </a:rPr>
              <a:t>: « </a:t>
            </a:r>
            <a:r>
              <a:rPr lang="fr-BE" sz="3000" b="1" dirty="0">
                <a:solidFill>
                  <a:srgbClr val="C0504D">
                    <a:lumMod val="75000"/>
                  </a:srgbClr>
                </a:solidFill>
              </a:rPr>
              <a:t>XII2A</a:t>
            </a:r>
            <a:r>
              <a:rPr lang="fr-BE" sz="3000" dirty="0">
                <a:solidFill>
                  <a:prstClr val="black"/>
                </a:solidFill>
              </a:rPr>
              <a:t> » </a:t>
            </a:r>
            <a:r>
              <a:rPr lang="fr-BE" sz="3000" b="1" dirty="0">
                <a:solidFill>
                  <a:prstClr val="black"/>
                </a:solidFill>
              </a:rPr>
              <a:t>du</a:t>
            </a:r>
            <a:r>
              <a:rPr lang="fr-BE" sz="3000" dirty="0">
                <a:solidFill>
                  <a:prstClr val="black"/>
                </a:solidFill>
              </a:rPr>
              <a:t> </a:t>
            </a:r>
            <a:r>
              <a:rPr lang="fr-BE" sz="3000" i="1" dirty="0">
                <a:solidFill>
                  <a:prstClr val="black"/>
                </a:solidFill>
              </a:rPr>
              <a:t>‘date de la DA’ </a:t>
            </a:r>
            <a:r>
              <a:rPr lang="fr-BE" sz="3000" b="1" dirty="0">
                <a:solidFill>
                  <a:prstClr val="black"/>
                </a:solidFill>
              </a:rPr>
              <a:t>au</a:t>
            </a:r>
            <a:r>
              <a:rPr lang="fr-BE" sz="3000" dirty="0">
                <a:solidFill>
                  <a:prstClr val="black"/>
                </a:solidFill>
              </a:rPr>
              <a:t> </a:t>
            </a:r>
            <a:r>
              <a:rPr lang="fr-BE" sz="3000" i="1" dirty="0">
                <a:solidFill>
                  <a:prstClr val="black"/>
                </a:solidFill>
              </a:rPr>
              <a:t>‘+ 3ans’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BE" sz="3000" b="1" u="sng" dirty="0">
                <a:solidFill>
                  <a:prstClr val="black"/>
                </a:solidFill>
              </a:rPr>
              <a:t>S16</a:t>
            </a:r>
            <a:r>
              <a:rPr lang="fr-BE" sz="3000" dirty="0">
                <a:solidFill>
                  <a:prstClr val="black"/>
                </a:solidFill>
              </a:rPr>
              <a:t>: </a:t>
            </a:r>
            <a:r>
              <a:rPr lang="fr-BE" sz="3000" b="1" dirty="0">
                <a:solidFill>
                  <a:srgbClr val="C0504D">
                    <a:lumMod val="75000"/>
                  </a:srgbClr>
                </a:solidFill>
              </a:rPr>
              <a:t>clôture à la veille de la DA </a:t>
            </a:r>
            <a:r>
              <a:rPr lang="fr-BE" sz="3000" dirty="0">
                <a:solidFill>
                  <a:prstClr val="black"/>
                </a:solidFill>
              </a:rPr>
              <a:t>des art. 48, 48A, 130A1, 130A2, 130H, 27AR1, 27AR2, 27AR3 et 27AC1</a:t>
            </a:r>
            <a:endParaRPr lang="fr-BE" sz="3000" b="1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fr-BE" sz="3000" b="1" u="sng" dirty="0"/>
              <a:t>S04</a:t>
            </a:r>
            <a:r>
              <a:rPr lang="fr-BE" sz="3000" dirty="0"/>
              <a:t>: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01/</a:t>
            </a:r>
            <a:r>
              <a:rPr lang="fr-BE" sz="3000" b="1" dirty="0" err="1">
                <a:solidFill>
                  <a:schemeClr val="accent2">
                    <a:lumMod val="75000"/>
                  </a:schemeClr>
                </a:solidFill>
              </a:rPr>
              <a:t>xxAy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000" dirty="0"/>
              <a:t>à la date de DA </a:t>
            </a:r>
            <a:r>
              <a:rPr lang="fr-BE" sz="2600" dirty="0"/>
              <a:t>+ art.d’indem « </a:t>
            </a:r>
            <a:r>
              <a:rPr lang="fr-BE" sz="2600" b="1" dirty="0"/>
              <a:t>XII2A</a:t>
            </a:r>
            <a:r>
              <a:rPr lang="fr-BE" sz="2600" dirty="0"/>
              <a:t> »</a:t>
            </a:r>
          </a:p>
          <a:p>
            <a:pPr marL="1257300" lvl="3" indent="0">
              <a:buNone/>
            </a:pPr>
            <a:r>
              <a:rPr lang="fr-BE" sz="2800" dirty="0"/>
              <a:t>+ éventuellement art. d’</a:t>
            </a:r>
            <a:r>
              <a:rPr lang="fr-BE" sz="2800" dirty="0" err="1"/>
              <a:t>admiss</a:t>
            </a:r>
            <a:r>
              <a:rPr lang="fr-BE" sz="2800" dirty="0"/>
              <a:t> « 10Y » ou « 10N »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b="1" u="sng" dirty="0"/>
              <a:t>S04</a:t>
            </a:r>
            <a:r>
              <a:rPr lang="fr-BE" sz="3000" dirty="0"/>
              <a:t>: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96/</a:t>
            </a:r>
            <a:r>
              <a:rPr lang="fr-BE" sz="3000" b="1" dirty="0"/>
              <a:t> </a:t>
            </a:r>
            <a:r>
              <a:rPr lang="fr-BE" sz="3000" dirty="0"/>
              <a:t>au lendemain du S16 « XII2A » </a:t>
            </a:r>
            <a:r>
              <a:rPr lang="fr-BE" sz="2600" dirty="0"/>
              <a:t>+ art.d’indem « </a:t>
            </a:r>
            <a:r>
              <a:rPr lang="fr-BE" sz="2600" b="1" dirty="0"/>
              <a:t>XII2A</a:t>
            </a:r>
            <a:r>
              <a:rPr lang="fr-BE" sz="2600" dirty="0"/>
              <a:t> »</a:t>
            </a:r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56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6E804DD-EBF2-409C-BCFF-74EE9D59E68A}"/>
              </a:ext>
            </a:extLst>
          </p:cNvPr>
          <p:cNvSpPr/>
          <p:nvPr/>
        </p:nvSpPr>
        <p:spPr>
          <a:xfrm>
            <a:off x="457200" y="4797152"/>
            <a:ext cx="8075240" cy="1143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Le montant journalier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fr-BE" dirty="0">
                <a:solidFill>
                  <a:prstClr val="black"/>
                </a:solidFill>
                <a:latin typeface="Calibri"/>
              </a:rPr>
              <a:t>Droit à l’allocation journalière prévue pour la 3</a:t>
            </a:r>
            <a:r>
              <a:rPr lang="fr-BE" baseline="30000" dirty="0">
                <a:solidFill>
                  <a:prstClr val="black"/>
                </a:solidFill>
                <a:latin typeface="Calibri"/>
              </a:rPr>
              <a:t>ème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  phase de la 1</a:t>
            </a:r>
            <a:r>
              <a:rPr lang="fr-BE" baseline="30000" dirty="0">
                <a:solidFill>
                  <a:prstClr val="black"/>
                </a:solidFill>
                <a:latin typeface="Calibri"/>
              </a:rPr>
              <a:t>ère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 période d’indemnisation</a:t>
            </a:r>
            <a:r>
              <a:rPr lang="fr-BE" baseline="300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Montant ATA = suffixe 13</a:t>
            </a:r>
          </a:p>
          <a:p>
            <a:pPr marL="57150" indent="0">
              <a:buNone/>
              <a:defRPr/>
            </a:pPr>
            <a:r>
              <a:rPr lang="fr-BE" sz="3000" dirty="0"/>
              <a:t>Le montant journalier minimum est fixé à: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lang="fr-BE" b="1" dirty="0"/>
              <a:t>66,15€</a:t>
            </a:r>
            <a:r>
              <a:rPr lang="fr-BE" dirty="0"/>
              <a:t> pour les «</a:t>
            </a:r>
            <a:r>
              <a:rPr lang="fr-BE" b="1" dirty="0"/>
              <a:t> A</a:t>
            </a:r>
            <a:r>
              <a:rPr lang="fr-BE" dirty="0"/>
              <a:t> » </a:t>
            </a:r>
            <a:r>
              <a:rPr lang="fr-BE" sz="2100" dirty="0"/>
              <a:t>(barème au 01.01.2023)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lang="fr-BE" b="1" dirty="0"/>
              <a:t>58,27€</a:t>
            </a:r>
            <a:r>
              <a:rPr lang="fr-BE" dirty="0"/>
              <a:t> pour les « </a:t>
            </a:r>
            <a:r>
              <a:rPr lang="fr-BE" b="1" dirty="0"/>
              <a:t>N</a:t>
            </a:r>
            <a:r>
              <a:rPr lang="fr-BE" dirty="0"/>
              <a:t> » &amp; « </a:t>
            </a:r>
            <a:r>
              <a:rPr lang="fr-BE" b="1" dirty="0"/>
              <a:t>B</a:t>
            </a:r>
            <a:r>
              <a:rPr lang="fr-BE" dirty="0"/>
              <a:t> » </a:t>
            </a:r>
            <a:r>
              <a:rPr lang="fr-BE" sz="2100" dirty="0"/>
              <a:t>(barème au 01.01.2023)</a:t>
            </a:r>
          </a:p>
          <a:p>
            <a:pPr marL="57150" indent="0">
              <a:buNone/>
              <a:defRPr/>
            </a:pPr>
            <a:r>
              <a:rPr lang="fr-BE" dirty="0"/>
              <a:t>L’allocation du travailleur des arts </a:t>
            </a:r>
            <a:r>
              <a:rPr lang="fr-BE" b="1" dirty="0"/>
              <a:t>n’est pas </a:t>
            </a:r>
            <a:r>
              <a:rPr lang="fr-BE" dirty="0"/>
              <a:t>soumise à la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dégressivité</a:t>
            </a:r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868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5. La période d’application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5259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olidFill>
                  <a:prstClr val="black"/>
                </a:solidFill>
                <a:latin typeface="Calibri"/>
              </a:rPr>
              <a:t>Le droit à l’ATA est limité à une période de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36 mois</a:t>
            </a:r>
            <a:r>
              <a:rPr lang="fr-BE" sz="3000" dirty="0">
                <a:solidFill>
                  <a:prstClr val="black"/>
                </a:solidFill>
                <a:latin typeface="Calibri"/>
              </a:rPr>
              <a:t>, calculé de date à date, à partir du jour où le droit a été accordé 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kumimoji="0" lang="fr-BE" sz="3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Cette période est appelée 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PERIODE D’APPLICATION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latin typeface="Calibri"/>
              </a:rPr>
              <a:t>La période d’application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n’est pas prolongée </a:t>
            </a:r>
            <a:r>
              <a:rPr lang="fr-BE" sz="3000" dirty="0">
                <a:latin typeface="Calibri"/>
              </a:rPr>
              <a:t>par les évènements qui pourraient se produire durant celle-ci</a:t>
            </a:r>
            <a:endParaRPr kumimoji="0" lang="fr-BE" sz="3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L’art 116 </a:t>
            </a:r>
            <a:r>
              <a:rPr lang="fr-BE" b="1" dirty="0"/>
              <a:t>ne s’applique pas </a:t>
            </a:r>
            <a:r>
              <a:rPr lang="fr-BE" dirty="0"/>
              <a:t>aux ATA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BE" dirty="0"/>
              <a:t>S16 « 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XII1A</a:t>
            </a:r>
            <a:r>
              <a:rPr lang="fr-BE" dirty="0"/>
              <a:t> » pour le Stock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BE" dirty="0"/>
              <a:t>S16 « 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XII2A</a:t>
            </a:r>
            <a:r>
              <a:rPr lang="fr-BE" dirty="0"/>
              <a:t> » pour les Entrants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90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183B7B-D262-488D-A6B5-2263E256A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nl-BE" b="1" i="1" dirty="0"/>
              <a:t>6. C3-ARTISTE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6B848D-41DF-460C-BC1D-4D3AE0845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3100" b="1" u="sng" dirty="0">
                <a:solidFill>
                  <a:schemeClr val="accent2">
                    <a:lumMod val="75000"/>
                  </a:schemeClr>
                </a:solidFill>
              </a:rPr>
              <a:t>Phase 1:</a:t>
            </a:r>
          </a:p>
          <a:p>
            <a:pPr marL="0" indent="0">
              <a:buNone/>
            </a:pPr>
            <a:r>
              <a:rPr lang="fr-BE" sz="3100" dirty="0"/>
              <a:t>Lorsque la prestation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artistique</a:t>
            </a:r>
            <a:r>
              <a:rPr lang="fr-BE" sz="3100" dirty="0"/>
              <a:t> est effectuée sous contrat de travail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avec une rémunération à la tâche</a:t>
            </a:r>
            <a:r>
              <a:rPr lang="fr-BE" sz="3100" dirty="0"/>
              <a:t> assujettie à l’ONSS ou lorsque la rémunération est assujettie à l’ONSS en application de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l’article 1 bis </a:t>
            </a:r>
            <a:r>
              <a:rPr lang="fr-BE" sz="3100" dirty="0"/>
              <a:t>de la loi du 27.06.1969, le travailleur est tenu de compléter un formulaire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C3-ARTISTE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Envoi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trimestriel</a:t>
            </a:r>
            <a:r>
              <a:rPr lang="fr-BE" sz="3000" dirty="0"/>
              <a:t> au BC au plus tard le dernier jour du mois qui suit la fin du trimestre (type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94A</a:t>
            </a:r>
            <a:r>
              <a:rPr lang="fr-BE" sz="3000" dirty="0"/>
              <a:t>)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6B1BEF-6177-4560-9D34-9143C991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94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183B7B-D262-488D-A6B5-2263E256A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nl-BE" b="1" i="1" dirty="0"/>
              <a:t>6. C3-ARTISTE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6B848D-41DF-460C-BC1D-4D3AE0845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A contrario, le travailleur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qui ne remplit pas </a:t>
            </a:r>
            <a:r>
              <a:rPr lang="fr-BE" dirty="0"/>
              <a:t>les conditions du chapitre XII ou qui renonce aux allocations du travailleur des arts </a:t>
            </a:r>
          </a:p>
          <a:p>
            <a:pPr marL="0" indent="0">
              <a:buNone/>
            </a:pPr>
            <a:r>
              <a:rPr lang="fr-BE" sz="3100" b="1" u="sng" dirty="0">
                <a:solidFill>
                  <a:schemeClr val="accent2">
                    <a:lumMod val="75000"/>
                  </a:schemeClr>
                </a:solidFill>
              </a:rPr>
              <a:t>ET</a:t>
            </a:r>
            <a:r>
              <a:rPr lang="fr-BE" sz="31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qui effectue des prestations artistiques sous contrat de travail rémunérés à la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tâche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Ne doit plus </a:t>
            </a:r>
            <a:r>
              <a:rPr lang="fr-BE" dirty="0"/>
              <a:t>compléter de </a:t>
            </a:r>
            <a:r>
              <a:rPr lang="fr-BE" b="1" dirty="0"/>
              <a:t>C3-artiste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6B1BEF-6177-4560-9D34-9143C991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2D3B9-D46C-4B58-A331-AA90261B604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3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434D34-9E06-4395-B074-80FF250D750D}"/>
              </a:ext>
            </a:extLst>
          </p:cNvPr>
          <p:cNvSpPr/>
          <p:nvPr/>
        </p:nvSpPr>
        <p:spPr>
          <a:xfrm>
            <a:off x="457200" y="4725144"/>
            <a:ext cx="8363272" cy="136815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99556B6-ADEA-4D93-93ED-3EDF9D3E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nl-BE" b="1" i="1" dirty="0"/>
              <a:t>7. Règle de conversion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AD1271-D337-4A18-BEA0-52C7B63F2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nl-BE" sz="3500" b="1" dirty="0"/>
              <a:t>La </a:t>
            </a:r>
            <a:r>
              <a:rPr lang="nl-BE" sz="3500" b="1" dirty="0" err="1"/>
              <a:t>règle</a:t>
            </a:r>
            <a:r>
              <a:rPr lang="nl-BE" sz="3500" b="1" dirty="0"/>
              <a:t> de </a:t>
            </a:r>
            <a:r>
              <a:rPr lang="nl-BE" sz="3500" b="1" dirty="0" err="1"/>
              <a:t>conversion</a:t>
            </a:r>
            <a:r>
              <a:rPr lang="nl-BE" sz="3500" b="1" dirty="0"/>
              <a:t> </a:t>
            </a:r>
            <a:r>
              <a:rPr lang="nl-BE" sz="3500" dirty="0" err="1"/>
              <a:t>négative</a:t>
            </a:r>
            <a:r>
              <a:rPr lang="nl-BE" sz="3500" dirty="0"/>
              <a:t> </a:t>
            </a:r>
            <a:r>
              <a:rPr lang="fr-BE" sz="3500" dirty="0"/>
              <a:t>permet de déterminer la période de travail couverte par la rémunération à la tâche</a:t>
            </a:r>
            <a:endParaRPr lang="fr-BE" sz="35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1714500" lvl="4" indent="0">
              <a:buNone/>
            </a:pPr>
            <a:endParaRPr lang="nl-BE" sz="2300" dirty="0">
              <a:solidFill>
                <a:schemeClr val="accent2">
                  <a:lumMod val="75000"/>
                </a:schemeClr>
              </a:solidFill>
            </a:endParaRPr>
          </a:p>
          <a:p>
            <a:pPr marL="1714500" lvl="4" indent="0">
              <a:buNone/>
            </a:pPr>
            <a:r>
              <a:rPr lang="nl-BE" sz="23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800" dirty="0">
                <a:solidFill>
                  <a:schemeClr val="accent2">
                    <a:lumMod val="75000"/>
                  </a:schemeClr>
                </a:solidFill>
              </a:rPr>
              <a:t>Formule = </a:t>
            </a:r>
            <a:r>
              <a:rPr lang="fr-BE" sz="3800" b="1" dirty="0">
                <a:solidFill>
                  <a:schemeClr val="accent2">
                    <a:lumMod val="75000"/>
                  </a:schemeClr>
                </a:solidFill>
              </a:rPr>
              <a:t>[YA – (C x Y ) ] /Y</a:t>
            </a:r>
          </a:p>
          <a:p>
            <a:pPr marL="0" indent="0">
              <a:buNone/>
            </a:pPr>
            <a:endParaRPr lang="fr-BE" sz="35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YA</a:t>
            </a:r>
            <a:r>
              <a:rPr lang="fr-BE" sz="3100" dirty="0"/>
              <a:t>=salaire brut  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C</a:t>
            </a:r>
            <a:r>
              <a:rPr lang="fr-BE" sz="3100" dirty="0"/>
              <a:t>=nombre de jours de travail 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Y</a:t>
            </a:r>
            <a:r>
              <a:rPr lang="fr-BE" sz="3100" dirty="0"/>
              <a:t>=112,79€</a:t>
            </a:r>
          </a:p>
          <a:p>
            <a:pPr marL="0" indent="0">
              <a:buNone/>
            </a:pPr>
            <a:endParaRPr lang="fr-BE" sz="31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BE" sz="3500" dirty="0"/>
              <a:t>Le résultat final déterminera une période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non indemnisable </a:t>
            </a:r>
            <a:r>
              <a:rPr lang="fr-BE" sz="3500" dirty="0"/>
              <a:t>en chômage complet, située dans le futur et limitée à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156 jours</a:t>
            </a:r>
            <a:r>
              <a:rPr lang="fr-BE" sz="3500" dirty="0"/>
              <a:t>.</a:t>
            </a:r>
          </a:p>
          <a:p>
            <a:pPr marL="0" indent="0">
              <a:buNone/>
            </a:pPr>
            <a:endParaRPr lang="fr-BE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7A87FB-38EF-4D9E-97B1-87DB206B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3241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GB" b="1" i="1" dirty="0"/>
              <a:t>7. </a:t>
            </a:r>
            <a:r>
              <a:rPr lang="en-GB" b="1" i="1" dirty="0" err="1"/>
              <a:t>Règle</a:t>
            </a:r>
            <a:r>
              <a:rPr lang="en-GB" b="1" i="1" dirty="0"/>
              <a:t> de conversion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32500" lnSpcReduction="20000"/>
          </a:bodyPr>
          <a:lstStyle/>
          <a:p>
            <a:pPr marL="0" indent="0" hangingPunct="0">
              <a:buNone/>
            </a:pPr>
            <a:r>
              <a:rPr lang="fr-BE" sz="9200" b="1" i="1" dirty="0"/>
              <a:t>Exemple</a:t>
            </a:r>
            <a:endParaRPr lang="fr-BE" sz="9200" dirty="0"/>
          </a:p>
          <a:p>
            <a:pPr marL="0" indent="0" hangingPunct="0">
              <a:buNone/>
            </a:pPr>
            <a:endParaRPr lang="fr-BE" sz="7200" i="1" dirty="0"/>
          </a:p>
          <a:p>
            <a:pPr marL="0" indent="0" hangingPunct="0">
              <a:buNone/>
            </a:pPr>
            <a:r>
              <a:rPr lang="fr-BE" sz="7200" dirty="0"/>
              <a:t>Un violoniste effectue 4 concerts au cours du 1</a:t>
            </a:r>
            <a:r>
              <a:rPr lang="fr-BE" sz="7200" baseline="30000" dirty="0"/>
              <a:t>er</a:t>
            </a:r>
            <a:r>
              <a:rPr lang="fr-BE" sz="7200" dirty="0"/>
              <a:t>  trimestre 2023, il est payé au cachet: En janvier (1700 €), en février (500 €) et en mars (1300 €).  </a:t>
            </a:r>
          </a:p>
          <a:p>
            <a:pPr marL="0" indent="0" hangingPunct="0">
              <a:buNone/>
            </a:pPr>
            <a:r>
              <a:rPr lang="fr-BE" sz="7200" dirty="0"/>
              <a:t>L’artiste a chaque fois mentionné une journée d’activité sur la carte de contrôle (le jour du concert).</a:t>
            </a:r>
          </a:p>
          <a:p>
            <a:pPr marL="0" indent="0" hangingPunct="0">
              <a:buNone/>
            </a:pPr>
            <a:endParaRPr lang="fr-BE" sz="7200" b="1" i="1" dirty="0"/>
          </a:p>
          <a:p>
            <a:pPr marL="0" indent="0" hangingPunct="0">
              <a:buNone/>
            </a:pPr>
            <a:r>
              <a:rPr lang="fr-BE" sz="7200" b="1" i="1" dirty="0"/>
              <a:t>Règle de conversion 2</a:t>
            </a:r>
            <a:r>
              <a:rPr lang="fr-BE" sz="7200" b="1" i="1" baseline="30000" dirty="0"/>
              <a:t>ème</a:t>
            </a:r>
            <a:r>
              <a:rPr lang="fr-BE" sz="7200" b="1" i="1" dirty="0"/>
              <a:t>  trimestre:</a:t>
            </a:r>
          </a:p>
          <a:p>
            <a:pPr hangingPunct="0"/>
            <a:r>
              <a:rPr lang="fr-BE" sz="7200" i="1" dirty="0"/>
              <a:t>3500 – (4 x 112,79) = 3048,84€</a:t>
            </a:r>
            <a:endParaRPr lang="fr-BE" sz="7200" dirty="0"/>
          </a:p>
          <a:p>
            <a:pPr hangingPunct="0"/>
            <a:r>
              <a:rPr lang="fr-BE" sz="7200" i="1" dirty="0"/>
              <a:t>3048,84€ / 112,79 = 27,0311 = 27 jours</a:t>
            </a:r>
            <a:endParaRPr lang="fr-BE" sz="7200" dirty="0"/>
          </a:p>
          <a:p>
            <a:pPr hangingPunct="0"/>
            <a:r>
              <a:rPr lang="fr-BE" sz="7200" i="1" dirty="0"/>
              <a:t>La décision pour le 1</a:t>
            </a:r>
            <a:r>
              <a:rPr lang="fr-BE" sz="7200" i="1" baseline="30000" dirty="0"/>
              <a:t>er</a:t>
            </a:r>
            <a:r>
              <a:rPr lang="fr-BE" sz="7200" i="1" dirty="0"/>
              <a:t> trimestre 2023 est notifiée le 9 mai 2023. </a:t>
            </a:r>
          </a:p>
          <a:p>
            <a:pPr hangingPunct="0">
              <a:buFont typeface="Wingdings" panose="05000000000000000000" pitchFamily="2" charset="2"/>
              <a:buChar char="Ø"/>
            </a:pPr>
            <a:r>
              <a:rPr lang="fr-BE" sz="7200" i="1" dirty="0"/>
              <a:t>La période non indemnisable de 27 jours s’étend du 01.05 au 31.05.2023 inclus</a:t>
            </a:r>
            <a:endParaRPr lang="fr-BE" sz="7200" dirty="0"/>
          </a:p>
          <a:p>
            <a:pPr hangingPunct="0"/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2D3B9-D46C-4B58-A331-AA90261B604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fr-B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02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63F0A-B706-4AD1-A878-CA9BE8901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nl-BE" b="1" i="1" dirty="0"/>
              <a:t>7. Règle de conversion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A72C50-5589-4074-AEA9-F81682C0E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BE" b="1" dirty="0"/>
              <a:t>Conséquences de la période NI:</a:t>
            </a:r>
            <a:endParaRPr lang="nl-BE" dirty="0"/>
          </a:p>
          <a:p>
            <a:pPr>
              <a:buFont typeface="Wingdings" panose="05000000000000000000" pitchFamily="2" charset="2"/>
              <a:buChar char="Ø"/>
            </a:pPr>
            <a:r>
              <a:rPr lang="nl-BE" sz="3000" b="1" dirty="0">
                <a:solidFill>
                  <a:schemeClr val="accent2">
                    <a:lumMod val="75000"/>
                  </a:schemeClr>
                </a:solidFill>
              </a:rPr>
              <a:t>Pas de DA </a:t>
            </a:r>
            <a:r>
              <a:rPr lang="nl-BE" sz="3000" dirty="0"/>
              <a:t>à introduire à la suite de cette période;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nl-BE" sz="3000" dirty="0"/>
              <a:t>IDE si </a:t>
            </a:r>
            <a:r>
              <a:rPr lang="nl-BE" sz="3000" b="1" dirty="0">
                <a:solidFill>
                  <a:schemeClr val="accent2">
                    <a:lumMod val="75000"/>
                  </a:schemeClr>
                </a:solidFill>
              </a:rPr>
              <a:t>≥</a:t>
            </a:r>
            <a:r>
              <a:rPr lang="nl-BE" sz="3000" dirty="0"/>
              <a:t> 28 jours NI </a:t>
            </a:r>
            <a:r>
              <a:rPr lang="nl-BE" sz="3000" dirty="0" err="1"/>
              <a:t>sauf</a:t>
            </a:r>
            <a:r>
              <a:rPr lang="nl-BE" sz="3000" dirty="0"/>
              <a:t> en </a:t>
            </a:r>
            <a:r>
              <a:rPr lang="nl-BE" sz="3000" dirty="0" err="1"/>
              <a:t>région</a:t>
            </a:r>
            <a:r>
              <a:rPr lang="nl-BE" sz="3000" dirty="0"/>
              <a:t> </a:t>
            </a:r>
            <a:r>
              <a:rPr lang="nl-BE" sz="3000" dirty="0" err="1"/>
              <a:t>Wallonne</a:t>
            </a:r>
            <a:r>
              <a:rPr lang="nl-BE" sz="3000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nl-BE" sz="3000" dirty="0"/>
              <a:t>Pas considérée AR37;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nl-BE" sz="3000" dirty="0"/>
              <a:t>Pas droit au CT;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nl-BE" sz="3000" dirty="0"/>
              <a:t>Déduite du </a:t>
            </a:r>
            <a:r>
              <a:rPr lang="nl-BE" sz="3000" dirty="0" err="1"/>
              <a:t>calcul</a:t>
            </a:r>
            <a:r>
              <a:rPr lang="nl-BE" sz="3000" dirty="0"/>
              <a:t> de l’AGR;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nl-BE" sz="3000" dirty="0"/>
              <a:t>Déduction possible des J;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nl-BE" sz="3000" dirty="0"/>
              <a:t>Non prolongée par du travail ou de l’incapacité;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nl-BE" sz="3000" dirty="0"/>
              <a:t>Considérée comme une période de chômage.</a:t>
            </a:r>
          </a:p>
          <a:p>
            <a:pPr>
              <a:buFont typeface="Wingdings" panose="05000000000000000000" pitchFamily="2" charset="2"/>
              <a:buChar char="Ø"/>
            </a:pPr>
            <a:endParaRPr lang="nl-BE" sz="3000" dirty="0"/>
          </a:p>
          <a:p>
            <a:pPr>
              <a:buFont typeface="Wingdings" panose="05000000000000000000" pitchFamily="2" charset="2"/>
              <a:buChar char="Ø"/>
            </a:pPr>
            <a:endParaRPr lang="fr-BE" sz="3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B8E161-4A00-4A47-82DB-05B4F9FEB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28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3672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63F0A-B706-4AD1-A878-CA9BE8901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nl-BE" b="1" i="1" dirty="0"/>
              <a:t> 7. Règle de conversion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A72C50-5589-4074-AEA9-F81682C0E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b="1" dirty="0"/>
              <a:t>Conséquences de la période NI:</a:t>
            </a:r>
            <a:endParaRPr lang="nl-BE" dirty="0"/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C3-Artiste doivent être remis pendant cette période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Carte est complétée normalement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Considérée comme CC pour le facteur J sauf si reprise de travail.</a:t>
            </a:r>
          </a:p>
          <a:p>
            <a:pPr>
              <a:buFont typeface="Wingdings" panose="05000000000000000000" pitchFamily="2" charset="2"/>
              <a:buChar char="Ø"/>
            </a:pPr>
            <a:endParaRPr lang="nl-BE" sz="3000" dirty="0"/>
          </a:p>
          <a:p>
            <a:pPr>
              <a:buFont typeface="Wingdings" panose="05000000000000000000" pitchFamily="2" charset="2"/>
              <a:buChar char="Ø"/>
            </a:pPr>
            <a:endParaRPr lang="fr-BE" sz="3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B8E161-4A00-4A47-82DB-05B4F9FEB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2D3B9-D46C-4B58-A331-AA90261B604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29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8. Cumul avec d’autres activités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000" dirty="0"/>
              <a:t>A partir du 01.10.2022, des nouvelles règles s’appliquent pour les activités exercées à titre accessoire et non soumises à la cotisation ONSS secteur chômage et ce, </a:t>
            </a:r>
            <a:r>
              <a:rPr lang="fr-BE" sz="3000" b="1" dirty="0"/>
              <a:t>quelque soit la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nature de l’activité </a:t>
            </a:r>
            <a:r>
              <a:rPr lang="fr-BE" sz="3000" b="1" dirty="0"/>
              <a:t>ou le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secteur d’activité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Déclaration via le formulaire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C181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/>
              <a:t>Au moment de la DA </a:t>
            </a:r>
          </a:p>
          <a:p>
            <a:pPr marL="857250" lvl="2" indent="0">
              <a:buNone/>
            </a:pPr>
            <a:r>
              <a:rPr lang="fr-BE" sz="2600" i="1" u="sng" dirty="0"/>
              <a:t>Délai</a:t>
            </a:r>
            <a:r>
              <a:rPr lang="fr-BE" sz="2600" i="1" dirty="0"/>
              <a:t>: 2 mois à dater du lendemain de la DA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/>
              <a:t>Pendant la période d’application</a:t>
            </a:r>
            <a:r>
              <a:rPr lang="fr-BE" sz="2600" dirty="0"/>
              <a:t> </a:t>
            </a:r>
          </a:p>
          <a:p>
            <a:pPr marL="857250" lvl="2" indent="0">
              <a:buNone/>
            </a:pPr>
            <a:r>
              <a:rPr lang="fr-BE" sz="2600" i="1" u="sng" dirty="0"/>
              <a:t>Délai</a:t>
            </a:r>
            <a:r>
              <a:rPr lang="fr-BE" sz="2600" i="1" dirty="0"/>
              <a:t>: dernier jour du mois qui suit celui au cours duquel l’évènement modificatif a lieu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Ne doivent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pas être mentionnée </a:t>
            </a:r>
            <a:r>
              <a:rPr lang="fr-BE" sz="3000" dirty="0"/>
              <a:t>sur la carte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fr-BE" b="1" dirty="0"/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366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8. Cumul avec d’autres revenus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3000" dirty="0"/>
              <a:t>Les revenus provenant d’une activité sans cotisation ONSS secteur chômage ou non statutaire sont soumis à l’art. 189</a:t>
            </a:r>
            <a:endParaRPr lang="fr-BE" sz="30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S’applique d’office à tous les travailleurs qui bénéficie du chapitre XII</a:t>
            </a:r>
            <a:endParaRPr lang="fr-BE" sz="30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Cumul autorisé =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10.420,80€</a:t>
            </a:r>
            <a:r>
              <a:rPr lang="fr-BE" sz="3000" dirty="0"/>
              <a:t> </a:t>
            </a:r>
            <a:r>
              <a:rPr lang="fr-BE" sz="2400" dirty="0"/>
              <a:t>(barème du 01.01.2023)</a:t>
            </a:r>
          </a:p>
          <a:p>
            <a:pPr marL="400050" lvl="1" indent="0">
              <a:buNone/>
            </a:pPr>
            <a:r>
              <a:rPr lang="fr-BE" sz="2600" dirty="0">
                <a:sym typeface="Wingdings" panose="05000000000000000000" pitchFamily="2" charset="2"/>
              </a:rPr>
              <a:t></a:t>
            </a:r>
            <a:r>
              <a:rPr lang="fr-BE" dirty="0"/>
              <a:t>Soit 2 x la limite du chômeur ordinaire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Calcul annuel ET possibilité de demander un calcul global par cycle de 3 ans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76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8. Cumul avec d’autres activités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16" y="1605119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kumimoji="0" lang="fr-BE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le travailleur </a:t>
            </a:r>
            <a:r>
              <a:rPr kumimoji="0" lang="fr-BE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 ne remplit pas </a:t>
            </a:r>
            <a:r>
              <a:rPr kumimoji="0" lang="fr-BE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conditions chapitre XII ou </a:t>
            </a:r>
            <a:r>
              <a:rPr kumimoji="0" lang="fr-BE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 renonce</a:t>
            </a:r>
            <a:r>
              <a:rPr kumimoji="0" lang="fr-BE" sz="3200" b="1" i="0" u="none" strike="noStrike" kern="1200" cap="none" spc="0" normalizeH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fr-BE" sz="3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 ATA, il peut continuer à exercer une activité artistiques accessoire 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moyennant l’introduction d’un </a:t>
            </a:r>
            <a:r>
              <a:rPr lang="fr-BE" b="1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C1 &amp; C1A 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et uniquement si </a:t>
            </a:r>
            <a:r>
              <a:rPr lang="fr-BE" b="1" dirty="0">
                <a:solidFill>
                  <a:prstClr val="black"/>
                </a:solidFill>
                <a:latin typeface="Calibri"/>
              </a:rPr>
              <a:t>toutes les conditions 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de l’art.48 sont remplies: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fr-BE" dirty="0">
                <a:solidFill>
                  <a:prstClr val="black"/>
                </a:solidFill>
              </a:rPr>
              <a:t>L’avoir exercé </a:t>
            </a:r>
            <a:r>
              <a:rPr lang="fr-BE" b="1" dirty="0">
                <a:solidFill>
                  <a:prstClr val="black"/>
                </a:solidFill>
              </a:rPr>
              <a:t>au moins durant 3 mois </a:t>
            </a:r>
            <a:r>
              <a:rPr lang="fr-BE" dirty="0">
                <a:solidFill>
                  <a:prstClr val="black"/>
                </a:solidFill>
              </a:rPr>
              <a:t>durant la période de travail salarié qui précède la DA;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fr-BE" dirty="0">
                <a:solidFill>
                  <a:prstClr val="black"/>
                </a:solidFill>
              </a:rPr>
              <a:t>Principalement du lundi au vendredi avant 7h et après 18h </a:t>
            </a:r>
            <a:endParaRPr kumimoji="0" lang="fr-BE" sz="3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indent="0">
              <a:buNone/>
            </a:pPr>
            <a:endParaRPr lang="fr-BE" b="1" dirty="0"/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3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3AF902-EDF4-4A3D-81D4-CB56D449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8. Cumul avec d’autres activités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6CC528-5FCD-4EE2-9159-00E62D5D3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b="1" dirty="0"/>
              <a:t>Possibilité d’être dispensé de la condition des « 3 mois » si: </a:t>
            </a:r>
            <a:r>
              <a:rPr lang="fr-BE" sz="2600" dirty="0"/>
              <a:t>(conditions </a:t>
            </a:r>
            <a:r>
              <a:rPr lang="fr-BE" sz="2600" dirty="0">
                <a:solidFill>
                  <a:schemeClr val="accent2">
                    <a:lumMod val="75000"/>
                  </a:schemeClr>
                </a:solidFill>
              </a:rPr>
              <a:t>cumulatives</a:t>
            </a:r>
            <a:r>
              <a:rPr lang="fr-BE" sz="26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Activité artistique déclarée </a:t>
            </a:r>
            <a:r>
              <a:rPr lang="fr-BE" b="1" dirty="0"/>
              <a:t>avant le 01.10.2022 </a:t>
            </a:r>
            <a:r>
              <a:rPr lang="fr-BE" dirty="0"/>
              <a:t>via </a:t>
            </a:r>
            <a:r>
              <a:rPr lang="fr-BE" b="1" dirty="0"/>
              <a:t>C1-Artiste</a:t>
            </a:r>
            <a:r>
              <a:rPr lang="fr-BE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Au moins </a:t>
            </a:r>
            <a:r>
              <a:rPr lang="fr-BE" b="1" dirty="0"/>
              <a:t>1 allocation de CC </a:t>
            </a:r>
            <a:r>
              <a:rPr lang="fr-BE" dirty="0"/>
              <a:t>entre le 01.10.2019 et le 30.09.2022;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Pas droit aux ATA et pas de renonciation;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b="1" dirty="0"/>
              <a:t>Obligation de déclarer </a:t>
            </a:r>
            <a:r>
              <a:rPr lang="fr-BE" dirty="0"/>
              <a:t>à nouveau l’activité artistique via </a:t>
            </a:r>
            <a:r>
              <a:rPr lang="fr-BE" b="1" dirty="0"/>
              <a:t>C1 &amp; C1A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avant le 01.01.2023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1D2DBB-DAFA-46A2-A551-A2C7025F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934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9. La renonciation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fr-BE" dirty="0">
                <a:solidFill>
                  <a:prstClr val="black"/>
                </a:solidFill>
                <a:latin typeface="Calibri"/>
              </a:rPr>
              <a:t>La renonciation aux </a:t>
            </a:r>
            <a:r>
              <a:rPr kumimoji="0" lang="fr-BE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ATA doit</a:t>
            </a:r>
            <a:r>
              <a:rPr kumimoji="0" lang="fr-BE" sz="3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être </a:t>
            </a:r>
            <a:r>
              <a:rPr kumimoji="0" lang="fr-BE" sz="3200" b="1" i="0" u="none" strike="noStrike" kern="1200" cap="none" spc="0" normalizeH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</a:rPr>
              <a:t>préalable</a:t>
            </a:r>
            <a:r>
              <a:rPr kumimoji="0" lang="fr-BE" sz="3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et la déclaration est </a:t>
            </a:r>
            <a:r>
              <a:rPr kumimoji="0" lang="fr-BE" sz="3200" b="1" i="0" u="none" strike="noStrike" kern="1200" cap="none" spc="0" normalizeH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</a:rPr>
              <a:t>irrévocable</a:t>
            </a:r>
            <a:r>
              <a:rPr kumimoji="0" lang="fr-BE" sz="3200" i="0" u="none" strike="noStrike" kern="1200" cap="none" spc="0" normalizeH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</a:rPr>
              <a:t> </a:t>
            </a:r>
            <a:endParaRPr kumimoji="0" lang="fr-BE" sz="32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Calibri"/>
            </a:endParaRPr>
          </a:p>
          <a:p>
            <a:pPr marL="0" indent="0">
              <a:buNone/>
            </a:pP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au 6">
            <a:extLst>
              <a:ext uri="{FF2B5EF4-FFF2-40B4-BE49-F238E27FC236}">
                <a16:creationId xmlns:a16="http://schemas.microsoft.com/office/drawing/2014/main" id="{087A63B0-1942-47CA-854A-8199E093291F}"/>
              </a:ext>
            </a:extLst>
          </p:cNvPr>
          <p:cNvGraphicFramePr>
            <a:graphicFrameLocks noGrp="1"/>
          </p:cNvGraphicFramePr>
          <p:nvPr/>
        </p:nvGraphicFramePr>
        <p:xfrm>
          <a:off x="282352" y="2774315"/>
          <a:ext cx="8579296" cy="3947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87750">
                  <a:extLst>
                    <a:ext uri="{9D8B030D-6E8A-4147-A177-3AD203B41FA5}">
                      <a16:colId xmlns:a16="http://schemas.microsoft.com/office/drawing/2014/main" val="1765886491"/>
                    </a:ext>
                  </a:extLst>
                </a:gridCol>
                <a:gridCol w="3254026">
                  <a:extLst>
                    <a:ext uri="{9D8B030D-6E8A-4147-A177-3AD203B41FA5}">
                      <a16:colId xmlns:a16="http://schemas.microsoft.com/office/drawing/2014/main" val="2229498750"/>
                    </a:ext>
                  </a:extLst>
                </a:gridCol>
                <a:gridCol w="3137520">
                  <a:extLst>
                    <a:ext uri="{9D8B030D-6E8A-4147-A177-3AD203B41FA5}">
                      <a16:colId xmlns:a16="http://schemas.microsoft.com/office/drawing/2014/main" val="33154433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ENTRANTS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191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Formulaire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C195.1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/>
                        <a:t>C184.2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628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Prise d’effet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A la date de réception mais au plus tôt au 01.10.2022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A la date de réception mais au plus tôt à la date demandée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01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Conséquences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BE" dirty="0"/>
                        <a:t>Application des règles ordinaires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663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Indemnisation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Sur demande en cc ordinaire</a:t>
                      </a:r>
                    </a:p>
                    <a:p>
                      <a:r>
                        <a:rPr lang="fr-BE" dirty="0"/>
                        <a:t>Phase 2A au 01.10.2022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Sur demande en cc ordinaire  art.30, 33, 36 ou 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366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Période de carence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24 mois mais prend fin au plus tôt le 30.09.2025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24 mois mais prend fin au plus tôt à l’expiration de la période d’application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634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Encodage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S16 « 195&amp;1 »</a:t>
                      </a:r>
                    </a:p>
                    <a:p>
                      <a:r>
                        <a:rPr lang="fr-BE" dirty="0"/>
                        <a:t>S04 art. d’</a:t>
                      </a:r>
                      <a:r>
                        <a:rPr lang="fr-BE" dirty="0" err="1"/>
                        <a:t>indem</a:t>
                      </a:r>
                      <a:r>
                        <a:rPr lang="fr-BE" dirty="0"/>
                        <a:t> « 195&amp;1 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S16 « 184&amp;2 »</a:t>
                      </a:r>
                    </a:p>
                    <a:p>
                      <a:r>
                        <a:rPr lang="fr-BE" dirty="0"/>
                        <a:t>S04 art. d’</a:t>
                      </a:r>
                      <a:r>
                        <a:rPr lang="fr-BE" dirty="0" err="1"/>
                        <a:t>indem</a:t>
                      </a:r>
                      <a:r>
                        <a:rPr lang="fr-BE" dirty="0"/>
                        <a:t> « 184&amp;2 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015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39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00FF-2434-421C-AC29-984CD5F5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10. Procédure DISPO &amp; notion d’emploi convenable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76FA1B-E609-4DBD-86A3-97A26A4F5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travailleur des arts qui bénéficie des règles particulières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est dispensé </a:t>
            </a:r>
            <a:r>
              <a:rPr lang="fr-BE" dirty="0"/>
              <a:t>de l’obligation de rechercher activement un emploi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Pas soumis au contrôle de la disponibilité active.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Mais </a:t>
            </a:r>
            <a:r>
              <a:rPr lang="fr-BE" sz="3000" b="1" dirty="0"/>
              <a:t>doit</a:t>
            </a:r>
            <a:r>
              <a:rPr lang="fr-BE" sz="3000" dirty="0"/>
              <a:t> être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IDE</a:t>
            </a:r>
          </a:p>
          <a:p>
            <a:pPr lvl="0">
              <a:buFont typeface="Wingdings" panose="05000000000000000000" pitchFamily="2" charset="2"/>
              <a:buChar char="§"/>
              <a:defRPr/>
            </a:pPr>
            <a:r>
              <a:rPr lang="fr-BE" dirty="0">
                <a:solidFill>
                  <a:prstClr val="black"/>
                </a:solidFill>
              </a:rPr>
              <a:t>Le travailleur des arts qui bénéficie des règles particulières n’</a:t>
            </a:r>
            <a:r>
              <a:rPr lang="fr-BE" b="1" dirty="0">
                <a:solidFill>
                  <a:srgbClr val="C0504D">
                    <a:lumMod val="75000"/>
                  </a:srgbClr>
                </a:solidFill>
              </a:rPr>
              <a:t>est pas obligé</a:t>
            </a:r>
            <a:r>
              <a:rPr lang="fr-BE" dirty="0">
                <a:solidFill>
                  <a:prstClr val="black"/>
                </a:solidFill>
              </a:rPr>
              <a:t> d’accepter un emploi dans une profession qui ne se situe pas dans le secteur des arts.</a:t>
            </a:r>
          </a:p>
          <a:p>
            <a:pPr marL="0" indent="0">
              <a:buNone/>
            </a:pPr>
            <a:endParaRPr lang="fr-BE" sz="3400" b="1" dirty="0"/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440E2C-EEAB-48C8-A155-E668BA6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88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GB" sz="4900" b="1" i="1" dirty="0"/>
              <a:t>11. Régime des Petites Indemnités</a:t>
            </a:r>
            <a:br>
              <a:rPr lang="en-GB" sz="4900" b="1" i="1" dirty="0"/>
            </a:br>
            <a:r>
              <a:rPr lang="en-GB" sz="4900" b="1" i="1" dirty="0"/>
              <a:t>(RPI)</a:t>
            </a:r>
            <a:endParaRPr lang="fr-BE" sz="5400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l-BE" sz="3000" b="1" dirty="0"/>
              <a:t>C’est quoi ?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fr-BE" sz="2800" dirty="0"/>
              <a:t>Régime créé afin de permettre à l’artiste de fournir des prestations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artistiques</a:t>
            </a:r>
            <a:r>
              <a:rPr lang="fr-BE" sz="2800" dirty="0"/>
              <a:t> ponctuelles sans que le montant prévu pour la prestation ne soit considéré comme une rémunération et ne soit soumis au prélèvement de cotisations sociales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800" b="1" dirty="0"/>
              <a:t>Pour qui ?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fr-BE" sz="2800" dirty="0"/>
              <a:t>Pour toute personne qui fournit une prestation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artistique</a:t>
            </a:r>
            <a:r>
              <a:rPr lang="fr-BE" sz="2800" dirty="0"/>
              <a:t>, qu’elle soit amateur ou professionnelle.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2D3B9-D46C-4B58-A331-AA90261B604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76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E4450B-5136-437F-82FC-BFEEF861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1143000"/>
          </a:xfrm>
        </p:spPr>
        <p:txBody>
          <a:bodyPr>
            <a:noAutofit/>
          </a:bodyPr>
          <a:lstStyle/>
          <a:p>
            <a:pPr algn="r"/>
            <a:r>
              <a:rPr lang="nl-BE" b="1" i="1" dirty="0"/>
              <a:t>11. Régime des </a:t>
            </a:r>
            <a:r>
              <a:rPr lang="nl-BE" b="1" i="1" dirty="0" err="1"/>
              <a:t>Petites</a:t>
            </a:r>
            <a:r>
              <a:rPr lang="nl-BE" b="1" i="1" dirty="0"/>
              <a:t> </a:t>
            </a:r>
            <a:r>
              <a:rPr lang="nl-BE" b="1" i="1" dirty="0" err="1"/>
              <a:t>Indemnités</a:t>
            </a:r>
            <a:br>
              <a:rPr lang="nl-BE" b="1" i="1" dirty="0"/>
            </a:br>
            <a:r>
              <a:rPr lang="nl-BE" b="1" i="1" dirty="0"/>
              <a:t>(RPI)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4FA516-A328-44FA-AA65-42771E801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nl-BE" b="1" dirty="0"/>
              <a:t>Limites pour 2023</a:t>
            </a:r>
            <a:r>
              <a:rPr lang="nl-BE" dirty="0"/>
              <a:t>:</a:t>
            </a:r>
          </a:p>
          <a:p>
            <a:pPr marL="7429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kumimoji="0" lang="fr-BE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Maximum 147,67 € par jour (2.953,37 € par an)</a:t>
            </a:r>
          </a:p>
          <a:p>
            <a:pPr marL="7429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kumimoji="0" lang="fr-BE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Maximum 30 jours par année civile</a:t>
            </a:r>
          </a:p>
          <a:p>
            <a:pPr marL="7429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kumimoji="0" lang="fr-BE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Maximum 7 jours consécutifs chez le même mandant</a:t>
            </a:r>
          </a:p>
          <a:p>
            <a:pPr marL="4572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fr-B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14350" indent="-4572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fr-BE" sz="3000" dirty="0">
                <a:solidFill>
                  <a:prstClr val="black"/>
                </a:solidFill>
                <a:latin typeface="Calibri"/>
              </a:rPr>
              <a:t>Ce régime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n’est pas </a:t>
            </a:r>
            <a:r>
              <a:rPr lang="fr-BE" sz="3000" dirty="0">
                <a:solidFill>
                  <a:prstClr val="black"/>
                </a:solidFill>
                <a:latin typeface="Calibri"/>
              </a:rPr>
              <a:t>déclaré via C181</a:t>
            </a:r>
          </a:p>
          <a:p>
            <a:pPr marL="514350" indent="-4572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Biffure</a:t>
            </a:r>
            <a:r>
              <a:rPr lang="fr-BE" sz="3000" dirty="0">
                <a:solidFill>
                  <a:prstClr val="black"/>
                </a:solidFill>
                <a:latin typeface="Calibri"/>
              </a:rPr>
              <a:t> sur la carte de contrôle</a:t>
            </a:r>
          </a:p>
          <a:p>
            <a:pPr marL="514350" indent="-4572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Pas prise en considération </a:t>
            </a:r>
            <a:r>
              <a:rPr lang="fr-BE" sz="3000" dirty="0">
                <a:solidFill>
                  <a:prstClr val="black"/>
                </a:solidFill>
                <a:latin typeface="Calibri"/>
              </a:rPr>
              <a:t>pour l’art.37</a:t>
            </a:r>
          </a:p>
          <a:p>
            <a:pPr marL="5715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kumimoji="0" lang="fr-BE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3489DF-6E9D-4E1E-A66F-83BF3EA7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2D3B9-D46C-4B58-A331-AA90261B604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24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38E6A9-7C47-46F6-BB30-ABE57203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nl-BE" b="1" i="1" dirty="0"/>
              <a:t>12. Hobby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F80759-6F28-4D7D-955E-35EF1CAD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/>
              <a:t>L’ activité artistique exercée comme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hobby</a:t>
            </a:r>
            <a:r>
              <a:rPr lang="fr-BE" dirty="0"/>
              <a:t> :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exercée pour soi-même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sans une quelconque commercialisation ou rémunération .</a:t>
            </a:r>
          </a:p>
          <a:p>
            <a:pPr marL="0" indent="0">
              <a:buNone/>
            </a:pPr>
            <a:r>
              <a:rPr lang="fr-BE" dirty="0"/>
              <a:t>Ces activités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peuvent être </a:t>
            </a:r>
            <a:r>
              <a:rPr lang="fr-BE" dirty="0"/>
              <a:t>cumulées avec le bénéfice des allocations, ne doivent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pas être déclarées</a:t>
            </a:r>
            <a:r>
              <a:rPr lang="fr-BE" dirty="0"/>
              <a:t> et ne doivent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pas être mentionnées </a:t>
            </a:r>
            <a:r>
              <a:rPr lang="fr-BE" dirty="0"/>
              <a:t>sur la carte de contrôle.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209937-64A0-449A-AB5A-82146842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3B9-D46C-4B58-A331-AA90261B6047}" type="slidenum">
              <a:rPr lang="fr-BE" smtClean="0"/>
              <a:pPr/>
              <a:t>38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6553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3AF902-EDF4-4A3D-81D4-CB56D449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13. Informations utiles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6CC528-5FCD-4EE2-9159-00E62D5D3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fait de cohabiter avec un travailleur qui bénéficie des ATA ne permet pas de bénéficier du statut de cohabitant privilégié;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montant de l’ATA n’est pas diminué si le travailleur bénéficie de la dispense 90;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Il doit obtenir une autorisation du SRE pour suivre des études/formations visées à l’art.68;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Il doit obtenir une autorisation du SRE pour cumuler un avantage financier dans le cadre d’une formation;</a:t>
            </a:r>
          </a:p>
          <a:p>
            <a:pPr marL="0" indent="0">
              <a:buNone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1D2DBB-DAFA-46A2-A551-A2C7025F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463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3AF902-EDF4-4A3D-81D4-CB56D449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/>
              <a:t>13. Informations </a:t>
            </a:r>
            <a:r>
              <a:rPr lang="fr-BE" b="1" i="1" dirty="0"/>
              <a:t>utiles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6CC528-5FCD-4EE2-9159-00E62D5D3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La mesure reprise de travail dans un secteur en pénurie ou autre région n’est pas applicable;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</a:rPr>
              <a:t>La mesure « tremplin indépendant » n’est pas applicable au travailleur chapitre XII;</a:t>
            </a:r>
            <a:endParaRPr lang="fr-BE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droit à l’AGR est applicable;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droit au CT en cas de suspension du contrat de travail reste applicable;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Les règles ordinaires d’encodage, du calcul du montant et d’IDE sont applicables.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1D2DBB-DAFA-46A2-A551-A2C7025F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909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7043A6-6D3B-4C8B-A277-4A31E1D36F15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7d2a3af0-b854-4018-b3fb-98bf2b75e19a"/>
    <ds:schemaRef ds:uri="bdec1399-7c99-4025-bfb6-e1e799e6630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1e832426-6819-49af-b751-404cdfce156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CEB0C4B-C42D-4E0B-8E89-7246848F0B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5F6984-1801-4014-9E80-583D46FE94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18516</TotalTime>
  <Words>2825</Words>
  <Application>Microsoft Office PowerPoint</Application>
  <PresentationFormat>Affichage à l'écran (4:3)</PresentationFormat>
  <Paragraphs>346</Paragraphs>
  <Slides>40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Comic Sans MS</vt:lpstr>
      <vt:lpstr>Courier New</vt:lpstr>
      <vt:lpstr>Wingdings</vt:lpstr>
      <vt:lpstr>Thème Office</vt:lpstr>
      <vt:lpstr>1_Thème Office</vt:lpstr>
      <vt:lpstr>2_Thème Office</vt:lpstr>
      <vt:lpstr>Le travailleur des Arts</vt:lpstr>
      <vt:lpstr>Table des matières</vt:lpstr>
      <vt:lpstr>Table des matières</vt:lpstr>
      <vt:lpstr>1. Préambule</vt:lpstr>
      <vt:lpstr>2. Définition</vt:lpstr>
      <vt:lpstr>3. Admissibilité</vt:lpstr>
      <vt:lpstr>3.1. Le STOCK</vt:lpstr>
      <vt:lpstr>3.2. Les ENTRANTS</vt:lpstr>
      <vt:lpstr>3.2. Les ENTRANTS</vt:lpstr>
      <vt:lpstr>3.2.1: Règle de calcul  (phase 1)</vt:lpstr>
      <vt:lpstr>3.2.2. Règle dérogatoire (phase 1)</vt:lpstr>
      <vt:lpstr>3.2.3. Limitation</vt:lpstr>
      <vt:lpstr>3.2.3. Limitation</vt:lpstr>
      <vt:lpstr>3.2.3. Limitation</vt:lpstr>
      <vt:lpstr>3.2.4. Période de référence</vt:lpstr>
      <vt:lpstr>3.2.5. Le code chiffré</vt:lpstr>
      <vt:lpstr>3.2.5. Le code chiffré </vt:lpstr>
      <vt:lpstr>3.2.5. Le code chiffré</vt:lpstr>
      <vt:lpstr>3.2.5. Le code chiffré</vt:lpstr>
      <vt:lpstr>3.2.5. Le code chiffré</vt:lpstr>
      <vt:lpstr>3.2.6. Code C2 « Entrants »</vt:lpstr>
      <vt:lpstr>4. Le montant journalier</vt:lpstr>
      <vt:lpstr>5. La période d’application</vt:lpstr>
      <vt:lpstr>6. C3-ARTISTE</vt:lpstr>
      <vt:lpstr>6. C3-ARTISTE</vt:lpstr>
      <vt:lpstr>7. Règle de conversion</vt:lpstr>
      <vt:lpstr>7. Règle de conversion</vt:lpstr>
      <vt:lpstr>7. Règle de conversion</vt:lpstr>
      <vt:lpstr> 7. Règle de conversion</vt:lpstr>
      <vt:lpstr>8. Cumul avec d’autres activités</vt:lpstr>
      <vt:lpstr>8. Cumul avec d’autres revenus</vt:lpstr>
      <vt:lpstr>8. Cumul avec d’autres activités</vt:lpstr>
      <vt:lpstr>8. Cumul avec d’autres activités</vt:lpstr>
      <vt:lpstr>9. La renonciation</vt:lpstr>
      <vt:lpstr>10. Procédure DISPO &amp; notion d’emploi convenable</vt:lpstr>
      <vt:lpstr>11. Régime des Petites Indemnités (RPI)</vt:lpstr>
      <vt:lpstr>11. Régime des Petites Indemnités (RPI)</vt:lpstr>
      <vt:lpstr>12. Hobby</vt:lpstr>
      <vt:lpstr>13. Informations utiles</vt:lpstr>
      <vt:lpstr>13. Informations utiles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FCS-M07-Le travailleur des arts - Participants</dc:title>
  <dc:creator>Christine Bartholomeus</dc:creator>
  <cp:lastModifiedBy>Anja Sobkowiak</cp:lastModifiedBy>
  <cp:revision>813</cp:revision>
  <cp:lastPrinted>2019-01-07T11:57:57Z</cp:lastPrinted>
  <dcterms:created xsi:type="dcterms:W3CDTF">2012-08-09T12:32:33Z</dcterms:created>
  <dcterms:modified xsi:type="dcterms:W3CDTF">2023-05-25T07:29:44Z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139;#FCS formation senior|7e1aeef4-3046-4f78-a284-cec5c2bef1bf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17;#Admissibilité|d1ac0b1f-1e4c-4aa8-9a97-5b01e61985ba;#18;#Vérités|91331765-02c2-47c0-8605-37a5a3e877f2;#22;#Indemnisabilité|b5f95997-28b8-41b1-bbb7-1a3d8a5995b4</vt:lpwstr>
  </property>
  <property fmtid="{D5CDD505-2E9C-101B-9397-08002B2CF9AE}" pid="7" name="Thème">
    <vt:lpwstr>57;#Catégories particulières|82c9096e-4a01-41e2-a8fd-ca91d5e305ea</vt:lpwstr>
  </property>
  <property fmtid="{D5CDD505-2E9C-101B-9397-08002B2CF9AE}" pid="8" name="Order">
    <vt:r8>96600</vt:r8>
  </property>
  <property fmtid="{D5CDD505-2E9C-101B-9397-08002B2CF9AE}" pid="9" name="_dlc_DocIdItemGuid">
    <vt:lpwstr>23d101c2-d192-40af-a524-8eccfda8cf3a</vt:lpwstr>
  </property>
</Properties>
</file>