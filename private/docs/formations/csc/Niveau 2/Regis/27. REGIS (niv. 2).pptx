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378" r:id="rId5"/>
    <p:sldId id="458" r:id="rId6"/>
    <p:sldId id="446" r:id="rId7"/>
    <p:sldId id="448" r:id="rId8"/>
    <p:sldId id="449" r:id="rId9"/>
    <p:sldId id="450" r:id="rId10"/>
    <p:sldId id="451" r:id="rId11"/>
    <p:sldId id="452" r:id="rId12"/>
    <p:sldId id="454" r:id="rId13"/>
    <p:sldId id="455" r:id="rId14"/>
    <p:sldId id="456" r:id="rId15"/>
    <p:sldId id="435" r:id="rId16"/>
    <p:sldId id="436" r:id="rId17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assakis Drossinis" initials="TD" lastIdx="0" clrIdx="0">
    <p:extLst>
      <p:ext uri="{19B8F6BF-5375-455C-9EA6-DF929625EA0E}">
        <p15:presenceInfo xmlns:p15="http://schemas.microsoft.com/office/powerpoint/2012/main" userId="S-1-5-21-969678584-1814248037-6498272-615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69"/>
    <a:srgbClr val="FF9933"/>
    <a:srgbClr val="008000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ED88F-676D-40CA-B9C9-061373B66161}" v="2" dt="2022-10-05T12:52:03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4" autoAdjust="0"/>
    <p:restoredTop sz="96362" autoAdjust="0"/>
  </p:normalViewPr>
  <p:slideViewPr>
    <p:cSldViewPr>
      <p:cViewPr varScale="1">
        <p:scale>
          <a:sx n="82" d="100"/>
          <a:sy n="82" d="100"/>
        </p:scale>
        <p:origin x="138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12/10/2022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12/10/2022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5"/>
            <a:ext cx="5335270" cy="444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5767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B6201-7DC0-434F-B551-BF8C45B14900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334897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4005-2C0C-47DD-93C9-C8FA4A0CFD78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739958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36264-A539-47E8-9B8A-004D72BEE2DE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355912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DCF4-B15A-435D-829C-C11A97A06CB1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579214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2061-7E08-4DD5-B58A-DC787E257184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438915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01F0C-E8F0-46F0-855B-93D52B4B2D46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59723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98E8-5AB3-4AB2-85FD-C8B8462D7BA5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757870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FD01-48CF-4AA2-B724-F29436C54376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030204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A52B-00C8-4627-93FF-46E1D765A03E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858051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962E-1235-41F9-AC43-490086357222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485230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DD89-3A2F-47F0-A19C-27053A7292A1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37897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8FD70-0989-4992-86FC-C613271801F2}" type="datetime1">
              <a:rPr lang="fr-FR" smtClean="0">
                <a:solidFill>
                  <a:prstClr val="black">
                    <a:tint val="75000"/>
                  </a:prstClr>
                </a:solidFill>
              </a:rPr>
              <a:t>12/10/2022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06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8900" b="1" i="1" dirty="0"/>
              <a:t>Procédure </a:t>
            </a:r>
            <a:br>
              <a:rPr lang="fr-BE" sz="8900" b="1" i="1" dirty="0"/>
            </a:br>
            <a:r>
              <a:rPr lang="fr-BE" sz="8900" b="1" i="1" dirty="0"/>
              <a:t>REGIS</a:t>
            </a:r>
            <a:br>
              <a:rPr lang="fr-BE" sz="8900" b="1" i="1" dirty="0"/>
            </a:br>
            <a:r>
              <a:rPr lang="fr-BE" b="1" i="1" dirty="0"/>
              <a:t>(niveau 2)</a:t>
            </a:r>
            <a:endParaRPr lang="fr-BE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EBB2EE-8BEE-4E38-A015-5E940D7AEF00}"/>
              </a:ext>
            </a:extLst>
          </p:cNvPr>
          <p:cNvSpPr txBox="1"/>
          <p:nvPr/>
        </p:nvSpPr>
        <p:spPr>
          <a:xfrm>
            <a:off x="899592" y="6169580"/>
            <a:ext cx="287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12/10/2022</a:t>
            </a:r>
          </a:p>
        </p:txBody>
      </p:sp>
    </p:spTree>
    <p:extLst>
      <p:ext uri="{BB962C8B-B14F-4D97-AF65-F5344CB8AC3E}">
        <p14:creationId xmlns:p14="http://schemas.microsoft.com/office/powerpoint/2010/main" val="196029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Table des matières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fr-BE" dirty="0"/>
              <a:t>Adresse radiée     					</a:t>
            </a:r>
            <a:r>
              <a:rPr lang="fr-BE" sz="2000" dirty="0" err="1"/>
              <a:t>pg</a:t>
            </a:r>
            <a:r>
              <a:rPr lang="fr-BE" sz="2000" dirty="0"/>
              <a:t>. 3</a:t>
            </a:r>
            <a:r>
              <a:rPr lang="fr-BE" dirty="0"/>
              <a:t>                                   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fr-BE" dirty="0"/>
              <a:t>Adresse de référence				</a:t>
            </a:r>
            <a:r>
              <a:rPr lang="fr-BE" sz="2000" dirty="0" err="1"/>
              <a:t>pg</a:t>
            </a:r>
            <a:r>
              <a:rPr lang="fr-BE" sz="2000" dirty="0"/>
              <a:t>. 7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fr-BE" dirty="0"/>
              <a:t>Situation de Co-</a:t>
            </a:r>
            <a:r>
              <a:rPr lang="fr-BE" dirty="0" err="1"/>
              <a:t>housing</a:t>
            </a:r>
            <a:r>
              <a:rPr lang="fr-BE" dirty="0"/>
              <a:t>				</a:t>
            </a:r>
            <a:r>
              <a:rPr lang="fr-BE" sz="2000" dirty="0" err="1"/>
              <a:t>pg</a:t>
            </a:r>
            <a:r>
              <a:rPr lang="fr-BE" sz="2000" dirty="0"/>
              <a:t>. 9</a:t>
            </a:r>
            <a:endParaRPr lang="fr-BE" dirty="0"/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fr-BE" dirty="0"/>
              <a:t>Différence de dates				</a:t>
            </a:r>
            <a:r>
              <a:rPr lang="fr-BE" sz="2000" dirty="0" err="1"/>
              <a:t>pg</a:t>
            </a:r>
            <a:r>
              <a:rPr lang="fr-BE" sz="2000" dirty="0"/>
              <a:t>. 11</a:t>
            </a:r>
            <a:endParaRPr lang="fr-BE" dirty="0"/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fr-BE" dirty="0"/>
              <a:t>R-Notif &amp; tâche supprimée			</a:t>
            </a:r>
            <a:r>
              <a:rPr lang="fr-BE" sz="2000" dirty="0" err="1"/>
              <a:t>pg</a:t>
            </a:r>
            <a:r>
              <a:rPr lang="fr-BE" sz="2000" dirty="0"/>
              <a:t>. </a:t>
            </a:r>
            <a:r>
              <a:rPr lang="fr-BE" sz="2000"/>
              <a:t>12</a:t>
            </a:r>
            <a:endParaRPr lang="fr-BE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F86C1BD-C574-4C68-8B60-0F57BC3C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650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A47279-5196-4DAA-82C0-B1E88444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Adresse radiée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82F787-5703-400E-A579-8F7500371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 lnSpcReduction="10000"/>
          </a:bodyPr>
          <a:lstStyle/>
          <a:p>
            <a:r>
              <a:rPr lang="fr-BE" dirty="0"/>
              <a:t>Obligation d’introduire le formulaire </a:t>
            </a:r>
            <a:r>
              <a:rPr lang="fr-BE" b="1" dirty="0">
                <a:solidFill>
                  <a:srgbClr val="C00000"/>
                </a:solidFill>
              </a:rPr>
              <a:t>C1-Annexe REGIS</a:t>
            </a:r>
            <a:r>
              <a:rPr lang="fr-BE" dirty="0"/>
              <a:t> si nous réceptionnons une R-Notif radié.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u="sng" dirty="0">
                <a:solidFill>
                  <a:srgbClr val="C00000"/>
                </a:solidFill>
              </a:rPr>
              <a:t>Script 0.2</a:t>
            </a:r>
            <a:r>
              <a:rPr lang="fr-BE" b="1" dirty="0">
                <a:solidFill>
                  <a:srgbClr val="C00000"/>
                </a:solidFill>
              </a:rPr>
              <a:t> </a:t>
            </a:r>
            <a:r>
              <a:rPr lang="fr-BE" dirty="0"/>
              <a:t>composé 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R-Notif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C1-Annexe REGIS complété avec le code A1-xx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C1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R-Elec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preuves de résidence ou démarches en vue de l’obtention d’une adresse de référence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9D8022-E260-4A50-91E5-F49487F5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334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80886-42EA-425C-883D-115304C5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Adresse radiée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916A74-6D21-4D57-879D-A0D5E4FE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3500" b="1" dirty="0">
                <a:solidFill>
                  <a:srgbClr val="C00000"/>
                </a:solidFill>
              </a:rPr>
              <a:t>Aucune exclusion </a:t>
            </a:r>
            <a:r>
              <a:rPr lang="fr-BE" sz="3500" dirty="0"/>
              <a:t>du droit aux allocations n’est notifiée lorsqu’il est clairement établi que ces personnes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b="1" dirty="0"/>
              <a:t>résident</a:t>
            </a:r>
            <a:r>
              <a:rPr lang="fr-BE" sz="3400" dirty="0"/>
              <a:t> bien dans le pays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ont communiqué à  l’ONEM leur lieu de </a:t>
            </a:r>
            <a:r>
              <a:rPr lang="fr-BE" sz="3400" b="1" dirty="0"/>
              <a:t>résidence réel </a:t>
            </a:r>
            <a:r>
              <a:rPr lang="fr-BE" sz="3400" dirty="0"/>
              <a:t>ou une </a:t>
            </a:r>
            <a:r>
              <a:rPr lang="fr-BE" sz="3400" b="1" dirty="0"/>
              <a:t>adresse de référence </a:t>
            </a:r>
            <a:r>
              <a:rPr lang="fr-BE" sz="3400" dirty="0"/>
              <a:t>à laquelle ils sont joignables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continuent de satisfaire aux </a:t>
            </a:r>
            <a:r>
              <a:rPr lang="fr-BE" sz="3400" b="1" dirty="0"/>
              <a:t>conditions d’indemnisation</a:t>
            </a:r>
            <a:r>
              <a:rPr lang="fr-BE" sz="3400" dirty="0"/>
              <a:t> (p.ex. disponibilité pour le marché de l’emploi) étant donné qu’ils semblent être joignables par courrier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pour des </a:t>
            </a:r>
            <a:r>
              <a:rPr lang="fr-BE" sz="3400" b="1" dirty="0"/>
              <a:t>raisons particulières </a:t>
            </a:r>
            <a:r>
              <a:rPr lang="fr-BE" sz="3400" dirty="0"/>
              <a:t>(p.ex. familiales et sociales), ne sont plus inscrits au registre de la population (p.ex. parce qu’elles sont sans abri ou qu’elles habitent dans une caravane).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F04F84-7AFC-4CEB-9B9C-AF857FED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25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64709-6DE6-404E-BC3B-F92158D4D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Adresse radiée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9D9F35-059A-479D-A6CE-438BF8A75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/>
          <a:lstStyle/>
          <a:p>
            <a:r>
              <a:rPr lang="fr-BE" dirty="0"/>
              <a:t>Le statut payable doit être « </a:t>
            </a:r>
            <a:r>
              <a:rPr lang="fr-BE" b="1" dirty="0"/>
              <a:t>en attente d’une réponse </a:t>
            </a:r>
            <a:r>
              <a:rPr lang="fr-BE" dirty="0"/>
              <a:t>»</a:t>
            </a:r>
          </a:p>
          <a:p>
            <a:pPr marL="0" indent="0">
              <a:buNone/>
            </a:pPr>
            <a:endParaRPr lang="fr-BE" dirty="0"/>
          </a:p>
          <a:p>
            <a:r>
              <a:rPr lang="fr-BE" dirty="0"/>
              <a:t>A défaut de preuves de résidence suffisantes ou de démarches d’obtention d’une adresse de référence, l’</a:t>
            </a:r>
            <a:r>
              <a:rPr lang="fr-BE" dirty="0" err="1"/>
              <a:t>ONEm</a:t>
            </a:r>
            <a:r>
              <a:rPr lang="fr-BE" dirty="0"/>
              <a:t> établira une C2-XML code </a:t>
            </a:r>
            <a:r>
              <a:rPr lang="fr-BE" b="1" dirty="0">
                <a:solidFill>
                  <a:srgbClr val="C00000"/>
                </a:solidFill>
              </a:rPr>
              <a:t>00 </a:t>
            </a:r>
            <a:r>
              <a:rPr lang="fr-BE" dirty="0"/>
              <a:t>avec </a:t>
            </a:r>
            <a:r>
              <a:rPr lang="fr-BE" b="1" dirty="0"/>
              <a:t>l’article d’indemnisation </a:t>
            </a:r>
            <a:r>
              <a:rPr lang="fr-BE" b="1" dirty="0">
                <a:solidFill>
                  <a:srgbClr val="C00000"/>
                </a:solidFill>
              </a:rPr>
              <a:t>66</a:t>
            </a:r>
            <a:r>
              <a:rPr lang="fr-BE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F7B021-9790-4176-9853-B54EC6ED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926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5532AB-235C-412B-968E-BEEB15CC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1. Adresse radiée :</a:t>
            </a:r>
            <a:br>
              <a:rPr lang="fr-BE" b="1" i="1" dirty="0"/>
            </a:br>
            <a:r>
              <a:rPr lang="fr-BE" b="1" i="1" dirty="0"/>
              <a:t>Exportation de droits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109295-E554-4967-8D75-C42BFC8DD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3000" dirty="0"/>
              <a:t>En principe, ces R-Notifs </a:t>
            </a:r>
            <a:r>
              <a:rPr lang="fr-BE" sz="3000" b="1" dirty="0">
                <a:solidFill>
                  <a:srgbClr val="C00000"/>
                </a:solidFill>
              </a:rPr>
              <a:t>ne doivent pas </a:t>
            </a:r>
            <a:r>
              <a:rPr lang="fr-BE" sz="3000" dirty="0"/>
              <a:t>être traitées car le BC a reçu la demande d’exportation de droits et est donc informé du départ à l’étranger.</a:t>
            </a:r>
          </a:p>
          <a:p>
            <a:r>
              <a:rPr lang="fr-BE" sz="3000" dirty="0"/>
              <a:t>Cependant les paiements seront bloqués suite à la réception de la R-Notif au cours d’un mois pour lequel l’AS demande des allocation</a:t>
            </a:r>
            <a:r>
              <a:rPr lang="fr-BE" dirty="0"/>
              <a:t>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script 0.2 identique à une radiation normale mais </a:t>
            </a:r>
            <a:r>
              <a:rPr lang="fr-BE" dirty="0">
                <a:solidFill>
                  <a:srgbClr val="C00000"/>
                </a:solidFill>
              </a:rPr>
              <a:t>type C9 </a:t>
            </a:r>
            <a:r>
              <a:rPr lang="fr-BE" b="1" dirty="0">
                <a:solidFill>
                  <a:srgbClr val="C00000"/>
                </a:solidFill>
              </a:rPr>
              <a:t>XXX</a:t>
            </a:r>
            <a:r>
              <a:rPr lang="fr-BE" dirty="0"/>
              <a:t> 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644381-D123-4C1C-AB3B-DBD5777E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441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530AA-F5A0-4A62-8E3D-47EC2BC0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Adresse de référence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F6C4EA-AB5A-458E-890C-A2C7D9BA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300" dirty="0"/>
              <a:t>Les personnes qui résident dans une demeure mobile ou  qui n’ont pas ou n’ont plus de résidence, peuvent, à leur demande, être inscrits par la commune où elles sont habituellement présentes, à </a:t>
            </a:r>
            <a:r>
              <a:rPr lang="fr-BE" sz="3300" b="1" dirty="0">
                <a:solidFill>
                  <a:srgbClr val="C00000"/>
                </a:solidFill>
              </a:rPr>
              <a:t>une adresse de référence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300" dirty="0"/>
              <a:t>Par adresse de référence, il y a lieu d’entendre: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soit l’adresse d’une </a:t>
            </a:r>
            <a:r>
              <a:rPr lang="fr-BE" sz="2900" b="1" dirty="0">
                <a:solidFill>
                  <a:srgbClr val="C00000"/>
                </a:solidFill>
              </a:rPr>
              <a:t>personne physique</a:t>
            </a:r>
            <a:r>
              <a:rPr lang="fr-BE" sz="2900" dirty="0">
                <a:solidFill>
                  <a:srgbClr val="C00000"/>
                </a:solidFill>
              </a:rPr>
              <a:t> </a:t>
            </a:r>
            <a:r>
              <a:rPr lang="fr-BE" sz="2900" dirty="0"/>
              <a:t>inscrite au registre de la population au lieu où elle a établi sa résidence principale,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soit l’adresse d’une </a:t>
            </a:r>
            <a:r>
              <a:rPr lang="fr-BE" sz="2900" b="1" dirty="0">
                <a:solidFill>
                  <a:srgbClr val="C00000"/>
                </a:solidFill>
              </a:rPr>
              <a:t>personne morale</a:t>
            </a:r>
            <a:r>
              <a:rPr lang="fr-BE" sz="2900" dirty="0">
                <a:solidFill>
                  <a:srgbClr val="C00000"/>
                </a:solidFill>
              </a:rPr>
              <a:t> 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sz="3300" dirty="0"/>
              <a:t>La ou les personne(s) qui sont inscrites à une adresse de référence forment un ménage à part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3300" dirty="0">
              <a:solidFill>
                <a:srgbClr val="C00000"/>
              </a:solidFill>
            </a:endParaRPr>
          </a:p>
          <a:p>
            <a:endParaRPr lang="fr-BE" sz="33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392E1D-D242-433C-92D1-9916EC58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682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5C185-B560-48F0-8A46-3D6DA0BA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Adresse de référence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6115F4-F8C3-4635-B975-E224CAE56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sz="3400" dirty="0"/>
              <a:t>Script 0.1 composé: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2800" dirty="0"/>
              <a:t> C1 avec mention « adresse de référence »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2800" dirty="0"/>
              <a:t> C1-annexe REGIS si situation familiale ≠ REGIS avec </a:t>
            </a:r>
            <a:r>
              <a:rPr lang="fr-BE" sz="2800" b="1" dirty="0">
                <a:solidFill>
                  <a:srgbClr val="C00000"/>
                </a:solidFill>
              </a:rPr>
              <a:t>code FN5/FY5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3100" dirty="0"/>
              <a:t>R-Elec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3100" dirty="0"/>
              <a:t>Éventuellement R-Notif </a:t>
            </a:r>
          </a:p>
          <a:p>
            <a:pPr marL="514350" indent="-457200"/>
            <a:r>
              <a:rPr lang="fr-BE" sz="3400" dirty="0"/>
              <a:t>S’il s’agit d’une adresse de référence appartenant à une </a:t>
            </a:r>
            <a:r>
              <a:rPr lang="fr-BE" sz="3400" b="1" dirty="0">
                <a:solidFill>
                  <a:srgbClr val="C00000"/>
                </a:solidFill>
              </a:rPr>
              <a:t>personne physique qui bénéficie de chômage</a:t>
            </a:r>
            <a:r>
              <a:rPr lang="fr-BE" sz="3400" dirty="0"/>
              <a:t>, celle-ci devra également en faire la déclaration pour éviter tout souci de discordance avec la BCSS et chacun conservera son code chômage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F1665D-7C9E-487F-B720-16CA7D4C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973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C14EAE-696A-4FEF-AD8A-45E035DA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Co-</a:t>
            </a:r>
            <a:r>
              <a:rPr lang="fr-BE" b="1" i="1" dirty="0" err="1"/>
              <a:t>housing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70E4E0-D105-4330-833C-F1FEAB096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Concerne les assurés sociaux qui vivent en </a:t>
            </a:r>
            <a:r>
              <a:rPr lang="fr-BE" b="1" dirty="0">
                <a:solidFill>
                  <a:srgbClr val="C00000"/>
                </a:solidFill>
              </a:rPr>
              <a:t>sous un même toit </a:t>
            </a:r>
            <a:r>
              <a:rPr lang="fr-BE" dirty="0"/>
              <a:t>et qui revendiquent le statut isolé ou chef de ménage</a:t>
            </a:r>
          </a:p>
          <a:p>
            <a:r>
              <a:rPr lang="fr-BE" dirty="0"/>
              <a:t>Script 0.1 composé: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C1-Annexe REGIS avec le </a:t>
            </a:r>
            <a:r>
              <a:rPr lang="fr-BE" b="1" dirty="0">
                <a:solidFill>
                  <a:srgbClr val="C00000"/>
                </a:solidFill>
              </a:rPr>
              <a:t>code FN4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R-Elec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Contrat de bail (colocation, sous-location,…)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Attestation spécifiant qu’il dispose d’une chambre séparée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Explications sur le fait qu’il mène une vie autonome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D5DC92-5421-45F1-BFF6-7D4561B3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080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6F7FB-0DF1-422B-9B25-5EF31EB4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Co-</a:t>
            </a:r>
            <a:r>
              <a:rPr lang="fr-BE" b="1" i="1" dirty="0" err="1"/>
              <a:t>housing</a:t>
            </a:r>
            <a:endParaRPr lang="fr-BE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74E55A-1531-4059-A653-8C6077355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Si nous réceptionnons une R-NOTIF suite au départ/venue d’un nouveau « colocataire », le dossier sera constitué: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C1-Annexe Régis avec </a:t>
            </a:r>
            <a:r>
              <a:rPr lang="fr-BE" b="1" dirty="0">
                <a:solidFill>
                  <a:srgbClr val="C00000"/>
                </a:solidFill>
              </a:rPr>
              <a:t>code FN4 </a:t>
            </a:r>
            <a:r>
              <a:rPr lang="fr-BE" dirty="0"/>
              <a:t>et faisant mention que les </a:t>
            </a:r>
            <a:r>
              <a:rPr lang="fr-BE" b="1" dirty="0"/>
              <a:t>éléments justifiant le </a:t>
            </a:r>
            <a:r>
              <a:rPr lang="fr-BE" b="1" dirty="0" err="1"/>
              <a:t>co-housing</a:t>
            </a:r>
            <a:r>
              <a:rPr lang="fr-BE" b="1" dirty="0"/>
              <a:t> ont déjà été fournis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R-Elec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R-Notif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AE46FD-4619-48F1-AC2E-436EA7EC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589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8CFCB-0D0F-408F-82DB-E5EDB57C4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 Date REGIS ≠ Date C1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334058-6310-48BC-BDBC-6D56C83BA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3000" dirty="0"/>
              <a:t>Si la date de l’événement modificatif indiquée sur le C1  </a:t>
            </a:r>
            <a:r>
              <a:rPr lang="fr-BE" sz="3000" b="1" dirty="0">
                <a:solidFill>
                  <a:srgbClr val="C00000"/>
                </a:solidFill>
              </a:rPr>
              <a:t>diffère</a:t>
            </a:r>
            <a:r>
              <a:rPr lang="fr-BE" sz="3000" dirty="0"/>
              <a:t> de la date à laquelle cet événement modificatif a été enregistré dans le Registre national, le BC doit adopter une </a:t>
            </a:r>
            <a:r>
              <a:rPr lang="fr-BE" sz="3000" b="1" dirty="0"/>
              <a:t>attitude souple </a:t>
            </a:r>
            <a:r>
              <a:rPr lang="fr-BE" sz="3000" dirty="0"/>
              <a:t>mais s’il y a une différence importante entre les 2 dates alors le dossier sera composé: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2800" dirty="0"/>
              <a:t>C1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2800" dirty="0"/>
              <a:t>C1-Annexe REGIS code A2-5 et/ou FN5 et/ou FY5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2800" dirty="0"/>
              <a:t>R-Elec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fr-BE" sz="2800" dirty="0"/>
              <a:t>R-Notif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97C54-1B4F-4ACF-B9C0-F21A8FA1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925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0364" y="101630"/>
            <a:ext cx="8363271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/>
              <a:t>3. R-Notif &amp; tâche supprimée: situation 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57200" y="3500467"/>
            <a:ext cx="155665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Juin</a:t>
            </a: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CCI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028923" y="3503550"/>
            <a:ext cx="13833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i="1" dirty="0">
                <a:solidFill>
                  <a:prstClr val="black"/>
                </a:solidFill>
                <a:latin typeface="Calibri"/>
              </a:rPr>
              <a:t>Juillet</a:t>
            </a: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461112" y="3875964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408387" y="3495734"/>
            <a:ext cx="1571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Août</a:t>
            </a:r>
            <a:endParaRPr kumimoji="0" lang="fr-BE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984515" y="3503550"/>
            <a:ext cx="13833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Septembre</a:t>
            </a: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367891" y="3495734"/>
            <a:ext cx="1571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Octobre</a:t>
            </a:r>
            <a:endParaRPr kumimoji="0" lang="fr-BE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2483768" y="2132856"/>
            <a:ext cx="0" cy="24482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2028923" y="1021057"/>
            <a:ext cx="1246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Réception R-Notif le  15.07 pour adresse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4860032" y="2132856"/>
            <a:ext cx="0" cy="24482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4200942" y="1128413"/>
            <a:ext cx="1842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Suppression de la tâche car plus CCI depuis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 juillet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3131840" y="3068960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2485517" y="2393523"/>
            <a:ext cx="152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Adaptation signalétique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452320" y="3101409"/>
            <a:ext cx="0" cy="1479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7020272" y="2393523"/>
            <a:ext cx="1440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Réception C3A de </a:t>
            </a:r>
            <a:r>
              <a:rPr lang="fr-BE" b="1" noProof="0" dirty="0">
                <a:solidFill>
                  <a:prstClr val="black"/>
                </a:solidFill>
                <a:latin typeface="Calibri"/>
              </a:rPr>
              <a:t>juillet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enthèse fermante 17"/>
          <p:cNvSpPr/>
          <p:nvPr/>
        </p:nvSpPr>
        <p:spPr>
          <a:xfrm rot="5400000">
            <a:off x="4249758" y="2746718"/>
            <a:ext cx="1436571" cy="4968552"/>
          </a:xfrm>
          <a:prstGeom prst="rightBracket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014893" y="5872384"/>
            <a:ext cx="2191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Paiement bloqué car R-</a:t>
            </a:r>
            <a:r>
              <a:rPr kumimoji="0" lang="fr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doit être traitée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2652389" y="3068960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2604931" y="4626034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Script 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0.2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au 15.07 avec C1  &amp; R-Notif  (R-Elec)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33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10" grpId="0" animBg="1"/>
      <p:bldP spid="11" grpId="0" animBg="1"/>
      <p:bldP spid="12" grpId="0" animBg="1"/>
      <p:bldP spid="7" grpId="0"/>
      <p:bldP spid="14" grpId="0"/>
      <p:bldP spid="16" grpId="0"/>
      <p:bldP spid="19" grpId="0"/>
      <p:bldP spid="18" grpId="0" animBg="1"/>
      <p:bldP spid="20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0521" y="93798"/>
            <a:ext cx="8566876" cy="1143000"/>
          </a:xfrm>
        </p:spPr>
        <p:txBody>
          <a:bodyPr>
            <a:noAutofit/>
          </a:bodyPr>
          <a:lstStyle/>
          <a:p>
            <a:pPr algn="r"/>
            <a:r>
              <a:rPr lang="fr-BE" sz="4000" b="1" i="1" dirty="0"/>
              <a:t>3. R-Notif &amp; tâche supprimée: </a:t>
            </a:r>
            <a:br>
              <a:rPr lang="fr-BE" sz="4000" b="1" i="1" dirty="0"/>
            </a:br>
            <a:r>
              <a:rPr lang="fr-BE" sz="4000" b="1" i="1" dirty="0"/>
              <a:t>situation 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57200" y="3500467"/>
            <a:ext cx="155665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Juin</a:t>
            </a:r>
            <a:r>
              <a:rPr lang="fr-BE" b="1" i="1" dirty="0">
                <a:solidFill>
                  <a:prstClr val="black"/>
                </a:solidFill>
                <a:latin typeface="Calibri"/>
              </a:rPr>
              <a:t> </a:t>
            </a: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CCI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028923" y="3503550"/>
            <a:ext cx="13833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Juillet</a:t>
            </a: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461112" y="3875964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408387" y="3495734"/>
            <a:ext cx="1571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fr-BE" b="1" i="1" dirty="0">
                <a:solidFill>
                  <a:prstClr val="black"/>
                </a:solidFill>
                <a:latin typeface="Calibri"/>
              </a:rPr>
              <a:t>Août</a:t>
            </a:r>
            <a:endParaRPr kumimoji="0" lang="fr-BE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984515" y="3503550"/>
            <a:ext cx="13833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Septembre</a:t>
            </a: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367891" y="3495734"/>
            <a:ext cx="157172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fr-BE" b="1" i="1" noProof="0" dirty="0">
                <a:solidFill>
                  <a:prstClr val="black"/>
                </a:solidFill>
                <a:latin typeface="Calibri"/>
              </a:rPr>
              <a:t>Octobre</a:t>
            </a:r>
            <a:endParaRPr kumimoji="0" lang="fr-BE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2483768" y="2132856"/>
            <a:ext cx="0" cy="24482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2028923" y="1021057"/>
            <a:ext cx="1246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Réception R-Notif le  15.07 pour adresse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Connecteur droit avec flèche 14"/>
          <p:cNvCxnSpPr>
            <a:cxnSpLocks/>
          </p:cNvCxnSpPr>
          <p:nvPr/>
        </p:nvCxnSpPr>
        <p:spPr>
          <a:xfrm>
            <a:off x="7640281" y="2053660"/>
            <a:ext cx="0" cy="25274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2485517" y="2393523"/>
            <a:ext cx="152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Adaptation signalétique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452320" y="3101409"/>
            <a:ext cx="0" cy="1479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arenthèse fermante 17"/>
          <p:cNvSpPr/>
          <p:nvPr/>
        </p:nvSpPr>
        <p:spPr>
          <a:xfrm rot="5400000">
            <a:off x="4249758" y="2746718"/>
            <a:ext cx="1436571" cy="4968552"/>
          </a:xfrm>
          <a:prstGeom prst="rightBracket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804248" y="2426995"/>
            <a:ext cx="1571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Réception C3A de </a:t>
            </a:r>
            <a:r>
              <a:rPr lang="fr-BE" b="1" noProof="0" dirty="0">
                <a:solidFill>
                  <a:prstClr val="black"/>
                </a:solidFill>
                <a:latin typeface="Calibri"/>
              </a:rPr>
              <a:t>septembre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3659918" y="5989414"/>
            <a:ext cx="2924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Paiement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mai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bloqué MAIS R-Notif ne doit pas être traitée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0" name="Connecteur droit avec flèche 29"/>
          <p:cNvCxnSpPr/>
          <p:nvPr/>
        </p:nvCxnSpPr>
        <p:spPr>
          <a:xfrm>
            <a:off x="5676203" y="3033255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4659254" y="4670542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avec script 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1.1 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en </a:t>
            </a:r>
            <a:r>
              <a:rPr lang="fr-BE" noProof="0" dirty="0">
                <a:solidFill>
                  <a:prstClr val="black"/>
                </a:solidFill>
                <a:latin typeface="Calibri"/>
              </a:rPr>
              <a:t>septembre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avec C1  &amp; R-Elec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1DB1C0-A62A-4163-AAFD-209B92065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481" y="3039854"/>
            <a:ext cx="231668" cy="162777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CA23D4C-6C41-42A0-9928-8812FF7093DE}"/>
              </a:ext>
            </a:extLst>
          </p:cNvPr>
          <p:cNvSpPr txBox="1"/>
          <p:nvPr/>
        </p:nvSpPr>
        <p:spPr>
          <a:xfrm>
            <a:off x="6956611" y="1365576"/>
            <a:ext cx="1730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Suppression de</a:t>
            </a:r>
          </a:p>
          <a:p>
            <a:r>
              <a:rPr lang="fr-BE" dirty="0"/>
              <a:t>la tâche R-NOTIF</a:t>
            </a:r>
          </a:p>
        </p:txBody>
      </p:sp>
    </p:spTree>
    <p:extLst>
      <p:ext uri="{BB962C8B-B14F-4D97-AF65-F5344CB8AC3E}">
        <p14:creationId xmlns:p14="http://schemas.microsoft.com/office/powerpoint/2010/main" val="269221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10" grpId="0" animBg="1"/>
      <p:bldP spid="11" grpId="0" animBg="1"/>
      <p:bldP spid="12" grpId="0" animBg="1"/>
      <p:bldP spid="7" grpId="0"/>
      <p:bldP spid="16" grpId="0"/>
      <p:bldP spid="18" grpId="0" animBg="1"/>
      <p:bldP spid="26" grpId="0"/>
      <p:bldP spid="27" grpId="0"/>
      <p:bldP spid="32" grpId="0"/>
      <p:bldP spid="8" grpId="0"/>
    </p:bldLst>
  </p:timing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76C19A-700A-4F57-9B28-195C0F8E5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DA69E8-4E28-47D6-842F-F9A43AA3F8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67EFC1-C52A-4CFA-B056-38C439031A54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1b85f46-8f47-4c7a-8346-9752567dac4a"/>
    <ds:schemaRef ds:uri="badce1e3-4228-484a-9cea-a1abab477a4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14935</TotalTime>
  <Words>813</Words>
  <Application>Microsoft Office PowerPoint</Application>
  <PresentationFormat>Affichage à l'écran (4:3)</PresentationFormat>
  <Paragraphs>103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1_Thème Office</vt:lpstr>
      <vt:lpstr>Procédure  REGIS (niveau 2)</vt:lpstr>
      <vt:lpstr>Table des matières</vt:lpstr>
      <vt:lpstr>1. Adresse radiée</vt:lpstr>
      <vt:lpstr>1. Adresse radiée</vt:lpstr>
      <vt:lpstr>1. Adresse radiée</vt:lpstr>
      <vt:lpstr>1. Adresse radiée : Exportation de droits</vt:lpstr>
      <vt:lpstr>2. Adresse de référence</vt:lpstr>
      <vt:lpstr>2. Adresse de référence</vt:lpstr>
      <vt:lpstr>3. Co-housing</vt:lpstr>
      <vt:lpstr>3. Co-housing</vt:lpstr>
      <vt:lpstr>4. Date REGIS ≠ Date C1</vt:lpstr>
      <vt:lpstr>3. R-Notif &amp; tâche supprimée: situation 1</vt:lpstr>
      <vt:lpstr>3. R-Notif &amp; tâche supprimée:  situation 2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FCJ-M27-REGIS (niv. 2)-Participants</dc:title>
  <dc:creator>u99lge</dc:creator>
  <cp:lastModifiedBy>Anja Sobkowiak</cp:lastModifiedBy>
  <cp:revision>623</cp:revision>
  <cp:lastPrinted>2017-08-29T07:03:45Z</cp:lastPrinted>
  <dcterms:created xsi:type="dcterms:W3CDTF">2010-09-22T12:12:06Z</dcterms:created>
  <dcterms:modified xsi:type="dcterms:W3CDTF">2022-10-12T06:39:23Z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17;#Admissibilité|d1ac0b1f-1e4c-4aa8-9a97-5b01e61985ba;#13;#Tâches|addb87cc-e52a-4e6f-a061-fdea8baf7830;#44;#Identification|c878f2ee-3955-448a-86fc-10f3fe74a7ef</vt:lpwstr>
  </property>
  <property fmtid="{D5CDD505-2E9C-101B-9397-08002B2CF9AE}" pid="7" name="Thème">
    <vt:lpwstr>62;#REGIS|e00396ac-fd90-4f73-b1b4-600b0c80c799</vt:lpwstr>
  </property>
  <property fmtid="{D5CDD505-2E9C-101B-9397-08002B2CF9AE}" pid="8" name="_dlc_DocIdItemGuid">
    <vt:lpwstr>77dd7f5d-58dc-4034-9aa9-8cce2dcd7ad8</vt:lpwstr>
  </property>
</Properties>
</file>