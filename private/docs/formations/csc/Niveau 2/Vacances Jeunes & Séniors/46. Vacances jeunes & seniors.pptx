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742" r:id="rId5"/>
    <p:sldId id="734" r:id="rId6"/>
    <p:sldId id="735" r:id="rId7"/>
    <p:sldId id="736" r:id="rId8"/>
    <p:sldId id="741" r:id="rId9"/>
    <p:sldId id="530" r:id="rId10"/>
    <p:sldId id="531" r:id="rId11"/>
    <p:sldId id="651" r:id="rId12"/>
    <p:sldId id="668" r:id="rId13"/>
    <p:sldId id="669" r:id="rId14"/>
    <p:sldId id="534" r:id="rId15"/>
    <p:sldId id="729" r:id="rId16"/>
    <p:sldId id="671" r:id="rId17"/>
    <p:sldId id="537" r:id="rId18"/>
    <p:sldId id="665" r:id="rId19"/>
    <p:sldId id="728" r:id="rId20"/>
    <p:sldId id="670" r:id="rId21"/>
    <p:sldId id="673" r:id="rId22"/>
    <p:sldId id="674" r:id="rId23"/>
    <p:sldId id="675" r:id="rId24"/>
    <p:sldId id="676" r:id="rId25"/>
    <p:sldId id="677" r:id="rId26"/>
    <p:sldId id="678" r:id="rId27"/>
    <p:sldId id="748" r:id="rId28"/>
    <p:sldId id="680" r:id="rId29"/>
    <p:sldId id="681" r:id="rId30"/>
    <p:sldId id="720" r:id="rId31"/>
    <p:sldId id="743" r:id="rId32"/>
    <p:sldId id="683" r:id="rId33"/>
    <p:sldId id="723" r:id="rId34"/>
    <p:sldId id="702" r:id="rId35"/>
    <p:sldId id="703" r:id="rId36"/>
    <p:sldId id="730" r:id="rId37"/>
    <p:sldId id="704" r:id="rId38"/>
    <p:sldId id="731" r:id="rId39"/>
    <p:sldId id="749" r:id="rId40"/>
    <p:sldId id="745" r:id="rId41"/>
    <p:sldId id="746" r:id="rId42"/>
    <p:sldId id="747" r:id="rId43"/>
    <p:sldId id="709" r:id="rId44"/>
    <p:sldId id="710" r:id="rId45"/>
    <p:sldId id="711" r:id="rId46"/>
    <p:sldId id="726" r:id="rId47"/>
    <p:sldId id="750" r:id="rId48"/>
    <p:sldId id="727" r:id="rId49"/>
    <p:sldId id="732" r:id="rId50"/>
    <p:sldId id="715" r:id="rId51"/>
  </p:sldIdLst>
  <p:sldSz cx="9144000" cy="6858000" type="screen4x3"/>
  <p:notesSz cx="6669088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FF00"/>
    <a:srgbClr val="FF9933"/>
    <a:srgbClr val="669900"/>
    <a:srgbClr val="003399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CAB6DD-4F7E-4C9C-9151-08878E23319A}" v="59" dt="2023-05-26T09:40:49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54" autoAdjust="0"/>
    <p:restoredTop sz="78655" autoAdjust="0"/>
  </p:normalViewPr>
  <p:slideViewPr>
    <p:cSldViewPr>
      <p:cViewPr varScale="1">
        <p:scale>
          <a:sx n="67" d="100"/>
          <a:sy n="67" d="100"/>
        </p:scale>
        <p:origin x="151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622" y="-108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 Sobkowiak" userId="7f76af53-32f2-4907-b707-590db301fc0c" providerId="ADAL" clId="{4DCAB6DD-4F7E-4C9C-9151-08878E23319A}"/>
    <pc:docChg chg="modSld modNotesMaster modHandout">
      <pc:chgData name="Anja Sobkowiak" userId="7f76af53-32f2-4907-b707-590db301fc0c" providerId="ADAL" clId="{4DCAB6DD-4F7E-4C9C-9151-08878E23319A}" dt="2023-05-26T09:40:49.712" v="52" actId="20577"/>
      <pc:docMkLst>
        <pc:docMk/>
      </pc:docMkLst>
      <pc:sldChg chg="modSp modAnim">
        <pc:chgData name="Anja Sobkowiak" userId="7f76af53-32f2-4907-b707-590db301fc0c" providerId="ADAL" clId="{4DCAB6DD-4F7E-4C9C-9151-08878E23319A}" dt="2023-05-26T09:40:49.712" v="52" actId="20577"/>
        <pc:sldMkLst>
          <pc:docMk/>
          <pc:sldMk cId="0" sldId="683"/>
        </pc:sldMkLst>
        <pc:spChg chg="mod">
          <ac:chgData name="Anja Sobkowiak" userId="7f76af53-32f2-4907-b707-590db301fc0c" providerId="ADAL" clId="{4DCAB6DD-4F7E-4C9C-9151-08878E23319A}" dt="2023-05-26T09:39:51.443" v="48" actId="207"/>
          <ac:spMkLst>
            <pc:docMk/>
            <pc:sldMk cId="0" sldId="683"/>
            <ac:spMk id="3" creationId="{00000000-0000-0000-0000-000000000000}"/>
          </ac:spMkLst>
        </pc:spChg>
      </pc:sldChg>
      <pc:sldChg chg="modSp">
        <pc:chgData name="Anja Sobkowiak" userId="7f76af53-32f2-4907-b707-590db301fc0c" providerId="ADAL" clId="{4DCAB6DD-4F7E-4C9C-9151-08878E23319A}" dt="2023-05-26T09:38:04.354" v="2" actId="20577"/>
        <pc:sldMkLst>
          <pc:docMk/>
          <pc:sldMk cId="3237291656" sldId="743"/>
        </pc:sldMkLst>
        <pc:spChg chg="mod">
          <ac:chgData name="Anja Sobkowiak" userId="7f76af53-32f2-4907-b707-590db301fc0c" providerId="ADAL" clId="{4DCAB6DD-4F7E-4C9C-9151-08878E23319A}" dt="2023-05-26T09:38:04.354" v="2" actId="20577"/>
          <ac:spMkLst>
            <pc:docMk/>
            <pc:sldMk cId="3237291656" sldId="743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0617" tIns="45309" rIns="90617" bIns="45309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0617" tIns="45309" rIns="90617" bIns="45309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26/05/2023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0617" tIns="45309" rIns="90617" bIns="45309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0617" tIns="45309" rIns="90617" bIns="45309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8671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0617" tIns="45309" rIns="90617" bIns="45309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0617" tIns="45309" rIns="90617" bIns="45309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26/05/2023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17" tIns="45309" rIns="90617" bIns="45309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715154"/>
            <a:ext cx="5335270" cy="4466987"/>
          </a:xfrm>
          <a:prstGeom prst="rect">
            <a:avLst/>
          </a:prstGeom>
        </p:spPr>
        <p:txBody>
          <a:bodyPr vert="horz" lIns="90617" tIns="45309" rIns="90617" bIns="45309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0617" tIns="45309" rIns="90617" bIns="45309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0617" tIns="45309" rIns="90617" bIns="45309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341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1029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5759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5036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9700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9923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1856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5992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6469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>
              <a:solidFill>
                <a:srgbClr val="00B0F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3441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7657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8978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58054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Et donc</a:t>
            </a:r>
            <a:r>
              <a:rPr lang="fr-BE" baseline="0" dirty="0"/>
              <a:t> de l’année d’exercice de vacances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94235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23455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5073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25754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75626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8490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12456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21007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27946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22457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06170">
              <a:defRPr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8272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03037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60895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618636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63203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34457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78104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43325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1422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18506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19113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55313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12775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64459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90800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97336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05180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98657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854677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44690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8272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319055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30223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623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E4E0A-855E-458B-B1CB-5B7F64E5E6A4}" type="datetime1">
              <a:rPr lang="fr-FR" smtClean="0"/>
              <a:t>26/05/2023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A3260-7CF1-4742-9F88-ECBD0212077E}" type="datetime1">
              <a:rPr lang="fr-FR" smtClean="0"/>
              <a:t>26/05/2023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1652-B4BB-46B8-B2CA-66374E8AE5B4}" type="datetime1">
              <a:rPr lang="fr-FR" smtClean="0"/>
              <a:t>26/05/2023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A9C32-BDDA-4684-9B90-D07D2685F473}" type="datetime1">
              <a:rPr lang="fr-FR" smtClean="0"/>
              <a:t>26/05/2023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19C4-51D9-4AB8-A671-813D4FD922F5}" type="datetime1">
              <a:rPr lang="fr-FR" smtClean="0"/>
              <a:t>26/05/2023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C2BF2-A1A4-4A9C-8B23-1C2B3049DD23}" type="datetime1">
              <a:rPr lang="fr-FR" smtClean="0"/>
              <a:t>26/05/2023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8F574-A1A1-40C2-A6ED-464E2482E395}" type="datetime1">
              <a:rPr lang="fr-FR" smtClean="0"/>
              <a:t>26/05/2023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167F-4322-48EB-8C0D-F7CFC67D24B8}" type="datetime1">
              <a:rPr lang="fr-FR" smtClean="0"/>
              <a:t>26/05/2023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91F8-B676-447B-B73E-14831568E471}" type="datetime1">
              <a:rPr lang="fr-FR" smtClean="0"/>
              <a:t>26/05/2023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CC60D-B2B4-4F4B-8F64-FD1913B921C6}" type="datetime1">
              <a:rPr lang="fr-FR" smtClean="0"/>
              <a:t>26/05/2023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9BD1-A046-4C99-9DF8-BD24A0DC2DAF}" type="datetime1">
              <a:rPr lang="fr-FR" smtClean="0"/>
              <a:t>26/05/2023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2128C-F4D9-47AD-B4E7-EAAA60445F5B}" type="datetime1">
              <a:rPr lang="fr-FR" smtClean="0"/>
              <a:t>26/05/2023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2996183"/>
          </a:xfrm>
        </p:spPr>
        <p:txBody>
          <a:bodyPr>
            <a:normAutofit fontScale="90000"/>
          </a:bodyPr>
          <a:lstStyle/>
          <a:p>
            <a:br>
              <a:rPr lang="fr-BE" b="1" dirty="0"/>
            </a:br>
            <a:r>
              <a:rPr lang="fr-BE" sz="8000" b="1" dirty="0"/>
              <a:t>Vacances jeunes </a:t>
            </a:r>
            <a:br>
              <a:rPr lang="fr-BE" b="1" dirty="0"/>
            </a:br>
            <a:br>
              <a:rPr lang="fr-BE" b="1" dirty="0"/>
            </a:b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3501008"/>
            <a:ext cx="8229600" cy="2625155"/>
          </a:xfrm>
        </p:spPr>
        <p:txBody>
          <a:bodyPr/>
          <a:lstStyle/>
          <a:p>
            <a:pPr marL="0" indent="0" algn="ctr">
              <a:buNone/>
            </a:pPr>
            <a:br>
              <a:rPr lang="fr-BE" b="1" dirty="0"/>
            </a:br>
            <a:r>
              <a:rPr lang="fr-BE" sz="7200" b="1" dirty="0"/>
              <a:t>Vacances seniors</a:t>
            </a:r>
            <a:endParaRPr lang="fr-BE" sz="1000" b="1" dirty="0"/>
          </a:p>
          <a:p>
            <a:pPr marL="0" indent="0">
              <a:buNone/>
            </a:pPr>
            <a:endParaRPr lang="fr-BE" sz="1200" b="1" dirty="0"/>
          </a:p>
          <a:p>
            <a:pPr marL="0" indent="0">
              <a:buNone/>
            </a:pPr>
            <a:endParaRPr lang="fr-BE" sz="1200" b="1" dirty="0"/>
          </a:p>
          <a:p>
            <a:pPr marL="0" indent="0">
              <a:buNone/>
            </a:pPr>
            <a:r>
              <a:rPr lang="fr-BE" sz="1200" b="1" dirty="0"/>
              <a:t>17.05.2023 </a:t>
            </a:r>
            <a:endParaRPr lang="fr-BE" sz="1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200" y="2060848"/>
            <a:ext cx="3780000" cy="212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16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dirty="0"/>
              <a:t>Tables des matières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500" b="1" dirty="0"/>
              <a:t>Vacances jeunes: 						</a:t>
            </a:r>
            <a:r>
              <a:rPr lang="fr-BE" sz="2500" dirty="0"/>
              <a:t>p.5</a:t>
            </a:r>
          </a:p>
          <a:p>
            <a:pPr marL="0" indent="0">
              <a:buNone/>
            </a:pPr>
            <a:r>
              <a:rPr lang="fr-BE" sz="2500" dirty="0"/>
              <a:t>- Lignes de force						p.7</a:t>
            </a:r>
          </a:p>
          <a:p>
            <a:pPr marL="0" indent="0">
              <a:buNone/>
            </a:pPr>
            <a:r>
              <a:rPr lang="fr-BE" sz="2500" dirty="0"/>
              <a:t>- Conditions à remplir :					p.8</a:t>
            </a:r>
          </a:p>
          <a:p>
            <a:pPr marL="0" indent="0">
              <a:buNone/>
            </a:pPr>
            <a:endParaRPr lang="fr-BE" sz="2500" dirty="0"/>
          </a:p>
          <a:p>
            <a:r>
              <a:rPr lang="fr-BE" sz="2500" dirty="0"/>
              <a:t>Condition d’études					p.10</a:t>
            </a:r>
          </a:p>
          <a:p>
            <a:r>
              <a:rPr lang="fr-BE" sz="2500" dirty="0"/>
              <a:t>Condition d’occupation					p.11</a:t>
            </a:r>
          </a:p>
          <a:p>
            <a:r>
              <a:rPr lang="fr-BE" sz="2500" dirty="0"/>
              <a:t>Condition d’âge						p.14</a:t>
            </a:r>
          </a:p>
          <a:p>
            <a:pPr marL="0" indent="0">
              <a:buNone/>
            </a:pPr>
            <a:endParaRPr lang="fr-BE" sz="25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617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dirty="0"/>
              <a:t>Tables des matières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BE" sz="2700" dirty="0"/>
              <a:t>Quand et comment épuiser les jours de VJ ?			p.15</a:t>
            </a:r>
          </a:p>
          <a:p>
            <a:r>
              <a:rPr lang="fr-BE" sz="2700" dirty="0"/>
              <a:t>Conditions							p.16</a:t>
            </a:r>
          </a:p>
          <a:p>
            <a:r>
              <a:rPr lang="fr-BE" sz="2700" dirty="0"/>
              <a:t>Demande et paiement des VJ ?				p.20</a:t>
            </a:r>
          </a:p>
          <a:p>
            <a:r>
              <a:rPr lang="fr-BE" sz="2700" dirty="0"/>
              <a:t>Rappel							p.21</a:t>
            </a:r>
          </a:p>
          <a:p>
            <a:pPr marL="0" indent="0">
              <a:buNone/>
            </a:pPr>
            <a:endParaRPr lang="fr-BE" sz="2700" dirty="0"/>
          </a:p>
          <a:p>
            <a:pPr marL="0" indent="0">
              <a:buNone/>
            </a:pPr>
            <a:r>
              <a:rPr lang="fr-BE" sz="2700" dirty="0"/>
              <a:t>Jours des VJ et montant					p.22</a:t>
            </a:r>
          </a:p>
          <a:p>
            <a:r>
              <a:rPr lang="fr-BE" sz="2700" dirty="0"/>
              <a:t>Calcul du crédit VJ et facteur J				p.23</a:t>
            </a:r>
          </a:p>
          <a:p>
            <a:r>
              <a:rPr lang="fr-BE" sz="2700" dirty="0"/>
              <a:t>Calcul du montant journalier				p.24</a:t>
            </a:r>
          </a:p>
          <a:p>
            <a:r>
              <a:rPr lang="fr-BE" sz="2700" dirty="0"/>
              <a:t>Calcul du nombre d’allocations				p.25</a:t>
            </a:r>
          </a:p>
          <a:p>
            <a:r>
              <a:rPr lang="fr-BE" sz="2700" dirty="0"/>
              <a:t>Assimilation des VJ						p.27</a:t>
            </a:r>
          </a:p>
          <a:p>
            <a:pPr marL="0" indent="0">
              <a:buNone/>
            </a:pPr>
            <a:endParaRPr lang="fr-BE" sz="2700" dirty="0"/>
          </a:p>
          <a:p>
            <a:pPr marL="0" indent="0">
              <a:buNone/>
            </a:pPr>
            <a:r>
              <a:rPr lang="fr-BE" sz="2700" dirty="0"/>
              <a:t>- Exemple 							p.28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679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dirty="0"/>
              <a:t>Tables des matières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b="1" dirty="0"/>
              <a:t>Vacances seniors : </a:t>
            </a:r>
            <a:r>
              <a:rPr lang="fr-BE" dirty="0"/>
              <a:t>						p.30</a:t>
            </a:r>
          </a:p>
          <a:p>
            <a:pPr marL="0" indent="0">
              <a:buNone/>
            </a:pPr>
            <a:r>
              <a:rPr lang="fr-BE" dirty="0"/>
              <a:t>- Conditions d’octroi						p.32</a:t>
            </a:r>
          </a:p>
          <a:p>
            <a:pPr marL="0" indent="0">
              <a:buNone/>
            </a:pPr>
            <a:r>
              <a:rPr lang="fr-BE" dirty="0"/>
              <a:t>- Epuisement des VS						p.34</a:t>
            </a:r>
          </a:p>
          <a:p>
            <a:pPr marL="0" indent="0">
              <a:buNone/>
            </a:pPr>
            <a:r>
              <a:rPr lang="fr-BE" dirty="0"/>
              <a:t>- Exemples							p.36</a:t>
            </a:r>
          </a:p>
          <a:p>
            <a:pPr marL="0" indent="0">
              <a:buNone/>
            </a:pPr>
            <a:r>
              <a:rPr lang="fr-BE" dirty="0"/>
              <a:t>- Généralités							p.40</a:t>
            </a:r>
          </a:p>
          <a:p>
            <a:pPr marL="0" indent="0">
              <a:buNone/>
            </a:pPr>
            <a:r>
              <a:rPr lang="fr-BE" dirty="0"/>
              <a:t>- Demande de paiement des VS				p.41</a:t>
            </a:r>
          </a:p>
          <a:p>
            <a:pPr marL="0" indent="0">
              <a:buNone/>
            </a:pPr>
            <a:r>
              <a:rPr lang="fr-BE" dirty="0"/>
              <a:t>- Calcul du crédit VS et facteur J				p.42</a:t>
            </a:r>
          </a:p>
          <a:p>
            <a:pPr marL="0" indent="0">
              <a:buNone/>
            </a:pPr>
            <a:r>
              <a:rPr lang="fr-BE" dirty="0"/>
              <a:t>- Nombre d’allocations					p.43</a:t>
            </a:r>
          </a:p>
          <a:p>
            <a:pPr marL="0" indent="0">
              <a:buNone/>
            </a:pPr>
            <a:r>
              <a:rPr lang="fr-BE" dirty="0"/>
              <a:t>- Calcul du montant journalier				p.44</a:t>
            </a:r>
          </a:p>
          <a:p>
            <a:pPr marL="0" indent="0">
              <a:buNone/>
            </a:pPr>
            <a:r>
              <a:rPr lang="fr-BE" dirty="0"/>
              <a:t>- Assimilation des VS						p.45</a:t>
            </a:r>
          </a:p>
          <a:p>
            <a:pPr marL="0" indent="0">
              <a:buNone/>
            </a:pPr>
            <a:r>
              <a:rPr lang="fr-BE" dirty="0"/>
              <a:t>- Non assimilation des jours VS				p.47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62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90666"/>
          </a:xfrm>
        </p:spPr>
        <p:txBody>
          <a:bodyPr>
            <a:normAutofit/>
          </a:bodyPr>
          <a:lstStyle/>
          <a:p>
            <a:r>
              <a:rPr lang="fr-BE" sz="8000" b="1" dirty="0"/>
              <a:t>Vacances jeunes </a:t>
            </a:r>
            <a:br>
              <a:rPr lang="fr-BE" sz="8000" b="1" dirty="0"/>
            </a:br>
            <a:br>
              <a:rPr lang="fr-BE" sz="8000" b="1" dirty="0"/>
            </a:br>
            <a:endParaRPr lang="fr-BE" sz="8000" b="1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801" y="2708920"/>
            <a:ext cx="1724397" cy="201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4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Les vacances jeunes</a:t>
            </a:r>
            <a:endParaRPr lang="en-US" sz="4800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fr-BE" sz="3500" dirty="0">
                <a:cs typeface="Times New Roman" pitchFamily="18" charset="0"/>
              </a:rPr>
              <a:t>Les jeunes travailleurs qui entament une occupation peuvent prendre 4 semaines de vacances au cours de l’année qui suit l’année de la fin de leurs études ;</a:t>
            </a:r>
          </a:p>
          <a:p>
            <a:pPr>
              <a:buFont typeface="Wingdings" pitchFamily="2" charset="2"/>
              <a:buChar char="§"/>
            </a:pPr>
            <a:r>
              <a:rPr lang="fr-BE" sz="3500" dirty="0">
                <a:cs typeface="Times New Roman" pitchFamily="18" charset="0"/>
              </a:rPr>
              <a:t>Ces jeunes reçoivent un pécule de vacances fixé sur base des jours de travail et assimilés, et un pécule de vacances supplémentaire à charge de l’ONEm à concurrence de 4 semaines au total.</a:t>
            </a:r>
            <a:endParaRPr lang="fr-FR" sz="3500" dirty="0"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Lignes de force…</a:t>
            </a:r>
            <a:endParaRPr lang="en-US" sz="48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Obligation d’une période de travail au cours de l’année de fin d’études ;</a:t>
            </a:r>
          </a:p>
          <a:p>
            <a:pPr>
              <a:buFont typeface="Wingdings" pitchFamily="2" charset="2"/>
              <a:buChar char="§"/>
            </a:pPr>
            <a:endParaRPr lang="fr-FR" sz="1400" dirty="0">
              <a:latin typeface="+mj-lt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Ces vacances supplémentaires constituent un droit et non une obligation ;</a:t>
            </a:r>
          </a:p>
          <a:p>
            <a:pPr>
              <a:buFont typeface="Wingdings" pitchFamily="2" charset="2"/>
              <a:buChar char="§"/>
            </a:pPr>
            <a:endParaRPr lang="fr-BE" sz="1400" dirty="0">
              <a:latin typeface="+mj-lt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Les jours de vacances supplémentaires sont calculés et indemnisés par les O.P. chômage ;</a:t>
            </a:r>
            <a:endParaRPr lang="en-US" dirty="0">
              <a:latin typeface="+mj-lt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2910" y="1997839"/>
            <a:ext cx="81439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GB" dirty="0">
                <a:latin typeface="Comic Sans MS" pitchFamily="66" charset="0"/>
              </a:rPr>
            </a:b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endParaRPr lang="en-US" sz="4800" i="1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fr-BE" sz="4400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fr-BE" sz="4400" b="1" i="1" u="sng" dirty="0">
                <a:latin typeface="+mj-lt"/>
                <a:cs typeface="Times New Roman" pitchFamily="18" charset="0"/>
              </a:rPr>
              <a:t>Quelles sont les conditions à remplir</a:t>
            </a:r>
            <a:r>
              <a:rPr lang="fr-BE" sz="4400" b="1" i="1" dirty="0">
                <a:latin typeface="+mj-lt"/>
                <a:cs typeface="Times New Roman" pitchFamily="18" charset="0"/>
              </a:rPr>
              <a:t> ?</a:t>
            </a:r>
            <a:endParaRPr lang="en-GB" sz="4400" b="1" i="1" dirty="0">
              <a:latin typeface="+mj-lt"/>
              <a:cs typeface="Times New Roman" pitchFamily="18" charset="0"/>
            </a:endParaRPr>
          </a:p>
          <a:p>
            <a:pPr>
              <a:buNone/>
            </a:pP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/>
              <a:t>3 conditions </a:t>
            </a:r>
            <a:r>
              <a:rPr lang="fr-BE" sz="4800" b="1" i="1" u="sng" dirty="0"/>
              <a:t>cumulatives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BE" sz="2000" b="1" i="1" dirty="0">
              <a:solidFill>
                <a:srgbClr val="C00000"/>
              </a:solidFill>
            </a:endParaRPr>
          </a:p>
          <a:p>
            <a:pPr marL="742950" indent="-742950">
              <a:buAutoNum type="arabicPeriod"/>
            </a:pPr>
            <a:r>
              <a:rPr lang="fr-BE" sz="3600" b="1" i="1" dirty="0">
                <a:solidFill>
                  <a:srgbClr val="C00000"/>
                </a:solidFill>
              </a:rPr>
              <a:t>Condition d’études ;</a:t>
            </a:r>
          </a:p>
          <a:p>
            <a:pPr marL="0" indent="0">
              <a:buNone/>
            </a:pPr>
            <a:endParaRPr lang="fr-BE" sz="2000" b="1" i="1" dirty="0">
              <a:solidFill>
                <a:srgbClr val="C00000"/>
              </a:solidFill>
            </a:endParaRPr>
          </a:p>
          <a:p>
            <a:pPr marL="742950" indent="-742950">
              <a:buFont typeface="+mj-lt"/>
              <a:buAutoNum type="arabicPeriod" startAt="2"/>
            </a:pPr>
            <a:r>
              <a:rPr lang="fr-BE" sz="3600" b="1" i="1" dirty="0">
                <a:solidFill>
                  <a:srgbClr val="C00000"/>
                </a:solidFill>
              </a:rPr>
              <a:t>Condition d’occupation ;</a:t>
            </a:r>
            <a:endParaRPr lang="fr-BE" sz="2000" b="1" i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fr-BE" sz="2000" b="1" i="1" dirty="0">
              <a:solidFill>
                <a:srgbClr val="C00000"/>
              </a:solidFill>
            </a:endParaRPr>
          </a:p>
          <a:p>
            <a:pPr marL="742950" indent="-742950">
              <a:buFont typeface="+mj-lt"/>
              <a:buAutoNum type="arabicPeriod" startAt="3"/>
            </a:pPr>
            <a:r>
              <a:rPr lang="fr-BE" sz="3600" b="1" i="1" dirty="0">
                <a:solidFill>
                  <a:srgbClr val="C00000"/>
                </a:solidFill>
              </a:rPr>
              <a:t>Condition d’âge ;</a:t>
            </a:r>
            <a:r>
              <a:rPr lang="fr-BE" sz="3600" b="1" dirty="0"/>
              <a:t>	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1. Condition d’études</a:t>
            </a:r>
            <a:endParaRPr lang="en-US" sz="4800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1" indent="-457200">
              <a:buFont typeface="Wingdings" pitchFamily="2" charset="2"/>
              <a:buChar char="§"/>
            </a:pPr>
            <a:r>
              <a:rPr lang="fr-BE" sz="3200" dirty="0">
                <a:latin typeface="+mj-lt"/>
                <a:cs typeface="Times New Roman" pitchFamily="18" charset="0"/>
              </a:rPr>
              <a:t>Les études (ou formations, ou apprentissages) doivent être terminées au cours de l’année d’exercice de vacances. </a:t>
            </a:r>
          </a:p>
          <a:p>
            <a:pPr marL="447675" lvl="1" indent="0">
              <a:buNone/>
            </a:pPr>
            <a:r>
              <a:rPr lang="fr-BE" b="1" i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Etudes  = Etudes au sens du langage courant</a:t>
            </a:r>
            <a:endParaRPr lang="fr-BE" b="1" i="1" dirty="0">
              <a:solidFill>
                <a:srgbClr val="C00000"/>
              </a:solidFill>
              <a:latin typeface="+mj-lt"/>
              <a:cs typeface="Times New Roman" pitchFamily="18" charset="0"/>
              <a:sym typeface="Wingdings" pitchFamily="2" charset="2"/>
            </a:endParaRPr>
          </a:p>
          <a:p>
            <a:pPr marL="447675" lvl="1" indent="0">
              <a:buNone/>
            </a:pPr>
            <a:r>
              <a:rPr lang="fr-BE" sz="2000" b="1" i="1" dirty="0">
                <a:solidFill>
                  <a:srgbClr val="C00000"/>
                </a:solidFill>
                <a:cs typeface="Times New Roman" pitchFamily="18" charset="0"/>
                <a:sym typeface="Wingdings" pitchFamily="2" charset="2"/>
              </a:rPr>
              <a:t></a:t>
            </a:r>
            <a:r>
              <a:rPr lang="fr-BE" b="1" i="1" dirty="0">
                <a:solidFill>
                  <a:srgbClr val="C00000"/>
                </a:solidFill>
                <a:cs typeface="Times New Roman" pitchFamily="18" charset="0"/>
                <a:sym typeface="Wingdings" pitchFamily="2" charset="2"/>
              </a:rPr>
              <a:t> </a:t>
            </a:r>
            <a:r>
              <a:rPr lang="fr-BE" b="1" i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≠ Etudes ouvrant le droit AR 36 !</a:t>
            </a:r>
          </a:p>
          <a:p>
            <a:pPr marL="457200" lvl="1" indent="-457200">
              <a:buFont typeface="Wingdings" pitchFamily="2" charset="2"/>
              <a:buChar char="§"/>
            </a:pPr>
            <a:r>
              <a:rPr lang="fr-BE" sz="3200" dirty="0">
                <a:latin typeface="+mj-lt"/>
                <a:cs typeface="Times New Roman" pitchFamily="18" charset="0"/>
              </a:rPr>
              <a:t>Un arrêt des études est assimilé à une fin d’études.</a:t>
            </a:r>
            <a:endParaRPr lang="fr-FR" sz="3200" dirty="0">
              <a:latin typeface="+mj-lt"/>
              <a:cs typeface="Times New Roman" pitchFamily="18" charset="0"/>
            </a:endParaRPr>
          </a:p>
          <a:p>
            <a:pPr marL="447675" lvl="1" indent="0">
              <a:buNone/>
            </a:pPr>
            <a:r>
              <a:rPr lang="fr-BE" sz="3200" b="1" i="1" dirty="0">
                <a:latin typeface="+mj-lt"/>
                <a:cs typeface="Times New Roman" pitchFamily="18" charset="0"/>
                <a:sym typeface="Wingdings" pitchFamily="2" charset="2"/>
              </a:rPr>
              <a:t> </a:t>
            </a:r>
            <a:r>
              <a:rPr lang="fr-BE" sz="3200" b="1" i="1" dirty="0">
                <a:latin typeface="+mj-lt"/>
                <a:cs typeface="Times New Roman" pitchFamily="18" charset="0"/>
              </a:rPr>
              <a:t>Déclaration sur l’honneur sur le formulaire de demande </a:t>
            </a:r>
            <a:r>
              <a:rPr lang="fr-BE" sz="2000" b="1" i="1" dirty="0">
                <a:latin typeface="+mj-lt"/>
                <a:cs typeface="Times New Roman" pitchFamily="18" charset="0"/>
              </a:rPr>
              <a:t>(cf. signature du formulaire).</a:t>
            </a:r>
            <a:endParaRPr lang="en-GB" sz="2000" b="1" i="1" dirty="0">
              <a:latin typeface="+mj-lt"/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2. Condition d’occupation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600" b="1" i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Un mois de travail salarié ininterrompu ou plusieurs contrats pour un total de 30 jours calendriers  </a:t>
            </a:r>
            <a:r>
              <a:rPr lang="fr-BE" sz="3600" dirty="0">
                <a:latin typeface="+mj-lt"/>
                <a:cs typeface="Times New Roman" pitchFamily="18" charset="0"/>
              </a:rPr>
              <a:t>au cours de l’année d’exercice de vacances.</a:t>
            </a:r>
          </a:p>
          <a:p>
            <a:pPr marL="358775" indent="0">
              <a:spcBef>
                <a:spcPts val="0"/>
              </a:spcBef>
              <a:buNone/>
            </a:pPr>
            <a:r>
              <a:rPr lang="fr-BE" sz="3600" dirty="0">
                <a:latin typeface="+mj-lt"/>
                <a:cs typeface="Times New Roman" pitchFamily="18" charset="0"/>
              </a:rPr>
              <a:t>Et sur base de ce contrat, </a:t>
            </a:r>
            <a:r>
              <a:rPr lang="fr-BE" sz="3600" b="1" i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prouver 13 journées de travail ou assimilées au sens des AR 37 et/ou 38 </a:t>
            </a:r>
            <a:r>
              <a:rPr lang="fr-BE" i="1" dirty="0">
                <a:latin typeface="+mj-lt"/>
                <a:cs typeface="Times New Roman" pitchFamily="18" charset="0"/>
              </a:rPr>
              <a:t>(cf. flux A820</a:t>
            </a:r>
            <a:r>
              <a:rPr lang="fr-BE" dirty="0">
                <a:latin typeface="+mj-lt"/>
                <a:cs typeface="Times New Roman" pitchFamily="18" charset="0"/>
              </a:rPr>
              <a:t>).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2. Condition d’occupation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fr-BE" b="1" i="1" u="sng" dirty="0">
                <a:solidFill>
                  <a:srgbClr val="C00000"/>
                </a:solidFill>
                <a:cs typeface="Times New Roman" pitchFamily="18" charset="0"/>
              </a:rPr>
              <a:t>N’est pas pris en compte </a:t>
            </a:r>
            <a:r>
              <a:rPr lang="fr-BE" dirty="0">
                <a:cs typeface="Times New Roman" pitchFamily="18" charset="0"/>
              </a:rPr>
              <a:t>: le travail auquel s'applique le régime de vacances secteur public ou un régime de rémunération différée comme travailleur dans l'enseignement</a:t>
            </a:r>
            <a:r>
              <a:rPr lang="fr-BE" dirty="0"/>
              <a:t>.</a:t>
            </a:r>
            <a:endParaRPr lang="en-US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209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2. Condition d’occupation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hangingPunct="0">
              <a:buNone/>
            </a:pPr>
            <a:r>
              <a:rPr lang="fr-BE" dirty="0">
                <a:latin typeface="+mj-lt"/>
                <a:cs typeface="Times New Roman" pitchFamily="18" charset="0"/>
              </a:rPr>
              <a:t>Ces conditions ont pour conséquence que des allocations-vacances jeunes :</a:t>
            </a:r>
            <a:endParaRPr lang="en-US" dirty="0">
              <a:latin typeface="+mj-lt"/>
              <a:cs typeface="Times New Roman" pitchFamily="18" charset="0"/>
            </a:endParaRPr>
          </a:p>
          <a:p>
            <a:pPr hangingPunct="0">
              <a:buFont typeface="Wingdings" pitchFamily="2" charset="2"/>
              <a:buChar char="§"/>
            </a:pPr>
            <a:r>
              <a:rPr lang="fr-BE" sz="3200" dirty="0">
                <a:latin typeface="+mj-lt"/>
                <a:cs typeface="Times New Roman" pitchFamily="18" charset="0"/>
              </a:rPr>
              <a:t>sont octroyées au jeune qui a travaillé un mois à mi-temps ;</a:t>
            </a:r>
            <a:endParaRPr lang="en-US" dirty="0">
              <a:latin typeface="+mj-lt"/>
              <a:cs typeface="Times New Roman" pitchFamily="18" charset="0"/>
            </a:endParaRPr>
          </a:p>
          <a:p>
            <a:pPr hangingPunct="0">
              <a:buFont typeface="Wingdings" pitchFamily="2" charset="2"/>
              <a:buChar char="§"/>
            </a:pPr>
            <a:r>
              <a:rPr lang="fr-BE" sz="3200" u="sng" dirty="0">
                <a:latin typeface="+mj-lt"/>
                <a:cs typeface="Times New Roman" pitchFamily="18" charset="0"/>
              </a:rPr>
              <a:t>ne</a:t>
            </a:r>
            <a:r>
              <a:rPr lang="fr-BE" sz="3200" dirty="0">
                <a:latin typeface="+mj-lt"/>
                <a:cs typeface="Times New Roman" pitchFamily="18" charset="0"/>
              </a:rPr>
              <a:t> sont </a:t>
            </a:r>
            <a:r>
              <a:rPr lang="fr-BE" sz="3200" u="sng" dirty="0">
                <a:latin typeface="+mj-lt"/>
                <a:cs typeface="Times New Roman" pitchFamily="18" charset="0"/>
              </a:rPr>
              <a:t>pas</a:t>
            </a:r>
            <a:r>
              <a:rPr lang="fr-BE" sz="3200" dirty="0">
                <a:latin typeface="+mj-lt"/>
                <a:cs typeface="Times New Roman" pitchFamily="18" charset="0"/>
              </a:rPr>
              <a:t> octroyées au jeune qui n'a travaillé qu'un </a:t>
            </a:r>
            <a:r>
              <a:rPr lang="fr-BE" dirty="0">
                <a:latin typeface="+mj-lt"/>
                <a:cs typeface="Times New Roman" pitchFamily="18" charset="0"/>
              </a:rPr>
              <a:t>½ </a:t>
            </a:r>
            <a:r>
              <a:rPr lang="fr-BE" sz="3200" dirty="0">
                <a:latin typeface="+mj-lt"/>
                <a:cs typeface="Times New Roman" pitchFamily="18" charset="0"/>
              </a:rPr>
              <a:t>mois à temps plein parce qu’il ne satisfait pas à la condition relative à la durée du contrat de travail.</a:t>
            </a:r>
            <a:endParaRPr lang="en-US" sz="3200" dirty="0">
              <a:latin typeface="+mj-lt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3. Condition d’âge</a:t>
            </a:r>
            <a:endParaRPr lang="en-US" sz="48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fr-BE" sz="4000" b="1" i="1" dirty="0">
                <a:solidFill>
                  <a:srgbClr val="C00000"/>
                </a:solidFill>
                <a:cs typeface="Times New Roman" pitchFamily="18" charset="0"/>
              </a:rPr>
              <a:t>Ne pas avoir atteint l’âge de 25 ans au 31/12 de l’année de la fin des études.</a:t>
            </a:r>
          </a:p>
          <a:p>
            <a:pPr>
              <a:buFont typeface="Wingdings" pitchFamily="2" charset="2"/>
              <a:buChar char="§"/>
            </a:pPr>
            <a:endParaRPr lang="fr-BE" sz="4000" i="1" dirty="0"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fr-BE" sz="3600" i="1" dirty="0">
                <a:cs typeface="Times New Roman" pitchFamily="18" charset="0"/>
                <a:sym typeface="Wingdings" pitchFamily="2" charset="2"/>
              </a:rPr>
              <a:t>= Moins de 25 ans au 31/12 de l’année d’exercice de vacances.</a:t>
            </a:r>
            <a:endParaRPr lang="fr-BE" sz="3600" i="1" dirty="0">
              <a:cs typeface="Times New Roman" pitchFamily="18" charset="0"/>
            </a:endParaRPr>
          </a:p>
          <a:p>
            <a:pPr marL="0" indent="0">
              <a:buNone/>
            </a:pPr>
            <a:endParaRPr lang="fr-FR" sz="4000" i="1" dirty="0"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endParaRPr lang="en-US" sz="4800" i="1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fr-BE" sz="4000" i="1" u="sng" dirty="0"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fr-BE" sz="4400" b="1" i="1" u="sng" dirty="0">
                <a:latin typeface="+mj-lt"/>
                <a:cs typeface="Times New Roman" pitchFamily="18" charset="0"/>
              </a:rPr>
              <a:t>Quand et comment épuiser les jours de vacances-jeunes</a:t>
            </a:r>
            <a:r>
              <a:rPr lang="fr-BE" sz="4400" b="1" i="1" dirty="0">
                <a:latin typeface="+mj-lt"/>
                <a:cs typeface="Times New Roman" pitchFamily="18" charset="0"/>
              </a:rPr>
              <a:t> ?</a:t>
            </a:r>
            <a:endParaRPr lang="fr-FR" sz="4400" b="1" i="1" dirty="0">
              <a:latin typeface="+mj-lt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Conditions…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3600" dirty="0"/>
              <a:t>Le jeune travailleur qui satisfait aux conditions de stage de l'article 36bis a droit à l'allocation-vacances jeunes s'il satisfait </a:t>
            </a:r>
            <a:r>
              <a:rPr lang="fr-BE" sz="3600" b="1" dirty="0">
                <a:solidFill>
                  <a:srgbClr val="C00000"/>
                </a:solidFill>
              </a:rPr>
              <a:t>simultanément</a:t>
            </a:r>
            <a:r>
              <a:rPr lang="fr-BE" sz="3600" dirty="0"/>
              <a:t> aux conditions suivantes : </a:t>
            </a:r>
            <a:br>
              <a:rPr lang="fr-BE" sz="3600" dirty="0"/>
            </a:br>
            <a:endParaRPr lang="fr-BE" sz="36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777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latin typeface="Times New Roman" pitchFamily="18" charset="0"/>
                <a:cs typeface="Times New Roman" pitchFamily="18" charset="0"/>
              </a:rPr>
              <a:t>					</a:t>
            </a:r>
            <a:r>
              <a:rPr lang="fr-BE" sz="4800" b="1" i="1" dirty="0">
                <a:cs typeface="Times New Roman" pitchFamily="18" charset="0"/>
              </a:rPr>
              <a:t>Conditions…</a:t>
            </a:r>
            <a:endParaRPr lang="en-US" sz="48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>
                <a:latin typeface="+mj-lt"/>
                <a:cs typeface="Times New Roman" pitchFamily="18" charset="0"/>
              </a:rPr>
              <a:t>1.	Uniquement pendant une occupation en 	Belgique et avec régime de vacances 	secteur privé.</a:t>
            </a:r>
            <a:endParaRPr lang="en-US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endParaRPr lang="fr-BE" sz="1200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r>
              <a:rPr lang="fr-BE" dirty="0">
                <a:latin typeface="+mj-lt"/>
                <a:cs typeface="Times New Roman" pitchFamily="18" charset="0"/>
              </a:rPr>
              <a:t>2.	Et seulement après avoir épuisé les jours 	de vacances rémunérés ordinaires :</a:t>
            </a:r>
          </a:p>
          <a:p>
            <a:pPr lvl="2">
              <a:buFont typeface="Wingdings" pitchFamily="2" charset="2"/>
              <a:buChar char="§"/>
            </a:pPr>
            <a:r>
              <a:rPr lang="fr-BE" sz="2800" dirty="0">
                <a:latin typeface="+mj-lt"/>
                <a:cs typeface="Times New Roman" pitchFamily="18" charset="0"/>
              </a:rPr>
              <a:t>Soit pendant une période de travail ;</a:t>
            </a:r>
          </a:p>
          <a:p>
            <a:pPr lvl="2">
              <a:buFont typeface="Wingdings" pitchFamily="2" charset="2"/>
              <a:buChar char="§"/>
            </a:pPr>
            <a:r>
              <a:rPr lang="fr-BE" sz="2800" dirty="0">
                <a:latin typeface="+mj-lt"/>
                <a:cs typeface="Times New Roman" pitchFamily="18" charset="0"/>
              </a:rPr>
              <a:t>Soit pendant une période de CC ;</a:t>
            </a:r>
            <a:endParaRPr lang="en-GB" sz="2800" dirty="0">
              <a:latin typeface="+mj-lt"/>
              <a:cs typeface="Times New Roman" pitchFamily="18" charset="0"/>
            </a:endParaRPr>
          </a:p>
          <a:p>
            <a:endParaRPr lang="en-US" sz="28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latin typeface="Times New Roman" pitchFamily="18" charset="0"/>
                <a:cs typeface="Times New Roman" pitchFamily="18" charset="0"/>
              </a:rPr>
              <a:t>					</a:t>
            </a:r>
            <a:r>
              <a:rPr lang="fr-BE" sz="4800" b="1" i="1" dirty="0">
                <a:cs typeface="Times New Roman" pitchFamily="18" charset="0"/>
              </a:rPr>
              <a:t>Conditions…</a:t>
            </a:r>
            <a:endParaRPr lang="en-US" sz="48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>
                <a:latin typeface="+mj-lt"/>
                <a:cs typeface="Times New Roman" pitchFamily="18" charset="0"/>
              </a:rPr>
              <a:t>3.	Ne pas avoir au cours d’une année 	précédente satisfait aux conditions pour 	bénéficier de vacances jeunes 	supplémentaires.</a:t>
            </a:r>
          </a:p>
          <a:p>
            <a:pPr marL="0" indent="0">
              <a:buNone/>
            </a:pPr>
            <a:endParaRPr lang="fr-BE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r>
              <a:rPr lang="fr-BE" b="1" i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	</a:t>
            </a:r>
            <a:r>
              <a:rPr lang="fr-BE" b="1" i="1" u="sng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Remarque</a:t>
            </a:r>
            <a:r>
              <a:rPr lang="fr-BE" b="1" i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 : le droit théorique suffit, il 	n’est pas nécessaire d’avoir perçu des 	allocations vacances – jeunes.</a:t>
            </a:r>
            <a:endParaRPr lang="en-GB" b="1" i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Conditions…</a:t>
            </a:r>
            <a:endParaRPr lang="en-US" sz="48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200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r>
              <a:rPr lang="fr-BE" dirty="0">
                <a:latin typeface="+mj-lt"/>
                <a:cs typeface="Times New Roman" pitchFamily="18" charset="0"/>
              </a:rPr>
              <a:t>4.	Etre privé de rémunération ou de revenu 	de remplacement pendant les heures de 	vacances (au sens de l’article 46) </a:t>
            </a: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fr-BE" dirty="0">
              <a:latin typeface="+mj-lt"/>
              <a:cs typeface="Times New Roman" pitchFamily="18" charset="0"/>
            </a:endParaRPr>
          </a:p>
          <a:p>
            <a:pPr marL="358775" indent="-358775">
              <a:spcBef>
                <a:spcPct val="0"/>
              </a:spcBef>
              <a:buClrTx/>
              <a:buSzTx/>
              <a:buNone/>
            </a:pPr>
            <a:r>
              <a:rPr lang="fr-BE" b="1" i="1" dirty="0">
                <a:solidFill>
                  <a:srgbClr val="C00000"/>
                </a:solidFill>
                <a:latin typeface="+mj-lt"/>
                <a:cs typeface="Times New Roman" pitchFamily="18" charset="0"/>
                <a:sym typeface="Wingdings" pitchFamily="2" charset="2"/>
              </a:rPr>
              <a:t>		 Déclaration sur l’honneur</a:t>
            </a:r>
            <a:endParaRPr lang="en-GB" b="1" i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Demande &amp; paiement </a:t>
            </a:r>
            <a:br>
              <a:rPr lang="fr-BE" b="1" i="1" dirty="0">
                <a:cs typeface="Times New Roman" pitchFamily="18" charset="0"/>
              </a:rPr>
            </a:br>
            <a:r>
              <a:rPr lang="fr-BE" b="1" i="1" dirty="0">
                <a:cs typeface="Times New Roman" pitchFamily="18" charset="0"/>
              </a:rPr>
              <a:t>des allocations vacances-jeunes</a:t>
            </a:r>
            <a:endParaRPr lang="en-US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fr-BE" u="sng" dirty="0">
                <a:latin typeface="+mj-lt"/>
                <a:cs typeface="Times New Roman" pitchFamily="18" charset="0"/>
              </a:rPr>
              <a:t>DA script 5.1 avec</a:t>
            </a:r>
            <a:r>
              <a:rPr lang="fr-BE" dirty="0">
                <a:latin typeface="+mj-lt"/>
                <a:cs typeface="Times New Roman" pitchFamily="18" charset="0"/>
              </a:rPr>
              <a:t> :</a:t>
            </a:r>
          </a:p>
          <a:p>
            <a:pPr marL="857250" lvl="1" indent="-457200"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WECH (5)009 ;</a:t>
            </a:r>
          </a:p>
          <a:p>
            <a:pPr marL="857250" lvl="1" indent="-457200"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C103 VJ travailleur ;</a:t>
            </a:r>
          </a:p>
          <a:p>
            <a:pPr marL="857250" lvl="1" indent="-457200"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A820 ou C4 si les données DMFA requises ne sont pas encore disponibles ;</a:t>
            </a:r>
          </a:p>
          <a:p>
            <a:pPr marL="400050" lvl="1" indent="0">
              <a:buNone/>
            </a:pPr>
            <a:r>
              <a:rPr lang="fr-BE" dirty="0">
                <a:latin typeface="+mj-lt"/>
                <a:cs typeface="Times New Roman" pitchFamily="18" charset="0"/>
                <a:sym typeface="Wingdings" pitchFamily="2" charset="2"/>
              </a:rPr>
              <a:t> Envoi du dossier en type </a:t>
            </a:r>
            <a:r>
              <a:rPr lang="fr-BE" b="1" dirty="0">
                <a:latin typeface="+mj-lt"/>
                <a:cs typeface="Times New Roman" pitchFamily="18" charset="0"/>
                <a:sym typeface="Wingdings" pitchFamily="2" charset="2"/>
              </a:rPr>
              <a:t>C9 880 ;</a:t>
            </a:r>
            <a:endParaRPr lang="fr-BE" b="1" dirty="0">
              <a:latin typeface="+mj-lt"/>
              <a:cs typeface="Times New Roman" pitchFamily="18" charset="0"/>
            </a:endParaRPr>
          </a:p>
          <a:p>
            <a:pPr marL="400050" lvl="1" indent="0">
              <a:buNone/>
            </a:pPr>
            <a:r>
              <a:rPr lang="fr-BE" b="1" i="1" dirty="0">
                <a:solidFill>
                  <a:srgbClr val="C00000"/>
                </a:solidFill>
                <a:latin typeface="+mj-lt"/>
                <a:cs typeface="Times New Roman" pitchFamily="18" charset="0"/>
                <a:sym typeface="Wingdings" pitchFamily="2" charset="2"/>
              </a:rPr>
              <a:t> Obtention d’un code </a:t>
            </a:r>
            <a:r>
              <a:rPr lang="fr-BE" b="1" i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: 21/ ## J  + art. </a:t>
            </a:r>
            <a:r>
              <a:rPr lang="fr-BE" b="1" i="1" dirty="0" err="1">
                <a:solidFill>
                  <a:srgbClr val="C00000"/>
                </a:solidFill>
                <a:latin typeface="+mj-lt"/>
                <a:cs typeface="Times New Roman" pitchFamily="18" charset="0"/>
              </a:rPr>
              <a:t>adm</a:t>
            </a:r>
            <a:r>
              <a:rPr lang="fr-BE" b="1" i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. 36 bis</a:t>
            </a:r>
          </a:p>
          <a:p>
            <a:pPr>
              <a:buFont typeface="Wingdings" pitchFamily="2" charset="2"/>
              <a:buChar char="§"/>
            </a:pPr>
            <a:r>
              <a:rPr lang="fr-BE" u="sng" dirty="0">
                <a:latin typeface="+mj-lt"/>
                <a:cs typeface="Times New Roman" pitchFamily="18" charset="0"/>
              </a:rPr>
              <a:t>Paiement</a:t>
            </a:r>
            <a:r>
              <a:rPr lang="fr-BE" dirty="0">
                <a:latin typeface="+mj-lt"/>
                <a:cs typeface="Times New Roman" pitchFamily="18" charset="0"/>
              </a:rPr>
              <a:t> </a:t>
            </a:r>
            <a:r>
              <a:rPr lang="fr-BE" sz="2400" dirty="0">
                <a:latin typeface="+mj-lt"/>
                <a:cs typeface="Times New Roman" pitchFamily="18" charset="0"/>
                <a:sym typeface="Wingdings" pitchFamily="2" charset="2"/>
              </a:rPr>
              <a:t>:</a:t>
            </a:r>
          </a:p>
          <a:p>
            <a:pPr lvl="1"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DRS WECH (5)010 ;</a:t>
            </a:r>
          </a:p>
          <a:p>
            <a:pPr>
              <a:buNone/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Rappel…</a:t>
            </a:r>
            <a:endParaRPr lang="en-US" sz="4800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Introduction </a:t>
            </a:r>
            <a:r>
              <a:rPr lang="fr-BE" dirty="0">
                <a:cs typeface="Times New Roman" pitchFamily="18" charset="0"/>
              </a:rPr>
              <a:t>au plus tôt le 1</a:t>
            </a:r>
            <a:r>
              <a:rPr lang="fr-BE" baseline="30000" dirty="0">
                <a:cs typeface="Times New Roman" pitchFamily="18" charset="0"/>
              </a:rPr>
              <a:t>er</a:t>
            </a:r>
            <a:r>
              <a:rPr lang="fr-BE" dirty="0">
                <a:cs typeface="Times New Roman" pitchFamily="18" charset="0"/>
              </a:rPr>
              <a:t> avril de l’année de vacances </a:t>
            </a:r>
            <a:r>
              <a:rPr lang="fr-BE" dirty="0">
                <a:latin typeface="+mj-lt"/>
                <a:cs typeface="Times New Roman" pitchFamily="18" charset="0"/>
              </a:rPr>
              <a:t>au plus tard au 28/02 (ou le 29/02) de l’année qui suit ;</a:t>
            </a:r>
          </a:p>
          <a:p>
            <a:pPr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A chaque période de vacances, l’employeur doit établir pour le paiement une DRS WECH (5)010.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endParaRPr lang="en-US" sz="4800" i="1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fr-BE" sz="4400" i="1" u="sng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fr-BE" sz="4400" b="1" i="1" u="sng" dirty="0">
                <a:latin typeface="+mj-lt"/>
                <a:cs typeface="Times New Roman" pitchFamily="18" charset="0"/>
              </a:rPr>
              <a:t>Calcul des jours de vacances jeunes et du montant</a:t>
            </a:r>
            <a:br>
              <a:rPr lang="fr-BE" sz="4400" b="1" i="1" u="sng" dirty="0">
                <a:latin typeface="+mj-lt"/>
                <a:cs typeface="Times New Roman" pitchFamily="18" charset="0"/>
              </a:rPr>
            </a:br>
            <a:r>
              <a:rPr lang="fr-BE" sz="4400" b="1" i="1" u="sng" dirty="0">
                <a:latin typeface="+mj-lt"/>
                <a:cs typeface="Times New Roman" pitchFamily="18" charset="0"/>
              </a:rPr>
              <a:t>de l’allocation vacances jeunes</a:t>
            </a:r>
            <a:endParaRPr lang="en-GB" sz="4400" b="1" i="1" u="sng" dirty="0">
              <a:latin typeface="+mj-lt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Calcul du crédit VJ &amp; du facteur J</a:t>
            </a:r>
            <a:endParaRPr lang="en-US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Si J connu cf. DA Art. 36 déjà introduite </a:t>
            </a:r>
            <a:r>
              <a:rPr lang="fr-BE" dirty="0">
                <a:latin typeface="+mj-lt"/>
                <a:cs typeface="Times New Roman" pitchFamily="18" charset="0"/>
                <a:sym typeface="Wingdings" pitchFamily="2" charset="2"/>
              </a:rPr>
              <a:t> </a:t>
            </a:r>
            <a:r>
              <a:rPr lang="fr-BE" dirty="0">
                <a:latin typeface="+mj-lt"/>
                <a:cs typeface="Times New Roman" pitchFamily="18" charset="0"/>
              </a:rPr>
              <a:t>utiliser ce facteur J ;</a:t>
            </a:r>
          </a:p>
          <a:p>
            <a:pPr marL="0" indent="0">
              <a:spcBef>
                <a:spcPts val="0"/>
              </a:spcBef>
              <a:buNone/>
            </a:pPr>
            <a:endParaRPr lang="fr-BE" sz="1800" dirty="0">
              <a:latin typeface="+mj-lt"/>
              <a:cs typeface="Times New Roman" pitchFamily="18" charset="0"/>
            </a:endParaRP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Si J pas encore connu </a:t>
            </a:r>
            <a:r>
              <a:rPr lang="fr-BE" dirty="0">
                <a:latin typeface="+mj-lt"/>
                <a:cs typeface="Times New Roman" pitchFamily="18" charset="0"/>
                <a:sym typeface="Wingdings" pitchFamily="2" charset="2"/>
              </a:rPr>
              <a:t></a:t>
            </a:r>
            <a:r>
              <a:rPr lang="fr-BE" dirty="0">
                <a:latin typeface="+mj-lt"/>
                <a:cs typeface="Times New Roman" pitchFamily="18" charset="0"/>
              </a:rPr>
              <a:t> utiliser la formule suivante :</a:t>
            </a:r>
            <a:r>
              <a:rPr lang="fr-FR" dirty="0">
                <a:latin typeface="+mj-lt"/>
                <a:cs typeface="Times New Roman" pitchFamily="18" charset="0"/>
              </a:rPr>
              <a:t> </a:t>
            </a:r>
            <a:r>
              <a:rPr lang="fr-BE" sz="3600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(Q/S x jours calendriers) / 15</a:t>
            </a:r>
          </a:p>
          <a:p>
            <a:pPr marL="358775" indent="0">
              <a:spcBef>
                <a:spcPts val="0"/>
              </a:spcBef>
              <a:buNone/>
            </a:pPr>
            <a:r>
              <a:rPr lang="fr-BE" sz="2400" dirty="0">
                <a:latin typeface="+mj-lt"/>
                <a:cs typeface="Times New Roman" pitchFamily="18" charset="0"/>
              </a:rPr>
              <a:t>Arrondi à la ½ unité la plus proche</a:t>
            </a:r>
          </a:p>
          <a:p>
            <a:pPr marL="358775" indent="0">
              <a:spcBef>
                <a:spcPts val="0"/>
              </a:spcBef>
              <a:buNone/>
            </a:pPr>
            <a:endParaRPr lang="fr-BE" sz="1800" dirty="0">
              <a:latin typeface="+mj-lt"/>
              <a:cs typeface="Times New Roman" pitchFamily="18" charset="0"/>
            </a:endParaRPr>
          </a:p>
          <a:p>
            <a:pPr marL="358775" indent="-358775">
              <a:spcBef>
                <a:spcPts val="0"/>
              </a:spcBef>
              <a:buFont typeface="Wingdings" pitchFamily="2" charset="2"/>
              <a:buChar char="§"/>
            </a:pPr>
            <a:r>
              <a:rPr lang="fr-BE" sz="3600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Crédit vacances jeunes = 24 - J</a:t>
            </a:r>
            <a:endParaRPr lang="fr-FR" sz="3600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Calcul montant journalier </a:t>
            </a:r>
            <a:endParaRPr lang="en-US" sz="48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65 % du salaire journalier moyen plafonné à </a:t>
            </a:r>
            <a:r>
              <a:rPr lang="en-US" dirty="0"/>
              <a:t>2.751,99</a:t>
            </a:r>
            <a:r>
              <a:rPr lang="fr-BE" dirty="0"/>
              <a:t> </a:t>
            </a:r>
            <a:r>
              <a:rPr lang="fr-BE" dirty="0">
                <a:latin typeface="+mj-lt"/>
                <a:cs typeface="Times New Roman" pitchFamily="18" charset="0"/>
              </a:rPr>
              <a:t>€ </a:t>
            </a:r>
            <a:r>
              <a:rPr lang="fr-BE" sz="1800" dirty="0">
                <a:latin typeface="+mj-lt"/>
                <a:cs typeface="Times New Roman" pitchFamily="18" charset="0"/>
              </a:rPr>
              <a:t>(barème du 01.04.2023) </a:t>
            </a:r>
            <a:r>
              <a:rPr lang="fr-BE" dirty="0">
                <a:latin typeface="+mj-lt"/>
                <a:cs typeface="Times New Roman" pitchFamily="18" charset="0"/>
              </a:rPr>
              <a:t>= plafond AX </a:t>
            </a:r>
          </a:p>
          <a:p>
            <a:pPr marL="0" indent="0">
              <a:lnSpc>
                <a:spcPct val="90000"/>
              </a:lnSpc>
              <a:buNone/>
            </a:pPr>
            <a:endParaRPr lang="fr-BE" sz="1000" dirty="0">
              <a:latin typeface="+mj-lt"/>
              <a:cs typeface="Times New Roman" pitchFamily="18" charset="0"/>
            </a:endParaRPr>
          </a:p>
          <a:p>
            <a:pPr marL="358775" indent="0">
              <a:lnSpc>
                <a:spcPct val="90000"/>
              </a:lnSpc>
              <a:buNone/>
            </a:pPr>
            <a:r>
              <a:rPr lang="fr-BE" b="1" i="1" u="sng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Salaire horaire  x S</a:t>
            </a:r>
            <a:r>
              <a:rPr lang="fr-BE" b="1" i="1" dirty="0">
                <a:latin typeface="+mj-lt"/>
                <a:cs typeface="Times New Roman" pitchFamily="18" charset="0"/>
              </a:rPr>
              <a:t>    ou     </a:t>
            </a:r>
            <a:r>
              <a:rPr lang="fr-BE" b="1" i="1" u="sng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salaire mensuel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BE" b="1" i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                   6                                          26</a:t>
            </a:r>
          </a:p>
          <a:p>
            <a:pPr marL="0" indent="0">
              <a:lnSpc>
                <a:spcPct val="90000"/>
              </a:lnSpc>
              <a:buNone/>
            </a:pPr>
            <a:endParaRPr lang="fr-BE" sz="1200" dirty="0">
              <a:latin typeface="+mj-lt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Le montant journalier est fixé lors de la prise du 1</a:t>
            </a:r>
            <a:r>
              <a:rPr lang="fr-BE" baseline="30000" dirty="0">
                <a:latin typeface="+mj-lt"/>
                <a:cs typeface="Times New Roman" pitchFamily="18" charset="0"/>
              </a:rPr>
              <a:t>er</a:t>
            </a:r>
            <a:r>
              <a:rPr lang="fr-BE" dirty="0">
                <a:latin typeface="+mj-lt"/>
                <a:cs typeface="Times New Roman" pitchFamily="18" charset="0"/>
              </a:rPr>
              <a:t> jour de vacances jeunes et reste inchangé pendant toute l’année vacances.</a:t>
            </a:r>
            <a:endParaRPr lang="fr-FR" dirty="0">
              <a:latin typeface="+mj-lt"/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Calcul du nombre d’allocations</a:t>
            </a:r>
            <a:endParaRPr lang="en-US" sz="4800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fr-BE" sz="4400" i="1" u="sng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fr-BE" sz="4400" b="1" i="1" u="sng" dirty="0">
                <a:latin typeface="+mj-lt"/>
                <a:cs typeface="Times New Roman" pitchFamily="18" charset="0"/>
              </a:rPr>
              <a:t>Conversion des heures de vacances en jours de vacances jeunes</a:t>
            </a:r>
            <a:endParaRPr lang="fr-FR" sz="4400" b="1" i="1" dirty="0">
              <a:latin typeface="+mj-lt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25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Nombre d’allocations</a:t>
            </a:r>
            <a:endParaRPr lang="en-US" sz="48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itchFamily="2" charset="2"/>
              <a:buNone/>
            </a:pPr>
            <a:r>
              <a:rPr lang="fr-BE" i="1" dirty="0">
                <a:latin typeface="+mj-lt"/>
                <a:cs typeface="Times New Roman" pitchFamily="18" charset="0"/>
              </a:rPr>
              <a:t>Nombre d’allocations VJ est obtenu avec la formule suivante</a:t>
            </a:r>
            <a:r>
              <a:rPr lang="fr-BE" dirty="0">
                <a:latin typeface="+mj-lt"/>
                <a:cs typeface="Times New Roman" pitchFamily="18" charset="0"/>
              </a:rPr>
              <a:t>:  </a:t>
            </a:r>
            <a:r>
              <a:rPr lang="fr-BE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(V x 6/S) - solde J </a:t>
            </a:r>
          </a:p>
          <a:p>
            <a:pPr>
              <a:buFont typeface="Wingdings" pitchFamily="2" charset="2"/>
              <a:buNone/>
            </a:pPr>
            <a:r>
              <a:rPr lang="fr-BE" sz="2000" dirty="0">
                <a:latin typeface="+mj-lt"/>
                <a:cs typeface="Times New Roman" pitchFamily="18" charset="0"/>
              </a:rPr>
              <a:t>arrondi à la ½ unité ou à l’unité</a:t>
            </a:r>
          </a:p>
          <a:p>
            <a:pPr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V = nombre d’heures de vacances jeune pour le mois ;</a:t>
            </a:r>
          </a:p>
          <a:p>
            <a:pPr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S = durée de travail hebdomadaire ;</a:t>
            </a:r>
          </a:p>
          <a:p>
            <a:pPr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J = nombre de jours de vacances ordinaires à temps plein ;</a:t>
            </a:r>
            <a:endParaRPr lang="en-GB" dirty="0">
              <a:latin typeface="+mj-lt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26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Assimilation des VJ</a:t>
            </a:r>
            <a:r>
              <a:rPr lang="fr-BE" sz="4800" i="1" dirty="0">
                <a:cs typeface="Times New Roman" pitchFamily="18" charset="0"/>
              </a:rPr>
              <a:t> </a:t>
            </a:r>
            <a:endParaRPr lang="en-GB" sz="4800" i="1" dirty="0"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2800" dirty="0">
                <a:latin typeface="+mj-lt"/>
                <a:cs typeface="Times New Roman" pitchFamily="18" charset="0"/>
              </a:rPr>
              <a:t>Jours de VJ sont assimilés comme des vacances ‘’ordinaires’’ (J) pour :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en-GB" dirty="0">
                <a:latin typeface="+mj-lt"/>
                <a:cs typeface="Times New Roman" pitchFamily="18" charset="0"/>
              </a:rPr>
              <a:t>Le </a:t>
            </a:r>
            <a:r>
              <a:rPr lang="fr-BE" dirty="0">
                <a:latin typeface="+mj-lt"/>
                <a:cs typeface="Times New Roman" pitchFamily="18" charset="0"/>
              </a:rPr>
              <a:t>calcul des vacances l’année suivante </a:t>
            </a:r>
            <a:r>
              <a:rPr lang="en-GB" dirty="0">
                <a:latin typeface="+mj-lt"/>
                <a:cs typeface="Times New Roman" pitchFamily="18" charset="0"/>
              </a:rPr>
              <a:t>;</a:t>
            </a:r>
            <a:r>
              <a:rPr lang="fr-BE" dirty="0"/>
              <a:t> 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Une admissibilité AR 30 (cf. AR38) ;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Un  retour en 1</a:t>
            </a:r>
            <a:r>
              <a:rPr lang="fr-BE" baseline="30000" dirty="0">
                <a:latin typeface="+mj-lt"/>
                <a:cs typeface="Times New Roman" pitchFamily="18" charset="0"/>
              </a:rPr>
              <a:t>ère</a:t>
            </a:r>
            <a:r>
              <a:rPr lang="fr-BE" dirty="0">
                <a:latin typeface="+mj-lt"/>
                <a:cs typeface="Times New Roman" pitchFamily="18" charset="0"/>
              </a:rPr>
              <a:t> période d’indemnisation ou une prolongation (AR 116) ;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Le calcul du stage d’insertion AR 36 ;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Le calcul du passé professionnel ;</a:t>
            </a:r>
            <a:r>
              <a:rPr lang="en-GB" dirty="0">
                <a:latin typeface="+mj-lt"/>
                <a:cs typeface="Times New Roman" pitchFamily="18" charset="0"/>
              </a:rPr>
              <a:t> 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en-GB" dirty="0">
                <a:latin typeface="+mj-lt"/>
                <a:cs typeface="Times New Roman" pitchFamily="18" charset="0"/>
              </a:rPr>
              <a:t>Les </a:t>
            </a:r>
            <a:r>
              <a:rPr lang="fr-BE" dirty="0">
                <a:latin typeface="+mj-lt"/>
                <a:cs typeface="Times New Roman" pitchFamily="18" charset="0"/>
              </a:rPr>
              <a:t>allocations familiales </a:t>
            </a:r>
            <a:r>
              <a:rPr lang="en-GB" dirty="0">
                <a:latin typeface="+mj-lt"/>
                <a:cs typeface="Times New Roman" pitchFamily="18" charset="0"/>
              </a:rPr>
              <a:t>;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L’assurance maladie – invalidité</a:t>
            </a:r>
            <a:r>
              <a:rPr lang="en-GB" dirty="0">
                <a:latin typeface="+mj-lt"/>
                <a:cs typeface="Times New Roman" pitchFamily="18" charset="0"/>
              </a:rPr>
              <a:t>  ;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en-GB" dirty="0">
                <a:latin typeface="+mj-lt"/>
                <a:cs typeface="Times New Roman" pitchFamily="18" charset="0"/>
              </a:rPr>
              <a:t>La pension ;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endParaRPr lang="fr-BE" dirty="0">
              <a:latin typeface="+mj-lt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771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Exemple…</a:t>
            </a:r>
            <a:endParaRPr lang="en-US" sz="48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Un jeune de 22 ans termine ses études le 30.06.2022. </a:t>
            </a:r>
          </a:p>
          <a:p>
            <a:pPr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Il commence à travailler le 03.10.2022 dans le cadre d’une occupation à temps partiel de 20/38 (régime vacances secteur privé).</a:t>
            </a:r>
          </a:p>
          <a:p>
            <a:pPr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Vacances rémunérées (J) en 2023 : 3 jours sur base des prestations 2022. </a:t>
            </a:r>
          </a:p>
          <a:p>
            <a:pPr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Il épuise les premières vacances en 10/2023 et prend 2 semaines de vacances.</a:t>
            </a:r>
            <a:endParaRPr lang="en-GB" sz="3000" dirty="0"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729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fr-BE" sz="4800" b="1" i="1" dirty="0">
                <a:cs typeface="Times New Roman" pitchFamily="18" charset="0"/>
              </a:rPr>
              <a:t>Exemple…</a:t>
            </a:r>
            <a:endParaRPr lang="en-US" sz="48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fr-BE" sz="3000" b="1" dirty="0">
                <a:latin typeface="+mj-lt"/>
                <a:cs typeface="Times New Roman" pitchFamily="18" charset="0"/>
              </a:rPr>
              <a:t>Lundi   Mardi  Mercredi    Jeudi	Vendredi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fr-BE" sz="3000" dirty="0">
                <a:latin typeface="+mj-lt"/>
                <a:cs typeface="Times New Roman" pitchFamily="18" charset="0"/>
              </a:rPr>
              <a:t>		 	</a:t>
            </a:r>
            <a:r>
              <a:rPr lang="fr-FR" sz="3000" dirty="0">
                <a:latin typeface="+mj-lt"/>
                <a:cs typeface="Times New Roman" pitchFamily="18" charset="0"/>
              </a:rPr>
              <a:t>	       4 h            8h                </a:t>
            </a:r>
            <a:r>
              <a:rPr lang="fr-BE" sz="3000" dirty="0">
                <a:latin typeface="+mj-lt"/>
                <a:cs typeface="Times New Roman" pitchFamily="18" charset="0"/>
              </a:rPr>
              <a:t>8h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fr-BE" sz="3000" dirty="0">
                <a:latin typeface="+mj-lt"/>
                <a:cs typeface="Times New Roman" pitchFamily="18" charset="0"/>
              </a:rPr>
              <a:t>L’intéressé prend ses vacances: 2 mercredis, 2 jeudis et 2 vendredis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fr-BE" sz="3000" dirty="0">
                <a:latin typeface="+mj-lt"/>
                <a:cs typeface="Times New Roman" pitchFamily="18" charset="0"/>
                <a:sym typeface="Wingdings" pitchFamily="2" charset="2"/>
              </a:rPr>
              <a:t>	 </a:t>
            </a:r>
            <a:r>
              <a:rPr lang="fr-BE" sz="3000" dirty="0">
                <a:latin typeface="+mj-lt"/>
                <a:cs typeface="Times New Roman" pitchFamily="18" charset="0"/>
              </a:rPr>
              <a:t>40 heures de congé.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fr-BE" sz="3000" dirty="0">
                <a:latin typeface="+mj-lt"/>
                <a:cs typeface="Times New Roman" pitchFamily="18" charset="0"/>
              </a:rPr>
              <a:t>Jours de vacances jeunes : 40 x 6 /38 = 6,32 </a:t>
            </a:r>
            <a:r>
              <a:rPr lang="fr-BE" sz="2000" dirty="0">
                <a:latin typeface="+mj-lt"/>
                <a:cs typeface="Times New Roman" pitchFamily="18" charset="0"/>
              </a:rPr>
              <a:t>(V x 6/S)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fr-BE" sz="3000" dirty="0">
                <a:latin typeface="+mj-lt"/>
                <a:cs typeface="Times New Roman" pitchFamily="18" charset="0"/>
              </a:rPr>
              <a:t>6,32 – 3 = 3,32 jours </a:t>
            </a:r>
            <a:r>
              <a:rPr lang="fr-BE" sz="2000" dirty="0">
                <a:latin typeface="+mj-lt"/>
                <a:cs typeface="Times New Roman" pitchFamily="18" charset="0"/>
              </a:rPr>
              <a:t>(déduction solde J)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fr-BE" sz="3000" dirty="0">
                <a:latin typeface="+mj-lt"/>
                <a:cs typeface="Times New Roman" pitchFamily="18" charset="0"/>
                <a:sym typeface="Wingdings" pitchFamily="2" charset="2"/>
              </a:rPr>
              <a:t> Arrondi à</a:t>
            </a:r>
            <a:r>
              <a:rPr lang="fr-BE" sz="3000" dirty="0">
                <a:latin typeface="+mj-lt"/>
                <a:cs typeface="Times New Roman" pitchFamily="18" charset="0"/>
              </a:rPr>
              <a:t> 3,5 allocations VJ </a:t>
            </a:r>
            <a:endParaRPr lang="en-GB" sz="3000" dirty="0">
              <a:latin typeface="+mj-lt"/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29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BE" sz="8000" b="1" i="1" dirty="0"/>
              <a:t>Vacances Seniors</a:t>
            </a:r>
            <a:br>
              <a:rPr lang="fr-BE" sz="8000" b="1" i="1" dirty="0"/>
            </a:br>
            <a:endParaRPr lang="fr-BE" sz="80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30</a:t>
            </a:fld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467" y="2918718"/>
            <a:ext cx="2569066" cy="205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8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Les Vacances Seniors</a:t>
            </a:r>
            <a:endParaRPr lang="en-US" sz="48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Les travailleurs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de 50 ans au moins</a:t>
            </a:r>
            <a:r>
              <a:rPr lang="fr-BE" dirty="0">
                <a:cs typeface="Times New Roman" pitchFamily="18" charset="0"/>
              </a:rPr>
              <a:t> qui entament une occupation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salariée</a:t>
            </a:r>
            <a:r>
              <a:rPr lang="fr-BE" dirty="0">
                <a:cs typeface="Times New Roman" pitchFamily="18" charset="0"/>
              </a:rPr>
              <a:t> dans le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secteur privé</a:t>
            </a:r>
            <a:r>
              <a:rPr lang="fr-BE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dirty="0">
                <a:cs typeface="Times New Roman" pitchFamily="18" charset="0"/>
              </a:rPr>
              <a:t>peuvent prendre 4 semaines de vacances.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fr-BE" sz="1300" dirty="0">
              <a:cs typeface="Times New Roman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Ces personnes reçoivent un pécule de vacances fixé sur base des jours de travail et assimilés prestés au cours de l’exercice de vacances.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fr-BE" sz="1300" dirty="0">
              <a:cs typeface="Times New Roman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Après épuisement des vacances proméritées, elles peuvent bénéficier pour le solde des allocations vacances seniors à charge de l’ONEm.</a:t>
            </a:r>
            <a:endParaRPr lang="fr-FR" dirty="0"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036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Conditions d’octroi…</a:t>
            </a:r>
            <a:endParaRPr lang="en-US" sz="48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Autofit/>
          </a:bodyPr>
          <a:lstStyle/>
          <a:p>
            <a:pPr hangingPunct="0"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Le travailleur qui, au 31 décembre de </a:t>
            </a:r>
            <a:r>
              <a:rPr lang="fr-BE" u="sng" dirty="0">
                <a:latin typeface="+mj-lt"/>
                <a:cs typeface="Times New Roman" pitchFamily="18" charset="0"/>
              </a:rPr>
              <a:t>l’année d’exercice de vacances</a:t>
            </a:r>
            <a:r>
              <a:rPr lang="fr-BE" dirty="0">
                <a:latin typeface="+mj-lt"/>
                <a:cs typeface="Times New Roman" pitchFamily="18" charset="0"/>
              </a:rPr>
              <a:t>, a atteint au moins l’âge </a:t>
            </a:r>
            <a:r>
              <a:rPr lang="fr-BE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de 50 ans</a:t>
            </a:r>
            <a:r>
              <a:rPr lang="fr-BE" dirty="0">
                <a:latin typeface="+mj-lt"/>
                <a:cs typeface="Times New Roman" pitchFamily="18" charset="0"/>
              </a:rPr>
              <a:t>, peut être admis au droit à l'allocation-vacances seniors ;</a:t>
            </a:r>
          </a:p>
          <a:p>
            <a:pPr marL="0" indent="0" hangingPunct="0">
              <a:spcBef>
                <a:spcPts val="0"/>
              </a:spcBef>
              <a:buNone/>
            </a:pPr>
            <a:endParaRPr lang="fr-BE" sz="1100" dirty="0">
              <a:latin typeface="+mj-lt"/>
              <a:cs typeface="Times New Roman" pitchFamily="18" charset="0"/>
            </a:endParaRPr>
          </a:p>
          <a:p>
            <a:pPr hangingPunct="0"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Ne pas avoir droit à 4 semaines de vacances rémunérées pour l’année de vacances ;</a:t>
            </a:r>
          </a:p>
          <a:p>
            <a:pPr marL="0" indent="0" hangingPunct="0">
              <a:spcBef>
                <a:spcPts val="0"/>
              </a:spcBef>
              <a:buNone/>
            </a:pPr>
            <a:endParaRPr lang="fr-BE" sz="1100" dirty="0">
              <a:latin typeface="+mj-lt"/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386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Conditions d’octroi…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hangingPunct="0"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Ce droit incomplet aux vacances rémunérées doit être la conséquence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d’au moins 2 semaines de chômage complet et/ou invalidité  pendant l’année de l’exercice de vacances ;</a:t>
            </a:r>
          </a:p>
          <a:p>
            <a:pPr marL="0" indent="0" hangingPunct="0">
              <a:spcBef>
                <a:spcPts val="0"/>
              </a:spcBef>
              <a:buNone/>
            </a:pPr>
            <a:endParaRPr lang="fr-BE" sz="1050" b="1" dirty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fr-FR" dirty="0"/>
              <a:t>Pendant  une occupation en tant que salarié dans le secteur privé.</a:t>
            </a:r>
            <a:endParaRPr lang="fr-BE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155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Épuisement des VS</a:t>
            </a:r>
            <a:endParaRPr lang="en-US" sz="4800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dirty="0">
                <a:latin typeface="+mj-lt"/>
                <a:cs typeface="Times New Roman" pitchFamily="18" charset="0"/>
              </a:rPr>
              <a:t>Le travailleur peut épuiser les jours de VS     </a:t>
            </a:r>
            <a:r>
              <a:rPr lang="fr-BE" b="1" u="sng" dirty="0">
                <a:latin typeface="+mj-lt"/>
                <a:cs typeface="Times New Roman" pitchFamily="18" charset="0"/>
              </a:rPr>
              <a:t>pendant l’année de vacances </a:t>
            </a:r>
            <a:r>
              <a:rPr lang="fr-BE" b="1" dirty="0">
                <a:latin typeface="+mj-lt"/>
                <a:cs typeface="Times New Roman" pitchFamily="18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endParaRPr lang="fr-BE" b="1" dirty="0">
              <a:latin typeface="+mj-lt"/>
              <a:cs typeface="Times New Roman" pitchFamily="18" charset="0"/>
            </a:endParaRP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b="1" dirty="0">
                <a:latin typeface="+mj-lt"/>
                <a:cs typeface="Times New Roman" pitchFamily="18" charset="0"/>
              </a:rPr>
              <a:t>Après</a:t>
            </a:r>
            <a:r>
              <a:rPr lang="fr-BE" sz="3200" dirty="0">
                <a:latin typeface="+mj-lt"/>
                <a:cs typeface="Times New Roman" pitchFamily="18" charset="0"/>
              </a:rPr>
              <a:t> épuisement des jours de vacances rémunérés ordinaires ;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dirty="0">
                <a:latin typeface="+mj-lt"/>
                <a:cs typeface="Times New Roman" pitchFamily="18" charset="0"/>
              </a:rPr>
              <a:t>S’il est </a:t>
            </a:r>
            <a:r>
              <a:rPr lang="fr-BE" sz="3200" b="1" dirty="0">
                <a:latin typeface="+mj-lt"/>
                <a:cs typeface="Times New Roman" pitchFamily="18" charset="0"/>
              </a:rPr>
              <a:t>privé de rémunération</a:t>
            </a:r>
            <a:r>
              <a:rPr lang="fr-BE" sz="3200" dirty="0">
                <a:latin typeface="+mj-lt"/>
                <a:cs typeface="Times New Roman" pitchFamily="18" charset="0"/>
              </a:rPr>
              <a:t> pendant les heures de vacances ;</a:t>
            </a:r>
            <a:endParaRPr lang="fr-BE" sz="4100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453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Épuisement des VS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dirty="0">
                <a:cs typeface="Times New Roman" pitchFamily="18" charset="0"/>
              </a:rPr>
              <a:t>S’il ne bénéficie pas du régime de vacances secteur public ou d’une rémunération différée ;</a:t>
            </a:r>
            <a:endParaRPr lang="fr-FR" sz="3200" dirty="0">
              <a:cs typeface="Times New Roman" pitchFamily="18" charset="0"/>
            </a:endParaRP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b="1" dirty="0">
                <a:cs typeface="Times New Roman" pitchFamily="18" charset="0"/>
              </a:rPr>
              <a:t>Pendant</a:t>
            </a:r>
            <a:r>
              <a:rPr lang="fr-BE" sz="3200" dirty="0">
                <a:cs typeface="Times New Roman" pitchFamily="18" charset="0"/>
              </a:rPr>
              <a:t> une occupation dans le secteur privé ;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dirty="0">
                <a:cs typeface="Times New Roman" pitchFamily="18" charset="0"/>
              </a:rPr>
              <a:t>Contrairement</a:t>
            </a:r>
            <a:r>
              <a:rPr lang="en-GB" sz="3200" dirty="0">
                <a:cs typeface="Times New Roman" pitchFamily="18" charset="0"/>
              </a:rPr>
              <a:t> aux VJ, on </a:t>
            </a:r>
            <a:r>
              <a:rPr lang="fr-BE" sz="3200" dirty="0">
                <a:cs typeface="Times New Roman" pitchFamily="18" charset="0"/>
              </a:rPr>
              <a:t>peut</a:t>
            </a:r>
            <a:r>
              <a:rPr lang="en-GB" sz="3200" dirty="0">
                <a:cs typeface="Times New Roman" pitchFamily="18" charset="0"/>
              </a:rPr>
              <a:t> </a:t>
            </a:r>
            <a:r>
              <a:rPr lang="fr-BE" sz="3200" dirty="0">
                <a:cs typeface="Times New Roman" pitchFamily="18" charset="0"/>
              </a:rPr>
              <a:t>bénéficier</a:t>
            </a:r>
            <a:r>
              <a:rPr lang="en-GB" sz="3200" dirty="0">
                <a:cs typeface="Times New Roman" pitchFamily="18" charset="0"/>
              </a:rPr>
              <a:t> </a:t>
            </a:r>
            <a:r>
              <a:rPr lang="fr-BE" sz="3200" dirty="0">
                <a:cs typeface="Times New Roman" pitchFamily="18" charset="0"/>
              </a:rPr>
              <a:t>plusieurs</a:t>
            </a:r>
            <a:r>
              <a:rPr lang="en-GB" sz="3200" dirty="0">
                <a:cs typeface="Times New Roman" pitchFamily="18" charset="0"/>
              </a:rPr>
              <a:t> </a:t>
            </a:r>
            <a:r>
              <a:rPr lang="fr-BE" sz="3200" dirty="0">
                <a:cs typeface="Times New Roman" pitchFamily="18" charset="0"/>
              </a:rPr>
              <a:t>fois</a:t>
            </a:r>
            <a:r>
              <a:rPr lang="en-GB" sz="3200" dirty="0">
                <a:cs typeface="Times New Roman" pitchFamily="18" charset="0"/>
              </a:rPr>
              <a:t> des allocations “</a:t>
            </a:r>
            <a:r>
              <a:rPr lang="en-GB" sz="3200" b="1" dirty="0">
                <a:cs typeface="Times New Roman" pitchFamily="18" charset="0"/>
              </a:rPr>
              <a:t>VS</a:t>
            </a:r>
            <a:r>
              <a:rPr lang="en-GB" sz="3200" dirty="0">
                <a:cs typeface="Times New Roman" pitchFamily="18" charset="0"/>
              </a:rPr>
              <a:t>” ;</a:t>
            </a:r>
          </a:p>
          <a:p>
            <a:pPr lvl="1"/>
            <a:endParaRPr lang="fr-BE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414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Épuisement des VS – Exemple 1</a:t>
            </a:r>
            <a:endParaRPr lang="en-US" sz="4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Manu a 55 ans et il est en chômage complet toute l’année 2022 ;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Du 01.02.2023 au 30.04.2023, il est occupé sous le régime secteur public et il prend 6 jours de vacances (R6) ;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Au 01.06.2023, il entame une occupation à temps plein, secteur privé ;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Il voudrait prendre 4 semaines de vacances en novembre 2023 afin de partir au Mexique ;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fr-BE" b="1" dirty="0">
                <a:solidFill>
                  <a:srgbClr val="C00000"/>
                </a:solidFill>
              </a:rPr>
              <a:t>A-t-il</a:t>
            </a:r>
            <a:r>
              <a:rPr lang="fr-BE" dirty="0"/>
              <a:t>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droit aux VS ?</a:t>
            </a:r>
            <a:endParaRPr lang="en-US" b="1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703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Épuisement des VS – Solution 1</a:t>
            </a:r>
            <a:endParaRPr lang="en-US" sz="4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fr-BE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endParaRPr lang="fr-BE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1279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800" b="1" i="1" dirty="0">
                <a:latin typeface="+mn-lt"/>
                <a:cs typeface="Times New Roman" pitchFamily="18" charset="0"/>
              </a:rPr>
              <a:t>Épuisement des VS – Exemple 2</a:t>
            </a:r>
            <a:endParaRPr lang="en-US" sz="4800" dirty="0"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dirty="0">
                <a:latin typeface="+mj-lt"/>
                <a:cs typeface="Times New Roman" pitchFamily="18" charset="0"/>
              </a:rPr>
              <a:t>Michel a 54 ans et il travaille à temps plein dans le secteur privé ;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dirty="0">
                <a:latin typeface="+mj-lt"/>
                <a:cs typeface="Times New Roman" pitchFamily="18" charset="0"/>
              </a:rPr>
              <a:t>Du 01.02.2021 au 31.05.2022 ( malade = 1 an maladie et 4 mois d’invalidité) ;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dirty="0">
                <a:latin typeface="+mj-lt"/>
                <a:cs typeface="Times New Roman" pitchFamily="18" charset="0"/>
              </a:rPr>
              <a:t>Le 01.06.2022, il reprend le travail.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dirty="0">
                <a:latin typeface="+mj-lt"/>
                <a:cs typeface="Times New Roman" pitchFamily="18" charset="0"/>
              </a:rPr>
              <a:t>Le 01.06.</a:t>
            </a:r>
            <a:r>
              <a:rPr lang="fr-BE" sz="3000" b="1" dirty="0">
                <a:latin typeface="+mj-lt"/>
                <a:cs typeface="Times New Roman" pitchFamily="18" charset="0"/>
              </a:rPr>
              <a:t>2023</a:t>
            </a:r>
            <a:r>
              <a:rPr lang="fr-BE" sz="3000" dirty="0">
                <a:latin typeface="+mj-lt"/>
                <a:cs typeface="Times New Roman" pitchFamily="18" charset="0"/>
              </a:rPr>
              <a:t>, il voudrait prendre 4 semaines de vacances.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A-t-il droit aux vacances seniors? </a:t>
            </a:r>
            <a:endParaRPr lang="en-GB" sz="3000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61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Épuisement des VS – Solution 2</a:t>
            </a:r>
            <a:endParaRPr lang="en-US" sz="4800" b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endParaRPr lang="fr-BE" sz="3000" dirty="0">
              <a:latin typeface="+mj-lt"/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155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hangingPunct="1"/>
            <a:r>
              <a:rPr lang="fr-BE" sz="4800" b="1" i="1" dirty="0">
                <a:cs typeface="Times New Roman" pitchFamily="18" charset="0"/>
              </a:rPr>
              <a:t>Généralités</a:t>
            </a:r>
            <a:endParaRPr lang="en-GB" sz="4800" b="1" i="1" dirty="0">
              <a:cs typeface="Times New Roman" pitchFamily="18" charset="0"/>
            </a:endParaRPr>
          </a:p>
        </p:txBody>
      </p:sp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600200"/>
            <a:ext cx="8784976" cy="4525963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Char char="§"/>
            </a:pPr>
            <a:r>
              <a:rPr lang="fr-BE" b="1" i="1" dirty="0">
                <a:latin typeface="+mj-lt"/>
                <a:cs typeface="Times New Roman" pitchFamily="18" charset="0"/>
              </a:rPr>
              <a:t>Vacances Seniors + Temps partiel</a:t>
            </a:r>
            <a:r>
              <a:rPr lang="fr-BE" sz="2400" b="1" i="1" dirty="0">
                <a:latin typeface="+mj-lt"/>
                <a:cs typeface="Times New Roman" pitchFamily="18" charset="0"/>
                <a:sym typeface="Wingdings" pitchFamily="2" charset="2"/>
              </a:rPr>
              <a:t></a:t>
            </a:r>
            <a:r>
              <a:rPr lang="fr-BE" b="1" i="1" dirty="0">
                <a:latin typeface="+mj-lt"/>
                <a:cs typeface="Times New Roman" pitchFamily="18" charset="0"/>
                <a:sym typeface="Wingdings" pitchFamily="2" charset="2"/>
              </a:rPr>
              <a:t> OK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fr-BE" b="1" i="1" dirty="0">
                <a:latin typeface="+mj-lt"/>
                <a:cs typeface="Times New Roman" pitchFamily="18" charset="0"/>
                <a:sym typeface="Wingdings" pitchFamily="2" charset="2"/>
              </a:rPr>
              <a:t>Vacances </a:t>
            </a:r>
            <a:r>
              <a:rPr lang="fr-BE" b="1" i="1">
                <a:latin typeface="+mj-lt"/>
                <a:cs typeface="Times New Roman" pitchFamily="18" charset="0"/>
                <a:sym typeface="Wingdings" pitchFamily="2" charset="2"/>
              </a:rPr>
              <a:t>Seniors +</a:t>
            </a:r>
            <a:r>
              <a:rPr lang="fr-BE" sz="2400" b="1" i="1">
                <a:latin typeface="+mj-lt"/>
                <a:cs typeface="Times New Roman" pitchFamily="18" charset="0"/>
                <a:sym typeface="Wingdings" pitchFamily="2" charset="2"/>
              </a:rPr>
              <a:t> </a:t>
            </a:r>
            <a:r>
              <a:rPr lang="fr-BE" sz="2400" b="1" i="1" dirty="0">
                <a:latin typeface="+mj-lt"/>
                <a:cs typeface="Times New Roman" pitchFamily="18" charset="0"/>
                <a:sym typeface="Wingdings" pitchFamily="2" charset="2"/>
              </a:rPr>
              <a:t>Activa BXL, IMPULSION </a:t>
            </a:r>
            <a:r>
              <a:rPr lang="fr-BE" b="1" i="1" dirty="0">
                <a:latin typeface="+mj-lt"/>
                <a:cs typeface="Times New Roman" pitchFamily="18" charset="0"/>
                <a:sym typeface="Wingdings" pitchFamily="2" charset="2"/>
              </a:rPr>
              <a:t> OK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fr-BE" b="1" i="1" dirty="0">
                <a:latin typeface="+mj-lt"/>
                <a:cs typeface="Times New Roman" pitchFamily="18" charset="0"/>
              </a:rPr>
              <a:t>Cumul Vacances Seniors et Vacances chômage</a:t>
            </a:r>
            <a:r>
              <a:rPr lang="fr-BE" i="1" dirty="0">
                <a:latin typeface="+mj-lt"/>
                <a:cs typeface="Times New Roman" pitchFamily="18" charset="0"/>
              </a:rPr>
              <a:t> :</a:t>
            </a:r>
          </a:p>
          <a:p>
            <a:pPr lvl="1"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VC pris avant la reprise de travail </a:t>
            </a:r>
            <a:r>
              <a:rPr lang="fr-BE" dirty="0">
                <a:latin typeface="+mj-lt"/>
                <a:cs typeface="Times New Roman" pitchFamily="18" charset="0"/>
                <a:sym typeface="Wingdings" pitchFamily="2" charset="2"/>
              </a:rPr>
              <a:t> OK 24 V.S.</a:t>
            </a:r>
          </a:p>
          <a:p>
            <a:pPr lvl="1"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  <a:sym typeface="Wingdings" pitchFamily="2" charset="2"/>
              </a:rPr>
              <a:t>VC pris après les V.S.  OK pour le solde c.à.d. </a:t>
            </a:r>
          </a:p>
          <a:p>
            <a:pPr marL="457200" lvl="1" indent="0">
              <a:buNone/>
            </a:pPr>
            <a:r>
              <a:rPr lang="fr-BE" dirty="0">
                <a:latin typeface="+mj-lt"/>
                <a:cs typeface="Times New Roman" pitchFamily="18" charset="0"/>
                <a:sym typeface="Wingdings" pitchFamily="2" charset="2"/>
              </a:rPr>
              <a:t>	24 – J – VS</a:t>
            </a:r>
            <a:endParaRPr lang="en-GB" dirty="0">
              <a:latin typeface="+mj-lt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892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Demande et paiement </a:t>
            </a:r>
            <a:br>
              <a:rPr lang="fr-BE" b="1" i="1" dirty="0">
                <a:cs typeface="Times New Roman" pitchFamily="18" charset="0"/>
              </a:rPr>
            </a:br>
            <a:r>
              <a:rPr lang="fr-BE" b="1" i="1" dirty="0">
                <a:cs typeface="Times New Roman" pitchFamily="18" charset="0"/>
              </a:rPr>
              <a:t>des allocations vacances seniors 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itchFamily="2" charset="2"/>
              <a:buChar char="§"/>
            </a:pPr>
            <a:r>
              <a:rPr lang="fr-BE" sz="3500" u="sng" dirty="0">
                <a:cs typeface="Times New Roman" pitchFamily="18" charset="0"/>
              </a:rPr>
              <a:t>DA script 5.2 avec </a:t>
            </a:r>
            <a:r>
              <a:rPr lang="fr-BE" sz="3500" dirty="0">
                <a:cs typeface="Times New Roman" pitchFamily="18" charset="0"/>
              </a:rPr>
              <a:t>:</a:t>
            </a:r>
          </a:p>
          <a:p>
            <a:pPr marL="857250" lvl="1" indent="-457200"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DRS WECH 509 ;</a:t>
            </a:r>
          </a:p>
          <a:p>
            <a:pPr marL="857250" lvl="1" indent="-457200"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C103 VS travailleur ;</a:t>
            </a:r>
          </a:p>
          <a:p>
            <a:pPr marL="857250" lvl="1" indent="-457200"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Preuve de l’invalidité si pas encore introduite </a:t>
            </a:r>
            <a:r>
              <a:rPr lang="en-GB" dirty="0">
                <a:cs typeface="Times New Roman" pitchFamily="18" charset="0"/>
              </a:rPr>
              <a:t>au BC ; </a:t>
            </a:r>
            <a:endParaRPr lang="fr-BE" dirty="0">
              <a:cs typeface="Times New Roman" pitchFamily="18" charset="0"/>
            </a:endParaRPr>
          </a:p>
          <a:p>
            <a:pPr marL="447675" lvl="1" indent="-447675">
              <a:buFont typeface="Wingdings"/>
              <a:buChar char="è"/>
            </a:pPr>
            <a:r>
              <a:rPr lang="fr-BE" sz="3000" dirty="0">
                <a:cs typeface="Times New Roman" pitchFamily="18" charset="0"/>
                <a:sym typeface="Wingdings" pitchFamily="2" charset="2"/>
              </a:rPr>
              <a:t>Envoi du dossier en type </a:t>
            </a:r>
            <a:r>
              <a:rPr lang="fr-BE" sz="3000" b="1" dirty="0">
                <a:cs typeface="Times New Roman" pitchFamily="18" charset="0"/>
                <a:sym typeface="Wingdings" pitchFamily="2" charset="2"/>
              </a:rPr>
              <a:t>C9 850. </a:t>
            </a:r>
            <a:r>
              <a:rPr lang="fr-BE" sz="3000" dirty="0">
                <a:cs typeface="Times New Roman" pitchFamily="18" charset="0"/>
                <a:sym typeface="Wingdings" pitchFamily="2" charset="2"/>
              </a:rPr>
              <a:t>Et i</a:t>
            </a:r>
            <a:r>
              <a:rPr lang="fr-BE" sz="3000" dirty="0">
                <a:cs typeface="Times New Roman" pitchFamily="18" charset="0"/>
              </a:rPr>
              <a:t>ntroduction </a:t>
            </a:r>
            <a:r>
              <a:rPr lang="fr-BE" sz="3000" b="1" dirty="0">
                <a:solidFill>
                  <a:srgbClr val="C00000"/>
                </a:solidFill>
                <a:cs typeface="Times New Roman" pitchFamily="18" charset="0"/>
              </a:rPr>
              <a:t>au + tard le 2</a:t>
            </a:r>
            <a:r>
              <a:rPr lang="fr-BE" sz="3000" b="1" baseline="30000" dirty="0">
                <a:solidFill>
                  <a:srgbClr val="C00000"/>
                </a:solidFill>
                <a:cs typeface="Times New Roman" pitchFamily="18" charset="0"/>
              </a:rPr>
              <a:t>ème</a:t>
            </a:r>
            <a:r>
              <a:rPr lang="fr-BE" sz="3000" b="1" dirty="0">
                <a:solidFill>
                  <a:srgbClr val="C00000"/>
                </a:solidFill>
                <a:cs typeface="Times New Roman" pitchFamily="18" charset="0"/>
              </a:rPr>
              <a:t>  mois qui suit l’année de vacances (28 ou 29 février</a:t>
            </a:r>
            <a:r>
              <a:rPr lang="fr-BE" sz="3000" b="1" dirty="0">
                <a:solidFill>
                  <a:srgbClr val="C00000"/>
                </a:solidFill>
              </a:rPr>
              <a:t>)</a:t>
            </a:r>
            <a:endParaRPr lang="en-GB" sz="3000" dirty="0">
              <a:cs typeface="Times New Roman" pitchFamily="18" charset="0"/>
            </a:endParaRPr>
          </a:p>
          <a:p>
            <a:pPr marL="447675" lvl="1" indent="-447675">
              <a:buNone/>
            </a:pPr>
            <a:r>
              <a:rPr lang="fr-BE" sz="3000" b="1" i="1" dirty="0">
                <a:solidFill>
                  <a:srgbClr val="C00000"/>
                </a:solidFill>
                <a:cs typeface="Times New Roman" pitchFamily="18" charset="0"/>
                <a:sym typeface="Wingdings" pitchFamily="2" charset="2"/>
              </a:rPr>
              <a:t> Obtention d’un code </a:t>
            </a:r>
            <a:r>
              <a:rPr lang="fr-BE" sz="3000" b="1" i="1" dirty="0">
                <a:solidFill>
                  <a:srgbClr val="C00000"/>
                </a:solidFill>
                <a:cs typeface="Times New Roman" pitchFamily="18" charset="0"/>
              </a:rPr>
              <a:t>: 22/ ## S + Art. </a:t>
            </a:r>
            <a:r>
              <a:rPr lang="fr-BE" sz="3000" b="1" i="1" dirty="0" err="1">
                <a:solidFill>
                  <a:srgbClr val="C00000"/>
                </a:solidFill>
                <a:cs typeface="Times New Roman" pitchFamily="18" charset="0"/>
              </a:rPr>
              <a:t>adm</a:t>
            </a:r>
            <a:r>
              <a:rPr lang="fr-BE" sz="3000" b="1" i="1" dirty="0">
                <a:solidFill>
                  <a:srgbClr val="C00000"/>
                </a:solidFill>
                <a:cs typeface="Times New Roman" pitchFamily="18" charset="0"/>
              </a:rPr>
              <a:t>. 36bis</a:t>
            </a:r>
          </a:p>
          <a:p>
            <a:pPr>
              <a:buFont typeface="Wingdings" pitchFamily="2" charset="2"/>
              <a:buChar char="§"/>
            </a:pPr>
            <a:r>
              <a:rPr lang="fr-BE" sz="3000" u="sng" dirty="0">
                <a:cs typeface="Times New Roman" pitchFamily="18" charset="0"/>
              </a:rPr>
              <a:t>Paiement</a:t>
            </a:r>
            <a:r>
              <a:rPr lang="fr-BE" sz="3000" dirty="0">
                <a:cs typeface="Times New Roman" pitchFamily="18" charset="0"/>
              </a:rPr>
              <a:t> </a:t>
            </a:r>
            <a:r>
              <a:rPr lang="fr-BE" sz="3000" dirty="0">
                <a:cs typeface="Times New Roman" pitchFamily="18" charset="0"/>
                <a:sym typeface="Wingdings" pitchFamily="2" charset="2"/>
              </a:rPr>
              <a:t>: </a:t>
            </a:r>
            <a:r>
              <a:rPr lang="fr-BE" sz="3000" dirty="0">
                <a:cs typeface="Times New Roman" pitchFamily="18" charset="0"/>
              </a:rPr>
              <a:t>DRS WECH (5)010 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608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Calcul du crédit VS &amp; du facteur J</a:t>
            </a:r>
            <a:endParaRPr lang="en-US" sz="4800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b="1" dirty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Facteur J</a:t>
            </a:r>
            <a:r>
              <a:rPr lang="fr-BE" dirty="0">
                <a:solidFill>
                  <a:srgbClr val="C00000"/>
                </a:solidFill>
                <a:cs typeface="Times New Roman" pitchFamily="18" charset="0"/>
              </a:rPr>
              <a:t> = </a:t>
            </a:r>
            <a:r>
              <a:rPr lang="fr-BE" u="sng" dirty="0">
                <a:cs typeface="Times New Roman" pitchFamily="18" charset="0"/>
              </a:rPr>
              <a:t>nombre de jours calendriers x Q/S</a:t>
            </a:r>
            <a:br>
              <a:rPr lang="fr-BE" u="sng" dirty="0">
                <a:cs typeface="Times New Roman" pitchFamily="18" charset="0"/>
              </a:rPr>
            </a:br>
            <a:r>
              <a:rPr lang="fr-BE" dirty="0">
                <a:cs typeface="Times New Roman" pitchFamily="18" charset="0"/>
              </a:rPr>
              <a:t>				        15</a:t>
            </a:r>
          </a:p>
          <a:p>
            <a:pPr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Arrondit à l’unité la plus proche.</a:t>
            </a:r>
          </a:p>
          <a:p>
            <a:pPr>
              <a:buFont typeface="Wingdings" pitchFamily="2" charset="2"/>
              <a:buChar char="§"/>
            </a:pPr>
            <a:endParaRPr lang="fr-BE" dirty="0"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Crédit vacances seniors = 24 - J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824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Nombre d’allocations</a:t>
            </a:r>
            <a:endParaRPr lang="en-US" sz="48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itchFamily="2" charset="2"/>
              <a:buNone/>
            </a:pPr>
            <a:r>
              <a:rPr lang="fr-BE" i="1" dirty="0">
                <a:latin typeface="+mj-lt"/>
                <a:cs typeface="Times New Roman" pitchFamily="18" charset="0"/>
              </a:rPr>
              <a:t>Nombre d’allocations VS est obtenu avec la formule suivante</a:t>
            </a:r>
            <a:r>
              <a:rPr lang="fr-BE" dirty="0">
                <a:latin typeface="+mj-lt"/>
                <a:cs typeface="Times New Roman" pitchFamily="18" charset="0"/>
              </a:rPr>
              <a:t>:  </a:t>
            </a:r>
            <a:r>
              <a:rPr lang="fr-BE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(V x 6/S) - solde J </a:t>
            </a:r>
          </a:p>
          <a:p>
            <a:pPr>
              <a:buFont typeface="Wingdings" pitchFamily="2" charset="2"/>
              <a:buNone/>
            </a:pPr>
            <a:r>
              <a:rPr lang="fr-BE" sz="2000" dirty="0">
                <a:latin typeface="+mj-lt"/>
                <a:cs typeface="Times New Roman" pitchFamily="18" charset="0"/>
              </a:rPr>
              <a:t>arrondi à la ½ unité ou à l’unité</a:t>
            </a:r>
          </a:p>
          <a:p>
            <a:pPr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V = nombre d’heures de vacances seniors pour le mois ;</a:t>
            </a:r>
          </a:p>
          <a:p>
            <a:pPr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S = durée de travail hebdomadaire ;</a:t>
            </a:r>
          </a:p>
          <a:p>
            <a:pPr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J = nombre de jours de vacances ordinaires à temps plein ;</a:t>
            </a:r>
            <a:endParaRPr lang="en-GB" dirty="0">
              <a:latin typeface="+mj-lt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317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Calcul montant journalier </a:t>
            </a:r>
            <a:endParaRPr lang="en-US" sz="48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65 % du salaire journalier moyen plafonné à </a:t>
            </a:r>
            <a:r>
              <a:rPr lang="en-US" dirty="0"/>
              <a:t>2.751,99</a:t>
            </a:r>
            <a:r>
              <a:rPr lang="fr-BE" dirty="0">
                <a:solidFill>
                  <a:prstClr val="black"/>
                </a:solidFill>
              </a:rPr>
              <a:t> </a:t>
            </a:r>
            <a:r>
              <a:rPr lang="fr-BE" dirty="0">
                <a:solidFill>
                  <a:prstClr val="black"/>
                </a:solidFill>
                <a:cs typeface="Times New Roman" pitchFamily="18" charset="0"/>
              </a:rPr>
              <a:t>€ </a:t>
            </a:r>
            <a:r>
              <a:rPr lang="fr-BE" sz="1800" dirty="0">
                <a:solidFill>
                  <a:prstClr val="black"/>
                </a:solidFill>
                <a:cs typeface="Times New Roman" pitchFamily="18" charset="0"/>
              </a:rPr>
              <a:t>(barème du 01.04.2023) </a:t>
            </a:r>
            <a:r>
              <a:rPr lang="fr-BE" dirty="0">
                <a:latin typeface="+mj-lt"/>
                <a:cs typeface="Times New Roman" pitchFamily="18" charset="0"/>
              </a:rPr>
              <a:t>= plafond AX </a:t>
            </a:r>
          </a:p>
          <a:p>
            <a:pPr marL="0" indent="0">
              <a:lnSpc>
                <a:spcPct val="90000"/>
              </a:lnSpc>
              <a:buNone/>
            </a:pPr>
            <a:endParaRPr lang="fr-BE" sz="1000" dirty="0">
              <a:latin typeface="+mj-lt"/>
              <a:cs typeface="Times New Roman" pitchFamily="18" charset="0"/>
            </a:endParaRPr>
          </a:p>
          <a:p>
            <a:pPr marL="358775" indent="0">
              <a:lnSpc>
                <a:spcPct val="90000"/>
              </a:lnSpc>
              <a:buNone/>
            </a:pPr>
            <a:r>
              <a:rPr lang="fr-BE" b="1" i="1" u="sng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Salaire horaire  x S</a:t>
            </a:r>
            <a:r>
              <a:rPr lang="fr-BE" b="1" i="1" dirty="0">
                <a:latin typeface="+mj-lt"/>
                <a:cs typeface="Times New Roman" pitchFamily="18" charset="0"/>
              </a:rPr>
              <a:t>    ou     </a:t>
            </a:r>
            <a:r>
              <a:rPr lang="fr-BE" b="1" i="1" u="sng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salaire mensuel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BE" b="1" i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                   6                                          26</a:t>
            </a:r>
          </a:p>
          <a:p>
            <a:pPr marL="0" indent="0">
              <a:lnSpc>
                <a:spcPct val="90000"/>
              </a:lnSpc>
              <a:buNone/>
            </a:pPr>
            <a:endParaRPr lang="fr-BE" sz="1200" dirty="0">
              <a:latin typeface="+mj-lt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fr-BE" dirty="0">
                <a:latin typeface="+mj-lt"/>
                <a:cs typeface="Times New Roman" pitchFamily="18" charset="0"/>
              </a:rPr>
              <a:t>Le montant journalier est fixé lors de la prise du 1</a:t>
            </a:r>
            <a:r>
              <a:rPr lang="fr-BE" baseline="30000" dirty="0">
                <a:latin typeface="+mj-lt"/>
                <a:cs typeface="Times New Roman" pitchFamily="18" charset="0"/>
              </a:rPr>
              <a:t>er</a:t>
            </a:r>
            <a:r>
              <a:rPr lang="fr-BE" dirty="0">
                <a:latin typeface="+mj-lt"/>
                <a:cs typeface="Times New Roman" pitchFamily="18" charset="0"/>
              </a:rPr>
              <a:t> jour de vacances jeunes et reste inchangé pendant toute l’année vacances.</a:t>
            </a:r>
            <a:endParaRPr lang="fr-FR" dirty="0">
              <a:latin typeface="+mj-lt"/>
              <a:cs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283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800" b="1" i="1" dirty="0">
                <a:cs typeface="Times New Roman" pitchFamily="18" charset="0"/>
              </a:rPr>
              <a:t>Assimilation des VS</a:t>
            </a:r>
            <a:r>
              <a:rPr lang="fr-BE" sz="4800" i="1" dirty="0">
                <a:cs typeface="Times New Roman" pitchFamily="18" charset="0"/>
              </a:rPr>
              <a:t> </a:t>
            </a:r>
            <a:endParaRPr lang="en-GB" sz="4800" i="1" dirty="0"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dirty="0">
                <a:latin typeface="+mj-lt"/>
                <a:cs typeface="Times New Roman" pitchFamily="18" charset="0"/>
              </a:rPr>
              <a:t>Les Jours de VS sont assimilés comme des vacances ‘’ordinaires’’ (J) pour :</a:t>
            </a:r>
          </a:p>
          <a:p>
            <a:pPr marL="0" indent="0">
              <a:spcBef>
                <a:spcPts val="0"/>
              </a:spcBef>
              <a:buNone/>
            </a:pPr>
            <a:endParaRPr lang="fr-BE" dirty="0">
              <a:latin typeface="+mj-lt"/>
              <a:cs typeface="Times New Roman" pitchFamily="18" charset="0"/>
            </a:endParaRP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en-GB" sz="3200" dirty="0">
                <a:latin typeface="+mj-lt"/>
                <a:cs typeface="Times New Roman" pitchFamily="18" charset="0"/>
              </a:rPr>
              <a:t>Le </a:t>
            </a:r>
            <a:r>
              <a:rPr lang="fr-BE" sz="3200" dirty="0">
                <a:latin typeface="+mj-lt"/>
                <a:cs typeface="Times New Roman" pitchFamily="18" charset="0"/>
              </a:rPr>
              <a:t>calcul des vacances l’année suivante </a:t>
            </a:r>
            <a:r>
              <a:rPr lang="en-GB" sz="3200" dirty="0">
                <a:latin typeface="+mj-lt"/>
                <a:cs typeface="Times New Roman" pitchFamily="18" charset="0"/>
              </a:rPr>
              <a:t>;</a:t>
            </a:r>
            <a:r>
              <a:rPr lang="fr-BE" sz="3200" dirty="0">
                <a:latin typeface="+mj-lt"/>
              </a:rPr>
              <a:t> 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dirty="0">
                <a:latin typeface="+mj-lt"/>
                <a:cs typeface="Times New Roman" pitchFamily="18" charset="0"/>
              </a:rPr>
              <a:t>Une admissibilité AR 30 (cf. AR38) ;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dirty="0">
                <a:latin typeface="+mj-lt"/>
                <a:cs typeface="Times New Roman" pitchFamily="18" charset="0"/>
              </a:rPr>
              <a:t>Un  retour en 1</a:t>
            </a:r>
            <a:r>
              <a:rPr lang="fr-BE" sz="3200" baseline="30000" dirty="0">
                <a:latin typeface="+mj-lt"/>
                <a:cs typeface="Times New Roman" pitchFamily="18" charset="0"/>
              </a:rPr>
              <a:t>ère</a:t>
            </a:r>
            <a:r>
              <a:rPr lang="fr-BE" sz="3200" dirty="0">
                <a:latin typeface="+mj-lt"/>
                <a:cs typeface="Times New Roman" pitchFamily="18" charset="0"/>
              </a:rPr>
              <a:t> période d’indemnisation ou une prolongation (AR 116) ;</a:t>
            </a:r>
          </a:p>
          <a:p>
            <a:pPr marL="457200" lvl="1" indent="0">
              <a:spcBef>
                <a:spcPts val="0"/>
              </a:spcBef>
              <a:buNone/>
            </a:pPr>
            <a:endParaRPr lang="fr-BE" dirty="0">
              <a:latin typeface="+mj-lt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869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dirty="0"/>
              <a:t>Assimilation des VS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dirty="0">
                <a:cs typeface="Times New Roman" pitchFamily="18" charset="0"/>
              </a:rPr>
              <a:t>Le calcul passée professionnel ;</a:t>
            </a:r>
            <a:r>
              <a:rPr lang="en-GB" sz="3200" dirty="0">
                <a:cs typeface="Times New Roman" pitchFamily="18" charset="0"/>
              </a:rPr>
              <a:t> 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en-GB" sz="3200" dirty="0">
                <a:cs typeface="Times New Roman" pitchFamily="18" charset="0"/>
              </a:rPr>
              <a:t>Les </a:t>
            </a:r>
            <a:r>
              <a:rPr lang="fr-BE" sz="3200" dirty="0">
                <a:cs typeface="Times New Roman" pitchFamily="18" charset="0"/>
              </a:rPr>
              <a:t>allocations familiales </a:t>
            </a:r>
            <a:r>
              <a:rPr lang="en-GB" sz="3200" dirty="0">
                <a:cs typeface="Times New Roman" pitchFamily="18" charset="0"/>
              </a:rPr>
              <a:t>;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dirty="0">
                <a:cs typeface="Times New Roman" pitchFamily="18" charset="0"/>
              </a:rPr>
              <a:t>L’assurance maladie – invalidité</a:t>
            </a:r>
            <a:r>
              <a:rPr lang="en-GB" sz="3200" dirty="0">
                <a:cs typeface="Times New Roman" pitchFamily="18" charset="0"/>
              </a:rPr>
              <a:t>  ;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en-GB" sz="3200" dirty="0">
                <a:cs typeface="Times New Roman" pitchFamily="18" charset="0"/>
              </a:rPr>
              <a:t>La pension 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813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b="1" i="1" u="sng" dirty="0">
                <a:cs typeface="Times New Roman" pitchFamily="18" charset="0"/>
              </a:rPr>
              <a:t>Non</a:t>
            </a:r>
            <a:r>
              <a:rPr lang="fr-BE" b="1" i="1" dirty="0">
                <a:cs typeface="Times New Roman" pitchFamily="18" charset="0"/>
              </a:rPr>
              <a:t> assimilation des jours de VS</a:t>
            </a:r>
            <a:r>
              <a:rPr lang="fr-BE" i="1" dirty="0">
                <a:cs typeface="Times New Roman" pitchFamily="18" charset="0"/>
              </a:rPr>
              <a:t> </a:t>
            </a:r>
            <a:endParaRPr lang="en-GB" i="1" u="sng" dirty="0">
              <a:cs typeface="Times New Roman" pitchFamily="18" charset="0"/>
            </a:endParaRPr>
          </a:p>
        </p:txBody>
      </p:sp>
      <p:sp>
        <p:nvSpPr>
          <p:cNvPr id="38915" name="Rectangle 1027"/>
          <p:cNvSpPr>
            <a:spLocks noGrp="1" noChangeArrowheads="1"/>
          </p:cNvSpPr>
          <p:nvPr>
            <p:ph idx="1"/>
          </p:nvPr>
        </p:nvSpPr>
        <p:spPr>
          <a:xfrm>
            <a:off x="251520" y="1600200"/>
            <a:ext cx="864096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dirty="0">
                <a:latin typeface="+mj-lt"/>
                <a:cs typeface="Times New Roman" pitchFamily="18" charset="0"/>
              </a:rPr>
              <a:t>Les allocations de VS </a:t>
            </a:r>
            <a:r>
              <a:rPr lang="fr-BE" u="sng" dirty="0">
                <a:latin typeface="+mj-lt"/>
                <a:cs typeface="Times New Roman" pitchFamily="18" charset="0"/>
              </a:rPr>
              <a:t>ne</a:t>
            </a:r>
            <a:r>
              <a:rPr lang="fr-BE" dirty="0">
                <a:latin typeface="+mj-lt"/>
                <a:cs typeface="Times New Roman" pitchFamily="18" charset="0"/>
              </a:rPr>
              <a:t> sont </a:t>
            </a:r>
            <a:r>
              <a:rPr lang="fr-BE" u="sng" dirty="0">
                <a:latin typeface="+mj-lt"/>
                <a:cs typeface="Times New Roman" pitchFamily="18" charset="0"/>
              </a:rPr>
              <a:t>pas</a:t>
            </a:r>
            <a:r>
              <a:rPr lang="fr-BE" dirty="0">
                <a:latin typeface="+mj-lt"/>
                <a:cs typeface="Times New Roman" pitchFamily="18" charset="0"/>
              </a:rPr>
              <a:t> considérées comme une allocation pour :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en-GB" sz="3200" dirty="0">
                <a:latin typeface="+mj-lt"/>
                <a:cs typeface="Times New Roman" pitchFamily="18" charset="0"/>
              </a:rPr>
              <a:t>La dispense de stage (AR 42) ;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en-GB" sz="3200" dirty="0" err="1">
                <a:latin typeface="+mj-lt"/>
                <a:cs typeface="Times New Roman" pitchFamily="18" charset="0"/>
              </a:rPr>
              <a:t>L’octroi</a:t>
            </a:r>
            <a:r>
              <a:rPr lang="en-GB" sz="3200" dirty="0">
                <a:latin typeface="+mj-lt"/>
                <a:cs typeface="Times New Roman" pitchFamily="18" charset="0"/>
              </a:rPr>
              <a:t> d’une dispense pour suivre une formation </a:t>
            </a:r>
            <a:r>
              <a:rPr lang="fr-BE" sz="3200" dirty="0">
                <a:latin typeface="+mj-lt"/>
                <a:cs typeface="Times New Roman" pitchFamily="18" charset="0"/>
              </a:rPr>
              <a:t>ou des études (</a:t>
            </a:r>
            <a:r>
              <a:rPr lang="en-GB" sz="3200" dirty="0">
                <a:latin typeface="+mj-lt"/>
                <a:cs typeface="Times New Roman" pitchFamily="18" charset="0"/>
              </a:rPr>
              <a:t>AR 92 &amp; 93) ;</a:t>
            </a:r>
          </a:p>
          <a:p>
            <a:pPr lvl="1">
              <a:spcBef>
                <a:spcPts val="0"/>
              </a:spcBef>
              <a:buFont typeface="Wingdings" pitchFamily="2" charset="2"/>
              <a:buChar char="§"/>
            </a:pPr>
            <a:r>
              <a:rPr lang="en-GB" sz="3200" dirty="0">
                <a:cs typeface="Times New Roman" pitchFamily="18" charset="0"/>
              </a:rPr>
              <a:t>Le </a:t>
            </a:r>
            <a:r>
              <a:rPr lang="fr-BE" sz="3200" dirty="0">
                <a:cs typeface="Times New Roman" pitchFamily="18" charset="0"/>
              </a:rPr>
              <a:t>calcul</a:t>
            </a:r>
            <a:r>
              <a:rPr lang="en-GB" sz="3200" dirty="0">
                <a:cs typeface="Times New Roman" pitchFamily="18" charset="0"/>
              </a:rPr>
              <a:t> de la </a:t>
            </a:r>
            <a:r>
              <a:rPr lang="fr-BE" sz="3200" dirty="0">
                <a:cs typeface="Times New Roman" pitchFamily="18" charset="0"/>
              </a:rPr>
              <a:t>durée</a:t>
            </a:r>
            <a:r>
              <a:rPr lang="en-GB" sz="3200" dirty="0">
                <a:cs typeface="Times New Roman" pitchFamily="18" charset="0"/>
              </a:rPr>
              <a:t> de </a:t>
            </a:r>
            <a:r>
              <a:rPr lang="fr-BE" sz="3200" dirty="0">
                <a:cs typeface="Times New Roman" pitchFamily="18" charset="0"/>
              </a:rPr>
              <a:t>chômage</a:t>
            </a:r>
            <a:r>
              <a:rPr lang="en-GB" sz="3200" dirty="0">
                <a:cs typeface="Times New Roman" pitchFamily="18" charset="0"/>
              </a:rPr>
              <a:t> </a:t>
            </a:r>
            <a:r>
              <a:rPr lang="fr-BE" sz="3200" dirty="0">
                <a:cs typeface="Times New Roman" pitchFamily="18" charset="0"/>
              </a:rPr>
              <a:t>requise</a:t>
            </a:r>
            <a:r>
              <a:rPr lang="en-GB" sz="3200" dirty="0">
                <a:cs typeface="Times New Roman" pitchFamily="18" charset="0"/>
              </a:rPr>
              <a:t> pour </a:t>
            </a:r>
            <a:r>
              <a:rPr lang="fr-BE" sz="3200" dirty="0">
                <a:cs typeface="Times New Roman" pitchFamily="18" charset="0"/>
              </a:rPr>
              <a:t>être</a:t>
            </a:r>
            <a:r>
              <a:rPr lang="en-GB" sz="3200" dirty="0">
                <a:cs typeface="Times New Roman" pitchFamily="18" charset="0"/>
              </a:rPr>
              <a:t> </a:t>
            </a:r>
            <a:r>
              <a:rPr lang="fr-BE" sz="3200" dirty="0">
                <a:cs typeface="Times New Roman" pitchFamily="18" charset="0"/>
              </a:rPr>
              <a:t>candidat</a:t>
            </a:r>
            <a:r>
              <a:rPr lang="en-GB" sz="3200" dirty="0">
                <a:cs typeface="Times New Roman" pitchFamily="18" charset="0"/>
              </a:rPr>
              <a:t> à un </a:t>
            </a:r>
            <a:r>
              <a:rPr lang="fr-BE" sz="3200" dirty="0">
                <a:cs typeface="Times New Roman" pitchFamily="18" charset="0"/>
              </a:rPr>
              <a:t>programme d’activation/impulsion.</a:t>
            </a:r>
            <a:endParaRPr lang="en-GB" sz="3200" dirty="0">
              <a:latin typeface="+mj-lt"/>
              <a:cs typeface="Times New Roman" pitchFamily="18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fr-BE" sz="3200" dirty="0">
              <a:latin typeface="+mj-lt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853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CCDA13F-81D8-4485-8952-33A993044C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10461B-0711-4FE6-9E8D-58C92BFD20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B22DB7C-F8AD-4285-9E98-5444A18CA232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f1b85f46-8f47-4c7a-8346-9752567dac4a"/>
    <ds:schemaRef ds:uri="badce1e3-4228-484a-9cea-a1abab477a4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9690</TotalTime>
  <Words>2372</Words>
  <Application>Microsoft Office PowerPoint</Application>
  <PresentationFormat>Affichage à l'écran (4:3)</PresentationFormat>
  <Paragraphs>340</Paragraphs>
  <Slides>47</Slides>
  <Notes>46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Comic Sans MS</vt:lpstr>
      <vt:lpstr>Times New Roman</vt:lpstr>
      <vt:lpstr>Wingdings</vt:lpstr>
      <vt:lpstr>Thème Office</vt:lpstr>
      <vt:lpstr> Vacances jeunes   </vt:lpstr>
      <vt:lpstr>Tables des matières</vt:lpstr>
      <vt:lpstr>Tables des matières</vt:lpstr>
      <vt:lpstr>Tables des matières</vt:lpstr>
      <vt:lpstr>Vacances jeunes   </vt:lpstr>
      <vt:lpstr>Les vacances jeunes</vt:lpstr>
      <vt:lpstr>Lignes de force…</vt:lpstr>
      <vt:lpstr>Présentation PowerPoint</vt:lpstr>
      <vt:lpstr>3 conditions cumulatives</vt:lpstr>
      <vt:lpstr>1. Condition d’études</vt:lpstr>
      <vt:lpstr>2. Condition d’occupation</vt:lpstr>
      <vt:lpstr>2. Condition d’occupation</vt:lpstr>
      <vt:lpstr>2. Condition d’occupation</vt:lpstr>
      <vt:lpstr>3. Condition d’âge</vt:lpstr>
      <vt:lpstr>Présentation PowerPoint</vt:lpstr>
      <vt:lpstr>Conditions…</vt:lpstr>
      <vt:lpstr>     Conditions…</vt:lpstr>
      <vt:lpstr>     Conditions…</vt:lpstr>
      <vt:lpstr>Conditions…</vt:lpstr>
      <vt:lpstr>Demande &amp; paiement  des allocations vacances-jeunes</vt:lpstr>
      <vt:lpstr>Rappel…</vt:lpstr>
      <vt:lpstr>Présentation PowerPoint</vt:lpstr>
      <vt:lpstr>Calcul du crédit VJ &amp; du facteur J</vt:lpstr>
      <vt:lpstr>Calcul montant journalier </vt:lpstr>
      <vt:lpstr>Calcul du nombre d’allocations</vt:lpstr>
      <vt:lpstr>Nombre d’allocations</vt:lpstr>
      <vt:lpstr>Assimilation des VJ </vt:lpstr>
      <vt:lpstr>Exemple…</vt:lpstr>
      <vt:lpstr>    Exemple…</vt:lpstr>
      <vt:lpstr>Vacances Seniors </vt:lpstr>
      <vt:lpstr>Les Vacances Seniors</vt:lpstr>
      <vt:lpstr>Conditions d’octroi…</vt:lpstr>
      <vt:lpstr>Conditions d’octroi…</vt:lpstr>
      <vt:lpstr>Épuisement des VS</vt:lpstr>
      <vt:lpstr>Épuisement des VS</vt:lpstr>
      <vt:lpstr>Épuisement des VS – Exemple 1</vt:lpstr>
      <vt:lpstr>Épuisement des VS – Solution 1</vt:lpstr>
      <vt:lpstr>Épuisement des VS – Exemple 2</vt:lpstr>
      <vt:lpstr>Épuisement des VS – Solution 2</vt:lpstr>
      <vt:lpstr>Généralités</vt:lpstr>
      <vt:lpstr>Demande et paiement  des allocations vacances seniors </vt:lpstr>
      <vt:lpstr>Calcul du crédit VS &amp; du facteur J</vt:lpstr>
      <vt:lpstr>Nombre d’allocations</vt:lpstr>
      <vt:lpstr>Calcul montant journalier </vt:lpstr>
      <vt:lpstr>Assimilation des VS </vt:lpstr>
      <vt:lpstr>Assimilation des VS </vt:lpstr>
      <vt:lpstr>Non assimilation des jours de VS 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FCS-M05-Vacances jeunes &amp; seniors-Participants</dc:title>
  <dc:creator>u99lge</dc:creator>
  <cp:lastModifiedBy>Anja Sobkowiak</cp:lastModifiedBy>
  <cp:revision>1036</cp:revision>
  <cp:lastPrinted>2023-05-16T15:19:00Z</cp:lastPrinted>
  <dcterms:created xsi:type="dcterms:W3CDTF">2010-09-22T12:12:06Z</dcterms:created>
  <dcterms:modified xsi:type="dcterms:W3CDTF">2023-05-26T09:40:52Z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139;#FCS formation senior|7e1aeef4-3046-4f78-a284-cec5c2bef1bf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17;#Admissibilité|d1ac0b1f-1e4c-4aa8-9a97-5b01e61985ba;#22;#Indemnisabilité|b5f95997-28b8-41b1-bbb7-1a3d8a5995b4;#26;#Paiement|bbe82f01-f3c6-4a35-a642-de01f3e9fac7</vt:lpwstr>
  </property>
  <property fmtid="{D5CDD505-2E9C-101B-9397-08002B2CF9AE}" pid="7" name="Thème">
    <vt:lpwstr>93;#Vacances jeunes ＆ vacances seniors|29fcae0e-754c-4f5c-9c3f-a4030af2b55c</vt:lpwstr>
  </property>
  <property fmtid="{D5CDD505-2E9C-101B-9397-08002B2CF9AE}" pid="8" name="Order">
    <vt:r8>202900</vt:r8>
  </property>
  <property fmtid="{D5CDD505-2E9C-101B-9397-08002B2CF9AE}" pid="9" name="_dlc_DocIdItemGuid">
    <vt:lpwstr>fd929258-15cc-4fd7-9288-f8ac6f7271c6</vt:lpwstr>
  </property>
</Properties>
</file>