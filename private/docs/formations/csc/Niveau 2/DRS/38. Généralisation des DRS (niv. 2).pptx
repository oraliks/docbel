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78" r:id="rId5"/>
    <p:sldId id="411" r:id="rId6"/>
    <p:sldId id="564" r:id="rId7"/>
    <p:sldId id="614" r:id="rId8"/>
    <p:sldId id="615" r:id="rId9"/>
    <p:sldId id="471" r:id="rId10"/>
    <p:sldId id="618" r:id="rId11"/>
    <p:sldId id="621" r:id="rId12"/>
    <p:sldId id="622" r:id="rId13"/>
    <p:sldId id="619" r:id="rId14"/>
    <p:sldId id="623" r:id="rId15"/>
    <p:sldId id="624" r:id="rId16"/>
    <p:sldId id="616" r:id="rId17"/>
    <p:sldId id="617" r:id="rId18"/>
    <p:sldId id="458" r:id="rId19"/>
    <p:sldId id="568" r:id="rId20"/>
    <p:sldId id="620" r:id="rId21"/>
    <p:sldId id="609" r:id="rId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9933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8" autoAdjust="0"/>
    <p:restoredTop sz="92280" autoAdjust="0"/>
  </p:normalViewPr>
  <p:slideViewPr>
    <p:cSldViewPr>
      <p:cViewPr varScale="1">
        <p:scale>
          <a:sx n="98" d="100"/>
          <a:sy n="98" d="100"/>
        </p:scale>
        <p:origin x="37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06/12/2022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06/12/2022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242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636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067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2395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3040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2484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6587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927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79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F7BFF-B6B3-48E2-9391-5F67139290ED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0E33-632C-477B-AE10-5BB5E093E4EB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92DC-28CD-444E-90ED-50F802A1D27B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04FCA-1BE9-4E96-B7A0-3D905B435E20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8569-3027-4056-94C5-1E1286D3B9FB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1CD4F-431F-47DD-8170-32D81C707487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29-3440-47DB-9F68-D2FAA97FEAD0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02F-5D2C-4253-9F95-1446BF2FE2D9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CC10F-3344-4E2D-9946-E757DDBE8BCF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30DA-4453-4120-B0A6-3279F6F0A488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FD8A-E33D-4DD5-9F62-82138F6306A8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8E2F7-9424-40E1-B417-0C4E4FAE2E5D}" type="datetime1">
              <a:rPr lang="fr-FR" smtClean="0"/>
              <a:t>06/12/2022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BE" sz="6000" b="1" i="1" dirty="0"/>
              <a:t>Généralisation </a:t>
            </a:r>
            <a:br>
              <a:rPr lang="fr-BE" sz="6000" b="1" i="1" dirty="0"/>
            </a:br>
            <a:r>
              <a:rPr lang="fr-BE" sz="6000" b="1" i="1" dirty="0"/>
              <a:t>des DRS</a:t>
            </a:r>
            <a:br>
              <a:rPr lang="fr-BE" sz="6000" b="1" i="1" dirty="0"/>
            </a:br>
            <a:r>
              <a:rPr lang="fr-BE" sz="4900" b="1" i="1" dirty="0"/>
              <a:t>(Niveau 2)</a:t>
            </a:r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>
          <a:xfrm>
            <a:off x="0" y="4128021"/>
            <a:ext cx="9144000" cy="1700757"/>
          </a:xfrm>
        </p:spPr>
        <p:txBody>
          <a:bodyPr>
            <a:normAutofit/>
          </a:bodyPr>
          <a:lstStyle/>
          <a:p>
            <a:pPr lvl="0"/>
            <a:r>
              <a:rPr lang="fr-BE" sz="4800" b="1" i="1" dirty="0">
                <a:solidFill>
                  <a:srgbClr val="C0504D">
                    <a:lumMod val="75000"/>
                  </a:srgbClr>
                </a:solidFill>
              </a:rPr>
              <a:t>Art. 138 Bis </a:t>
            </a:r>
            <a:r>
              <a:rPr lang="fr-BE" sz="4800" b="1" i="1" dirty="0">
                <a:solidFill>
                  <a:prstClr val="black"/>
                </a:solidFill>
              </a:rPr>
              <a:t>de l’</a:t>
            </a:r>
            <a:r>
              <a:rPr lang="fr-BE" sz="4800" b="1" i="1" dirty="0">
                <a:solidFill>
                  <a:srgbClr val="C0504D">
                    <a:lumMod val="75000"/>
                  </a:srgbClr>
                </a:solidFill>
              </a:rPr>
              <a:t>AR</a:t>
            </a:r>
            <a:r>
              <a:rPr lang="fr-BE" sz="4800" b="1" i="1" dirty="0">
                <a:solidFill>
                  <a:prstClr val="black"/>
                </a:solidFill>
              </a:rPr>
              <a:t> du 25.11.1991</a:t>
            </a:r>
          </a:p>
          <a:p>
            <a:pPr lvl="0"/>
            <a:r>
              <a:rPr lang="fr-BE" sz="4000" b="1" i="1" dirty="0">
                <a:solidFill>
                  <a:prstClr val="black"/>
                </a:solidFill>
              </a:rPr>
              <a:t>Note </a:t>
            </a:r>
            <a:r>
              <a:rPr lang="fr-BE" sz="4000" b="1" i="1" dirty="0" err="1">
                <a:solidFill>
                  <a:prstClr val="black"/>
                </a:solidFill>
              </a:rPr>
              <a:t>Riodoc</a:t>
            </a:r>
            <a:r>
              <a:rPr lang="fr-BE" sz="4000" b="1" i="1" dirty="0">
                <a:solidFill>
                  <a:prstClr val="black"/>
                </a:solidFill>
              </a:rPr>
              <a:t> 153 137</a:t>
            </a:r>
          </a:p>
          <a:p>
            <a:endParaRPr lang="en-US" b="1" i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683568" y="6017333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FLT – Version 06.12.2022</a:t>
            </a:r>
          </a:p>
        </p:txBody>
      </p:sp>
    </p:spTree>
    <p:extLst>
      <p:ext uri="{BB962C8B-B14F-4D97-AF65-F5344CB8AC3E}">
        <p14:creationId xmlns:p14="http://schemas.microsoft.com/office/powerpoint/2010/main" val="196029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>
                <a:solidFill>
                  <a:schemeClr val="accent2">
                    <a:lumMod val="75000"/>
                  </a:schemeClr>
                </a:solidFill>
              </a:rPr>
              <a:t>Table des matières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600"/>
              </a:spcBef>
              <a:buNone/>
            </a:pPr>
            <a:endParaRPr lang="fr-BE" sz="2200" dirty="0">
              <a:solidFill>
                <a:prstClr val="black"/>
              </a:solidFill>
            </a:endParaRPr>
          </a:p>
          <a:p>
            <a:pPr marL="0" lv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1.  </a:t>
            </a:r>
            <a:r>
              <a:rPr lang="fr-BE" sz="2400" dirty="0">
                <a:solidFill>
                  <a:prstClr val="black"/>
                </a:solidFill>
              </a:rPr>
              <a:t>Contrôle Hz &amp; DRS de paiement</a:t>
            </a:r>
            <a:r>
              <a:rPr lang="fr-BE" sz="2200" dirty="0">
                <a:solidFill>
                  <a:prstClr val="black"/>
                </a:solidFill>
              </a:rPr>
              <a:t>				</a:t>
            </a:r>
            <a:r>
              <a:rPr lang="fr-BE" sz="1600" dirty="0" err="1">
                <a:solidFill>
                  <a:prstClr val="black"/>
                </a:solidFill>
              </a:rPr>
              <a:t>pg</a:t>
            </a:r>
            <a:r>
              <a:rPr lang="fr-BE" sz="1600" dirty="0">
                <a:solidFill>
                  <a:prstClr val="black"/>
                </a:solidFill>
              </a:rPr>
              <a:t>. 3</a:t>
            </a:r>
          </a:p>
          <a:p>
            <a:pPr marL="0" indent="0">
              <a:spcBef>
                <a:spcPts val="600"/>
              </a:spcBef>
              <a:buNone/>
            </a:pPr>
            <a:endParaRPr lang="fr-BE" sz="800" dirty="0">
              <a:solidFill>
                <a:prstClr val="black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2.  </a:t>
            </a:r>
            <a:r>
              <a:rPr lang="fr-BE" sz="2400" dirty="0">
                <a:solidFill>
                  <a:prstClr val="black"/>
                </a:solidFill>
              </a:rPr>
              <a:t>Valeur du facteur Q						</a:t>
            </a:r>
            <a:r>
              <a:rPr lang="fr-BE" sz="1600" dirty="0">
                <a:solidFill>
                  <a:prstClr val="black"/>
                </a:solidFill>
              </a:rPr>
              <a:t>pg. 6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	2.1. Q moyen						</a:t>
            </a:r>
            <a:r>
              <a:rPr lang="fr-BE" sz="1600" dirty="0">
                <a:solidFill>
                  <a:prstClr val="black"/>
                </a:solidFill>
              </a:rPr>
              <a:t>pg. 7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	2.2. Occupation temporaire à temps plein		</a:t>
            </a:r>
            <a:r>
              <a:rPr lang="fr-BE" sz="1600" dirty="0">
                <a:solidFill>
                  <a:prstClr val="black"/>
                </a:solidFill>
              </a:rPr>
              <a:t>pg. 10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3.  Tâche « Q changé: DA nécessaire »			</a:t>
            </a:r>
            <a:r>
              <a:rPr lang="fr-BE" sz="1600" dirty="0" err="1">
                <a:solidFill>
                  <a:prstClr val="black"/>
                </a:solidFill>
              </a:rPr>
              <a:t>pg</a:t>
            </a:r>
            <a:r>
              <a:rPr lang="fr-BE" sz="1600" dirty="0">
                <a:solidFill>
                  <a:prstClr val="black"/>
                </a:solidFill>
              </a:rPr>
              <a:t>. 13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4.  Code schéma de travail					</a:t>
            </a:r>
            <a:r>
              <a:rPr lang="fr-BE" sz="1600" dirty="0" err="1">
                <a:solidFill>
                  <a:prstClr val="black"/>
                </a:solidFill>
              </a:rPr>
              <a:t>pg</a:t>
            </a:r>
            <a:r>
              <a:rPr lang="fr-BE" sz="1600" dirty="0">
                <a:solidFill>
                  <a:prstClr val="black"/>
                </a:solidFill>
              </a:rPr>
              <a:t>. 14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5.   Méthode de travail						</a:t>
            </a:r>
            <a:r>
              <a:rPr lang="fr-BE" sz="1600" dirty="0" err="1">
                <a:solidFill>
                  <a:prstClr val="black"/>
                </a:solidFill>
              </a:rPr>
              <a:t>pg</a:t>
            </a:r>
            <a:r>
              <a:rPr lang="fr-BE" sz="1600" dirty="0">
                <a:solidFill>
                  <a:prstClr val="black"/>
                </a:solidFill>
              </a:rPr>
              <a:t>. 15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60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3F934EA-5929-433F-BEA6-8A8ACAA8FF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-25778"/>
          <a:ext cx="9144000" cy="688377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6191388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19867292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3869063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76923517"/>
                    </a:ext>
                  </a:extLst>
                </a:gridCol>
              </a:tblGrid>
              <a:tr h="1060054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505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02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505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BE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DRS wech 505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05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57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70501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BCE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323885"/>
                  </a:ext>
                </a:extLst>
              </a:tr>
              <a:tr h="742661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chemeClr val="tx1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 ≠ S07</a:t>
                      </a:r>
                      <a:endParaRPr lang="fr-BE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  <a:p>
                      <a:pPr algn="ctr"/>
                      <a:r>
                        <a:rPr lang="fr-BE" sz="1400" b="1" dirty="0"/>
                        <a:t>Sauf si « Q = S 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8199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S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74357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Cat. empl.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1633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Code trav.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51391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C. P.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22173"/>
                  </a:ext>
                </a:extLst>
              </a:tr>
              <a:tr h="84351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début </a:t>
                      </a:r>
                      <a:r>
                        <a:rPr lang="fr-BE" b="1" dirty="0" err="1"/>
                        <a:t>occup</a:t>
                      </a:r>
                      <a:r>
                        <a:rPr lang="fr-BE" b="1" dirty="0"/>
                        <a:t>.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CT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CT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92603"/>
                  </a:ext>
                </a:extLst>
              </a:tr>
              <a:tr h="84351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fin </a:t>
                      </a:r>
                      <a:r>
                        <a:rPr lang="fr-BE" b="1" dirty="0" err="1"/>
                        <a:t>occup</a:t>
                      </a:r>
                      <a:r>
                        <a:rPr lang="fr-BE" b="1" dirty="0"/>
                        <a:t>.</a:t>
                      </a:r>
                    </a:p>
                    <a:p>
                      <a:pPr algn="ctr"/>
                      <a:r>
                        <a:rPr lang="fr-BE" b="1" dirty="0"/>
                        <a:t>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CT 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Sauf si CT 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273158"/>
                  </a:ext>
                </a:extLst>
              </a:tr>
            </a:tbl>
          </a:graphicData>
        </a:graphic>
      </p:graphicFrame>
      <p:sp>
        <p:nvSpPr>
          <p:cNvPr id="10" name="Signe de multiplication 9">
            <a:extLst>
              <a:ext uri="{FF2B5EF4-FFF2-40B4-BE49-F238E27FC236}">
                <a16:creationId xmlns:a16="http://schemas.microsoft.com/office/drawing/2014/main" id="{643CD86F-BD22-4BD7-BCE1-DAA7EFC26CAC}"/>
              </a:ext>
            </a:extLst>
          </p:cNvPr>
          <p:cNvSpPr/>
          <p:nvPr/>
        </p:nvSpPr>
        <p:spPr>
          <a:xfrm>
            <a:off x="5563304" y="4630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0CDCB05A-BA38-42F5-96F6-31F611BCB10D}"/>
              </a:ext>
            </a:extLst>
          </p:cNvPr>
          <p:cNvSpPr/>
          <p:nvPr/>
        </p:nvSpPr>
        <p:spPr>
          <a:xfrm>
            <a:off x="3276150" y="4630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igne de multiplication 11">
            <a:extLst>
              <a:ext uri="{FF2B5EF4-FFF2-40B4-BE49-F238E27FC236}">
                <a16:creationId xmlns:a16="http://schemas.microsoft.com/office/drawing/2014/main" id="{5CF57641-E73F-4865-BB9D-4E5256D01467}"/>
              </a:ext>
            </a:extLst>
          </p:cNvPr>
          <p:cNvSpPr/>
          <p:nvPr/>
        </p:nvSpPr>
        <p:spPr>
          <a:xfrm>
            <a:off x="3276150" y="325163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27AB36CC-7E84-4A11-8043-113DBDFEA4F2}"/>
              </a:ext>
            </a:extLst>
          </p:cNvPr>
          <p:cNvSpPr/>
          <p:nvPr/>
        </p:nvSpPr>
        <p:spPr>
          <a:xfrm>
            <a:off x="3280019" y="395500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313F2182-2B93-455A-A4EF-C168EA6DD386}"/>
              </a:ext>
            </a:extLst>
          </p:cNvPr>
          <p:cNvSpPr/>
          <p:nvPr/>
        </p:nvSpPr>
        <p:spPr>
          <a:xfrm>
            <a:off x="5563303" y="325163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793FD8CF-3CC2-4554-AD3A-15B0F9269DC7}"/>
              </a:ext>
            </a:extLst>
          </p:cNvPr>
          <p:cNvSpPr/>
          <p:nvPr/>
        </p:nvSpPr>
        <p:spPr>
          <a:xfrm>
            <a:off x="5563303" y="395500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CE343EF3-91B3-4D07-B2D6-F1E33BC9F377}"/>
              </a:ext>
            </a:extLst>
          </p:cNvPr>
          <p:cNvSpPr/>
          <p:nvPr/>
        </p:nvSpPr>
        <p:spPr>
          <a:xfrm>
            <a:off x="7858968" y="4630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igne de multiplication 16">
            <a:extLst>
              <a:ext uri="{FF2B5EF4-FFF2-40B4-BE49-F238E27FC236}">
                <a16:creationId xmlns:a16="http://schemas.microsoft.com/office/drawing/2014/main" id="{7B4800B9-9661-4B12-ACBD-77C3D97D05B8}"/>
              </a:ext>
            </a:extLst>
          </p:cNvPr>
          <p:cNvSpPr/>
          <p:nvPr/>
        </p:nvSpPr>
        <p:spPr>
          <a:xfrm>
            <a:off x="7849687" y="325163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igne de multiplication 17">
            <a:extLst>
              <a:ext uri="{FF2B5EF4-FFF2-40B4-BE49-F238E27FC236}">
                <a16:creationId xmlns:a16="http://schemas.microsoft.com/office/drawing/2014/main" id="{28496144-459F-4C3E-B0A4-8002446BB519}"/>
              </a:ext>
            </a:extLst>
          </p:cNvPr>
          <p:cNvSpPr/>
          <p:nvPr/>
        </p:nvSpPr>
        <p:spPr>
          <a:xfrm>
            <a:off x="7849686" y="395500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igne de multiplication 19">
            <a:extLst>
              <a:ext uri="{FF2B5EF4-FFF2-40B4-BE49-F238E27FC236}">
                <a16:creationId xmlns:a16="http://schemas.microsoft.com/office/drawing/2014/main" id="{246C2D86-4684-49D0-A722-AEE883738436}"/>
              </a:ext>
            </a:extLst>
          </p:cNvPr>
          <p:cNvSpPr/>
          <p:nvPr/>
        </p:nvSpPr>
        <p:spPr>
          <a:xfrm>
            <a:off x="5563304" y="1757413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2E787A0C-066A-4EFA-B287-FD1F7638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igne de multiplication 21">
            <a:extLst>
              <a:ext uri="{FF2B5EF4-FFF2-40B4-BE49-F238E27FC236}">
                <a16:creationId xmlns:a16="http://schemas.microsoft.com/office/drawing/2014/main" id="{0B9D345C-2FC7-4F17-902E-6273CEB3F037}"/>
              </a:ext>
            </a:extLst>
          </p:cNvPr>
          <p:cNvSpPr/>
          <p:nvPr/>
        </p:nvSpPr>
        <p:spPr>
          <a:xfrm>
            <a:off x="3275380" y="5278762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Signe de multiplication 22">
            <a:extLst>
              <a:ext uri="{FF2B5EF4-FFF2-40B4-BE49-F238E27FC236}">
                <a16:creationId xmlns:a16="http://schemas.microsoft.com/office/drawing/2014/main" id="{DE05DC84-9EDE-4343-914B-EF1D07BD0AA6}"/>
              </a:ext>
            </a:extLst>
          </p:cNvPr>
          <p:cNvSpPr/>
          <p:nvPr/>
        </p:nvSpPr>
        <p:spPr>
          <a:xfrm>
            <a:off x="3274613" y="6128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Signe de multiplication 23">
            <a:extLst>
              <a:ext uri="{FF2B5EF4-FFF2-40B4-BE49-F238E27FC236}">
                <a16:creationId xmlns:a16="http://schemas.microsoft.com/office/drawing/2014/main" id="{0A3D4220-B687-4955-B207-5CCB70ACE628}"/>
              </a:ext>
            </a:extLst>
          </p:cNvPr>
          <p:cNvSpPr/>
          <p:nvPr/>
        </p:nvSpPr>
        <p:spPr>
          <a:xfrm>
            <a:off x="5563303" y="5278762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igne de multiplication 24">
            <a:extLst>
              <a:ext uri="{FF2B5EF4-FFF2-40B4-BE49-F238E27FC236}">
                <a16:creationId xmlns:a16="http://schemas.microsoft.com/office/drawing/2014/main" id="{45AE06AF-BD75-4645-B518-B7A11B22868B}"/>
              </a:ext>
            </a:extLst>
          </p:cNvPr>
          <p:cNvSpPr/>
          <p:nvPr/>
        </p:nvSpPr>
        <p:spPr>
          <a:xfrm>
            <a:off x="5563303" y="6128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68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3F934EA-5929-433F-BEA6-8A8ACAA8FF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44000" cy="685799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2619138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9867292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76923517"/>
                    </a:ext>
                  </a:extLst>
                </a:gridCol>
              </a:tblGrid>
              <a:tr h="1065971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506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02 (Q &lt; S)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04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06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BE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DRS wech 506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05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57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70501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BCE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323885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strike="sngStrike" dirty="0">
                          <a:solidFill>
                            <a:schemeClr val="tx1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 ≠ S07</a:t>
                      </a:r>
                      <a:endParaRPr lang="fr-BE" b="1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8199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S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74357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Cat. empl.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1633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Code trav.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51391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C. P.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22173"/>
                  </a:ext>
                </a:extLst>
              </a:tr>
              <a:tr h="84822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début </a:t>
                      </a:r>
                      <a:r>
                        <a:rPr lang="fr-BE" b="1" dirty="0" err="1"/>
                        <a:t>occup</a:t>
                      </a:r>
                      <a:r>
                        <a:rPr lang="fr-BE" b="1" dirty="0"/>
                        <a:t>.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-----</a:t>
                      </a:r>
                      <a:endParaRPr lang="fr-BE" sz="2000" b="1" i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92603"/>
                  </a:ext>
                </a:extLst>
              </a:tr>
              <a:tr h="84822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fin </a:t>
                      </a:r>
                      <a:r>
                        <a:rPr lang="fr-BE" b="1" dirty="0" err="1"/>
                        <a:t>occup</a:t>
                      </a:r>
                      <a:r>
                        <a:rPr lang="fr-BE" b="1" dirty="0"/>
                        <a:t>.</a:t>
                      </a:r>
                    </a:p>
                    <a:p>
                      <a:pPr algn="ctr"/>
                      <a:r>
                        <a:rPr lang="fr-BE" b="1" dirty="0"/>
                        <a:t>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-----</a:t>
                      </a:r>
                      <a:endParaRPr lang="fr-BE" sz="2000" b="1" i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273158"/>
                  </a:ext>
                </a:extLst>
              </a:tr>
            </a:tbl>
          </a:graphicData>
        </a:graphic>
      </p:graphicFrame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0CDCB05A-BA38-42F5-96F6-31F611BCB10D}"/>
              </a:ext>
            </a:extLst>
          </p:cNvPr>
          <p:cNvSpPr/>
          <p:nvPr/>
        </p:nvSpPr>
        <p:spPr>
          <a:xfrm>
            <a:off x="4427064" y="3252282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igne de multiplication 11">
            <a:extLst>
              <a:ext uri="{FF2B5EF4-FFF2-40B4-BE49-F238E27FC236}">
                <a16:creationId xmlns:a16="http://schemas.microsoft.com/office/drawing/2014/main" id="{5CF57641-E73F-4865-BB9D-4E5256D01467}"/>
              </a:ext>
            </a:extLst>
          </p:cNvPr>
          <p:cNvSpPr/>
          <p:nvPr/>
        </p:nvSpPr>
        <p:spPr>
          <a:xfrm>
            <a:off x="4427067" y="3942721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27AB36CC-7E84-4A11-8043-113DBDFEA4F2}"/>
              </a:ext>
            </a:extLst>
          </p:cNvPr>
          <p:cNvSpPr/>
          <p:nvPr/>
        </p:nvSpPr>
        <p:spPr>
          <a:xfrm>
            <a:off x="4427069" y="460841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CE343EF3-91B3-4D07-B2D6-F1E33BC9F377}"/>
              </a:ext>
            </a:extLst>
          </p:cNvPr>
          <p:cNvSpPr/>
          <p:nvPr/>
        </p:nvSpPr>
        <p:spPr>
          <a:xfrm>
            <a:off x="7480487" y="3252282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igne de multiplication 16">
            <a:extLst>
              <a:ext uri="{FF2B5EF4-FFF2-40B4-BE49-F238E27FC236}">
                <a16:creationId xmlns:a16="http://schemas.microsoft.com/office/drawing/2014/main" id="{7B4800B9-9661-4B12-ACBD-77C3D97D05B8}"/>
              </a:ext>
            </a:extLst>
          </p:cNvPr>
          <p:cNvSpPr/>
          <p:nvPr/>
        </p:nvSpPr>
        <p:spPr>
          <a:xfrm>
            <a:off x="7475071" y="3942721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igne de multiplication 17">
            <a:extLst>
              <a:ext uri="{FF2B5EF4-FFF2-40B4-BE49-F238E27FC236}">
                <a16:creationId xmlns:a16="http://schemas.microsoft.com/office/drawing/2014/main" id="{28496144-459F-4C3E-B0A4-8002446BB519}"/>
              </a:ext>
            </a:extLst>
          </p:cNvPr>
          <p:cNvSpPr/>
          <p:nvPr/>
        </p:nvSpPr>
        <p:spPr>
          <a:xfrm>
            <a:off x="7475071" y="460841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B8A7DB9-ECBA-44A4-8F7C-4211C630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69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3F934EA-5929-433F-BEA6-8A8ACAA8FF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1"/>
          <a:ext cx="9144000" cy="68635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6191388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19867292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3869063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76923517"/>
                    </a:ext>
                  </a:extLst>
                </a:gridCol>
              </a:tblGrid>
              <a:tr h="1042696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10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11 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ou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 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12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BE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70501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BCE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323885"/>
                  </a:ext>
                </a:extLst>
              </a:tr>
              <a:tr h="81743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Q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  <a:p>
                      <a:pPr algn="ctr"/>
                      <a:r>
                        <a:rPr lang="fr-BE" sz="1400" b="1" dirty="0"/>
                        <a:t>Sauf si Q/S &lt; 1 (12)</a:t>
                      </a:r>
                    </a:p>
                    <a:p>
                      <a:pPr algn="ctr"/>
                      <a:r>
                        <a:rPr lang="fr-BE" sz="1400" b="1" dirty="0"/>
                        <a:t>Sauf si Q/S &lt; 1/2 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  <a:p>
                      <a:pPr algn="ctr"/>
                      <a:r>
                        <a:rPr lang="fr-BE" sz="1400" b="1" dirty="0">
                          <a:solidFill>
                            <a:srgbClr val="C00000"/>
                          </a:solidFill>
                        </a:rPr>
                        <a:t>Pas de contrôle du facteur Q</a:t>
                      </a:r>
                    </a:p>
                    <a:p>
                      <a:pPr algn="ctr"/>
                      <a:r>
                        <a:rPr lang="fr-BE" sz="1400" b="1" dirty="0">
                          <a:solidFill>
                            <a:srgbClr val="C00000"/>
                          </a:solidFill>
                        </a:rPr>
                        <a:t>si « Q moyen 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8199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S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74357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Cat. empl.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1633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Code trav.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51391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C. P.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22173"/>
                  </a:ext>
                </a:extLst>
              </a:tr>
              <a:tr h="82970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début </a:t>
                      </a:r>
                      <a:r>
                        <a:rPr lang="fr-BE" b="1" dirty="0" err="1"/>
                        <a:t>occup</a:t>
                      </a:r>
                      <a:r>
                        <a:rPr lang="fr-BE" b="1" dirty="0"/>
                        <a:t>.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92603"/>
                  </a:ext>
                </a:extLst>
              </a:tr>
              <a:tr h="82970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fin </a:t>
                      </a:r>
                      <a:r>
                        <a:rPr lang="fr-BE" b="1" dirty="0" err="1"/>
                        <a:t>occup</a:t>
                      </a:r>
                      <a:r>
                        <a:rPr lang="fr-BE" b="1" dirty="0"/>
                        <a:t>.</a:t>
                      </a:r>
                    </a:p>
                    <a:p>
                      <a:pPr algn="ctr"/>
                      <a:r>
                        <a:rPr lang="fr-BE" b="1" dirty="0"/>
                        <a:t>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réengagement même BCE dans les 12 mois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réengagement même BCE dans les 12 mois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273158"/>
                  </a:ext>
                </a:extLst>
              </a:tr>
            </a:tbl>
          </a:graphicData>
        </a:graphic>
      </p:graphicFrame>
      <p:sp>
        <p:nvSpPr>
          <p:cNvPr id="10" name="Signe de multiplication 9">
            <a:extLst>
              <a:ext uri="{FF2B5EF4-FFF2-40B4-BE49-F238E27FC236}">
                <a16:creationId xmlns:a16="http://schemas.microsoft.com/office/drawing/2014/main" id="{643CD86F-BD22-4BD7-BCE1-DAA7EFC26CAC}"/>
              </a:ext>
            </a:extLst>
          </p:cNvPr>
          <p:cNvSpPr/>
          <p:nvPr/>
        </p:nvSpPr>
        <p:spPr>
          <a:xfrm>
            <a:off x="5555193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0CDCB05A-BA38-42F5-96F6-31F611BCB10D}"/>
              </a:ext>
            </a:extLst>
          </p:cNvPr>
          <p:cNvSpPr/>
          <p:nvPr/>
        </p:nvSpPr>
        <p:spPr>
          <a:xfrm>
            <a:off x="3282283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igne de multiplication 11">
            <a:extLst>
              <a:ext uri="{FF2B5EF4-FFF2-40B4-BE49-F238E27FC236}">
                <a16:creationId xmlns:a16="http://schemas.microsoft.com/office/drawing/2014/main" id="{5CF57641-E73F-4865-BB9D-4E5256D01467}"/>
              </a:ext>
            </a:extLst>
          </p:cNvPr>
          <p:cNvSpPr/>
          <p:nvPr/>
        </p:nvSpPr>
        <p:spPr>
          <a:xfrm>
            <a:off x="3282283" y="3970820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27AB36CC-7E84-4A11-8043-113DBDFEA4F2}"/>
              </a:ext>
            </a:extLst>
          </p:cNvPr>
          <p:cNvSpPr/>
          <p:nvPr/>
        </p:nvSpPr>
        <p:spPr>
          <a:xfrm>
            <a:off x="3272237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313F2182-2B93-455A-A4EF-C168EA6DD386}"/>
              </a:ext>
            </a:extLst>
          </p:cNvPr>
          <p:cNvSpPr/>
          <p:nvPr/>
        </p:nvSpPr>
        <p:spPr>
          <a:xfrm>
            <a:off x="5555193" y="397518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793FD8CF-3CC2-4554-AD3A-15B0F9269DC7}"/>
              </a:ext>
            </a:extLst>
          </p:cNvPr>
          <p:cNvSpPr/>
          <p:nvPr/>
        </p:nvSpPr>
        <p:spPr>
          <a:xfrm>
            <a:off x="5555193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CE343EF3-91B3-4D07-B2D6-F1E33BC9F377}"/>
              </a:ext>
            </a:extLst>
          </p:cNvPr>
          <p:cNvSpPr/>
          <p:nvPr/>
        </p:nvSpPr>
        <p:spPr>
          <a:xfrm>
            <a:off x="7838934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igne de multiplication 16">
            <a:extLst>
              <a:ext uri="{FF2B5EF4-FFF2-40B4-BE49-F238E27FC236}">
                <a16:creationId xmlns:a16="http://schemas.microsoft.com/office/drawing/2014/main" id="{7B4800B9-9661-4B12-ACBD-77C3D97D05B8}"/>
              </a:ext>
            </a:extLst>
          </p:cNvPr>
          <p:cNvSpPr/>
          <p:nvPr/>
        </p:nvSpPr>
        <p:spPr>
          <a:xfrm>
            <a:off x="7838934" y="3970820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igne de multiplication 17">
            <a:extLst>
              <a:ext uri="{FF2B5EF4-FFF2-40B4-BE49-F238E27FC236}">
                <a16:creationId xmlns:a16="http://schemas.microsoft.com/office/drawing/2014/main" id="{28496144-459F-4C3E-B0A4-8002446BB519}"/>
              </a:ext>
            </a:extLst>
          </p:cNvPr>
          <p:cNvSpPr/>
          <p:nvPr/>
        </p:nvSpPr>
        <p:spPr>
          <a:xfrm>
            <a:off x="7834356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igne de multiplication 19">
            <a:extLst>
              <a:ext uri="{FF2B5EF4-FFF2-40B4-BE49-F238E27FC236}">
                <a16:creationId xmlns:a16="http://schemas.microsoft.com/office/drawing/2014/main" id="{246C2D86-4684-49D0-A722-AEE883738436}"/>
              </a:ext>
            </a:extLst>
          </p:cNvPr>
          <p:cNvSpPr/>
          <p:nvPr/>
        </p:nvSpPr>
        <p:spPr>
          <a:xfrm>
            <a:off x="5555193" y="1721651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igne de multiplication 20">
            <a:extLst>
              <a:ext uri="{FF2B5EF4-FFF2-40B4-BE49-F238E27FC236}">
                <a16:creationId xmlns:a16="http://schemas.microsoft.com/office/drawing/2014/main" id="{200CF1BE-6EC1-4DC0-B16B-9768222893A2}"/>
              </a:ext>
            </a:extLst>
          </p:cNvPr>
          <p:cNvSpPr/>
          <p:nvPr/>
        </p:nvSpPr>
        <p:spPr>
          <a:xfrm>
            <a:off x="3272237" y="264519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EEC0FF4-9724-4C14-8726-4EE9CBF0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igne de multiplication 18">
            <a:extLst>
              <a:ext uri="{FF2B5EF4-FFF2-40B4-BE49-F238E27FC236}">
                <a16:creationId xmlns:a16="http://schemas.microsoft.com/office/drawing/2014/main" id="{6843D07B-07C2-4E51-938C-BC9189479F83}"/>
              </a:ext>
            </a:extLst>
          </p:cNvPr>
          <p:cNvSpPr/>
          <p:nvPr/>
        </p:nvSpPr>
        <p:spPr>
          <a:xfrm>
            <a:off x="5555192" y="264519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74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 Valeurs du facteur Q dans la DRS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5419725" algn="l"/>
              </a:tabLst>
            </a:pPr>
            <a:r>
              <a:rPr lang="fr-BE" b="1" dirty="0">
                <a:ea typeface="Times New Roman" panose="02020603050405020304" pitchFamily="18" charset="0"/>
                <a:cs typeface="Arial" panose="020B0604020202020204" pitchFamily="34" charset="0"/>
              </a:rPr>
              <a:t>Valeur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Même facteur Q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pour tous le mois.</a:t>
            </a:r>
          </a:p>
          <a:p>
            <a:pPr marL="0" lvl="0" indent="0" algn="just">
              <a:spcBef>
                <a:spcPts val="600"/>
              </a:spcBef>
              <a:buNone/>
              <a:tabLst>
                <a:tab pos="5419725" algn="l"/>
              </a:tabLst>
            </a:pPr>
            <a:endParaRPr lang="fr-BE" sz="1000" b="1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5419725" algn="l"/>
              </a:tabLst>
            </a:pPr>
            <a:r>
              <a:rPr lang="fr-BE" b="1" dirty="0">
                <a:ea typeface="Times New Roman" panose="02020603050405020304" pitchFamily="18" charset="0"/>
                <a:cs typeface="Arial" panose="020B0604020202020204" pitchFamily="34" charset="0"/>
              </a:rPr>
              <a:t>Valeur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= Facteur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Q moyen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lvl="0" indent="0" algn="just">
              <a:spcBef>
                <a:spcPts val="600"/>
              </a:spcBef>
              <a:buNone/>
              <a:tabLst>
                <a:tab pos="5419725" algn="l"/>
              </a:tabLst>
            </a:pPr>
            <a:endParaRPr lang="fr-BE" sz="1000" dirty="0">
              <a:solidFill>
                <a:srgbClr val="C0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5419725" algn="l"/>
              </a:tabLst>
            </a:pPr>
            <a:r>
              <a:rPr lang="fr-BE" b="1" dirty="0">
                <a:ea typeface="Times New Roman" panose="02020603050405020304" pitchFamily="18" charset="0"/>
                <a:cs typeface="Arial" panose="020B0604020202020204" pitchFamily="34" charset="0"/>
              </a:rPr>
              <a:t>Valeur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occupation temporaire à temps plein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0" lvl="0" indent="0" algn="just">
              <a:spcBef>
                <a:spcPts val="600"/>
              </a:spcBef>
              <a:buNone/>
              <a:tabLst>
                <a:tab pos="5419725" algn="l"/>
              </a:tabLst>
            </a:pPr>
            <a:endParaRPr lang="fr-BE" sz="1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ea typeface="Times New Roman" panose="02020603050405020304" pitchFamily="18" charset="0"/>
              </a:rPr>
              <a:t>Valeur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5</a:t>
            </a:r>
            <a:r>
              <a:rPr lang="fr-BE" dirty="0">
                <a:ea typeface="Times New Roman" panose="02020603050405020304" pitchFamily="18" charset="0"/>
              </a:rPr>
              <a:t> = </a:t>
            </a:r>
            <a:r>
              <a:rPr lang="fr-BE" b="1" dirty="0">
                <a:solidFill>
                  <a:srgbClr val="000000"/>
                </a:solidFill>
                <a:ea typeface="Times New Roman" panose="02020603050405020304" pitchFamily="18" charset="0"/>
              </a:rPr>
              <a:t>même facteur Q</a:t>
            </a:r>
            <a:r>
              <a:rPr lang="fr-BE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fr-BE" dirty="0">
                <a:ea typeface="Times New Roman" panose="02020603050405020304" pitchFamily="18" charset="0"/>
              </a:rPr>
              <a:t>pour tous le mois </a:t>
            </a:r>
            <a:r>
              <a:rPr lang="fr-BE" b="1" u="sng" dirty="0">
                <a:ea typeface="Times New Roman" panose="02020603050405020304" pitchFamily="18" charset="0"/>
              </a:rPr>
              <a:t>mais</a:t>
            </a:r>
            <a:r>
              <a:rPr lang="fr-BE" dirty="0">
                <a:ea typeface="Times New Roman" panose="02020603050405020304" pitchFamily="18" charset="0"/>
              </a:rPr>
              <a:t> le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régime de travail </a:t>
            </a:r>
            <a:r>
              <a:rPr lang="fr-BE" dirty="0">
                <a:ea typeface="Times New Roman" panose="02020603050405020304" pitchFamily="18" charset="0"/>
              </a:rPr>
              <a:t>(facteur R) a été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modifié</a:t>
            </a:r>
            <a:r>
              <a:rPr lang="fr-BE" dirty="0">
                <a:ea typeface="Times New Roman" panose="02020603050405020304" pitchFamily="18" charset="0"/>
              </a:rPr>
              <a:t> en cours de mois</a:t>
            </a:r>
            <a:endParaRPr lang="fr-BE" dirty="0"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358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86AEE-09DD-4408-81A6-16BB87370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2.1. Utilisation du Q moyen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6F48E6-1C62-4361-B31C-9FDAFB9DF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0"/>
              </a:spcAft>
              <a:tabLst>
                <a:tab pos="5419725" algn="l"/>
              </a:tabLst>
            </a:pPr>
            <a:r>
              <a:rPr lang="fr-BE" dirty="0">
                <a:latin typeface="+mj-lt"/>
                <a:ea typeface="Times New Roman" panose="02020603050405020304" pitchFamily="18" charset="0"/>
              </a:rPr>
              <a:t>Le facteur </a:t>
            </a:r>
            <a:r>
              <a:rPr lang="fr-BE" b="1" dirty="0">
                <a:latin typeface="+mj-lt"/>
                <a:ea typeface="Times New Roman" panose="02020603050405020304" pitchFamily="18" charset="0"/>
              </a:rPr>
              <a:t>Q moyen permet</a:t>
            </a:r>
            <a:r>
              <a:rPr lang="fr-BE" dirty="0">
                <a:latin typeface="+mj-lt"/>
                <a:ea typeface="Times New Roman" panose="02020603050405020304" pitchFamily="18" charset="0"/>
              </a:rPr>
              <a:t> à l’employeur (ou son secrétariat social) de </a:t>
            </a:r>
            <a:r>
              <a:rPr lang="fr-BE" b="1" dirty="0">
                <a:latin typeface="+mj-lt"/>
                <a:ea typeface="Times New Roman" panose="02020603050405020304" pitchFamily="18" charset="0"/>
              </a:rPr>
              <a:t>regrouper</a:t>
            </a:r>
            <a:r>
              <a:rPr lang="fr-BE" dirty="0">
                <a:latin typeface="+mj-lt"/>
                <a:ea typeface="Times New Roman" panose="02020603050405020304" pitchFamily="18" charset="0"/>
              </a:rPr>
              <a:t> dans une même déclaration électronique des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</a:rPr>
              <a:t>occupations à temps partiel successives ininterrompues auprès du même employeur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</a:rPr>
              <a:t> </a:t>
            </a:r>
            <a:r>
              <a:rPr lang="fr-BE" dirty="0">
                <a:latin typeface="+mj-lt"/>
                <a:ea typeface="Times New Roman" panose="02020603050405020304" pitchFamily="18" charset="0"/>
              </a:rPr>
              <a:t>avec des facteurs Q différents.</a:t>
            </a:r>
            <a:endParaRPr lang="fr-BE" sz="4400" dirty="0">
              <a:latin typeface="+mj-lt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  <a:tabLst>
                <a:tab pos="5419725" algn="l"/>
              </a:tabLst>
            </a:pPr>
            <a:r>
              <a:rPr lang="fr-BE" dirty="0">
                <a:latin typeface="+mj-lt"/>
                <a:ea typeface="Times New Roman" panose="02020603050405020304" pitchFamily="18" charset="0"/>
              </a:rPr>
              <a:t>Regroupement possible si le BCE, la catégorie employeur, le code travailleur, la commission paritaire et le facteur S </a:t>
            </a:r>
            <a:r>
              <a:rPr lang="fr-BE" b="1" dirty="0">
                <a:latin typeface="+mj-lt"/>
                <a:ea typeface="Times New Roman" panose="02020603050405020304" pitchFamily="18" charset="0"/>
              </a:rPr>
              <a:t>sont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</a:rPr>
              <a:t>identiques</a:t>
            </a:r>
            <a:r>
              <a:rPr lang="fr-BE" dirty="0">
                <a:latin typeface="+mj-lt"/>
                <a:ea typeface="Times New Roman" panose="02020603050405020304" pitchFamily="18" charset="0"/>
              </a:rPr>
              <a:t>.</a:t>
            </a:r>
            <a:endParaRPr lang="fr-BE" sz="4400" dirty="0">
              <a:latin typeface="+mj-lt"/>
              <a:ea typeface="Times New Roman" panose="02020603050405020304" pitchFamily="18" charset="0"/>
            </a:endParaRP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8D406A-37F0-4B04-A6BF-074B2087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793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2.1. Utilisation du Q moyen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Occupations successives ininterrompues chez le même employeur </a:t>
            </a: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Utilisation du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Q moyen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  <a:endParaRPr lang="fr-BE" sz="2800" b="1" dirty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611560" y="4221088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/>
          <p:nvPr/>
        </p:nvCxnSpPr>
        <p:spPr>
          <a:xfrm>
            <a:off x="1018708" y="278092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H="1">
            <a:off x="3898368" y="2780928"/>
            <a:ext cx="660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8708" y="2780928"/>
            <a:ext cx="146690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Juillet 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94946" y="2780928"/>
            <a:ext cx="140803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Août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98367" y="2779305"/>
            <a:ext cx="1439669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6084" y="2779305"/>
            <a:ext cx="142684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BE" sz="1600" dirty="0">
                <a:solidFill>
                  <a:schemeClr val="tx1"/>
                </a:solidFill>
              </a:rPr>
              <a:t>      Octobre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74680" y="2779001"/>
            <a:ext cx="1460809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2479889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6768958" y="277562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8228734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5332768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09728" y="3503141"/>
            <a:ext cx="148227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25/38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79889" y="3503141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25/38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33423" y="3503141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20/38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8309" y="3503141"/>
            <a:ext cx="147718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20/38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85626" y="3512856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23,5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Flèche droite 26"/>
          <p:cNvSpPr/>
          <p:nvPr/>
        </p:nvSpPr>
        <p:spPr>
          <a:xfrm>
            <a:off x="1018708" y="5123490"/>
            <a:ext cx="3951852" cy="73072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- 25/38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Flèche droite 27"/>
          <p:cNvSpPr/>
          <p:nvPr/>
        </p:nvSpPr>
        <p:spPr>
          <a:xfrm>
            <a:off x="5026638" y="5123490"/>
            <a:ext cx="3212982" cy="73072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- 20/38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5019090" y="2492896"/>
            <a:ext cx="7548" cy="316835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321" y="3741456"/>
            <a:ext cx="816065" cy="586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57/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0B54731-AEEA-447C-BD54-9C4129058683}"/>
              </a:ext>
            </a:extLst>
          </p:cNvPr>
          <p:cNvSpPr txBox="1"/>
          <p:nvPr/>
        </p:nvSpPr>
        <p:spPr>
          <a:xfrm>
            <a:off x="1349920" y="4509245"/>
            <a:ext cx="1231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CA8972D-48B9-4B28-A44A-5C8599A97A70}"/>
              </a:ext>
            </a:extLst>
          </p:cNvPr>
          <p:cNvSpPr txBox="1"/>
          <p:nvPr/>
        </p:nvSpPr>
        <p:spPr>
          <a:xfrm>
            <a:off x="2771800" y="4509245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2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CFACD80-551B-4B9F-9D47-DC4F71EAD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375" y="4433335"/>
            <a:ext cx="957155" cy="37798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98A520D-A05F-4921-BCB6-7E83F70E3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687" y="4443620"/>
            <a:ext cx="957155" cy="377985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5F58127A-E615-4B60-AF5A-9F30A76A26F1}"/>
              </a:ext>
            </a:extLst>
          </p:cNvPr>
          <p:cNvSpPr txBox="1"/>
          <p:nvPr/>
        </p:nvSpPr>
        <p:spPr>
          <a:xfrm>
            <a:off x="4274780" y="4514652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3</a:t>
            </a:r>
          </a:p>
        </p:txBody>
      </p:sp>
    </p:spTree>
    <p:extLst>
      <p:ext uri="{BB962C8B-B14F-4D97-AF65-F5344CB8AC3E}">
        <p14:creationId xmlns:p14="http://schemas.microsoft.com/office/powerpoint/2010/main" val="200486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17" grpId="0"/>
      <p:bldP spid="1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2.1. Utilisation du Q moyen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83269" y="160019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Occupations successives ininterrompues chez le même employeur </a:t>
            </a: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Utilisation du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Q moyen</a:t>
            </a:r>
            <a:r>
              <a:rPr lang="fr-BE" sz="28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.</a:t>
            </a:r>
            <a:endParaRPr lang="fr-BE" sz="2800" b="1" dirty="0">
              <a:solidFill>
                <a:schemeClr val="accent2">
                  <a:lumMod val="75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611560" y="4221088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/>
          <p:nvPr/>
        </p:nvCxnSpPr>
        <p:spPr>
          <a:xfrm>
            <a:off x="1018708" y="278092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H="1">
            <a:off x="3898368" y="2780928"/>
            <a:ext cx="660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8708" y="2780928"/>
            <a:ext cx="146690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Juillet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4946" y="2780928"/>
            <a:ext cx="140803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Août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98367" y="2779305"/>
            <a:ext cx="1439669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6084" y="2779305"/>
            <a:ext cx="142684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Octobre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74680" y="2779001"/>
            <a:ext cx="1460809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2479889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6768958" y="277562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8228734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5332768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4354" y="3519577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20/38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33423" y="3503141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23/38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85626" y="3512856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20,9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Flèche droite 26"/>
          <p:cNvSpPr/>
          <p:nvPr/>
        </p:nvSpPr>
        <p:spPr>
          <a:xfrm>
            <a:off x="1018708" y="5123490"/>
            <a:ext cx="3951852" cy="73072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- 20/38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Flèche droite 27"/>
          <p:cNvSpPr/>
          <p:nvPr/>
        </p:nvSpPr>
        <p:spPr>
          <a:xfrm>
            <a:off x="5026638" y="5123490"/>
            <a:ext cx="3212982" cy="73072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- 23/38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5019090" y="2492896"/>
            <a:ext cx="7548" cy="316835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321" y="3741456"/>
            <a:ext cx="816065" cy="586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06/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5" name="Connecteur droit 34"/>
          <p:cNvCxnSpPr/>
          <p:nvPr/>
        </p:nvCxnSpPr>
        <p:spPr>
          <a:xfrm>
            <a:off x="1212644" y="4078226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>
            <a:off x="1699940" y="4078226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>
            <a:off x="4312169" y="4078226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6480271" y="4074394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5211423" y="4074394"/>
            <a:ext cx="372" cy="3600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911770" y="4329299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Wech 502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23/38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49794" y="4329299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Wech 502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23/38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50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7" grpId="0" animBg="1"/>
      <p:bldP spid="28" grpId="0" animBg="1"/>
      <p:bldP spid="40" grpId="0"/>
      <p:bldP spid="40" grpId="1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AC00C-404E-41C1-8C8C-BE858911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/>
              <a:t>2.2. Occupation temporaire temps plein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51C9AF-022A-4D34-8BAE-C5B2C76E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En cas d’occupation à temps plein à la suite d’un avenant ou de CDD supplémentaires, il est prévu que l’employeur puisse mentionner dans une DRS qu’il s’agit d’une occupation à « 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temps plein temporaire </a:t>
            </a:r>
            <a:r>
              <a:rPr lang="fr-BE" dirty="0"/>
              <a:t>».</a:t>
            </a:r>
          </a:p>
          <a:p>
            <a:r>
              <a:rPr lang="fr-BE" dirty="0"/>
              <a:t>La durée est toutefois limitée à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3 mois calendrier complets.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B8CA26-A051-4D73-8E3D-7BB3E069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277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256321" y="274638"/>
            <a:ext cx="8780175" cy="1143000"/>
          </a:xfrm>
        </p:spPr>
        <p:txBody>
          <a:bodyPr>
            <a:noAutofit/>
          </a:bodyPr>
          <a:lstStyle/>
          <a:p>
            <a:pPr algn="r"/>
            <a:r>
              <a:rPr lang="fr-BE" sz="4000" b="1" i="1" dirty="0"/>
              <a:t>2.2. Occupation temporaire temps plein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Occupation temporaire à temps plein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chez le même employeur</a:t>
            </a: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611560" y="4221088"/>
            <a:ext cx="8075240" cy="1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/>
          <p:nvPr/>
        </p:nvCxnSpPr>
        <p:spPr>
          <a:xfrm>
            <a:off x="1018708" y="278092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8708" y="2780928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Juin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2081946" y="278092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09728" y="3503141"/>
            <a:ext cx="106583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21/38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Flèche droite 26"/>
          <p:cNvSpPr/>
          <p:nvPr/>
        </p:nvSpPr>
        <p:spPr>
          <a:xfrm>
            <a:off x="1009727" y="4953435"/>
            <a:ext cx="7497933" cy="73072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- 21/38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Flèche droite 27"/>
          <p:cNvSpPr/>
          <p:nvPr/>
        </p:nvSpPr>
        <p:spPr>
          <a:xfrm>
            <a:off x="2756550" y="5741974"/>
            <a:ext cx="4207177" cy="73072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- 17/38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2749004" y="3111380"/>
            <a:ext cx="7548" cy="316835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321" y="3741456"/>
            <a:ext cx="816065" cy="586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57/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085776" y="2776736"/>
            <a:ext cx="1102191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Juillet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097819" y="3497833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28,68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81155" y="2789971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Août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4" name="Connecteur droit 33"/>
          <p:cNvCxnSpPr/>
          <p:nvPr/>
        </p:nvCxnSpPr>
        <p:spPr>
          <a:xfrm>
            <a:off x="4244482" y="275256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181450" y="3495396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2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2"/>
                </a:solidFill>
              </a:rPr>
              <a:t>38/38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215357" y="2781470"/>
            <a:ext cx="1105531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7" name="Connecteur droit 36"/>
          <p:cNvCxnSpPr/>
          <p:nvPr/>
        </p:nvCxnSpPr>
        <p:spPr>
          <a:xfrm>
            <a:off x="5327963" y="2770745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255745" y="3492958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2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2"/>
                </a:solidFill>
              </a:rPr>
              <a:t>38/38</a:t>
            </a:r>
            <a:endParaRPr lang="en-US" sz="1600" b="1" dirty="0">
              <a:solidFill>
                <a:schemeClr val="tx2"/>
              </a:solidFill>
            </a:endParaRPr>
          </a:p>
        </p:txBody>
      </p:sp>
      <p:cxnSp>
        <p:nvCxnSpPr>
          <p:cNvPr id="43" name="Connecteur droit 42"/>
          <p:cNvCxnSpPr/>
          <p:nvPr/>
        </p:nvCxnSpPr>
        <p:spPr>
          <a:xfrm>
            <a:off x="7450776" y="2779837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6982209" y="3130785"/>
            <a:ext cx="7548" cy="316835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27907" y="2779837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Octobre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35354" y="3502050"/>
            <a:ext cx="105859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2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2"/>
                </a:solidFill>
              </a:rPr>
              <a:t>38/38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60477" y="2789971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Décembre2022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3" name="Connecteur droit 52"/>
          <p:cNvCxnSpPr/>
          <p:nvPr/>
        </p:nvCxnSpPr>
        <p:spPr>
          <a:xfrm>
            <a:off x="8529916" y="2754014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476556" y="3489494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21/38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378558" y="3502050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30,63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387538" y="2779837"/>
            <a:ext cx="1098351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Accolade ouvrante 18"/>
          <p:cNvSpPr/>
          <p:nvPr/>
        </p:nvSpPr>
        <p:spPr>
          <a:xfrm rot="5400000">
            <a:off x="4684334" y="1070487"/>
            <a:ext cx="195728" cy="3224323"/>
          </a:xfrm>
          <a:prstGeom prst="leftBrace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/>
          <p:cNvSpPr txBox="1"/>
          <p:nvPr/>
        </p:nvSpPr>
        <p:spPr>
          <a:xfrm>
            <a:off x="3166429" y="2205822"/>
            <a:ext cx="320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Max. 3 mois calendrier complet.</a:t>
            </a:r>
            <a:endParaRPr lang="en-US" dirty="0"/>
          </a:p>
        </p:txBody>
      </p:sp>
      <p:cxnSp>
        <p:nvCxnSpPr>
          <p:cNvPr id="31" name="Connecteur droit 30"/>
          <p:cNvCxnSpPr/>
          <p:nvPr/>
        </p:nvCxnSpPr>
        <p:spPr>
          <a:xfrm>
            <a:off x="3170037" y="277562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>
            <a:off x="6391145" y="2779837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43F40642-F67B-4ECB-AACD-E931E5829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878" y="4547218"/>
            <a:ext cx="957155" cy="377985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F2D07807-16E6-492D-8CE3-728FA584DB08}"/>
              </a:ext>
            </a:extLst>
          </p:cNvPr>
          <p:cNvSpPr txBox="1"/>
          <p:nvPr/>
        </p:nvSpPr>
        <p:spPr>
          <a:xfrm>
            <a:off x="7601405" y="4538836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2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ADB0597-6931-47F1-A382-4444A7BB756B}"/>
              </a:ext>
            </a:extLst>
          </p:cNvPr>
          <p:cNvSpPr txBox="1"/>
          <p:nvPr/>
        </p:nvSpPr>
        <p:spPr>
          <a:xfrm>
            <a:off x="2304912" y="4556774"/>
            <a:ext cx="1405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3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DF6F4499-D4AF-41D1-AA0E-3CFC35D237BD}"/>
              </a:ext>
            </a:extLst>
          </p:cNvPr>
          <p:cNvSpPr txBox="1"/>
          <p:nvPr/>
        </p:nvSpPr>
        <p:spPr>
          <a:xfrm>
            <a:off x="3325056" y="4538575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4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EBC6073-7052-4E5E-9646-7C0727BD5793}"/>
              </a:ext>
            </a:extLst>
          </p:cNvPr>
          <p:cNvSpPr txBox="1"/>
          <p:nvPr/>
        </p:nvSpPr>
        <p:spPr>
          <a:xfrm>
            <a:off x="4443401" y="4534965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4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DC3750D-B989-4F6A-932C-F7AF27DEB24B}"/>
              </a:ext>
            </a:extLst>
          </p:cNvPr>
          <p:cNvSpPr txBox="1"/>
          <p:nvPr/>
        </p:nvSpPr>
        <p:spPr>
          <a:xfrm>
            <a:off x="5442776" y="4538575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4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C34A6F2-47B5-497B-AD8F-8210F9B367A6}"/>
              </a:ext>
            </a:extLst>
          </p:cNvPr>
          <p:cNvSpPr txBox="1"/>
          <p:nvPr/>
        </p:nvSpPr>
        <p:spPr>
          <a:xfrm>
            <a:off x="6501061" y="4550769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3</a:t>
            </a:r>
          </a:p>
        </p:txBody>
      </p:sp>
    </p:spTree>
    <p:extLst>
      <p:ext uri="{BB962C8B-B14F-4D97-AF65-F5344CB8AC3E}">
        <p14:creationId xmlns:p14="http://schemas.microsoft.com/office/powerpoint/2010/main" val="298759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 animBg="1"/>
      <p:bldP spid="28" grpId="0" animBg="1"/>
      <p:bldP spid="32" grpId="0"/>
      <p:bldP spid="35" grpId="0"/>
      <p:bldP spid="38" grpId="0"/>
      <p:bldP spid="41" grpId="0"/>
      <p:bldP spid="54" grpId="0"/>
      <p:bldP spid="44" grpId="0"/>
      <p:bldP spid="19" grpId="0" animBg="1"/>
      <p:bldP spid="20" grpId="0"/>
      <p:bldP spid="46" grpId="0"/>
      <p:bldP spid="47" grpId="0"/>
      <p:bldP spid="48" grpId="0"/>
      <p:bldP spid="49" grpId="0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1143000"/>
          </a:xfrm>
        </p:spPr>
        <p:txBody>
          <a:bodyPr>
            <a:noAutofit/>
          </a:bodyPr>
          <a:lstStyle/>
          <a:p>
            <a:pPr algn="r"/>
            <a:r>
              <a:rPr lang="fr-BE" sz="4000" b="1" i="1" dirty="0"/>
              <a:t>2.2. Occupation temporaire temps plein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Occupation temporaire à temps plein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chez le même employeur</a:t>
            </a:r>
            <a:r>
              <a:rPr lang="fr-BE" sz="24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611560" y="4221088"/>
            <a:ext cx="8075240" cy="1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/>
          <p:nvPr/>
        </p:nvCxnSpPr>
        <p:spPr>
          <a:xfrm>
            <a:off x="1018708" y="278092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8708" y="2780928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Juin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2081946" y="278092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09728" y="3503141"/>
            <a:ext cx="106583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19/38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Flèche droite 26"/>
          <p:cNvSpPr/>
          <p:nvPr/>
        </p:nvSpPr>
        <p:spPr>
          <a:xfrm>
            <a:off x="1009727" y="4953435"/>
            <a:ext cx="7497933" cy="73072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- 19/38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Flèche droite 27"/>
          <p:cNvSpPr/>
          <p:nvPr/>
        </p:nvSpPr>
        <p:spPr>
          <a:xfrm>
            <a:off x="2756550" y="5741974"/>
            <a:ext cx="4207177" cy="73072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- 19/38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2749004" y="3111380"/>
            <a:ext cx="7548" cy="316835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321" y="3741456"/>
            <a:ext cx="816065" cy="586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06/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067650" y="2795583"/>
            <a:ext cx="1111171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Juillet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81155" y="2789971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Août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4" name="Connecteur droit 33"/>
          <p:cNvCxnSpPr/>
          <p:nvPr/>
        </p:nvCxnSpPr>
        <p:spPr>
          <a:xfrm>
            <a:off x="4244482" y="275256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225546" y="2779837"/>
            <a:ext cx="1101042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7" name="Connecteur droit 36"/>
          <p:cNvCxnSpPr/>
          <p:nvPr/>
        </p:nvCxnSpPr>
        <p:spPr>
          <a:xfrm>
            <a:off x="5327963" y="2770745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255745" y="3492958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2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tx2"/>
                </a:solidFill>
              </a:rPr>
              <a:t>38/38</a:t>
            </a:r>
            <a:endParaRPr lang="en-US" sz="1600" b="1" dirty="0">
              <a:solidFill>
                <a:schemeClr val="tx2"/>
              </a:solidFill>
            </a:endParaRPr>
          </a:p>
        </p:txBody>
      </p:sp>
      <p:cxnSp>
        <p:nvCxnSpPr>
          <p:cNvPr id="43" name="Connecteur droit 42"/>
          <p:cNvCxnSpPr/>
          <p:nvPr/>
        </p:nvCxnSpPr>
        <p:spPr>
          <a:xfrm>
            <a:off x="7450776" y="2779837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6982209" y="3130785"/>
            <a:ext cx="7548" cy="316835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27907" y="2779837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Octobre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60477" y="2789971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3" name="Connecteur droit 52"/>
          <p:cNvCxnSpPr/>
          <p:nvPr/>
        </p:nvCxnSpPr>
        <p:spPr>
          <a:xfrm>
            <a:off x="8529916" y="2754014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476556" y="3489494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19/38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378558" y="3502050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rgbClr val="C00000"/>
                </a:solidFill>
              </a:rPr>
              <a:t>29,76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387538" y="2779837"/>
            <a:ext cx="1098351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Accolade ouvrante 18"/>
          <p:cNvSpPr/>
          <p:nvPr/>
        </p:nvSpPr>
        <p:spPr>
          <a:xfrm rot="5400000">
            <a:off x="4680696" y="1075938"/>
            <a:ext cx="204419" cy="3225738"/>
          </a:xfrm>
          <a:prstGeom prst="leftBrace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/>
          <p:cNvSpPr txBox="1"/>
          <p:nvPr/>
        </p:nvSpPr>
        <p:spPr>
          <a:xfrm>
            <a:off x="3160823" y="2214088"/>
            <a:ext cx="320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Max. 3 mois calendrier complet.</a:t>
            </a:r>
            <a:endParaRPr lang="en-US" dirty="0"/>
          </a:p>
        </p:txBody>
      </p:sp>
      <p:cxnSp>
        <p:nvCxnSpPr>
          <p:cNvPr id="31" name="Connecteur droit 30"/>
          <p:cNvCxnSpPr/>
          <p:nvPr/>
        </p:nvCxnSpPr>
        <p:spPr>
          <a:xfrm>
            <a:off x="3170037" y="277562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>
            <a:off x="6391145" y="2779837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4477329" y="4066983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239815" y="4388542"/>
            <a:ext cx="107209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Wech 502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38/38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0" name="Connecteur droit 49"/>
          <p:cNvCxnSpPr/>
          <p:nvPr/>
        </p:nvCxnSpPr>
        <p:spPr>
          <a:xfrm>
            <a:off x="6686677" y="4092317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8187145" y="4086787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1159902" y="4068102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454327" y="4344058"/>
            <a:ext cx="106938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Wech 502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19/38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8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 animBg="1"/>
      <p:bldP spid="28" grpId="0" animBg="1"/>
      <p:bldP spid="38" grpId="0"/>
      <p:bldP spid="54" grpId="0"/>
      <p:bldP spid="44" grpId="0"/>
      <p:bldP spid="19" grpId="0" animBg="1"/>
      <p:bldP spid="20" grpId="0"/>
      <p:bldP spid="49" grpId="0"/>
      <p:bldP spid="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C5C95-A1F8-4412-BB1B-CA67FC41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3. Tâche « Q changé: DA nécessaire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2E330E-0AF3-4DE2-B468-9DB3FE2F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Si la DRS WECH508 (risque 1 ou 4) reprend un Q ≠ S07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ET</a:t>
            </a:r>
            <a:r>
              <a:rPr lang="fr-BE" dirty="0"/>
              <a:t> qu’il ne s’agit </a:t>
            </a:r>
            <a:r>
              <a:rPr lang="fr-BE" u="sng" dirty="0"/>
              <a:t>pas</a:t>
            </a:r>
            <a:r>
              <a:rPr lang="fr-BE" dirty="0"/>
              <a:t> d’un </a:t>
            </a:r>
            <a:r>
              <a:rPr lang="fr-BE" b="1" dirty="0"/>
              <a:t>Q moyen </a:t>
            </a:r>
            <a:r>
              <a:rPr lang="fr-BE" dirty="0"/>
              <a:t>(valeur 3), une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DA est requise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>
                <a:solidFill>
                  <a:prstClr val="black"/>
                </a:solidFill>
              </a:rPr>
              <a:t>Communication téléphonique avec l’affilié et confirmation par courrier </a:t>
            </a:r>
            <a:endParaRPr lang="fr-BE" sz="3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Création d’une farde en suspens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Ajout de la DRS au portefeuille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Tâche « traitée »</a:t>
            </a:r>
          </a:p>
          <a:p>
            <a:r>
              <a:rPr lang="fr-BE" dirty="0"/>
              <a:t>Le dossier introduit reprend comme date de DA, la </a:t>
            </a:r>
            <a:r>
              <a:rPr lang="fr-BE" b="1" dirty="0"/>
              <a:t>date réelle </a:t>
            </a:r>
            <a:r>
              <a:rPr lang="fr-BE" dirty="0"/>
              <a:t>du changement du facteur Q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B06360-91B4-40B2-BBE5-0B6D6516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47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6F6B58-08D2-45B2-A85A-6B204CA0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Code schéma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F1ADAB-3980-41BC-B3A9-E06C0522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000" dirty="0"/>
              <a:t>Contrôles du service vérification en fonction du code schéma de travail sur: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Paiement des jours fériés pour une DRS WECH506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BE" sz="2600" dirty="0"/>
              <a:t>Code schéma de travail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r>
              <a:rPr lang="fr-BE" sz="2600" dirty="0"/>
              <a:t> </a:t>
            </a:r>
            <a:r>
              <a:rPr lang="fr-BE" sz="2200" dirty="0"/>
              <a:t>(horaire fixe): </a:t>
            </a:r>
          </a:p>
          <a:p>
            <a:pPr marL="857250" lvl="2" indent="0">
              <a:buNone/>
            </a:pPr>
            <a:r>
              <a:rPr lang="fr-BE" dirty="0"/>
              <a:t>Heures JF = heures de prestation normale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BE" sz="2600" dirty="0"/>
              <a:t>Code schéma de travail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r>
              <a:rPr lang="fr-BE" sz="2600" dirty="0"/>
              <a:t> </a:t>
            </a:r>
            <a:r>
              <a:rPr lang="fr-BE" sz="2200" dirty="0"/>
              <a:t>(horaire variable) </a:t>
            </a:r>
            <a:r>
              <a:rPr lang="fr-BE" sz="2600" dirty="0"/>
              <a:t>et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r>
              <a:rPr lang="fr-BE" dirty="0"/>
              <a:t>:</a:t>
            </a:r>
          </a:p>
          <a:p>
            <a:pPr marL="857250" lvl="2" indent="0">
              <a:buNone/>
            </a:pPr>
            <a:r>
              <a:rPr lang="fr-BE" dirty="0"/>
              <a:t>Heures JF = Q/6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sz="2800" b="1" dirty="0"/>
              <a:t>Nombre d’heures minimum à prester pour une DRS WECH506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2400" dirty="0"/>
              <a:t>Concerne les codes schémas de travail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</a:rPr>
              <a:t>10, 11 </a:t>
            </a:r>
            <a:r>
              <a:rPr lang="fr-BE" sz="2400" dirty="0"/>
              <a:t>et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</a:rPr>
              <a:t>12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2400" dirty="0"/>
              <a:t>Uniquement si la DRS comportent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</a:rPr>
              <a:t>4 semaines complètes </a:t>
            </a:r>
            <a:r>
              <a:rPr lang="fr-BE" sz="2400" dirty="0"/>
              <a:t>débutant avec un lundi et prenant fin un dimanche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9B577F-E766-4F2E-BF03-60132F41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38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5. DRS et tâches Horizon: Méthodes de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>
                <a:sym typeface="Wingdings" panose="05000000000000000000" pitchFamily="2" charset="2"/>
              </a:rPr>
              <a:t>Autres tâches en lien avec les DRS: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>
                <a:sym typeface="Wingdings" panose="05000000000000000000" pitchFamily="2" charset="2"/>
              </a:rPr>
              <a:t>Tâche admissibilité: </a:t>
            </a:r>
            <a:r>
              <a:rPr lang="fr-BE" sz="26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« Traiter R-DRS »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>
                <a:sym typeface="Wingdings" panose="05000000000000000000" pitchFamily="2" charset="2"/>
              </a:rPr>
              <a:t>Tâche indemnisation: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26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« Contradiction dans le flux »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26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« Flux indem. Sans admissibilité »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26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« Statut du flux modifié »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26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« traiter R-DRS indemnisabilité »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26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« Contrôle paiement WECH506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212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5. DRS et tâches Horizon: Méthodes de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b="1" dirty="0">
                <a:sym typeface="Wingdings" panose="05000000000000000000" pitchFamily="2" charset="2"/>
              </a:rPr>
              <a:t>Principes de base:</a:t>
            </a:r>
            <a:endParaRPr lang="fr-BE" sz="2400" b="1" dirty="0">
              <a:sym typeface="Wingdings" panose="05000000000000000000" pitchFamily="2" charset="2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Si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une </a:t>
            </a:r>
            <a:r>
              <a:rPr lang="fr-BE" sz="2800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DA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est </a:t>
            </a:r>
            <a:r>
              <a:rPr lang="fr-BE" sz="2800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requise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 :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200" dirty="0">
                <a:solidFill>
                  <a:prstClr val="black"/>
                </a:solidFill>
                <a:sym typeface="Wingdings" panose="05000000000000000000" pitchFamily="2" charset="2"/>
              </a:rPr>
              <a:t>Création d’une farde en suspens.</a:t>
            </a:r>
          </a:p>
          <a:p>
            <a:pPr marL="720000" lvl="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200" dirty="0">
                <a:solidFill>
                  <a:prstClr val="black"/>
                </a:solidFill>
              </a:rPr>
              <a:t>Communication téléphonique avec l’affilié et confirmation par email ou courrier </a:t>
            </a:r>
            <a:endParaRPr lang="fr-BE" sz="22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200" dirty="0">
                <a:solidFill>
                  <a:prstClr val="black"/>
                </a:solidFill>
                <a:sym typeface="Wingdings" panose="05000000000000000000" pitchFamily="2" charset="2"/>
              </a:rPr>
              <a:t>Suppression de la tâche.</a:t>
            </a:r>
            <a:endParaRPr lang="fr-BE" sz="22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781200" indent="-4572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endParaRPr lang="fr-BE" sz="5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Si </a:t>
            </a:r>
            <a:r>
              <a:rPr lang="fr-BE" sz="2800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aucune DA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n’est </a:t>
            </a:r>
            <a:r>
              <a:rPr lang="fr-BE" sz="2800" b="1" u="sng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requise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 :</a:t>
            </a:r>
          </a:p>
          <a:p>
            <a:pPr marL="720000" lvl="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200" dirty="0">
                <a:solidFill>
                  <a:prstClr val="black"/>
                </a:solidFill>
              </a:rPr>
              <a:t>Communication téléphonique avec l’affilié et confirmation par email ou courrier 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200" dirty="0">
                <a:solidFill>
                  <a:prstClr val="black"/>
                </a:solidFill>
                <a:sym typeface="Wingdings" panose="05000000000000000000" pitchFamily="2" charset="2"/>
              </a:rPr>
              <a:t>Ajout d’une « remarque indemnisabilité ».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200" dirty="0">
                <a:solidFill>
                  <a:prstClr val="black"/>
                </a:solidFill>
                <a:sym typeface="Wingdings" panose="05000000000000000000" pitchFamily="2" charset="2"/>
              </a:rPr>
              <a:t>Indiquer la tâche « en cours » (si possible), avec une date « à revoir le » à la fin du délai de prescription du paiement.</a:t>
            </a:r>
            <a:endParaRPr lang="fr-BE" sz="22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688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F744-E8A8-4364-9183-3D86C09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5. DRS et tâches Horizon: Méthodes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A67DC2-19C7-429E-A54C-49681D8FB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« 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Contradiction dans le flux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 » &amp;</a:t>
            </a:r>
          </a:p>
          <a:p>
            <a:pPr marL="361950" lvl="0" indent="0">
              <a:spcBef>
                <a:spcPts val="600"/>
              </a:spcBef>
              <a:buNone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« 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Flux indemn. sans admissibilité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 ».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4FBF-3455-43EE-AB38-0AF93F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B6033ED-7959-4094-894E-E03E8D32254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574311"/>
          <a:ext cx="8003232" cy="426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5472">
                  <a:extLst>
                    <a:ext uri="{9D8B030D-6E8A-4147-A177-3AD203B41FA5}">
                      <a16:colId xmlns:a16="http://schemas.microsoft.com/office/drawing/2014/main" val="103930471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67191625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468985562"/>
                    </a:ext>
                  </a:extLst>
                </a:gridCol>
                <a:gridCol w="1409328">
                  <a:extLst>
                    <a:ext uri="{9D8B030D-6E8A-4147-A177-3AD203B41FA5}">
                      <a16:colId xmlns:a16="http://schemas.microsoft.com/office/drawing/2014/main" val="2056560370"/>
                    </a:ext>
                  </a:extLst>
                </a:gridCol>
              </a:tblGrid>
              <a:tr h="756084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Téléphone + </a:t>
                      </a:r>
                      <a:r>
                        <a:rPr lang="fr-BE" b="0" i="1" dirty="0">
                          <a:solidFill>
                            <a:schemeClr val="tx1"/>
                          </a:solidFill>
                        </a:rPr>
                        <a:t>confirmation par</a:t>
                      </a: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 E-mail </a:t>
                      </a:r>
                      <a:r>
                        <a:rPr lang="fr-BE" b="0" i="1" dirty="0">
                          <a:solidFill>
                            <a:schemeClr val="tx1"/>
                          </a:solidFill>
                        </a:rPr>
                        <a:t>(courrier)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à l’affilié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Création d’une farde en suspens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Tâche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225809"/>
                  </a:ext>
                </a:extLst>
              </a:tr>
              <a:tr h="75608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fr-BE" b="1" dirty="0"/>
                        <a:t>Wech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505</a:t>
                      </a:r>
                      <a:r>
                        <a:rPr lang="fr-BE" b="1" dirty="0"/>
                        <a:t>,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506</a:t>
                      </a:r>
                      <a:r>
                        <a:rPr lang="fr-BE" b="1" dirty="0"/>
                        <a:t>,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508</a:t>
                      </a:r>
                      <a:r>
                        <a:rPr lang="fr-BE" b="1" dirty="0"/>
                        <a:t> </a:t>
                      </a:r>
                      <a:r>
                        <a:rPr lang="fr-BE" b="0" dirty="0"/>
                        <a:t>ou</a:t>
                      </a:r>
                      <a:r>
                        <a:rPr lang="fr-BE" b="1" dirty="0"/>
                        <a:t>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510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fr-BE" b="1" dirty="0"/>
                        <a:t>&amp; </a:t>
                      </a:r>
                      <a:r>
                        <a:rPr lang="fr-BE" b="0" dirty="0"/>
                        <a:t>une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DA</a:t>
                      </a:r>
                      <a:r>
                        <a:rPr lang="fr-BE" b="0" dirty="0"/>
                        <a:t> est </a:t>
                      </a:r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requise</a:t>
                      </a:r>
                      <a:r>
                        <a:rPr lang="fr-BE" b="1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008000"/>
                          </a:solidFill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b="1" dirty="0">
                          <a:solidFill>
                            <a:srgbClr val="008000"/>
                          </a:solidFill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Traitée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4545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505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510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est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requise,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mais nous sommes déjà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hors délai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Traitée</a:t>
                      </a:r>
                      <a:endParaRPr lang="fr-BE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10417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508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est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requise,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mais nous sommes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déjà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hors délai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 cours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revoir le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+ 5 semaines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300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84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F744-E8A8-4364-9183-3D86C09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5. DRS et tâches Horizon: Méthodes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A67DC2-19C7-429E-A54C-49681D8FB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b="1" dirty="0">
                <a:solidFill>
                  <a:prstClr val="black"/>
                </a:solidFill>
                <a:sym typeface="Wingdings" panose="05000000000000000000" pitchFamily="2" charset="2"/>
              </a:rPr>
              <a:t>« </a:t>
            </a:r>
            <a:r>
              <a:rPr lang="fr-BE" sz="26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Contradiction dans le flux</a:t>
            </a:r>
            <a:r>
              <a:rPr lang="fr-BE" sz="2600" b="1" dirty="0">
                <a:solidFill>
                  <a:prstClr val="black"/>
                </a:solidFill>
                <a:sym typeface="Wingdings" panose="05000000000000000000" pitchFamily="2" charset="2"/>
              </a:rPr>
              <a:t> » &amp;</a:t>
            </a:r>
          </a:p>
          <a:p>
            <a:pPr marL="361950" lvl="0" indent="0">
              <a:spcBef>
                <a:spcPts val="600"/>
              </a:spcBef>
              <a:buNone/>
            </a:pPr>
            <a:r>
              <a:rPr lang="fr-BE" sz="2600" b="1" dirty="0">
                <a:solidFill>
                  <a:prstClr val="black"/>
                </a:solidFill>
                <a:sym typeface="Wingdings" panose="05000000000000000000" pitchFamily="2" charset="2"/>
              </a:rPr>
              <a:t>« </a:t>
            </a:r>
            <a:r>
              <a:rPr lang="fr-BE" sz="2600" b="1" u="sng" dirty="0">
                <a:solidFill>
                  <a:prstClr val="black"/>
                </a:solidFill>
                <a:sym typeface="Wingdings" panose="05000000000000000000" pitchFamily="2" charset="2"/>
              </a:rPr>
              <a:t>Flux indemn. sans admissibilité</a:t>
            </a:r>
            <a:r>
              <a:rPr lang="fr-BE" sz="2600" b="1" dirty="0">
                <a:solidFill>
                  <a:prstClr val="black"/>
                </a:solidFill>
                <a:sym typeface="Wingdings" panose="05000000000000000000" pitchFamily="2" charset="2"/>
              </a:rPr>
              <a:t> ».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endParaRPr lang="fr-BE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B6033ED-7959-4094-894E-E03E8D32254B}"/>
              </a:ext>
            </a:extLst>
          </p:cNvPr>
          <p:cNvGraphicFramePr>
            <a:graphicFrameLocks noGrp="1"/>
          </p:cNvGraphicFramePr>
          <p:nvPr/>
        </p:nvGraphicFramePr>
        <p:xfrm>
          <a:off x="489848" y="2337023"/>
          <a:ext cx="8003232" cy="40280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1039304711"/>
                    </a:ext>
                  </a:extLst>
                </a:gridCol>
                <a:gridCol w="1853542">
                  <a:extLst>
                    <a:ext uri="{9D8B030D-6E8A-4147-A177-3AD203B41FA5}">
                      <a16:colId xmlns:a16="http://schemas.microsoft.com/office/drawing/2014/main" val="4267191625"/>
                    </a:ext>
                  </a:extLst>
                </a:gridCol>
                <a:gridCol w="1818866">
                  <a:extLst>
                    <a:ext uri="{9D8B030D-6E8A-4147-A177-3AD203B41FA5}">
                      <a16:colId xmlns:a16="http://schemas.microsoft.com/office/drawing/2014/main" val="1468985562"/>
                    </a:ext>
                  </a:extLst>
                </a:gridCol>
                <a:gridCol w="1450504">
                  <a:extLst>
                    <a:ext uri="{9D8B030D-6E8A-4147-A177-3AD203B41FA5}">
                      <a16:colId xmlns:a16="http://schemas.microsoft.com/office/drawing/2014/main" val="2056560370"/>
                    </a:ext>
                  </a:extLst>
                </a:gridCol>
              </a:tblGrid>
              <a:tr h="736116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Téléphone </a:t>
                      </a:r>
                      <a:r>
                        <a:rPr lang="fr-BE" b="0" i="1" dirty="0">
                          <a:solidFill>
                            <a:schemeClr val="tx1"/>
                          </a:solidFill>
                        </a:rPr>
                        <a:t>+ confirmation par </a:t>
                      </a: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E-mail </a:t>
                      </a:r>
                      <a:r>
                        <a:rPr lang="fr-BE" b="0" i="1" dirty="0">
                          <a:solidFill>
                            <a:schemeClr val="tx1"/>
                          </a:solidFill>
                        </a:rPr>
                        <a:t>(courrier)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à l’affilié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Création d’une farde en suspens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Tâche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225809"/>
                  </a:ext>
                </a:extLst>
              </a:tr>
              <a:tr h="736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préfixe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sans CT renseigné dans la DRS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fr-BE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Traitée</a:t>
                      </a:r>
                      <a:endParaRPr kumimoji="0" lang="fr-BE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4545"/>
                  </a:ext>
                </a:extLst>
              </a:tr>
              <a:tr h="1051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est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requise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mais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occupation &lt; à 4 semaines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 cours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revoir le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+ 5 semaines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104170"/>
                  </a:ext>
                </a:extLst>
              </a:tr>
              <a:tr h="1051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est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requise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pour 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occup. ≥ à 4 sem. ou sans date de fin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Traitée</a:t>
                      </a:r>
                      <a:endParaRPr kumimoji="0" lang="fr-BE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300748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7D382160-BF5B-446F-BDF4-33AF84BABF27}"/>
              </a:ext>
            </a:extLst>
          </p:cNvPr>
          <p:cNvSpPr txBox="1"/>
          <p:nvPr/>
        </p:nvSpPr>
        <p:spPr>
          <a:xfrm>
            <a:off x="540648" y="6345354"/>
            <a:ext cx="7847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 </a:t>
            </a:r>
            <a:r>
              <a:rPr kumimoji="0" lang="fr-BE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les bénéficiaires d’alloc. d’insertion, faire signer une déclaration sur l’honneur afin d’acter le choix TTPMD ou TTPV.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4FBF-3455-43EE-AB38-0AF93F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60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03861B-EB10-4BA5-9803-D58077608A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191F75-C793-484F-A1E1-B36BAD56C6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5912B8-7172-455B-B8CB-E7D19A411EF7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f1b85f46-8f47-4c7a-8346-9752567dac4a"/>
    <ds:schemaRef ds:uri="badce1e3-4228-484a-9cea-a1abab477a4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18655</TotalTime>
  <Words>1520</Words>
  <Application>Microsoft Office PowerPoint</Application>
  <PresentationFormat>Affichage à l'écran (4:3)</PresentationFormat>
  <Paragraphs>379</Paragraphs>
  <Slides>18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Thème Office</vt:lpstr>
      <vt:lpstr>Généralisation  des DRS (Niveau 2)</vt:lpstr>
      <vt:lpstr>Table des matières</vt:lpstr>
      <vt:lpstr>Présentation PowerPoint</vt:lpstr>
      <vt:lpstr>Présentation PowerPoint</vt:lpstr>
      <vt:lpstr>Présentation PowerPoint</vt:lpstr>
      <vt:lpstr>2. Valeurs du facteur Q dans la DRS</vt:lpstr>
      <vt:lpstr>2.1. Utilisation du Q moyen</vt:lpstr>
      <vt:lpstr>2.1. Utilisation du Q moyen</vt:lpstr>
      <vt:lpstr>2.1. Utilisation du Q moyen</vt:lpstr>
      <vt:lpstr>2.2. Occupation temporaire temps plein</vt:lpstr>
      <vt:lpstr>2.2. Occupation temporaire temps plein</vt:lpstr>
      <vt:lpstr>2.2. Occupation temporaire temps plein</vt:lpstr>
      <vt:lpstr>3. Tâche « Q changé: DA nécessaire »</vt:lpstr>
      <vt:lpstr>4. Code schéma de travail</vt:lpstr>
      <vt:lpstr>5. DRS et tâches Horizon: Méthodes de travail</vt:lpstr>
      <vt:lpstr>5. DRS et tâches Horizon: Méthodes de travail</vt:lpstr>
      <vt:lpstr>5. DRS et tâches Horizon: Méthodes de travail</vt:lpstr>
      <vt:lpstr>5. DRS et tâches Horizon: Méthodes de travail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FCJ-M38-Généralisation des DRS (niv. 2)-Participants</dc:title>
  <dc:creator>u69lcr</dc:creator>
  <cp:lastModifiedBy>Anja Sobkowiak</cp:lastModifiedBy>
  <cp:revision>929</cp:revision>
  <cp:lastPrinted>2018-12-04T08:27:24Z</cp:lastPrinted>
  <dcterms:created xsi:type="dcterms:W3CDTF">2010-09-22T12:12:06Z</dcterms:created>
  <dcterms:modified xsi:type="dcterms:W3CDTF">2022-12-06T11:17:28Z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17;#Admissibilité|d1ac0b1f-1e4c-4aa8-9a97-5b01e61985ba;#22;#Indemnisabilité|b5f95997-28b8-41b1-bbb7-1a3d8a5995b4;#26;#Paiement|bbe82f01-f3c6-4a35-a642-de01f3e9fac7;#18;#Vérités|91331765-02c2-47c0-8605-37a5a3e877f2;#13;#Tâches|addb87cc-e52a-4e6f-a061-fdea8baf7830</vt:lpwstr>
  </property>
  <property fmtid="{D5CDD505-2E9C-101B-9397-08002B2CF9AE}" pid="7" name="Thème">
    <vt:lpwstr>59;#Généralisation des DRS|50bd8e04-e4fb-4fab-9054-64631261c8cb</vt:lpwstr>
  </property>
  <property fmtid="{D5CDD505-2E9C-101B-9397-08002B2CF9AE}" pid="8" name="_dlc_DocIdItemGuid">
    <vt:lpwstr>54a04c35-7e65-4d22-a851-e66ae6fdad25</vt:lpwstr>
  </property>
  <property fmtid="{D5CDD505-2E9C-101B-9397-08002B2CF9AE}" pid="9" name="AuthorIds_UIVersion_1536">
    <vt:lpwstr>19</vt:lpwstr>
  </property>
  <property fmtid="{D5CDD505-2E9C-101B-9397-08002B2CF9AE}" pid="10" name="AuthorIds_UIVersion_3072">
    <vt:lpwstr>19</vt:lpwstr>
  </property>
</Properties>
</file>