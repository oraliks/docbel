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322" r:id="rId5"/>
    <p:sldId id="382" r:id="rId6"/>
    <p:sldId id="383" r:id="rId7"/>
    <p:sldId id="326" r:id="rId8"/>
    <p:sldId id="329" r:id="rId9"/>
    <p:sldId id="367" r:id="rId10"/>
    <p:sldId id="384" r:id="rId11"/>
    <p:sldId id="328" r:id="rId12"/>
    <p:sldId id="336" r:id="rId13"/>
    <p:sldId id="589" r:id="rId14"/>
    <p:sldId id="591" r:id="rId15"/>
    <p:sldId id="579" r:id="rId16"/>
    <p:sldId id="582" r:id="rId17"/>
    <p:sldId id="583" r:id="rId18"/>
    <p:sldId id="338" r:id="rId19"/>
    <p:sldId id="339" r:id="rId20"/>
    <p:sldId id="340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73" r:id="rId30"/>
    <p:sldId id="374" r:id="rId31"/>
    <p:sldId id="375" r:id="rId32"/>
    <p:sldId id="354" r:id="rId33"/>
    <p:sldId id="355" r:id="rId34"/>
    <p:sldId id="376" r:id="rId35"/>
    <p:sldId id="357" r:id="rId36"/>
    <p:sldId id="378" r:id="rId37"/>
    <p:sldId id="360" r:id="rId38"/>
    <p:sldId id="380" r:id="rId39"/>
  </p:sldIdLst>
  <p:sldSz cx="9144000" cy="6858000" type="screen4x3"/>
  <p:notesSz cx="6669088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00"/>
    <a:srgbClr val="FF9933"/>
    <a:srgbClr val="669900"/>
    <a:srgbClr val="00FF00"/>
    <a:srgbClr val="0033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15" autoAdjust="0"/>
    <p:restoredTop sz="94434" autoAdjust="0"/>
  </p:normalViewPr>
  <p:slideViewPr>
    <p:cSldViewPr>
      <p:cViewPr varScale="1">
        <p:scale>
          <a:sx n="86" d="100"/>
          <a:sy n="86" d="100"/>
        </p:scale>
        <p:origin x="134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BD14AD93-85B9-49DE-A704-A6BAB890BFA7}"/>
    <pc:docChg chg="modSld modNotesMaster modHandout">
      <pc:chgData name="Anja Sobkowiak" userId="7f76af53-32f2-4907-b707-590db301fc0c" providerId="ADAL" clId="{BD14AD93-85B9-49DE-A704-A6BAB890BFA7}" dt="2022-10-12T08:46:04.854" v="10" actId="20577"/>
      <pc:docMkLst>
        <pc:docMk/>
      </pc:docMkLst>
      <pc:sldChg chg="modSp">
        <pc:chgData name="Anja Sobkowiak" userId="7f76af53-32f2-4907-b707-590db301fc0c" providerId="ADAL" clId="{BD14AD93-85B9-49DE-A704-A6BAB890BFA7}" dt="2022-10-12T08:46:04.854" v="10" actId="20577"/>
        <pc:sldMkLst>
          <pc:docMk/>
          <pc:sldMk cId="2646961386" sldId="347"/>
        </pc:sldMkLst>
        <pc:spChg chg="mod">
          <ac:chgData name="Anja Sobkowiak" userId="7f76af53-32f2-4907-b707-590db301fc0c" providerId="ADAL" clId="{BD14AD93-85B9-49DE-A704-A6BAB890BFA7}" dt="2022-10-12T08:46:04.854" v="10" actId="20577"/>
          <ac:spMkLst>
            <pc:docMk/>
            <pc:sldMk cId="2646961386" sldId="347"/>
            <ac:spMk id="4" creationId="{00000000-0000-0000-0000-000000000000}"/>
          </ac:spMkLst>
        </pc:spChg>
      </pc:sldChg>
    </pc:docChg>
  </pc:docChgLst>
  <pc:docChgLst>
    <pc:chgData name="Anja Sobkowiak" userId="7f76af53-32f2-4907-b707-590db301fc0c" providerId="ADAL" clId="{10FA0B4E-BEBE-4EF5-9F72-736CB18D6C8E}"/>
    <pc:docChg chg="modSld">
      <pc:chgData name="Anja Sobkowiak" userId="7f76af53-32f2-4907-b707-590db301fc0c" providerId="ADAL" clId="{10FA0B4E-BEBE-4EF5-9F72-736CB18D6C8E}" dt="2023-01-06T21:07:03.427" v="3" actId="1036"/>
      <pc:docMkLst>
        <pc:docMk/>
      </pc:docMkLst>
      <pc:sldChg chg="modSp mod">
        <pc:chgData name="Anja Sobkowiak" userId="7f76af53-32f2-4907-b707-590db301fc0c" providerId="ADAL" clId="{10FA0B4E-BEBE-4EF5-9F72-736CB18D6C8E}" dt="2023-01-06T21:07:03.427" v="3" actId="1036"/>
        <pc:sldMkLst>
          <pc:docMk/>
          <pc:sldMk cId="1375978643" sldId="351"/>
        </pc:sldMkLst>
        <pc:picChg chg="mod">
          <ac:chgData name="Anja Sobkowiak" userId="7f76af53-32f2-4907-b707-590db301fc0c" providerId="ADAL" clId="{10FA0B4E-BEBE-4EF5-9F72-736CB18D6C8E}" dt="2023-01-06T21:07:03.427" v="3" actId="1036"/>
          <ac:picMkLst>
            <pc:docMk/>
            <pc:sldMk cId="1375978643" sldId="351"/>
            <ac:picMk id="13" creationId="{2A6DEE36-4A93-49CE-BBFF-C5061DB0E3D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8" y="0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06/01/2023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8" y="9428584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8" y="0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06/01/2023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15154"/>
            <a:ext cx="5335270" cy="4466987"/>
          </a:xfrm>
          <a:prstGeom prst="rect">
            <a:avLst/>
          </a:prstGeom>
        </p:spPr>
        <p:txBody>
          <a:bodyPr vert="horz" lIns="91312" tIns="45656" rIns="91312" bIns="45656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8" y="9428584"/>
            <a:ext cx="2889938" cy="49633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329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910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910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dirty="0"/>
          </a:p>
          <a:p>
            <a:endParaRPr lang="fr-BE" dirty="0"/>
          </a:p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5035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6038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3652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3120"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3820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9291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4807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1554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3582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080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671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792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9293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486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2863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hangingPunct="0"/>
            <a:endParaRPr lang="fr-FR" i="1" dirty="0">
              <a:solidFill>
                <a:srgbClr val="0033CC"/>
              </a:solidFill>
            </a:endParaRPr>
          </a:p>
          <a:p>
            <a:endParaRPr lang="fr-FR" i="1" dirty="0"/>
          </a:p>
          <a:p>
            <a:pPr defTabSz="913120" hangingPunct="0">
              <a:defRPr/>
            </a:pPr>
            <a:endParaRPr lang="fr-BE" i="1" dirty="0"/>
          </a:p>
          <a:p>
            <a:pPr marL="171210" indent="-171210" hangingPunct="0">
              <a:buFont typeface="Arial" panose="020B0604020202020204" pitchFamily="34" charset="0"/>
              <a:buChar char="•"/>
            </a:pPr>
            <a:endParaRPr lang="fr-BE" i="1" dirty="0">
              <a:solidFill>
                <a:srgbClr val="0033CC"/>
              </a:solidFill>
            </a:endParaRPr>
          </a:p>
          <a:p>
            <a:endParaRPr lang="fr-BE" sz="1100" i="1" dirty="0">
              <a:solidFill>
                <a:srgbClr val="0033CC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1504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i="1" dirty="0"/>
          </a:p>
          <a:p>
            <a:endParaRPr lang="fr-BE" dirty="0"/>
          </a:p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3676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633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3240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81727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57566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1516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32191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4845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3120">
              <a:defRPr/>
            </a:pPr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00640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599"/>
              </a:spcBef>
            </a:pPr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1312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 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34045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7051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97051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3120">
              <a:defRPr/>
            </a:pPr>
            <a:r>
              <a:rPr lang="fr-FR" sz="1100" dirty="0"/>
              <a:t>.</a:t>
            </a:r>
          </a:p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19568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210" indent="-171210" hangingPunct="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75447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85638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5757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0F1B8-3BFC-4D22-929D-DD4C65F15AE4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CD51-1F6D-4A69-B0EA-80D8AEE691C6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D49C7-F4EB-4720-88BF-BC1D7EE6943D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CDB3C-C66B-430C-B82B-DDACB32FD0AF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8D7C0-1B7E-4A97-BB9A-45B1A6FE8BD0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753C-C92F-406D-85A2-3647541536E3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A2A0-6CEC-410E-A016-1E7880E8FB97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9E7E-692A-4699-99AA-88D9B2386759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1C60-66AF-4329-8DEB-251AF853405E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7D2F-3120-4FE6-B814-D3E1130323B0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F7D1-C4A6-4287-9BC0-71CCEAEC5AC6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8EE10-EA51-45FA-9262-C6CE76AC1B6A}" type="datetime1">
              <a:rPr lang="fr-FR" smtClean="0"/>
              <a:t>06/01/2023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BE" sz="6600" b="1" i="1" dirty="0"/>
              <a:t>La situation familiale </a:t>
            </a:r>
            <a:r>
              <a:rPr lang="fr-BE" b="1" i="1" dirty="0"/>
              <a:t>(niv.2)</a:t>
            </a:r>
            <a:endParaRPr lang="fr-BE" sz="66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3525DD37-C5A8-4E9E-82D8-34D8818E4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998C718-0005-4D64-A7EC-B3D4EC85586D}"/>
              </a:ext>
            </a:extLst>
          </p:cNvPr>
          <p:cNvSpPr txBox="1"/>
          <p:nvPr/>
        </p:nvSpPr>
        <p:spPr>
          <a:xfrm>
            <a:off x="683568" y="613394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12.10.2022</a:t>
            </a:r>
          </a:p>
        </p:txBody>
      </p:sp>
    </p:spTree>
    <p:extLst>
      <p:ext uri="{BB962C8B-B14F-4D97-AF65-F5344CB8AC3E}">
        <p14:creationId xmlns:p14="http://schemas.microsoft.com/office/powerpoint/2010/main" val="133458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600" dirty="0"/>
              <a:t>1. Vivre seul et payer une PA  					</a:t>
            </a:r>
            <a:r>
              <a:rPr lang="fr-BE" sz="1900" dirty="0"/>
              <a:t>pg. 4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200" dirty="0"/>
              <a:t>	1.1. Bénéficiaire de la PA					</a:t>
            </a:r>
            <a:r>
              <a:rPr lang="fr-BE" sz="1900" dirty="0" err="1"/>
              <a:t>pg</a:t>
            </a:r>
            <a:r>
              <a:rPr lang="fr-BE" sz="1900" dirty="0"/>
              <a:t>. 5</a:t>
            </a:r>
            <a:r>
              <a:rPr lang="fr-BE" sz="2200" dirty="0"/>
              <a:t>	1.2. Etat de besoin					</a:t>
            </a:r>
            <a:r>
              <a:rPr lang="fr-BE" sz="1900" dirty="0" err="1"/>
              <a:t>pg</a:t>
            </a:r>
            <a:r>
              <a:rPr lang="fr-BE" sz="1900" dirty="0"/>
              <a:t>. 7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200" dirty="0"/>
              <a:t>	1.3. Si ne paie pas ou plus la PA				</a:t>
            </a:r>
            <a:r>
              <a:rPr lang="fr-BE" sz="1900" dirty="0" err="1"/>
              <a:t>pg</a:t>
            </a:r>
            <a:r>
              <a:rPr lang="fr-BE" sz="1900" dirty="0"/>
              <a:t>. 8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200" dirty="0"/>
              <a:t>	1.4. PA avec effet rétroactif				</a:t>
            </a:r>
            <a:r>
              <a:rPr lang="fr-BE" sz="1900" dirty="0" err="1"/>
              <a:t>pg</a:t>
            </a:r>
            <a:r>
              <a:rPr lang="fr-BE" sz="1900" dirty="0"/>
              <a:t>. 9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600" dirty="0"/>
              <a:t>2. Hébergement en alternance				</a:t>
            </a:r>
            <a:r>
              <a:rPr lang="fr-BE" sz="1900" dirty="0"/>
              <a:t>pg. 15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200" dirty="0"/>
              <a:t>	2.1. Principe						</a:t>
            </a:r>
            <a:r>
              <a:rPr lang="fr-BE" sz="1900" dirty="0"/>
              <a:t>pg. 16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200" dirty="0"/>
              <a:t>	2.2. Cohabitation régulière				</a:t>
            </a:r>
            <a:r>
              <a:rPr lang="fr-BE" sz="1900" dirty="0"/>
              <a:t>pg. 17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sz="2200" dirty="0"/>
              <a:t>	2.3. Incidence sur le code chômage				</a:t>
            </a:r>
            <a:r>
              <a:rPr lang="fr-BE" sz="1900" dirty="0"/>
              <a:t>pg. 18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181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3. Conjoint – Partenaire						</a:t>
            </a:r>
            <a:r>
              <a:rPr lang="fr-BE" sz="1800" dirty="0"/>
              <a:t>pg. 19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	</a:t>
            </a:r>
            <a:r>
              <a:rPr lang="fr-BE" sz="2000" dirty="0"/>
              <a:t>3.1. Revenus professionnels					</a:t>
            </a:r>
            <a:r>
              <a:rPr lang="fr-BE" sz="1800" dirty="0"/>
              <a:t>pg. 20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	</a:t>
            </a:r>
            <a:r>
              <a:rPr lang="fr-BE" sz="2000" dirty="0"/>
              <a:t>3.2. Procédure pratique					</a:t>
            </a:r>
            <a:r>
              <a:rPr lang="fr-BE" sz="1800" dirty="0"/>
              <a:t>pg. 21</a:t>
            </a:r>
            <a:endParaRPr lang="fr-BE" sz="22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3.3. CDI &amp; salaire fixe					</a:t>
            </a:r>
            <a:r>
              <a:rPr lang="fr-BE" sz="1800" dirty="0"/>
              <a:t>pg. 22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3.4. CDI &amp; salaire variable					</a:t>
            </a:r>
            <a:r>
              <a:rPr lang="fr-BE" sz="1800" dirty="0"/>
              <a:t>pg. 23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3.5. CDD &amp; salaire fixe					</a:t>
            </a:r>
            <a:r>
              <a:rPr lang="fr-BE" sz="1800" dirty="0"/>
              <a:t>pg. 26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3.6. CDD &amp; salaire variable					</a:t>
            </a:r>
            <a:r>
              <a:rPr lang="fr-BE" sz="1800" dirty="0"/>
              <a:t>pg. 27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3.7. CDD &lt; à 1 mois					</a:t>
            </a:r>
            <a:r>
              <a:rPr lang="fr-BE" sz="1800" dirty="0"/>
              <a:t>pg. 29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4. Neutralisation des revenus professionnels de l’enfant		</a:t>
            </a:r>
            <a:r>
              <a:rPr lang="fr-BE" sz="1800" dirty="0" err="1"/>
              <a:t>pg</a:t>
            </a:r>
            <a:r>
              <a:rPr lang="fr-BE" sz="1800" dirty="0"/>
              <a:t>. 32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4.1. Période de 12 mois					</a:t>
            </a:r>
            <a:r>
              <a:rPr lang="fr-BE" sz="1800" dirty="0"/>
              <a:t>pg. 33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4.2. Procédure pratique et suivi				</a:t>
            </a:r>
            <a:r>
              <a:rPr lang="fr-BE" sz="1800" dirty="0" err="1"/>
              <a:t>pg</a:t>
            </a:r>
            <a:r>
              <a:rPr lang="fr-BE" sz="1800" dirty="0"/>
              <a:t>. 34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5.    Co-</a:t>
            </a:r>
            <a:r>
              <a:rPr lang="fr-BE" sz="2400" dirty="0" err="1"/>
              <a:t>housing</a:t>
            </a:r>
            <a:r>
              <a:rPr lang="fr-BE" sz="2400" dirty="0"/>
              <a:t>							</a:t>
            </a:r>
            <a:r>
              <a:rPr lang="fr-BE" sz="1800" dirty="0" err="1"/>
              <a:t>pg</a:t>
            </a:r>
            <a:r>
              <a:rPr lang="fr-BE" sz="1800" dirty="0"/>
              <a:t>. 35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079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Vivre seul et payer une PA</a:t>
            </a:r>
            <a:endParaRPr lang="fr-BE" i="1" dirty="0"/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983162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600" dirty="0"/>
              <a:t>Est considéré comme </a:t>
            </a:r>
            <a:r>
              <a:rPr lang="fr-BE" sz="3600" u="sng" dirty="0"/>
              <a:t>cohabitant ayant charge de famille</a:t>
            </a:r>
            <a:r>
              <a:rPr lang="fr-BE" sz="3600" dirty="0"/>
              <a:t>, l’individu qui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600" b="1" dirty="0">
                <a:solidFill>
                  <a:srgbClr val="C00000"/>
                </a:solidFill>
              </a:rPr>
              <a:t>Habite seul, </a:t>
            </a:r>
            <a:r>
              <a:rPr lang="fr-BE" sz="3600" dirty="0"/>
              <a:t>et 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600" b="1" dirty="0">
                <a:solidFill>
                  <a:srgbClr val="C00000"/>
                </a:solidFill>
              </a:rPr>
              <a:t>Paie effectivement </a:t>
            </a:r>
            <a:r>
              <a:rPr lang="fr-BE" sz="3600" dirty="0"/>
              <a:t>une pension alimentaire </a:t>
            </a:r>
            <a:r>
              <a:rPr lang="fr-FR" sz="3600" b="1" dirty="0"/>
              <a:t>sur la base </a:t>
            </a:r>
            <a:r>
              <a:rPr lang="fr-FR" sz="3600" b="1" dirty="0">
                <a:solidFill>
                  <a:srgbClr val="C00000"/>
                </a:solidFill>
              </a:rPr>
              <a:t>d’une décision judiciaire</a:t>
            </a:r>
            <a:r>
              <a:rPr lang="fr-FR" sz="3600" dirty="0"/>
              <a:t> ou </a:t>
            </a:r>
            <a:r>
              <a:rPr lang="fr-FR" sz="3600" b="1" dirty="0">
                <a:solidFill>
                  <a:srgbClr val="C00000"/>
                </a:solidFill>
              </a:rPr>
              <a:t>d’un acte notarié</a:t>
            </a:r>
            <a:r>
              <a:rPr lang="fr-BE" sz="3600" dirty="0"/>
              <a:t> dans le cadre d’une procédure en divorce ou de séparation de corps par consentement mutuel</a:t>
            </a:r>
            <a:r>
              <a:rPr lang="fr-FR" sz="3600" dirty="0"/>
              <a:t>.</a:t>
            </a:r>
            <a:r>
              <a:rPr lang="fr-FR" sz="2800" dirty="0">
                <a:sym typeface="Wingdings" pitchFamily="2" charset="2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2800" dirty="0">
                <a:sym typeface="Wingdings" pitchFamily="2" charset="2"/>
              </a:rPr>
              <a:t></a:t>
            </a:r>
            <a:r>
              <a:rPr lang="fr-FR" sz="3600" dirty="0"/>
              <a:t> une copie du jugement ou de l’acte notarié doit être jointe au dossier.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endParaRPr lang="en-US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233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1.1. Bénéficiaire de la PA …</a:t>
            </a:r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Paiement d’une </a:t>
            </a:r>
            <a:r>
              <a:rPr lang="fr-BE" b="1" dirty="0">
                <a:solidFill>
                  <a:srgbClr val="C00000"/>
                </a:solidFill>
              </a:rPr>
              <a:t>PA</a:t>
            </a:r>
            <a:r>
              <a:rPr lang="fr-BE" dirty="0"/>
              <a:t> pour son </a:t>
            </a:r>
            <a:r>
              <a:rPr lang="fr-BE" b="1" dirty="0">
                <a:solidFill>
                  <a:srgbClr val="C00000"/>
                </a:solidFill>
              </a:rPr>
              <a:t>ex-conjoint(e)</a:t>
            </a:r>
            <a:r>
              <a:rPr lang="fr-BE" dirty="0"/>
              <a:t>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/>
              <a:t>Si l’ex-conjoint(e) </a:t>
            </a:r>
            <a:r>
              <a:rPr lang="fr-BE" b="1" dirty="0"/>
              <a:t>n’a pas de revenu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code </a:t>
            </a:r>
            <a:r>
              <a:rPr lang="fr-BE" b="1" dirty="0">
                <a:sym typeface="Wingdings" pitchFamily="2" charset="2"/>
              </a:rPr>
              <a:t>A</a:t>
            </a:r>
            <a:r>
              <a:rPr lang="fr-BE" dirty="0">
                <a:sym typeface="Wingdings" pitchFamily="2" charset="2"/>
              </a:rPr>
              <a:t>.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Si l’ex-conjoint(e) a des revenus, il est nécessaire de vérifier si le paiement de la PA est encore requis :</a:t>
            </a:r>
          </a:p>
          <a:p>
            <a:pPr lvl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200" dirty="0">
                <a:sym typeface="Wingdings" pitchFamily="2" charset="2"/>
              </a:rPr>
              <a:t>Si oui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200" dirty="0">
                <a:sym typeface="Wingdings" pitchFamily="2" charset="2"/>
              </a:rPr>
              <a:t> code A. </a:t>
            </a:r>
          </a:p>
          <a:p>
            <a:pPr lvl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200" dirty="0">
                <a:sym typeface="Wingdings" pitchFamily="2" charset="2"/>
              </a:rPr>
              <a:t>Si non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200" dirty="0">
                <a:sym typeface="Wingdings" pitchFamily="2" charset="2"/>
              </a:rPr>
              <a:t> code N.</a:t>
            </a:r>
            <a:endParaRPr lang="fr-BE" sz="32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754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1.1. Bénéficiaire de la PA …</a:t>
            </a:r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Paiement d’une </a:t>
            </a:r>
            <a:r>
              <a:rPr lang="fr-BE" b="1" dirty="0">
                <a:solidFill>
                  <a:srgbClr val="C00000"/>
                </a:solidFill>
              </a:rPr>
              <a:t>PA</a:t>
            </a:r>
            <a:r>
              <a:rPr lang="fr-BE" dirty="0"/>
              <a:t> pour son </a:t>
            </a:r>
            <a:r>
              <a:rPr lang="fr-BE" b="1" dirty="0">
                <a:solidFill>
                  <a:srgbClr val="C00000"/>
                </a:solidFill>
              </a:rPr>
              <a:t>enfant</a:t>
            </a:r>
            <a:r>
              <a:rPr lang="fr-BE" dirty="0"/>
              <a:t>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/>
              <a:t>Si l’enfant </a:t>
            </a:r>
            <a:r>
              <a:rPr lang="fr-BE" b="1" dirty="0"/>
              <a:t>n’a pas de revenu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code </a:t>
            </a:r>
            <a:r>
              <a:rPr lang="fr-BE" b="1" dirty="0">
                <a:sym typeface="Wingdings" pitchFamily="2" charset="2"/>
              </a:rPr>
              <a:t>A</a:t>
            </a:r>
            <a:r>
              <a:rPr lang="fr-BE" dirty="0">
                <a:sym typeface="Wingdings" pitchFamily="2" charset="2"/>
              </a:rPr>
              <a:t>.</a:t>
            </a:r>
          </a:p>
          <a:p>
            <a:pPr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Si l’enfant a des revenus, il est nécessaire de vérifier si le paiement de la PA est encore requis :</a:t>
            </a:r>
          </a:p>
          <a:p>
            <a:pPr lvl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200" dirty="0">
                <a:sym typeface="Wingdings" pitchFamily="2" charset="2"/>
              </a:rPr>
              <a:t>Si oui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200" dirty="0">
                <a:sym typeface="Wingdings" pitchFamily="2" charset="2"/>
              </a:rPr>
              <a:t> code A. </a:t>
            </a:r>
          </a:p>
          <a:p>
            <a:pPr lvl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fr-BE" sz="3200" dirty="0">
                <a:sym typeface="Wingdings" pitchFamily="2" charset="2"/>
              </a:rPr>
              <a:t>Si non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200" dirty="0">
                <a:sym typeface="Wingdings" pitchFamily="2" charset="2"/>
              </a:rPr>
              <a:t> code N.</a:t>
            </a:r>
            <a:endParaRPr lang="fr-BE" sz="32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585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1.2. Etat de besoin …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Si l’intéressé paie effectivement une PA (acte notarié ou jugement) pour son enfant </a:t>
            </a:r>
            <a:r>
              <a:rPr lang="fr-BE" b="1" dirty="0">
                <a:solidFill>
                  <a:srgbClr val="C00000"/>
                </a:solidFill>
              </a:rPr>
              <a:t>majeur</a:t>
            </a:r>
            <a:r>
              <a:rPr lang="fr-BE" dirty="0"/>
              <a:t>, en fonction de l’</a:t>
            </a:r>
            <a:r>
              <a:rPr lang="fr-BE" b="1" dirty="0">
                <a:solidFill>
                  <a:srgbClr val="C00000"/>
                </a:solidFill>
              </a:rPr>
              <a:t>état de besoin</a:t>
            </a:r>
            <a:r>
              <a:rPr lang="fr-BE" dirty="0"/>
              <a:t> de celui-ci : l’intéressé sera « A » ou « N ».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dirty="0"/>
              <a:t>Si l’enfant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/>
              <a:t>Ne dispose pas de revenus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« A ».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Dispose de revenus &lt; au RIS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« A ». 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>
                <a:sym typeface="Wingdings" pitchFamily="2" charset="2"/>
              </a:rPr>
              <a:t>Dispose de revenus ≥ au RIS </a:t>
            </a:r>
            <a:r>
              <a:rPr lang="fr-BE" sz="2400" dirty="0">
                <a:sym typeface="Wingdings" pitchFamily="2" charset="2"/>
              </a:rPr>
              <a:t> </a:t>
            </a:r>
            <a:r>
              <a:rPr lang="fr-BE" dirty="0">
                <a:sym typeface="Wingdings" pitchFamily="2" charset="2"/>
              </a:rPr>
              <a:t>« N ». </a:t>
            </a:r>
          </a:p>
          <a:p>
            <a:pPr marL="0" lvl="1" indent="0" algn="ctr">
              <a:spcBef>
                <a:spcPts val="600"/>
              </a:spcBef>
              <a:buNone/>
            </a:pPr>
            <a:r>
              <a:rPr lang="fr-BE" sz="3200" b="1" dirty="0">
                <a:sym typeface="Wingdings" pitchFamily="2" charset="2"/>
              </a:rPr>
              <a:t>La preuve de l’état de besoin doit être fournie par le chômeur</a:t>
            </a:r>
            <a:r>
              <a:rPr lang="fr-BE" sz="3200" dirty="0">
                <a:sym typeface="Wingdings" pitchFamily="2" charset="2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208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1.3. Si ne paie pas ou plus la PA …</a:t>
            </a:r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dirty="0"/>
              <a:t>Le </a:t>
            </a:r>
            <a:r>
              <a:rPr lang="fr-BE" b="1" dirty="0">
                <a:solidFill>
                  <a:srgbClr val="C00000"/>
                </a:solidFill>
              </a:rPr>
              <a:t>code « A » est perdu</a:t>
            </a:r>
            <a:r>
              <a:rPr lang="fr-BE" b="1" dirty="0"/>
              <a:t> et</a:t>
            </a:r>
            <a:r>
              <a:rPr lang="fr-BE" b="1" i="1" dirty="0"/>
              <a:t> </a:t>
            </a:r>
            <a:r>
              <a:rPr lang="fr-BE" dirty="0"/>
              <a:t>une </a:t>
            </a:r>
            <a:r>
              <a:rPr lang="fr-BE" b="1" dirty="0"/>
              <a:t>sanction peut être prise</a:t>
            </a:r>
            <a:r>
              <a:rPr lang="fr-BE" dirty="0"/>
              <a:t> pour cause de fausse déclaration.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b="1" dirty="0"/>
              <a:t>Possibilité</a:t>
            </a:r>
            <a:r>
              <a:rPr lang="fr-BE" dirty="0"/>
              <a:t> de perte du code « A » avec effet rétroactif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/>
              <a:t> </a:t>
            </a:r>
            <a:r>
              <a:rPr lang="fr-BE" b="1" dirty="0">
                <a:solidFill>
                  <a:srgbClr val="C00000"/>
                </a:solidFill>
              </a:rPr>
              <a:t>Récupération ≠ « A » &amp; « N »</a:t>
            </a:r>
            <a:r>
              <a:rPr lang="fr-BE" dirty="0"/>
              <a:t>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dirty="0"/>
              <a:t>Le créancier peut faire signifier une saisie sur les allocations de chômage </a:t>
            </a:r>
            <a:r>
              <a:rPr lang="fr-FR" i="1" dirty="0"/>
              <a:t>(de sorte qu'il est satisfait à la condition du paiement effectif).</a:t>
            </a:r>
            <a:endParaRPr lang="en-US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016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158980"/>
            <a:ext cx="8229600" cy="1143000"/>
          </a:xfrm>
        </p:spPr>
        <p:txBody>
          <a:bodyPr/>
          <a:lstStyle/>
          <a:p>
            <a:pPr algn="r"/>
            <a:r>
              <a:rPr lang="fr-BE" b="1" i="1" dirty="0"/>
              <a:t>1.4. P.A avec effet rétroactif</a:t>
            </a:r>
            <a:endParaRPr lang="fr-BE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Si le jugement (ou l’acte notarié) n’est pas encore disponible à la DA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000" dirty="0">
                <a:sym typeface="Wingdings" pitchFamily="2" charset="2"/>
              </a:rPr>
              <a:t> </a:t>
            </a:r>
            <a:r>
              <a:rPr lang="fr-BE" sz="3000" dirty="0"/>
              <a:t>mentionner </a:t>
            </a:r>
            <a:r>
              <a:rPr lang="fr-BE" sz="3000" b="1" dirty="0">
                <a:solidFill>
                  <a:srgbClr val="C00000"/>
                </a:solidFill>
              </a:rPr>
              <a:t>« en attente copie jugement pour PA » sur la C1</a:t>
            </a:r>
            <a:r>
              <a:rPr lang="fr-BE" sz="3000" dirty="0"/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sz="3000" dirty="0">
                <a:sym typeface="Wingdings" pitchFamily="2" charset="2"/>
              </a:rPr>
              <a:t> L’intéressé aura un code « N ».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sz="3000" dirty="0">
                <a:sym typeface="Wingdings" pitchFamily="2" charset="2"/>
              </a:rPr>
              <a:t> Un code </a:t>
            </a:r>
            <a:r>
              <a:rPr lang="fr-BE" sz="3000" b="1" dirty="0">
                <a:solidFill>
                  <a:srgbClr val="C00000"/>
                </a:solidFill>
                <a:sym typeface="Wingdings" pitchFamily="2" charset="2"/>
              </a:rPr>
              <a:t>« A »</a:t>
            </a:r>
            <a:r>
              <a:rPr lang="fr-BE" sz="3000" dirty="0">
                <a:sym typeface="Wingdings" pitchFamily="2" charset="2"/>
              </a:rPr>
              <a:t> sera octroyé avec </a:t>
            </a:r>
            <a:r>
              <a:rPr lang="fr-BE" sz="3000" b="1" dirty="0">
                <a:solidFill>
                  <a:srgbClr val="C00000"/>
                </a:solidFill>
                <a:sym typeface="Wingdings" pitchFamily="2" charset="2"/>
              </a:rPr>
              <a:t>effet rétroactif </a:t>
            </a:r>
            <a:r>
              <a:rPr lang="fr-BE" sz="3000" dirty="0">
                <a:sym typeface="Wingdings" pitchFamily="2" charset="2"/>
              </a:rPr>
              <a:t>(à la date de la demande) </a:t>
            </a:r>
            <a:r>
              <a:rPr lang="fr-BE" sz="3000" b="1" u="sng" dirty="0">
                <a:sym typeface="Wingdings" pitchFamily="2" charset="2"/>
              </a:rPr>
              <a:t>si le jugement est introduit au plus tard</a:t>
            </a:r>
            <a:r>
              <a:rPr lang="fr-BE" sz="3000" dirty="0">
                <a:sym typeface="Wingdings" pitchFamily="2" charset="2"/>
              </a:rPr>
              <a:t> à la </a:t>
            </a:r>
            <a:r>
              <a:rPr lang="fr-BE" sz="3000" b="1" dirty="0">
                <a:solidFill>
                  <a:srgbClr val="C00000"/>
                </a:solidFill>
                <a:sym typeface="Wingdings" pitchFamily="2" charset="2"/>
              </a:rPr>
              <a:t>fin du mois qui suit le mois au cours duquel le jugement est émis</a:t>
            </a:r>
            <a:r>
              <a:rPr lang="fr-BE" sz="3000" dirty="0">
                <a:sym typeface="Wingdings" pitchFamily="2" charset="2"/>
              </a:rPr>
              <a:t>.</a:t>
            </a:r>
            <a:endParaRPr lang="fr-BE" sz="3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954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algn="r"/>
            <a:r>
              <a:rPr lang="fr-BE" b="1" i="1" dirty="0"/>
              <a:t>1.4. P.A avec effet rétroactif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b="1" u="sng" dirty="0"/>
              <a:t>Exemple</a:t>
            </a:r>
            <a:r>
              <a:rPr lang="fr-BE" b="1" dirty="0"/>
              <a:t>:</a:t>
            </a:r>
            <a:endParaRPr lang="fr-BE" b="1" u="sng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800" dirty="0"/>
              <a:t>L’intéressé vit seul et il déclare payer une PA depuis le mois de </a:t>
            </a:r>
            <a:r>
              <a:rPr lang="fr-BE" sz="2800" b="1" dirty="0"/>
              <a:t>10/2022</a:t>
            </a:r>
            <a:r>
              <a:rPr lang="fr-BE" sz="2800" dirty="0"/>
              <a:t>, mais il est en attente du jugement :</a:t>
            </a:r>
          </a:p>
          <a:p>
            <a:pPr marL="0" indent="0">
              <a:spcBef>
                <a:spcPts val="600"/>
              </a:spcBef>
              <a:buNone/>
            </a:pPr>
            <a:endParaRPr lang="fr-BE" sz="1100" dirty="0"/>
          </a:p>
          <a:p>
            <a:pPr marL="801688" lvl="1" indent="-350838">
              <a:spcBef>
                <a:spcPts val="600"/>
              </a:spcBef>
              <a:buFont typeface="Wingdings"/>
              <a:buChar char="è"/>
            </a:pPr>
            <a:r>
              <a:rPr lang="fr-BE" dirty="0">
                <a:sym typeface="Wingdings" pitchFamily="2" charset="2"/>
              </a:rPr>
              <a:t>Une C1 avec « mention en attente du jugement » doit être  envoyé au BC pour le </a:t>
            </a:r>
            <a:r>
              <a:rPr lang="fr-BE" b="1" u="sng" dirty="0">
                <a:solidFill>
                  <a:srgbClr val="C00000"/>
                </a:solidFill>
                <a:sym typeface="Wingdings" pitchFamily="2" charset="2"/>
              </a:rPr>
              <a:t>30.11.2022</a:t>
            </a:r>
            <a:r>
              <a:rPr lang="fr-BE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fr-BE" dirty="0">
                <a:sym typeface="Wingdings" pitchFamily="2" charset="2"/>
              </a:rPr>
              <a:t>au plus tard.  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fr-BE" sz="1100" dirty="0">
              <a:sym typeface="Wingdings" pitchFamily="2" charset="2"/>
            </a:endParaRPr>
          </a:p>
          <a:p>
            <a:pPr marL="801688" lvl="1" indent="-344488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 </a:t>
            </a:r>
            <a:r>
              <a:rPr lang="fr-BE" sz="2800" dirty="0">
                <a:sym typeface="Wingdings" pitchFamily="2" charset="2"/>
              </a:rPr>
              <a:t>Si le </a:t>
            </a:r>
            <a:r>
              <a:rPr lang="fr-BE" sz="2800" b="1" dirty="0">
                <a:sym typeface="Wingdings" pitchFamily="2" charset="2"/>
              </a:rPr>
              <a:t>jugement est émis le </a:t>
            </a:r>
            <a:r>
              <a:rPr lang="fr-BE" b="1" dirty="0">
                <a:sym typeface="Wingdings" pitchFamily="2" charset="2"/>
              </a:rPr>
              <a:t>13</a:t>
            </a:r>
            <a:r>
              <a:rPr lang="fr-BE" sz="2800" b="1" dirty="0">
                <a:sym typeface="Wingdings" pitchFamily="2" charset="2"/>
              </a:rPr>
              <a:t>.01.2023 </a:t>
            </a:r>
            <a:r>
              <a:rPr lang="fr-BE" sz="2800" dirty="0">
                <a:sym typeface="Wingdings" pitchFamily="2" charset="2"/>
              </a:rPr>
              <a:t>(PA à payer depuis </a:t>
            </a:r>
            <a:r>
              <a:rPr lang="fr-BE" dirty="0">
                <a:sym typeface="Wingdings" pitchFamily="2" charset="2"/>
              </a:rPr>
              <a:t>10</a:t>
            </a:r>
            <a:r>
              <a:rPr lang="fr-BE" sz="2800" dirty="0">
                <a:sym typeface="Wingdings" pitchFamily="2" charset="2"/>
              </a:rPr>
              <a:t>/2022), le jugement devra parvenir au BC pour le </a:t>
            </a:r>
            <a:r>
              <a:rPr lang="fr-BE" b="1" u="sng" dirty="0">
                <a:solidFill>
                  <a:srgbClr val="C00000"/>
                </a:solidFill>
                <a:sym typeface="Wingdings" pitchFamily="2" charset="2"/>
              </a:rPr>
              <a:t>28</a:t>
            </a:r>
            <a:r>
              <a:rPr lang="fr-BE" sz="2800" b="1" u="sng" dirty="0">
                <a:solidFill>
                  <a:srgbClr val="C00000"/>
                </a:solidFill>
                <a:sym typeface="Wingdings" pitchFamily="2" charset="2"/>
              </a:rPr>
              <a:t>.02.2023</a:t>
            </a:r>
            <a:r>
              <a:rPr lang="fr-BE" sz="2800" dirty="0">
                <a:sym typeface="Wingdings" pitchFamily="2" charset="2"/>
              </a:rPr>
              <a:t> pour obtenir un </a:t>
            </a:r>
            <a:r>
              <a:rPr lang="fr-BE" sz="2800" b="1" dirty="0">
                <a:sym typeface="Wingdings" pitchFamily="2" charset="2"/>
              </a:rPr>
              <a:t>code A rétroactif </a:t>
            </a:r>
            <a:r>
              <a:rPr lang="fr-BE" b="1" dirty="0">
                <a:sym typeface="Wingdings" pitchFamily="2" charset="2"/>
              </a:rPr>
              <a:t>10</a:t>
            </a:r>
            <a:r>
              <a:rPr lang="fr-BE" sz="2800" b="1" dirty="0">
                <a:sym typeface="Wingdings" pitchFamily="2" charset="2"/>
              </a:rPr>
              <a:t>/2022.</a:t>
            </a:r>
          </a:p>
          <a:p>
            <a:pPr marL="0" indent="0">
              <a:spcBef>
                <a:spcPts val="600"/>
              </a:spcBef>
              <a:buNone/>
            </a:pPr>
            <a:endParaRPr lang="fr-BE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141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algn="r"/>
            <a:r>
              <a:rPr lang="fr-BE" b="1" i="1" dirty="0"/>
              <a:t>1.4. P.A avec effet rétroactif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800" b="1" u="sng" dirty="0"/>
              <a:t>Situation</a:t>
            </a:r>
            <a:r>
              <a:rPr lang="fr-BE" sz="2800" b="1" dirty="0"/>
              <a:t>:</a:t>
            </a:r>
            <a:endParaRPr lang="fr-BE" sz="2800" b="1" u="sng" dirty="0"/>
          </a:p>
          <a:p>
            <a:pPr marL="0" indent="0">
              <a:buNone/>
            </a:pPr>
            <a:r>
              <a:rPr lang="fr-BE" sz="2800" b="1" dirty="0"/>
              <a:t>1° C1 </a:t>
            </a:r>
            <a:r>
              <a:rPr lang="fr-BE" sz="2800" dirty="0"/>
              <a:t>avec statut </a:t>
            </a:r>
            <a:r>
              <a:rPr lang="fr-BE" sz="2800" b="1" u="sng" dirty="0">
                <a:solidFill>
                  <a:srgbClr val="C00000"/>
                </a:solidFill>
              </a:rPr>
              <a:t>isolé sans PA </a:t>
            </a:r>
            <a:r>
              <a:rPr lang="fr-BE" sz="2800" b="1" dirty="0">
                <a:solidFill>
                  <a:srgbClr val="C00000"/>
                </a:solidFill>
              </a:rPr>
              <a:t> avec en remarque « en attente de jugement » </a:t>
            </a:r>
            <a:r>
              <a:rPr lang="fr-BE" sz="2800" dirty="0"/>
              <a:t>au 01.10.2022 est introduit au BC le 23.10.2022</a:t>
            </a:r>
          </a:p>
          <a:p>
            <a:pPr marL="0" indent="0">
              <a:buNone/>
            </a:pPr>
            <a:endParaRPr lang="fr-BE" sz="1100" dirty="0"/>
          </a:p>
          <a:p>
            <a:pPr marL="0" indent="0">
              <a:buNone/>
            </a:pPr>
            <a:r>
              <a:rPr lang="fr-BE" sz="2800" b="1" dirty="0"/>
              <a:t>2°</a:t>
            </a:r>
            <a:r>
              <a:rPr lang="fr-BE" sz="2800" dirty="0"/>
              <a:t> </a:t>
            </a:r>
            <a:r>
              <a:rPr lang="fr-BE" sz="2800" b="1" dirty="0"/>
              <a:t>Jugement</a:t>
            </a:r>
            <a:r>
              <a:rPr lang="fr-BE" sz="2800" dirty="0"/>
              <a:t> émis le </a:t>
            </a:r>
            <a:r>
              <a:rPr lang="fr-BE" sz="2800" b="1" dirty="0"/>
              <a:t>13/01/2023</a:t>
            </a:r>
            <a:r>
              <a:rPr lang="fr-BE" sz="2800" dirty="0"/>
              <a:t> condamnant l’intéressé isolé à payer une PA à partir du mois de    </a:t>
            </a:r>
            <a:r>
              <a:rPr lang="fr-BE" sz="2800" b="1" dirty="0"/>
              <a:t>10-2022</a:t>
            </a:r>
          </a:p>
          <a:p>
            <a:pPr marL="0" indent="0">
              <a:buNone/>
            </a:pPr>
            <a:endParaRPr lang="fr-BE" sz="1100" b="1" dirty="0"/>
          </a:p>
          <a:p>
            <a:pPr marL="0" indent="0">
              <a:buNone/>
            </a:pPr>
            <a:r>
              <a:rPr lang="fr-BE" sz="2800" b="1" dirty="0"/>
              <a:t>3° Introduction du jugement: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/>
              <a:t>1</a:t>
            </a:r>
            <a:r>
              <a:rPr lang="fr-BE" sz="2400" b="1" baseline="30000" dirty="0"/>
              <a:t>er</a:t>
            </a:r>
            <a:r>
              <a:rPr lang="fr-BE" sz="2400" b="1" dirty="0"/>
              <a:t> cas : le </a:t>
            </a:r>
            <a:r>
              <a:rPr lang="fr-BE" sz="2400" b="1" dirty="0">
                <a:solidFill>
                  <a:srgbClr val="C00000"/>
                </a:solidFill>
              </a:rPr>
              <a:t>09.02.2023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/>
              <a:t>2</a:t>
            </a:r>
            <a:r>
              <a:rPr lang="fr-BE" sz="2400" b="1" baseline="30000" dirty="0"/>
              <a:t>ème</a:t>
            </a:r>
            <a:r>
              <a:rPr lang="fr-BE" sz="2400" b="1" dirty="0"/>
              <a:t> cas : le </a:t>
            </a:r>
            <a:r>
              <a:rPr lang="fr-BE" sz="2400" b="1" dirty="0">
                <a:solidFill>
                  <a:srgbClr val="C00000"/>
                </a:solidFill>
              </a:rPr>
              <a:t>09.10.2023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2400" b="1" dirty="0"/>
              <a:t>3</a:t>
            </a:r>
            <a:r>
              <a:rPr lang="fr-BE" sz="2400" b="1" baseline="30000" dirty="0"/>
              <a:t>ème</a:t>
            </a:r>
            <a:r>
              <a:rPr lang="fr-BE" sz="2400" b="1" dirty="0"/>
              <a:t> cas : le </a:t>
            </a:r>
            <a:r>
              <a:rPr lang="fr-BE" sz="2400" b="1" dirty="0">
                <a:solidFill>
                  <a:srgbClr val="C00000"/>
                </a:solidFill>
              </a:rPr>
              <a:t>09.02.2024</a:t>
            </a:r>
          </a:p>
          <a:p>
            <a:pPr marL="0" indent="0">
              <a:spcBef>
                <a:spcPts val="600"/>
              </a:spcBef>
              <a:buNone/>
            </a:pPr>
            <a:endParaRPr lang="fr-BE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56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fr-BE" sz="3200" u="sng" dirty="0"/>
              <a:t>Exemple</a:t>
            </a:r>
            <a:r>
              <a:rPr lang="fr-BE" sz="3200" dirty="0"/>
              <a:t> : date de jugement – date de réception</a:t>
            </a:r>
            <a:br>
              <a:rPr lang="fr-BE" sz="3200" dirty="0"/>
            </a:br>
            <a:r>
              <a:rPr lang="fr-BE" sz="3200" b="1" u="sng" dirty="0"/>
              <a:t>1</a:t>
            </a:r>
            <a:r>
              <a:rPr lang="fr-BE" sz="3200" b="1" u="sng" baseline="30000" dirty="0"/>
              <a:t>er</a:t>
            </a:r>
            <a:r>
              <a:rPr lang="fr-BE" sz="3200" b="1" u="sng" dirty="0"/>
              <a:t> cas de figure</a:t>
            </a:r>
            <a:r>
              <a:rPr lang="fr-BE" sz="3200" b="1" dirty="0"/>
              <a:t> : </a:t>
            </a:r>
            <a:r>
              <a:rPr lang="fr-BE" sz="3200" b="1" dirty="0">
                <a:solidFill>
                  <a:srgbClr val="C00000"/>
                </a:solidFill>
              </a:rPr>
              <a:t>Réception jugement le 09.02.2023 </a:t>
            </a:r>
            <a:endParaRPr lang="fr-BE" sz="3200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661196" y="2204864"/>
            <a:ext cx="0" cy="25447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45847" y="4804966"/>
            <a:ext cx="187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C1 avec « statut isolé » - en attente du jugement PA au </a:t>
            </a:r>
            <a:r>
              <a:rPr lang="fr-BE" sz="1400" b="1" dirty="0">
                <a:solidFill>
                  <a:srgbClr val="C00000"/>
                </a:solidFill>
              </a:rPr>
              <a:t>01.10.2022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25096" y="188800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23.10.2022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3069404" y="4833639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Jugement</a:t>
            </a:r>
            <a:r>
              <a:rPr lang="fr-BE" sz="1400" b="1" dirty="0"/>
              <a:t> : PA à partir du 01.10.2022</a:t>
            </a:r>
          </a:p>
        </p:txBody>
      </p:sp>
      <p:cxnSp>
        <p:nvCxnSpPr>
          <p:cNvPr id="43" name="Connecteur droit avec flèche 42"/>
          <p:cNvCxnSpPr>
            <a:cxnSpLocks/>
          </p:cNvCxnSpPr>
          <p:nvPr/>
        </p:nvCxnSpPr>
        <p:spPr>
          <a:xfrm>
            <a:off x="4005508" y="2204864"/>
            <a:ext cx="0" cy="26001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3156848" y="1888004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13.01.2023</a:t>
            </a:r>
          </a:p>
        </p:txBody>
      </p:sp>
    </p:spTree>
    <p:extLst>
      <p:ext uri="{BB962C8B-B14F-4D97-AF65-F5344CB8AC3E}">
        <p14:creationId xmlns:p14="http://schemas.microsoft.com/office/powerpoint/2010/main" val="303179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37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fr-BE" sz="3200" u="sng" dirty="0"/>
              <a:t>Exemple</a:t>
            </a:r>
            <a:r>
              <a:rPr lang="fr-BE" sz="3200" dirty="0"/>
              <a:t> : date de jugement – date de réception</a:t>
            </a:r>
            <a:br>
              <a:rPr lang="fr-BE" sz="3200" dirty="0"/>
            </a:br>
            <a:r>
              <a:rPr lang="fr-BE" sz="3200" b="1" u="sng" dirty="0"/>
              <a:t>2</a:t>
            </a:r>
            <a:r>
              <a:rPr lang="fr-BE" sz="3200" b="1" u="sng" baseline="30000" dirty="0"/>
              <a:t>ème</a:t>
            </a:r>
            <a:r>
              <a:rPr lang="fr-BE" sz="3200" b="1" u="sng" dirty="0"/>
              <a:t> cas de figure</a:t>
            </a:r>
            <a:r>
              <a:rPr lang="fr-BE" sz="3200" b="1" dirty="0"/>
              <a:t> : </a:t>
            </a:r>
            <a:r>
              <a:rPr lang="fr-BE" sz="3200" b="1" dirty="0">
                <a:solidFill>
                  <a:srgbClr val="C00000"/>
                </a:solidFill>
              </a:rPr>
              <a:t>Réception jugement le 09.10.2023 </a:t>
            </a:r>
            <a:endParaRPr lang="fr-BE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661196" y="2204864"/>
            <a:ext cx="0" cy="25447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457200" y="4804966"/>
            <a:ext cx="187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C1 avec « statut isolé » - en attente du jugement PA au </a:t>
            </a:r>
            <a:r>
              <a:rPr lang="fr-BE" sz="1400" b="1" dirty="0">
                <a:solidFill>
                  <a:srgbClr val="C00000"/>
                </a:solidFill>
              </a:rPr>
              <a:t>01.10.2022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25096" y="188800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23.10.2022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37" name="ZoneTexte 36"/>
          <p:cNvSpPr txBox="1"/>
          <p:nvPr/>
        </p:nvSpPr>
        <p:spPr>
          <a:xfrm>
            <a:off x="2416547" y="4850001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Jugement</a:t>
            </a:r>
            <a:r>
              <a:rPr lang="fr-BE" sz="1400" b="1" dirty="0"/>
              <a:t> : PA à partir du 01.10.2022</a:t>
            </a:r>
          </a:p>
        </p:txBody>
      </p:sp>
      <p:cxnSp>
        <p:nvCxnSpPr>
          <p:cNvPr id="43" name="Connecteur droit avec flèche 42"/>
          <p:cNvCxnSpPr>
            <a:cxnSpLocks/>
          </p:cNvCxnSpPr>
          <p:nvPr/>
        </p:nvCxnSpPr>
        <p:spPr>
          <a:xfrm>
            <a:off x="2987824" y="2233537"/>
            <a:ext cx="0" cy="26001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2113957" y="1904572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13.01.2023</a:t>
            </a:r>
          </a:p>
        </p:txBody>
      </p:sp>
    </p:spTree>
    <p:extLst>
      <p:ext uri="{BB962C8B-B14F-4D97-AF65-F5344CB8AC3E}">
        <p14:creationId xmlns:p14="http://schemas.microsoft.com/office/powerpoint/2010/main" val="2459860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37" grpId="0"/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fr-BE" sz="3200" u="sng" dirty="0"/>
              <a:t>Exemple</a:t>
            </a:r>
            <a:r>
              <a:rPr lang="fr-BE" sz="3200" dirty="0"/>
              <a:t> : date de jugement – date de réception</a:t>
            </a:r>
            <a:br>
              <a:rPr lang="fr-BE" sz="3200" dirty="0"/>
            </a:br>
            <a:r>
              <a:rPr lang="fr-BE" sz="3200" b="1" u="sng" dirty="0"/>
              <a:t>3</a:t>
            </a:r>
            <a:r>
              <a:rPr lang="fr-BE" sz="3200" b="1" u="sng" baseline="30000" dirty="0"/>
              <a:t>ème</a:t>
            </a:r>
            <a:r>
              <a:rPr lang="fr-BE" sz="3200" b="1" u="sng" dirty="0"/>
              <a:t> cas de figure</a:t>
            </a:r>
            <a:r>
              <a:rPr lang="fr-BE" sz="3200" b="1" dirty="0"/>
              <a:t> : </a:t>
            </a:r>
            <a:r>
              <a:rPr lang="fr-BE" sz="3200" b="1" dirty="0">
                <a:solidFill>
                  <a:srgbClr val="C00000"/>
                </a:solidFill>
              </a:rPr>
              <a:t>Réception jugement le 09.02.2024 </a:t>
            </a:r>
            <a:endParaRPr lang="fr-BE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661196" y="2204864"/>
            <a:ext cx="0" cy="25447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457200" y="4804966"/>
            <a:ext cx="1872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C1 avec « statut isolé » - en attente du jugement PA au </a:t>
            </a:r>
            <a:r>
              <a:rPr lang="fr-BE" sz="1400" b="1" dirty="0">
                <a:solidFill>
                  <a:srgbClr val="C00000"/>
                </a:solidFill>
              </a:rPr>
              <a:t>01.10.2022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25096" y="188800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23.10.2022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37" name="ZoneTexte 36"/>
          <p:cNvSpPr txBox="1"/>
          <p:nvPr/>
        </p:nvSpPr>
        <p:spPr>
          <a:xfrm>
            <a:off x="2416547" y="4850001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>
                <a:solidFill>
                  <a:srgbClr val="C00000"/>
                </a:solidFill>
              </a:rPr>
              <a:t>Jugement</a:t>
            </a:r>
            <a:r>
              <a:rPr lang="fr-BE" sz="1400" b="1" dirty="0"/>
              <a:t> : PA à partir du 01.10.2022</a:t>
            </a:r>
          </a:p>
        </p:txBody>
      </p:sp>
      <p:cxnSp>
        <p:nvCxnSpPr>
          <p:cNvPr id="43" name="Connecteur droit avec flèche 42"/>
          <p:cNvCxnSpPr>
            <a:cxnSpLocks/>
          </p:cNvCxnSpPr>
          <p:nvPr/>
        </p:nvCxnSpPr>
        <p:spPr>
          <a:xfrm>
            <a:off x="2987824" y="2233537"/>
            <a:ext cx="0" cy="26001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2113957" y="1904572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13.01.2023</a:t>
            </a:r>
          </a:p>
        </p:txBody>
      </p:sp>
    </p:spTree>
    <p:extLst>
      <p:ext uri="{BB962C8B-B14F-4D97-AF65-F5344CB8AC3E}">
        <p14:creationId xmlns:p14="http://schemas.microsoft.com/office/powerpoint/2010/main" val="12673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37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 Hébergement en alternance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3600" dirty="0"/>
              <a:t>Il est fréquent dans les séparations, que les décisions judiciaires (jugement ou acte notarié) règlent la situation des enfants en prévoyant :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600" dirty="0"/>
              <a:t>Le paiement d’une PA, </a:t>
            </a:r>
            <a:r>
              <a:rPr lang="fr-FR" sz="3600" b="1" dirty="0"/>
              <a:t>et/ou</a:t>
            </a:r>
            <a:r>
              <a:rPr lang="fr-FR" sz="3600" dirty="0"/>
              <a:t> 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600" dirty="0"/>
              <a:t>En instaurant un système </a:t>
            </a:r>
            <a:r>
              <a:rPr lang="fr-FR" sz="3600" b="1" dirty="0">
                <a:solidFill>
                  <a:srgbClr val="C00000"/>
                </a:solidFill>
              </a:rPr>
              <a:t>de garde alternée.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913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2.1. Principe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dirty="0"/>
              <a:t>Le  chômeur qui « vit seul » est, en cas d’hébergement en alternance, considéré comme travailleur ayant charge de famille si : 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dirty="0"/>
              <a:t>Il </a:t>
            </a:r>
            <a:r>
              <a:rPr lang="fr-FR" b="1" dirty="0"/>
              <a:t>peut prétendre aux AF</a:t>
            </a:r>
            <a:r>
              <a:rPr lang="fr-FR" dirty="0"/>
              <a:t> pour l’enfant </a:t>
            </a:r>
            <a:r>
              <a:rPr lang="fr-FR" b="1" u="sng" dirty="0"/>
              <a:t>ou</a:t>
            </a:r>
            <a:r>
              <a:rPr lang="fr-FR" dirty="0"/>
              <a:t> l’enfant ne dispose </a:t>
            </a:r>
            <a:r>
              <a:rPr lang="fr-FR" b="1" dirty="0"/>
              <a:t>ni de revenu professionnel, ni de remplacement</a:t>
            </a:r>
            <a:r>
              <a:rPr lang="fr-FR" dirty="0"/>
              <a:t>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dirty="0"/>
              <a:t>L’enfant </a:t>
            </a:r>
            <a:r>
              <a:rPr lang="fr-FR" b="1" u="sng" dirty="0">
                <a:solidFill>
                  <a:srgbClr val="C00000"/>
                </a:solidFill>
              </a:rPr>
              <a:t>cohabite régulièrement</a:t>
            </a:r>
            <a:r>
              <a:rPr lang="fr-FR" dirty="0"/>
              <a:t> avec le chômeur qui assure la garde alternée.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664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2.2. Cohabitation régulière</a:t>
            </a:r>
            <a:endParaRPr lang="fr-BE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3000" dirty="0"/>
              <a:t>Par cohabitation régulière, on entend le fait d’</a:t>
            </a:r>
            <a:r>
              <a:rPr lang="fr-FR" sz="3000" b="1" dirty="0">
                <a:solidFill>
                  <a:srgbClr val="C00000"/>
                </a:solidFill>
              </a:rPr>
              <a:t>habiter effectivement </a:t>
            </a:r>
            <a:r>
              <a:rPr lang="fr-FR" sz="3000" dirty="0"/>
              <a:t>avec l’enfant </a:t>
            </a:r>
            <a:r>
              <a:rPr lang="fr-FR" sz="3000" b="1" dirty="0">
                <a:solidFill>
                  <a:srgbClr val="C00000"/>
                </a:solidFill>
              </a:rPr>
              <a:t>≥ 2 jours par semaine en moyenne </a:t>
            </a:r>
            <a:r>
              <a:rPr lang="fr-FR" sz="3000" b="1" dirty="0">
                <a:solidFill>
                  <a:srgbClr val="C00000"/>
                </a:solidFill>
                <a:sym typeface="Wingdings" pitchFamily="2" charset="2"/>
              </a:rPr>
              <a:t>= 104 jours par an</a:t>
            </a:r>
            <a:r>
              <a:rPr lang="fr-FR" sz="3000" b="1" dirty="0">
                <a:solidFill>
                  <a:srgbClr val="C00000"/>
                </a:solidFill>
              </a:rPr>
              <a:t>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/>
              <a:t>La moyenne est calculée sur une base mensuelle, trimestrielle, semestrielle ou annuelle suivant le cycle de l’hébergement en alternance.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/>
              <a:t>Prise en compte des jours calendrier de présence de l’enfant (samedis et dimanches compris), même si l’enfant n’est pas présent toute la journée. </a:t>
            </a:r>
            <a:endParaRPr lang="fr-BE" sz="3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4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9953" y="451520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fr-BE" b="1" i="1" dirty="0"/>
              <a:t>2.3. Incidence sur le code chômage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dirty="0"/>
              <a:t>Si cohabitation régulière </a:t>
            </a:r>
            <a:r>
              <a:rPr lang="fr-BE" sz="3000" dirty="0"/>
              <a:t>avec l’enfant est </a:t>
            </a:r>
            <a:r>
              <a:rPr lang="fr-BE" sz="3000" b="1" u="sng" dirty="0"/>
              <a:t>établie</a:t>
            </a:r>
            <a:r>
              <a:rPr lang="fr-BE" sz="3000" dirty="0"/>
              <a:t>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000" dirty="0">
                <a:sym typeface="Wingdings" pitchFamily="2" charset="2"/>
              </a:rPr>
              <a:t> </a:t>
            </a:r>
            <a:r>
              <a:rPr lang="fr-BE" sz="3000" b="1" dirty="0">
                <a:solidFill>
                  <a:srgbClr val="C00000"/>
                </a:solidFill>
                <a:sym typeface="Wingdings" pitchFamily="2" charset="2"/>
              </a:rPr>
              <a:t>« A »</a:t>
            </a:r>
            <a:r>
              <a:rPr lang="fr-BE" sz="3000" b="1" i="1" dirty="0">
                <a:sym typeface="Wingdings" pitchFamily="2" charset="2"/>
              </a:rPr>
              <a:t> </a:t>
            </a:r>
            <a:r>
              <a:rPr lang="fr-BE" sz="3000" dirty="0">
                <a:sym typeface="Wingdings" pitchFamily="2" charset="2"/>
              </a:rPr>
              <a:t>pour tous les jours de la semaine.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BE" sz="3000" b="1" dirty="0"/>
              <a:t>Si cohabitation régulière </a:t>
            </a:r>
            <a:r>
              <a:rPr lang="fr-BE" sz="3000" b="1" u="sng" dirty="0"/>
              <a:t>établie</a:t>
            </a:r>
            <a:r>
              <a:rPr lang="fr-BE" sz="3000" dirty="0"/>
              <a:t> </a:t>
            </a:r>
            <a:r>
              <a:rPr lang="fr-BE" sz="3000" b="1" dirty="0">
                <a:solidFill>
                  <a:srgbClr val="C00000"/>
                </a:solidFill>
              </a:rPr>
              <a:t>mais</a:t>
            </a:r>
            <a:r>
              <a:rPr lang="fr-BE" sz="3000" dirty="0"/>
              <a:t> la situation de l’enfant fait </a:t>
            </a:r>
            <a:r>
              <a:rPr lang="fr-BE" sz="3000" b="1" dirty="0">
                <a:solidFill>
                  <a:srgbClr val="C00000"/>
                </a:solidFill>
              </a:rPr>
              <a:t>obstacle</a:t>
            </a:r>
            <a:r>
              <a:rPr lang="fr-BE" sz="3000" dirty="0"/>
              <a:t> à la qualité de chef de ménage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3000" dirty="0">
                <a:sym typeface="Wingdings" pitchFamily="2" charset="2"/>
              </a:rPr>
              <a:t> </a:t>
            </a:r>
            <a:r>
              <a:rPr lang="fr-BE" sz="3000" b="1" dirty="0">
                <a:solidFill>
                  <a:srgbClr val="C00000"/>
                </a:solidFill>
                <a:sym typeface="Wingdings" pitchFamily="2" charset="2"/>
              </a:rPr>
              <a:t>« B »</a:t>
            </a:r>
            <a:r>
              <a:rPr lang="fr-BE" sz="3000" b="1" i="1" dirty="0">
                <a:sym typeface="Wingdings" pitchFamily="2" charset="2"/>
              </a:rPr>
              <a:t> </a:t>
            </a:r>
            <a:r>
              <a:rPr lang="fr-BE" sz="3000" dirty="0">
                <a:sym typeface="Wingdings" pitchFamily="2" charset="2"/>
              </a:rPr>
              <a:t>même si paiement effectif d’une PA car n’est plus considéré comme isolé.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/>
              <a:t>Si la </a:t>
            </a:r>
            <a:r>
              <a:rPr lang="fr-FR" sz="3000" b="1" dirty="0"/>
              <a:t>cohabitation régulière</a:t>
            </a:r>
            <a:r>
              <a:rPr lang="fr-FR" sz="3000" dirty="0"/>
              <a:t> avec l’enfant n’est </a:t>
            </a:r>
            <a:r>
              <a:rPr lang="fr-FR" sz="3000" b="1" u="sng" dirty="0"/>
              <a:t>pas établie</a:t>
            </a:r>
            <a:r>
              <a:rPr lang="fr-FR" sz="3000" dirty="0"/>
              <a:t> </a:t>
            </a:r>
            <a:r>
              <a:rPr lang="fr-FR" sz="2400" dirty="0">
                <a:sym typeface="Wingdings" pitchFamily="2" charset="2"/>
              </a:rPr>
              <a:t></a:t>
            </a:r>
            <a:r>
              <a:rPr lang="fr-FR" sz="3000" dirty="0">
                <a:sym typeface="Wingdings" pitchFamily="2" charset="2"/>
              </a:rPr>
              <a:t> </a:t>
            </a:r>
            <a:r>
              <a:rPr lang="fr-FR" sz="3000" b="1" dirty="0">
                <a:solidFill>
                  <a:srgbClr val="C00000"/>
                </a:solidFill>
                <a:sym typeface="Wingdings" pitchFamily="2" charset="2"/>
              </a:rPr>
              <a:t>« </a:t>
            </a:r>
            <a:r>
              <a:rPr lang="fr-FR" sz="3000" b="1" dirty="0">
                <a:solidFill>
                  <a:srgbClr val="C00000"/>
                </a:solidFill>
              </a:rPr>
              <a:t>N » </a:t>
            </a:r>
            <a:r>
              <a:rPr lang="fr-FR" sz="3000" dirty="0"/>
              <a:t>pour tous les jours de la semaine.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678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 Conjoint – Partenaire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BE" sz="3600" dirty="0"/>
          </a:p>
          <a:p>
            <a:pPr marL="0" indent="0">
              <a:buNone/>
            </a:pPr>
            <a:r>
              <a:rPr lang="fr-BE" sz="3600" dirty="0"/>
              <a:t>Le chômeur qui cohabite avec un </a:t>
            </a:r>
            <a:r>
              <a:rPr lang="fr-BE" sz="3600" b="1" dirty="0"/>
              <a:t>conjoint</a:t>
            </a:r>
            <a:r>
              <a:rPr lang="fr-BE" sz="3600" dirty="0"/>
              <a:t> ou </a:t>
            </a:r>
            <a:r>
              <a:rPr lang="fr-BE" sz="3600" b="1" dirty="0"/>
              <a:t>partenaire</a:t>
            </a:r>
            <a:r>
              <a:rPr lang="fr-BE" sz="3600" dirty="0"/>
              <a:t> ne disposant </a:t>
            </a:r>
            <a:r>
              <a:rPr lang="fr-BE" sz="3600" b="1" dirty="0"/>
              <a:t>ni</a:t>
            </a:r>
            <a:r>
              <a:rPr lang="fr-BE" sz="3600" dirty="0"/>
              <a:t> d’un </a:t>
            </a:r>
            <a:r>
              <a:rPr lang="fr-BE" sz="3600" b="1" dirty="0"/>
              <a:t>revenu</a:t>
            </a:r>
            <a:r>
              <a:rPr lang="fr-BE" sz="3600" dirty="0"/>
              <a:t> </a:t>
            </a:r>
            <a:r>
              <a:rPr lang="fr-BE" sz="3600" b="1" dirty="0"/>
              <a:t>professionnel</a:t>
            </a:r>
            <a:r>
              <a:rPr lang="fr-BE" sz="3600" dirty="0"/>
              <a:t>, </a:t>
            </a:r>
            <a:r>
              <a:rPr lang="fr-BE" sz="3600" b="1" dirty="0"/>
              <a:t>ni</a:t>
            </a:r>
            <a:r>
              <a:rPr lang="fr-BE" sz="3600" dirty="0"/>
              <a:t> d’un </a:t>
            </a:r>
            <a:r>
              <a:rPr lang="fr-BE" sz="3600" b="1" dirty="0"/>
              <a:t>revenu</a:t>
            </a:r>
            <a:r>
              <a:rPr lang="fr-BE" sz="3600" dirty="0"/>
              <a:t> de </a:t>
            </a:r>
            <a:r>
              <a:rPr lang="fr-BE" sz="3600" b="1" dirty="0"/>
              <a:t>remplacement</a:t>
            </a:r>
            <a:r>
              <a:rPr lang="fr-BE" sz="3600" dirty="0"/>
              <a:t> a un statut de cohabitant ayant charge de famille </a:t>
            </a:r>
            <a:r>
              <a:rPr lang="fr-BE" sz="3600" b="1" dirty="0">
                <a:solidFill>
                  <a:srgbClr val="C00000"/>
                </a:solidFill>
              </a:rPr>
              <a:t>« A »</a:t>
            </a:r>
            <a:r>
              <a:rPr lang="fr-BE" sz="3600" dirty="0"/>
              <a:t>.</a:t>
            </a:r>
            <a:endParaRPr lang="en-GB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969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3.1. Revenus professionnels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FR" sz="3000" dirty="0"/>
              <a:t>Les revenus professionnels du conjoint ou partenaire ne sont pas considérés comme des revenus si : 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/>
              <a:t>Le chômeur déclare ces revenus via C1 dès le début de l’activité professionnelle ou de la cohabitation.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/>
              <a:t>Ces revenus proviennent d'un travail salarié.</a:t>
            </a:r>
          </a:p>
          <a:p>
            <a:pPr>
              <a:spcBef>
                <a:spcPts val="600"/>
              </a:spcBef>
              <a:buFont typeface="Wingdings" pitchFamily="2" charset="2"/>
              <a:buChar char="§"/>
            </a:pPr>
            <a:r>
              <a:rPr lang="fr-FR" sz="3000" dirty="0"/>
              <a:t>Le montant brut de ces revenus n’excède pas 897,43 € brut par mois </a:t>
            </a:r>
            <a:r>
              <a:rPr lang="fr-FR" sz="2000" dirty="0"/>
              <a:t>(barème du 01.09.2022). </a:t>
            </a:r>
            <a:endParaRPr lang="en-US" sz="3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59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3.2. Procédure Pratique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90872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fr-BE" dirty="0"/>
              <a:t>Toute reprise (ou arrêt) de travail du conjoint (partenaire) doit être signalée via une déclaration de modification de situation familiale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formulaire </a:t>
            </a:r>
            <a:r>
              <a:rPr lang="fr-BE" dirty="0"/>
              <a:t>C1.</a:t>
            </a:r>
          </a:p>
          <a:p>
            <a:pPr>
              <a:buFont typeface="Wingdings" pitchFamily="2" charset="2"/>
              <a:buChar char="§"/>
            </a:pPr>
            <a:r>
              <a:rPr lang="fr-BE" dirty="0"/>
              <a:t>Préciser si possible : le type de contrat </a:t>
            </a:r>
            <a:r>
              <a:rPr lang="fr-BE" b="1" dirty="0"/>
              <a:t>CDI ou CDD</a:t>
            </a:r>
            <a:r>
              <a:rPr lang="fr-BE" dirty="0"/>
              <a:t>, la </a:t>
            </a:r>
            <a:r>
              <a:rPr lang="fr-BE" b="1" dirty="0"/>
              <a:t>durée</a:t>
            </a:r>
            <a:r>
              <a:rPr lang="fr-BE" dirty="0"/>
              <a:t> et le </a:t>
            </a:r>
            <a:r>
              <a:rPr lang="fr-BE" b="1" dirty="0"/>
              <a:t>salaire</a:t>
            </a:r>
          </a:p>
          <a:p>
            <a:pPr marL="814388" indent="-457200">
              <a:buFont typeface="Wingdings" panose="05000000000000000000" pitchFamily="2" charset="2"/>
              <a:buChar char="è"/>
            </a:pPr>
            <a:r>
              <a:rPr lang="fr-BE" dirty="0"/>
              <a:t>Demander l’application : </a:t>
            </a:r>
          </a:p>
          <a:p>
            <a:pPr marL="1214438" lvl="1" indent="-457200">
              <a:buFont typeface="Courier New" panose="02070309020205020404" pitchFamily="49" charset="0"/>
              <a:buChar char="o"/>
            </a:pPr>
            <a:r>
              <a:rPr lang="fr-BE" dirty="0"/>
              <a:t>Soit de </a:t>
            </a:r>
            <a:r>
              <a:rPr lang="fr-BE" b="1" i="1" dirty="0"/>
              <a:t>l’article spécial d’indemnisation </a:t>
            </a:r>
            <a:r>
              <a:rPr lang="fr-BE" b="1" i="1" dirty="0">
                <a:solidFill>
                  <a:srgbClr val="C00000"/>
                </a:solidFill>
              </a:rPr>
              <a:t>60A </a:t>
            </a:r>
            <a:r>
              <a:rPr lang="fr-BE" i="1" dirty="0"/>
              <a:t>(=S16)</a:t>
            </a:r>
            <a:endParaRPr lang="fr-BE" dirty="0"/>
          </a:p>
          <a:p>
            <a:pPr marL="1214438" lvl="1" indent="-457200">
              <a:buFont typeface="Courier New" panose="02070309020205020404" pitchFamily="49" charset="0"/>
              <a:buChar char="o"/>
            </a:pPr>
            <a:r>
              <a:rPr lang="fr-BE" i="1" dirty="0"/>
              <a:t>Soit de</a:t>
            </a:r>
            <a:r>
              <a:rPr lang="fr-BE" b="1" i="1" dirty="0"/>
              <a:t> l’article d’indemnisation </a:t>
            </a:r>
            <a:r>
              <a:rPr lang="fr-BE" b="1" i="1" dirty="0">
                <a:solidFill>
                  <a:srgbClr val="C00000"/>
                </a:solidFill>
              </a:rPr>
              <a:t>60B</a:t>
            </a:r>
            <a:r>
              <a:rPr lang="fr-BE" dirty="0"/>
              <a:t> (= S04)</a:t>
            </a:r>
            <a:endParaRPr lang="fr-FR" dirty="0"/>
          </a:p>
          <a:p>
            <a:pPr algn="ctr">
              <a:buNone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696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3.3. CDI &amp; salaire fixe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dirty="0"/>
              <a:t>Si le conjoint a un </a:t>
            </a:r>
            <a:r>
              <a:rPr lang="fr-BE" b="1" dirty="0"/>
              <a:t>contrat de travail à durée indéterminée</a:t>
            </a:r>
            <a:r>
              <a:rPr lang="fr-BE" dirty="0"/>
              <a:t> avec un </a:t>
            </a:r>
            <a:r>
              <a:rPr lang="fr-BE" b="1" dirty="0"/>
              <a:t>salaire fixe </a:t>
            </a:r>
            <a:r>
              <a:rPr lang="fr-BE" dirty="0"/>
              <a:t>: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fr-BE" b="1" dirty="0"/>
              <a:t>≤ à 897,43 € brut/mois</a:t>
            </a:r>
            <a:r>
              <a:rPr lang="fr-BE" dirty="0"/>
              <a:t> </a:t>
            </a:r>
            <a:r>
              <a:rPr lang="fr-FR" sz="2800" dirty="0"/>
              <a:t>(barème du 01.10.2022)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dirty="0"/>
              <a:t>le chômeur sera </a:t>
            </a:r>
            <a:r>
              <a:rPr lang="fr-BE" b="1" dirty="0">
                <a:solidFill>
                  <a:srgbClr val="C00000"/>
                </a:solidFill>
              </a:rPr>
              <a:t>« A » avec un </a:t>
            </a:r>
            <a:r>
              <a:rPr lang="fr-BE" b="1" dirty="0" err="1">
                <a:solidFill>
                  <a:srgbClr val="C00000"/>
                </a:solidFill>
              </a:rPr>
              <a:t>A</a:t>
            </a:r>
            <a:r>
              <a:rPr lang="fr-BE" b="1" baseline="30000" dirty="0" err="1">
                <a:solidFill>
                  <a:srgbClr val="C00000"/>
                </a:solidFill>
              </a:rPr>
              <a:t>ind</a:t>
            </a:r>
            <a:r>
              <a:rPr lang="fr-BE" b="1" dirty="0">
                <a:solidFill>
                  <a:srgbClr val="C00000"/>
                </a:solidFill>
              </a:rPr>
              <a:t> « 110&amp;1A » et un Article spécial d’indemnisation  « 60A »</a:t>
            </a:r>
            <a:r>
              <a:rPr lang="fr-BE" dirty="0"/>
              <a:t> </a:t>
            </a:r>
            <a:r>
              <a:rPr lang="fr-BE" i="1" dirty="0"/>
              <a:t>(=S16)</a:t>
            </a:r>
            <a:r>
              <a:rPr lang="fr-BE" dirty="0"/>
              <a:t> et il ne devra rien fournir pour le paiement.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fr-BE" sz="1100" dirty="0"/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fr-BE" b="1" dirty="0"/>
              <a:t>&gt;</a:t>
            </a:r>
            <a:r>
              <a:rPr lang="fr-BE" dirty="0"/>
              <a:t> </a:t>
            </a:r>
            <a:r>
              <a:rPr lang="fr-BE" b="1" dirty="0"/>
              <a:t>à 897,43 € brut/mois</a:t>
            </a:r>
            <a:r>
              <a:rPr lang="fr-BE" dirty="0"/>
              <a:t> </a:t>
            </a:r>
            <a:r>
              <a:rPr lang="fr-FR" sz="2800" dirty="0"/>
              <a:t>(barème du 01.10.2022)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/>
              <a:t> le chômeur sera </a:t>
            </a:r>
            <a:r>
              <a:rPr lang="fr-BE" b="1" dirty="0">
                <a:solidFill>
                  <a:srgbClr val="C00000"/>
                </a:solidFill>
              </a:rPr>
              <a:t>« B » avec un A</a:t>
            </a:r>
            <a:r>
              <a:rPr lang="fr-BE" b="1" baseline="30000" dirty="0">
                <a:solidFill>
                  <a:srgbClr val="C00000"/>
                </a:solidFill>
              </a:rPr>
              <a:t>ind</a:t>
            </a:r>
            <a:r>
              <a:rPr lang="fr-BE" b="1" dirty="0">
                <a:solidFill>
                  <a:srgbClr val="C00000"/>
                </a:solidFill>
              </a:rPr>
              <a:t> « 110&amp;3 ».</a:t>
            </a: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600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3.4. CDI &amp; salaire variable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95536" y="1600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Si le conjoint a un </a:t>
            </a:r>
            <a:r>
              <a:rPr lang="fr-BE" b="1" dirty="0"/>
              <a:t>contrat de travail à durée indéterminée</a:t>
            </a:r>
            <a:r>
              <a:rPr lang="fr-BE" dirty="0"/>
              <a:t> avec un </a:t>
            </a:r>
            <a:r>
              <a:rPr lang="fr-BE" b="1" dirty="0"/>
              <a:t>salaire variable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dirty="0"/>
              <a:t>le chômeur sera </a:t>
            </a:r>
            <a:r>
              <a:rPr lang="fr-BE" b="1" dirty="0">
                <a:solidFill>
                  <a:srgbClr val="C00000"/>
                </a:solidFill>
              </a:rPr>
              <a:t>« B » avec les </a:t>
            </a:r>
            <a:r>
              <a:rPr lang="fr-BE" b="1" dirty="0" err="1">
                <a:solidFill>
                  <a:srgbClr val="C00000"/>
                </a:solidFill>
              </a:rPr>
              <a:t>A</a:t>
            </a:r>
            <a:r>
              <a:rPr lang="fr-BE" b="1" baseline="30000" dirty="0" err="1">
                <a:solidFill>
                  <a:srgbClr val="C00000"/>
                </a:solidFill>
              </a:rPr>
              <a:t>ind</a:t>
            </a:r>
            <a:r>
              <a:rPr lang="fr-BE" b="1" dirty="0">
                <a:solidFill>
                  <a:srgbClr val="C00000"/>
                </a:solidFill>
              </a:rPr>
              <a:t> « 110&amp;3 » </a:t>
            </a:r>
            <a:r>
              <a:rPr lang="fr-BE" b="1" u="sng" dirty="0">
                <a:solidFill>
                  <a:srgbClr val="C00000"/>
                </a:solidFill>
              </a:rPr>
              <a:t>et</a:t>
            </a:r>
            <a:r>
              <a:rPr lang="fr-BE" b="1" dirty="0">
                <a:solidFill>
                  <a:srgbClr val="C00000"/>
                </a:solidFill>
              </a:rPr>
              <a:t> « 60B ».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fr-BE" dirty="0"/>
              <a:t>Chaque mois, l’intéressé doit joindre à sa carte de pointage un C110A reprenant le salaire brut perçu par son conjoint (ou partenaire).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dirty="0"/>
              <a:t>Si le salaire brut est ≤ à 897,43 € brut </a:t>
            </a:r>
            <a:r>
              <a:rPr lang="fr-FR" sz="2400" dirty="0"/>
              <a:t>(barème du 01.10.2022) </a:t>
            </a:r>
            <a:r>
              <a:rPr lang="fr-BE" dirty="0"/>
              <a:t>il sera indemnisé …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619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3.4. CDI &amp; salaire variable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95536" y="1600200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rgbClr val="C00000"/>
                </a:solidFill>
              </a:rPr>
              <a:t>Au taux journalier A.11, A.12 ou A.13</a:t>
            </a:r>
            <a:r>
              <a:rPr lang="fr-BE" sz="3000" dirty="0"/>
              <a:t> durant la </a:t>
            </a:r>
            <a:r>
              <a:rPr lang="fr-BE" sz="3000" b="1" dirty="0"/>
              <a:t>1</a:t>
            </a:r>
            <a:r>
              <a:rPr lang="fr-BE" sz="3000" b="1" baseline="30000" dirty="0"/>
              <a:t>ère</a:t>
            </a:r>
            <a:r>
              <a:rPr lang="fr-BE" sz="3000" b="1" dirty="0"/>
              <a:t> période d’indemnisation</a:t>
            </a:r>
            <a:r>
              <a:rPr lang="fr-BE" sz="3000" dirty="0"/>
              <a:t>, en fonction de la phase dans laquelle il se trouve c.à.d. B.11, B.12 ou B.13 </a:t>
            </a:r>
          </a:p>
          <a:p>
            <a:pPr marL="0" indent="0">
              <a:spcBef>
                <a:spcPts val="600"/>
              </a:spcBef>
              <a:buNone/>
            </a:pPr>
            <a:endParaRPr lang="fr-BE" sz="1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rgbClr val="C00000"/>
                </a:solidFill>
              </a:rPr>
              <a:t>Au taux journalier AF</a:t>
            </a:r>
            <a:r>
              <a:rPr lang="fr-BE" sz="3000" b="1" dirty="0"/>
              <a:t> </a:t>
            </a:r>
            <a:r>
              <a:rPr lang="fr-BE" sz="3000" dirty="0"/>
              <a:t>(forfait) s’il est en </a:t>
            </a:r>
            <a:r>
              <a:rPr lang="fr-BE" sz="3000" b="1" dirty="0"/>
              <a:t>2</a:t>
            </a:r>
            <a:r>
              <a:rPr lang="fr-BE" sz="3000" b="1" baseline="30000" dirty="0"/>
              <a:t>ème</a:t>
            </a:r>
            <a:r>
              <a:rPr lang="fr-BE" sz="3000" b="1" dirty="0"/>
              <a:t> période d’indemnisation</a:t>
            </a:r>
            <a:r>
              <a:rPr lang="fr-BE" sz="3000" dirty="0"/>
              <a:t> (B.2A, B.2B, B.21,B.22,B.23,B.24) ou en </a:t>
            </a:r>
            <a:r>
              <a:rPr lang="fr-BE" sz="3000" b="1" dirty="0"/>
              <a:t>3</a:t>
            </a:r>
            <a:r>
              <a:rPr lang="fr-BE" sz="3000" b="1" baseline="30000" dirty="0"/>
              <a:t>ème</a:t>
            </a:r>
            <a:r>
              <a:rPr lang="fr-BE" sz="3000" b="1" dirty="0"/>
              <a:t> période d’indemnisation</a:t>
            </a:r>
            <a:r>
              <a:rPr lang="fr-BE" sz="3000" dirty="0"/>
              <a:t> (BF).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437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En bref, CDI …</a:t>
            </a:r>
            <a:endParaRPr lang="en-US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 flipH="1">
            <a:off x="2596491" y="443711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2A6DEE36-4A93-49CE-BBFF-C5061DB0E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05671"/>
            <a:ext cx="8229600" cy="431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7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3.5. CDD &amp; salaire fixe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fr-BE" dirty="0"/>
              <a:t>Si le conjoint a un </a:t>
            </a:r>
            <a:r>
              <a:rPr lang="fr-BE" b="1" dirty="0"/>
              <a:t>contrat de travail à durée déterminée</a:t>
            </a:r>
            <a:r>
              <a:rPr lang="fr-BE" dirty="0"/>
              <a:t> avec un </a:t>
            </a:r>
            <a:r>
              <a:rPr lang="fr-BE" b="1" dirty="0"/>
              <a:t>salaire fixe </a:t>
            </a:r>
            <a:r>
              <a:rPr lang="fr-BE" dirty="0"/>
              <a:t>: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fr-BE" b="1" dirty="0"/>
              <a:t>≤ à 897,43 € brut/mois </a:t>
            </a:r>
            <a:r>
              <a:rPr lang="fr-FR" dirty="0"/>
              <a:t>(barème du 01.10.2022)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dirty="0"/>
              <a:t>le chômeur sera </a:t>
            </a:r>
            <a:r>
              <a:rPr lang="fr-BE" b="1" dirty="0">
                <a:solidFill>
                  <a:srgbClr val="C00000"/>
                </a:solidFill>
              </a:rPr>
              <a:t>« B » avec les </a:t>
            </a:r>
            <a:r>
              <a:rPr lang="fr-BE" b="1" dirty="0" err="1">
                <a:solidFill>
                  <a:srgbClr val="C00000"/>
                </a:solidFill>
              </a:rPr>
              <a:t>A</a:t>
            </a:r>
            <a:r>
              <a:rPr lang="fr-BE" b="1" baseline="30000" dirty="0" err="1">
                <a:solidFill>
                  <a:srgbClr val="C00000"/>
                </a:solidFill>
              </a:rPr>
              <a:t>ind</a:t>
            </a:r>
            <a:r>
              <a:rPr lang="fr-BE" b="1" dirty="0">
                <a:solidFill>
                  <a:srgbClr val="C00000"/>
                </a:solidFill>
              </a:rPr>
              <a:t> « 110&amp;3 » </a:t>
            </a:r>
            <a:r>
              <a:rPr lang="fr-BE" b="1" u="sng" dirty="0">
                <a:solidFill>
                  <a:srgbClr val="C00000"/>
                </a:solidFill>
              </a:rPr>
              <a:t>et</a:t>
            </a:r>
            <a:r>
              <a:rPr lang="fr-BE" b="1" dirty="0">
                <a:solidFill>
                  <a:srgbClr val="C00000"/>
                </a:solidFill>
              </a:rPr>
              <a:t> « 60B »</a:t>
            </a:r>
            <a:r>
              <a:rPr lang="fr-BE" dirty="0"/>
              <a:t> </a:t>
            </a:r>
            <a:r>
              <a:rPr lang="fr-BE" b="1" dirty="0"/>
              <a:t>et</a:t>
            </a:r>
            <a:r>
              <a:rPr lang="fr-BE" dirty="0"/>
              <a:t> un </a:t>
            </a:r>
            <a:r>
              <a:rPr lang="fr-BE" b="1" dirty="0"/>
              <a:t>C110A </a:t>
            </a:r>
            <a:r>
              <a:rPr lang="fr-BE" dirty="0"/>
              <a:t>doit être joint à la carte de contrôle.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fr-BE" b="1" dirty="0"/>
              <a:t>&gt;</a:t>
            </a:r>
            <a:r>
              <a:rPr lang="fr-BE" dirty="0"/>
              <a:t> </a:t>
            </a:r>
            <a:r>
              <a:rPr lang="fr-BE" b="1" dirty="0"/>
              <a:t>à 897,43 € brut/mois </a:t>
            </a:r>
            <a:r>
              <a:rPr lang="fr-FR" dirty="0"/>
              <a:t>(barème du 01.10.2022)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/>
              <a:t> le chômeur sera </a:t>
            </a:r>
            <a:r>
              <a:rPr lang="fr-BE" b="1" dirty="0">
                <a:solidFill>
                  <a:srgbClr val="C00000"/>
                </a:solidFill>
              </a:rPr>
              <a:t>« B » avec un A</a:t>
            </a:r>
            <a:r>
              <a:rPr lang="fr-BE" b="1" baseline="30000" dirty="0">
                <a:solidFill>
                  <a:srgbClr val="C00000"/>
                </a:solidFill>
              </a:rPr>
              <a:t>ind</a:t>
            </a:r>
            <a:r>
              <a:rPr lang="fr-BE" b="1" dirty="0">
                <a:solidFill>
                  <a:srgbClr val="C00000"/>
                </a:solidFill>
              </a:rPr>
              <a:t> « 110&amp;3 ».</a:t>
            </a: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221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3.6. CDD &amp; salaire variable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95536" y="1600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dirty="0"/>
              <a:t>Si le conjoint a un </a:t>
            </a:r>
            <a:r>
              <a:rPr lang="fr-BE" b="1" dirty="0"/>
              <a:t>contrat de travail à durée déterminée ≥ à 1 mois</a:t>
            </a:r>
            <a:r>
              <a:rPr lang="fr-BE" dirty="0"/>
              <a:t> avec un </a:t>
            </a:r>
            <a:r>
              <a:rPr lang="fr-BE" b="1" dirty="0"/>
              <a:t>salaire variable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L</a:t>
            </a:r>
            <a:r>
              <a:rPr lang="fr-BE" dirty="0"/>
              <a:t>e chômeur sera </a:t>
            </a:r>
            <a:r>
              <a:rPr lang="fr-BE" b="1" dirty="0">
                <a:solidFill>
                  <a:srgbClr val="C00000"/>
                </a:solidFill>
              </a:rPr>
              <a:t>« B » avec les </a:t>
            </a:r>
            <a:r>
              <a:rPr lang="fr-BE" b="1" dirty="0" err="1">
                <a:solidFill>
                  <a:srgbClr val="C00000"/>
                </a:solidFill>
              </a:rPr>
              <a:t>A</a:t>
            </a:r>
            <a:r>
              <a:rPr lang="fr-BE" b="1" baseline="30000" dirty="0" err="1">
                <a:solidFill>
                  <a:srgbClr val="C00000"/>
                </a:solidFill>
              </a:rPr>
              <a:t>ind</a:t>
            </a:r>
            <a:r>
              <a:rPr lang="fr-BE" b="1" baseline="30000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rgbClr val="C00000"/>
                </a:solidFill>
              </a:rPr>
              <a:t>« 110&amp;3 » </a:t>
            </a:r>
            <a:r>
              <a:rPr lang="fr-BE" b="1" u="sng" dirty="0">
                <a:solidFill>
                  <a:srgbClr val="C00000"/>
                </a:solidFill>
              </a:rPr>
              <a:t>et</a:t>
            </a:r>
            <a:r>
              <a:rPr lang="fr-BE" b="1" dirty="0">
                <a:solidFill>
                  <a:srgbClr val="C00000"/>
                </a:solidFill>
              </a:rPr>
              <a:t> « 60B ».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b="1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fr-BE" dirty="0"/>
              <a:t>Chaque mois, l’intéressé doit joindre à sa carte de pointage un C110A reprenant le salaire brut perçu par son conjoint (ou partenaire).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</a:t>
            </a:r>
            <a:r>
              <a:rPr lang="fr-BE" dirty="0"/>
              <a:t>Si le salaire brut est ≤ à 897,43 € brut</a:t>
            </a:r>
            <a:r>
              <a:rPr lang="fr-BE" sz="2000" dirty="0"/>
              <a:t> </a:t>
            </a:r>
            <a:r>
              <a:rPr lang="fr-FR" sz="2000" dirty="0"/>
              <a:t>(barème du 01.10.2022) </a:t>
            </a:r>
            <a:r>
              <a:rPr lang="fr-BE" dirty="0"/>
              <a:t>il sera indemnisé …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553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3.6. CDD &amp; salaire variable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95536" y="1600200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rgbClr val="C00000"/>
                </a:solidFill>
              </a:rPr>
              <a:t>Au taux journalier A.11, A.12 ou A.13</a:t>
            </a:r>
            <a:r>
              <a:rPr lang="fr-BE" sz="3000" dirty="0"/>
              <a:t> durant la </a:t>
            </a:r>
            <a:r>
              <a:rPr lang="fr-BE" sz="3000" b="1" dirty="0"/>
              <a:t>1</a:t>
            </a:r>
            <a:r>
              <a:rPr lang="fr-BE" sz="3000" b="1" baseline="30000" dirty="0"/>
              <a:t>ère</a:t>
            </a:r>
            <a:r>
              <a:rPr lang="fr-BE" sz="3000" b="1" dirty="0"/>
              <a:t> période d’indemnisation</a:t>
            </a:r>
            <a:r>
              <a:rPr lang="fr-BE" sz="3000" dirty="0"/>
              <a:t>, en fonction de la phase dans laquelle il se trouve c.à.d. B.11, B.12 ou B.13 </a:t>
            </a:r>
          </a:p>
          <a:p>
            <a:pPr marL="0" indent="0">
              <a:spcBef>
                <a:spcPts val="600"/>
              </a:spcBef>
              <a:buNone/>
            </a:pPr>
            <a:endParaRPr lang="fr-BE" sz="1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rgbClr val="C00000"/>
                </a:solidFill>
              </a:rPr>
              <a:t>Au taux journalier AF</a:t>
            </a:r>
            <a:r>
              <a:rPr lang="fr-BE" sz="3000" b="1" dirty="0"/>
              <a:t> </a:t>
            </a:r>
            <a:r>
              <a:rPr lang="fr-BE" sz="3000" dirty="0"/>
              <a:t>(forfait) s’il est en </a:t>
            </a:r>
            <a:r>
              <a:rPr lang="fr-BE" sz="3000" b="1" dirty="0"/>
              <a:t>2</a:t>
            </a:r>
            <a:r>
              <a:rPr lang="fr-BE" sz="3000" b="1" baseline="30000" dirty="0"/>
              <a:t>ème</a:t>
            </a:r>
            <a:r>
              <a:rPr lang="fr-BE" sz="3000" b="1" dirty="0"/>
              <a:t> période d’indemnisation</a:t>
            </a:r>
            <a:r>
              <a:rPr lang="fr-BE" sz="3000" dirty="0"/>
              <a:t> (B.2A, B.2B, B.21,B.22,B.23,B.24) ou en </a:t>
            </a:r>
            <a:r>
              <a:rPr lang="fr-BE" sz="3000" b="1" dirty="0"/>
              <a:t>3</a:t>
            </a:r>
            <a:r>
              <a:rPr lang="fr-BE" sz="3000" b="1" baseline="30000" dirty="0"/>
              <a:t>ème</a:t>
            </a:r>
            <a:r>
              <a:rPr lang="fr-BE" sz="3000" b="1" dirty="0"/>
              <a:t> période d’indemnisation</a:t>
            </a:r>
            <a:r>
              <a:rPr lang="fr-BE" sz="3000" dirty="0"/>
              <a:t> (BF). 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62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3.7. CDD &lt; à 1 mois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800" dirty="0"/>
              <a:t>Si le conjoint a un </a:t>
            </a:r>
            <a:r>
              <a:rPr lang="fr-BE" sz="2800" b="1" dirty="0"/>
              <a:t>contrat de travail à durée déterminée &lt; à 1 mois</a:t>
            </a:r>
            <a:r>
              <a:rPr lang="fr-BE" sz="2800" dirty="0"/>
              <a:t>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2800" dirty="0">
                <a:sym typeface="Wingdings" pitchFamily="2" charset="2"/>
              </a:rPr>
              <a:t> </a:t>
            </a:r>
            <a:r>
              <a:rPr lang="fr-BE" sz="2800" b="1" dirty="0">
                <a:solidFill>
                  <a:srgbClr val="C00000"/>
                </a:solidFill>
                <a:sym typeface="Wingdings" pitchFamily="2" charset="2"/>
              </a:rPr>
              <a:t>2 possibilités </a:t>
            </a:r>
            <a:r>
              <a:rPr lang="fr-BE" sz="2800" dirty="0"/>
              <a:t>:</a:t>
            </a:r>
          </a:p>
          <a:p>
            <a:pPr marL="365125" indent="-365125">
              <a:spcBef>
                <a:spcPts val="600"/>
              </a:spcBef>
              <a:buAutoNum type="arabicPeriod"/>
            </a:pPr>
            <a:r>
              <a:rPr lang="fr-BE" sz="2800" b="1" dirty="0">
                <a:solidFill>
                  <a:srgbClr val="C00000"/>
                </a:solidFill>
              </a:rPr>
              <a:t>Introduction C1 pour chaque changement </a:t>
            </a:r>
            <a:r>
              <a:rPr lang="fr-BE" sz="2800" dirty="0"/>
              <a:t>de situation familiale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2800" dirty="0">
                <a:sym typeface="Wingdings" pitchFamily="2" charset="2"/>
              </a:rPr>
              <a:t> Codes « A » &amp; « B » </a:t>
            </a:r>
            <a:r>
              <a:rPr lang="fr-BE" sz="2800" dirty="0"/>
              <a:t>pour chaque période successive sans  autres formalités.</a:t>
            </a:r>
          </a:p>
          <a:p>
            <a:pPr marL="365125" indent="-365125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2800" b="1" dirty="0">
                <a:solidFill>
                  <a:srgbClr val="C00000"/>
                </a:solidFill>
              </a:rPr>
              <a:t>Introduction un C1 stipulant que le conjoint travaille en CDD avec un salaire ≤ à 897,43 € brut/mois </a:t>
            </a:r>
            <a:r>
              <a:rPr lang="fr-FR" sz="2800" dirty="0"/>
              <a:t>(barème du 01.10.2022) </a:t>
            </a:r>
            <a:r>
              <a:rPr lang="fr-BE" sz="2400" dirty="0">
                <a:sym typeface="Wingdings" pitchFamily="2" charset="2"/>
              </a:rPr>
              <a:t></a:t>
            </a:r>
            <a:r>
              <a:rPr lang="fr-BE" sz="2400" dirty="0"/>
              <a:t> </a:t>
            </a:r>
            <a:r>
              <a:rPr lang="fr-BE" sz="2800" dirty="0"/>
              <a:t>« B » avec les </a:t>
            </a:r>
            <a:r>
              <a:rPr lang="fr-BE" sz="2800" dirty="0" err="1"/>
              <a:t>A</a:t>
            </a:r>
            <a:r>
              <a:rPr lang="fr-BE" sz="2800" baseline="30000" dirty="0" err="1"/>
              <a:t>ind</a:t>
            </a:r>
            <a:r>
              <a:rPr lang="fr-BE" sz="2800" dirty="0"/>
              <a:t> « 110&amp;3 » et « 60B » et chaque mois C110A reprenant les salaires pour le mois complet joint à la carte de contrôle.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525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En bref CDD …</a:t>
            </a:r>
            <a:endParaRPr lang="fr-BE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4500E1F-5F83-41DA-96AA-7060B77FE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417638"/>
            <a:ext cx="8229599" cy="46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2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En bref CDD …</a:t>
            </a:r>
            <a:endParaRPr lang="fr-BE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2ED3BF-2247-4835-9A24-4F63057EB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417638"/>
            <a:ext cx="8229600" cy="460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0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4. Neutralisation des revenus professionnels de l’enfant  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1" indent="0">
              <a:spcBef>
                <a:spcPts val="600"/>
              </a:spcBef>
              <a:buFontTx/>
              <a:buNone/>
            </a:pPr>
            <a:r>
              <a:rPr lang="fr-FR" sz="3600" dirty="0"/>
              <a:t>Ne sont pas considérés comme revenus professionnels, les revenus </a:t>
            </a:r>
            <a:r>
              <a:rPr lang="fr-BE" sz="3600" dirty="0"/>
              <a:t>que l’enfant perçoit lors de sa </a:t>
            </a:r>
            <a:r>
              <a:rPr lang="fr-BE" sz="3600" b="1" dirty="0">
                <a:solidFill>
                  <a:srgbClr val="C00000"/>
                </a:solidFill>
              </a:rPr>
              <a:t>toute 1</a:t>
            </a:r>
            <a:r>
              <a:rPr lang="fr-BE" sz="3600" b="1" baseline="30000" dirty="0">
                <a:solidFill>
                  <a:srgbClr val="C00000"/>
                </a:solidFill>
              </a:rPr>
              <a:t>ère</a:t>
            </a:r>
            <a:r>
              <a:rPr lang="fr-BE" sz="3600" b="1" dirty="0">
                <a:solidFill>
                  <a:srgbClr val="C00000"/>
                </a:solidFill>
              </a:rPr>
              <a:t> activité professionnelle :</a:t>
            </a:r>
            <a:endParaRPr lang="fr-BE" sz="3600" dirty="0"/>
          </a:p>
          <a:p>
            <a:pPr marL="457200" lvl="1" indent="-457200">
              <a:spcBef>
                <a:spcPts val="600"/>
              </a:spcBef>
              <a:buSzPct val="80000"/>
              <a:buFont typeface="Wingdings"/>
              <a:buChar char="è"/>
            </a:pPr>
            <a:r>
              <a:rPr lang="fr-BE" sz="3600" dirty="0"/>
              <a:t>Neutralisation des revenus professionnels de l’enfant </a:t>
            </a:r>
            <a:r>
              <a:rPr lang="fr-BE" sz="3600" b="1" dirty="0">
                <a:solidFill>
                  <a:srgbClr val="C00000"/>
                </a:solidFill>
              </a:rPr>
              <a:t>pendant les 12 premiers mois.</a:t>
            </a:r>
          </a:p>
          <a:p>
            <a:pPr marL="457200" lvl="1" indent="-457200">
              <a:spcBef>
                <a:spcPts val="600"/>
              </a:spcBef>
              <a:buSzPct val="80000"/>
              <a:buFont typeface="Wingdings"/>
              <a:buChar char="è"/>
            </a:pPr>
            <a:r>
              <a:rPr lang="fr-BE" sz="3600" b="1" dirty="0">
                <a:sym typeface="Wingdings" pitchFamily="2" charset="2"/>
              </a:rPr>
              <a:t>A</a:t>
            </a:r>
            <a:r>
              <a:rPr lang="fr-BE" sz="3600" b="1" baseline="30000" dirty="0">
                <a:sym typeface="Wingdings" pitchFamily="2" charset="2"/>
              </a:rPr>
              <a:t>ind</a:t>
            </a:r>
            <a:r>
              <a:rPr lang="fr-BE" sz="3600" b="1" dirty="0">
                <a:sym typeface="Wingdings" pitchFamily="2" charset="2"/>
              </a:rPr>
              <a:t> 1</a:t>
            </a:r>
            <a:r>
              <a:rPr lang="fr-BE" sz="3600" b="1" dirty="0"/>
              <a:t>10&amp;1M.</a:t>
            </a:r>
            <a:endParaRPr lang="fr-BE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58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4.1. Période de 12 mois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hangingPunct="0">
              <a:spcBef>
                <a:spcPts val="600"/>
              </a:spcBef>
              <a:buNone/>
            </a:pPr>
            <a:r>
              <a:rPr lang="fr-BE" sz="2800" dirty="0"/>
              <a:t>La période de </a:t>
            </a:r>
            <a:r>
              <a:rPr lang="fr-BE" sz="2800" b="1" dirty="0">
                <a:solidFill>
                  <a:srgbClr val="C00000"/>
                </a:solidFill>
              </a:rPr>
              <a:t>12 mois</a:t>
            </a:r>
            <a:r>
              <a:rPr lang="fr-BE" sz="2800" dirty="0"/>
              <a:t> :</a:t>
            </a:r>
          </a:p>
          <a:p>
            <a:pPr hangingPunct="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2800" dirty="0"/>
              <a:t>Est comptabilisée </a:t>
            </a:r>
            <a:r>
              <a:rPr lang="fr-BE" sz="2800" b="1" dirty="0">
                <a:solidFill>
                  <a:srgbClr val="C00000"/>
                </a:solidFill>
              </a:rPr>
              <a:t>de date à date</a:t>
            </a:r>
            <a:r>
              <a:rPr lang="fr-BE" sz="2800" dirty="0"/>
              <a:t> </a:t>
            </a:r>
            <a:r>
              <a:rPr lang="fr-BE" sz="2000" dirty="0">
                <a:sym typeface="Wingdings" pitchFamily="2" charset="2"/>
              </a:rPr>
              <a:t></a:t>
            </a:r>
            <a:r>
              <a:rPr lang="fr-BE" sz="2800" dirty="0">
                <a:sym typeface="Wingdings" pitchFamily="2" charset="2"/>
              </a:rPr>
              <a:t> </a:t>
            </a:r>
            <a:r>
              <a:rPr lang="fr-BE" sz="2800" dirty="0"/>
              <a:t>le statut de cohabitant ayant charge de famille « A » est perdu à partir du 1</a:t>
            </a:r>
            <a:r>
              <a:rPr lang="fr-BE" sz="2800" baseline="30000" dirty="0"/>
              <a:t>ier</a:t>
            </a:r>
            <a:r>
              <a:rPr lang="fr-BE" sz="2800" dirty="0"/>
              <a:t> jour qui suit la période de 12 mois.</a:t>
            </a:r>
          </a:p>
          <a:p>
            <a:pPr hangingPunct="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2800" b="1" dirty="0">
                <a:solidFill>
                  <a:srgbClr val="C00000"/>
                </a:solidFill>
              </a:rPr>
              <a:t>Prend cours au début de la toute 1</a:t>
            </a:r>
            <a:r>
              <a:rPr lang="fr-BE" sz="2800" b="1" baseline="30000" dirty="0">
                <a:solidFill>
                  <a:srgbClr val="C00000"/>
                </a:solidFill>
              </a:rPr>
              <a:t>ère</a:t>
            </a:r>
            <a:r>
              <a:rPr lang="fr-BE" sz="2800" b="1" dirty="0">
                <a:solidFill>
                  <a:srgbClr val="C00000"/>
                </a:solidFill>
              </a:rPr>
              <a:t> occupation </a:t>
            </a:r>
            <a:r>
              <a:rPr lang="fr-BE" sz="2800" b="1" dirty="0"/>
              <a:t>comme salarié </a:t>
            </a:r>
            <a:r>
              <a:rPr lang="fr-BE" sz="2800" dirty="0"/>
              <a:t>(quel que soit le montant des revenus) </a:t>
            </a:r>
            <a:r>
              <a:rPr lang="fr-BE" sz="2800" b="1" dirty="0"/>
              <a:t>ou </a:t>
            </a:r>
            <a:r>
              <a:rPr lang="fr-BE" sz="2800" dirty="0"/>
              <a:t>comme travailleur </a:t>
            </a:r>
            <a:r>
              <a:rPr lang="fr-BE" sz="2800" b="1" dirty="0"/>
              <a:t>indépendant. </a:t>
            </a:r>
            <a:endParaRPr lang="fr-BE" sz="2800" dirty="0"/>
          </a:p>
          <a:p>
            <a:pPr hangingPunct="0">
              <a:spcBef>
                <a:spcPts val="600"/>
              </a:spcBef>
              <a:buFont typeface="Wingdings" pitchFamily="2" charset="2"/>
              <a:buChar char="§"/>
            </a:pPr>
            <a:r>
              <a:rPr lang="fr-BE" sz="2800" b="1" dirty="0"/>
              <a:t>Si le début de l'occupation est situé pendant les études</a:t>
            </a:r>
            <a:r>
              <a:rPr lang="fr-BE" sz="2800" dirty="0"/>
              <a:t>, la période de 12 mois est calculée </a:t>
            </a:r>
            <a:r>
              <a:rPr lang="fr-BE" sz="2800" b="1" dirty="0"/>
              <a:t>à partir de la date de fin des études</a:t>
            </a:r>
            <a:r>
              <a:rPr lang="fr-BE" sz="2800" dirty="0"/>
              <a:t> (cf. langage courant).</a:t>
            </a:r>
            <a:endParaRPr lang="fr-BE" sz="24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725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4.2. Procédure pratique et suivi 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hangingPunct="0">
              <a:buFont typeface="Wingdings" pitchFamily="2" charset="2"/>
              <a:buChar char="§"/>
            </a:pPr>
            <a:r>
              <a:rPr lang="fr-BE" dirty="0"/>
              <a:t>Le chômeur </a:t>
            </a:r>
            <a:r>
              <a:rPr lang="fr-BE" b="1" dirty="0"/>
              <a:t>déclare </a:t>
            </a:r>
            <a:r>
              <a:rPr lang="fr-BE" dirty="0"/>
              <a:t>via</a:t>
            </a:r>
            <a:r>
              <a:rPr lang="fr-BE" b="1" dirty="0"/>
              <a:t> le C1 </a:t>
            </a:r>
            <a:r>
              <a:rPr lang="fr-BE" b="1" dirty="0">
                <a:solidFill>
                  <a:srgbClr val="C00000"/>
                </a:solidFill>
              </a:rPr>
              <a:t>au début </a:t>
            </a:r>
            <a:r>
              <a:rPr lang="fr-BE" b="1" dirty="0"/>
              <a:t>de l’activité professionnelle de l’enfant </a:t>
            </a:r>
            <a:r>
              <a:rPr lang="fr-BE" dirty="0"/>
              <a:t>:</a:t>
            </a:r>
          </a:p>
          <a:p>
            <a:pPr lvl="1" hangingPunct="0">
              <a:buFont typeface="Wingdings" panose="05000000000000000000" pitchFamily="2" charset="2"/>
              <a:buChar char="Ø"/>
            </a:pPr>
            <a:r>
              <a:rPr lang="fr-BE" dirty="0"/>
              <a:t> Le montant mensuel brut « moyen » des revenus de l’enfant ;</a:t>
            </a:r>
          </a:p>
          <a:p>
            <a:pPr lvl="1" hangingPunct="0">
              <a:buFont typeface="Wingdings" panose="05000000000000000000" pitchFamily="2" charset="2"/>
              <a:buChar char="Ø"/>
            </a:pPr>
            <a:r>
              <a:rPr lang="fr-BE" dirty="0"/>
              <a:t> La date de début de l’occupation ;</a:t>
            </a:r>
          </a:p>
          <a:p>
            <a:pPr lvl="1" hangingPunct="0">
              <a:buFont typeface="Wingdings" panose="05000000000000000000" pitchFamily="2" charset="2"/>
              <a:buChar char="Ø"/>
            </a:pPr>
            <a:r>
              <a:rPr lang="fr-BE" dirty="0"/>
              <a:t> La date de fin des études 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fr-BE" dirty="0"/>
              <a:t>Le BC nous transmettra alors une </a:t>
            </a:r>
            <a:r>
              <a:rPr lang="fr-BE" b="1" dirty="0">
                <a:solidFill>
                  <a:srgbClr val="C00000"/>
                </a:solidFill>
              </a:rPr>
              <a:t>C2</a:t>
            </a:r>
            <a:r>
              <a:rPr lang="fr-BE" dirty="0"/>
              <a:t> reprenant:</a:t>
            </a:r>
          </a:p>
          <a:p>
            <a:pPr lvl="1" hangingPunct="0">
              <a:buFont typeface="Wingdings" panose="05000000000000000000" pitchFamily="2" charset="2"/>
              <a:buChar char="Ø"/>
            </a:pPr>
            <a:r>
              <a:rPr lang="fr-BE" dirty="0"/>
              <a:t> Un code </a:t>
            </a:r>
            <a:r>
              <a:rPr lang="fr-BE" b="1" dirty="0">
                <a:solidFill>
                  <a:srgbClr val="C00000"/>
                </a:solidFill>
              </a:rPr>
              <a:t>« A »</a:t>
            </a:r>
            <a:r>
              <a:rPr lang="fr-BE" dirty="0">
                <a:solidFill>
                  <a:srgbClr val="C00000"/>
                </a:solidFill>
              </a:rPr>
              <a:t> + </a:t>
            </a:r>
            <a:r>
              <a:rPr lang="fr-BE" b="1" dirty="0">
                <a:solidFill>
                  <a:srgbClr val="C00000"/>
                </a:solidFill>
              </a:rPr>
              <a:t>«</a:t>
            </a:r>
            <a:r>
              <a:rPr lang="fr-BE" b="1" dirty="0" err="1">
                <a:solidFill>
                  <a:srgbClr val="C00000"/>
                </a:solidFill>
              </a:rPr>
              <a:t>A</a:t>
            </a:r>
            <a:r>
              <a:rPr lang="fr-BE" b="1" baseline="30000" dirty="0" err="1">
                <a:solidFill>
                  <a:srgbClr val="C00000"/>
                </a:solidFill>
              </a:rPr>
              <a:t>ind</a:t>
            </a:r>
            <a:r>
              <a:rPr lang="fr-BE" b="1" baseline="30000" dirty="0">
                <a:solidFill>
                  <a:srgbClr val="C00000"/>
                </a:solidFill>
              </a:rPr>
              <a:t> </a:t>
            </a:r>
            <a:r>
              <a:rPr lang="fr-BE" b="1" dirty="0">
                <a:solidFill>
                  <a:srgbClr val="C00000"/>
                </a:solidFill>
              </a:rPr>
              <a:t>110&amp;1M» </a:t>
            </a:r>
            <a:r>
              <a:rPr lang="fr-BE" b="1" dirty="0"/>
              <a:t>à la date de D.A </a:t>
            </a:r>
            <a:r>
              <a:rPr lang="fr-BE" dirty="0"/>
              <a:t>(si le statut est octroyé sur base de la neutralisation des revenus)</a:t>
            </a:r>
          </a:p>
          <a:p>
            <a:pPr lvl="1" hangingPunct="0">
              <a:buFont typeface="Wingdings" panose="05000000000000000000" pitchFamily="2" charset="2"/>
              <a:buChar char="Ø"/>
            </a:pPr>
            <a:r>
              <a:rPr lang="fr-BE" dirty="0"/>
              <a:t>Un code</a:t>
            </a:r>
            <a:r>
              <a:rPr lang="fr-BE" b="1" dirty="0"/>
              <a:t> </a:t>
            </a:r>
            <a:r>
              <a:rPr lang="fr-BE" b="1" dirty="0">
                <a:solidFill>
                  <a:srgbClr val="C00000"/>
                </a:solidFill>
              </a:rPr>
              <a:t>« B » + «</a:t>
            </a:r>
            <a:r>
              <a:rPr lang="fr-BE" b="1" dirty="0" err="1">
                <a:solidFill>
                  <a:srgbClr val="C00000"/>
                </a:solidFill>
              </a:rPr>
              <a:t>Aind</a:t>
            </a:r>
            <a:r>
              <a:rPr lang="fr-BE" b="1" dirty="0">
                <a:solidFill>
                  <a:srgbClr val="C00000"/>
                </a:solidFill>
              </a:rPr>
              <a:t> 110&amp;3»</a:t>
            </a:r>
            <a:r>
              <a:rPr lang="fr-BE" b="1" dirty="0"/>
              <a:t> 12 mois plus tard</a:t>
            </a:r>
          </a:p>
          <a:p>
            <a:pPr marL="0" indent="0" hangingPunc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432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5. Co-</a:t>
            </a:r>
            <a:r>
              <a:rPr lang="fr-BE" b="1" i="1" dirty="0" err="1"/>
              <a:t>Housing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5121275"/>
          </a:xfrm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ts val="600"/>
              </a:spcBef>
              <a:buNone/>
            </a:pP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Concerne les assurés qui vivent en </a:t>
            </a:r>
            <a:r>
              <a:rPr lang="fr-FR" sz="41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sous le même toit</a:t>
            </a: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 et qui revendiquent le </a:t>
            </a:r>
            <a:r>
              <a:rPr lang="fr-FR" sz="4100" b="1" dirty="0">
                <a:solidFill>
                  <a:srgbClr val="C00000"/>
                </a:solidFill>
                <a:sym typeface="Wingdings" panose="05000000000000000000" pitchFamily="2" charset="2"/>
              </a:rPr>
              <a:t>statut isolé</a:t>
            </a: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lvl="0" indent="0">
              <a:spcBef>
                <a:spcPts val="600"/>
              </a:spcBef>
              <a:buNone/>
            </a:pPr>
            <a:endParaRPr lang="fr-FR" sz="41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fr-FR" sz="4100" u="sng" dirty="0">
                <a:solidFill>
                  <a:prstClr val="black"/>
                </a:solidFill>
                <a:sym typeface="Wingdings" panose="05000000000000000000" pitchFamily="2" charset="2"/>
              </a:rPr>
              <a:t>Déclaration via C1, </a:t>
            </a:r>
            <a:r>
              <a:rPr lang="fr-FR" sz="41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C1-annexe REGIS </a:t>
            </a:r>
            <a:r>
              <a:rPr lang="fr-FR" sz="4100" u="sng" dirty="0">
                <a:solidFill>
                  <a:prstClr val="black"/>
                </a:solidFill>
                <a:sym typeface="Wingdings" panose="05000000000000000000" pitchFamily="2" charset="2"/>
              </a:rPr>
              <a:t>&amp; fournir</a:t>
            </a: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lvl="0">
              <a:spcBef>
                <a:spcPts val="600"/>
              </a:spcBef>
            </a:pP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Contrat de location;</a:t>
            </a:r>
          </a:p>
          <a:p>
            <a:pPr lvl="0">
              <a:spcBef>
                <a:spcPts val="600"/>
              </a:spcBef>
            </a:pP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Attestation indiquant qu’il dispose d’une chambre séparée;</a:t>
            </a:r>
          </a:p>
          <a:p>
            <a:pPr lvl="0">
              <a:spcBef>
                <a:spcPts val="600"/>
              </a:spcBef>
            </a:pP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Explications concernant qu’il mène une vie autonome.</a:t>
            </a:r>
          </a:p>
          <a:p>
            <a:pPr marL="0" lvl="0" indent="0" algn="ctr">
              <a:spcBef>
                <a:spcPts val="600"/>
              </a:spcBef>
              <a:buNone/>
            </a:pPr>
            <a:r>
              <a:rPr lang="fr-FR" sz="4100" dirty="0">
                <a:solidFill>
                  <a:prstClr val="black"/>
                </a:solidFill>
                <a:sym typeface="Wingdings" panose="05000000000000000000" pitchFamily="2" charset="2"/>
              </a:rPr>
              <a:t> Attribution du </a:t>
            </a:r>
            <a:r>
              <a:rPr lang="fr-FR" sz="4100" b="1" dirty="0">
                <a:solidFill>
                  <a:srgbClr val="C00000"/>
                </a:solidFill>
                <a:sym typeface="Wingdings" panose="05000000000000000000" pitchFamily="2" charset="2"/>
              </a:rPr>
              <a:t>statut isolé </a:t>
            </a:r>
            <a:r>
              <a:rPr lang="fr-FR" sz="4100" b="1" u="sng" dirty="0">
                <a:sym typeface="Wingdings" panose="05000000000000000000" pitchFamily="2" charset="2"/>
              </a:rPr>
              <a:t>sauf</a:t>
            </a:r>
            <a:r>
              <a:rPr lang="fr-FR" sz="4100" dirty="0">
                <a:sym typeface="Wingdings" panose="05000000000000000000" pitchFamily="2" charset="2"/>
              </a:rPr>
              <a:t> si le dossier contient des </a:t>
            </a:r>
            <a:r>
              <a:rPr lang="fr-FR" sz="4100" b="1" dirty="0">
                <a:sym typeface="Wingdings" panose="05000000000000000000" pitchFamily="2" charset="2"/>
              </a:rPr>
              <a:t>éléments clairs</a:t>
            </a:r>
            <a:r>
              <a:rPr lang="fr-FR" sz="4100" dirty="0">
                <a:sym typeface="Wingdings" panose="05000000000000000000" pitchFamily="2" charset="2"/>
              </a:rPr>
              <a:t> empêchant l’octroi de ce statut</a:t>
            </a:r>
            <a:r>
              <a:rPr lang="fr-FR" sz="4100" b="1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indent="0" hangingPunc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764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3A5FE1-739B-4B14-B176-1258D477C1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422809-ED3E-4758-9227-73953A579E5C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f1b85f46-8f47-4c7a-8346-9752567dac4a"/>
    <ds:schemaRef ds:uri="http://schemas.openxmlformats.org/package/2006/metadata/core-properties"/>
    <ds:schemaRef ds:uri="badce1e3-4228-484a-9cea-a1abab477a44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2EBED05-5CB0-453B-A3A0-755D459DD3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7085</TotalTime>
  <Words>2549</Words>
  <Application>Microsoft Office PowerPoint</Application>
  <PresentationFormat>Affichage à l'écran (4:3)</PresentationFormat>
  <Paragraphs>258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Courier New</vt:lpstr>
      <vt:lpstr>Wingdings</vt:lpstr>
      <vt:lpstr>Thème Office</vt:lpstr>
      <vt:lpstr>La situation familiale (niv.2)</vt:lpstr>
      <vt:lpstr>Table des matières</vt:lpstr>
      <vt:lpstr>Table des matières</vt:lpstr>
      <vt:lpstr>1. Vivre seul et payer une PA</vt:lpstr>
      <vt:lpstr>1.1. Bénéficiaire de la PA …</vt:lpstr>
      <vt:lpstr>1.1. Bénéficiaire de la PA …</vt:lpstr>
      <vt:lpstr>1.2. Etat de besoin …</vt:lpstr>
      <vt:lpstr>1.3. Si ne paie pas ou plus la PA …</vt:lpstr>
      <vt:lpstr>1.4. P.A avec effet rétroactif</vt:lpstr>
      <vt:lpstr>1.4. P.A avec effet rétroactif </vt:lpstr>
      <vt:lpstr>1.4. P.A avec effet rétroactif </vt:lpstr>
      <vt:lpstr>Exemple : date de jugement – date de réception 1er cas de figure : Réception jugement le 09.02.2023 </vt:lpstr>
      <vt:lpstr>Exemple : date de jugement – date de réception 2ème cas de figure : Réception jugement le 09.10.2023 </vt:lpstr>
      <vt:lpstr>Exemple : date de jugement – date de réception 3ème cas de figure : Réception jugement le 09.02.2024 </vt:lpstr>
      <vt:lpstr>2. Hébergement en alternance</vt:lpstr>
      <vt:lpstr>2.1. Principe</vt:lpstr>
      <vt:lpstr>2.2. Cohabitation régulière</vt:lpstr>
      <vt:lpstr>2.3. Incidence sur le code chômage</vt:lpstr>
      <vt:lpstr>3. Conjoint – Partenaire</vt:lpstr>
      <vt:lpstr>3.1. Revenus professionnels </vt:lpstr>
      <vt:lpstr>3.2. Procédure Pratique</vt:lpstr>
      <vt:lpstr>3.3. CDI &amp; salaire fixe</vt:lpstr>
      <vt:lpstr>3.4. CDI &amp; salaire variable</vt:lpstr>
      <vt:lpstr>3.4. CDI &amp; salaire variable</vt:lpstr>
      <vt:lpstr>En bref, CDI …</vt:lpstr>
      <vt:lpstr>3.5. CDD &amp; salaire fixe</vt:lpstr>
      <vt:lpstr>3.6. CDD &amp; salaire variable</vt:lpstr>
      <vt:lpstr>3.6. CDD &amp; salaire variable</vt:lpstr>
      <vt:lpstr>3.7. CDD &lt; à 1 mois</vt:lpstr>
      <vt:lpstr>En bref CDD …</vt:lpstr>
      <vt:lpstr>En bref CDD …</vt:lpstr>
      <vt:lpstr>4. Neutralisation des revenus professionnels de l’enfant  </vt:lpstr>
      <vt:lpstr>4.1. Période de 12 mois</vt:lpstr>
      <vt:lpstr>4.2. Procédure pratique et suivi </vt:lpstr>
      <vt:lpstr>5. Co-Housing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FCJ-M26-Situation familiale (niv.2)-Participants</dc:title>
  <dc:creator>u99lge</dc:creator>
  <cp:lastModifiedBy>Anja Sobkowiak</cp:lastModifiedBy>
  <cp:revision>526</cp:revision>
  <cp:lastPrinted>2022-10-12T07:29:43Z</cp:lastPrinted>
  <dcterms:created xsi:type="dcterms:W3CDTF">2010-09-22T12:12:06Z</dcterms:created>
  <dcterms:modified xsi:type="dcterms:W3CDTF">2023-01-06T21:07:13Z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76;#Situation familiale - Avancé|d3c5750f-6895-43b7-8632-cc553ff756d5</vt:lpwstr>
  </property>
  <property fmtid="{D5CDD505-2E9C-101B-9397-08002B2CF9AE}" pid="8" name="Order">
    <vt:r8>46200</vt:r8>
  </property>
  <property fmtid="{D5CDD505-2E9C-101B-9397-08002B2CF9AE}" pid="9" name="_dlc_DocIdItemGuid">
    <vt:lpwstr>8e809ec9-e7c1-4d7b-9b65-eae526550270</vt:lpwstr>
  </property>
</Properties>
</file>