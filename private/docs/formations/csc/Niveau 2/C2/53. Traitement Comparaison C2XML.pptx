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8"/>
  </p:notesMasterIdLst>
  <p:handoutMasterIdLst>
    <p:handoutMasterId r:id="rId29"/>
  </p:handoutMasterIdLst>
  <p:sldIdLst>
    <p:sldId id="305" r:id="rId5"/>
    <p:sldId id="257" r:id="rId6"/>
    <p:sldId id="439" r:id="rId7"/>
    <p:sldId id="308" r:id="rId8"/>
    <p:sldId id="310" r:id="rId9"/>
    <p:sldId id="307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473" r:id="rId21"/>
    <p:sldId id="474" r:id="rId22"/>
    <p:sldId id="476" r:id="rId23"/>
    <p:sldId id="477" r:id="rId24"/>
    <p:sldId id="486" r:id="rId25"/>
    <p:sldId id="487" r:id="rId26"/>
    <p:sldId id="480" r:id="rId27"/>
  </p:sldIdLst>
  <p:sldSz cx="9144000" cy="6858000" type="screen4x3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33CC"/>
    <a:srgbClr val="669900"/>
    <a:srgbClr val="FF9933"/>
    <a:srgbClr val="00FF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8B67E3-C7D5-4997-A636-1878A95158BD}" v="8" dt="2023-08-31T07:36:11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28" autoAdjust="0"/>
    <p:restoredTop sz="94291" autoAdjust="0"/>
  </p:normalViewPr>
  <p:slideViewPr>
    <p:cSldViewPr>
      <p:cViewPr varScale="1">
        <p:scale>
          <a:sx n="77" d="100"/>
          <a:sy n="77" d="100"/>
        </p:scale>
        <p:origin x="128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18/09/2023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2086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18/09/2023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948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6594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8380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5016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746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204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1270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1882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766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7545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3505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093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242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134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429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678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0405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11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4865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5030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8241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842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143F-3B39-4954-8CBB-9C89ABF14E73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253988"/>
      </p:ext>
    </p:extLst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7E0A0-6EBE-413B-A298-218F91FB0BD7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707844"/>
      </p:ext>
    </p:extLst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8132-8F8D-46AB-B47F-D39324C9D232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47329"/>
      </p:ext>
    </p:extLst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0547-9E35-4822-8633-EBABDA1FACFD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577545"/>
      </p:ext>
    </p:extLst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59F7-DC19-4F3F-AD6E-3BF7CD93EF85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050834"/>
      </p:ext>
    </p:extLst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0F15-DFB9-4658-898A-B223D77F5657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252110"/>
      </p:ext>
    </p:extLst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082C-946B-4A31-8043-16F92CB016B8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641546"/>
      </p:ext>
    </p:extLst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B1D7-4D4A-42F9-81EA-1980F1B7DD75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839604"/>
      </p:ext>
    </p:extLst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853A-AA4F-4786-827E-B303E67A61CF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201962"/>
      </p:ext>
    </p:extLst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14A2E-E2FA-4482-B68F-C6EDC6341564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807322"/>
      </p:ext>
    </p:extLst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CB3B-8025-4F52-A2B3-52EBC9A4ABD9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982936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2E82F-7C34-4BE0-9469-802D3C1B9FCB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18/09/2023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01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latin typeface="Times New Roman" pitchFamily="18" charset="0"/>
                <a:cs typeface="Times New Roman" pitchFamily="18" charset="0"/>
              </a:rPr>
              <a:t>		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404401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spcBef>
                <a:spcPts val="2400"/>
              </a:spcBef>
              <a:buNone/>
            </a:pPr>
            <a:r>
              <a:rPr lang="en-US" sz="8000" b="1" dirty="0" err="1">
                <a:latin typeface="+mj-lt"/>
                <a:cs typeface="Times New Roman" pitchFamily="18" charset="0"/>
              </a:rPr>
              <a:t>Traitement</a:t>
            </a:r>
            <a:r>
              <a:rPr lang="en-US" sz="8000" b="1" dirty="0">
                <a:latin typeface="+mj-lt"/>
                <a:cs typeface="Times New Roman" pitchFamily="18" charset="0"/>
              </a:rPr>
              <a:t> de la </a:t>
            </a:r>
            <a:r>
              <a:rPr lang="en-US" sz="8000" b="1" dirty="0" err="1">
                <a:latin typeface="+mj-lt"/>
                <a:cs typeface="Times New Roman" pitchFamily="18" charset="0"/>
              </a:rPr>
              <a:t>comparaison</a:t>
            </a:r>
            <a:r>
              <a:rPr lang="en-US" sz="8000" b="1" dirty="0">
                <a:latin typeface="+mj-lt"/>
                <a:cs typeface="Times New Roman" pitchFamily="18" charset="0"/>
              </a:rPr>
              <a:t> C2XML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072402C-743F-4E6E-83B3-B91CA5F3A829}"/>
              </a:ext>
            </a:extLst>
          </p:cNvPr>
          <p:cNvSpPr txBox="1"/>
          <p:nvPr/>
        </p:nvSpPr>
        <p:spPr>
          <a:xfrm>
            <a:off x="457200" y="598701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FLT – Version 24.08.2023</a:t>
            </a:r>
          </a:p>
        </p:txBody>
      </p:sp>
    </p:spTree>
    <p:extLst>
      <p:ext uri="{BB962C8B-B14F-4D97-AF65-F5344CB8AC3E}">
        <p14:creationId xmlns:p14="http://schemas.microsoft.com/office/powerpoint/2010/main" val="4285251041"/>
      </p:ext>
    </p:extLst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solidFill>
                  <a:srgbClr val="0033CC"/>
                </a:solidFill>
              </a:rPr>
              <a:t>Déroulement de la formation</a:t>
            </a:r>
            <a:endParaRPr lang="fr-FR" b="1" i="1" dirty="0">
              <a:solidFill>
                <a:srgbClr val="0033CC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800" b="1" u="sng" dirty="0">
                <a:solidFill>
                  <a:srgbClr val="C00000"/>
                </a:solidFill>
              </a:rPr>
              <a:t>Présentation théorique et pratique </a:t>
            </a:r>
            <a:endParaRPr lang="fr-BE" sz="2800" b="1" dirty="0">
              <a:solidFill>
                <a:srgbClr val="C00000"/>
              </a:solidFill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sz="2000" b="1" dirty="0"/>
              <a:t>Rappel</a:t>
            </a:r>
            <a:r>
              <a:rPr lang="fr-BE" sz="2000" dirty="0"/>
              <a:t> structure C2 XML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sz="2000" b="1" dirty="0"/>
              <a:t>Ecran « Comparaison C2 »: </a:t>
            </a:r>
            <a:r>
              <a:rPr lang="fr-BE" sz="2000" dirty="0"/>
              <a:t>explication des données visualisables et liens avec la C2XML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sz="2000" b="1" dirty="0"/>
              <a:t>Principes de base </a:t>
            </a:r>
            <a:r>
              <a:rPr lang="fr-BE" sz="2000" dirty="0"/>
              <a:t>à appliquer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sz="2000" b="1" dirty="0"/>
              <a:t>Analyse et traitement </a:t>
            </a:r>
            <a:r>
              <a:rPr lang="fr-BE" sz="2000" dirty="0"/>
              <a:t>de C2 discordantes:</a:t>
            </a:r>
          </a:p>
          <a:p>
            <a:pPr lvl="2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BE" sz="1800" dirty="0"/>
              <a:t>Visualisation des écrans et explication des manipulations</a:t>
            </a:r>
          </a:p>
          <a:p>
            <a:pPr lvl="2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BE" sz="1800" dirty="0"/>
              <a:t>Gestion « C8 plainte »</a:t>
            </a:r>
          </a:p>
          <a:p>
            <a:pPr lvl="2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BE" sz="1800" dirty="0"/>
              <a:t>Situations spécifiques</a:t>
            </a:r>
          </a:p>
          <a:p>
            <a:pPr lvl="2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BE" sz="1800" dirty="0"/>
              <a:t>Tâches en lien avec la comparaison</a:t>
            </a:r>
          </a:p>
          <a:p>
            <a:pPr marL="914400" lvl="2" indent="0">
              <a:spcBef>
                <a:spcPts val="0"/>
              </a:spcBef>
              <a:buNone/>
            </a:pPr>
            <a:endParaRPr lang="fr-BE" sz="1200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800" b="1" u="sng" dirty="0">
                <a:solidFill>
                  <a:srgbClr val="C00000"/>
                </a:solidFill>
              </a:rPr>
              <a:t>Traitement de </a:t>
            </a:r>
            <a:r>
              <a:rPr lang="fr-BE" sz="2800" b="1" u="sng">
                <a:solidFill>
                  <a:srgbClr val="C00000"/>
                </a:solidFill>
              </a:rPr>
              <a:t>tâches</a:t>
            </a:r>
            <a:r>
              <a:rPr lang="fr-BE" sz="2800" b="1">
                <a:solidFill>
                  <a:srgbClr val="C00000"/>
                </a:solidFill>
              </a:rPr>
              <a:t>:</a:t>
            </a:r>
            <a:endParaRPr lang="fr-BE" sz="2800" b="1" dirty="0">
              <a:solidFill>
                <a:srgbClr val="C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742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81000" y="672798"/>
            <a:ext cx="807720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>
              <a:defRPr sz="2800" b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fr-BE" altLang="fr-FR" sz="4400" i="1" dirty="0">
                <a:solidFill>
                  <a:srgbClr val="0033CC"/>
                </a:solidFill>
                <a:effectLst/>
              </a:rPr>
              <a:t>Table des matières</a:t>
            </a:r>
            <a:r>
              <a:rPr lang="fr-FR" altLang="fr-FR" sz="44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/>
              </a:rPr>
              <a:t>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81000" y="1752600"/>
            <a:ext cx="8077200" cy="4572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1200"/>
              </a:spcBef>
              <a:buClr>
                <a:prstClr val="black"/>
              </a:buClr>
              <a:buAutoNum type="arabicPeriod"/>
            </a:pPr>
            <a:r>
              <a:rPr lang="fr-BE" sz="2400" b="1" i="1" dirty="0"/>
              <a:t>Structure C2XML: Rappel					</a:t>
            </a:r>
            <a:r>
              <a:rPr lang="fr-BE" sz="1800" i="1" dirty="0" err="1"/>
              <a:t>Pg</a:t>
            </a:r>
            <a:r>
              <a:rPr lang="fr-BE" sz="1800" i="1" dirty="0"/>
              <a:t>. 4</a:t>
            </a:r>
            <a:endParaRPr lang="fr-FR" altLang="fr-FR" sz="1800" b="1" dirty="0">
              <a:solidFill>
                <a:prstClr val="black"/>
              </a:solidFill>
            </a:endParaRPr>
          </a:p>
          <a:p>
            <a:pPr marL="457200" indent="-457200">
              <a:spcBef>
                <a:spcPts val="1200"/>
              </a:spcBef>
              <a:buClr>
                <a:prstClr val="black"/>
              </a:buClr>
              <a:buAutoNum type="arabicPeriod"/>
            </a:pPr>
            <a:r>
              <a:rPr lang="fr-BE" sz="2400" b="1" i="1" dirty="0"/>
              <a:t>Ecran « Comparaison C2  »				</a:t>
            </a:r>
            <a:r>
              <a:rPr lang="fr-BE" sz="1800" i="1" dirty="0" err="1"/>
              <a:t>Pg</a:t>
            </a:r>
            <a:r>
              <a:rPr lang="fr-BE" sz="1800" i="1" dirty="0"/>
              <a:t>. 6</a:t>
            </a:r>
            <a:endParaRPr lang="fr-FR" altLang="fr-FR" sz="1800" dirty="0">
              <a:solidFill>
                <a:prstClr val="black"/>
              </a:solidFill>
            </a:endParaRPr>
          </a:p>
          <a:p>
            <a:pPr marL="457200" indent="-457200">
              <a:spcBef>
                <a:spcPts val="1200"/>
              </a:spcBef>
              <a:buClr>
                <a:prstClr val="black"/>
              </a:buClr>
              <a:buAutoNum type="arabicPeriod"/>
            </a:pPr>
            <a:r>
              <a:rPr lang="fr-FR" altLang="fr-FR" sz="2400" b="1" dirty="0">
                <a:solidFill>
                  <a:prstClr val="black"/>
                </a:solidFill>
              </a:rPr>
              <a:t>Principes de base						</a:t>
            </a:r>
            <a:r>
              <a:rPr lang="fr-FR" altLang="fr-FR" sz="1800" i="1" dirty="0" err="1">
                <a:solidFill>
                  <a:prstClr val="black"/>
                </a:solidFill>
              </a:rPr>
              <a:t>Pg</a:t>
            </a:r>
            <a:r>
              <a:rPr lang="fr-FR" altLang="fr-FR" sz="1800" i="1" dirty="0">
                <a:solidFill>
                  <a:prstClr val="black"/>
                </a:solidFill>
              </a:rPr>
              <a:t>. 14</a:t>
            </a:r>
          </a:p>
          <a:p>
            <a:pPr marL="457200" indent="-457200">
              <a:buClr>
                <a:prstClr val="black"/>
              </a:buClr>
              <a:buAutoNum type="arabicPeriod"/>
            </a:pPr>
            <a:r>
              <a:rPr lang="en-US" sz="2400" b="1" dirty="0" err="1">
                <a:cs typeface="Times New Roman" pitchFamily="18" charset="0"/>
              </a:rPr>
              <a:t>Analyse</a:t>
            </a:r>
            <a:r>
              <a:rPr lang="en-US" sz="2400" b="1" dirty="0">
                <a:cs typeface="Times New Roman" pitchFamily="18" charset="0"/>
              </a:rPr>
              <a:t> et </a:t>
            </a:r>
            <a:r>
              <a:rPr lang="en-US" sz="2400" b="1" dirty="0" err="1">
                <a:cs typeface="Times New Roman" pitchFamily="18" charset="0"/>
              </a:rPr>
              <a:t>traitement</a:t>
            </a:r>
            <a:r>
              <a:rPr lang="en-US" sz="2400" b="1" dirty="0">
                <a:cs typeface="Times New Roman" pitchFamily="18" charset="0"/>
              </a:rPr>
              <a:t> de C2 </a:t>
            </a:r>
            <a:r>
              <a:rPr lang="en-US" sz="2400" b="1" dirty="0" err="1">
                <a:cs typeface="Times New Roman" pitchFamily="18" charset="0"/>
              </a:rPr>
              <a:t>discordantes</a:t>
            </a:r>
            <a:r>
              <a:rPr lang="en-US" sz="2400" b="1" dirty="0">
                <a:cs typeface="Times New Roman" pitchFamily="18" charset="0"/>
              </a:rPr>
              <a:t>		</a:t>
            </a:r>
            <a:r>
              <a:rPr lang="en-US" sz="1800" i="1" dirty="0">
                <a:cs typeface="Times New Roman" pitchFamily="18" charset="0"/>
              </a:rPr>
              <a:t>Pg. 15</a:t>
            </a:r>
            <a:endParaRPr lang="fr-FR" altLang="fr-FR" sz="1800" i="1" dirty="0">
              <a:solidFill>
                <a:prstClr val="black"/>
              </a:solidFill>
            </a:endParaRPr>
          </a:p>
          <a:p>
            <a:pPr marL="400050" lvl="1" indent="0">
              <a:buClr>
                <a:prstClr val="black"/>
              </a:buClr>
              <a:buNone/>
            </a:pPr>
            <a:r>
              <a:rPr lang="fr-FR" altLang="fr-FR" sz="2000" b="1" dirty="0">
                <a:solidFill>
                  <a:prstClr val="black"/>
                </a:solidFill>
              </a:rPr>
              <a:t>4.1.	</a:t>
            </a:r>
            <a:r>
              <a:rPr lang="fr-BE" sz="2000" b="1" i="1" dirty="0"/>
              <a:t> </a:t>
            </a:r>
            <a:r>
              <a:rPr lang="fr-BE" sz="2000" b="1" dirty="0"/>
              <a:t>Traitement de la C2 XML: </a:t>
            </a:r>
            <a:r>
              <a:rPr lang="fr-BE" sz="2000" b="1" dirty="0">
                <a:ea typeface="Segoe UI Emoji" panose="020B0502040204020203" pitchFamily="34" charset="0"/>
              </a:rPr>
              <a:t>Écrans et manipulations</a:t>
            </a:r>
            <a:r>
              <a:rPr lang="fr-BE" sz="2000" b="1" i="1" dirty="0"/>
              <a:t>		</a:t>
            </a:r>
            <a:r>
              <a:rPr lang="en-US" sz="1800" i="1" dirty="0">
                <a:cs typeface="Times New Roman" pitchFamily="18" charset="0"/>
              </a:rPr>
              <a:t>Pg. 16</a:t>
            </a:r>
          </a:p>
          <a:p>
            <a:pPr marL="400050" lvl="1" indent="0">
              <a:buClr>
                <a:prstClr val="black"/>
              </a:buClr>
              <a:buNone/>
            </a:pPr>
            <a:r>
              <a:rPr lang="fr-FR" altLang="fr-FR" sz="2000" b="1" dirty="0">
                <a:solidFill>
                  <a:prstClr val="black"/>
                </a:solidFill>
              </a:rPr>
              <a:t>4.2.	</a:t>
            </a:r>
            <a:r>
              <a:rPr lang="fr-BE" sz="2000" b="1" i="1" dirty="0"/>
              <a:t> </a:t>
            </a:r>
            <a:r>
              <a:rPr lang="fr-BE" sz="2000" b="1" dirty="0"/>
              <a:t>Situations spécifiques</a:t>
            </a:r>
            <a:r>
              <a:rPr lang="fr-BE" sz="2000" b="1" i="1" dirty="0"/>
              <a:t>			</a:t>
            </a:r>
            <a:r>
              <a:rPr lang="fr-BE" sz="1800" b="1" i="1" dirty="0"/>
              <a:t>		</a:t>
            </a:r>
            <a:r>
              <a:rPr lang="en-US" sz="1800" i="1" dirty="0">
                <a:cs typeface="Times New Roman" pitchFamily="18" charset="0"/>
              </a:rPr>
              <a:t>Pg. 23</a:t>
            </a:r>
          </a:p>
          <a:p>
            <a:pPr marL="400050" lvl="1" indent="0">
              <a:buClr>
                <a:prstClr val="black"/>
              </a:buClr>
              <a:buNone/>
            </a:pPr>
            <a:r>
              <a:rPr lang="en-US" sz="2000" b="1" i="1" dirty="0">
                <a:cs typeface="Times New Roman" pitchFamily="18" charset="0"/>
              </a:rPr>
              <a:t>4.3.	</a:t>
            </a:r>
            <a:r>
              <a:rPr lang="fr-BE" sz="2000" b="1" dirty="0"/>
              <a:t> Aperçu des tâches liées à la Comparaison C2XML</a:t>
            </a:r>
            <a:r>
              <a:rPr lang="fr-BE" sz="2000" b="1" i="1" dirty="0"/>
              <a:t> </a:t>
            </a:r>
            <a:r>
              <a:rPr lang="fr-BE" sz="1600" b="1" i="1" dirty="0"/>
              <a:t>		</a:t>
            </a:r>
            <a:r>
              <a:rPr lang="en-US" sz="1800" i="1" dirty="0">
                <a:cs typeface="Times New Roman" pitchFamily="18" charset="0"/>
              </a:rPr>
              <a:t>Pg. 25</a:t>
            </a:r>
            <a:endParaRPr lang="en-US" sz="1600" i="1" dirty="0">
              <a:cs typeface="Times New Roman" pitchFamily="18" charset="0"/>
            </a:endParaRPr>
          </a:p>
          <a:p>
            <a:pPr marL="400050" lvl="1" indent="0">
              <a:buClr>
                <a:prstClr val="black"/>
              </a:buClr>
              <a:buNone/>
            </a:pPr>
            <a:endParaRPr lang="en-US" sz="1800" i="1" dirty="0"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97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rmAutofit/>
          </a:bodyPr>
          <a:lstStyle/>
          <a:p>
            <a:pPr algn="r"/>
            <a:r>
              <a:rPr lang="fr-BE" sz="3600" b="1" i="1" dirty="0"/>
              <a:t>1. Structure C2XML: Rappel</a:t>
            </a:r>
            <a:endParaRPr lang="fr-FR" sz="3600" b="1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52316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b="1" u="sng" dirty="0">
                <a:solidFill>
                  <a:srgbClr val="C00000"/>
                </a:solidFill>
              </a:rPr>
              <a:t>Structure en arborescence</a:t>
            </a:r>
            <a:r>
              <a:rPr lang="fr-BE" sz="2800" b="1" dirty="0">
                <a:solidFill>
                  <a:srgbClr val="C00000"/>
                </a:solidFill>
              </a:rPr>
              <a:t> </a:t>
            </a:r>
            <a:r>
              <a:rPr lang="fr-BE" sz="2800" dirty="0"/>
              <a:t>qui s’articule autour de: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400" b="1" u="sng" dirty="0"/>
              <a:t>2 répertoires principaux</a:t>
            </a:r>
            <a:r>
              <a:rPr lang="fr-BE" sz="2400" dirty="0"/>
              <a:t>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sz="1800" b="1" dirty="0">
                <a:solidFill>
                  <a:srgbClr val="C00000"/>
                </a:solidFill>
              </a:rPr>
              <a:t>S24_DataC9 = </a:t>
            </a:r>
            <a:r>
              <a:rPr lang="fr-BE" sz="1800" dirty="0"/>
              <a:t>Caractéristiques de la D.A et données d’identification (1 seul par C2XML)</a:t>
            </a:r>
          </a:p>
          <a:p>
            <a:pPr marL="914400" lvl="2" indent="0">
              <a:buNone/>
            </a:pPr>
            <a:endParaRPr lang="fr-BE" sz="10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BE" sz="1800" b="1" dirty="0">
                <a:solidFill>
                  <a:srgbClr val="C00000"/>
                </a:solidFill>
              </a:rPr>
              <a:t>C2Body = </a:t>
            </a:r>
            <a:r>
              <a:rPr lang="fr-BE" sz="1800" dirty="0"/>
              <a:t>Etat du dossier tel que connu par le BC à un instant T (10 C2 Body max. par C2XML)</a:t>
            </a:r>
          </a:p>
          <a:p>
            <a:pPr marL="914400" lvl="2" indent="0">
              <a:buNone/>
            </a:pPr>
            <a:endParaRPr lang="fr-BE" sz="7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400" b="1" u="sng" dirty="0"/>
              <a:t>Répertoires secondaires</a:t>
            </a:r>
            <a:r>
              <a:rPr lang="fr-BE" sz="2400" b="1" dirty="0"/>
              <a:t> </a:t>
            </a:r>
            <a:r>
              <a:rPr lang="fr-BE" sz="2400" dirty="0"/>
              <a:t>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sz="1800" dirty="0"/>
              <a:t>Maximum 4 répertoires dans S24_DataC9: </a:t>
            </a:r>
          </a:p>
          <a:p>
            <a:pPr marL="914400" lvl="2" indent="0">
              <a:buNone/>
            </a:pPr>
            <a:r>
              <a:rPr lang="fr-BE" sz="1600" b="1" dirty="0">
                <a:solidFill>
                  <a:srgbClr val="C00000"/>
                </a:solidFill>
              </a:rPr>
              <a:t>Identification, </a:t>
            </a:r>
            <a:r>
              <a:rPr lang="fr-BE" sz="1600" b="1" dirty="0" err="1">
                <a:solidFill>
                  <a:srgbClr val="C00000"/>
                </a:solidFill>
              </a:rPr>
              <a:t>Death</a:t>
            </a:r>
            <a:r>
              <a:rPr lang="fr-BE" sz="1600" b="1" dirty="0">
                <a:solidFill>
                  <a:srgbClr val="C00000"/>
                </a:solidFill>
              </a:rPr>
              <a:t>, S18_ForeignResidency et S35_AdministratorProvisional</a:t>
            </a:r>
          </a:p>
          <a:p>
            <a:pPr marL="914400" lvl="2" indent="0">
              <a:buNone/>
            </a:pPr>
            <a:endParaRPr lang="fr-BE" sz="1000" b="1" dirty="0">
              <a:solidFill>
                <a:srgbClr val="C00000"/>
              </a:solidFill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fr-BE" sz="1800" dirty="0"/>
              <a:t>Maximum 4 répertoires par C2 Body: </a:t>
            </a:r>
          </a:p>
          <a:p>
            <a:pPr lvl="3">
              <a:buFont typeface="Calibri" panose="020F0502020204030204" pitchFamily="34" charset="0"/>
              <a:buChar char="‐"/>
            </a:pPr>
            <a:r>
              <a:rPr lang="fr-BE" sz="1600" b="1" dirty="0">
                <a:solidFill>
                  <a:srgbClr val="C00000"/>
                </a:solidFill>
              </a:rPr>
              <a:t>S04_Admissibility</a:t>
            </a:r>
          </a:p>
          <a:p>
            <a:pPr lvl="3">
              <a:buFont typeface="Calibri" panose="020F0502020204030204" pitchFamily="34" charset="0"/>
              <a:buChar char="‐"/>
            </a:pPr>
            <a:r>
              <a:rPr lang="fr-BE" sz="1600" b="1" dirty="0">
                <a:solidFill>
                  <a:srgbClr val="C00000"/>
                </a:solidFill>
              </a:rPr>
              <a:t>S36_OtherPayment</a:t>
            </a:r>
          </a:p>
          <a:p>
            <a:pPr lvl="3">
              <a:buFont typeface="Calibri" panose="020F0502020204030204" pitchFamily="34" charset="0"/>
              <a:buChar char="‐"/>
            </a:pPr>
            <a:r>
              <a:rPr lang="fr-BE" sz="1600" b="1" dirty="0" err="1">
                <a:solidFill>
                  <a:srgbClr val="C00000"/>
                </a:solidFill>
              </a:rPr>
              <a:t>OtherModules</a:t>
            </a:r>
            <a:endParaRPr lang="fr-BE" sz="1600" b="1" dirty="0">
              <a:solidFill>
                <a:srgbClr val="C00000"/>
              </a:solidFill>
            </a:endParaRPr>
          </a:p>
          <a:p>
            <a:pPr lvl="3">
              <a:buFont typeface="Calibri" panose="020F0502020204030204" pitchFamily="34" charset="0"/>
              <a:buChar char="‐"/>
            </a:pPr>
            <a:r>
              <a:rPr lang="fr-BE" sz="1600" b="1" dirty="0">
                <a:solidFill>
                  <a:srgbClr val="C00000"/>
                </a:solidFill>
              </a:rPr>
              <a:t>S29_ActivationAllowanceOfEmployment</a:t>
            </a:r>
            <a:endParaRPr lang="fr-BE" sz="1600" dirty="0"/>
          </a:p>
          <a:p>
            <a:pPr marL="0" lvl="2" indent="0">
              <a:buNone/>
            </a:pPr>
            <a:endParaRPr lang="fr-BE" sz="1600" b="1" dirty="0">
              <a:solidFill>
                <a:srgbClr val="C00000"/>
              </a:solidFill>
            </a:endParaRPr>
          </a:p>
          <a:p>
            <a:pPr marL="914400" lvl="2" indent="0">
              <a:buNone/>
            </a:pPr>
            <a:endParaRPr lang="fr-BE" sz="16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37660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541629" y="6200311"/>
            <a:ext cx="2133600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1807" y="2781032"/>
            <a:ext cx="40386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0070C0"/>
                </a:solidFill>
                <a:latin typeface="Arial" panose="020B0604020202020204" pitchFamily="34" charset="0"/>
              </a:rPr>
              <a:t> S04_Admissibility - S04 </a:t>
            </a:r>
            <a:r>
              <a:rPr lang="en-US" sz="1200" i="1" dirty="0" err="1">
                <a:solidFill>
                  <a:srgbClr val="0070C0"/>
                </a:solidFill>
                <a:latin typeface="Arial" panose="020B0604020202020204" pitchFamily="34" charset="0"/>
              </a:rPr>
              <a:t>Admissibilité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751807" y="3853690"/>
            <a:ext cx="50116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0070C0"/>
                </a:solidFill>
                <a:latin typeface="Arial" panose="020B0604020202020204" pitchFamily="34" charset="0"/>
              </a:rPr>
              <a:t> S36_OtherPayment - S36 </a:t>
            </a:r>
            <a:r>
              <a:rPr lang="en-US" sz="1200" i="1" dirty="0" err="1">
                <a:solidFill>
                  <a:srgbClr val="0070C0"/>
                </a:solidFill>
                <a:latin typeface="Arial" panose="020B0604020202020204" pitchFamily="34" charset="0"/>
              </a:rPr>
              <a:t>Autre</a:t>
            </a:r>
            <a:r>
              <a:rPr lang="en-US" sz="12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70C0"/>
                </a:solidFill>
                <a:latin typeface="Arial" panose="020B0604020202020204" pitchFamily="34" charset="0"/>
              </a:rPr>
              <a:t>Indemnisation</a:t>
            </a:r>
            <a:r>
              <a:rPr lang="en-US" sz="1200" dirty="0"/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07" y="4404431"/>
            <a:ext cx="34948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70C0"/>
                </a:solidFill>
                <a:latin typeface="Arial" panose="020B0604020202020204" pitchFamily="34" charset="0"/>
              </a:rPr>
              <a:t>OtherModules</a:t>
            </a:r>
            <a:r>
              <a:rPr lang="en-US" sz="1200" i="1" dirty="0">
                <a:solidFill>
                  <a:srgbClr val="0070C0"/>
                </a:solidFill>
                <a:latin typeface="Arial" panose="020B0604020202020204" pitchFamily="34" charset="0"/>
              </a:rPr>
              <a:t> - </a:t>
            </a:r>
            <a:r>
              <a:rPr lang="en-US" sz="1200" i="1" dirty="0" err="1">
                <a:solidFill>
                  <a:srgbClr val="0070C0"/>
                </a:solidFill>
                <a:latin typeface="Arial" panose="020B0604020202020204" pitchFamily="34" charset="0"/>
              </a:rPr>
              <a:t>Autres</a:t>
            </a:r>
            <a:r>
              <a:rPr lang="en-US" sz="1200" i="1" dirty="0">
                <a:solidFill>
                  <a:srgbClr val="0070C0"/>
                </a:solidFill>
                <a:latin typeface="Arial" panose="020B0604020202020204" pitchFamily="34" charset="0"/>
              </a:rPr>
              <a:t> Modules</a:t>
            </a:r>
            <a:endParaRPr lang="en-US" sz="1200" dirty="0"/>
          </a:p>
        </p:txBody>
      </p:sp>
      <p:sp>
        <p:nvSpPr>
          <p:cNvPr id="17" name="Rectangle 16"/>
          <p:cNvSpPr/>
          <p:nvPr/>
        </p:nvSpPr>
        <p:spPr>
          <a:xfrm>
            <a:off x="756158" y="5444461"/>
            <a:ext cx="741881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0070C0"/>
                </a:solidFill>
                <a:latin typeface="Arial" panose="020B0604020202020204" pitchFamily="34" charset="0"/>
              </a:rPr>
              <a:t> S29_ActivationAllowanceOfEmployment - S29 Activation All. </a:t>
            </a:r>
            <a:r>
              <a:rPr lang="en-US" sz="1200" i="1" dirty="0" err="1">
                <a:solidFill>
                  <a:srgbClr val="0070C0"/>
                </a:solidFill>
                <a:latin typeface="Arial" panose="020B0604020202020204" pitchFamily="34" charset="0"/>
              </a:rPr>
              <a:t>Chômage</a:t>
            </a:r>
            <a:endParaRPr lang="en-US" sz="1200" dirty="0"/>
          </a:p>
        </p:txBody>
      </p:sp>
      <p:sp>
        <p:nvSpPr>
          <p:cNvPr id="29" name="Rectangle 28"/>
          <p:cNvSpPr/>
          <p:nvPr/>
        </p:nvSpPr>
        <p:spPr>
          <a:xfrm>
            <a:off x="1247038" y="3059176"/>
            <a:ext cx="4158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000000"/>
                </a:solidFill>
                <a:latin typeface="Arial" panose="020B0604020202020204" pitchFamily="34" charset="0"/>
              </a:rPr>
              <a:t> RubricOfScaleS04 - Rubrique </a:t>
            </a:r>
            <a:r>
              <a:rPr lang="es-ES" sz="1200" dirty="0" err="1">
                <a:solidFill>
                  <a:srgbClr val="000000"/>
                </a:solidFill>
                <a:latin typeface="Arial" panose="020B0604020202020204" pitchFamily="34" charset="0"/>
              </a:rPr>
              <a:t>Barème</a:t>
            </a:r>
            <a:endParaRPr lang="en-US" sz="1200" dirty="0"/>
          </a:p>
        </p:txBody>
      </p:sp>
      <p:sp>
        <p:nvSpPr>
          <p:cNvPr id="30" name="Rectangle 29"/>
          <p:cNvSpPr/>
          <p:nvPr/>
        </p:nvSpPr>
        <p:spPr>
          <a:xfrm>
            <a:off x="1242621" y="3337320"/>
            <a:ext cx="55983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200" dirty="0">
                <a:solidFill>
                  <a:srgbClr val="000000"/>
                </a:solidFill>
                <a:latin typeface="Arial" panose="020B0604020202020204" pitchFamily="34" charset="0"/>
              </a:rPr>
              <a:t> S07_DataOfEmployment - S07 </a:t>
            </a:r>
            <a:r>
              <a:rPr lang="nl-NL" sz="1200" dirty="0" err="1">
                <a:solidFill>
                  <a:srgbClr val="000000"/>
                </a:solidFill>
                <a:latin typeface="Arial" panose="020B0604020202020204" pitchFamily="34" charset="0"/>
              </a:rPr>
              <a:t>Données</a:t>
            </a:r>
            <a:r>
              <a:rPr lang="nl-NL" sz="1200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nl-NL" sz="1200" dirty="0" err="1">
                <a:solidFill>
                  <a:srgbClr val="000000"/>
                </a:solidFill>
                <a:latin typeface="Arial" panose="020B0604020202020204" pitchFamily="34" charset="0"/>
              </a:rPr>
              <a:t>l’Emploi</a:t>
            </a:r>
            <a:endParaRPr 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1242621" y="3595505"/>
            <a:ext cx="57423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 S10_SanctionSuspension - S10 Sanction Suspension</a:t>
            </a:r>
            <a:r>
              <a:rPr lang="en-US" sz="1200" dirty="0"/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48376" y="4150515"/>
            <a:ext cx="28360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rgbClr val="000000"/>
                </a:solidFill>
                <a:latin typeface="Arial" panose="020B0604020202020204" pitchFamily="34" charset="0"/>
              </a:rPr>
              <a:t>RubricOfComplS36 - Rubrique Compl. </a:t>
            </a:r>
            <a:endParaRPr lang="en-US" sz="1200" dirty="0"/>
          </a:p>
        </p:txBody>
      </p:sp>
      <p:sp>
        <p:nvSpPr>
          <p:cNvPr id="35" name="Rectangle 34"/>
          <p:cNvSpPr/>
          <p:nvPr/>
        </p:nvSpPr>
        <p:spPr>
          <a:xfrm>
            <a:off x="1247038" y="4653391"/>
            <a:ext cx="6120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fr-BE" sz="1200" dirty="0">
                <a:latin typeface="Arial" panose="020B0604020202020204" pitchFamily="34" charset="0"/>
                <a:cs typeface="Arial" panose="020B0604020202020204" pitchFamily="34" charset="0"/>
              </a:rPr>
              <a:t>S02_Exemption - S02 Dispense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251389" y="5710374"/>
            <a:ext cx="48230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000000"/>
                </a:solidFill>
                <a:latin typeface="Arial" panose="020B0604020202020204" pitchFamily="34" charset="0"/>
              </a:rPr>
              <a:t> RubricOfScaleS29 - Rubrique Barème S29</a:t>
            </a:r>
            <a:endParaRPr lang="en-US" sz="1200" dirty="0"/>
          </a:p>
        </p:txBody>
      </p:sp>
      <p:sp>
        <p:nvSpPr>
          <p:cNvPr id="37" name="Rectangle 36"/>
          <p:cNvSpPr/>
          <p:nvPr/>
        </p:nvSpPr>
        <p:spPr>
          <a:xfrm>
            <a:off x="1251389" y="5983633"/>
            <a:ext cx="545961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05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nl-NL" sz="1200" dirty="0">
                <a:solidFill>
                  <a:srgbClr val="000000"/>
                </a:solidFill>
                <a:latin typeface="Arial" panose="020B0604020202020204" pitchFamily="34" charset="0"/>
              </a:rPr>
              <a:t>S07_DataOfEmployment - S07 </a:t>
            </a:r>
            <a:r>
              <a:rPr lang="nl-NL" sz="1200" dirty="0" err="1">
                <a:solidFill>
                  <a:srgbClr val="000000"/>
                </a:solidFill>
                <a:latin typeface="Arial" panose="020B0604020202020204" pitchFamily="34" charset="0"/>
              </a:rPr>
              <a:t>Donnée</a:t>
            </a:r>
            <a:r>
              <a:rPr lang="nl-NL" sz="1200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nl-NL" sz="1200" dirty="0" err="1">
                <a:solidFill>
                  <a:srgbClr val="000000"/>
                </a:solidFill>
                <a:latin typeface="Arial" panose="020B0604020202020204" pitchFamily="34" charset="0"/>
              </a:rPr>
              <a:t>l’Emploi</a:t>
            </a:r>
            <a:endParaRPr lang="en-US" sz="1200" dirty="0"/>
          </a:p>
        </p:txBody>
      </p:sp>
      <p:sp>
        <p:nvSpPr>
          <p:cNvPr id="50" name="Rectangle 49"/>
          <p:cNvSpPr/>
          <p:nvPr/>
        </p:nvSpPr>
        <p:spPr>
          <a:xfrm>
            <a:off x="755576" y="2242119"/>
            <a:ext cx="30890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0070C0"/>
                </a:solidFill>
                <a:latin typeface="Arial" panose="020B0604020202020204" pitchFamily="34" charset="0"/>
              </a:rPr>
              <a:t>  Identification - Identification</a:t>
            </a:r>
            <a:endParaRPr lang="en-US" sz="1200" dirty="0"/>
          </a:p>
        </p:txBody>
      </p:sp>
      <p:sp>
        <p:nvSpPr>
          <p:cNvPr id="53" name="Rectangle 52"/>
          <p:cNvSpPr/>
          <p:nvPr/>
        </p:nvSpPr>
        <p:spPr>
          <a:xfrm>
            <a:off x="1238467" y="2483839"/>
            <a:ext cx="40383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AccountFinancial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financier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9423" y="4903092"/>
            <a:ext cx="677465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fr-BE" sz="1200" dirty="0">
                <a:latin typeface="Arial" panose="020B0604020202020204" pitchFamily="34" charset="0"/>
                <a:cs typeface="Arial" panose="020B0604020202020204" pitchFamily="34" charset="0"/>
              </a:rPr>
              <a:t>S11_PeriodOutOfUnemployment - S11 Période hors chômage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247038" y="5182851"/>
            <a:ext cx="6120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 S16_ArtSpecialIndemnity - S16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</a:rPr>
              <a:t>Art.Special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</a:rPr>
              <a:t>Indemnisation</a:t>
            </a:r>
            <a:endParaRPr lang="en-US" sz="1200" dirty="0"/>
          </a:p>
        </p:txBody>
      </p:sp>
      <p:sp>
        <p:nvSpPr>
          <p:cNvPr id="60" name="Rectangle 2">
            <a:extLst>
              <a:ext uri="{FF2B5EF4-FFF2-40B4-BE49-F238E27FC236}">
                <a16:creationId xmlns:a16="http://schemas.microsoft.com/office/drawing/2014/main" id="{23824844-F181-4FF0-8627-D245012479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6532" y="369050"/>
            <a:ext cx="8229600" cy="706091"/>
          </a:xfrm>
        </p:spPr>
        <p:txBody>
          <a:bodyPr>
            <a:normAutofit/>
          </a:bodyPr>
          <a:lstStyle/>
          <a:p>
            <a:pPr algn="r"/>
            <a:r>
              <a:rPr lang="fr-BE" sz="3600" b="1" i="1" dirty="0"/>
              <a:t>1. Structure C2XML: Rappel</a:t>
            </a:r>
            <a:endParaRPr lang="fr-FR" sz="3600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8D0E12-939E-45DD-8995-E45E349D4B2D}"/>
              </a:ext>
            </a:extLst>
          </p:cNvPr>
          <p:cNvSpPr/>
          <p:nvPr/>
        </p:nvSpPr>
        <p:spPr>
          <a:xfrm>
            <a:off x="426532" y="1089072"/>
            <a:ext cx="8229600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BE" sz="2400" b="1" u="sng" dirty="0"/>
              <a:t>Sous-répertoires</a:t>
            </a:r>
            <a:r>
              <a:rPr lang="fr-BE" sz="2400" b="1" dirty="0"/>
              <a:t>: </a:t>
            </a:r>
          </a:p>
          <a:p>
            <a:pPr lvl="1"/>
            <a:r>
              <a:rPr lang="fr-BE" dirty="0"/>
              <a:t>Correspondent à un </a:t>
            </a:r>
            <a:r>
              <a:rPr lang="fr-BE" b="1" dirty="0">
                <a:solidFill>
                  <a:srgbClr val="C00000"/>
                </a:solidFill>
              </a:rPr>
              <a:t>module S</a:t>
            </a:r>
            <a:r>
              <a:rPr lang="fr-BE" dirty="0"/>
              <a:t> à quelques exceptions près.</a:t>
            </a:r>
          </a:p>
          <a:p>
            <a:pPr lvl="1"/>
            <a:endParaRPr lang="fr-BE" sz="100" b="1" dirty="0"/>
          </a:p>
          <a:p>
            <a:pPr lvl="1"/>
            <a:endParaRPr lang="fr-BE" sz="1050" b="1" dirty="0"/>
          </a:p>
          <a:p>
            <a:pPr lvl="1"/>
            <a:r>
              <a:rPr lang="fr-BE" sz="1600" b="1" u="sng" dirty="0"/>
              <a:t>Exemples de sous-répertoires</a:t>
            </a:r>
            <a:r>
              <a:rPr lang="fr-BE" sz="16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05904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/>
      <p:bldP spid="17" grpId="0"/>
      <p:bldP spid="29" grpId="0"/>
      <p:bldP spid="30" grpId="0"/>
      <p:bldP spid="33" grpId="0"/>
      <p:bldP spid="34" grpId="0"/>
      <p:bldP spid="35" grpId="0"/>
      <p:bldP spid="36" grpId="0"/>
      <p:bldP spid="37" grpId="0"/>
      <p:bldP spid="50" grpId="0"/>
      <p:bldP spid="53" grpId="0"/>
      <p:bldP spid="57" grpId="0"/>
      <p:bldP spid="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8EA4597C-86DF-BEB9-2246-345EE67A5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894" y="4673125"/>
            <a:ext cx="2580952" cy="2048350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rmAutofit/>
          </a:bodyPr>
          <a:lstStyle/>
          <a:p>
            <a:pPr algn="r"/>
            <a:r>
              <a:rPr lang="fr-BE" sz="3600" b="1" i="1" dirty="0"/>
              <a:t>2. Ecran « Comparaison C2  »</a:t>
            </a:r>
            <a:endParaRPr lang="fr-FR" sz="36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9584A184-384A-4DD6-96D4-2B9E11A12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10" y="2220236"/>
            <a:ext cx="1000000" cy="219048"/>
          </a:xfrm>
          <a:prstGeom prst="rect">
            <a:avLst/>
          </a:prstGeom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089065F9-8AC1-4B55-BD1A-51120A7ED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10" y="2963222"/>
            <a:ext cx="1009524" cy="219048"/>
          </a:xfrm>
          <a:prstGeom prst="rect">
            <a:avLst/>
          </a:prstGeom>
        </p:spPr>
      </p:pic>
      <p:pic>
        <p:nvPicPr>
          <p:cNvPr id="58" name="Image 57">
            <a:extLst>
              <a:ext uri="{FF2B5EF4-FFF2-40B4-BE49-F238E27FC236}">
                <a16:creationId xmlns:a16="http://schemas.microsoft.com/office/drawing/2014/main" id="{B1573D87-7280-4220-81F6-0C052A4AB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10" y="3300048"/>
            <a:ext cx="1009524" cy="219048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D0034393-B954-4ABC-A401-8E12F8AC53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610" y="4072744"/>
            <a:ext cx="1114286" cy="219048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D28CE299-3AAA-4554-9A34-7776316930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610" y="4409570"/>
            <a:ext cx="923810" cy="219048"/>
          </a:xfrm>
          <a:prstGeom prst="rect">
            <a:avLst/>
          </a:prstGeom>
        </p:spPr>
      </p:pic>
      <p:sp>
        <p:nvSpPr>
          <p:cNvPr id="67" name="ZoneTexte 66">
            <a:extLst>
              <a:ext uri="{FF2B5EF4-FFF2-40B4-BE49-F238E27FC236}">
                <a16:creationId xmlns:a16="http://schemas.microsoft.com/office/drawing/2014/main" id="{10866D03-4ECD-483D-9D42-8C2DA685B2F7}"/>
              </a:ext>
            </a:extLst>
          </p:cNvPr>
          <p:cNvSpPr txBox="1"/>
          <p:nvPr/>
        </p:nvSpPr>
        <p:spPr>
          <a:xfrm>
            <a:off x="1738694" y="2191261"/>
            <a:ext cx="694810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Les statuts possibles sont: « À traiter » - « Traité » - « Aucune différence » - « Inconsistant » - « Pas de C2XML chargée »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95027FB9-CA59-4C0B-A95D-AC416DE345A3}"/>
              </a:ext>
            </a:extLst>
          </p:cNvPr>
          <p:cNvSpPr txBox="1"/>
          <p:nvPr/>
        </p:nvSpPr>
        <p:spPr>
          <a:xfrm>
            <a:off x="1738694" y="2935592"/>
            <a:ext cx="18002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Date du script 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864742AB-1592-4312-922C-376C9DF65C85}"/>
              </a:ext>
            </a:extLst>
          </p:cNvPr>
          <p:cNvSpPr txBox="1"/>
          <p:nvPr/>
        </p:nvSpPr>
        <p:spPr>
          <a:xfrm>
            <a:off x="1738694" y="3265735"/>
            <a:ext cx="33123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Type de script envoyé à l’</a:t>
            </a:r>
            <a:r>
              <a:rPr lang="fr-BE" sz="1600" dirty="0" err="1"/>
              <a:t>ONEm</a:t>
            </a:r>
            <a:endParaRPr lang="fr-BE" sz="1600" dirty="0"/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E3AE7236-8E83-4760-BB1C-E7945F8343AC}"/>
              </a:ext>
            </a:extLst>
          </p:cNvPr>
          <p:cNvSpPr txBox="1"/>
          <p:nvPr/>
        </p:nvSpPr>
        <p:spPr>
          <a:xfrm>
            <a:off x="1738694" y="4046919"/>
            <a:ext cx="75157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Date de D.A accordée par l’</a:t>
            </a:r>
            <a:r>
              <a:rPr lang="fr-BE" sz="1600" dirty="0" err="1"/>
              <a:t>ONEm</a:t>
            </a:r>
            <a:r>
              <a:rPr lang="fr-BE" sz="1600" dirty="0"/>
              <a:t> </a:t>
            </a:r>
            <a:r>
              <a:rPr lang="fr-BE" sz="1600" b="1" dirty="0">
                <a:solidFill>
                  <a:srgbClr val="C00000"/>
                </a:solidFill>
              </a:rPr>
              <a:t>(= </a:t>
            </a:r>
            <a:r>
              <a:rPr lang="fr-BE" sz="1600" b="1" dirty="0" err="1">
                <a:solidFill>
                  <a:srgbClr val="C00000"/>
                </a:solidFill>
              </a:rPr>
              <a:t>RequestDate</a:t>
            </a:r>
            <a:r>
              <a:rPr lang="fr-BE" sz="1600" b="1" dirty="0">
                <a:solidFill>
                  <a:srgbClr val="C00000"/>
                </a:solidFill>
              </a:rPr>
              <a:t> dans le Data_S24)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00AF26B3-326A-4FA2-B83F-383C22657AE1}"/>
              </a:ext>
            </a:extLst>
          </p:cNvPr>
          <p:cNvSpPr txBox="1"/>
          <p:nvPr/>
        </p:nvSpPr>
        <p:spPr>
          <a:xfrm>
            <a:off x="1738694" y="4401445"/>
            <a:ext cx="71537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Date à laquelle la décision a été prise par l’</a:t>
            </a:r>
            <a:r>
              <a:rPr lang="fr-BE" sz="1600" dirty="0" err="1"/>
              <a:t>ONEm</a:t>
            </a:r>
            <a:r>
              <a:rPr lang="fr-BE" sz="1600" dirty="0"/>
              <a:t> </a:t>
            </a:r>
            <a:r>
              <a:rPr lang="fr-BE" sz="1600" b="1" dirty="0">
                <a:solidFill>
                  <a:srgbClr val="C00000"/>
                </a:solidFill>
              </a:rPr>
              <a:t>(= </a:t>
            </a:r>
            <a:r>
              <a:rPr lang="fr-BE" sz="1600" b="1" dirty="0" err="1">
                <a:solidFill>
                  <a:srgbClr val="C00000"/>
                </a:solidFill>
              </a:rPr>
              <a:t>DecisionDate</a:t>
            </a:r>
            <a:r>
              <a:rPr lang="fr-BE" sz="1600" b="1" dirty="0">
                <a:solidFill>
                  <a:srgbClr val="C00000"/>
                </a:solidFill>
              </a:rPr>
              <a:t> dans le Data_S24)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A08C5B-DD56-4BB9-B619-2DF34B4C10FD}"/>
              </a:ext>
            </a:extLst>
          </p:cNvPr>
          <p:cNvSpPr/>
          <p:nvPr/>
        </p:nvSpPr>
        <p:spPr>
          <a:xfrm>
            <a:off x="3779912" y="5131317"/>
            <a:ext cx="1872208" cy="3859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6A9EAF8-FB12-1906-1653-92CD5C6658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957075"/>
            <a:ext cx="9144000" cy="118734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45D3AD7-01DC-23F4-44A4-E52D72335B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5830" y="2643727"/>
            <a:ext cx="2484602" cy="120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4505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  <p:bldP spid="71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E54F2A-15EF-A516-1BFB-03FEEA982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524" y="3165920"/>
            <a:ext cx="2580952" cy="2048350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rmAutofit/>
          </a:bodyPr>
          <a:lstStyle/>
          <a:p>
            <a:pPr algn="r"/>
            <a:r>
              <a:rPr lang="fr-BE" sz="3600" b="1" i="1" dirty="0"/>
              <a:t>2. Ecran « Comparaison C2 »  </a:t>
            </a:r>
            <a:endParaRPr lang="fr-FR" sz="36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  <p:pic>
        <p:nvPicPr>
          <p:cNvPr id="61" name="Image 60">
            <a:extLst>
              <a:ext uri="{FF2B5EF4-FFF2-40B4-BE49-F238E27FC236}">
                <a16:creationId xmlns:a16="http://schemas.microsoft.com/office/drawing/2014/main" id="{090E6E55-4916-404E-9F71-3F34074CF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12" y="2286320"/>
            <a:ext cx="1000000" cy="219048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F3C40AA3-CE7D-46EB-A9C5-924FA2EFB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12" y="2623146"/>
            <a:ext cx="1009524" cy="219048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A54A5FD5-1010-412B-8BD2-5A633AABB4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212" y="2959972"/>
            <a:ext cx="1000000" cy="219048"/>
          </a:xfrm>
          <a:prstGeom prst="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5C9665CF-4874-4FF6-864E-7945C25B37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212" y="5286378"/>
            <a:ext cx="1009524" cy="219048"/>
          </a:xfrm>
          <a:prstGeom prst="rect">
            <a:avLst/>
          </a:prstGeom>
        </p:spPr>
      </p:pic>
      <p:pic>
        <p:nvPicPr>
          <p:cNvPr id="65" name="Image 64">
            <a:extLst>
              <a:ext uri="{FF2B5EF4-FFF2-40B4-BE49-F238E27FC236}">
                <a16:creationId xmlns:a16="http://schemas.microsoft.com/office/drawing/2014/main" id="{585A4B20-BA07-4756-A5EE-AE39EE40F4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212" y="5655874"/>
            <a:ext cx="1000000" cy="219048"/>
          </a:xfrm>
          <a:prstGeom prst="rect">
            <a:avLst/>
          </a:prstGeom>
        </p:spPr>
      </p:pic>
      <p:pic>
        <p:nvPicPr>
          <p:cNvPr id="66" name="Image 65">
            <a:extLst>
              <a:ext uri="{FF2B5EF4-FFF2-40B4-BE49-F238E27FC236}">
                <a16:creationId xmlns:a16="http://schemas.microsoft.com/office/drawing/2014/main" id="{CA1496F5-A4D4-4DB6-8F6A-B49F433DAA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212" y="5992706"/>
            <a:ext cx="866667" cy="219048"/>
          </a:xfrm>
          <a:prstGeom prst="rect">
            <a:avLst/>
          </a:prstGeom>
        </p:spPr>
      </p:pic>
      <p:sp>
        <p:nvSpPr>
          <p:cNvPr id="72" name="ZoneTexte 71">
            <a:extLst>
              <a:ext uri="{FF2B5EF4-FFF2-40B4-BE49-F238E27FC236}">
                <a16:creationId xmlns:a16="http://schemas.microsoft.com/office/drawing/2014/main" id="{8CF4BC61-2157-490A-8F89-314F55C13EEE}"/>
              </a:ext>
            </a:extLst>
          </p:cNvPr>
          <p:cNvSpPr txBox="1"/>
          <p:nvPr/>
        </p:nvSpPr>
        <p:spPr>
          <a:xfrm>
            <a:off x="1790296" y="2263645"/>
            <a:ext cx="28883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Date d’envoi du bordereau C9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F6BA64C-BAD2-4446-9247-9ACCB1E546D4}"/>
              </a:ext>
            </a:extLst>
          </p:cNvPr>
          <p:cNvSpPr txBox="1"/>
          <p:nvPr/>
        </p:nvSpPr>
        <p:spPr>
          <a:xfrm>
            <a:off x="1790296" y="2594709"/>
            <a:ext cx="62896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Numéro de C9 attribué par l’</a:t>
            </a:r>
            <a:r>
              <a:rPr lang="fr-BE" sz="1600" dirty="0" err="1"/>
              <a:t>ONEm</a:t>
            </a:r>
            <a:r>
              <a:rPr lang="fr-BE" sz="1600" dirty="0"/>
              <a:t> </a:t>
            </a:r>
            <a:r>
              <a:rPr lang="fr-BE" sz="1600" b="1" dirty="0">
                <a:solidFill>
                  <a:srgbClr val="C00000"/>
                </a:solidFill>
              </a:rPr>
              <a:t>(= C9TypeUO)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47274A43-687F-4118-8F80-B83B8F93137C}"/>
              </a:ext>
            </a:extLst>
          </p:cNvPr>
          <p:cNvSpPr txBox="1"/>
          <p:nvPr/>
        </p:nvSpPr>
        <p:spPr>
          <a:xfrm>
            <a:off x="1790296" y="2925773"/>
            <a:ext cx="699569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Numéro de C9 attribué par Horizon ou le collaborateur chômage </a:t>
            </a:r>
            <a:r>
              <a:rPr lang="fr-BE" sz="1600" b="1" dirty="0">
                <a:solidFill>
                  <a:srgbClr val="7030A0"/>
                </a:solidFill>
              </a:rPr>
              <a:t>(= C9TypePO)</a:t>
            </a:r>
            <a:endParaRPr lang="fr-BE" sz="1600" dirty="0">
              <a:solidFill>
                <a:srgbClr val="7030A0"/>
              </a:solidFill>
            </a:endParaRP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F661C305-8ADD-405A-8E39-97102FA29DC1}"/>
              </a:ext>
            </a:extLst>
          </p:cNvPr>
          <p:cNvSpPr txBox="1"/>
          <p:nvPr/>
        </p:nvSpPr>
        <p:spPr>
          <a:xfrm>
            <a:off x="1790296" y="5267608"/>
            <a:ext cx="694810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Les réactions possibles sont: « Acceptée » - « Rejetée »  ou vierge 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0E34D788-8D44-4E1D-8979-E37D679AAB7E}"/>
              </a:ext>
            </a:extLst>
          </p:cNvPr>
          <p:cNvSpPr txBox="1"/>
          <p:nvPr/>
        </p:nvSpPr>
        <p:spPr>
          <a:xfrm>
            <a:off x="1790296" y="5961859"/>
            <a:ext cx="33123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« Envoyé » - « En suspens » ou vierge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FE597262-87AF-4CB3-99F9-2D85AEEEFD00}"/>
              </a:ext>
            </a:extLst>
          </p:cNvPr>
          <p:cNvSpPr txBox="1"/>
          <p:nvPr/>
        </p:nvSpPr>
        <p:spPr>
          <a:xfrm>
            <a:off x="1790296" y="5626898"/>
            <a:ext cx="481450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Les décisions possibles sont: « C2 » – « C2 Prolongation » </a:t>
            </a:r>
          </a:p>
        </p:txBody>
      </p:sp>
      <p:pic>
        <p:nvPicPr>
          <p:cNvPr id="78" name="Image 77">
            <a:extLst>
              <a:ext uri="{FF2B5EF4-FFF2-40B4-BE49-F238E27FC236}">
                <a16:creationId xmlns:a16="http://schemas.microsoft.com/office/drawing/2014/main" id="{D99DCCA7-7F2E-436E-A43B-22CA2E9C6F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212" y="6341427"/>
            <a:ext cx="1114425" cy="238125"/>
          </a:xfrm>
          <a:prstGeom prst="rect">
            <a:avLst/>
          </a:prstGeom>
        </p:spPr>
      </p:pic>
      <p:sp>
        <p:nvSpPr>
          <p:cNvPr id="79" name="ZoneTexte 78">
            <a:extLst>
              <a:ext uri="{FF2B5EF4-FFF2-40B4-BE49-F238E27FC236}">
                <a16:creationId xmlns:a16="http://schemas.microsoft.com/office/drawing/2014/main" id="{70547DAC-2CE5-4F73-B065-F62F6CB257B8}"/>
              </a:ext>
            </a:extLst>
          </p:cNvPr>
          <p:cNvSpPr txBox="1"/>
          <p:nvPr/>
        </p:nvSpPr>
        <p:spPr>
          <a:xfrm>
            <a:off x="1790296" y="6302553"/>
            <a:ext cx="355534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Numéro unique attribué par l’ONEm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4D9472-12D3-454C-A760-598D0DA4D226}"/>
              </a:ext>
            </a:extLst>
          </p:cNvPr>
          <p:cNvSpPr/>
          <p:nvPr/>
        </p:nvSpPr>
        <p:spPr>
          <a:xfrm>
            <a:off x="3504800" y="4274655"/>
            <a:ext cx="1597864" cy="1892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597A60-6284-4465-9F76-53B6357B01E4}"/>
              </a:ext>
            </a:extLst>
          </p:cNvPr>
          <p:cNvSpPr/>
          <p:nvPr/>
        </p:nvSpPr>
        <p:spPr>
          <a:xfrm>
            <a:off x="3504800" y="4720895"/>
            <a:ext cx="1597864" cy="18928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FBB51C1-4A4C-698A-18F9-73A82C04E6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957075"/>
            <a:ext cx="9144000" cy="118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1212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/>
      <p:bldP spid="74" grpId="0"/>
      <p:bldP spid="75" grpId="0"/>
      <p:bldP spid="76" grpId="0"/>
      <p:bldP spid="77" grpId="0"/>
      <p:bldP spid="79" grpId="0"/>
      <p:bldP spid="7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83AEE92-EFD7-198A-0330-7863D43B7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092766"/>
            <a:ext cx="8229600" cy="1500311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rmAutofit/>
          </a:bodyPr>
          <a:lstStyle/>
          <a:p>
            <a:pPr algn="r"/>
            <a:r>
              <a:rPr lang="fr-BE" sz="3600" b="1" i="1" dirty="0"/>
              <a:t>2. Ecran « Comparaison C2 »  </a:t>
            </a:r>
            <a:endParaRPr lang="fr-FR" sz="36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5538C0D-540F-4300-8BB0-DB7691C7B77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24744"/>
            <a:ext cx="8229600" cy="523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Font typeface="Arial" pitchFamily="34" charset="0"/>
              <a:buNone/>
            </a:pPr>
            <a:endParaRPr lang="fr-BE" sz="1600" b="1" dirty="0">
              <a:solidFill>
                <a:srgbClr val="C00000"/>
              </a:solidFill>
            </a:endParaRPr>
          </a:p>
          <a:p>
            <a:pPr marL="914400" lvl="2" indent="0">
              <a:buFont typeface="Arial" pitchFamily="34" charset="0"/>
              <a:buNone/>
            </a:pPr>
            <a:endParaRPr lang="fr-BE" sz="1600" b="1" dirty="0">
              <a:solidFill>
                <a:srgbClr val="C000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fr-BE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B1BB6915-2204-4703-833B-B3298A89171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705114"/>
            <a:ext cx="8229600" cy="3803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None/>
            </a:pPr>
            <a:r>
              <a:rPr lang="fr-BE" dirty="0"/>
              <a:t>La partie </a:t>
            </a:r>
            <a:r>
              <a:rPr lang="fr-BE" b="1" dirty="0">
                <a:solidFill>
                  <a:srgbClr val="C00000"/>
                </a:solidFill>
              </a:rPr>
              <a:t>« Type »</a:t>
            </a:r>
            <a:r>
              <a:rPr lang="fr-BE" dirty="0">
                <a:solidFill>
                  <a:srgbClr val="C00000"/>
                </a:solidFill>
              </a:rPr>
              <a:t> </a:t>
            </a:r>
            <a:r>
              <a:rPr lang="fr-BE" dirty="0"/>
              <a:t>de l’onglet </a:t>
            </a:r>
            <a:r>
              <a:rPr lang="fr-BE" b="1" dirty="0"/>
              <a:t>« Identification »</a:t>
            </a:r>
            <a:r>
              <a:rPr lang="fr-BE" dirty="0">
                <a:solidFill>
                  <a:srgbClr val="C00000"/>
                </a:solidFill>
              </a:rPr>
              <a:t> </a:t>
            </a:r>
            <a:r>
              <a:rPr lang="fr-BE" dirty="0"/>
              <a:t>contiendra toujours la comparaison de données reprise dans le  </a:t>
            </a:r>
            <a:r>
              <a:rPr lang="fr-BE" b="1" dirty="0">
                <a:solidFill>
                  <a:srgbClr val="C00000"/>
                </a:solidFill>
              </a:rPr>
              <a:t>« S24_DataC9 » </a:t>
            </a:r>
            <a:r>
              <a:rPr lang="fr-BE" dirty="0"/>
              <a:t>de la C2 Xml: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BE" sz="1800" b="1" dirty="0">
                <a:solidFill>
                  <a:srgbClr val="C00000"/>
                </a:solidFill>
              </a:rPr>
              <a:t>Signalétique (S01) </a:t>
            </a:r>
            <a:r>
              <a:rPr lang="fr-BE" sz="1800" dirty="0"/>
              <a:t>= Comparaison du nom/prénom et de l’adresse </a:t>
            </a:r>
            <a:r>
              <a:rPr lang="fr-BE" sz="1800" b="1" dirty="0"/>
              <a:t>(comparaison sur le code postal uniquement!)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BE" sz="1800" b="1" dirty="0">
                <a:solidFill>
                  <a:srgbClr val="C00000"/>
                </a:solidFill>
              </a:rPr>
              <a:t>Données gestionnaire </a:t>
            </a:r>
            <a:r>
              <a:rPr lang="fr-BE" sz="1800" dirty="0"/>
              <a:t>=  Comparaison du </a:t>
            </a:r>
            <a:r>
              <a:rPr lang="fr-BE" sz="1800" b="1" dirty="0"/>
              <a:t>BC compétent </a:t>
            </a:r>
            <a:r>
              <a:rPr lang="fr-BE" sz="1800" dirty="0"/>
              <a:t>pour la D.A</a:t>
            </a:r>
            <a:endParaRPr lang="fr-BE" sz="1800" b="1" dirty="0"/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BE" sz="1800" b="1" dirty="0">
                <a:solidFill>
                  <a:srgbClr val="C00000"/>
                </a:solidFill>
              </a:rPr>
              <a:t>Compte financier</a:t>
            </a:r>
            <a:r>
              <a:rPr lang="fr-BE" sz="1800" dirty="0"/>
              <a:t> = Comparaison du </a:t>
            </a:r>
            <a:r>
              <a:rPr lang="fr-BE" sz="1800" b="1" dirty="0"/>
              <a:t>compte financier </a:t>
            </a:r>
            <a:r>
              <a:rPr lang="fr-BE" sz="1800" dirty="0"/>
              <a:t>et du </a:t>
            </a:r>
            <a:r>
              <a:rPr lang="fr-BE" sz="1800" b="1" dirty="0"/>
              <a:t>mandat  cotisations</a:t>
            </a:r>
          </a:p>
          <a:p>
            <a:pPr marL="0" lvl="2" indent="0">
              <a:buNone/>
            </a:pPr>
            <a:r>
              <a:rPr lang="fr-BE" dirty="0"/>
              <a:t>Et dans certains cas: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BE" sz="1800" b="1" dirty="0">
                <a:solidFill>
                  <a:srgbClr val="C00000"/>
                </a:solidFill>
              </a:rPr>
              <a:t>Adresse à l’étranger (S18) </a:t>
            </a:r>
            <a:r>
              <a:rPr lang="fr-BE" sz="1800" dirty="0"/>
              <a:t>= Adresse dans un autre pays (U2, Frontaliers,…) </a:t>
            </a:r>
            <a:r>
              <a:rPr lang="fr-BE" sz="1800" dirty="0">
                <a:sym typeface="Wingdings" panose="05000000000000000000" pitchFamily="2" charset="2"/>
              </a:rPr>
              <a:t> Apparaît sans compar</a:t>
            </a:r>
            <a:r>
              <a:rPr lang="fr-BE" sz="1800" dirty="0"/>
              <a:t>aison avec données Horizon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55C03A-A44B-4B14-A0B2-BE9D7EFA10A2}"/>
              </a:ext>
            </a:extLst>
          </p:cNvPr>
          <p:cNvSpPr/>
          <p:nvPr/>
        </p:nvSpPr>
        <p:spPr>
          <a:xfrm>
            <a:off x="457199" y="1809750"/>
            <a:ext cx="2882280" cy="8233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386541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3BFA375-912D-982A-32F6-0AA5B896C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198722"/>
            <a:ext cx="8229600" cy="2230278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3600" b="1" i="1" dirty="0"/>
              <a:t>2. Ecran « Comparaison C2 »  </a:t>
            </a:r>
            <a:endParaRPr lang="fr-FR" sz="36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5538C0D-540F-4300-8BB0-DB7691C7B77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24744"/>
            <a:ext cx="8229600" cy="523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Font typeface="Arial" pitchFamily="34" charset="0"/>
              <a:buNone/>
            </a:pPr>
            <a:endParaRPr lang="fr-BE" sz="1600" b="1" dirty="0">
              <a:solidFill>
                <a:srgbClr val="C000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fr-BE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B1BB6915-2204-4703-833B-B3298A89171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705114"/>
            <a:ext cx="8229600" cy="3803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None/>
            </a:pPr>
            <a:endParaRPr lang="fr-BE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939180-510F-4B8D-BF1C-2E1C2EA31097}"/>
              </a:ext>
            </a:extLst>
          </p:cNvPr>
          <p:cNvSpPr/>
          <p:nvPr/>
        </p:nvSpPr>
        <p:spPr>
          <a:xfrm>
            <a:off x="3275856" y="1556792"/>
            <a:ext cx="2808312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03C7363-F1D1-4CF6-A9EC-43EB08A91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99546"/>
            <a:ext cx="3114285" cy="25714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3B148D9-6AF0-4EB1-B977-8CC91FE4F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191801"/>
            <a:ext cx="1728572" cy="257144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FD5D2A8F-C683-46DB-92EA-8635A1C8CD78}"/>
              </a:ext>
            </a:extLst>
          </p:cNvPr>
          <p:cNvSpPr txBox="1"/>
          <p:nvPr/>
        </p:nvSpPr>
        <p:spPr>
          <a:xfrm>
            <a:off x="457200" y="4091286"/>
            <a:ext cx="82296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2000" dirty="0"/>
              <a:t>Cette option permet de visualiser </a:t>
            </a:r>
            <a:r>
              <a:rPr lang="fr-BE" sz="2000" b="1" dirty="0">
                <a:solidFill>
                  <a:srgbClr val="C00000"/>
                </a:solidFill>
              </a:rPr>
              <a:t>uniquement les données discordantes</a:t>
            </a:r>
            <a:r>
              <a:rPr lang="fr-BE" sz="2000" dirty="0"/>
              <a:t> </a:t>
            </a:r>
            <a:r>
              <a:rPr lang="fr-BE" sz="2000" b="1" dirty="0"/>
              <a:t>(= statut « à traiter » ou «</a:t>
            </a:r>
            <a:r>
              <a:rPr lang="fr-BE" sz="2000" b="1"/>
              <a:t> inconsistant</a:t>
            </a:r>
            <a:r>
              <a:rPr lang="fr-BE" sz="2000" b="1" dirty="0"/>
              <a:t> »)</a:t>
            </a:r>
            <a:r>
              <a:rPr lang="fr-BE" sz="2000" dirty="0"/>
              <a:t> et sera </a:t>
            </a:r>
            <a:r>
              <a:rPr lang="fr-BE" sz="2000" b="1" dirty="0"/>
              <a:t>sélectionnée par défaut</a:t>
            </a:r>
            <a:r>
              <a:rPr lang="fr-BE" sz="2000" dirty="0"/>
              <a:t> s’il existe </a:t>
            </a:r>
            <a:r>
              <a:rPr lang="fr-BE" sz="2000" b="1" dirty="0"/>
              <a:t>au moins un module discordant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31BF157-56B7-4809-A1D9-96223E84961E}"/>
              </a:ext>
            </a:extLst>
          </p:cNvPr>
          <p:cNvSpPr txBox="1"/>
          <p:nvPr/>
        </p:nvSpPr>
        <p:spPr>
          <a:xfrm>
            <a:off x="457200" y="5577908"/>
            <a:ext cx="82296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2000" dirty="0"/>
              <a:t>Cette option permet de visualiser </a:t>
            </a:r>
            <a:r>
              <a:rPr lang="fr-BE" sz="2000" b="1" dirty="0">
                <a:solidFill>
                  <a:srgbClr val="C00000"/>
                </a:solidFill>
              </a:rPr>
              <a:t>toutes les données discordantes ou non</a:t>
            </a:r>
            <a:r>
              <a:rPr lang="fr-BE" sz="2000" dirty="0"/>
              <a:t> </a:t>
            </a:r>
            <a:r>
              <a:rPr lang="fr-BE" sz="2000" b="1" dirty="0"/>
              <a:t>(= tous les statuts)</a:t>
            </a:r>
            <a:r>
              <a:rPr lang="fr-BE" sz="2000" b="1" dirty="0">
                <a:solidFill>
                  <a:srgbClr val="C00000"/>
                </a:solidFill>
              </a:rPr>
              <a:t> </a:t>
            </a:r>
            <a:r>
              <a:rPr lang="fr-BE" sz="2000" dirty="0"/>
              <a:t>reprises dans la C2XML et/ou nos vérités et sera </a:t>
            </a:r>
            <a:r>
              <a:rPr lang="fr-BE" sz="2000" b="1" dirty="0"/>
              <a:t>sélectionnée par défaut</a:t>
            </a:r>
            <a:r>
              <a:rPr lang="fr-BE" sz="2000" dirty="0"/>
              <a:t> s’il n’existe </a:t>
            </a:r>
            <a:r>
              <a:rPr lang="fr-BE" sz="2000" b="1" dirty="0"/>
              <a:t>aucun module discordant</a:t>
            </a:r>
            <a:endParaRPr lang="fr-BE" sz="2000" dirty="0"/>
          </a:p>
        </p:txBody>
      </p:sp>
    </p:spTree>
    <p:extLst>
      <p:ext uri="{BB962C8B-B14F-4D97-AF65-F5344CB8AC3E}">
        <p14:creationId xmlns:p14="http://schemas.microsoft.com/office/powerpoint/2010/main" val="193901388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0A26D48-57FA-B42D-677B-705D2AE01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27" y="1210516"/>
            <a:ext cx="8217524" cy="2628762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3600" b="1" i="1" dirty="0"/>
              <a:t>2. Ecran « Comparaison C2 »  </a:t>
            </a:r>
            <a:endParaRPr lang="fr-FR" sz="36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5538C0D-540F-4300-8BB0-DB7691C7B77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24744"/>
            <a:ext cx="8229600" cy="523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Font typeface="Arial" pitchFamily="34" charset="0"/>
              <a:buNone/>
            </a:pPr>
            <a:endParaRPr lang="fr-BE" sz="1600" b="1" dirty="0">
              <a:solidFill>
                <a:srgbClr val="C000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fr-BE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B1BB6915-2204-4703-833B-B3298A89171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705114"/>
            <a:ext cx="8229600" cy="3803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None/>
            </a:pPr>
            <a:endParaRPr lang="fr-BE" sz="18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2E2B92E-857C-403D-8235-DA7C34C4D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34560"/>
            <a:ext cx="4019048" cy="22857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7939A907-8956-4152-AC57-324E7DF30E6C}"/>
              </a:ext>
            </a:extLst>
          </p:cNvPr>
          <p:cNvSpPr txBox="1"/>
          <p:nvPr/>
        </p:nvSpPr>
        <p:spPr>
          <a:xfrm>
            <a:off x="457200" y="4417358"/>
            <a:ext cx="8645519" cy="2046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BE" sz="1600" dirty="0"/>
              <a:t>Nous retrouverons </a:t>
            </a:r>
            <a:r>
              <a:rPr lang="fr-BE" sz="1600" b="1" dirty="0">
                <a:solidFill>
                  <a:srgbClr val="C00000"/>
                </a:solidFill>
              </a:rPr>
              <a:t>2 sortes de dates</a:t>
            </a:r>
            <a:r>
              <a:rPr lang="fr-BE" sz="1600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BE" sz="1600" dirty="0"/>
              <a:t>Les </a:t>
            </a:r>
            <a:r>
              <a:rPr lang="fr-BE" sz="1600" b="1" dirty="0"/>
              <a:t>dates</a:t>
            </a:r>
            <a:r>
              <a:rPr lang="fr-BE" sz="1600" dirty="0"/>
              <a:t> auxquelles il existe un </a:t>
            </a:r>
            <a:r>
              <a:rPr lang="fr-BE" sz="1600" b="1" dirty="0"/>
              <a:t>C2Body</a:t>
            </a:r>
            <a:r>
              <a:rPr lang="fr-BE" sz="1600" dirty="0"/>
              <a:t> sur la C2XML (= Source C2XML)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BE" sz="1600" dirty="0"/>
              <a:t>Les </a:t>
            </a:r>
            <a:r>
              <a:rPr lang="fr-BE" sz="1600" b="1" dirty="0"/>
              <a:t>dates </a:t>
            </a:r>
            <a:r>
              <a:rPr lang="fr-BE" sz="1600" dirty="0"/>
              <a:t>auxquelles un </a:t>
            </a:r>
            <a:r>
              <a:rPr lang="fr-BE" sz="1600" b="1" dirty="0"/>
              <a:t>module S04 débute</a:t>
            </a:r>
            <a:r>
              <a:rPr lang="fr-BE" sz="1600" dirty="0"/>
              <a:t> dans les vérités Horizon (= Source CSC)</a:t>
            </a:r>
          </a:p>
          <a:p>
            <a:pPr lvl="1"/>
            <a:endParaRPr lang="fr-BE" sz="105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BE" sz="1600" dirty="0"/>
              <a:t>Par défaut le système affichera le </a:t>
            </a:r>
            <a:r>
              <a:rPr lang="fr-BE" sz="1600" b="1" dirty="0">
                <a:solidFill>
                  <a:srgbClr val="C00000"/>
                </a:solidFill>
              </a:rPr>
              <a:t>type</a:t>
            </a:r>
            <a:r>
              <a:rPr lang="fr-BE" sz="1600" dirty="0"/>
              <a:t> de </a:t>
            </a:r>
            <a:r>
              <a:rPr lang="fr-BE" sz="1600" b="1" dirty="0"/>
              <a:t>répertoire secondaire </a:t>
            </a:r>
            <a:r>
              <a:rPr lang="fr-BE" sz="1600" dirty="0"/>
              <a:t>et/ou le module «</a:t>
            </a:r>
            <a:r>
              <a:rPr lang="fr-BE" sz="1600" b="1" dirty="0"/>
              <a:t>Nationalité » discordants</a:t>
            </a:r>
            <a:r>
              <a:rPr lang="fr-BE" sz="16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BE" sz="1050" dirty="0"/>
          </a:p>
          <a:p>
            <a:pPr marL="263525"/>
            <a:r>
              <a:rPr lang="fr-BE" sz="1600" dirty="0">
                <a:sym typeface="Wingdings" panose="05000000000000000000" pitchFamily="2" charset="2"/>
              </a:rPr>
              <a:t> </a:t>
            </a:r>
            <a:r>
              <a:rPr lang="fr-BE" sz="1600" dirty="0"/>
              <a:t>En cliquant sur le        devant la ligne, on ouvre l’arborescence et nous pouvons visualiser les </a:t>
            </a:r>
            <a:r>
              <a:rPr lang="fr-BE" sz="1600" b="1" dirty="0"/>
              <a:t>sous-répertoires</a:t>
            </a:r>
            <a:r>
              <a:rPr lang="fr-BE" sz="1600" dirty="0"/>
              <a:t> (= modules S).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F950709B-9715-4A68-A1F9-E0C1CFBADD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6724" y="5961552"/>
            <a:ext cx="261905" cy="26190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3CF855C-1CE2-403E-6A97-7737BD33B0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286" y="1206992"/>
            <a:ext cx="8203428" cy="263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2829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3600" b="1" i="1" dirty="0"/>
              <a:t>2. Ecran « Comparaison C2 »  </a:t>
            </a:r>
            <a:endParaRPr lang="fr-FR" sz="36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5538C0D-540F-4300-8BB0-DB7691C7B77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24744"/>
            <a:ext cx="8229600" cy="523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Font typeface="Arial" pitchFamily="34" charset="0"/>
              <a:buNone/>
            </a:pPr>
            <a:endParaRPr lang="fr-BE" sz="1600" b="1" dirty="0">
              <a:solidFill>
                <a:srgbClr val="C000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fr-BE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B1BB6915-2204-4703-833B-B3298A89171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705114"/>
            <a:ext cx="8229600" cy="3803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None/>
            </a:pPr>
            <a:endParaRPr lang="fr-BE" sz="18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CE2D255-6F48-4822-B97F-DB6D6558C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34" y="4198031"/>
            <a:ext cx="2800000" cy="22857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3707B2B-7C76-4898-B8DF-B21CBFF6B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34" y="5302648"/>
            <a:ext cx="2685714" cy="22857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B819CB2-C0C7-42FB-AD8B-E733C3977E3B}"/>
              </a:ext>
            </a:extLst>
          </p:cNvPr>
          <p:cNvSpPr txBox="1"/>
          <p:nvPr/>
        </p:nvSpPr>
        <p:spPr>
          <a:xfrm>
            <a:off x="454734" y="4504081"/>
            <a:ext cx="872147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dirty="0"/>
              <a:t>Les différents statuts sont « À traiter » - « Traité » - « Aucune différence » - « Inconsistant» - « Pas d’effet sur la vérité »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1EC1DD9-A7FB-40C7-A126-C18D3EEC33B2}"/>
              </a:ext>
            </a:extLst>
          </p:cNvPr>
          <p:cNvSpPr txBox="1"/>
          <p:nvPr/>
        </p:nvSpPr>
        <p:spPr>
          <a:xfrm>
            <a:off x="454734" y="5613655"/>
            <a:ext cx="857746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dirty="0"/>
              <a:t>Les différentes réactions sont « Acceptée » - « Différence ignorée » - « Rejetée » - vierge quand il n’y a aucune différence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1201C5E-5FE7-4ED1-573D-B0DB53F5F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72" y="1206992"/>
            <a:ext cx="8203428" cy="263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9507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AB6AB8C-CFDC-D175-65B3-D2C267DC1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72" y="1206992"/>
            <a:ext cx="8203428" cy="2635810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3600" b="1" i="1" dirty="0"/>
              <a:t>2. Ecran « Comparaison C2 »  </a:t>
            </a:r>
            <a:endParaRPr lang="fr-FR" sz="36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5538C0D-540F-4300-8BB0-DB7691C7B77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24744"/>
            <a:ext cx="8229600" cy="523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Font typeface="Arial" pitchFamily="34" charset="0"/>
              <a:buNone/>
            </a:pPr>
            <a:endParaRPr lang="fr-BE" sz="1600" b="1" dirty="0">
              <a:solidFill>
                <a:srgbClr val="C000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fr-BE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B1BB6915-2204-4703-833B-B3298A89171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705114"/>
            <a:ext cx="8229600" cy="3803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None/>
            </a:pPr>
            <a:endParaRPr lang="fr-BE" sz="18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904EF45-E826-4602-901F-0AB0E6AD9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7" y="4448063"/>
            <a:ext cx="1382857" cy="274285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6DE270E3-2A9C-4575-B727-C85AEF4893A7}"/>
              </a:ext>
            </a:extLst>
          </p:cNvPr>
          <p:cNvSpPr txBox="1"/>
          <p:nvPr/>
        </p:nvSpPr>
        <p:spPr>
          <a:xfrm>
            <a:off x="457199" y="4885236"/>
            <a:ext cx="7776864" cy="1638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2400" b="1" u="sng" dirty="0"/>
              <a:t>2 possibilités</a:t>
            </a:r>
            <a:r>
              <a:rPr lang="fr-BE" b="1" dirty="0"/>
              <a:t>:</a:t>
            </a:r>
            <a:endParaRPr lang="fr-BE" b="1" u="sng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rgbClr val="C00000"/>
                </a:solidFill>
              </a:rPr>
              <a:t>« C2XML » </a:t>
            </a:r>
            <a:r>
              <a:rPr lang="fr-BE" dirty="0"/>
              <a:t>= Cette mention apparait si les données proviennent du </a:t>
            </a:r>
            <a:r>
              <a:rPr lang="fr-BE" b="1" dirty="0"/>
              <a:t>contenu de la C2XML</a:t>
            </a:r>
            <a:r>
              <a:rPr lang="fr-BE" dirty="0"/>
              <a:t> même si les celles-ci existent aussi dans Horizon</a:t>
            </a:r>
          </a:p>
          <a:p>
            <a:endParaRPr lang="fr-BE" sz="105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rgbClr val="008000"/>
                </a:solidFill>
              </a:rPr>
              <a:t>« CSC »</a:t>
            </a:r>
            <a:r>
              <a:rPr lang="fr-BE" dirty="0"/>
              <a:t> = Cette mention apparait si les données proviennent </a:t>
            </a:r>
            <a:r>
              <a:rPr lang="fr-BE" b="1" u="sng" dirty="0"/>
              <a:t>uniquement</a:t>
            </a:r>
            <a:r>
              <a:rPr lang="fr-BE" dirty="0"/>
              <a:t> de nos </a:t>
            </a:r>
            <a:r>
              <a:rPr lang="fr-BE" b="1" dirty="0"/>
              <a:t>vérités Horizon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C89F4A-1DE9-4256-8541-BC1A2EF6C65D}"/>
              </a:ext>
            </a:extLst>
          </p:cNvPr>
          <p:cNvSpPr/>
          <p:nvPr/>
        </p:nvSpPr>
        <p:spPr>
          <a:xfrm>
            <a:off x="7697925" y="1967814"/>
            <a:ext cx="565718" cy="56950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D3B65B-A81C-441D-AADD-B80519A93C61}"/>
              </a:ext>
            </a:extLst>
          </p:cNvPr>
          <p:cNvSpPr/>
          <p:nvPr/>
        </p:nvSpPr>
        <p:spPr>
          <a:xfrm>
            <a:off x="7697925" y="2537317"/>
            <a:ext cx="565718" cy="640087"/>
          </a:xfrm>
          <a:prstGeom prst="rect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561541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0F2A2B6-010E-7962-B297-7893129D0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96752"/>
            <a:ext cx="8382000" cy="3456384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3600" b="1" i="1" dirty="0"/>
              <a:t>2. Ecran « Comparaison C2 »  </a:t>
            </a:r>
            <a:endParaRPr lang="fr-FR" sz="36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5538C0D-540F-4300-8BB0-DB7691C7B77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24744"/>
            <a:ext cx="8229600" cy="523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Font typeface="Arial" pitchFamily="34" charset="0"/>
              <a:buNone/>
            </a:pPr>
            <a:endParaRPr lang="fr-BE" sz="1600" b="1" dirty="0">
              <a:solidFill>
                <a:srgbClr val="C000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fr-BE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B1BB6915-2204-4703-833B-B3298A89171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705114"/>
            <a:ext cx="8229600" cy="3803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None/>
            </a:pPr>
            <a:endParaRPr lang="fr-BE" sz="18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DE270E3-2A9C-4575-B727-C85AEF4893A7}"/>
              </a:ext>
            </a:extLst>
          </p:cNvPr>
          <p:cNvSpPr txBox="1"/>
          <p:nvPr/>
        </p:nvSpPr>
        <p:spPr>
          <a:xfrm>
            <a:off x="533399" y="5099797"/>
            <a:ext cx="7776864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2400" dirty="0"/>
              <a:t>La zone C2 </a:t>
            </a:r>
            <a:r>
              <a:rPr lang="fr-BE" sz="2400" dirty="0" err="1"/>
              <a:t>Onem</a:t>
            </a:r>
            <a:r>
              <a:rPr lang="fr-BE" sz="2400" dirty="0"/>
              <a:t> rejetées permet la </a:t>
            </a:r>
            <a:r>
              <a:rPr lang="fr-BE" sz="2400" b="1" dirty="0"/>
              <a:t>gestion</a:t>
            </a:r>
            <a:r>
              <a:rPr lang="fr-BE" sz="2400" dirty="0"/>
              <a:t> et la </a:t>
            </a:r>
            <a:r>
              <a:rPr lang="fr-BE" sz="2400" b="1" dirty="0"/>
              <a:t>consultation</a:t>
            </a:r>
            <a:r>
              <a:rPr lang="fr-BE" sz="2400" dirty="0"/>
              <a:t> des </a:t>
            </a:r>
            <a:r>
              <a:rPr lang="fr-BE" sz="2400" b="1" dirty="0">
                <a:solidFill>
                  <a:srgbClr val="C00000"/>
                </a:solidFill>
              </a:rPr>
              <a:t>C8-plainte</a:t>
            </a:r>
            <a:r>
              <a:rPr lang="fr-BE" sz="2400" dirty="0"/>
              <a:t> créés au départ du traitement d’une C2 XML rejetée</a:t>
            </a:r>
            <a:endParaRPr lang="fr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2A0CC4-94AA-4C9C-9B74-D9F4FCC91DE9}"/>
              </a:ext>
            </a:extLst>
          </p:cNvPr>
          <p:cNvSpPr/>
          <p:nvPr/>
        </p:nvSpPr>
        <p:spPr>
          <a:xfrm>
            <a:off x="533400" y="3478837"/>
            <a:ext cx="8077202" cy="9904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310DC3-A08E-4028-880C-A5B02F0CE122}"/>
              </a:ext>
            </a:extLst>
          </p:cNvPr>
          <p:cNvSpPr/>
          <p:nvPr/>
        </p:nvSpPr>
        <p:spPr>
          <a:xfrm>
            <a:off x="5257056" y="1798585"/>
            <a:ext cx="1296144" cy="1718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425666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rmAutofit/>
          </a:bodyPr>
          <a:lstStyle/>
          <a:p>
            <a:pPr algn="r"/>
            <a:r>
              <a:rPr lang="fr-BE" sz="3600" b="1" i="1" dirty="0"/>
              <a:t>3. Principes de base</a:t>
            </a:r>
            <a:endParaRPr lang="fr-FR" sz="3600" b="1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5231606"/>
          </a:xfrm>
        </p:spPr>
        <p:txBody>
          <a:bodyPr>
            <a:normAutofit fontScale="92500"/>
          </a:bodyPr>
          <a:lstStyle/>
          <a:p>
            <a:pPr marL="0" lvl="2" indent="0">
              <a:buNone/>
            </a:pPr>
            <a:r>
              <a:rPr lang="fr-BE" dirty="0"/>
              <a:t>Quelques </a:t>
            </a:r>
            <a:r>
              <a:rPr lang="fr-BE" b="1" dirty="0">
                <a:solidFill>
                  <a:srgbClr val="C00000"/>
                </a:solidFill>
              </a:rPr>
              <a:t>principes de base </a:t>
            </a:r>
            <a:r>
              <a:rPr lang="fr-BE" dirty="0"/>
              <a:t>à respecter lors</a:t>
            </a:r>
            <a:r>
              <a:rPr lang="fr-BE" b="1" dirty="0">
                <a:solidFill>
                  <a:srgbClr val="C00000"/>
                </a:solidFill>
              </a:rPr>
              <a:t> </a:t>
            </a:r>
            <a:r>
              <a:rPr lang="fr-BE" dirty="0"/>
              <a:t>du</a:t>
            </a:r>
            <a:r>
              <a:rPr lang="fr-BE" b="1" dirty="0">
                <a:solidFill>
                  <a:srgbClr val="C00000"/>
                </a:solidFill>
              </a:rPr>
              <a:t> </a:t>
            </a:r>
            <a:r>
              <a:rPr lang="fr-BE" b="1" dirty="0"/>
              <a:t>traitement d’une discordance C2XML: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rgbClr val="C00000"/>
                </a:solidFill>
              </a:rPr>
              <a:t>Consulter l’ensemble des tâches du NISS </a:t>
            </a:r>
            <a:r>
              <a:rPr lang="fr-BE" dirty="0"/>
              <a:t>avant le traitement de la comparaison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rgbClr val="C00000"/>
                </a:solidFill>
              </a:rPr>
              <a:t>Ouvrir la totalité de l’arborescence </a:t>
            </a:r>
            <a:r>
              <a:rPr lang="fr-BE" dirty="0"/>
              <a:t>des modules discordants pour chacune des dates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BE" dirty="0"/>
              <a:t>Traiter les modules discordants </a:t>
            </a:r>
            <a:r>
              <a:rPr lang="fr-BE" b="1" dirty="0">
                <a:solidFill>
                  <a:srgbClr val="C00000"/>
                </a:solidFill>
              </a:rPr>
              <a:t>dans l’ordre chronologique </a:t>
            </a:r>
            <a:r>
              <a:rPr lang="fr-BE" dirty="0"/>
              <a:t>du plus ancien au plus récent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rgbClr val="C00000"/>
                </a:solidFill>
              </a:rPr>
              <a:t>S04/Dégressivité: </a:t>
            </a:r>
            <a:r>
              <a:rPr lang="fr-BE" dirty="0"/>
              <a:t>faire en sorte que les dates de prises de cours des différentes périodes soient </a:t>
            </a:r>
            <a:r>
              <a:rPr lang="fr-BE" b="1" dirty="0">
                <a:solidFill>
                  <a:srgbClr val="C00000"/>
                </a:solidFill>
              </a:rPr>
              <a:t>conformes à la réalité et non à la date de D.A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BE" dirty="0"/>
              <a:t>Toujours</a:t>
            </a:r>
            <a:r>
              <a:rPr lang="fr-BE" dirty="0">
                <a:solidFill>
                  <a:srgbClr val="C00000"/>
                </a:solidFill>
              </a:rPr>
              <a:t> </a:t>
            </a:r>
            <a:r>
              <a:rPr lang="fr-BE" b="1" dirty="0">
                <a:solidFill>
                  <a:srgbClr val="C00000"/>
                </a:solidFill>
              </a:rPr>
              <a:t>créer les C8-plainte au départ de l’onglet « supplémentaire »</a:t>
            </a:r>
            <a:r>
              <a:rPr lang="fr-BE" dirty="0">
                <a:solidFill>
                  <a:srgbClr val="C00000"/>
                </a:solidFill>
              </a:rPr>
              <a:t> </a:t>
            </a:r>
            <a:r>
              <a:rPr lang="fr-BE" dirty="0"/>
              <a:t>en cas de rejet de la C2 XML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rgbClr val="C00000"/>
                </a:solidFill>
              </a:rPr>
              <a:t>Contrôler l’ensemble des vérités</a:t>
            </a:r>
            <a:r>
              <a:rPr lang="fr-BE" dirty="0"/>
              <a:t>  adaptées une fois la comparaison traitée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rgbClr val="C00000"/>
                </a:solidFill>
              </a:rPr>
              <a:t>Vérifier si les paramètres de calcul sont correctement positionnés </a:t>
            </a:r>
            <a:r>
              <a:rPr lang="fr-BE" dirty="0"/>
              <a:t>après le traitement de la discordance et si nécessaire les adapter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3" name="ZoneTexte 2">
            <a:hlinkClick r:id="" action="ppaction://noaction"/>
            <a:extLst>
              <a:ext uri="{FF2B5EF4-FFF2-40B4-BE49-F238E27FC236}">
                <a16:creationId xmlns:a16="http://schemas.microsoft.com/office/drawing/2014/main" id="{21799FB1-C7DB-4B22-BC3D-CB74FDD59B57}"/>
              </a:ext>
            </a:extLst>
          </p:cNvPr>
          <p:cNvSpPr txBox="1"/>
          <p:nvPr/>
        </p:nvSpPr>
        <p:spPr>
          <a:xfrm>
            <a:off x="1259632" y="3717032"/>
            <a:ext cx="19442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3785429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latin typeface="Times New Roman" pitchFamily="18" charset="0"/>
                <a:cs typeface="Times New Roman" pitchFamily="18" charset="0"/>
              </a:rPr>
              <a:t>		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163074"/>
            <a:ext cx="8229600" cy="2531851"/>
          </a:xfrm>
        </p:spPr>
        <p:txBody>
          <a:bodyPr anchor="ctr" anchorCtr="1">
            <a:normAutofit/>
          </a:bodyPr>
          <a:lstStyle/>
          <a:p>
            <a:pPr marL="0" indent="0" algn="ctr">
              <a:spcBef>
                <a:spcPts val="2400"/>
              </a:spcBef>
              <a:buNone/>
            </a:pPr>
            <a:r>
              <a:rPr lang="en-US" sz="5400" b="1" dirty="0">
                <a:latin typeface="+mj-lt"/>
                <a:cs typeface="Times New Roman" pitchFamily="18" charset="0"/>
              </a:rPr>
              <a:t>4. </a:t>
            </a:r>
            <a:r>
              <a:rPr lang="en-US" sz="5400" b="1" dirty="0" err="1">
                <a:latin typeface="+mj-lt"/>
                <a:cs typeface="Times New Roman" pitchFamily="18" charset="0"/>
              </a:rPr>
              <a:t>Analyse</a:t>
            </a:r>
            <a:r>
              <a:rPr lang="en-US" sz="5400" b="1" dirty="0">
                <a:latin typeface="+mj-lt"/>
                <a:cs typeface="Times New Roman" pitchFamily="18" charset="0"/>
              </a:rPr>
              <a:t> et </a:t>
            </a:r>
            <a:r>
              <a:rPr lang="en-US" sz="5400" b="1" dirty="0" err="1">
                <a:latin typeface="+mj-lt"/>
                <a:cs typeface="Times New Roman" pitchFamily="18" charset="0"/>
              </a:rPr>
              <a:t>traitement</a:t>
            </a:r>
            <a:r>
              <a:rPr lang="en-US" sz="5400" b="1" dirty="0">
                <a:latin typeface="+mj-lt"/>
                <a:cs typeface="Times New Roman" pitchFamily="18" charset="0"/>
              </a:rPr>
              <a:t> de C2 </a:t>
            </a:r>
            <a:r>
              <a:rPr lang="en-US" sz="5400" b="1" dirty="0" err="1">
                <a:latin typeface="+mj-lt"/>
                <a:cs typeface="Times New Roman" pitchFamily="18" charset="0"/>
              </a:rPr>
              <a:t>discordantes</a:t>
            </a:r>
            <a:endParaRPr lang="en-US" sz="5400" b="1" dirty="0">
              <a:latin typeface="+mj-lt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3691807"/>
      </p:ext>
    </p:extLst>
  </p:cSld>
  <p:clrMapOvr>
    <a:masterClrMapping/>
  </p:clrMapOvr>
  <p:transition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B9FBC099-9262-8808-1144-DBBA663C3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68764"/>
            <a:ext cx="8224655" cy="1754510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Autofit/>
          </a:bodyPr>
          <a:lstStyle/>
          <a:p>
            <a:pPr algn="r"/>
            <a:r>
              <a:rPr lang="fr-BE" sz="2800" b="1" i="1" dirty="0"/>
              <a:t>4.1. Traitement de la C2 XML: </a:t>
            </a:r>
            <a:r>
              <a:rPr lang="fr-BE" sz="2800" b="1" i="1" dirty="0">
                <a:ea typeface="Segoe UI Emoji" panose="020B0502040204020203" pitchFamily="34" charset="0"/>
              </a:rPr>
              <a:t>Écrans et manipulations</a:t>
            </a:r>
            <a:r>
              <a:rPr lang="fr-BE" sz="2800" b="1" i="1" dirty="0"/>
              <a:t> </a:t>
            </a:r>
            <a:endParaRPr lang="fr-FR" sz="28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D43507-C890-4C3A-B0F1-2BE0A846C8AC}"/>
              </a:ext>
            </a:extLst>
          </p:cNvPr>
          <p:cNvSpPr txBox="1"/>
          <p:nvPr/>
        </p:nvSpPr>
        <p:spPr>
          <a:xfrm>
            <a:off x="457200" y="5639254"/>
            <a:ext cx="8224664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BE" sz="2000" dirty="0"/>
              <a:t>Afin de traiter la discordance, il faut développer de l’arborescence et double-cliquer sur la ligne </a:t>
            </a:r>
            <a:r>
              <a:rPr lang="fr-BE" sz="2000" b="1" dirty="0">
                <a:solidFill>
                  <a:srgbClr val="C00000"/>
                </a:solidFill>
              </a:rPr>
              <a:t>« A traiter »</a:t>
            </a:r>
            <a:r>
              <a:rPr lang="fr-BE" sz="2000" b="1" dirty="0"/>
              <a:t> au dernier niveau de celle-ci </a:t>
            </a:r>
            <a:r>
              <a:rPr lang="fr-BE" sz="2000" dirty="0"/>
              <a:t>(= sous-répertoire).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93F7D7CD-619F-468B-AB2C-BF931FC8AC61}"/>
              </a:ext>
            </a:extLst>
          </p:cNvPr>
          <p:cNvCxnSpPr>
            <a:cxnSpLocks/>
          </p:cNvCxnSpPr>
          <p:nvPr/>
        </p:nvCxnSpPr>
        <p:spPr>
          <a:xfrm flipV="1">
            <a:off x="3921460" y="4941168"/>
            <a:ext cx="0" cy="69808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0E5BB70C-5768-409C-B918-BC8C7526BD69}"/>
              </a:ext>
            </a:extLst>
          </p:cNvPr>
          <p:cNvSpPr txBox="1"/>
          <p:nvPr/>
        </p:nvSpPr>
        <p:spPr>
          <a:xfrm>
            <a:off x="462136" y="1092128"/>
            <a:ext cx="82246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BE" sz="2000" dirty="0"/>
              <a:t>Traitement au départ de la tâche admissibilité </a:t>
            </a:r>
            <a:r>
              <a:rPr lang="fr-BE" sz="2000" b="1" dirty="0">
                <a:solidFill>
                  <a:srgbClr val="C00000"/>
                </a:solidFill>
              </a:rPr>
              <a:t>« Traiter C2 XML »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ABF237A9-41AC-22FE-B612-3CE1FE42C86D}"/>
              </a:ext>
            </a:extLst>
          </p:cNvPr>
          <p:cNvGrpSpPr/>
          <p:nvPr/>
        </p:nvGrpSpPr>
        <p:grpSpPr>
          <a:xfrm>
            <a:off x="441216" y="1482440"/>
            <a:ext cx="8224655" cy="1972878"/>
            <a:chOff x="441216" y="1482440"/>
            <a:chExt cx="8224655" cy="1972878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45E47FD2-1E62-7B69-D296-468E4ABCA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216" y="1482440"/>
              <a:ext cx="8224655" cy="194656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2E6725D-8DE2-9E03-7932-3C0DBADF1B84}"/>
                </a:ext>
              </a:extLst>
            </p:cNvPr>
            <p:cNvSpPr/>
            <p:nvPr/>
          </p:nvSpPr>
          <p:spPr>
            <a:xfrm>
              <a:off x="2123728" y="1700808"/>
              <a:ext cx="3816424" cy="175451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/>
            </a:p>
          </p:txBody>
        </p:sp>
      </p:grpSp>
    </p:spTree>
    <p:extLst>
      <p:ext uri="{BB962C8B-B14F-4D97-AF65-F5344CB8AC3E}">
        <p14:creationId xmlns:p14="http://schemas.microsoft.com/office/powerpoint/2010/main" val="183985590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95DF7162-826C-8097-24E2-10DFF2134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34" y="980728"/>
            <a:ext cx="7738930" cy="5472608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Autofit/>
          </a:bodyPr>
          <a:lstStyle/>
          <a:p>
            <a:pPr algn="r"/>
            <a:r>
              <a:rPr lang="fr-BE" sz="2800" b="1" i="1" dirty="0"/>
              <a:t>4.1. Traitement de la C2 XML: </a:t>
            </a:r>
            <a:r>
              <a:rPr lang="fr-BE" sz="2800" b="1" i="1" dirty="0">
                <a:ea typeface="Segoe UI Emoji" panose="020B0502040204020203" pitchFamily="34" charset="0"/>
              </a:rPr>
              <a:t>Écrans et manipulations</a:t>
            </a:r>
            <a:r>
              <a:rPr lang="fr-BE" sz="2800" b="1" i="1" dirty="0"/>
              <a:t> </a:t>
            </a:r>
            <a:endParaRPr lang="fr-FR" sz="28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7CB9BFA-5C71-4EA3-9464-558203F38750}"/>
              </a:ext>
            </a:extLst>
          </p:cNvPr>
          <p:cNvSpPr/>
          <p:nvPr/>
        </p:nvSpPr>
        <p:spPr>
          <a:xfrm>
            <a:off x="702534" y="1194852"/>
            <a:ext cx="838359" cy="2858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2C3FCB-934A-469A-B39A-603751957F7B}"/>
              </a:ext>
            </a:extLst>
          </p:cNvPr>
          <p:cNvSpPr/>
          <p:nvPr/>
        </p:nvSpPr>
        <p:spPr>
          <a:xfrm>
            <a:off x="933857" y="2996952"/>
            <a:ext cx="3567600" cy="2742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C81039-3F78-498A-8CD7-B777E194488F}"/>
              </a:ext>
            </a:extLst>
          </p:cNvPr>
          <p:cNvSpPr/>
          <p:nvPr/>
        </p:nvSpPr>
        <p:spPr>
          <a:xfrm>
            <a:off x="4634729" y="2996952"/>
            <a:ext cx="3567600" cy="2742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027129-F63F-48D3-8089-ABA16A126A57}"/>
              </a:ext>
            </a:extLst>
          </p:cNvPr>
          <p:cNvSpPr>
            <a:spLocks/>
          </p:cNvSpPr>
          <p:nvPr/>
        </p:nvSpPr>
        <p:spPr>
          <a:xfrm>
            <a:off x="1475657" y="5897355"/>
            <a:ext cx="1245600" cy="165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98F566-995D-4263-9999-8876D8B8B100}"/>
              </a:ext>
            </a:extLst>
          </p:cNvPr>
          <p:cNvSpPr>
            <a:spLocks/>
          </p:cNvSpPr>
          <p:nvPr/>
        </p:nvSpPr>
        <p:spPr>
          <a:xfrm>
            <a:off x="6422743" y="5882197"/>
            <a:ext cx="1245600" cy="165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7B3C5-9FBF-4D43-9430-A10C06A8BD6B}"/>
              </a:ext>
            </a:extLst>
          </p:cNvPr>
          <p:cNvSpPr>
            <a:spLocks/>
          </p:cNvSpPr>
          <p:nvPr/>
        </p:nvSpPr>
        <p:spPr>
          <a:xfrm>
            <a:off x="3949199" y="5897355"/>
            <a:ext cx="1234800" cy="165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1B84B4-B230-486A-A911-9F887DCCA7B0}"/>
              </a:ext>
            </a:extLst>
          </p:cNvPr>
          <p:cNvSpPr/>
          <p:nvPr/>
        </p:nvSpPr>
        <p:spPr>
          <a:xfrm>
            <a:off x="933858" y="1590490"/>
            <a:ext cx="7268472" cy="1209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9600511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2AD9BAA-921D-7B8E-C813-B88F85381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3" y="1129956"/>
            <a:ext cx="7776190" cy="1805334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Autofit/>
          </a:bodyPr>
          <a:lstStyle/>
          <a:p>
            <a:pPr algn="r"/>
            <a:r>
              <a:rPr lang="fr-BE" sz="2800" b="1" i="1" dirty="0"/>
              <a:t>4.1. Traitement de la C2 XML: </a:t>
            </a:r>
            <a:r>
              <a:rPr lang="fr-BE" sz="2800" b="1" i="1" dirty="0">
                <a:ea typeface="Segoe UI Emoji" panose="020B0502040204020203" pitchFamily="34" charset="0"/>
              </a:rPr>
              <a:t>Écrans et manipulations</a:t>
            </a:r>
            <a:r>
              <a:rPr lang="fr-BE" sz="2800" b="1" i="1" dirty="0"/>
              <a:t> </a:t>
            </a:r>
            <a:endParaRPr lang="fr-FR" sz="28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50EAFD0-9EC4-4E94-960A-275988D4D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55" y="3268922"/>
            <a:ext cx="896230" cy="20952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2958E8B-56D1-43BB-9D12-E6870B036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08" y="4657603"/>
            <a:ext cx="1433969" cy="20952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6F7ECAF-0398-4FB3-A005-803B27FDE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50" y="5239964"/>
            <a:ext cx="1433969" cy="209524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0FA82FA1-CFE4-48C6-9634-95D3BB8D9D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41" y="5878454"/>
            <a:ext cx="1066514" cy="209524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8A77DD37-FC2C-4510-A0D8-BA11617EAC60}"/>
              </a:ext>
            </a:extLst>
          </p:cNvPr>
          <p:cNvSpPr txBox="1"/>
          <p:nvPr/>
        </p:nvSpPr>
        <p:spPr>
          <a:xfrm>
            <a:off x="836070" y="3571237"/>
            <a:ext cx="776190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BE" sz="1600" dirty="0"/>
              <a:t>S04 (reprise dans la colonne de gauche) = Date de prise de cours du C2Body ou date de début de la vérité S04 si pas d’association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BE" sz="1600" dirty="0"/>
              <a:t>Autres modules (reprise en haut de la zone) = date indiquée en fonction de la ligne sélectionnée 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93CF1FE-C5A9-4C69-BC57-21842712C8B4}"/>
              </a:ext>
            </a:extLst>
          </p:cNvPr>
          <p:cNvSpPr txBox="1"/>
          <p:nvPr/>
        </p:nvSpPr>
        <p:spPr>
          <a:xfrm>
            <a:off x="865934" y="4927915"/>
            <a:ext cx="550626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Code, article, détails,…  repris par l’</a:t>
            </a:r>
            <a:r>
              <a:rPr lang="fr-BE" sz="1600" dirty="0" err="1"/>
              <a:t>ONEm</a:t>
            </a:r>
            <a:r>
              <a:rPr lang="fr-BE" sz="1600" dirty="0"/>
              <a:t> dans la C2 XML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05680F3-E2F6-4B02-B2B1-589F89952C36}"/>
              </a:ext>
            </a:extLst>
          </p:cNvPr>
          <p:cNvSpPr txBox="1"/>
          <p:nvPr/>
        </p:nvSpPr>
        <p:spPr>
          <a:xfrm>
            <a:off x="810140" y="5533389"/>
            <a:ext cx="491398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 err="1"/>
              <a:t>Code,article</a:t>
            </a:r>
            <a:r>
              <a:rPr lang="fr-BE" sz="1600"/>
              <a:t>, détails,… </a:t>
            </a:r>
            <a:r>
              <a:rPr lang="fr-BE" sz="1600" dirty="0"/>
              <a:t>présents dans les vérités CSC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55EE3CA-71E2-4B5C-97E0-687A2D738959}"/>
              </a:ext>
            </a:extLst>
          </p:cNvPr>
          <p:cNvSpPr txBox="1"/>
          <p:nvPr/>
        </p:nvSpPr>
        <p:spPr>
          <a:xfrm>
            <a:off x="805399" y="6113242"/>
            <a:ext cx="764815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BE" sz="1600" dirty="0"/>
              <a:t>Possibilités: </a:t>
            </a:r>
            <a:r>
              <a:rPr lang="fr-BE" sz="1600" b="1" dirty="0"/>
              <a:t>« Déjà égal » - « À traiter » - « Différence ignorée » - « Résultat accepté » - « </a:t>
            </a:r>
            <a:r>
              <a:rPr lang="fr-BE" sz="1600" b="1" dirty="0" err="1"/>
              <a:t>ONEm</a:t>
            </a:r>
            <a:r>
              <a:rPr lang="fr-BE" sz="1600" b="1" dirty="0"/>
              <a:t> rejeté » - « Déjà traité 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31ADB0-AA97-4552-9140-B5F8565FF9DF}"/>
              </a:ext>
            </a:extLst>
          </p:cNvPr>
          <p:cNvSpPr/>
          <p:nvPr/>
        </p:nvSpPr>
        <p:spPr>
          <a:xfrm>
            <a:off x="6058733" y="1678122"/>
            <a:ext cx="1584176" cy="31330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861697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896E507E-E0CB-A6DE-08ED-C6F2180A8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05" y="1024564"/>
            <a:ext cx="7688589" cy="5172099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Autofit/>
          </a:bodyPr>
          <a:lstStyle/>
          <a:p>
            <a:pPr algn="r"/>
            <a:r>
              <a:rPr lang="fr-BE" sz="2800" b="1" i="1" dirty="0"/>
              <a:t>4.1. Traitement de la C2 XML: </a:t>
            </a:r>
            <a:r>
              <a:rPr lang="fr-BE" sz="2800" b="1" i="1" dirty="0">
                <a:ea typeface="Segoe UI Emoji" panose="020B0502040204020203" pitchFamily="34" charset="0"/>
              </a:rPr>
              <a:t>Écrans et manipulations</a:t>
            </a:r>
            <a:r>
              <a:rPr lang="fr-BE" sz="2800" b="1" i="1" dirty="0"/>
              <a:t> </a:t>
            </a:r>
            <a:endParaRPr lang="fr-FR" sz="28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D3B9C-7F66-4D2E-BAEE-086820895EB7}"/>
              </a:ext>
            </a:extLst>
          </p:cNvPr>
          <p:cNvSpPr/>
          <p:nvPr/>
        </p:nvSpPr>
        <p:spPr>
          <a:xfrm>
            <a:off x="716744" y="1022361"/>
            <a:ext cx="6137590" cy="4986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DC2B71-AE1C-455C-AE3E-12F00D3920CE}"/>
              </a:ext>
            </a:extLst>
          </p:cNvPr>
          <p:cNvSpPr/>
          <p:nvPr/>
        </p:nvSpPr>
        <p:spPr>
          <a:xfrm>
            <a:off x="1259632" y="1521036"/>
            <a:ext cx="6912768" cy="2727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422D54-39BF-4F22-AC47-648466149724}"/>
              </a:ext>
            </a:extLst>
          </p:cNvPr>
          <p:cNvSpPr/>
          <p:nvPr/>
        </p:nvSpPr>
        <p:spPr>
          <a:xfrm>
            <a:off x="4427984" y="4437112"/>
            <a:ext cx="3977349" cy="3600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0B3AAE-79D6-46CB-9EF0-25CEE89132A4}"/>
              </a:ext>
            </a:extLst>
          </p:cNvPr>
          <p:cNvSpPr/>
          <p:nvPr/>
        </p:nvSpPr>
        <p:spPr>
          <a:xfrm>
            <a:off x="827600" y="1693109"/>
            <a:ext cx="199099" cy="27476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68AF2F-7104-4F78-933D-DD1F4D88CECE}"/>
              </a:ext>
            </a:extLst>
          </p:cNvPr>
          <p:cNvSpPr/>
          <p:nvPr/>
        </p:nvSpPr>
        <p:spPr>
          <a:xfrm>
            <a:off x="6876256" y="5858768"/>
            <a:ext cx="1529077" cy="2940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162809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9" grpId="0" animBg="1"/>
      <p:bldP spid="9" grpId="1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Autofit/>
          </a:bodyPr>
          <a:lstStyle/>
          <a:p>
            <a:pPr algn="r"/>
            <a:r>
              <a:rPr lang="fr-BE" sz="2800" b="1" i="1" dirty="0"/>
              <a:t>4.1. Traitement de la C2 XML: </a:t>
            </a:r>
            <a:r>
              <a:rPr lang="fr-BE" sz="2800" b="1" i="1" dirty="0">
                <a:ea typeface="Segoe UI Emoji" panose="020B0502040204020203" pitchFamily="34" charset="0"/>
              </a:rPr>
              <a:t>Écrans et manipulations</a:t>
            </a:r>
            <a:r>
              <a:rPr lang="fr-BE" sz="2800" b="1" i="1" dirty="0"/>
              <a:t> </a:t>
            </a:r>
            <a:endParaRPr lang="fr-FR" sz="2800" b="1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52316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b="1" u="sng" dirty="0"/>
              <a:t>Les boutons d’action</a:t>
            </a:r>
            <a:r>
              <a:rPr lang="fr-BE" b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« Ignorer différence » : </a:t>
            </a:r>
            <a:r>
              <a:rPr lang="fr-BE" sz="2400" dirty="0"/>
              <a:t>Permet de laisser les données en l’état et d’ignorer les éléments discordants  ou de les traiter directement dans les vérités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« Accepter » : </a:t>
            </a:r>
            <a:r>
              <a:rPr lang="fr-BE" sz="2400" dirty="0"/>
              <a:t>Permet d’injecter dans nos vérités les données issues de la C2XML</a:t>
            </a:r>
          </a:p>
          <a:p>
            <a:pPr marL="457200" lvl="1" indent="0">
              <a:buNone/>
            </a:pPr>
            <a:r>
              <a:rPr lang="fr-BE" sz="2000" b="1" dirty="0"/>
              <a:t>ATTENTION! </a:t>
            </a:r>
            <a:r>
              <a:rPr lang="fr-BE" sz="2000" dirty="0">
                <a:sym typeface="Wingdings" panose="05000000000000000000" pitchFamily="2" charset="2"/>
              </a:rPr>
              <a:t> Possibilité d’écraser des données existantes et valables</a:t>
            </a:r>
            <a:endParaRPr lang="fr-BE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« Rejeter » : </a:t>
            </a:r>
            <a:r>
              <a:rPr lang="fr-BE" sz="2400" dirty="0"/>
              <a:t>Permet de demander à l’</a:t>
            </a:r>
            <a:r>
              <a:rPr lang="fr-BE" sz="2400" dirty="0" err="1"/>
              <a:t>ONEm</a:t>
            </a:r>
            <a:r>
              <a:rPr lang="fr-BE" sz="2400" dirty="0"/>
              <a:t> de corriger certaines données incorrectes, manquantes ou superflues  contenues dans la C2XML analysée</a:t>
            </a:r>
          </a:p>
          <a:p>
            <a:pPr marL="457200" lvl="1" indent="0">
              <a:buNone/>
            </a:pPr>
            <a:r>
              <a:rPr lang="fr-BE" sz="2000" b="1" dirty="0"/>
              <a:t>ATTENTION! </a:t>
            </a:r>
            <a:r>
              <a:rPr lang="fr-BE" sz="2000" dirty="0">
                <a:sym typeface="Wingdings" panose="05000000000000000000" pitchFamily="2" charset="2"/>
              </a:rPr>
              <a:t> Implique la création d’un </a:t>
            </a:r>
            <a:r>
              <a:rPr lang="fr-BE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C8 plainte</a:t>
            </a:r>
            <a:endParaRPr lang="fr-BE" sz="2000" b="1" dirty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« Valider » : </a:t>
            </a:r>
            <a:r>
              <a:rPr lang="fr-BE" sz="2400" dirty="0"/>
              <a:t>Permet de valider toutes les actions posées dans la comparaison d’un module 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« Annuler » : </a:t>
            </a:r>
            <a:r>
              <a:rPr lang="fr-BE" sz="2400" dirty="0"/>
              <a:t>Permet de sortir de la comparaison d’un module S sans que les actions ne soient enregistrées.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79352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Autofit/>
          </a:bodyPr>
          <a:lstStyle/>
          <a:p>
            <a:pPr algn="r"/>
            <a:r>
              <a:rPr lang="fr-BE" sz="3600" b="1" i="1" dirty="0"/>
              <a:t>4.2. Situations spécifiques </a:t>
            </a:r>
            <a:endParaRPr lang="fr-FR" sz="3600" b="1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523160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2200" b="1" dirty="0">
                <a:solidFill>
                  <a:srgbClr val="C00000"/>
                </a:solidFill>
              </a:rPr>
              <a:t>Discordance S05/S06</a:t>
            </a:r>
          </a:p>
          <a:p>
            <a:pPr marL="698500">
              <a:buFont typeface="Wingdings" panose="05000000000000000000" pitchFamily="2" charset="2"/>
              <a:buChar char="è"/>
            </a:pPr>
            <a:r>
              <a:rPr lang="fr-BE" sz="2200" dirty="0"/>
              <a:t>À traiter au départ de l’écran </a:t>
            </a:r>
            <a:r>
              <a:rPr lang="fr-BE" sz="2200" b="1" dirty="0"/>
              <a:t>« Comparaison saisie »</a:t>
            </a:r>
          </a:p>
          <a:p>
            <a:pPr marL="698500">
              <a:buFont typeface="Wingdings" panose="05000000000000000000" pitchFamily="2" charset="2"/>
              <a:buChar char="è"/>
            </a:pPr>
            <a:r>
              <a:rPr lang="fr-BE" sz="2200" b="1" dirty="0"/>
              <a:t>Ne pas traiter les </a:t>
            </a:r>
            <a:r>
              <a:rPr lang="fr-BE" sz="2200" b="1" dirty="0">
                <a:solidFill>
                  <a:srgbClr val="C00000"/>
                </a:solidFill>
              </a:rPr>
              <a:t>91X</a:t>
            </a:r>
          </a:p>
          <a:p>
            <a:pPr marL="355600" indent="0">
              <a:buNone/>
            </a:pPr>
            <a:endParaRPr lang="fr-BE" sz="14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 </a:t>
            </a:r>
            <a:r>
              <a:rPr lang="fr-BE" sz="2200" b="1" dirty="0">
                <a:solidFill>
                  <a:srgbClr val="C00000"/>
                </a:solidFill>
              </a:rPr>
              <a:t>Module S48 discordant</a:t>
            </a:r>
          </a:p>
          <a:p>
            <a:pPr marL="355600" indent="0">
              <a:buFont typeface="Wingdings" panose="05000000000000000000" pitchFamily="2" charset="2"/>
              <a:buChar char="è"/>
            </a:pPr>
            <a:r>
              <a:rPr lang="fr-BE" sz="2200" dirty="0">
                <a:sym typeface="Wingdings" panose="05000000000000000000" pitchFamily="2" charset="2"/>
              </a:rPr>
              <a:t> N’apparaît jamais comme discordant dans l’écran de comparaison.</a:t>
            </a:r>
          </a:p>
          <a:p>
            <a:pPr marL="698500">
              <a:buFont typeface="Wingdings" panose="05000000000000000000" pitchFamily="2" charset="2"/>
              <a:buChar char="è"/>
            </a:pPr>
            <a:r>
              <a:rPr lang="fr-BE" sz="2200" dirty="0"/>
              <a:t>Déclenche une tâche</a:t>
            </a:r>
            <a:r>
              <a:rPr lang="fr-BE" sz="2200" b="1" dirty="0"/>
              <a:t> «Discordance EC3 (XML) » (admissibilité) </a:t>
            </a:r>
            <a:r>
              <a:rPr lang="fr-BE" sz="2200" dirty="0"/>
              <a:t>et éventuellement </a:t>
            </a:r>
            <a:r>
              <a:rPr lang="fr-BE" sz="2200" b="1" dirty="0"/>
              <a:t>« Discordance EC3-C2XML » (tentative de paiement échouée)</a:t>
            </a:r>
          </a:p>
          <a:p>
            <a:pPr marL="355600" indent="0">
              <a:buNone/>
            </a:pPr>
            <a:endParaRPr lang="fr-BE" sz="13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2200" b="1" dirty="0">
                <a:solidFill>
                  <a:srgbClr val="C00000"/>
                </a:solidFill>
              </a:rPr>
              <a:t>Activation: Module S07 et S29 jumelés</a:t>
            </a:r>
          </a:p>
          <a:p>
            <a:pPr marL="695325">
              <a:buFont typeface="Wingdings" panose="05000000000000000000" pitchFamily="2" charset="2"/>
              <a:buChar char="è"/>
            </a:pPr>
            <a:r>
              <a:rPr lang="fr-BE" sz="2200" dirty="0">
                <a:sym typeface="Wingdings" panose="05000000000000000000" pitchFamily="2" charset="2"/>
              </a:rPr>
              <a:t>Obligation de traiter le module S07 avant le module S29 si accord sur S29</a:t>
            </a:r>
          </a:p>
          <a:p>
            <a:pPr marL="352425" indent="0">
              <a:buNone/>
            </a:pPr>
            <a:r>
              <a:rPr lang="fr-BE" sz="2200" b="1" dirty="0"/>
              <a:t>Attention: </a:t>
            </a:r>
            <a:r>
              <a:rPr lang="fr-BE" sz="2200" dirty="0"/>
              <a:t>La gestion des S29 et S07 au départ de la comparaison est souvent problématique. Il est préférable de traiter les discordances directement dans les vérités dans la plupart des cas.</a:t>
            </a:r>
            <a:endParaRPr lang="fr-BE" sz="2200" b="1" dirty="0"/>
          </a:p>
          <a:p>
            <a:pPr>
              <a:buFont typeface="Wingdings" panose="05000000000000000000" pitchFamily="2" charset="2"/>
              <a:buChar char="§"/>
            </a:pPr>
            <a:endParaRPr lang="fr-BE" sz="24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50151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Autofit/>
          </a:bodyPr>
          <a:lstStyle/>
          <a:p>
            <a:pPr algn="r"/>
            <a:r>
              <a:rPr lang="fr-BE" sz="3600" b="1" i="1" dirty="0"/>
              <a:t>4.2. Situations spécifiques </a:t>
            </a:r>
            <a:endParaRPr lang="fr-FR" sz="3600" b="1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5231606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Module S37 </a:t>
            </a:r>
          </a:p>
          <a:p>
            <a:pPr marL="703263">
              <a:buFont typeface="Wingdings" panose="05000000000000000000" pitchFamily="2" charset="2"/>
              <a:buChar char="è"/>
            </a:pPr>
            <a:r>
              <a:rPr lang="fr-BE" sz="2400" dirty="0">
                <a:sym typeface="Wingdings" panose="05000000000000000000" pitchFamily="2" charset="2"/>
              </a:rPr>
              <a:t>Message de l’</a:t>
            </a:r>
            <a:r>
              <a:rPr lang="fr-BE" sz="2400" dirty="0" err="1">
                <a:sym typeface="Wingdings" panose="05000000000000000000" pitchFamily="2" charset="2"/>
              </a:rPr>
              <a:t>ONEm</a:t>
            </a:r>
            <a:r>
              <a:rPr lang="fr-BE" sz="2400" dirty="0">
                <a:sym typeface="Wingdings" panose="05000000000000000000" pitchFamily="2" charset="2"/>
              </a:rPr>
              <a:t> à destination de l’OP qui apparaîtra toujours en discordance sans pouvoir être chargé dans Horizon</a:t>
            </a:r>
          </a:p>
          <a:p>
            <a:pPr marL="360363" indent="0">
              <a:buNone/>
            </a:pPr>
            <a:endParaRPr lang="fr-BE" sz="1300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Valorisation PP: Traitement des C2 type 500</a:t>
            </a:r>
            <a:r>
              <a:rPr lang="fr-BE" sz="2400" dirty="0">
                <a:solidFill>
                  <a:srgbClr val="C00000"/>
                </a:solidFill>
              </a:rPr>
              <a:t> </a:t>
            </a:r>
          </a:p>
          <a:p>
            <a:pPr marL="695325">
              <a:buFont typeface="Wingdings" panose="05000000000000000000" pitchFamily="2" charset="2"/>
              <a:buChar char="è"/>
            </a:pPr>
            <a:r>
              <a:rPr lang="fr-BE" sz="2400" dirty="0">
                <a:sym typeface="Wingdings" panose="05000000000000000000" pitchFamily="2" charset="2"/>
              </a:rPr>
              <a:t>Accepter uniquement les comparaisons à partir de la date de prise de cours de la phase 29</a:t>
            </a:r>
            <a:r>
              <a:rPr lang="fr-BE" sz="2400" dirty="0"/>
              <a:t> </a:t>
            </a:r>
          </a:p>
          <a:p>
            <a:pPr marL="352425" indent="0">
              <a:buNone/>
            </a:pPr>
            <a:endParaRPr lang="fr-BE" sz="1300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Statut inconsistant </a:t>
            </a:r>
          </a:p>
          <a:p>
            <a:pPr marL="695325">
              <a:buFont typeface="Wingdings" panose="05000000000000000000" pitchFamily="2" charset="2"/>
              <a:buChar char="è"/>
            </a:pPr>
            <a:r>
              <a:rPr lang="fr-BE" sz="2400" dirty="0">
                <a:sym typeface="Wingdings" panose="05000000000000000000" pitchFamily="2" charset="2"/>
              </a:rPr>
              <a:t>Obligation d’ignorer la différence et d’adapter manuellement les vérités lorsque cela est possible</a:t>
            </a:r>
          </a:p>
          <a:p>
            <a:pPr marL="352425" indent="0">
              <a:buNone/>
            </a:pPr>
            <a:endParaRPr lang="fr-BE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 Tâche « Traiter C2 » et pas de discordance apparente</a:t>
            </a:r>
          </a:p>
          <a:p>
            <a:pPr marL="695325">
              <a:buFont typeface="Wingdings" panose="05000000000000000000" pitchFamily="2" charset="2"/>
              <a:buChar char="è"/>
            </a:pPr>
            <a:r>
              <a:rPr lang="fr-BE" sz="2400" dirty="0">
                <a:sym typeface="Wingdings" panose="05000000000000000000" pitchFamily="2" charset="2"/>
              </a:rPr>
              <a:t>Vérifier si des lignes discordantes avec un statut </a:t>
            </a:r>
            <a:r>
              <a:rPr lang="fr-BE" sz="2400" b="1" dirty="0">
                <a:sym typeface="Wingdings" panose="05000000000000000000" pitchFamily="2" charset="2"/>
              </a:rPr>
              <a:t>« Pas en ordre » </a:t>
            </a:r>
            <a:r>
              <a:rPr lang="fr-BE" sz="2400" dirty="0">
                <a:sym typeface="Wingdings" panose="05000000000000000000" pitchFamily="2" charset="2"/>
              </a:rPr>
              <a:t>ne doivent pas êtres supprimées des vérités</a:t>
            </a:r>
          </a:p>
          <a:p>
            <a:pPr marL="352425" indent="0">
              <a:buNone/>
            </a:pPr>
            <a:endParaRPr lang="fr-BE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2400" b="1" dirty="0">
                <a:solidFill>
                  <a:srgbClr val="C00000"/>
                </a:solidFill>
              </a:rPr>
              <a:t>Discordance adresse ou compte bancaire</a:t>
            </a:r>
          </a:p>
          <a:p>
            <a:pPr marL="352425" indent="0">
              <a:buNone/>
            </a:pPr>
            <a:r>
              <a:rPr lang="fr-BE" sz="2400" dirty="0">
                <a:sym typeface="Wingdings" panose="05000000000000000000" pitchFamily="2" charset="2"/>
              </a:rPr>
              <a:t> Vérifier si un script 0.1 ou 0.2 non encore traité n’est pas en cours au BC ou en suspens</a:t>
            </a:r>
            <a:r>
              <a:rPr lang="fr-BE" sz="2400" dirty="0"/>
              <a:t>  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sz="24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fr-BE" sz="24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319652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706091"/>
          </a:xfrm>
        </p:spPr>
        <p:txBody>
          <a:bodyPr>
            <a:noAutofit/>
          </a:bodyPr>
          <a:lstStyle/>
          <a:p>
            <a:pPr algn="r"/>
            <a:r>
              <a:rPr lang="fr-BE" sz="2800" b="1" i="1" dirty="0"/>
              <a:t>4.3. Aperçu des tâches liées à la Comparaison C2XML </a:t>
            </a:r>
            <a:endParaRPr lang="fr-FR" sz="2800" b="1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5231606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3200" b="1" dirty="0">
                <a:solidFill>
                  <a:srgbClr val="C00000"/>
                </a:solidFill>
              </a:rPr>
              <a:t>Tâche « admissibilité » :</a:t>
            </a:r>
            <a:endParaRPr lang="fr-BE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dirty="0"/>
              <a:t> « Traiter C2 – Type 12 »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dirty="0"/>
              <a:t> « Discordance EC3 (XML) »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dirty="0"/>
              <a:t> « C8 plainte nécessaire »</a:t>
            </a:r>
          </a:p>
          <a:p>
            <a:pPr marL="914400" lvl="2" indent="0">
              <a:spcBef>
                <a:spcPts val="0"/>
              </a:spcBef>
              <a:buNone/>
            </a:pPr>
            <a:endParaRPr lang="fr-BE" dirty="0"/>
          </a:p>
          <a:p>
            <a:pPr marL="285750"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3200" b="1" dirty="0">
                <a:solidFill>
                  <a:srgbClr val="C00000"/>
                </a:solidFill>
              </a:rPr>
              <a:t>Tâche « Tentative de paiement échouée » :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dirty="0"/>
              <a:t>« Traiter C2 »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dirty="0"/>
              <a:t>« C8 plainte/C51 envoyé »	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dirty="0"/>
              <a:t> «</a:t>
            </a:r>
            <a:r>
              <a:rPr lang="fr-BE"/>
              <a:t> Discordance EC3 – C2 XML »</a:t>
            </a:r>
            <a:endParaRPr lang="fr-BE" dirty="0"/>
          </a:p>
          <a:p>
            <a:pPr marL="0" indent="0">
              <a:buNone/>
            </a:pPr>
            <a:endParaRPr lang="fr-BE" sz="24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3" name="ZoneTexte 2">
            <a:hlinkClick r:id="rId3" action="ppaction://hlinksldjump"/>
            <a:extLst>
              <a:ext uri="{FF2B5EF4-FFF2-40B4-BE49-F238E27FC236}">
                <a16:creationId xmlns:a16="http://schemas.microsoft.com/office/drawing/2014/main" id="{47C137DE-52F6-4188-B82A-B7BF2D1FEFF0}"/>
              </a:ext>
            </a:extLst>
          </p:cNvPr>
          <p:cNvSpPr txBox="1"/>
          <p:nvPr/>
        </p:nvSpPr>
        <p:spPr>
          <a:xfrm>
            <a:off x="1259632" y="2492896"/>
            <a:ext cx="1584176" cy="50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8434086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5" ma:contentTypeDescription="Crée un document." ma:contentTypeScope="" ma:versionID="d4244a7d8751254152acbe39de457eaf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6f809ffd179f214ffaf2bf983589f92f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BB7622-268C-420F-9D8A-F8282022A9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0AE624-48A9-4E9A-888B-DFB20D73439D}">
  <ds:schemaRefs>
    <ds:schemaRef ds:uri="bdec1399-7c99-4025-bfb6-e1e799e6630a"/>
    <ds:schemaRef ds:uri="1e832426-6819-49af-b751-404cdfce156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7d2a3af0-b854-4018-b3fb-98bf2b75e19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24579FC-2A62-4194-87FB-4DBC107B69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16520</TotalTime>
  <Words>1774</Words>
  <Application>Microsoft Office PowerPoint</Application>
  <PresentationFormat>On-screen Show (4:3)</PresentationFormat>
  <Paragraphs>217</Paragraphs>
  <Slides>23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2_Thème Office</vt:lpstr>
      <vt:lpstr>  </vt:lpstr>
      <vt:lpstr>Déroulement de la formation</vt:lpstr>
      <vt:lpstr>PowerPoint Presentation</vt:lpstr>
      <vt:lpstr>1. Structure C2XML: Rappel</vt:lpstr>
      <vt:lpstr>1. Structure C2XML: Rappel</vt:lpstr>
      <vt:lpstr>2. Ecran « Comparaison C2  »</vt:lpstr>
      <vt:lpstr>2. Ecran « Comparaison C2 »  </vt:lpstr>
      <vt:lpstr>2. Ecran « Comparaison C2 »  </vt:lpstr>
      <vt:lpstr>2. Ecran « Comparaison C2 »  </vt:lpstr>
      <vt:lpstr>2. Ecran « Comparaison C2 »  </vt:lpstr>
      <vt:lpstr>2. Ecran « Comparaison C2 »  </vt:lpstr>
      <vt:lpstr>2. Ecran « Comparaison C2 »  </vt:lpstr>
      <vt:lpstr>2. Ecran « Comparaison C2 »  </vt:lpstr>
      <vt:lpstr>3. Principes de base</vt:lpstr>
      <vt:lpstr>  </vt:lpstr>
      <vt:lpstr>4.1. Traitement de la C2 XML: Écrans et manipulations </vt:lpstr>
      <vt:lpstr>4.1. Traitement de la C2 XML: Écrans et manipulations </vt:lpstr>
      <vt:lpstr>4.1. Traitement de la C2 XML: Écrans et manipulations </vt:lpstr>
      <vt:lpstr>4.1. Traitement de la C2 XML: Écrans et manipulations </vt:lpstr>
      <vt:lpstr>4.1. Traitement de la C2 XML: Écrans et manipulations </vt:lpstr>
      <vt:lpstr>4.2. Situations spécifiques </vt:lpstr>
      <vt:lpstr>4.2. Situations spécifiques </vt:lpstr>
      <vt:lpstr>4.3. Aperçu des tâches liées à la Comparaison C2XML 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FCS-M13-Traitement Comparaison C2XML-Participants</dc:title>
  <dc:creator>u99lge</dc:creator>
  <cp:lastModifiedBy>Jeremie Kempeneers</cp:lastModifiedBy>
  <cp:revision>641</cp:revision>
  <cp:lastPrinted>2015-12-02T11:32:11Z</cp:lastPrinted>
  <dcterms:created xsi:type="dcterms:W3CDTF">2010-09-22T12:12:06Z</dcterms:created>
  <dcterms:modified xsi:type="dcterms:W3CDTF">2023-09-19T06:55:10Z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0x010100BD8C07EE20480F44AE4960B9D2A32DA0</vt:lpwstr>
  </property>
  <property fmtid="{D5CDD505-2E9C-101B-9397-08002B2CF9AE}" pid="3" name="Type formation">
    <vt:lpwstr>139;#FCS formation senior|7e1aeef4-3046-4f78-a284-cec5c2bef1bf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17;#Admissibilité|d1ac0b1f-1e4c-4aa8-9a97-5b01e61985ba;#13;#Tâches|addb87cc-e52a-4e6f-a061-fdea8baf7830;#18;#Vérités|91331765-02c2-47c0-8605-37a5a3e877f2;#22;#Indemnisabilité|b5f95997-28b8-41b1-bbb7-1a3d8a5995b4;#26;#Paiement|bbe82f01-f3c6-4a35-a642-de01f3e9fac7</vt:lpwstr>
  </property>
  <property fmtid="{D5CDD505-2E9C-101B-9397-08002B2CF9AE}" pid="7" name="Thème">
    <vt:lpwstr>170;#Comparaison C2|06e4b245-2dd4-42b4-b3d8-67d94541bbd2</vt:lpwstr>
  </property>
  <property fmtid="{D5CDD505-2E9C-101B-9397-08002B2CF9AE}" pid="8" name="_dlc_DocIdItemGuid">
    <vt:lpwstr>231c20fa-14ae-43a0-8b36-d4ca384fd03e</vt:lpwstr>
  </property>
</Properties>
</file>