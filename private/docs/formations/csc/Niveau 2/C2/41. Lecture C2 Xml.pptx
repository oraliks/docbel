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4"/>
    <p:sldMasterId id="2147483684" r:id="rId5"/>
  </p:sldMasterIdLst>
  <p:notesMasterIdLst>
    <p:notesMasterId r:id="rId23"/>
  </p:notesMasterIdLst>
  <p:handoutMasterIdLst>
    <p:handoutMasterId r:id="rId24"/>
  </p:handoutMasterIdLst>
  <p:sldIdLst>
    <p:sldId id="322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75" r:id="rId17"/>
    <p:sldId id="276" r:id="rId18"/>
    <p:sldId id="277" r:id="rId19"/>
    <p:sldId id="323" r:id="rId20"/>
    <p:sldId id="324" r:id="rId21"/>
    <p:sldId id="278" r:id="rId22"/>
  </p:sldIdLst>
  <p:sldSz cx="9144000" cy="6858000" type="screen4x3"/>
  <p:notesSz cx="6735763" cy="986631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003399"/>
    <a:srgbClr val="0033CC"/>
    <a:srgbClr val="FF9933"/>
    <a:srgbClr val="669900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779" autoAdjust="0"/>
    <p:restoredTop sz="94291" autoAdjust="0"/>
  </p:normalViewPr>
  <p:slideViewPr>
    <p:cSldViewPr>
      <p:cViewPr varScale="1">
        <p:scale>
          <a:sx n="86" d="100"/>
          <a:sy n="86" d="100"/>
        </p:scale>
        <p:origin x="1622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handoutMaster" Target="handoutMasters/handout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i Bakhouch" userId="73dd2563-15dd-4a92-a603-4f4d9eda9088" providerId="ADAL" clId="{4F275494-38A7-4E78-8E95-B816013CFD8C}"/>
    <pc:docChg chg="custSel modSld">
      <pc:chgData name="Ali Bakhouch" userId="73dd2563-15dd-4a92-a603-4f4d9eda9088" providerId="ADAL" clId="{4F275494-38A7-4E78-8E95-B816013CFD8C}" dt="2023-11-23T08:29:46.097" v="0" actId="700"/>
      <pc:docMkLst>
        <pc:docMk/>
      </pc:docMkLst>
      <pc:sldChg chg="addSp modSp mod modClrScheme chgLayout">
        <pc:chgData name="Ali Bakhouch" userId="73dd2563-15dd-4a92-a603-4f4d9eda9088" providerId="ADAL" clId="{4F275494-38A7-4E78-8E95-B816013CFD8C}" dt="2023-11-23T08:29:46.097" v="0" actId="700"/>
        <pc:sldMkLst>
          <pc:docMk/>
          <pc:sldMk cId="1594725480" sldId="278"/>
        </pc:sldMkLst>
        <pc:spChg chg="add mod ord">
          <ac:chgData name="Ali Bakhouch" userId="73dd2563-15dd-4a92-a603-4f4d9eda9088" providerId="ADAL" clId="{4F275494-38A7-4E78-8E95-B816013CFD8C}" dt="2023-11-23T08:29:46.097" v="0" actId="700"/>
          <ac:spMkLst>
            <pc:docMk/>
            <pc:sldMk cId="1594725480" sldId="278"/>
            <ac:spMk id="2" creationId="{8A0575E2-C3DF-0365-73A0-EF1D1F0381B4}"/>
          </ac:spMkLst>
        </pc:spChg>
        <pc:spChg chg="add mod ord">
          <ac:chgData name="Ali Bakhouch" userId="73dd2563-15dd-4a92-a603-4f4d9eda9088" providerId="ADAL" clId="{4F275494-38A7-4E78-8E95-B816013CFD8C}" dt="2023-11-23T08:29:46.097" v="0" actId="700"/>
          <ac:spMkLst>
            <pc:docMk/>
            <pc:sldMk cId="1594725480" sldId="278"/>
            <ac:spMk id="3" creationId="{234B3C26-925A-9ADB-F662-9E49F6E44B1B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15373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7068CA-F0DC-447A-B9ED-AE95D731C7D8}" type="datetimeFigureOut">
              <a:rPr lang="fr-FR" smtClean="0"/>
              <a:pPr/>
              <a:t>23/11/2023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15373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110657-391D-4BAF-82B8-BBA3EA77C61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82086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00F49C-6693-442B-81D1-9FE7387508D2}" type="datetimeFigureOut">
              <a:rPr lang="fr-FR" smtClean="0"/>
              <a:pPr/>
              <a:t>23/11/2023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901700" y="739775"/>
            <a:ext cx="4932363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15373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4742A2-A700-4112-A494-09AD92282681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7948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4742A2-A700-4112-A494-09AD92282681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77386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545348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660993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7143F-3B39-4954-8CBB-9C89ABF14E73}" type="datetime1">
              <a:rPr lang="fr-FR" smtClean="0">
                <a:solidFill>
                  <a:prstClr val="black">
                    <a:tint val="75000"/>
                  </a:prstClr>
                </a:solidFill>
              </a:rPr>
              <a:t>23/11/2023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5253988"/>
      </p:ext>
    </p:extLst>
  </p:cSld>
  <p:clrMapOvr>
    <a:masterClrMapping/>
  </p:clrMapOvr>
  <p:transition>
    <p:dissolv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7E0A0-6EBE-413B-A298-218F91FB0BD7}" type="datetime1">
              <a:rPr lang="fr-FR" smtClean="0">
                <a:solidFill>
                  <a:prstClr val="black">
                    <a:tint val="75000"/>
                  </a:prstClr>
                </a:solidFill>
              </a:rPr>
              <a:t>23/11/2023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4707844"/>
      </p:ext>
    </p:extLst>
  </p:cSld>
  <p:clrMapOvr>
    <a:masterClrMapping/>
  </p:clrMapOvr>
  <p:transition>
    <p:dissolv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98132-8F8D-46AB-B47F-D39324C9D232}" type="datetime1">
              <a:rPr lang="fr-FR" smtClean="0">
                <a:solidFill>
                  <a:prstClr val="black">
                    <a:tint val="75000"/>
                  </a:prstClr>
                </a:solidFill>
              </a:rPr>
              <a:t>23/11/2023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547329"/>
      </p:ext>
    </p:extLst>
  </p:cSld>
  <p:clrMapOvr>
    <a:masterClrMapping/>
  </p:clrMapOvr>
  <p:transition>
    <p:dissolv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90547-9E35-4822-8633-EBABDA1FACFD}" type="datetime1">
              <a:rPr lang="fr-FR" smtClean="0">
                <a:solidFill>
                  <a:prstClr val="black">
                    <a:tint val="75000"/>
                  </a:prstClr>
                </a:solidFill>
              </a:rPr>
              <a:t>23/11/2023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6577545"/>
      </p:ext>
    </p:extLst>
  </p:cSld>
  <p:clrMapOvr>
    <a:masterClrMapping/>
  </p:clrMapOvr>
  <p:transition>
    <p:dissolv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A59F7-DC19-4F3F-AD6E-3BF7CD93EF85}" type="datetime1">
              <a:rPr lang="fr-FR" smtClean="0">
                <a:solidFill>
                  <a:prstClr val="black">
                    <a:tint val="75000"/>
                  </a:prstClr>
                </a:solidFill>
              </a:rPr>
              <a:t>23/11/2023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0050834"/>
      </p:ext>
    </p:extLst>
  </p:cSld>
  <p:clrMapOvr>
    <a:masterClrMapping/>
  </p:clrMapOvr>
  <p:transition>
    <p:dissolv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C0F15-DFB9-4658-898A-B223D77F5657}" type="datetime1">
              <a:rPr lang="fr-FR" smtClean="0">
                <a:solidFill>
                  <a:prstClr val="black">
                    <a:tint val="75000"/>
                  </a:prstClr>
                </a:solidFill>
              </a:rPr>
              <a:t>23/11/2023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3252110"/>
      </p:ext>
    </p:extLst>
  </p:cSld>
  <p:clrMapOvr>
    <a:masterClrMapping/>
  </p:clrMapOvr>
  <p:transition>
    <p:dissolv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C082C-946B-4A31-8043-16F92CB016B8}" type="datetime1">
              <a:rPr lang="fr-FR" smtClean="0">
                <a:solidFill>
                  <a:prstClr val="black">
                    <a:tint val="75000"/>
                  </a:prstClr>
                </a:solidFill>
              </a:rPr>
              <a:t>23/11/2023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3641546"/>
      </p:ext>
    </p:extLst>
  </p:cSld>
  <p:clrMapOvr>
    <a:masterClrMapping/>
  </p:clrMapOvr>
  <p:transition>
    <p:dissolv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B1D7-4D4A-42F9-81EA-1980F1B7DD75}" type="datetime1">
              <a:rPr lang="fr-FR" smtClean="0">
                <a:solidFill>
                  <a:prstClr val="black">
                    <a:tint val="75000"/>
                  </a:prstClr>
                </a:solidFill>
              </a:rPr>
              <a:t>23/11/2023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3839604"/>
      </p:ext>
    </p:extLst>
  </p:cSld>
  <p:clrMapOvr>
    <a:masterClrMapping/>
  </p:clrMapOvr>
  <p:transition>
    <p:dissolv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B853A-AA4F-4786-827E-B303E67A61CF}" type="datetime1">
              <a:rPr lang="fr-FR" smtClean="0">
                <a:solidFill>
                  <a:prstClr val="black">
                    <a:tint val="75000"/>
                  </a:prstClr>
                </a:solidFill>
              </a:rPr>
              <a:t>23/11/2023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5201962"/>
      </p:ext>
    </p:extLst>
  </p:cSld>
  <p:clrMapOvr>
    <a:masterClrMapping/>
  </p:clrMapOvr>
  <p:transition>
    <p:dissolv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14A2E-E2FA-4482-B68F-C6EDC6341564}" type="datetime1">
              <a:rPr lang="fr-FR" smtClean="0">
                <a:solidFill>
                  <a:prstClr val="black">
                    <a:tint val="75000"/>
                  </a:prstClr>
                </a:solidFill>
              </a:rPr>
              <a:t>23/11/2023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7807322"/>
      </p:ext>
    </p:extLst>
  </p:cSld>
  <p:clrMapOvr>
    <a:masterClrMapping/>
  </p:clrMapOvr>
  <p:transition>
    <p:dissolv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4CB3B-8025-4F52-A2B3-52EBC9A4ABD9}" type="datetime1">
              <a:rPr lang="fr-FR" smtClean="0">
                <a:solidFill>
                  <a:prstClr val="black">
                    <a:tint val="75000"/>
                  </a:prstClr>
                </a:solidFill>
              </a:rPr>
              <a:t>23/11/2023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5982936"/>
      </p:ext>
    </p:extLst>
  </p:cSld>
  <p:clrMapOvr>
    <a:masterClrMapping/>
  </p:clrMapOvr>
  <p:transition>
    <p:dissolv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A7A82-AF18-4A2F-B4A7-3CE6F2B607D5}" type="datetime1">
              <a:rPr lang="fr-FR" smtClean="0"/>
              <a:t>23/11/2023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/>
              <a:t>FNO-E1-M04-Indemnisation du JF et du samedi-2014.07.29</a:t>
            </a: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92562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444CA-6D6D-4E06-A45D-BEEB3C72074F}" type="datetime1">
              <a:rPr lang="fr-FR" smtClean="0"/>
              <a:t>23/11/2023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/>
              <a:t>FNO-E1-M04-Indemnisation du JF et du samedi-2014.07.29</a:t>
            </a: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01281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993ED-400F-480C-8C6B-19C504AAFF01}" type="datetime1">
              <a:rPr lang="fr-FR" smtClean="0"/>
              <a:t>23/11/2023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/>
              <a:t>FNO-E1-M04-Indemnisation du JF et du samedi-2014.07.29</a:t>
            </a: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85595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DAD7B-AAE5-47BE-B7D4-C750C703D2BD}" type="datetime1">
              <a:rPr lang="fr-FR" smtClean="0"/>
              <a:t>23/11/2023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/>
              <a:t>FNO-E1-M04-Indemnisation du JF et du samedi-2014.07.29</a:t>
            </a: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77593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3BE01-37ED-484B-8D7E-39CB24E40EC1}" type="datetime1">
              <a:rPr lang="fr-FR" smtClean="0"/>
              <a:t>23/11/2023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/>
              <a:t>FNO-E1-M04-Indemnisation du JF et du samedi-2014.07.29</a:t>
            </a:r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95884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57135-584B-4095-9AA7-9EC90772AB03}" type="datetime1">
              <a:rPr lang="fr-FR" smtClean="0"/>
              <a:t>23/11/2023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/>
              <a:t>FNO-E1-M04-Indemnisation du JF et du samedi-2014.07.29</a:t>
            </a: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63516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4EAD9-53F1-4E74-94C6-4CD215DE6977}" type="datetime1">
              <a:rPr lang="fr-FR" smtClean="0"/>
              <a:t>23/11/2023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/>
              <a:t>FNO-E1-M04-Indemnisation du JF et du samedi-2014.07.29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84821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EE8A3-4F2B-4778-9E6A-6F17CCF64A9C}" type="datetime1">
              <a:rPr lang="fr-FR" smtClean="0"/>
              <a:t>23/11/2023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/>
              <a:t>FNO-E1-M04-Indemnisation du JF et du samedi-2014.07.29</a:t>
            </a: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8525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AF96C-BEF8-4CD5-B86C-529E0F349B86}" type="datetime1">
              <a:rPr lang="fr-FR" smtClean="0"/>
              <a:t>23/11/2023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/>
              <a:t>FNO-E1-M04-Indemnisation du JF et du samedi-2014.07.29</a:t>
            </a: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53416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D2F91-99B0-44FE-988A-193DF16CA50A}" type="datetime1">
              <a:rPr lang="fr-FR" smtClean="0"/>
              <a:t>23/11/2023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/>
              <a:t>FNO-E1-M04-Indemnisation du JF et du samedi-2014.07.29</a:t>
            </a: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74098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609B7-767C-4597-A4EF-6F5ECADC9A1B}" type="datetime1">
              <a:rPr lang="fr-FR" smtClean="0"/>
              <a:t>23/11/2023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/>
              <a:t>FNO-E1-M04-Indemnisation du JF et du samedi-2014.07.29</a:t>
            </a: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4276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16000"/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62E82F-7C34-4BE0-9469-802D3C1B9FCB}" type="datetime1">
              <a:rPr lang="fr-FR" smtClean="0">
                <a:solidFill>
                  <a:prstClr val="black">
                    <a:tint val="75000"/>
                  </a:prstClr>
                </a:solidFill>
              </a:rPr>
              <a:t>23/11/2023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E9056B-6A30-4F99-BDE9-C450E66AE125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5016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>
    <p:dissolve/>
  </p:transition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16000"/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17460E-2CEC-470C-ACDE-B20429BF193F}" type="datetime1">
              <a:rPr lang="fr-FR" smtClean="0"/>
              <a:t>23/11/2023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fr-BE"/>
              <a:t>FNO-E1-M04-Indemnisation du JF et du samedi-2014.07.29</a:t>
            </a: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393442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jpe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ctrTitle"/>
          </p:nvPr>
        </p:nvSpPr>
        <p:spPr>
          <a:xfrm>
            <a:off x="467544" y="1988840"/>
            <a:ext cx="7990656" cy="2664296"/>
          </a:xfrm>
        </p:spPr>
        <p:txBody>
          <a:bodyPr>
            <a:normAutofit fontScale="90000"/>
          </a:bodyPr>
          <a:lstStyle/>
          <a:p>
            <a:br>
              <a:rPr lang="fr-BE" sz="6000" b="1" i="1" dirty="0"/>
            </a:br>
            <a:r>
              <a:rPr lang="fr-BE" sz="6700" b="1" i="1" dirty="0"/>
              <a:t>La C2 XML</a:t>
            </a:r>
            <a:br>
              <a:rPr lang="fr-BE" sz="4800" b="1" i="1" dirty="0"/>
            </a:br>
            <a:br>
              <a:rPr lang="fr-BE" sz="4800" b="1" i="1" dirty="0"/>
            </a:br>
            <a:endParaRPr lang="fr-FR" sz="4000" b="1" i="1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62F8D53-17E4-4CDF-B6D6-95A307AB42AB}"/>
              </a:ext>
            </a:extLst>
          </p:cNvPr>
          <p:cNvSpPr/>
          <p:nvPr/>
        </p:nvSpPr>
        <p:spPr>
          <a:xfrm>
            <a:off x="251520" y="5949280"/>
            <a:ext cx="2304256" cy="4880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Version 05/12/2022</a:t>
            </a:r>
            <a:endParaRPr kumimoji="0" lang="fr-BE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42D0D556-1530-4826-9C33-0AC90B6E2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E67E4840-4E36-49AA-BD3D-E29B68D78349}"/>
              </a:ext>
            </a:extLst>
          </p:cNvPr>
          <p:cNvSpPr txBox="1"/>
          <p:nvPr/>
        </p:nvSpPr>
        <p:spPr>
          <a:xfrm>
            <a:off x="1475656" y="4005064"/>
            <a:ext cx="626469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3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7974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2157181" y="672798"/>
            <a:ext cx="4824536" cy="6771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>
            <a:defPPr>
              <a:defRPr lang="fr-FR"/>
            </a:defPPr>
            <a:lvl1pPr algn="ctr">
              <a:defRPr sz="2800" b="1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lang="fr-FR" altLang="fr-FR" sz="4400" dirty="0">
                <a:gradFill>
                  <a:gsLst>
                    <a:gs pos="0">
                      <a:srgbClr val="F79646">
                        <a:tint val="90000"/>
                        <a:satMod val="120000"/>
                      </a:srgbClr>
                    </a:gs>
                    <a:gs pos="25000">
                      <a:srgbClr val="F79646">
                        <a:tint val="93000"/>
                        <a:satMod val="120000"/>
                      </a:srgbClr>
                    </a:gs>
                    <a:gs pos="50000">
                      <a:srgbClr val="F79646">
                        <a:shade val="89000"/>
                        <a:satMod val="110000"/>
                      </a:srgbClr>
                    </a:gs>
                    <a:gs pos="75000">
                      <a:srgbClr val="F79646">
                        <a:tint val="93000"/>
                        <a:satMod val="120000"/>
                      </a:srgbClr>
                    </a:gs>
                    <a:gs pos="100000">
                      <a:srgbClr val="F79646">
                        <a:tint val="90000"/>
                        <a:satMod val="120000"/>
                      </a:srgbClr>
                    </a:gs>
                  </a:gsLst>
                  <a:lin ang="5400000"/>
                </a:gradFill>
              </a:rPr>
              <a:t>Table des matières 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381000" y="1412776"/>
            <a:ext cx="8305800" cy="544522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Clr>
                <a:prstClr val="black"/>
              </a:buClr>
              <a:buAutoNum type="arabicPeriod"/>
            </a:pPr>
            <a:endParaRPr lang="fr-FR" altLang="fr-FR" sz="2400" b="1" dirty="0">
              <a:solidFill>
                <a:prstClr val="black"/>
              </a:solidFill>
            </a:endParaRPr>
          </a:p>
          <a:p>
            <a:pPr marL="457200" indent="-457200">
              <a:buClr>
                <a:prstClr val="black"/>
              </a:buClr>
              <a:buAutoNum type="arabicPeriod"/>
            </a:pPr>
            <a:r>
              <a:rPr lang="fr-FR" altLang="fr-FR" sz="2800" b="1" dirty="0">
                <a:solidFill>
                  <a:prstClr val="black"/>
                </a:solidFill>
              </a:rPr>
              <a:t>Introduction						</a:t>
            </a:r>
            <a:r>
              <a:rPr lang="fr-FR" altLang="fr-FR" sz="2000" b="1" dirty="0" err="1">
                <a:solidFill>
                  <a:prstClr val="black"/>
                </a:solidFill>
              </a:rPr>
              <a:t>Pg</a:t>
            </a:r>
            <a:r>
              <a:rPr lang="fr-FR" altLang="fr-FR" sz="2000" b="1" dirty="0">
                <a:solidFill>
                  <a:prstClr val="black"/>
                </a:solidFill>
              </a:rPr>
              <a:t>. 3</a:t>
            </a:r>
          </a:p>
          <a:p>
            <a:pPr marL="457200" indent="-457200">
              <a:buClr>
                <a:prstClr val="black"/>
              </a:buClr>
              <a:buAutoNum type="arabicPeriod"/>
            </a:pPr>
            <a:r>
              <a:rPr lang="fr-FR" altLang="fr-FR" sz="2800" b="1" dirty="0">
                <a:solidFill>
                  <a:prstClr val="black"/>
                </a:solidFill>
              </a:rPr>
              <a:t>Structure de base de la C2 Xml			</a:t>
            </a:r>
            <a:r>
              <a:rPr lang="fr-FR" altLang="fr-FR" sz="2000" b="1" dirty="0" err="1">
                <a:solidFill>
                  <a:prstClr val="black"/>
                </a:solidFill>
              </a:rPr>
              <a:t>Pg</a:t>
            </a:r>
            <a:r>
              <a:rPr lang="fr-FR" altLang="fr-FR" sz="2000" b="1" dirty="0">
                <a:solidFill>
                  <a:prstClr val="black"/>
                </a:solidFill>
              </a:rPr>
              <a:t>. 6</a:t>
            </a:r>
          </a:p>
          <a:p>
            <a:pPr marL="400050" lvl="1" indent="0">
              <a:buClr>
                <a:prstClr val="black"/>
              </a:buClr>
              <a:buNone/>
            </a:pPr>
            <a:r>
              <a:rPr lang="fr-FR" altLang="fr-FR" sz="2000" b="1" dirty="0">
                <a:solidFill>
                  <a:prstClr val="black"/>
                </a:solidFill>
              </a:rPr>
              <a:t>2.1 Les 2 répertoires principaux				</a:t>
            </a:r>
            <a:r>
              <a:rPr lang="fr-FR" altLang="fr-FR" sz="2000" b="1" dirty="0" err="1">
                <a:solidFill>
                  <a:prstClr val="black"/>
                </a:solidFill>
              </a:rPr>
              <a:t>Pg</a:t>
            </a:r>
            <a:r>
              <a:rPr lang="fr-FR" altLang="fr-FR" sz="2000" b="1" dirty="0">
                <a:solidFill>
                  <a:prstClr val="black"/>
                </a:solidFill>
              </a:rPr>
              <a:t>. 7</a:t>
            </a:r>
          </a:p>
          <a:p>
            <a:pPr marL="400050" lvl="1" indent="0">
              <a:buClr>
                <a:prstClr val="black"/>
              </a:buClr>
              <a:buNone/>
            </a:pPr>
            <a:r>
              <a:rPr lang="fr-FR" altLang="fr-FR" sz="2000" b="1" dirty="0">
                <a:solidFill>
                  <a:prstClr val="black"/>
                </a:solidFill>
              </a:rPr>
              <a:t>2.2 Les principaux répertoires secondaires			</a:t>
            </a:r>
            <a:r>
              <a:rPr lang="fr-FR" altLang="fr-FR" sz="2000" b="1" dirty="0" err="1">
                <a:solidFill>
                  <a:prstClr val="black"/>
                </a:solidFill>
              </a:rPr>
              <a:t>Pg</a:t>
            </a:r>
            <a:r>
              <a:rPr lang="fr-FR" altLang="fr-FR" sz="2000" b="1" dirty="0">
                <a:solidFill>
                  <a:prstClr val="black"/>
                </a:solidFill>
              </a:rPr>
              <a:t>. 8</a:t>
            </a:r>
            <a:br>
              <a:rPr lang="fr-FR" altLang="fr-FR" sz="2000" b="1" dirty="0">
                <a:solidFill>
                  <a:prstClr val="black"/>
                </a:solidFill>
              </a:rPr>
            </a:br>
            <a:r>
              <a:rPr lang="fr-FR" altLang="fr-FR" sz="2000" b="1" dirty="0">
                <a:solidFill>
                  <a:prstClr val="black"/>
                </a:solidFill>
              </a:rPr>
              <a:t>2.3 Quelques exemples de répertoires secondaires		</a:t>
            </a:r>
            <a:r>
              <a:rPr lang="fr-FR" altLang="fr-FR" sz="2000" b="1" dirty="0" err="1">
                <a:solidFill>
                  <a:prstClr val="black"/>
                </a:solidFill>
              </a:rPr>
              <a:t>Pg</a:t>
            </a:r>
            <a:r>
              <a:rPr lang="fr-FR" altLang="fr-FR" sz="2000" b="1" dirty="0">
                <a:solidFill>
                  <a:prstClr val="black"/>
                </a:solidFill>
              </a:rPr>
              <a:t>. 9</a:t>
            </a:r>
          </a:p>
          <a:p>
            <a:pPr marL="457200" lvl="1" indent="-457200">
              <a:buClr>
                <a:prstClr val="black"/>
              </a:buClr>
              <a:buAutoNum type="arabicPeriod" startAt="3"/>
            </a:pPr>
            <a:r>
              <a:rPr lang="fr-FR" altLang="fr-FR" b="1" dirty="0">
                <a:solidFill>
                  <a:prstClr val="black"/>
                </a:solidFill>
              </a:rPr>
              <a:t>La C2 </a:t>
            </a:r>
            <a:r>
              <a:rPr lang="fr-FR" altLang="fr-FR" b="1" dirty="0" err="1">
                <a:solidFill>
                  <a:prstClr val="black"/>
                </a:solidFill>
              </a:rPr>
              <a:t>Xml</a:t>
            </a:r>
            <a:r>
              <a:rPr lang="fr-FR" altLang="fr-FR" b="1" dirty="0">
                <a:solidFill>
                  <a:prstClr val="black"/>
                </a:solidFill>
              </a:rPr>
              <a:t> et Horizon</a:t>
            </a:r>
          </a:p>
          <a:p>
            <a:pPr marL="400050" lvl="2" indent="0">
              <a:buClr>
                <a:prstClr val="black"/>
              </a:buClr>
              <a:buNone/>
            </a:pPr>
            <a:r>
              <a:rPr lang="fr-FR" altLang="fr-FR" sz="2000" b="1" dirty="0">
                <a:solidFill>
                  <a:prstClr val="black"/>
                </a:solidFill>
              </a:rPr>
              <a:t>3.1 La C2 </a:t>
            </a:r>
            <a:r>
              <a:rPr lang="fr-FR" altLang="fr-FR" sz="2000" b="1" dirty="0" err="1">
                <a:solidFill>
                  <a:prstClr val="black"/>
                </a:solidFill>
              </a:rPr>
              <a:t>Xml</a:t>
            </a:r>
            <a:r>
              <a:rPr lang="fr-FR" altLang="fr-FR" sz="2000" b="1" dirty="0">
                <a:solidFill>
                  <a:prstClr val="black"/>
                </a:solidFill>
              </a:rPr>
              <a:t> et Horizon					</a:t>
            </a:r>
            <a:r>
              <a:rPr lang="fr-FR" altLang="fr-FR" sz="2000" b="1" dirty="0" err="1">
                <a:solidFill>
                  <a:prstClr val="black"/>
                </a:solidFill>
              </a:rPr>
              <a:t>Pg</a:t>
            </a:r>
            <a:r>
              <a:rPr lang="fr-FR" altLang="fr-FR" sz="2000" b="1" dirty="0">
                <a:solidFill>
                  <a:prstClr val="black"/>
                </a:solidFill>
              </a:rPr>
              <a:t>. 10</a:t>
            </a:r>
          </a:p>
          <a:p>
            <a:pPr marL="400050" lvl="2" indent="0">
              <a:buClr>
                <a:prstClr val="black"/>
              </a:buClr>
              <a:buNone/>
            </a:pPr>
            <a:r>
              <a:rPr lang="fr-BE" altLang="fr-FR" sz="2000" b="1" dirty="0">
                <a:solidFill>
                  <a:prstClr val="black"/>
                </a:solidFill>
              </a:rPr>
              <a:t>3.2 Aperçu du contenu du répertoire « S24DataC9 »		</a:t>
            </a:r>
            <a:r>
              <a:rPr lang="fr-BE" altLang="fr-FR" sz="2000" b="1" dirty="0" err="1">
                <a:solidFill>
                  <a:prstClr val="black"/>
                </a:solidFill>
              </a:rPr>
              <a:t>Pg</a:t>
            </a:r>
            <a:r>
              <a:rPr lang="fr-BE" altLang="fr-FR" sz="2000" b="1" dirty="0">
                <a:solidFill>
                  <a:prstClr val="black"/>
                </a:solidFill>
              </a:rPr>
              <a:t>. 11</a:t>
            </a:r>
            <a:endParaRPr lang="en-US" altLang="fr-FR" sz="2000" b="1" dirty="0">
              <a:solidFill>
                <a:prstClr val="black"/>
              </a:solidFill>
            </a:endParaRPr>
          </a:p>
          <a:p>
            <a:pPr marL="400050" lvl="2" indent="0">
              <a:buClr>
                <a:prstClr val="black"/>
              </a:buClr>
              <a:buNone/>
            </a:pPr>
            <a:r>
              <a:rPr lang="en-US" altLang="fr-FR" sz="2000" b="1" dirty="0">
                <a:solidFill>
                  <a:prstClr val="black"/>
                </a:solidFill>
              </a:rPr>
              <a:t>3.3 </a:t>
            </a:r>
            <a:r>
              <a:rPr lang="en-US" altLang="fr-FR" sz="2000" b="1" dirty="0" err="1">
                <a:solidFill>
                  <a:prstClr val="black"/>
                </a:solidFill>
              </a:rPr>
              <a:t>Exemple</a:t>
            </a:r>
            <a:r>
              <a:rPr lang="en-US" altLang="fr-FR" sz="2000" b="1" dirty="0">
                <a:solidFill>
                  <a:prstClr val="black"/>
                </a:solidFill>
              </a:rPr>
              <a:t> </a:t>
            </a:r>
            <a:r>
              <a:rPr lang="en-US" altLang="fr-FR" sz="2000" b="1" dirty="0" err="1">
                <a:solidFill>
                  <a:prstClr val="black"/>
                </a:solidFill>
              </a:rPr>
              <a:t>d’analyse</a:t>
            </a:r>
            <a:r>
              <a:rPr lang="en-US" altLang="fr-FR" sz="2000" b="1" dirty="0">
                <a:solidFill>
                  <a:prstClr val="black"/>
                </a:solidFill>
              </a:rPr>
              <a:t> du </a:t>
            </a:r>
            <a:r>
              <a:rPr lang="en-US" altLang="fr-FR" sz="2000" b="1" dirty="0" err="1">
                <a:solidFill>
                  <a:prstClr val="black"/>
                </a:solidFill>
              </a:rPr>
              <a:t>contenu</a:t>
            </a:r>
            <a:r>
              <a:rPr lang="en-US" altLang="fr-FR" sz="2000" b="1" dirty="0">
                <a:solidFill>
                  <a:prstClr val="black"/>
                </a:solidFill>
              </a:rPr>
              <a:t> de la C2Xml			Pg. 12</a:t>
            </a:r>
          </a:p>
          <a:p>
            <a:pPr marL="400050" lvl="2" indent="0">
              <a:buClr>
                <a:prstClr val="black"/>
              </a:buClr>
              <a:buNone/>
            </a:pPr>
            <a:r>
              <a:rPr lang="en-US" altLang="fr-FR" sz="2000" b="1" dirty="0">
                <a:solidFill>
                  <a:prstClr val="black"/>
                </a:solidFill>
              </a:rPr>
              <a:t>3.4 C2 Xml: Modules S37 et S52				Pg. 17</a:t>
            </a:r>
            <a:endParaRPr lang="fr-BE" altLang="fr-FR" b="1" dirty="0">
              <a:solidFill>
                <a:prstClr val="black"/>
              </a:solidFill>
            </a:endParaRPr>
          </a:p>
          <a:p>
            <a:pPr marL="0" indent="0">
              <a:buClr>
                <a:prstClr val="black"/>
              </a:buClr>
              <a:buNone/>
            </a:pPr>
            <a:endParaRPr lang="fr-FR" altLang="fr-FR" sz="2400" b="1" dirty="0">
              <a:solidFill>
                <a:prstClr val="black"/>
              </a:solidFill>
            </a:endParaRPr>
          </a:p>
        </p:txBody>
      </p:sp>
      <p:pic>
        <p:nvPicPr>
          <p:cNvPr id="7" name="Picture 9" descr="C:\Program Files\Microsoft Office\Clipart\homeanim\AG00004_.gif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400" y="228600"/>
            <a:ext cx="1295400" cy="1249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4062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80C9837D-157F-410C-9DB3-1E4C2896BC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28" y="748557"/>
            <a:ext cx="9057143" cy="5533333"/>
          </a:xfrm>
          <a:prstGeom prst="rect">
            <a:avLst/>
          </a:prstGeom>
        </p:spPr>
      </p:pic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3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ectangle 2"/>
          <p:cNvSpPr txBox="1">
            <a:spLocks noGrp="1" noChangeArrowheads="1"/>
          </p:cNvSpPr>
          <p:nvPr>
            <p:ph type="title"/>
          </p:nvPr>
        </p:nvSpPr>
        <p:spPr>
          <a:xfrm>
            <a:off x="457200" y="1191"/>
            <a:ext cx="8229600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>
            <a:defPPr>
              <a:defRPr lang="fr-FR"/>
            </a:defPPr>
            <a:lvl1pPr algn="ctr">
              <a:defRPr sz="2800" b="1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pPr marL="742950" indent="-742950">
              <a:buFont typeface="+mj-lt"/>
              <a:buAutoNum type="arabicPeriod"/>
            </a:pPr>
            <a:r>
              <a:rPr lang="fr-FR" altLang="fr-FR" sz="3600" dirty="0">
                <a:gradFill>
                  <a:gsLst>
                    <a:gs pos="0">
                      <a:srgbClr val="F79646">
                        <a:tint val="90000"/>
                        <a:satMod val="120000"/>
                      </a:srgbClr>
                    </a:gs>
                    <a:gs pos="25000">
                      <a:srgbClr val="F79646">
                        <a:tint val="93000"/>
                        <a:satMod val="120000"/>
                      </a:srgbClr>
                    </a:gs>
                    <a:gs pos="50000">
                      <a:srgbClr val="F79646">
                        <a:shade val="89000"/>
                        <a:satMod val="110000"/>
                      </a:srgbClr>
                    </a:gs>
                    <a:gs pos="75000">
                      <a:srgbClr val="F79646">
                        <a:tint val="93000"/>
                        <a:satMod val="120000"/>
                      </a:srgbClr>
                    </a:gs>
                    <a:gs pos="100000">
                      <a:srgbClr val="F79646">
                        <a:tint val="90000"/>
                        <a:satMod val="120000"/>
                      </a:srgbClr>
                    </a:gs>
                  </a:gsLst>
                  <a:lin ang="5400000"/>
                </a:gradFill>
              </a:rPr>
              <a:t>Introduction</a:t>
            </a:r>
          </a:p>
        </p:txBody>
      </p:sp>
      <p:grpSp>
        <p:nvGrpSpPr>
          <p:cNvPr id="16" name="Groupe 15"/>
          <p:cNvGrpSpPr/>
          <p:nvPr/>
        </p:nvGrpSpPr>
        <p:grpSpPr>
          <a:xfrm>
            <a:off x="-4791" y="946668"/>
            <a:ext cx="1619672" cy="681980"/>
            <a:chOff x="549078" y="1450876"/>
            <a:chExt cx="1449733" cy="681980"/>
          </a:xfrm>
        </p:grpSpPr>
        <p:sp>
          <p:nvSpPr>
            <p:cNvPr id="7" name="Rectangle 6"/>
            <p:cNvSpPr/>
            <p:nvPr/>
          </p:nvSpPr>
          <p:spPr>
            <a:xfrm>
              <a:off x="985912" y="1772816"/>
              <a:ext cx="576064" cy="36004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/>
            </a:p>
          </p:txBody>
        </p:sp>
        <p:sp>
          <p:nvSpPr>
            <p:cNvPr id="8" name="ZoneTexte 7"/>
            <p:cNvSpPr txBox="1"/>
            <p:nvPr/>
          </p:nvSpPr>
          <p:spPr>
            <a:xfrm>
              <a:off x="549078" y="1450876"/>
              <a:ext cx="1449733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fr-BE" dirty="0"/>
                <a:t>Choix du script</a:t>
              </a:r>
            </a:p>
          </p:txBody>
        </p:sp>
      </p:grpSp>
      <p:grpSp>
        <p:nvGrpSpPr>
          <p:cNvPr id="18" name="Groupe 17"/>
          <p:cNvGrpSpPr/>
          <p:nvPr/>
        </p:nvGrpSpPr>
        <p:grpSpPr>
          <a:xfrm>
            <a:off x="6876256" y="1231745"/>
            <a:ext cx="1232795" cy="613079"/>
            <a:chOff x="6420316" y="1684849"/>
            <a:chExt cx="1257552" cy="597087"/>
          </a:xfrm>
        </p:grpSpPr>
        <p:sp>
          <p:nvSpPr>
            <p:cNvPr id="10" name="Rectangle 9"/>
            <p:cNvSpPr/>
            <p:nvPr/>
          </p:nvSpPr>
          <p:spPr>
            <a:xfrm>
              <a:off x="6420316" y="2018595"/>
              <a:ext cx="1257552" cy="26334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/>
            </a:p>
          </p:txBody>
        </p:sp>
        <p:sp>
          <p:nvSpPr>
            <p:cNvPr id="11" name="ZoneTexte 10"/>
            <p:cNvSpPr txBox="1"/>
            <p:nvPr/>
          </p:nvSpPr>
          <p:spPr>
            <a:xfrm>
              <a:off x="6630901" y="1684849"/>
              <a:ext cx="778743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fr-BE" dirty="0"/>
                <a:t>Type C9</a:t>
              </a:r>
            </a:p>
          </p:txBody>
        </p:sp>
      </p:grpSp>
      <p:grpSp>
        <p:nvGrpSpPr>
          <p:cNvPr id="17" name="Groupe 16"/>
          <p:cNvGrpSpPr/>
          <p:nvPr/>
        </p:nvGrpSpPr>
        <p:grpSpPr>
          <a:xfrm>
            <a:off x="2400231" y="1426992"/>
            <a:ext cx="1584176" cy="2088232"/>
            <a:chOff x="2590701" y="1783849"/>
            <a:chExt cx="1584176" cy="2088232"/>
          </a:xfrm>
        </p:grpSpPr>
        <p:sp>
          <p:nvSpPr>
            <p:cNvPr id="12" name="Rectangle 11"/>
            <p:cNvSpPr/>
            <p:nvPr/>
          </p:nvSpPr>
          <p:spPr>
            <a:xfrm>
              <a:off x="2590701" y="2109881"/>
              <a:ext cx="1584176" cy="17622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/>
            </a:p>
          </p:txBody>
        </p:sp>
        <p:sp>
          <p:nvSpPr>
            <p:cNvPr id="13" name="ZoneTexte 12"/>
            <p:cNvSpPr txBox="1"/>
            <p:nvPr/>
          </p:nvSpPr>
          <p:spPr>
            <a:xfrm>
              <a:off x="2741389" y="1783849"/>
              <a:ext cx="1138783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fr-BE" dirty="0"/>
                <a:t>Codification</a:t>
              </a:r>
            </a:p>
          </p:txBody>
        </p:sp>
      </p:grpSp>
      <p:grpSp>
        <p:nvGrpSpPr>
          <p:cNvPr id="19" name="Groupe 18"/>
          <p:cNvGrpSpPr/>
          <p:nvPr/>
        </p:nvGrpSpPr>
        <p:grpSpPr>
          <a:xfrm>
            <a:off x="3690584" y="5301208"/>
            <a:ext cx="1944216" cy="600406"/>
            <a:chOff x="3736479" y="5157192"/>
            <a:chExt cx="1123553" cy="600406"/>
          </a:xfrm>
        </p:grpSpPr>
        <p:sp>
          <p:nvSpPr>
            <p:cNvPr id="14" name="Rectangle 13"/>
            <p:cNvSpPr/>
            <p:nvPr/>
          </p:nvSpPr>
          <p:spPr>
            <a:xfrm>
              <a:off x="3736479" y="5494257"/>
              <a:ext cx="1123553" cy="26334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/>
            </a:p>
          </p:txBody>
        </p:sp>
        <p:sp>
          <p:nvSpPr>
            <p:cNvPr id="15" name="ZoneTexte 14"/>
            <p:cNvSpPr txBox="1"/>
            <p:nvPr/>
          </p:nvSpPr>
          <p:spPr>
            <a:xfrm>
              <a:off x="4031940" y="5157192"/>
              <a:ext cx="576064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fr-BE" dirty="0"/>
                <a:t>Statut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94318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0C4ECC28-C376-414E-A5F5-68EE2429C7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47" y="662333"/>
            <a:ext cx="8961905" cy="5533333"/>
          </a:xfrm>
          <a:prstGeom prst="rect">
            <a:avLst/>
          </a:prstGeom>
        </p:spPr>
      </p:pic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4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ectangle 2"/>
          <p:cNvSpPr txBox="1">
            <a:spLocks noGrp="1" noChangeArrowheads="1"/>
          </p:cNvSpPr>
          <p:nvPr>
            <p:ph type="title"/>
          </p:nvPr>
        </p:nvSpPr>
        <p:spPr>
          <a:xfrm>
            <a:off x="457200" y="1191"/>
            <a:ext cx="8229600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>
            <a:defPPr>
              <a:defRPr lang="fr-FR"/>
            </a:defPPr>
            <a:lvl1pPr algn="ctr">
              <a:defRPr sz="2800" b="1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pPr marL="742950" indent="-742950">
              <a:buFont typeface="+mj-lt"/>
              <a:buAutoNum type="arabicPeriod"/>
            </a:pPr>
            <a:r>
              <a:rPr lang="fr-FR" altLang="fr-FR" sz="3600" dirty="0">
                <a:gradFill>
                  <a:gsLst>
                    <a:gs pos="0">
                      <a:srgbClr val="F79646">
                        <a:tint val="90000"/>
                        <a:satMod val="120000"/>
                      </a:srgbClr>
                    </a:gs>
                    <a:gs pos="25000">
                      <a:srgbClr val="F79646">
                        <a:tint val="93000"/>
                        <a:satMod val="120000"/>
                      </a:srgbClr>
                    </a:gs>
                    <a:gs pos="50000">
                      <a:srgbClr val="F79646">
                        <a:shade val="89000"/>
                        <a:satMod val="110000"/>
                      </a:srgbClr>
                    </a:gs>
                    <a:gs pos="75000">
                      <a:srgbClr val="F79646">
                        <a:tint val="93000"/>
                        <a:satMod val="120000"/>
                      </a:srgbClr>
                    </a:gs>
                    <a:gs pos="100000">
                      <a:srgbClr val="F79646">
                        <a:tint val="90000"/>
                        <a:satMod val="120000"/>
                      </a:srgbClr>
                    </a:gs>
                  </a:gsLst>
                  <a:lin ang="5400000"/>
                </a:gradFill>
              </a:rPr>
              <a:t>Introduction</a:t>
            </a:r>
          </a:p>
        </p:txBody>
      </p:sp>
      <p:grpSp>
        <p:nvGrpSpPr>
          <p:cNvPr id="18" name="Groupe 17"/>
          <p:cNvGrpSpPr/>
          <p:nvPr/>
        </p:nvGrpSpPr>
        <p:grpSpPr>
          <a:xfrm>
            <a:off x="2716743" y="868389"/>
            <a:ext cx="870554" cy="571165"/>
            <a:chOff x="6343571" y="1714090"/>
            <a:chExt cx="1506940" cy="571165"/>
          </a:xfrm>
        </p:grpSpPr>
        <p:sp>
          <p:nvSpPr>
            <p:cNvPr id="10" name="Rectangle 9"/>
            <p:cNvSpPr/>
            <p:nvPr/>
          </p:nvSpPr>
          <p:spPr>
            <a:xfrm>
              <a:off x="6516215" y="2021914"/>
              <a:ext cx="1161653" cy="26334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/>
            </a:p>
          </p:txBody>
        </p:sp>
        <p:sp>
          <p:nvSpPr>
            <p:cNvPr id="11" name="ZoneTexte 10"/>
            <p:cNvSpPr txBox="1"/>
            <p:nvPr/>
          </p:nvSpPr>
          <p:spPr>
            <a:xfrm>
              <a:off x="6343571" y="1714090"/>
              <a:ext cx="1506940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fr-BE" dirty="0"/>
                <a:t>Articles</a:t>
              </a:r>
            </a:p>
          </p:txBody>
        </p:sp>
      </p:grpSp>
      <p:grpSp>
        <p:nvGrpSpPr>
          <p:cNvPr id="17" name="Groupe 16"/>
          <p:cNvGrpSpPr/>
          <p:nvPr/>
        </p:nvGrpSpPr>
        <p:grpSpPr>
          <a:xfrm>
            <a:off x="2208978" y="1918314"/>
            <a:ext cx="4374985" cy="1301873"/>
            <a:chOff x="2590701" y="1259287"/>
            <a:chExt cx="1584176" cy="2612794"/>
          </a:xfrm>
        </p:grpSpPr>
        <p:sp>
          <p:nvSpPr>
            <p:cNvPr id="12" name="Rectangle 11"/>
            <p:cNvSpPr/>
            <p:nvPr/>
          </p:nvSpPr>
          <p:spPr>
            <a:xfrm>
              <a:off x="2590701" y="2109881"/>
              <a:ext cx="1584176" cy="17622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/>
            </a:p>
          </p:txBody>
        </p:sp>
        <p:sp>
          <p:nvSpPr>
            <p:cNvPr id="13" name="ZoneTexte 12"/>
            <p:cNvSpPr txBox="1"/>
            <p:nvPr/>
          </p:nvSpPr>
          <p:spPr>
            <a:xfrm>
              <a:off x="3068896" y="1259287"/>
              <a:ext cx="710101" cy="69270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fr-BE" dirty="0"/>
                <a:t>Art. d’admission</a:t>
              </a:r>
            </a:p>
          </p:txBody>
        </p:sp>
      </p:grpSp>
      <p:grpSp>
        <p:nvGrpSpPr>
          <p:cNvPr id="22" name="Groupe 21"/>
          <p:cNvGrpSpPr/>
          <p:nvPr/>
        </p:nvGrpSpPr>
        <p:grpSpPr>
          <a:xfrm>
            <a:off x="2208978" y="3362449"/>
            <a:ext cx="4344222" cy="1538764"/>
            <a:chOff x="2629769" y="4419708"/>
            <a:chExt cx="1584175" cy="2979283"/>
          </a:xfrm>
        </p:grpSpPr>
        <p:sp>
          <p:nvSpPr>
            <p:cNvPr id="23" name="Rectangle 22"/>
            <p:cNvSpPr/>
            <p:nvPr/>
          </p:nvSpPr>
          <p:spPr>
            <a:xfrm>
              <a:off x="2629769" y="5303603"/>
              <a:ext cx="1584175" cy="209538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/>
            </a:p>
          </p:txBody>
        </p:sp>
        <p:sp>
          <p:nvSpPr>
            <p:cNvPr id="24" name="ZoneTexte 23"/>
            <p:cNvSpPr txBox="1"/>
            <p:nvPr/>
          </p:nvSpPr>
          <p:spPr>
            <a:xfrm>
              <a:off x="2973661" y="4419708"/>
              <a:ext cx="981478" cy="79302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fr-BE" dirty="0"/>
                <a:t>Art. d’indemnisation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47582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Image 38">
            <a:extLst>
              <a:ext uri="{FF2B5EF4-FFF2-40B4-BE49-F238E27FC236}">
                <a16:creationId xmlns:a16="http://schemas.microsoft.com/office/drawing/2014/main" id="{7BD904E5-4626-434F-96C8-F8072D4006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6760" y="6107660"/>
            <a:ext cx="2340332" cy="482008"/>
          </a:xfrm>
          <a:prstGeom prst="rect">
            <a:avLst/>
          </a:prstGeom>
        </p:spPr>
      </p:pic>
      <p:pic>
        <p:nvPicPr>
          <p:cNvPr id="29" name="Image 2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198" y="6105468"/>
            <a:ext cx="6263848" cy="477805"/>
          </a:xfrm>
          <a:prstGeom prst="rect">
            <a:avLst/>
          </a:prstGeom>
        </p:spPr>
      </p:pic>
      <p:pic>
        <p:nvPicPr>
          <p:cNvPr id="15" name="Picture 4" descr="F:\Notes Ludo\Logos\ONEm.jpg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21" t="23339" r="15159" b="8477"/>
          <a:stretch/>
        </p:blipFill>
        <p:spPr bwMode="auto">
          <a:xfrm>
            <a:off x="4097824" y="1611561"/>
            <a:ext cx="952040" cy="899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Espace réservé du contenu 4"/>
          <p:cNvPicPr>
            <a:picLocks noGrp="1" noChangeAspect="1"/>
          </p:cNvPicPr>
          <p:nvPr>
            <p:ph idx="1"/>
          </p:nvPr>
        </p:nvPicPr>
        <p:blipFill>
          <a:blip r:embed="rId6"/>
          <a:stretch>
            <a:fillRect/>
          </a:stretch>
        </p:blipFill>
        <p:spPr>
          <a:xfrm>
            <a:off x="4157436" y="470608"/>
            <a:ext cx="829128" cy="627942"/>
          </a:xfrm>
          <a:prstGeom prst="rect">
            <a:avLst/>
          </a:prstGeom>
        </p:spPr>
      </p:pic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5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2"/>
          <p:cNvSpPr txBox="1">
            <a:spLocks noGrp="1" noChangeArrowheads="1"/>
          </p:cNvSpPr>
          <p:nvPr>
            <p:ph type="title"/>
          </p:nvPr>
        </p:nvSpPr>
        <p:spPr>
          <a:xfrm>
            <a:off x="2601239" y="1191"/>
            <a:ext cx="3948885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>
            <a:defPPr>
              <a:defRPr lang="fr-FR"/>
            </a:defPPr>
            <a:lvl1pPr algn="ctr">
              <a:defRPr sz="2800" b="1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pPr marL="742950" indent="-742950">
              <a:buFont typeface="+mj-lt"/>
              <a:buAutoNum type="arabicPeriod"/>
            </a:pPr>
            <a:r>
              <a:rPr lang="fr-FR" altLang="fr-FR" sz="3600" dirty="0">
                <a:gradFill>
                  <a:gsLst>
                    <a:gs pos="0">
                      <a:srgbClr val="F79646">
                        <a:tint val="90000"/>
                        <a:satMod val="120000"/>
                      </a:srgbClr>
                    </a:gs>
                    <a:gs pos="25000">
                      <a:srgbClr val="F79646">
                        <a:tint val="93000"/>
                        <a:satMod val="120000"/>
                      </a:srgbClr>
                    </a:gs>
                    <a:gs pos="50000">
                      <a:srgbClr val="F79646">
                        <a:shade val="89000"/>
                        <a:satMod val="110000"/>
                      </a:srgbClr>
                    </a:gs>
                    <a:gs pos="75000">
                      <a:srgbClr val="F79646">
                        <a:tint val="93000"/>
                        <a:satMod val="120000"/>
                      </a:srgbClr>
                    </a:gs>
                    <a:gs pos="100000">
                      <a:srgbClr val="F79646">
                        <a:tint val="90000"/>
                        <a:satMod val="120000"/>
                      </a:srgbClr>
                    </a:gs>
                  </a:gsLst>
                  <a:lin ang="5400000"/>
                </a:gradFill>
              </a:rPr>
              <a:t>Introduction </a:t>
            </a:r>
          </a:p>
        </p:txBody>
      </p:sp>
      <p:grpSp>
        <p:nvGrpSpPr>
          <p:cNvPr id="10" name="Groupe 9"/>
          <p:cNvGrpSpPr/>
          <p:nvPr/>
        </p:nvGrpSpPr>
        <p:grpSpPr>
          <a:xfrm rot="5400000">
            <a:off x="4207107" y="1163548"/>
            <a:ext cx="725639" cy="360000"/>
            <a:chOff x="1116000" y="3246924"/>
            <a:chExt cx="1008000" cy="360000"/>
          </a:xfrm>
        </p:grpSpPr>
        <p:grpSp>
          <p:nvGrpSpPr>
            <p:cNvPr id="11" name="Groupe 10"/>
            <p:cNvGrpSpPr/>
            <p:nvPr/>
          </p:nvGrpSpPr>
          <p:grpSpPr>
            <a:xfrm>
              <a:off x="1116000" y="3246924"/>
              <a:ext cx="1008000" cy="360000"/>
              <a:chOff x="1115728" y="3219748"/>
              <a:chExt cx="1008000" cy="360000"/>
            </a:xfrm>
          </p:grpSpPr>
          <p:sp>
            <p:nvSpPr>
              <p:cNvPr id="13" name="AutoShape 76"/>
              <p:cNvSpPr>
                <a:spLocks noChangeArrowheads="1"/>
              </p:cNvSpPr>
              <p:nvPr/>
            </p:nvSpPr>
            <p:spPr bwMode="auto">
              <a:xfrm rot="10800000" flipH="1">
                <a:off x="1115728" y="3219748"/>
                <a:ext cx="1008000" cy="360000"/>
              </a:xfrm>
              <a:custGeom>
                <a:avLst/>
                <a:gdLst>
                  <a:gd name="G0" fmla="+- 16200 0 0"/>
                  <a:gd name="G1" fmla="+- 5400 0 0"/>
                  <a:gd name="G2" fmla="+- 21600 0 5400"/>
                  <a:gd name="G3" fmla="+- 10800 0 5400"/>
                  <a:gd name="G4" fmla="+- 21600 0 16200"/>
                  <a:gd name="G5" fmla="*/ G4 G3 10800"/>
                  <a:gd name="G6" fmla="+- 21600 0 G5"/>
                  <a:gd name="T0" fmla="*/ 16200 w 21600"/>
                  <a:gd name="T1" fmla="*/ 0 h 21600"/>
                  <a:gd name="T2" fmla="*/ 0 w 21600"/>
                  <a:gd name="T3" fmla="*/ 10800 h 21600"/>
                  <a:gd name="T4" fmla="*/ 16200 w 21600"/>
                  <a:gd name="T5" fmla="*/ 21600 h 21600"/>
                  <a:gd name="T6" fmla="*/ 21600 w 21600"/>
                  <a:gd name="T7" fmla="*/ 10800 h 21600"/>
                  <a:gd name="T8" fmla="*/ 17694720 60000 65536"/>
                  <a:gd name="T9" fmla="*/ 11796480 60000 65536"/>
                  <a:gd name="T10" fmla="*/ 5898240 60000 65536"/>
                  <a:gd name="T11" fmla="*/ 0 60000 65536"/>
                  <a:gd name="T12" fmla="*/ 3375 w 21600"/>
                  <a:gd name="T13" fmla="*/ G1 h 21600"/>
                  <a:gd name="T14" fmla="*/ G6 w 21600"/>
                  <a:gd name="T15" fmla="*/ G2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16200" y="0"/>
                    </a:moveTo>
                    <a:lnTo>
                      <a:pt x="16200" y="5400"/>
                    </a:lnTo>
                    <a:lnTo>
                      <a:pt x="3375" y="5400"/>
                    </a:lnTo>
                    <a:lnTo>
                      <a:pt x="3375" y="16200"/>
                    </a:lnTo>
                    <a:lnTo>
                      <a:pt x="16200" y="16200"/>
                    </a:lnTo>
                    <a:lnTo>
                      <a:pt x="16200" y="21600"/>
                    </a:lnTo>
                    <a:lnTo>
                      <a:pt x="21600" y="10800"/>
                    </a:lnTo>
                    <a:close/>
                  </a:path>
                  <a:path w="21600" h="21600">
                    <a:moveTo>
                      <a:pt x="1350" y="5400"/>
                    </a:moveTo>
                    <a:lnTo>
                      <a:pt x="1350" y="16200"/>
                    </a:lnTo>
                    <a:lnTo>
                      <a:pt x="2700" y="16200"/>
                    </a:lnTo>
                    <a:lnTo>
                      <a:pt x="2700" y="5400"/>
                    </a:lnTo>
                    <a:close/>
                  </a:path>
                  <a:path w="21600" h="21600">
                    <a:moveTo>
                      <a:pt x="0" y="5400"/>
                    </a:moveTo>
                    <a:lnTo>
                      <a:pt x="0" y="16200"/>
                    </a:lnTo>
                    <a:lnTo>
                      <a:pt x="675" y="16200"/>
                    </a:lnTo>
                    <a:lnTo>
                      <a:pt x="675" y="5400"/>
                    </a:lnTo>
                    <a:close/>
                  </a:path>
                </a:pathLst>
              </a:custGeom>
              <a:solidFill>
                <a:srgbClr val="FFFF00"/>
              </a:solidFill>
              <a:ln w="9525">
                <a:solidFill>
                  <a:srgbClr val="00B050"/>
                </a:solidFill>
                <a:miter lim="800000"/>
                <a:headEnd/>
                <a:tailEnd/>
              </a:ln>
              <a:effectLst>
                <a:glow rad="63500">
                  <a:srgbClr val="FFFF00">
                    <a:alpha val="40000"/>
                  </a:srgbClr>
                </a:glow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/>
              <a:p>
                <a:endParaRPr lang="fr-BE"/>
              </a:p>
            </p:txBody>
          </p:sp>
          <p:pic>
            <p:nvPicPr>
              <p:cNvPr id="14" name="Picture 5" descr="F:\Notes Ludo\Images animées\astronomie-gif-008.gif"/>
              <p:cNvPicPr preferRelativeResize="0">
                <a:picLocks noChangeArrowheads="1" noCrop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auto">
              <a:xfrm>
                <a:off x="1292128" y="3325682"/>
                <a:ext cx="576000" cy="144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2" name="ZoneTexte 11"/>
            <p:cNvSpPr txBox="1"/>
            <p:nvPr/>
          </p:nvSpPr>
          <p:spPr>
            <a:xfrm rot="16200000">
              <a:off x="1786506" y="3277534"/>
              <a:ext cx="255600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fr-BE" sz="1400" b="1" dirty="0"/>
                <a:t>C9</a:t>
              </a:r>
            </a:p>
          </p:txBody>
        </p:sp>
      </p:grpSp>
      <p:grpSp>
        <p:nvGrpSpPr>
          <p:cNvPr id="2" name="Groupe 1"/>
          <p:cNvGrpSpPr/>
          <p:nvPr/>
        </p:nvGrpSpPr>
        <p:grpSpPr>
          <a:xfrm>
            <a:off x="3635896" y="3020763"/>
            <a:ext cx="1896218" cy="1266200"/>
            <a:chOff x="3635896" y="3331592"/>
            <a:chExt cx="1896218" cy="1266200"/>
          </a:xfrm>
        </p:grpSpPr>
        <p:pic>
          <p:nvPicPr>
            <p:cNvPr id="21" name="Image 20"/>
            <p:cNvPicPr>
              <a:picLocks noChangeAspect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58" t="10246" r="17645" b="5667"/>
            <a:stretch/>
          </p:blipFill>
          <p:spPr>
            <a:xfrm>
              <a:off x="3635896" y="3418391"/>
              <a:ext cx="1874945" cy="1179401"/>
            </a:xfrm>
            <a:prstGeom prst="rect">
              <a:avLst/>
            </a:prstGeom>
            <a:effectLst/>
            <a:scene3d>
              <a:camera prst="orthographicFront"/>
              <a:lightRig rig="threePt" dir="t"/>
            </a:scene3d>
            <a:sp3d extrusionH="76200" prstMaterial="metal">
              <a:bevelT w="165100" prst="coolSlant"/>
              <a:bevelB w="165100" prst="coolSlant"/>
              <a:extrusionClr>
                <a:schemeClr val="bg1"/>
              </a:extrusionClr>
            </a:sp3d>
          </p:spPr>
        </p:pic>
        <p:sp>
          <p:nvSpPr>
            <p:cNvPr id="22" name="ZoneTexte 21"/>
            <p:cNvSpPr txBox="1"/>
            <p:nvPr/>
          </p:nvSpPr>
          <p:spPr>
            <a:xfrm>
              <a:off x="3643740" y="3331592"/>
              <a:ext cx="1864601" cy="461665"/>
            </a:xfrm>
            <a:prstGeom prst="rect">
              <a:avLst/>
            </a:prstGeom>
            <a:noFill/>
            <a:effectLst>
              <a:outerShdw blurRad="50800" dist="50800" dir="5400000" algn="ctr" rotWithShape="0">
                <a:srgbClr val="000000">
                  <a:alpha val="94000"/>
                </a:srgbClr>
              </a:outerShdw>
            </a:effectLst>
          </p:spPr>
          <p:txBody>
            <a:bodyPr wrap="square" rtlCol="0">
              <a:spAutoFit/>
              <a:scene3d>
                <a:camera prst="orthographicFront"/>
                <a:lightRig rig="harsh" dir="t"/>
              </a:scene3d>
              <a:sp3d extrusionH="57150" prstMaterial="matte">
                <a:bevelT w="63500" h="12700" prst="angle"/>
                <a:contourClr>
                  <a:schemeClr val="bg1">
                    <a:lumMod val="65000"/>
                  </a:schemeClr>
                </a:contourClr>
              </a:sp3d>
            </a:bodyPr>
            <a:lstStyle/>
            <a:p>
              <a:pPr algn="ctr"/>
              <a:r>
                <a:rPr lang="fr-BE" sz="2400" b="1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</a:rPr>
                <a:t>Comparaison</a:t>
              </a:r>
            </a:p>
          </p:txBody>
        </p:sp>
        <p:sp>
          <p:nvSpPr>
            <p:cNvPr id="23" name="ZoneTexte 22"/>
            <p:cNvSpPr txBox="1"/>
            <p:nvPr/>
          </p:nvSpPr>
          <p:spPr>
            <a:xfrm>
              <a:off x="3657169" y="4211796"/>
              <a:ext cx="857850" cy="369332"/>
            </a:xfrm>
            <a:prstGeom prst="rect">
              <a:avLst/>
            </a:prstGeom>
            <a:noFill/>
            <a:effectLst>
              <a:outerShdw blurRad="50800" dist="50800" dir="5400000" algn="ctr" rotWithShape="0">
                <a:srgbClr val="000000">
                  <a:alpha val="94000"/>
                </a:srgbClr>
              </a:outerShdw>
            </a:effectLst>
          </p:spPr>
          <p:txBody>
            <a:bodyPr wrap="square" rtlCol="0">
              <a:spAutoFit/>
              <a:scene3d>
                <a:camera prst="orthographicFront"/>
                <a:lightRig rig="harsh" dir="t"/>
              </a:scene3d>
              <a:sp3d extrusionH="57150" prstMaterial="matte">
                <a:bevelT w="63500" h="12700" prst="angle"/>
                <a:contourClr>
                  <a:schemeClr val="bg1">
                    <a:lumMod val="65000"/>
                  </a:schemeClr>
                </a:contourClr>
              </a:sp3d>
            </a:bodyPr>
            <a:lstStyle/>
            <a:p>
              <a:pPr algn="ctr"/>
              <a:r>
                <a:rPr lang="fr-BE" b="1" dirty="0">
                  <a:ln/>
                  <a:solidFill>
                    <a:srgbClr val="00B050"/>
                  </a:solidFill>
                </a:rPr>
                <a:t>C2XML</a:t>
              </a:r>
              <a:endParaRPr lang="fr-BE" sz="2000" b="1" dirty="0">
                <a:ln/>
                <a:solidFill>
                  <a:srgbClr val="00B050"/>
                </a:solidFill>
              </a:endParaRPr>
            </a:p>
          </p:txBody>
        </p:sp>
        <p:sp>
          <p:nvSpPr>
            <p:cNvPr id="24" name="ZoneTexte 23"/>
            <p:cNvSpPr txBox="1"/>
            <p:nvPr/>
          </p:nvSpPr>
          <p:spPr>
            <a:xfrm>
              <a:off x="4592096" y="4181018"/>
              <a:ext cx="940018" cy="400110"/>
            </a:xfrm>
            <a:prstGeom prst="rect">
              <a:avLst/>
            </a:prstGeom>
            <a:noFill/>
            <a:effectLst>
              <a:outerShdw blurRad="50800" dist="50800" dir="5400000" algn="ctr" rotWithShape="0">
                <a:srgbClr val="000000">
                  <a:alpha val="94000"/>
                </a:srgbClr>
              </a:outerShdw>
            </a:effectLst>
          </p:spPr>
          <p:txBody>
            <a:bodyPr wrap="square" rtlCol="0">
              <a:spAutoFit/>
              <a:scene3d>
                <a:camera prst="orthographicFront"/>
                <a:lightRig rig="harsh" dir="t"/>
              </a:scene3d>
              <a:sp3d extrusionH="57150" prstMaterial="matte">
                <a:bevelT w="63500" h="12700" prst="angle"/>
                <a:contourClr>
                  <a:schemeClr val="bg1">
                    <a:lumMod val="65000"/>
                  </a:schemeClr>
                </a:contourClr>
              </a:sp3d>
            </a:bodyPr>
            <a:lstStyle/>
            <a:p>
              <a:pPr algn="ctr"/>
              <a:r>
                <a:rPr lang="fr-BE" sz="2000" b="1" dirty="0">
                  <a:ln/>
                  <a:solidFill>
                    <a:srgbClr val="00B050"/>
                  </a:solidFill>
                </a:rPr>
                <a:t>Vérités</a:t>
              </a:r>
            </a:p>
          </p:txBody>
        </p:sp>
        <p:sp>
          <p:nvSpPr>
            <p:cNvPr id="25" name="ZoneTexte 24"/>
            <p:cNvSpPr txBox="1"/>
            <p:nvPr/>
          </p:nvSpPr>
          <p:spPr>
            <a:xfrm>
              <a:off x="4499080" y="4181018"/>
              <a:ext cx="121869" cy="400110"/>
            </a:xfrm>
            <a:prstGeom prst="rect">
              <a:avLst/>
            </a:prstGeom>
            <a:noFill/>
            <a:effectLst>
              <a:outerShdw blurRad="50800" dist="50800" dir="5400000" algn="ctr" rotWithShape="0">
                <a:srgbClr val="000000">
                  <a:alpha val="94000"/>
                </a:srgbClr>
              </a:outerShdw>
            </a:effectLst>
          </p:spPr>
          <p:txBody>
            <a:bodyPr wrap="square" rtlCol="0">
              <a:spAutoFit/>
              <a:scene3d>
                <a:camera prst="orthographicFront"/>
                <a:lightRig rig="harsh" dir="t"/>
              </a:scene3d>
              <a:sp3d extrusionH="57150" prstMaterial="matte">
                <a:bevelT w="63500" h="12700" prst="angle"/>
                <a:contourClr>
                  <a:schemeClr val="bg1">
                    <a:lumMod val="65000"/>
                  </a:schemeClr>
                </a:contourClr>
              </a:sp3d>
            </a:bodyPr>
            <a:lstStyle/>
            <a:p>
              <a:pPr algn="ctr"/>
              <a:r>
                <a:rPr lang="fr-BE" sz="2000" b="1" dirty="0">
                  <a:ln/>
                </a:rPr>
                <a:t>-</a:t>
              </a:r>
            </a:p>
          </p:txBody>
        </p:sp>
      </p:grpSp>
      <p:pic>
        <p:nvPicPr>
          <p:cNvPr id="28" name="Image 2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57857" y="4472076"/>
            <a:ext cx="2386923" cy="436320"/>
          </a:xfrm>
          <a:prstGeom prst="rect">
            <a:avLst/>
          </a:prstGeom>
        </p:spPr>
      </p:pic>
      <p:pic>
        <p:nvPicPr>
          <p:cNvPr id="30" name="Image 2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7504" y="6138866"/>
            <a:ext cx="5215288" cy="458486"/>
          </a:xfrm>
          <a:prstGeom prst="rect">
            <a:avLst/>
          </a:prstGeom>
        </p:spPr>
      </p:pic>
      <p:grpSp>
        <p:nvGrpSpPr>
          <p:cNvPr id="16" name="Groupe 15"/>
          <p:cNvGrpSpPr/>
          <p:nvPr/>
        </p:nvGrpSpPr>
        <p:grpSpPr>
          <a:xfrm rot="5400000">
            <a:off x="4207233" y="2618574"/>
            <a:ext cx="728798" cy="360000"/>
            <a:chOff x="1116000" y="3246924"/>
            <a:chExt cx="1008000" cy="360000"/>
          </a:xfrm>
        </p:grpSpPr>
        <p:grpSp>
          <p:nvGrpSpPr>
            <p:cNvPr id="17" name="Groupe 16"/>
            <p:cNvGrpSpPr/>
            <p:nvPr/>
          </p:nvGrpSpPr>
          <p:grpSpPr>
            <a:xfrm>
              <a:off x="1116000" y="3246924"/>
              <a:ext cx="1008000" cy="360000"/>
              <a:chOff x="1115728" y="3219748"/>
              <a:chExt cx="1008000" cy="360000"/>
            </a:xfrm>
          </p:grpSpPr>
          <p:sp>
            <p:nvSpPr>
              <p:cNvPr id="19" name="AutoShape 76"/>
              <p:cNvSpPr>
                <a:spLocks noChangeArrowheads="1"/>
              </p:cNvSpPr>
              <p:nvPr/>
            </p:nvSpPr>
            <p:spPr bwMode="auto">
              <a:xfrm rot="10800000" flipH="1">
                <a:off x="1115728" y="3219748"/>
                <a:ext cx="1008000" cy="360000"/>
              </a:xfrm>
              <a:custGeom>
                <a:avLst/>
                <a:gdLst>
                  <a:gd name="G0" fmla="+- 16200 0 0"/>
                  <a:gd name="G1" fmla="+- 5400 0 0"/>
                  <a:gd name="G2" fmla="+- 21600 0 5400"/>
                  <a:gd name="G3" fmla="+- 10800 0 5400"/>
                  <a:gd name="G4" fmla="+- 21600 0 16200"/>
                  <a:gd name="G5" fmla="*/ G4 G3 10800"/>
                  <a:gd name="G6" fmla="+- 21600 0 G5"/>
                  <a:gd name="T0" fmla="*/ 16200 w 21600"/>
                  <a:gd name="T1" fmla="*/ 0 h 21600"/>
                  <a:gd name="T2" fmla="*/ 0 w 21600"/>
                  <a:gd name="T3" fmla="*/ 10800 h 21600"/>
                  <a:gd name="T4" fmla="*/ 16200 w 21600"/>
                  <a:gd name="T5" fmla="*/ 21600 h 21600"/>
                  <a:gd name="T6" fmla="*/ 21600 w 21600"/>
                  <a:gd name="T7" fmla="*/ 10800 h 21600"/>
                  <a:gd name="T8" fmla="*/ 17694720 60000 65536"/>
                  <a:gd name="T9" fmla="*/ 11796480 60000 65536"/>
                  <a:gd name="T10" fmla="*/ 5898240 60000 65536"/>
                  <a:gd name="T11" fmla="*/ 0 60000 65536"/>
                  <a:gd name="T12" fmla="*/ 3375 w 21600"/>
                  <a:gd name="T13" fmla="*/ G1 h 21600"/>
                  <a:gd name="T14" fmla="*/ G6 w 21600"/>
                  <a:gd name="T15" fmla="*/ G2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16200" y="0"/>
                    </a:moveTo>
                    <a:lnTo>
                      <a:pt x="16200" y="5400"/>
                    </a:lnTo>
                    <a:lnTo>
                      <a:pt x="3375" y="5400"/>
                    </a:lnTo>
                    <a:lnTo>
                      <a:pt x="3375" y="16200"/>
                    </a:lnTo>
                    <a:lnTo>
                      <a:pt x="16200" y="16200"/>
                    </a:lnTo>
                    <a:lnTo>
                      <a:pt x="16200" y="21600"/>
                    </a:lnTo>
                    <a:lnTo>
                      <a:pt x="21600" y="10800"/>
                    </a:lnTo>
                    <a:close/>
                  </a:path>
                  <a:path w="21600" h="21600">
                    <a:moveTo>
                      <a:pt x="1350" y="5400"/>
                    </a:moveTo>
                    <a:lnTo>
                      <a:pt x="1350" y="16200"/>
                    </a:lnTo>
                    <a:lnTo>
                      <a:pt x="2700" y="16200"/>
                    </a:lnTo>
                    <a:lnTo>
                      <a:pt x="2700" y="5400"/>
                    </a:lnTo>
                    <a:close/>
                  </a:path>
                  <a:path w="21600" h="21600">
                    <a:moveTo>
                      <a:pt x="0" y="5400"/>
                    </a:moveTo>
                    <a:lnTo>
                      <a:pt x="0" y="16200"/>
                    </a:lnTo>
                    <a:lnTo>
                      <a:pt x="675" y="16200"/>
                    </a:lnTo>
                    <a:lnTo>
                      <a:pt x="675" y="5400"/>
                    </a:lnTo>
                    <a:close/>
                  </a:path>
                </a:pathLst>
              </a:custGeom>
              <a:solidFill>
                <a:srgbClr val="FFFF00"/>
              </a:solidFill>
              <a:ln w="9525">
                <a:solidFill>
                  <a:srgbClr val="00B050"/>
                </a:solidFill>
                <a:miter lim="800000"/>
                <a:headEnd/>
                <a:tailEnd/>
              </a:ln>
              <a:effectLst>
                <a:glow rad="63500">
                  <a:srgbClr val="FFFF00">
                    <a:alpha val="40000"/>
                  </a:srgbClr>
                </a:glow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/>
              <a:p>
                <a:endParaRPr lang="fr-BE"/>
              </a:p>
            </p:txBody>
          </p:sp>
          <p:pic>
            <p:nvPicPr>
              <p:cNvPr id="20" name="Picture 5" descr="F:\Notes Ludo\Images animées\astronomie-gif-008.gif"/>
              <p:cNvPicPr preferRelativeResize="0">
                <a:picLocks noChangeArrowheads="1" noCrop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auto">
              <a:xfrm>
                <a:off x="1292128" y="3327388"/>
                <a:ext cx="576000" cy="144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8" name="ZoneTexte 17"/>
            <p:cNvSpPr txBox="1"/>
            <p:nvPr/>
          </p:nvSpPr>
          <p:spPr>
            <a:xfrm rot="16200000">
              <a:off x="1778207" y="3284961"/>
              <a:ext cx="257195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fr-BE" sz="1400" b="1" dirty="0"/>
                <a:t>C2</a:t>
              </a:r>
            </a:p>
          </p:txBody>
        </p:sp>
      </p:grpSp>
      <p:grpSp>
        <p:nvGrpSpPr>
          <p:cNvPr id="32" name="Groupe 31"/>
          <p:cNvGrpSpPr/>
          <p:nvPr/>
        </p:nvGrpSpPr>
        <p:grpSpPr>
          <a:xfrm rot="2254071">
            <a:off x="2693379" y="5756062"/>
            <a:ext cx="728798" cy="360000"/>
            <a:chOff x="1115728" y="3219748"/>
            <a:chExt cx="1008000" cy="360000"/>
          </a:xfrm>
        </p:grpSpPr>
        <p:sp>
          <p:nvSpPr>
            <p:cNvPr id="34" name="AutoShape 76"/>
            <p:cNvSpPr>
              <a:spLocks noChangeArrowheads="1"/>
            </p:cNvSpPr>
            <p:nvPr/>
          </p:nvSpPr>
          <p:spPr bwMode="auto">
            <a:xfrm rot="10800000" flipH="1">
              <a:off x="1115728" y="3219748"/>
              <a:ext cx="1008000" cy="360000"/>
            </a:xfrm>
            <a:custGeom>
              <a:avLst/>
              <a:gdLst>
                <a:gd name="G0" fmla="+- 16200 0 0"/>
                <a:gd name="G1" fmla="+- 5400 0 0"/>
                <a:gd name="G2" fmla="+- 21600 0 5400"/>
                <a:gd name="G3" fmla="+- 10800 0 5400"/>
                <a:gd name="G4" fmla="+- 21600 0 16200"/>
                <a:gd name="G5" fmla="*/ G4 G3 10800"/>
                <a:gd name="G6" fmla="+- 21600 0 G5"/>
                <a:gd name="T0" fmla="*/ 16200 w 21600"/>
                <a:gd name="T1" fmla="*/ 0 h 21600"/>
                <a:gd name="T2" fmla="*/ 0 w 21600"/>
                <a:gd name="T3" fmla="*/ 10800 h 21600"/>
                <a:gd name="T4" fmla="*/ 16200 w 21600"/>
                <a:gd name="T5" fmla="*/ 21600 h 21600"/>
                <a:gd name="T6" fmla="*/ 21600 w 21600"/>
                <a:gd name="T7" fmla="*/ 10800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75 w 21600"/>
                <a:gd name="T13" fmla="*/ G1 h 21600"/>
                <a:gd name="T14" fmla="*/ G6 w 21600"/>
                <a:gd name="T15" fmla="*/ G2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close/>
                </a:path>
              </a:pathLst>
            </a:custGeom>
            <a:solidFill>
              <a:srgbClr val="FFFF00"/>
            </a:solidFill>
            <a:ln w="9525">
              <a:solidFill>
                <a:srgbClr val="00B050"/>
              </a:solidFill>
              <a:miter lim="800000"/>
              <a:headEnd/>
              <a:tailEnd/>
            </a:ln>
            <a:effectLst>
              <a:glow rad="63500">
                <a:srgbClr val="FFFF00">
                  <a:alpha val="40000"/>
                </a:srgb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endParaRPr lang="fr-BE"/>
            </a:p>
          </p:txBody>
        </p:sp>
        <p:pic>
          <p:nvPicPr>
            <p:cNvPr id="35" name="Picture 5" descr="F:\Notes Ludo\Images animées\astronomie-gif-008.gif"/>
            <p:cNvPicPr preferRelativeResize="0">
              <a:picLocks noChangeArrowheads="1" noCrop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1304672" y="3327114"/>
              <a:ext cx="576000" cy="14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7" name="Groupe 6"/>
          <p:cNvGrpSpPr/>
          <p:nvPr/>
        </p:nvGrpSpPr>
        <p:grpSpPr>
          <a:xfrm rot="-300000">
            <a:off x="2844000" y="3888000"/>
            <a:ext cx="1080000" cy="216000"/>
            <a:chOff x="2526535" y="4013468"/>
            <a:chExt cx="1080000" cy="216000"/>
          </a:xfrm>
        </p:grpSpPr>
        <p:sp>
          <p:nvSpPr>
            <p:cNvPr id="26" name="AutoShape 76"/>
            <p:cNvSpPr>
              <a:spLocks noChangeArrowheads="1"/>
            </p:cNvSpPr>
            <p:nvPr/>
          </p:nvSpPr>
          <p:spPr bwMode="auto">
            <a:xfrm rot="20100000" flipH="1">
              <a:off x="2526535" y="4013468"/>
              <a:ext cx="1080000" cy="216000"/>
            </a:xfrm>
            <a:custGeom>
              <a:avLst/>
              <a:gdLst>
                <a:gd name="G0" fmla="+- 16200 0 0"/>
                <a:gd name="G1" fmla="+- 5400 0 0"/>
                <a:gd name="G2" fmla="+- 21600 0 5400"/>
                <a:gd name="G3" fmla="+- 10800 0 5400"/>
                <a:gd name="G4" fmla="+- 21600 0 16200"/>
                <a:gd name="G5" fmla="*/ G4 G3 10800"/>
                <a:gd name="G6" fmla="+- 21600 0 G5"/>
                <a:gd name="T0" fmla="*/ 16200 w 21600"/>
                <a:gd name="T1" fmla="*/ 0 h 21600"/>
                <a:gd name="T2" fmla="*/ 0 w 21600"/>
                <a:gd name="T3" fmla="*/ 10800 h 21600"/>
                <a:gd name="T4" fmla="*/ 16200 w 21600"/>
                <a:gd name="T5" fmla="*/ 21600 h 21600"/>
                <a:gd name="T6" fmla="*/ 21600 w 21600"/>
                <a:gd name="T7" fmla="*/ 10800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75 w 21600"/>
                <a:gd name="T13" fmla="*/ G1 h 21600"/>
                <a:gd name="T14" fmla="*/ G6 w 21600"/>
                <a:gd name="T15" fmla="*/ G2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close/>
                </a:path>
              </a:pathLst>
            </a:custGeom>
            <a:solidFill>
              <a:srgbClr val="00B050"/>
            </a:solidFill>
            <a:ln w="9525">
              <a:solidFill>
                <a:srgbClr val="339933"/>
              </a:solidFill>
              <a:miter lim="800000"/>
              <a:headEnd/>
              <a:tailEnd/>
            </a:ln>
            <a:effectLst>
              <a:glow rad="63500">
                <a:srgbClr val="00CC66">
                  <a:alpha val="40000"/>
                </a:srgb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endParaRPr lang="fr-BE"/>
            </a:p>
          </p:txBody>
        </p:sp>
        <p:sp>
          <p:nvSpPr>
            <p:cNvPr id="3" name="ZoneTexte 2"/>
            <p:cNvSpPr txBox="1"/>
            <p:nvPr/>
          </p:nvSpPr>
          <p:spPr>
            <a:xfrm rot="20100000">
              <a:off x="2700292" y="4033010"/>
              <a:ext cx="764846" cy="16158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fr-BE" sz="1050" dirty="0"/>
                <a:t>Concordance</a:t>
              </a:r>
              <a:endParaRPr lang="en-US" sz="1050" dirty="0"/>
            </a:p>
          </p:txBody>
        </p:sp>
      </p:grpSp>
      <p:grpSp>
        <p:nvGrpSpPr>
          <p:cNvPr id="8" name="Groupe 7"/>
          <p:cNvGrpSpPr/>
          <p:nvPr/>
        </p:nvGrpSpPr>
        <p:grpSpPr>
          <a:xfrm rot="540000">
            <a:off x="5220034" y="3888000"/>
            <a:ext cx="1080000" cy="216000"/>
            <a:chOff x="5484376" y="3903400"/>
            <a:chExt cx="1188000" cy="216000"/>
          </a:xfrm>
        </p:grpSpPr>
        <p:sp>
          <p:nvSpPr>
            <p:cNvPr id="27" name="AutoShape 76"/>
            <p:cNvSpPr>
              <a:spLocks noChangeArrowheads="1"/>
            </p:cNvSpPr>
            <p:nvPr/>
          </p:nvSpPr>
          <p:spPr bwMode="auto">
            <a:xfrm rot="12060000" flipH="1">
              <a:off x="5484376" y="3903400"/>
              <a:ext cx="1188000" cy="216000"/>
            </a:xfrm>
            <a:custGeom>
              <a:avLst/>
              <a:gdLst>
                <a:gd name="G0" fmla="+- 16200 0 0"/>
                <a:gd name="G1" fmla="+- 5400 0 0"/>
                <a:gd name="G2" fmla="+- 21600 0 5400"/>
                <a:gd name="G3" fmla="+- 10800 0 5400"/>
                <a:gd name="G4" fmla="+- 21600 0 16200"/>
                <a:gd name="G5" fmla="*/ G4 G3 10800"/>
                <a:gd name="G6" fmla="+- 21600 0 G5"/>
                <a:gd name="T0" fmla="*/ 16200 w 21600"/>
                <a:gd name="T1" fmla="*/ 0 h 21600"/>
                <a:gd name="T2" fmla="*/ 0 w 21600"/>
                <a:gd name="T3" fmla="*/ 10800 h 21600"/>
                <a:gd name="T4" fmla="*/ 16200 w 21600"/>
                <a:gd name="T5" fmla="*/ 21600 h 21600"/>
                <a:gd name="T6" fmla="*/ 21600 w 21600"/>
                <a:gd name="T7" fmla="*/ 10800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75 w 21600"/>
                <a:gd name="T13" fmla="*/ G1 h 21600"/>
                <a:gd name="T14" fmla="*/ G6 w 21600"/>
                <a:gd name="T15" fmla="*/ G2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C00000"/>
              </a:solidFill>
              <a:miter lim="800000"/>
              <a:headEnd/>
              <a:tailEnd/>
            </a:ln>
            <a:effectLst>
              <a:glow rad="63500">
                <a:schemeClr val="accent2">
                  <a:satMod val="175000"/>
                  <a:alpha val="40000"/>
                </a:scheme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endParaRPr lang="fr-BE"/>
            </a:p>
          </p:txBody>
        </p:sp>
        <p:sp>
          <p:nvSpPr>
            <p:cNvPr id="33" name="ZoneTexte 32"/>
            <p:cNvSpPr txBox="1"/>
            <p:nvPr/>
          </p:nvSpPr>
          <p:spPr>
            <a:xfrm rot="1260000">
              <a:off x="5684342" y="3954843"/>
              <a:ext cx="937546" cy="16158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fr-BE" sz="1050" dirty="0"/>
                <a:t>Discordance</a:t>
              </a:r>
              <a:endParaRPr lang="en-US" sz="1050" dirty="0"/>
            </a:p>
          </p:txBody>
        </p:sp>
      </p:grpSp>
      <p:grpSp>
        <p:nvGrpSpPr>
          <p:cNvPr id="36" name="Groupe 35"/>
          <p:cNvGrpSpPr/>
          <p:nvPr/>
        </p:nvGrpSpPr>
        <p:grpSpPr>
          <a:xfrm rot="8520000">
            <a:off x="5287196" y="5368503"/>
            <a:ext cx="1980000" cy="360000"/>
            <a:chOff x="1115728" y="3219748"/>
            <a:chExt cx="1008000" cy="360000"/>
          </a:xfrm>
        </p:grpSpPr>
        <p:sp>
          <p:nvSpPr>
            <p:cNvPr id="37" name="AutoShape 76"/>
            <p:cNvSpPr>
              <a:spLocks noChangeArrowheads="1"/>
            </p:cNvSpPr>
            <p:nvPr/>
          </p:nvSpPr>
          <p:spPr bwMode="auto">
            <a:xfrm rot="10800000" flipH="1">
              <a:off x="1115728" y="3219748"/>
              <a:ext cx="1008000" cy="360000"/>
            </a:xfrm>
            <a:custGeom>
              <a:avLst/>
              <a:gdLst>
                <a:gd name="G0" fmla="+- 16200 0 0"/>
                <a:gd name="G1" fmla="+- 5400 0 0"/>
                <a:gd name="G2" fmla="+- 21600 0 5400"/>
                <a:gd name="G3" fmla="+- 10800 0 5400"/>
                <a:gd name="G4" fmla="+- 21600 0 16200"/>
                <a:gd name="G5" fmla="*/ G4 G3 10800"/>
                <a:gd name="G6" fmla="+- 21600 0 G5"/>
                <a:gd name="T0" fmla="*/ 16200 w 21600"/>
                <a:gd name="T1" fmla="*/ 0 h 21600"/>
                <a:gd name="T2" fmla="*/ 0 w 21600"/>
                <a:gd name="T3" fmla="*/ 10800 h 21600"/>
                <a:gd name="T4" fmla="*/ 16200 w 21600"/>
                <a:gd name="T5" fmla="*/ 21600 h 21600"/>
                <a:gd name="T6" fmla="*/ 21600 w 21600"/>
                <a:gd name="T7" fmla="*/ 10800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75 w 21600"/>
                <a:gd name="T13" fmla="*/ G1 h 21600"/>
                <a:gd name="T14" fmla="*/ G6 w 21600"/>
                <a:gd name="T15" fmla="*/ G2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close/>
                </a:path>
              </a:pathLst>
            </a:custGeom>
            <a:solidFill>
              <a:srgbClr val="FFFF00"/>
            </a:solidFill>
            <a:ln w="9525">
              <a:solidFill>
                <a:srgbClr val="00B050"/>
              </a:solidFill>
              <a:miter lim="800000"/>
              <a:headEnd/>
              <a:tailEnd/>
            </a:ln>
            <a:effectLst>
              <a:glow rad="63500">
                <a:srgbClr val="FFFF00">
                  <a:alpha val="40000"/>
                </a:srgb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endParaRPr lang="fr-BE"/>
            </a:p>
          </p:txBody>
        </p:sp>
        <p:pic>
          <p:nvPicPr>
            <p:cNvPr id="38" name="Picture 5" descr="F:\Notes Ludo\Images animées\astronomie-gif-008.gif"/>
            <p:cNvPicPr preferRelativeResize="0">
              <a:picLocks noChangeArrowheads="1" noCrop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1304672" y="3327114"/>
              <a:ext cx="576000" cy="14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9" name="Image 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3935" y="4310703"/>
            <a:ext cx="4162425" cy="135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123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Grp="1" noChangeArrowheads="1"/>
          </p:cNvSpPr>
          <p:nvPr>
            <p:ph type="title"/>
          </p:nvPr>
        </p:nvSpPr>
        <p:spPr>
          <a:xfrm>
            <a:off x="468630" y="294501"/>
            <a:ext cx="8229600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>
            <a:defPPr>
              <a:defRPr lang="fr-FR"/>
            </a:defPPr>
            <a:lvl1pPr algn="ctr">
              <a:defRPr sz="2800" b="1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pPr marL="742950" indent="-742950">
              <a:buFont typeface="+mj-lt"/>
              <a:buAutoNum type="arabicPeriod" startAt="2"/>
            </a:pPr>
            <a:r>
              <a:rPr lang="fr-FR" altLang="fr-FR" sz="3600" dirty="0">
                <a:gradFill>
                  <a:gsLst>
                    <a:gs pos="0">
                      <a:srgbClr val="F79646">
                        <a:tint val="90000"/>
                        <a:satMod val="120000"/>
                      </a:srgbClr>
                    </a:gs>
                    <a:gs pos="25000">
                      <a:srgbClr val="F79646">
                        <a:tint val="93000"/>
                        <a:satMod val="120000"/>
                      </a:srgbClr>
                    </a:gs>
                    <a:gs pos="50000">
                      <a:srgbClr val="F79646">
                        <a:shade val="89000"/>
                        <a:satMod val="110000"/>
                      </a:srgbClr>
                    </a:gs>
                    <a:gs pos="75000">
                      <a:srgbClr val="F79646">
                        <a:tint val="93000"/>
                        <a:satMod val="120000"/>
                      </a:srgbClr>
                    </a:gs>
                    <a:gs pos="100000">
                      <a:srgbClr val="F79646">
                        <a:tint val="90000"/>
                        <a:satMod val="120000"/>
                      </a:srgbClr>
                    </a:gs>
                  </a:gsLst>
                  <a:lin ang="5400000"/>
                </a:gradFill>
              </a:rPr>
              <a:t>Structure de base la C2 </a:t>
            </a:r>
            <a:r>
              <a:rPr lang="fr-FR" altLang="fr-FR" sz="3600" dirty="0" err="1">
                <a:gradFill>
                  <a:gsLst>
                    <a:gs pos="0">
                      <a:srgbClr val="F79646">
                        <a:tint val="90000"/>
                        <a:satMod val="120000"/>
                      </a:srgbClr>
                    </a:gs>
                    <a:gs pos="25000">
                      <a:srgbClr val="F79646">
                        <a:tint val="93000"/>
                        <a:satMod val="120000"/>
                      </a:srgbClr>
                    </a:gs>
                    <a:gs pos="50000">
                      <a:srgbClr val="F79646">
                        <a:shade val="89000"/>
                        <a:satMod val="110000"/>
                      </a:srgbClr>
                    </a:gs>
                    <a:gs pos="75000">
                      <a:srgbClr val="F79646">
                        <a:tint val="93000"/>
                        <a:satMod val="120000"/>
                      </a:srgbClr>
                    </a:gs>
                    <a:gs pos="100000">
                      <a:srgbClr val="F79646">
                        <a:tint val="90000"/>
                        <a:satMod val="120000"/>
                      </a:srgbClr>
                    </a:gs>
                  </a:gsLst>
                  <a:lin ang="5400000"/>
                </a:gradFill>
              </a:rPr>
              <a:t>Xml</a:t>
            </a:r>
            <a:endParaRPr lang="fr-FR" altLang="fr-FR" sz="3600" dirty="0">
              <a:gradFill>
                <a:gsLst>
                  <a:gs pos="0">
                    <a:srgbClr val="F79646">
                      <a:tint val="90000"/>
                      <a:satMod val="120000"/>
                    </a:srgbClr>
                  </a:gs>
                  <a:gs pos="25000">
                    <a:srgbClr val="F79646">
                      <a:tint val="93000"/>
                      <a:satMod val="120000"/>
                    </a:srgbClr>
                  </a:gs>
                  <a:gs pos="50000">
                    <a:srgbClr val="F79646">
                      <a:shade val="89000"/>
                      <a:satMod val="110000"/>
                    </a:srgbClr>
                  </a:gs>
                  <a:gs pos="75000">
                    <a:srgbClr val="F79646">
                      <a:tint val="93000"/>
                      <a:satMod val="120000"/>
                    </a:srgbClr>
                  </a:gs>
                  <a:gs pos="100000">
                    <a:srgbClr val="F79646">
                      <a:tint val="90000"/>
                      <a:satMod val="120000"/>
                    </a:srgbClr>
                  </a:gs>
                </a:gsLst>
                <a:lin ang="5400000"/>
              </a:gradFill>
            </a:endParaRPr>
          </a:p>
        </p:txBody>
      </p:sp>
      <p:sp>
        <p:nvSpPr>
          <p:cNvPr id="28" name="Espace réservé du contenu 27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r>
              <a:rPr lang="fr-BE" sz="2800" dirty="0"/>
              <a:t>Principe de construction: </a:t>
            </a:r>
            <a:r>
              <a:rPr lang="fr-BE" sz="2800" b="1" dirty="0">
                <a:solidFill>
                  <a:srgbClr val="C00000"/>
                </a:solidFill>
              </a:rPr>
              <a:t>Structure en arborescence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fr-BE" sz="2400" dirty="0"/>
              <a:t>Répertoires principaux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fr-BE" sz="2400" dirty="0"/>
              <a:t>Répertoires secondaires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fr-BE" sz="2400" dirty="0"/>
              <a:t>Sous-répertoires</a:t>
            </a:r>
          </a:p>
          <a:p>
            <a:pPr marL="0" indent="0">
              <a:buNone/>
            </a:pPr>
            <a:endParaRPr lang="fr-BE" dirty="0"/>
          </a:p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6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29" name="Picture 3" descr="http://www.csenergie.qc.ca/st-sauveur/Lucie/GifsAnimes/Informatique/chip.gif"/>
          <p:cNvPicPr>
            <a:picLocks noChangeAspect="1" noChangeArrowheads="1" noCrop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67581" y="3233441"/>
            <a:ext cx="5822010" cy="3109912"/>
          </a:xfrm>
          <a:prstGeom prst="rect">
            <a:avLst/>
          </a:prstGeom>
          <a:noFill/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DEA33D55-668B-4EBC-8C92-F81CBE19BC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7633" y="3482017"/>
            <a:ext cx="5561905" cy="26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871930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Grp="1" noChangeArrowheads="1"/>
          </p:cNvSpPr>
          <p:nvPr>
            <p:ph type="title"/>
          </p:nvPr>
        </p:nvSpPr>
        <p:spPr>
          <a:xfrm>
            <a:off x="971600" y="-3930"/>
            <a:ext cx="7211144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>
            <a:defPPr>
              <a:defRPr lang="fr-FR"/>
            </a:defPPr>
            <a:lvl1pPr algn="ctr">
              <a:defRPr sz="2800" b="1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pPr marL="742950" indent="-742950">
              <a:buFont typeface="+mj-lt"/>
              <a:buAutoNum type="arabicPeriod" startAt="2"/>
            </a:pPr>
            <a:r>
              <a:rPr lang="fr-FR" altLang="fr-FR" sz="3600" dirty="0">
                <a:gradFill>
                  <a:gsLst>
                    <a:gs pos="0">
                      <a:srgbClr val="F79646">
                        <a:tint val="90000"/>
                        <a:satMod val="120000"/>
                      </a:srgbClr>
                    </a:gs>
                    <a:gs pos="25000">
                      <a:srgbClr val="F79646">
                        <a:tint val="93000"/>
                        <a:satMod val="120000"/>
                      </a:srgbClr>
                    </a:gs>
                    <a:gs pos="50000">
                      <a:srgbClr val="F79646">
                        <a:shade val="89000"/>
                        <a:satMod val="110000"/>
                      </a:srgbClr>
                    </a:gs>
                    <a:gs pos="75000">
                      <a:srgbClr val="F79646">
                        <a:tint val="93000"/>
                        <a:satMod val="120000"/>
                      </a:srgbClr>
                    </a:gs>
                    <a:gs pos="100000">
                      <a:srgbClr val="F79646">
                        <a:tint val="90000"/>
                        <a:satMod val="120000"/>
                      </a:srgbClr>
                    </a:gs>
                  </a:gsLst>
                  <a:lin ang="5400000"/>
                </a:gradFill>
              </a:rPr>
              <a:t>Structure de base la C2 </a:t>
            </a:r>
            <a:r>
              <a:rPr lang="fr-FR" altLang="fr-FR" sz="3600" dirty="0" err="1">
                <a:gradFill>
                  <a:gsLst>
                    <a:gs pos="0">
                      <a:srgbClr val="F79646">
                        <a:tint val="90000"/>
                        <a:satMod val="120000"/>
                      </a:srgbClr>
                    </a:gs>
                    <a:gs pos="25000">
                      <a:srgbClr val="F79646">
                        <a:tint val="93000"/>
                        <a:satMod val="120000"/>
                      </a:srgbClr>
                    </a:gs>
                    <a:gs pos="50000">
                      <a:srgbClr val="F79646">
                        <a:shade val="89000"/>
                        <a:satMod val="110000"/>
                      </a:srgbClr>
                    </a:gs>
                    <a:gs pos="75000">
                      <a:srgbClr val="F79646">
                        <a:tint val="93000"/>
                        <a:satMod val="120000"/>
                      </a:srgbClr>
                    </a:gs>
                    <a:gs pos="100000">
                      <a:srgbClr val="F79646">
                        <a:tint val="90000"/>
                        <a:satMod val="120000"/>
                      </a:srgbClr>
                    </a:gs>
                  </a:gsLst>
                  <a:lin ang="5400000"/>
                </a:gradFill>
              </a:rPr>
              <a:t>Xml</a:t>
            </a:r>
            <a:endParaRPr lang="fr-FR" altLang="fr-FR" sz="3600" dirty="0">
              <a:gradFill>
                <a:gsLst>
                  <a:gs pos="0">
                    <a:srgbClr val="F79646">
                      <a:tint val="90000"/>
                      <a:satMod val="120000"/>
                    </a:srgbClr>
                  </a:gs>
                  <a:gs pos="25000">
                    <a:srgbClr val="F79646">
                      <a:tint val="93000"/>
                      <a:satMod val="120000"/>
                    </a:srgbClr>
                  </a:gs>
                  <a:gs pos="50000">
                    <a:srgbClr val="F79646">
                      <a:shade val="89000"/>
                      <a:satMod val="110000"/>
                    </a:srgbClr>
                  </a:gs>
                  <a:gs pos="75000">
                    <a:srgbClr val="F79646">
                      <a:tint val="93000"/>
                      <a:satMod val="120000"/>
                    </a:srgbClr>
                  </a:gs>
                  <a:gs pos="100000">
                    <a:srgbClr val="F79646">
                      <a:tint val="90000"/>
                      <a:satMod val="120000"/>
                    </a:srgbClr>
                  </a:gs>
                </a:gsLst>
                <a:lin ang="5400000"/>
              </a:gradFill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255690" y="836712"/>
            <a:ext cx="5612454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>
            <a:defPPr>
              <a:defRPr lang="fr-FR"/>
            </a:defPPr>
            <a:lvl1pPr marL="342900" indent="-342900" algn="ctr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b="1" kern="120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Font typeface="Arial" pitchFamily="34" charset="0"/>
              <a:buNone/>
            </a:pPr>
            <a:r>
              <a:rPr lang="fr-FR" altLang="fr-FR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2.1. Les deux répertoires principaux</a:t>
            </a:r>
          </a:p>
        </p:txBody>
      </p:sp>
      <p:grpSp>
        <p:nvGrpSpPr>
          <p:cNvPr id="9" name="Groupe 8"/>
          <p:cNvGrpSpPr/>
          <p:nvPr/>
        </p:nvGrpSpPr>
        <p:grpSpPr>
          <a:xfrm>
            <a:off x="665304" y="1540196"/>
            <a:ext cx="6849727" cy="1846659"/>
            <a:chOff x="674601" y="1470610"/>
            <a:chExt cx="4185432" cy="1846659"/>
          </a:xfrm>
        </p:grpSpPr>
        <p:sp>
          <p:nvSpPr>
            <p:cNvPr id="10" name="Rectangle 9"/>
            <p:cNvSpPr/>
            <p:nvPr/>
          </p:nvSpPr>
          <p:spPr>
            <a:xfrm>
              <a:off x="1017691" y="1470610"/>
              <a:ext cx="3842342" cy="184665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400" b="1" dirty="0">
                  <a:solidFill>
                    <a:srgbClr val="00B050"/>
                  </a:solidFill>
                  <a:latin typeface="Arial" panose="020B0604020202020204" pitchFamily="34" charset="0"/>
                </a:rPr>
                <a:t>S24_DataC9 - S24 </a:t>
              </a:r>
              <a:r>
                <a:rPr lang="en-US" sz="2400" b="1" dirty="0" err="1">
                  <a:solidFill>
                    <a:srgbClr val="00B050"/>
                  </a:solidFill>
                  <a:latin typeface="Arial" panose="020B0604020202020204" pitchFamily="34" charset="0"/>
                </a:rPr>
                <a:t>Traitement</a:t>
              </a:r>
              <a:r>
                <a:rPr lang="en-US" sz="2400" b="1" dirty="0">
                  <a:solidFill>
                    <a:srgbClr val="00B050"/>
                  </a:solidFill>
                  <a:latin typeface="Arial" panose="020B0604020202020204" pitchFamily="34" charset="0"/>
                </a:rPr>
                <a:t> C9:</a:t>
              </a:r>
            </a:p>
            <a:p>
              <a:pPr marL="342900" indent="-342900" defTabSz="534988">
                <a:spcBef>
                  <a:spcPts val="600"/>
                </a:spcBef>
                <a:buFont typeface="Wingdings" panose="05000000000000000000" pitchFamily="2" charset="2"/>
                <a:buChar char="Ø"/>
              </a:pPr>
              <a:r>
                <a:rPr lang="en-US" sz="2000" b="1" u="sng" dirty="0">
                  <a:latin typeface="Arial" panose="020B0604020202020204" pitchFamily="34" charset="0"/>
                </a:rPr>
                <a:t>Point de depart </a:t>
              </a:r>
              <a:r>
                <a:rPr lang="en-US" sz="2000" dirty="0">
                  <a:latin typeface="Arial" panose="020B0604020202020204" pitchFamily="34" charset="0"/>
                </a:rPr>
                <a:t>de la </a:t>
              </a:r>
              <a:r>
                <a:rPr lang="en-US" sz="2000" dirty="0" err="1">
                  <a:latin typeface="Arial" panose="020B0604020202020204" pitchFamily="34" charset="0"/>
                </a:rPr>
                <a:t>comparaison</a:t>
              </a:r>
              <a:r>
                <a:rPr lang="en-US" sz="2000" dirty="0">
                  <a:latin typeface="Arial" panose="020B0604020202020204" pitchFamily="34" charset="0"/>
                </a:rPr>
                <a:t> C2 </a:t>
              </a:r>
              <a:r>
                <a:rPr lang="en-US" sz="2000" dirty="0">
                  <a:latin typeface="Arial" panose="020B0604020202020204" pitchFamily="34" charset="0"/>
                  <a:sym typeface="Wingdings" panose="05000000000000000000" pitchFamily="2" charset="2"/>
                </a:rPr>
                <a:t></a:t>
              </a:r>
              <a:r>
                <a:rPr lang="en-US" sz="2000" dirty="0">
                  <a:latin typeface="Arial" panose="020B0604020202020204" pitchFamily="34" charset="0"/>
                </a:rPr>
                <a:t> liaison avec le n° de C9</a:t>
              </a:r>
            </a:p>
            <a:p>
              <a:pPr marL="342900" indent="-342900" defTabSz="534988">
                <a:spcBef>
                  <a:spcPts val="600"/>
                </a:spcBef>
                <a:buFont typeface="Wingdings" panose="05000000000000000000" pitchFamily="2" charset="2"/>
                <a:buChar char="Ø"/>
              </a:pPr>
              <a:r>
                <a:rPr lang="en-US" sz="2000" dirty="0" err="1">
                  <a:latin typeface="Arial" panose="020B0604020202020204" pitchFamily="34" charset="0"/>
                </a:rPr>
                <a:t>Reprend</a:t>
              </a:r>
              <a:r>
                <a:rPr lang="en-US" sz="2000" dirty="0">
                  <a:latin typeface="Arial" panose="020B0604020202020204" pitchFamily="34" charset="0"/>
                </a:rPr>
                <a:t> les </a:t>
              </a:r>
              <a:r>
                <a:rPr lang="en-US" sz="2000" dirty="0" err="1">
                  <a:latin typeface="Arial" panose="020B0604020202020204" pitchFamily="34" charset="0"/>
                </a:rPr>
                <a:t>caractéristiques</a:t>
              </a:r>
              <a:r>
                <a:rPr lang="en-US" sz="2000" dirty="0">
                  <a:latin typeface="Arial" panose="020B0604020202020204" pitchFamily="34" charset="0"/>
                </a:rPr>
                <a:t> de la D.A et les </a:t>
              </a:r>
              <a:r>
                <a:rPr lang="en-US" sz="2000" dirty="0" err="1">
                  <a:latin typeface="Arial" panose="020B0604020202020204" pitchFamily="34" charset="0"/>
                </a:rPr>
                <a:t>données</a:t>
              </a:r>
              <a:r>
                <a:rPr lang="en-US" sz="2000" dirty="0">
                  <a:latin typeface="Arial" panose="020B0604020202020204" pitchFamily="34" charset="0"/>
                </a:rPr>
                <a:t> </a:t>
              </a:r>
              <a:r>
                <a:rPr lang="fr-BE" sz="2000" dirty="0">
                  <a:latin typeface="Arial" panose="020B0604020202020204" pitchFamily="34" charset="0"/>
                </a:rPr>
                <a:t>d’identification</a:t>
              </a:r>
            </a:p>
          </p:txBody>
        </p:sp>
        <p:pic>
          <p:nvPicPr>
            <p:cNvPr id="11" name="Image 10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647087" y="1498124"/>
              <a:ext cx="379027" cy="324000"/>
            </a:xfrm>
            <a:prstGeom prst="rect">
              <a:avLst/>
            </a:prstGeom>
          </p:spPr>
        </p:pic>
      </p:grpSp>
      <p:grpSp>
        <p:nvGrpSpPr>
          <p:cNvPr id="30" name="Groupe 29"/>
          <p:cNvGrpSpPr/>
          <p:nvPr/>
        </p:nvGrpSpPr>
        <p:grpSpPr>
          <a:xfrm>
            <a:off x="665303" y="3659452"/>
            <a:ext cx="6620506" cy="2776166"/>
            <a:chOff x="665303" y="3659452"/>
            <a:chExt cx="6620506" cy="2776166"/>
          </a:xfrm>
        </p:grpSpPr>
        <p:sp>
          <p:nvSpPr>
            <p:cNvPr id="14" name="Rectangle 13"/>
            <p:cNvSpPr/>
            <p:nvPr/>
          </p:nvSpPr>
          <p:spPr>
            <a:xfrm>
              <a:off x="1195550" y="3659452"/>
              <a:ext cx="141737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400" b="1" dirty="0">
                  <a:solidFill>
                    <a:srgbClr val="00B050"/>
                  </a:solidFill>
                  <a:latin typeface="Arial" panose="020B0604020202020204" pitchFamily="34" charset="0"/>
                </a:rPr>
                <a:t>C2Body</a:t>
              </a:r>
              <a:r>
                <a:rPr lang="en-US" sz="2400" dirty="0"/>
                <a:t> 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226793" y="4111905"/>
              <a:ext cx="6059016" cy="232371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342900" indent="-342900">
                <a:buFont typeface="Wingdings" panose="05000000000000000000" pitchFamily="2" charset="2"/>
                <a:buChar char="Ø"/>
              </a:pPr>
              <a:r>
                <a:rPr lang="en-US" sz="2000" b="1" dirty="0">
                  <a:latin typeface="Arial" panose="020B0604020202020204" pitchFamily="34" charset="0"/>
                </a:rPr>
                <a:t>C2 Body </a:t>
              </a:r>
              <a:r>
                <a:rPr lang="en-US" sz="2000" dirty="0">
                  <a:latin typeface="Arial" panose="020B0604020202020204" pitchFamily="34" charset="0"/>
                </a:rPr>
                <a:t>= </a:t>
              </a:r>
              <a:r>
                <a:rPr lang="fr-BE" sz="2000" dirty="0">
                  <a:latin typeface="Arial" panose="020B0604020202020204" pitchFamily="34" charset="0"/>
                  <a:cs typeface="Arial" panose="020B0604020202020204" pitchFamily="34" charset="0"/>
                </a:rPr>
                <a:t>Répertoire dont le contenu nous fourni des informations sur l’</a:t>
              </a:r>
              <a:r>
                <a:rPr lang="fr-BE" sz="2000" b="1" u="sng" dirty="0">
                  <a:latin typeface="Arial" panose="020B0604020202020204" pitchFamily="34" charset="0"/>
                  <a:cs typeface="Arial" panose="020B0604020202020204" pitchFamily="34" charset="0"/>
                </a:rPr>
                <a:t>état d’un dossier</a:t>
              </a:r>
              <a:r>
                <a:rPr lang="fr-BE" sz="2000" dirty="0">
                  <a:latin typeface="Arial" panose="020B0604020202020204" pitchFamily="34" charset="0"/>
                  <a:cs typeface="Arial" panose="020B0604020202020204" pitchFamily="34" charset="0"/>
                </a:rPr>
                <a:t> tel qu’il est </a:t>
              </a:r>
              <a:r>
                <a:rPr lang="fr-BE" sz="2000" b="1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connu par le BC à partir un instant « T »</a:t>
              </a:r>
              <a:endParaRPr lang="en-US" sz="2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342900" indent="-342900">
                <a:spcBef>
                  <a:spcPts val="600"/>
                </a:spcBef>
                <a:buFont typeface="Wingdings" panose="05000000000000000000" pitchFamily="2" charset="2"/>
                <a:buChar char="Ø"/>
              </a:pPr>
              <a:r>
                <a:rPr lang="en-US" sz="2000" b="1" dirty="0">
                  <a:solidFill>
                    <a:srgbClr val="C00000"/>
                  </a:solidFill>
                  <a:latin typeface="Arial" panose="020B0604020202020204" pitchFamily="34" charset="0"/>
                </a:rPr>
                <a:t>Les C2Body </a:t>
              </a:r>
              <a:r>
                <a:rPr lang="en-US" sz="2000" b="1" dirty="0" err="1">
                  <a:solidFill>
                    <a:srgbClr val="C00000"/>
                  </a:solidFill>
                  <a:latin typeface="Arial" panose="020B0604020202020204" pitchFamily="34" charset="0"/>
                </a:rPr>
                <a:t>sont</a:t>
              </a:r>
              <a:r>
                <a:rPr lang="en-US" sz="2000" b="1" dirty="0">
                  <a:solidFill>
                    <a:srgbClr val="C00000"/>
                  </a:solidFill>
                  <a:latin typeface="Arial" panose="020B0604020202020204" pitchFamily="34" charset="0"/>
                </a:rPr>
                <a:t> </a:t>
              </a:r>
              <a:r>
                <a:rPr lang="en-US" sz="2000" b="1" dirty="0" err="1">
                  <a:solidFill>
                    <a:srgbClr val="C00000"/>
                  </a:solidFill>
                  <a:latin typeface="Arial" panose="020B0604020202020204" pitchFamily="34" charset="0"/>
                </a:rPr>
                <a:t>disponibles</a:t>
              </a:r>
              <a:r>
                <a:rPr lang="en-US" sz="2000" b="1" dirty="0">
                  <a:solidFill>
                    <a:srgbClr val="C00000"/>
                  </a:solidFill>
                  <a:latin typeface="Arial" panose="020B0604020202020204" pitchFamily="34" charset="0"/>
                </a:rPr>
                <a:t> à </a:t>
              </a:r>
              <a:r>
                <a:rPr lang="en-US" sz="2000" b="1" dirty="0" err="1">
                  <a:solidFill>
                    <a:srgbClr val="C00000"/>
                  </a:solidFill>
                  <a:latin typeface="Arial" panose="020B0604020202020204" pitchFamily="34" charset="0"/>
                </a:rPr>
                <a:t>partir</a:t>
              </a:r>
              <a:r>
                <a:rPr lang="en-US" sz="2000" b="1" dirty="0">
                  <a:solidFill>
                    <a:srgbClr val="C00000"/>
                  </a:solidFill>
                  <a:latin typeface="Arial" panose="020B0604020202020204" pitchFamily="34" charset="0"/>
                </a:rPr>
                <a:t> de la date de modification la plus </a:t>
              </a:r>
              <a:r>
                <a:rPr lang="en-US" sz="2000" b="1" dirty="0" err="1">
                  <a:solidFill>
                    <a:srgbClr val="C00000"/>
                  </a:solidFill>
                  <a:latin typeface="Arial" panose="020B0604020202020204" pitchFamily="34" charset="0"/>
                </a:rPr>
                <a:t>ancienne</a:t>
              </a:r>
              <a:r>
                <a:rPr lang="en-US" sz="2000" b="1" dirty="0">
                  <a:solidFill>
                    <a:srgbClr val="C00000"/>
                  </a:solidFill>
                  <a:latin typeface="Arial" panose="020B0604020202020204" pitchFamily="34" charset="0"/>
                </a:rPr>
                <a:t> (</a:t>
              </a:r>
              <a:r>
                <a:rPr lang="en-US" sz="2000" b="1" dirty="0" err="1">
                  <a:solidFill>
                    <a:srgbClr val="C00000"/>
                  </a:solidFill>
                  <a:latin typeface="Arial" panose="020B0604020202020204" pitchFamily="34" charset="0"/>
                </a:rPr>
                <a:t>même</a:t>
              </a:r>
              <a:r>
                <a:rPr lang="en-US" sz="2000" b="1" dirty="0">
                  <a:solidFill>
                    <a:srgbClr val="C00000"/>
                  </a:solidFill>
                  <a:latin typeface="Arial" panose="020B0604020202020204" pitchFamily="34" charset="0"/>
                </a:rPr>
                <a:t> </a:t>
              </a:r>
              <a:r>
                <a:rPr lang="en-US" sz="2000" b="1" dirty="0" err="1">
                  <a:solidFill>
                    <a:srgbClr val="C00000"/>
                  </a:solidFill>
                  <a:latin typeface="Arial" panose="020B0604020202020204" pitchFamily="34" charset="0"/>
                </a:rPr>
                <a:t>dans</a:t>
              </a:r>
              <a:r>
                <a:rPr lang="en-US" sz="2000" b="1" dirty="0">
                  <a:solidFill>
                    <a:srgbClr val="C00000"/>
                  </a:solidFill>
                  <a:latin typeface="Arial" panose="020B0604020202020204" pitchFamily="34" charset="0"/>
                </a:rPr>
                <a:t> le passé)</a:t>
              </a:r>
              <a:endParaRPr lang="en-US" sz="2000" b="1" dirty="0">
                <a:solidFill>
                  <a:srgbClr val="C00000"/>
                </a:solidFill>
              </a:endParaRPr>
            </a:p>
          </p:txBody>
        </p:sp>
        <p:pic>
          <p:nvPicPr>
            <p:cNvPr id="28" name="Image 27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740913" y="3583842"/>
              <a:ext cx="379027" cy="5302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08170434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Grp="1" noChangeArrowheads="1"/>
          </p:cNvSpPr>
          <p:nvPr>
            <p:ph type="title"/>
          </p:nvPr>
        </p:nvSpPr>
        <p:spPr>
          <a:xfrm>
            <a:off x="971600" y="-3930"/>
            <a:ext cx="7211144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>
            <a:defPPr>
              <a:defRPr lang="fr-FR"/>
            </a:defPPr>
            <a:lvl1pPr algn="ctr">
              <a:defRPr sz="2800" b="1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pPr marL="742950" indent="-742950">
              <a:buFont typeface="+mj-lt"/>
              <a:buAutoNum type="arabicPeriod" startAt="2"/>
            </a:pPr>
            <a:r>
              <a:rPr lang="fr-FR" altLang="fr-FR" sz="3600" dirty="0">
                <a:gradFill>
                  <a:gsLst>
                    <a:gs pos="0">
                      <a:srgbClr val="F79646">
                        <a:tint val="90000"/>
                        <a:satMod val="120000"/>
                      </a:srgbClr>
                    </a:gs>
                    <a:gs pos="25000">
                      <a:srgbClr val="F79646">
                        <a:tint val="93000"/>
                        <a:satMod val="120000"/>
                      </a:srgbClr>
                    </a:gs>
                    <a:gs pos="50000">
                      <a:srgbClr val="F79646">
                        <a:shade val="89000"/>
                        <a:satMod val="110000"/>
                      </a:srgbClr>
                    </a:gs>
                    <a:gs pos="75000">
                      <a:srgbClr val="F79646">
                        <a:tint val="93000"/>
                        <a:satMod val="120000"/>
                      </a:srgbClr>
                    </a:gs>
                    <a:gs pos="100000">
                      <a:srgbClr val="F79646">
                        <a:tint val="90000"/>
                        <a:satMod val="120000"/>
                      </a:srgbClr>
                    </a:gs>
                  </a:gsLst>
                  <a:lin ang="5400000"/>
                </a:gradFill>
              </a:rPr>
              <a:t>Structure de base la C2 </a:t>
            </a:r>
            <a:r>
              <a:rPr lang="fr-FR" altLang="fr-FR" sz="3600" dirty="0" err="1">
                <a:gradFill>
                  <a:gsLst>
                    <a:gs pos="0">
                      <a:srgbClr val="F79646">
                        <a:tint val="90000"/>
                        <a:satMod val="120000"/>
                      </a:srgbClr>
                    </a:gs>
                    <a:gs pos="25000">
                      <a:srgbClr val="F79646">
                        <a:tint val="93000"/>
                        <a:satMod val="120000"/>
                      </a:srgbClr>
                    </a:gs>
                    <a:gs pos="50000">
                      <a:srgbClr val="F79646">
                        <a:shade val="89000"/>
                        <a:satMod val="110000"/>
                      </a:srgbClr>
                    </a:gs>
                    <a:gs pos="75000">
                      <a:srgbClr val="F79646">
                        <a:tint val="93000"/>
                        <a:satMod val="120000"/>
                      </a:srgbClr>
                    </a:gs>
                    <a:gs pos="100000">
                      <a:srgbClr val="F79646">
                        <a:tint val="90000"/>
                        <a:satMod val="120000"/>
                      </a:srgbClr>
                    </a:gs>
                  </a:gsLst>
                  <a:lin ang="5400000"/>
                </a:gradFill>
              </a:rPr>
              <a:t>Xml</a:t>
            </a:r>
            <a:endParaRPr lang="fr-FR" altLang="fr-FR" sz="3600" dirty="0">
              <a:gradFill>
                <a:gsLst>
                  <a:gs pos="0">
                    <a:srgbClr val="F79646">
                      <a:tint val="90000"/>
                      <a:satMod val="120000"/>
                    </a:srgbClr>
                  </a:gs>
                  <a:gs pos="25000">
                    <a:srgbClr val="F79646">
                      <a:tint val="93000"/>
                      <a:satMod val="120000"/>
                    </a:srgbClr>
                  </a:gs>
                  <a:gs pos="50000">
                    <a:srgbClr val="F79646">
                      <a:shade val="89000"/>
                      <a:satMod val="110000"/>
                    </a:srgbClr>
                  </a:gs>
                  <a:gs pos="75000">
                    <a:srgbClr val="F79646">
                      <a:tint val="93000"/>
                      <a:satMod val="120000"/>
                    </a:srgbClr>
                  </a:gs>
                  <a:gs pos="100000">
                    <a:srgbClr val="F79646">
                      <a:tint val="90000"/>
                      <a:satMod val="120000"/>
                    </a:srgbClr>
                  </a:gs>
                </a:gsLst>
                <a:lin ang="5400000"/>
              </a:gra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8</a:t>
            </a:fld>
            <a:endParaRPr lang="fr-F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8" name="Rectangle 2"/>
          <p:cNvSpPr txBox="1">
            <a:spLocks noChangeArrowheads="1"/>
          </p:cNvSpPr>
          <p:nvPr/>
        </p:nvSpPr>
        <p:spPr>
          <a:xfrm>
            <a:off x="179512" y="1196752"/>
            <a:ext cx="7632848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>
            <a:defPPr>
              <a:defRPr lang="fr-FR"/>
            </a:defPPr>
            <a:lvl1pPr marL="342900" indent="-342900" algn="ctr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b="1" kern="120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Font typeface="Arial" pitchFamily="34" charset="0"/>
              <a:buNone/>
            </a:pPr>
            <a:r>
              <a:rPr lang="fr-FR" altLang="fr-FR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2.2. Les principaux répertoires secondaires</a:t>
            </a:r>
          </a:p>
        </p:txBody>
      </p:sp>
      <p:grpSp>
        <p:nvGrpSpPr>
          <p:cNvPr id="38" name="Groupe 37"/>
          <p:cNvGrpSpPr/>
          <p:nvPr/>
        </p:nvGrpSpPr>
        <p:grpSpPr>
          <a:xfrm>
            <a:off x="598422" y="4576463"/>
            <a:ext cx="7862010" cy="707886"/>
            <a:chOff x="674600" y="5517232"/>
            <a:chExt cx="7795159" cy="707886"/>
          </a:xfrm>
        </p:grpSpPr>
        <p:sp>
          <p:nvSpPr>
            <p:cNvPr id="39" name="Rectangle 38"/>
            <p:cNvSpPr/>
            <p:nvPr/>
          </p:nvSpPr>
          <p:spPr>
            <a:xfrm>
              <a:off x="1050943" y="5517232"/>
              <a:ext cx="7418816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000" i="1" dirty="0">
                  <a:solidFill>
                    <a:srgbClr val="0070C0"/>
                  </a:solidFill>
                  <a:latin typeface="Arial" panose="020B0604020202020204" pitchFamily="34" charset="0"/>
                </a:rPr>
                <a:t> S29_ActivationAllowanceOfEmployment - S29 Activation All. </a:t>
              </a:r>
              <a:r>
                <a:rPr lang="en-US" sz="2000" i="1" dirty="0" err="1">
                  <a:solidFill>
                    <a:srgbClr val="0070C0"/>
                  </a:solidFill>
                  <a:latin typeface="Arial" panose="020B0604020202020204" pitchFamily="34" charset="0"/>
                </a:rPr>
                <a:t>Chômage</a:t>
              </a:r>
              <a:endParaRPr lang="en-US" sz="2000" dirty="0"/>
            </a:p>
          </p:txBody>
        </p:sp>
        <p:pic>
          <p:nvPicPr>
            <p:cNvPr id="40" name="Image 39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675005" y="5539898"/>
              <a:ext cx="323190" cy="324000"/>
            </a:xfrm>
            <a:prstGeom prst="rect">
              <a:avLst/>
            </a:prstGeom>
          </p:spPr>
        </p:pic>
      </p:grpSp>
      <p:grpSp>
        <p:nvGrpSpPr>
          <p:cNvPr id="48" name="Groupe 47"/>
          <p:cNvGrpSpPr/>
          <p:nvPr/>
        </p:nvGrpSpPr>
        <p:grpSpPr>
          <a:xfrm>
            <a:off x="598422" y="1849450"/>
            <a:ext cx="3973578" cy="707886"/>
            <a:chOff x="598422" y="1849450"/>
            <a:chExt cx="3973578" cy="707886"/>
          </a:xfrm>
        </p:grpSpPr>
        <p:sp>
          <p:nvSpPr>
            <p:cNvPr id="43" name="Rectangle 42"/>
            <p:cNvSpPr/>
            <p:nvPr/>
          </p:nvSpPr>
          <p:spPr>
            <a:xfrm>
              <a:off x="926143" y="1849450"/>
              <a:ext cx="3645857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i="1" dirty="0">
                  <a:solidFill>
                    <a:srgbClr val="0070C0"/>
                  </a:solidFill>
                  <a:latin typeface="Arial" panose="020B0604020202020204" pitchFamily="34" charset="0"/>
                </a:rPr>
                <a:t>  </a:t>
              </a:r>
              <a:r>
                <a:rPr lang="en-US" sz="2000" i="1" dirty="0">
                  <a:solidFill>
                    <a:srgbClr val="0070C0"/>
                  </a:solidFill>
                  <a:latin typeface="Arial" panose="020B0604020202020204" pitchFamily="34" charset="0"/>
                </a:rPr>
                <a:t>Identification – Identification	</a:t>
              </a:r>
              <a:endParaRPr lang="en-US" sz="2000" dirty="0"/>
            </a:p>
          </p:txBody>
        </p:sp>
        <p:pic>
          <p:nvPicPr>
            <p:cNvPr id="44" name="Image 43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600217" y="1847656"/>
              <a:ext cx="323190" cy="326779"/>
            </a:xfrm>
            <a:prstGeom prst="rect">
              <a:avLst/>
            </a:prstGeom>
          </p:spPr>
        </p:pic>
      </p:grpSp>
      <p:grpSp>
        <p:nvGrpSpPr>
          <p:cNvPr id="52" name="Groupe 51"/>
          <p:cNvGrpSpPr/>
          <p:nvPr/>
        </p:nvGrpSpPr>
        <p:grpSpPr>
          <a:xfrm>
            <a:off x="598421" y="3937132"/>
            <a:ext cx="5149201" cy="707886"/>
            <a:chOff x="598421" y="3937132"/>
            <a:chExt cx="5149201" cy="707886"/>
          </a:xfrm>
        </p:grpSpPr>
        <p:sp>
          <p:nvSpPr>
            <p:cNvPr id="36" name="Rectangle 35"/>
            <p:cNvSpPr/>
            <p:nvPr/>
          </p:nvSpPr>
          <p:spPr>
            <a:xfrm>
              <a:off x="925201" y="3937132"/>
              <a:ext cx="4822421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000" i="1" dirty="0">
                  <a:solidFill>
                    <a:srgbClr val="0070C0"/>
                  </a:solidFill>
                  <a:latin typeface="Arial" panose="020B0604020202020204" pitchFamily="34" charset="0"/>
                </a:rPr>
                <a:t> </a:t>
              </a:r>
              <a:r>
                <a:rPr lang="en-US" sz="2000" i="1" dirty="0" err="1">
                  <a:solidFill>
                    <a:srgbClr val="0070C0"/>
                  </a:solidFill>
                  <a:latin typeface="Arial" panose="020B0604020202020204" pitchFamily="34" charset="0"/>
                </a:rPr>
                <a:t>OtherModules</a:t>
              </a:r>
              <a:r>
                <a:rPr lang="en-US" sz="2000" i="1" dirty="0">
                  <a:solidFill>
                    <a:srgbClr val="0070C0"/>
                  </a:solidFill>
                  <a:latin typeface="Arial" panose="020B0604020202020204" pitchFamily="34" charset="0"/>
                </a:rPr>
                <a:t> - </a:t>
              </a:r>
              <a:r>
                <a:rPr lang="en-US" sz="2000" i="1" dirty="0" err="1">
                  <a:solidFill>
                    <a:srgbClr val="0070C0"/>
                  </a:solidFill>
                  <a:latin typeface="Arial" panose="020B0604020202020204" pitchFamily="34" charset="0"/>
                </a:rPr>
                <a:t>Autres</a:t>
              </a:r>
              <a:r>
                <a:rPr lang="en-US" sz="2000" i="1" dirty="0">
                  <a:solidFill>
                    <a:srgbClr val="0070C0"/>
                  </a:solidFill>
                  <a:latin typeface="Arial" panose="020B0604020202020204" pitchFamily="34" charset="0"/>
                </a:rPr>
                <a:t> Modules</a:t>
              </a:r>
              <a:endParaRPr lang="en-US" sz="2000" dirty="0"/>
            </a:p>
          </p:txBody>
        </p:sp>
        <p:pic>
          <p:nvPicPr>
            <p:cNvPr id="45" name="Image 44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600216" y="3935338"/>
              <a:ext cx="323190" cy="326779"/>
            </a:xfrm>
            <a:prstGeom prst="rect">
              <a:avLst/>
            </a:prstGeom>
          </p:spPr>
        </p:pic>
      </p:grpSp>
      <p:grpSp>
        <p:nvGrpSpPr>
          <p:cNvPr id="51" name="Groupe 50"/>
          <p:cNvGrpSpPr/>
          <p:nvPr/>
        </p:nvGrpSpPr>
        <p:grpSpPr>
          <a:xfrm>
            <a:off x="602458" y="3202178"/>
            <a:ext cx="6764887" cy="677108"/>
            <a:chOff x="602458" y="3202178"/>
            <a:chExt cx="6764887" cy="677108"/>
          </a:xfrm>
        </p:grpSpPr>
        <p:sp>
          <p:nvSpPr>
            <p:cNvPr id="33" name="Rectangle 32"/>
            <p:cNvSpPr/>
            <p:nvPr/>
          </p:nvSpPr>
          <p:spPr>
            <a:xfrm>
              <a:off x="925201" y="3202178"/>
              <a:ext cx="6442144" cy="67710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i="1" dirty="0">
                  <a:solidFill>
                    <a:srgbClr val="0070C0"/>
                  </a:solidFill>
                  <a:latin typeface="Arial" panose="020B0604020202020204" pitchFamily="34" charset="0"/>
                </a:rPr>
                <a:t> S36_OtherPayment - S36 </a:t>
              </a:r>
              <a:r>
                <a:rPr lang="en-US" i="1" dirty="0" err="1">
                  <a:solidFill>
                    <a:srgbClr val="0070C0"/>
                  </a:solidFill>
                  <a:latin typeface="Arial" panose="020B0604020202020204" pitchFamily="34" charset="0"/>
                </a:rPr>
                <a:t>Autre</a:t>
              </a:r>
              <a:r>
                <a:rPr lang="en-US" i="1" dirty="0">
                  <a:solidFill>
                    <a:srgbClr val="0070C0"/>
                  </a:solidFill>
                  <a:latin typeface="Arial" panose="020B0604020202020204" pitchFamily="34" charset="0"/>
                </a:rPr>
                <a:t> </a:t>
              </a:r>
              <a:r>
                <a:rPr lang="en-US" sz="2000" i="1" dirty="0" err="1">
                  <a:solidFill>
                    <a:srgbClr val="0070C0"/>
                  </a:solidFill>
                  <a:latin typeface="Arial" panose="020B0604020202020204" pitchFamily="34" charset="0"/>
                </a:rPr>
                <a:t>Indemnisation</a:t>
              </a:r>
              <a:r>
                <a:rPr lang="en-US" dirty="0"/>
                <a:t> </a:t>
              </a:r>
            </a:p>
          </p:txBody>
        </p:sp>
        <p:pic>
          <p:nvPicPr>
            <p:cNvPr id="46" name="Image 45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604253" y="3250874"/>
              <a:ext cx="323190" cy="326779"/>
            </a:xfrm>
            <a:prstGeom prst="rect">
              <a:avLst/>
            </a:prstGeom>
          </p:spPr>
        </p:pic>
      </p:grpSp>
      <p:grpSp>
        <p:nvGrpSpPr>
          <p:cNvPr id="50" name="Groupe 49"/>
          <p:cNvGrpSpPr/>
          <p:nvPr/>
        </p:nvGrpSpPr>
        <p:grpSpPr>
          <a:xfrm>
            <a:off x="598421" y="2537070"/>
            <a:ext cx="5704279" cy="707886"/>
            <a:chOff x="598421" y="2537070"/>
            <a:chExt cx="5704279" cy="707886"/>
          </a:xfrm>
        </p:grpSpPr>
        <p:sp>
          <p:nvSpPr>
            <p:cNvPr id="31" name="Rectangle 30"/>
            <p:cNvSpPr/>
            <p:nvPr/>
          </p:nvSpPr>
          <p:spPr>
            <a:xfrm>
              <a:off x="925201" y="2537070"/>
              <a:ext cx="5377499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000" i="1" dirty="0">
                  <a:solidFill>
                    <a:srgbClr val="0070C0"/>
                  </a:solidFill>
                  <a:latin typeface="Arial" panose="020B0604020202020204" pitchFamily="34" charset="0"/>
                </a:rPr>
                <a:t> S04_Admissibility - S04 </a:t>
              </a:r>
              <a:r>
                <a:rPr lang="en-US" sz="2000" i="1" dirty="0" err="1">
                  <a:solidFill>
                    <a:srgbClr val="0070C0"/>
                  </a:solidFill>
                  <a:latin typeface="Arial" panose="020B0604020202020204" pitchFamily="34" charset="0"/>
                </a:rPr>
                <a:t>Admissibilité</a:t>
              </a:r>
              <a:endParaRPr lang="en-US" sz="2000" dirty="0"/>
            </a:p>
          </p:txBody>
        </p:sp>
        <p:pic>
          <p:nvPicPr>
            <p:cNvPr id="47" name="Image 46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600216" y="2568637"/>
              <a:ext cx="323190" cy="326779"/>
            </a:xfrm>
            <a:prstGeom prst="rect">
              <a:avLst/>
            </a:prstGeom>
          </p:spPr>
        </p:pic>
      </p:grpSp>
      <p:sp>
        <p:nvSpPr>
          <p:cNvPr id="49" name="ZoneTexte 48"/>
          <p:cNvSpPr txBox="1"/>
          <p:nvPr/>
        </p:nvSpPr>
        <p:spPr>
          <a:xfrm>
            <a:off x="4502500" y="1843656"/>
            <a:ext cx="3600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>
                <a:solidFill>
                  <a:srgbClr val="C00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 </a:t>
            </a:r>
            <a:r>
              <a:rPr lang="en-US" sz="2000" i="1" dirty="0" err="1">
                <a:solidFill>
                  <a:srgbClr val="C00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Repris</a:t>
            </a:r>
            <a:r>
              <a:rPr lang="en-US" sz="2000" i="1" dirty="0">
                <a:solidFill>
                  <a:srgbClr val="C00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2000" i="1" dirty="0" err="1">
                <a:solidFill>
                  <a:srgbClr val="C00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dans</a:t>
            </a:r>
            <a:r>
              <a:rPr lang="en-US" sz="2000" i="1" dirty="0">
                <a:solidFill>
                  <a:srgbClr val="C00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 S24 _DataC9</a:t>
            </a:r>
            <a:endParaRPr lang="fr-BE" sz="2000" dirty="0"/>
          </a:p>
        </p:txBody>
      </p:sp>
      <p:grpSp>
        <p:nvGrpSpPr>
          <p:cNvPr id="57" name="Groupe 56"/>
          <p:cNvGrpSpPr/>
          <p:nvPr/>
        </p:nvGrpSpPr>
        <p:grpSpPr>
          <a:xfrm>
            <a:off x="179512" y="2459783"/>
            <a:ext cx="8003232" cy="4170058"/>
            <a:chOff x="179512" y="2420888"/>
            <a:chExt cx="8003232" cy="4170058"/>
          </a:xfrm>
        </p:grpSpPr>
        <p:sp>
          <p:nvSpPr>
            <p:cNvPr id="53" name="Rectangle à coins arrondis 52"/>
            <p:cNvSpPr/>
            <p:nvPr/>
          </p:nvSpPr>
          <p:spPr>
            <a:xfrm>
              <a:off x="179512" y="2420888"/>
              <a:ext cx="8003232" cy="3456384"/>
            </a:xfrm>
            <a:prstGeom prst="round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/>
            </a:p>
          </p:txBody>
        </p:sp>
        <p:sp>
          <p:nvSpPr>
            <p:cNvPr id="54" name="Flèche à angle droit 53"/>
            <p:cNvSpPr/>
            <p:nvPr/>
          </p:nvSpPr>
          <p:spPr>
            <a:xfrm rot="5400000">
              <a:off x="1122400" y="5903289"/>
              <a:ext cx="648072" cy="661640"/>
            </a:xfrm>
            <a:prstGeom prst="bentUpArrow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/>
            </a:p>
          </p:txBody>
        </p:sp>
        <p:sp>
          <p:nvSpPr>
            <p:cNvPr id="56" name="ZoneTexte 55"/>
            <p:cNvSpPr txBox="1"/>
            <p:nvPr/>
          </p:nvSpPr>
          <p:spPr>
            <a:xfrm>
              <a:off x="1777256" y="6190836"/>
              <a:ext cx="518457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BE" sz="20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Repris dans C2 Body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74414771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4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6553200" y="6221626"/>
            <a:ext cx="2133600" cy="365125"/>
          </a:xfrm>
        </p:spPr>
        <p:txBody>
          <a:bodyPr/>
          <a:lstStyle/>
          <a:p>
            <a:fld id="{55E9056B-6A30-4F99-BDE9-C450E66AE125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9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971600" y="-3930"/>
            <a:ext cx="7211144" cy="5539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>
            <a:defPPr>
              <a:defRPr lang="fr-FR"/>
            </a:defPPr>
            <a:lvl1pPr algn="ctr" defTabSz="914400" rtl="0" eaLnBrk="1" latinLnBrk="0" hangingPunct="1">
              <a:spcBef>
                <a:spcPct val="0"/>
              </a:spcBef>
              <a:buNone/>
              <a:defRPr sz="2800" b="1" kern="120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marL="742950" indent="-742950">
              <a:buFont typeface="+mj-lt"/>
              <a:buAutoNum type="arabicPeriod" startAt="2"/>
            </a:pPr>
            <a:r>
              <a:rPr lang="fr-FR" altLang="fr-FR" sz="3600" dirty="0">
                <a:gradFill>
                  <a:gsLst>
                    <a:gs pos="0">
                      <a:srgbClr val="F79646">
                        <a:tint val="90000"/>
                        <a:satMod val="120000"/>
                      </a:srgbClr>
                    </a:gs>
                    <a:gs pos="25000">
                      <a:srgbClr val="F79646">
                        <a:tint val="93000"/>
                        <a:satMod val="120000"/>
                      </a:srgbClr>
                    </a:gs>
                    <a:gs pos="50000">
                      <a:srgbClr val="F79646">
                        <a:shade val="89000"/>
                        <a:satMod val="110000"/>
                      </a:srgbClr>
                    </a:gs>
                    <a:gs pos="75000">
                      <a:srgbClr val="F79646">
                        <a:tint val="93000"/>
                        <a:satMod val="120000"/>
                      </a:srgbClr>
                    </a:gs>
                    <a:gs pos="100000">
                      <a:srgbClr val="F79646">
                        <a:tint val="90000"/>
                        <a:satMod val="120000"/>
                      </a:srgbClr>
                    </a:gs>
                  </a:gsLst>
                  <a:lin ang="5400000"/>
                </a:gradFill>
              </a:rPr>
              <a:t>Structure de base de la C2XML 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255690" y="476672"/>
            <a:ext cx="8060726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>
            <a:defPPr>
              <a:defRPr lang="fr-FR"/>
            </a:defPPr>
            <a:lvl1pPr marL="342900" indent="-342900" algn="ctr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b="1" kern="120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Font typeface="Arial" pitchFamily="34" charset="0"/>
              <a:buNone/>
            </a:pPr>
            <a:r>
              <a:rPr lang="fr-FR" altLang="fr-FR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2.3. Quelques exemples de sous-répertoires </a:t>
            </a:r>
          </a:p>
        </p:txBody>
      </p:sp>
      <p:grpSp>
        <p:nvGrpSpPr>
          <p:cNvPr id="7" name="Groupe 6"/>
          <p:cNvGrpSpPr/>
          <p:nvPr/>
        </p:nvGrpSpPr>
        <p:grpSpPr>
          <a:xfrm>
            <a:off x="674600" y="1696758"/>
            <a:ext cx="4415020" cy="369332"/>
            <a:chOff x="674600" y="3416039"/>
            <a:chExt cx="4415020" cy="369332"/>
          </a:xfrm>
        </p:grpSpPr>
        <p:pic>
          <p:nvPicPr>
            <p:cNvPr id="8" name="Image 7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675005" y="3438705"/>
              <a:ext cx="323190" cy="324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1050943" y="3416039"/>
              <a:ext cx="4038677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i="1" dirty="0">
                  <a:solidFill>
                    <a:srgbClr val="0070C0"/>
                  </a:solidFill>
                  <a:latin typeface="Arial" panose="020B0604020202020204" pitchFamily="34" charset="0"/>
                </a:rPr>
                <a:t> S04_Admissibility - S04 </a:t>
              </a:r>
              <a:r>
                <a:rPr lang="en-US" i="1" dirty="0" err="1">
                  <a:solidFill>
                    <a:srgbClr val="0070C0"/>
                  </a:solidFill>
                  <a:latin typeface="Arial" panose="020B0604020202020204" pitchFamily="34" charset="0"/>
                </a:rPr>
                <a:t>Admissibilité</a:t>
              </a:r>
              <a:endParaRPr lang="en-US" dirty="0"/>
            </a:p>
          </p:txBody>
        </p:sp>
      </p:grpSp>
      <p:grpSp>
        <p:nvGrpSpPr>
          <p:cNvPr id="10" name="Groupe 9"/>
          <p:cNvGrpSpPr/>
          <p:nvPr/>
        </p:nvGrpSpPr>
        <p:grpSpPr>
          <a:xfrm>
            <a:off x="670183" y="3275004"/>
            <a:ext cx="5388019" cy="369332"/>
            <a:chOff x="674600" y="4149080"/>
            <a:chExt cx="5388019" cy="369332"/>
          </a:xfrm>
        </p:grpSpPr>
        <p:sp>
          <p:nvSpPr>
            <p:cNvPr id="11" name="Rectangle 10"/>
            <p:cNvSpPr/>
            <p:nvPr/>
          </p:nvSpPr>
          <p:spPr>
            <a:xfrm>
              <a:off x="1050943" y="4149080"/>
              <a:ext cx="5011676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i="1" dirty="0">
                  <a:solidFill>
                    <a:srgbClr val="0070C0"/>
                  </a:solidFill>
                  <a:latin typeface="Arial" panose="020B0604020202020204" pitchFamily="34" charset="0"/>
                </a:rPr>
                <a:t> S36_OtherPayment - S36 </a:t>
              </a:r>
              <a:r>
                <a:rPr lang="en-US" i="1" dirty="0" err="1">
                  <a:solidFill>
                    <a:srgbClr val="0070C0"/>
                  </a:solidFill>
                  <a:latin typeface="Arial" panose="020B0604020202020204" pitchFamily="34" charset="0"/>
                </a:rPr>
                <a:t>Autre</a:t>
              </a:r>
              <a:r>
                <a:rPr lang="en-US" i="1" dirty="0">
                  <a:solidFill>
                    <a:srgbClr val="0070C0"/>
                  </a:solidFill>
                  <a:latin typeface="Arial" panose="020B0604020202020204" pitchFamily="34" charset="0"/>
                </a:rPr>
                <a:t> </a:t>
              </a:r>
              <a:r>
                <a:rPr lang="en-US" i="1" dirty="0" err="1">
                  <a:solidFill>
                    <a:srgbClr val="0070C0"/>
                  </a:solidFill>
                  <a:latin typeface="Arial" panose="020B0604020202020204" pitchFamily="34" charset="0"/>
                </a:rPr>
                <a:t>Indemnisation</a:t>
              </a:r>
              <a:r>
                <a:rPr lang="en-US" dirty="0"/>
                <a:t> </a:t>
              </a:r>
            </a:p>
          </p:txBody>
        </p:sp>
        <p:pic>
          <p:nvPicPr>
            <p:cNvPr id="12" name="Image 11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675005" y="4172656"/>
              <a:ext cx="323190" cy="324000"/>
            </a:xfrm>
            <a:prstGeom prst="rect">
              <a:avLst/>
            </a:prstGeom>
          </p:spPr>
        </p:pic>
      </p:grpSp>
      <p:grpSp>
        <p:nvGrpSpPr>
          <p:cNvPr id="13" name="Groupe 12"/>
          <p:cNvGrpSpPr/>
          <p:nvPr/>
        </p:nvGrpSpPr>
        <p:grpSpPr>
          <a:xfrm>
            <a:off x="670183" y="4067092"/>
            <a:ext cx="3871149" cy="369332"/>
            <a:chOff x="674600" y="4797152"/>
            <a:chExt cx="3871149" cy="369332"/>
          </a:xfrm>
        </p:grpSpPr>
        <p:sp>
          <p:nvSpPr>
            <p:cNvPr id="14" name="Rectangle 13"/>
            <p:cNvSpPr/>
            <p:nvPr/>
          </p:nvSpPr>
          <p:spPr>
            <a:xfrm>
              <a:off x="1050943" y="4797152"/>
              <a:ext cx="3494806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i="1" dirty="0">
                  <a:solidFill>
                    <a:srgbClr val="0070C0"/>
                  </a:solidFill>
                  <a:latin typeface="Arial" panose="020B0604020202020204" pitchFamily="34" charset="0"/>
                </a:rPr>
                <a:t> </a:t>
              </a:r>
              <a:r>
                <a:rPr lang="en-US" i="1" dirty="0" err="1">
                  <a:solidFill>
                    <a:srgbClr val="0070C0"/>
                  </a:solidFill>
                  <a:latin typeface="Arial" panose="020B0604020202020204" pitchFamily="34" charset="0"/>
                </a:rPr>
                <a:t>OtherModules</a:t>
              </a:r>
              <a:r>
                <a:rPr lang="en-US" i="1" dirty="0">
                  <a:solidFill>
                    <a:srgbClr val="0070C0"/>
                  </a:solidFill>
                  <a:latin typeface="Arial" panose="020B0604020202020204" pitchFamily="34" charset="0"/>
                </a:rPr>
                <a:t> - </a:t>
              </a:r>
              <a:r>
                <a:rPr lang="en-US" i="1" dirty="0" err="1">
                  <a:solidFill>
                    <a:srgbClr val="0070C0"/>
                  </a:solidFill>
                  <a:latin typeface="Arial" panose="020B0604020202020204" pitchFamily="34" charset="0"/>
                </a:rPr>
                <a:t>Autres</a:t>
              </a:r>
              <a:r>
                <a:rPr lang="en-US" i="1" dirty="0">
                  <a:solidFill>
                    <a:srgbClr val="0070C0"/>
                  </a:solidFill>
                  <a:latin typeface="Arial" panose="020B0604020202020204" pitchFamily="34" charset="0"/>
                </a:rPr>
                <a:t> Modules</a:t>
              </a:r>
              <a:endParaRPr lang="en-US" dirty="0"/>
            </a:p>
          </p:txBody>
        </p:sp>
        <p:pic>
          <p:nvPicPr>
            <p:cNvPr id="15" name="Image 14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675005" y="4813954"/>
              <a:ext cx="323190" cy="324000"/>
            </a:xfrm>
            <a:prstGeom prst="rect">
              <a:avLst/>
            </a:prstGeom>
          </p:spPr>
        </p:pic>
      </p:grpSp>
      <p:grpSp>
        <p:nvGrpSpPr>
          <p:cNvPr id="16" name="Groupe 15"/>
          <p:cNvGrpSpPr/>
          <p:nvPr/>
        </p:nvGrpSpPr>
        <p:grpSpPr>
          <a:xfrm>
            <a:off x="684039" y="5550071"/>
            <a:ext cx="7795159" cy="369332"/>
            <a:chOff x="674600" y="5517232"/>
            <a:chExt cx="7795159" cy="369332"/>
          </a:xfrm>
        </p:grpSpPr>
        <p:sp>
          <p:nvSpPr>
            <p:cNvPr id="17" name="Rectangle 16"/>
            <p:cNvSpPr/>
            <p:nvPr/>
          </p:nvSpPr>
          <p:spPr>
            <a:xfrm>
              <a:off x="1050943" y="5517232"/>
              <a:ext cx="7418816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i="1" dirty="0">
                  <a:solidFill>
                    <a:srgbClr val="0070C0"/>
                  </a:solidFill>
                  <a:latin typeface="Arial" panose="020B0604020202020204" pitchFamily="34" charset="0"/>
                </a:rPr>
                <a:t> S29_ActivationAllowanceOfEmployment - S29 Activation All. </a:t>
              </a:r>
              <a:r>
                <a:rPr lang="en-US" i="1" dirty="0" err="1">
                  <a:solidFill>
                    <a:srgbClr val="0070C0"/>
                  </a:solidFill>
                  <a:latin typeface="Arial" panose="020B0604020202020204" pitchFamily="34" charset="0"/>
                </a:rPr>
                <a:t>Chômage</a:t>
              </a:r>
              <a:endParaRPr lang="en-US" dirty="0"/>
            </a:p>
          </p:txBody>
        </p:sp>
        <p:pic>
          <p:nvPicPr>
            <p:cNvPr id="18" name="Image 17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675005" y="5539898"/>
              <a:ext cx="323190" cy="324000"/>
            </a:xfrm>
            <a:prstGeom prst="rect">
              <a:avLst/>
            </a:prstGeom>
          </p:spPr>
        </p:pic>
      </p:grpSp>
      <p:grpSp>
        <p:nvGrpSpPr>
          <p:cNvPr id="39" name="Groupe 38"/>
          <p:cNvGrpSpPr/>
          <p:nvPr/>
        </p:nvGrpSpPr>
        <p:grpSpPr>
          <a:xfrm>
            <a:off x="1211091" y="1974902"/>
            <a:ext cx="4493291" cy="369332"/>
            <a:chOff x="1211091" y="1690920"/>
            <a:chExt cx="4493291" cy="369332"/>
          </a:xfrm>
        </p:grpSpPr>
        <p:pic>
          <p:nvPicPr>
            <p:cNvPr id="19" name="Image 18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1091" y="1754088"/>
              <a:ext cx="278325" cy="252000"/>
            </a:xfrm>
            <a:prstGeom prst="rect">
              <a:avLst/>
            </a:prstGeom>
          </p:spPr>
        </p:pic>
        <p:sp>
          <p:nvSpPr>
            <p:cNvPr id="29" name="Rectangle 28"/>
            <p:cNvSpPr/>
            <p:nvPr/>
          </p:nvSpPr>
          <p:spPr>
            <a:xfrm>
              <a:off x="1546174" y="1690920"/>
              <a:ext cx="4158208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s-ES" dirty="0">
                  <a:solidFill>
                    <a:srgbClr val="000000"/>
                  </a:solidFill>
                  <a:latin typeface="Arial" panose="020B0604020202020204" pitchFamily="34" charset="0"/>
                </a:rPr>
                <a:t> RubricOfScaleS04 - Rubrique </a:t>
              </a:r>
              <a:r>
                <a:rPr lang="es-ES" dirty="0" err="1">
                  <a:solidFill>
                    <a:srgbClr val="000000"/>
                  </a:solidFill>
                  <a:latin typeface="Arial" panose="020B0604020202020204" pitchFamily="34" charset="0"/>
                </a:rPr>
                <a:t>Barème</a:t>
              </a:r>
              <a:endParaRPr lang="en-US" dirty="0"/>
            </a:p>
          </p:txBody>
        </p:sp>
      </p:grpSp>
      <p:grpSp>
        <p:nvGrpSpPr>
          <p:cNvPr id="40" name="Groupe 39"/>
          <p:cNvGrpSpPr/>
          <p:nvPr/>
        </p:nvGrpSpPr>
        <p:grpSpPr>
          <a:xfrm>
            <a:off x="1211091" y="2384884"/>
            <a:ext cx="5933451" cy="369332"/>
            <a:chOff x="1211091" y="2100902"/>
            <a:chExt cx="5933451" cy="369332"/>
          </a:xfrm>
        </p:grpSpPr>
        <p:pic>
          <p:nvPicPr>
            <p:cNvPr id="20" name="Image 19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1091" y="2162181"/>
              <a:ext cx="278325" cy="252000"/>
            </a:xfrm>
            <a:prstGeom prst="rect">
              <a:avLst/>
            </a:prstGeom>
          </p:spPr>
        </p:pic>
        <p:sp>
          <p:nvSpPr>
            <p:cNvPr id="30" name="Rectangle 29"/>
            <p:cNvSpPr/>
            <p:nvPr/>
          </p:nvSpPr>
          <p:spPr>
            <a:xfrm>
              <a:off x="1546174" y="2100902"/>
              <a:ext cx="5598368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nl-NL" dirty="0">
                  <a:solidFill>
                    <a:srgbClr val="000000"/>
                  </a:solidFill>
                  <a:latin typeface="Arial" panose="020B0604020202020204" pitchFamily="34" charset="0"/>
                </a:rPr>
                <a:t> S07_DataOfEmployment - S07 </a:t>
              </a:r>
              <a:r>
                <a:rPr lang="nl-NL" dirty="0" err="1">
                  <a:solidFill>
                    <a:srgbClr val="000000"/>
                  </a:solidFill>
                  <a:latin typeface="Arial" panose="020B0604020202020204" pitchFamily="34" charset="0"/>
                </a:rPr>
                <a:t>Données</a:t>
              </a:r>
              <a:r>
                <a:rPr lang="nl-NL" dirty="0">
                  <a:solidFill>
                    <a:srgbClr val="000000"/>
                  </a:solidFill>
                  <a:latin typeface="Arial" panose="020B0604020202020204" pitchFamily="34" charset="0"/>
                </a:rPr>
                <a:t> de </a:t>
              </a:r>
              <a:r>
                <a:rPr lang="nl-NL" dirty="0" err="1">
                  <a:solidFill>
                    <a:srgbClr val="000000"/>
                  </a:solidFill>
                  <a:latin typeface="Arial" panose="020B0604020202020204" pitchFamily="34" charset="0"/>
                </a:rPr>
                <a:t>l’Emploi</a:t>
              </a:r>
              <a:endParaRPr lang="en-US" dirty="0"/>
            </a:p>
          </p:txBody>
        </p:sp>
      </p:grpSp>
      <p:grpSp>
        <p:nvGrpSpPr>
          <p:cNvPr id="42" name="Groupe 41"/>
          <p:cNvGrpSpPr/>
          <p:nvPr/>
        </p:nvGrpSpPr>
        <p:grpSpPr>
          <a:xfrm>
            <a:off x="1206674" y="2782462"/>
            <a:ext cx="6077467" cy="369332"/>
            <a:chOff x="1211091" y="2919702"/>
            <a:chExt cx="6077467" cy="369332"/>
          </a:xfrm>
        </p:grpSpPr>
        <p:pic>
          <p:nvPicPr>
            <p:cNvPr id="22" name="Image 2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1091" y="2978368"/>
              <a:ext cx="278325" cy="252000"/>
            </a:xfrm>
            <a:prstGeom prst="rect">
              <a:avLst/>
            </a:prstGeom>
          </p:spPr>
        </p:pic>
        <p:sp>
          <p:nvSpPr>
            <p:cNvPr id="33" name="Rectangle 32"/>
            <p:cNvSpPr/>
            <p:nvPr/>
          </p:nvSpPr>
          <p:spPr>
            <a:xfrm>
              <a:off x="1546174" y="2919702"/>
              <a:ext cx="5742384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solidFill>
                    <a:srgbClr val="000000"/>
                  </a:solidFill>
                  <a:latin typeface="Arial" panose="020B0604020202020204" pitchFamily="34" charset="0"/>
                </a:rPr>
                <a:t> S10_SanctionSuspension - S10 Sanction Suspension</a:t>
              </a:r>
              <a:r>
                <a:rPr lang="en-US" dirty="0"/>
                <a:t> </a:t>
              </a:r>
            </a:p>
          </p:txBody>
        </p:sp>
      </p:grpSp>
      <p:grpSp>
        <p:nvGrpSpPr>
          <p:cNvPr id="43" name="Groupe 42"/>
          <p:cNvGrpSpPr/>
          <p:nvPr/>
        </p:nvGrpSpPr>
        <p:grpSpPr>
          <a:xfrm>
            <a:off x="1206674" y="3563036"/>
            <a:ext cx="4508020" cy="369332"/>
            <a:chOff x="1211091" y="3789040"/>
            <a:chExt cx="4508020" cy="369332"/>
          </a:xfrm>
        </p:grpSpPr>
        <p:pic>
          <p:nvPicPr>
            <p:cNvPr id="26" name="Image 25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1091" y="3847706"/>
              <a:ext cx="278325" cy="252000"/>
            </a:xfrm>
            <a:prstGeom prst="rect">
              <a:avLst/>
            </a:prstGeom>
          </p:spPr>
        </p:pic>
        <p:sp>
          <p:nvSpPr>
            <p:cNvPr id="34" name="Rectangle 33"/>
            <p:cNvSpPr/>
            <p:nvPr/>
          </p:nvSpPr>
          <p:spPr>
            <a:xfrm>
              <a:off x="1546174" y="3789040"/>
              <a:ext cx="417293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dirty="0">
                  <a:solidFill>
                    <a:srgbClr val="000000"/>
                  </a:solidFill>
                  <a:latin typeface="Arial" panose="020B0604020202020204" pitchFamily="34" charset="0"/>
                </a:rPr>
                <a:t>RubricOfComplS36 - Rubrique Compl. </a:t>
              </a:r>
              <a:endParaRPr lang="en-US" dirty="0"/>
            </a:p>
          </p:txBody>
        </p:sp>
      </p:grpSp>
      <p:grpSp>
        <p:nvGrpSpPr>
          <p:cNvPr id="44" name="Groupe 43"/>
          <p:cNvGrpSpPr/>
          <p:nvPr/>
        </p:nvGrpSpPr>
        <p:grpSpPr>
          <a:xfrm>
            <a:off x="1206674" y="4316052"/>
            <a:ext cx="6455763" cy="369332"/>
            <a:chOff x="1211091" y="4527198"/>
            <a:chExt cx="6455763" cy="369332"/>
          </a:xfrm>
        </p:grpSpPr>
        <p:pic>
          <p:nvPicPr>
            <p:cNvPr id="24" name="Image 23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1091" y="4581272"/>
              <a:ext cx="278325" cy="252000"/>
            </a:xfrm>
            <a:prstGeom prst="rect">
              <a:avLst/>
            </a:prstGeom>
          </p:spPr>
        </p:pic>
        <p:sp>
          <p:nvSpPr>
            <p:cNvPr id="35" name="Rectangle 34"/>
            <p:cNvSpPr/>
            <p:nvPr/>
          </p:nvSpPr>
          <p:spPr>
            <a:xfrm>
              <a:off x="1546174" y="4527198"/>
              <a:ext cx="612068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solidFill>
                    <a:srgbClr val="000000"/>
                  </a:solidFill>
                  <a:latin typeface="Arial" panose="020B0604020202020204" pitchFamily="34" charset="0"/>
                </a:rPr>
                <a:t> </a:t>
              </a:r>
              <a:r>
                <a:rPr lang="fr-BE" dirty="0">
                  <a:latin typeface="Arial" panose="020B0604020202020204" pitchFamily="34" charset="0"/>
                  <a:cs typeface="Arial" panose="020B0604020202020204" pitchFamily="34" charset="0"/>
                </a:rPr>
                <a:t>S02_Exemption - S02 Dispense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5" name="Groupe 44"/>
          <p:cNvGrpSpPr/>
          <p:nvPr/>
        </p:nvGrpSpPr>
        <p:grpSpPr>
          <a:xfrm>
            <a:off x="1220530" y="5815984"/>
            <a:ext cx="5158131" cy="369332"/>
            <a:chOff x="1211091" y="5375309"/>
            <a:chExt cx="5158131" cy="369332"/>
          </a:xfrm>
        </p:grpSpPr>
        <p:pic>
          <p:nvPicPr>
            <p:cNvPr id="27" name="Image 26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1091" y="5436412"/>
              <a:ext cx="278325" cy="252000"/>
            </a:xfrm>
            <a:prstGeom prst="rect">
              <a:avLst/>
            </a:prstGeom>
          </p:spPr>
        </p:pic>
        <p:sp>
          <p:nvSpPr>
            <p:cNvPr id="36" name="Rectangle 35"/>
            <p:cNvSpPr/>
            <p:nvPr/>
          </p:nvSpPr>
          <p:spPr>
            <a:xfrm>
              <a:off x="1546174" y="5375309"/>
              <a:ext cx="4823048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pt-BR" dirty="0">
                  <a:solidFill>
                    <a:srgbClr val="000000"/>
                  </a:solidFill>
                  <a:latin typeface="Arial" panose="020B0604020202020204" pitchFamily="34" charset="0"/>
                </a:rPr>
                <a:t> RubricOfScaleS29 - Rubrique Barème S29</a:t>
              </a:r>
              <a:endParaRPr lang="en-US" dirty="0"/>
            </a:p>
          </p:txBody>
        </p:sp>
      </p:grpSp>
      <p:grpSp>
        <p:nvGrpSpPr>
          <p:cNvPr id="46" name="Groupe 45"/>
          <p:cNvGrpSpPr/>
          <p:nvPr/>
        </p:nvGrpSpPr>
        <p:grpSpPr>
          <a:xfrm>
            <a:off x="1220530" y="6187083"/>
            <a:ext cx="5794702" cy="369332"/>
            <a:chOff x="1211091" y="5810935"/>
            <a:chExt cx="5794702" cy="369332"/>
          </a:xfrm>
        </p:grpSpPr>
        <p:pic>
          <p:nvPicPr>
            <p:cNvPr id="25" name="Image 2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1091" y="5870820"/>
              <a:ext cx="278325" cy="252000"/>
            </a:xfrm>
            <a:prstGeom prst="rect">
              <a:avLst/>
            </a:prstGeom>
          </p:spPr>
        </p:pic>
        <p:sp>
          <p:nvSpPr>
            <p:cNvPr id="37" name="Rectangle 36"/>
            <p:cNvSpPr/>
            <p:nvPr/>
          </p:nvSpPr>
          <p:spPr>
            <a:xfrm>
              <a:off x="1546174" y="5810935"/>
              <a:ext cx="5459619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nl-NL" dirty="0">
                  <a:solidFill>
                    <a:srgbClr val="000000"/>
                  </a:solidFill>
                  <a:latin typeface="Arial" panose="020B0604020202020204" pitchFamily="34" charset="0"/>
                </a:rPr>
                <a:t> S07_DataOfEmployment - S07 </a:t>
              </a:r>
              <a:r>
                <a:rPr lang="nl-NL" dirty="0" err="1">
                  <a:solidFill>
                    <a:srgbClr val="000000"/>
                  </a:solidFill>
                  <a:latin typeface="Arial" panose="020B0604020202020204" pitchFamily="34" charset="0"/>
                </a:rPr>
                <a:t>Donnée</a:t>
              </a:r>
              <a:r>
                <a:rPr lang="nl-NL" dirty="0">
                  <a:solidFill>
                    <a:srgbClr val="000000"/>
                  </a:solidFill>
                  <a:latin typeface="Arial" panose="020B0604020202020204" pitchFamily="34" charset="0"/>
                </a:rPr>
                <a:t> de </a:t>
              </a:r>
              <a:r>
                <a:rPr lang="nl-NL" dirty="0" err="1">
                  <a:solidFill>
                    <a:srgbClr val="000000"/>
                  </a:solidFill>
                  <a:latin typeface="Arial" panose="020B0604020202020204" pitchFamily="34" charset="0"/>
                </a:rPr>
                <a:t>l’Emploi</a:t>
              </a:r>
              <a:endParaRPr lang="en-US" dirty="0"/>
            </a:p>
          </p:txBody>
        </p:sp>
      </p:grpSp>
      <p:grpSp>
        <p:nvGrpSpPr>
          <p:cNvPr id="48" name="Groupe 47"/>
          <p:cNvGrpSpPr/>
          <p:nvPr/>
        </p:nvGrpSpPr>
        <p:grpSpPr>
          <a:xfrm>
            <a:off x="674600" y="980728"/>
            <a:ext cx="3465352" cy="369332"/>
            <a:chOff x="674600" y="3416039"/>
            <a:chExt cx="3465352" cy="369332"/>
          </a:xfrm>
        </p:grpSpPr>
        <p:pic>
          <p:nvPicPr>
            <p:cNvPr id="49" name="Image 4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675005" y="3438705"/>
              <a:ext cx="323190" cy="324000"/>
            </a:xfrm>
            <a:prstGeom prst="rect">
              <a:avLst/>
            </a:prstGeom>
          </p:spPr>
        </p:pic>
        <p:sp>
          <p:nvSpPr>
            <p:cNvPr id="50" name="Rectangle 49"/>
            <p:cNvSpPr/>
            <p:nvPr/>
          </p:nvSpPr>
          <p:spPr>
            <a:xfrm>
              <a:off x="1050943" y="3416039"/>
              <a:ext cx="3089009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i="1" dirty="0">
                  <a:solidFill>
                    <a:srgbClr val="0070C0"/>
                  </a:solidFill>
                  <a:latin typeface="Arial" panose="020B0604020202020204" pitchFamily="34" charset="0"/>
                </a:rPr>
                <a:t>  Identification - Identification</a:t>
              </a:r>
              <a:endParaRPr lang="en-US" dirty="0"/>
            </a:p>
          </p:txBody>
        </p:sp>
      </p:grpSp>
      <p:grpSp>
        <p:nvGrpSpPr>
          <p:cNvPr id="51" name="Groupe 50"/>
          <p:cNvGrpSpPr/>
          <p:nvPr/>
        </p:nvGrpSpPr>
        <p:grpSpPr>
          <a:xfrm>
            <a:off x="1206674" y="1259468"/>
            <a:ext cx="4373438" cy="369332"/>
            <a:chOff x="1211091" y="1690920"/>
            <a:chExt cx="4373438" cy="369332"/>
          </a:xfrm>
        </p:grpSpPr>
        <p:pic>
          <p:nvPicPr>
            <p:cNvPr id="52" name="Image 5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1091" y="1754088"/>
              <a:ext cx="278325" cy="252000"/>
            </a:xfrm>
            <a:prstGeom prst="rect">
              <a:avLst/>
            </a:prstGeom>
          </p:spPr>
        </p:pic>
        <p:sp>
          <p:nvSpPr>
            <p:cNvPr id="53" name="Rectangle 52"/>
            <p:cNvSpPr/>
            <p:nvPr/>
          </p:nvSpPr>
          <p:spPr>
            <a:xfrm>
              <a:off x="1546174" y="1690920"/>
              <a:ext cx="4038355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s-ES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AccountFinancial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 - </a:t>
              </a:r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Compte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 financier</a:t>
              </a:r>
            </a:p>
          </p:txBody>
        </p:sp>
      </p:grpSp>
      <p:grpSp>
        <p:nvGrpSpPr>
          <p:cNvPr id="55" name="Groupe 54"/>
          <p:cNvGrpSpPr/>
          <p:nvPr/>
        </p:nvGrpSpPr>
        <p:grpSpPr>
          <a:xfrm>
            <a:off x="1206674" y="4749007"/>
            <a:ext cx="7109741" cy="369332"/>
            <a:chOff x="1211091" y="4527198"/>
            <a:chExt cx="7109741" cy="369332"/>
          </a:xfrm>
        </p:grpSpPr>
        <p:pic>
          <p:nvPicPr>
            <p:cNvPr id="56" name="Image 55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1091" y="4581272"/>
              <a:ext cx="278325" cy="252000"/>
            </a:xfrm>
            <a:prstGeom prst="rect">
              <a:avLst/>
            </a:prstGeom>
          </p:spPr>
        </p:pic>
        <p:sp>
          <p:nvSpPr>
            <p:cNvPr id="57" name="Rectangle 56"/>
            <p:cNvSpPr/>
            <p:nvPr/>
          </p:nvSpPr>
          <p:spPr>
            <a:xfrm>
              <a:off x="1546173" y="4527198"/>
              <a:ext cx="6774659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solidFill>
                    <a:srgbClr val="000000"/>
                  </a:solidFill>
                  <a:latin typeface="Arial" panose="020B0604020202020204" pitchFamily="34" charset="0"/>
                </a:rPr>
                <a:t> </a:t>
              </a:r>
              <a:r>
                <a:rPr lang="fr-BE" dirty="0">
                  <a:latin typeface="Arial" panose="020B0604020202020204" pitchFamily="34" charset="0"/>
                  <a:cs typeface="Arial" panose="020B0604020202020204" pitchFamily="34" charset="0"/>
                </a:rPr>
                <a:t>S11_PeriodOutOfUnemployment - S11 Période hors chômage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54" name="Groupe 53"/>
          <p:cNvGrpSpPr/>
          <p:nvPr/>
        </p:nvGrpSpPr>
        <p:grpSpPr>
          <a:xfrm>
            <a:off x="1220530" y="5163468"/>
            <a:ext cx="6455763" cy="369332"/>
            <a:chOff x="1211091" y="4527198"/>
            <a:chExt cx="6455763" cy="369332"/>
          </a:xfrm>
        </p:grpSpPr>
        <p:pic>
          <p:nvPicPr>
            <p:cNvPr id="58" name="Image 57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1091" y="4581272"/>
              <a:ext cx="278325" cy="252000"/>
            </a:xfrm>
            <a:prstGeom prst="rect">
              <a:avLst/>
            </a:prstGeom>
          </p:spPr>
        </p:pic>
        <p:sp>
          <p:nvSpPr>
            <p:cNvPr id="59" name="Rectangle 58"/>
            <p:cNvSpPr/>
            <p:nvPr/>
          </p:nvSpPr>
          <p:spPr>
            <a:xfrm>
              <a:off x="1546174" y="4527198"/>
              <a:ext cx="612068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solidFill>
                    <a:srgbClr val="000000"/>
                  </a:solidFill>
                  <a:latin typeface="Arial" panose="020B0604020202020204" pitchFamily="34" charset="0"/>
                </a:rPr>
                <a:t> S16_ArtSpecialIndemnity - S16 </a:t>
              </a:r>
              <a:r>
                <a:rPr lang="en-US" dirty="0" err="1">
                  <a:solidFill>
                    <a:srgbClr val="000000"/>
                  </a:solidFill>
                  <a:latin typeface="Arial" panose="020B0604020202020204" pitchFamily="34" charset="0"/>
                </a:rPr>
                <a:t>Art.Special</a:t>
              </a:r>
              <a:r>
                <a:rPr lang="en-US" dirty="0">
                  <a:solidFill>
                    <a:srgbClr val="000000"/>
                  </a:solidFill>
                  <a:latin typeface="Arial" panose="020B0604020202020204" pitchFamily="34" charset="0"/>
                </a:rPr>
                <a:t> </a:t>
              </a:r>
              <a:r>
                <a:rPr lang="en-US" dirty="0" err="1">
                  <a:solidFill>
                    <a:srgbClr val="000000"/>
                  </a:solidFill>
                  <a:latin typeface="Arial" panose="020B0604020202020204" pitchFamily="34" charset="0"/>
                </a:rPr>
                <a:t>Indemnisation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059047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 13">
            <a:extLst>
              <a:ext uri="{FF2B5EF4-FFF2-40B4-BE49-F238E27FC236}">
                <a16:creationId xmlns:a16="http://schemas.microsoft.com/office/drawing/2014/main" id="{D896D873-8A8C-4A32-8397-9481EAE726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514" y="2077874"/>
            <a:ext cx="5514286" cy="2857143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3AB04E35-3369-449A-A897-2A3970E46F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40" y="1108593"/>
            <a:ext cx="9144000" cy="1010347"/>
          </a:xfrm>
          <a:prstGeom prst="rect">
            <a:avLst/>
          </a:prstGeom>
        </p:spPr>
      </p:pic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10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255690" y="621849"/>
            <a:ext cx="7268638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>
            <a:defPPr>
              <a:defRPr lang="fr-FR"/>
            </a:defPPr>
            <a:lvl1pPr marL="342900" indent="-342900" algn="ctr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b="1" kern="120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Font typeface="Arial" pitchFamily="34" charset="0"/>
              <a:buNone/>
            </a:pPr>
            <a:r>
              <a:rPr lang="fr-FR" altLang="fr-FR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3.1 La C2 </a:t>
            </a:r>
            <a:r>
              <a:rPr lang="fr-FR" altLang="fr-FR" dirty="0" err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Xml</a:t>
            </a:r>
            <a:r>
              <a:rPr lang="fr-FR" altLang="fr-FR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 et Horizon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971600" y="-3930"/>
            <a:ext cx="7211144" cy="5539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>
            <a:defPPr>
              <a:defRPr lang="fr-FR"/>
            </a:defPPr>
            <a:lvl1pPr algn="ctr" defTabSz="914400" rtl="0" eaLnBrk="1" latinLnBrk="0" hangingPunct="1">
              <a:spcBef>
                <a:spcPct val="0"/>
              </a:spcBef>
              <a:buNone/>
              <a:defRPr sz="2800" b="1" kern="120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fr-FR" altLang="fr-FR" sz="3600" dirty="0">
                <a:gradFill>
                  <a:gsLst>
                    <a:gs pos="0">
                      <a:srgbClr val="F79646">
                        <a:tint val="90000"/>
                        <a:satMod val="120000"/>
                      </a:srgbClr>
                    </a:gs>
                    <a:gs pos="25000">
                      <a:srgbClr val="F79646">
                        <a:tint val="93000"/>
                        <a:satMod val="120000"/>
                      </a:srgbClr>
                    </a:gs>
                    <a:gs pos="50000">
                      <a:srgbClr val="F79646">
                        <a:shade val="89000"/>
                        <a:satMod val="110000"/>
                      </a:srgbClr>
                    </a:gs>
                    <a:gs pos="75000">
                      <a:srgbClr val="F79646">
                        <a:tint val="93000"/>
                        <a:satMod val="120000"/>
                      </a:srgbClr>
                    </a:gs>
                    <a:gs pos="100000">
                      <a:srgbClr val="F79646">
                        <a:tint val="90000"/>
                        <a:satMod val="120000"/>
                      </a:srgbClr>
                    </a:gs>
                  </a:gsLst>
                  <a:lin ang="5400000"/>
                </a:gradFill>
              </a:rPr>
              <a:t>3. Lecture de la C2 </a:t>
            </a:r>
            <a:r>
              <a:rPr lang="fr-FR" altLang="fr-FR" sz="3600" dirty="0" err="1">
                <a:gradFill>
                  <a:gsLst>
                    <a:gs pos="0">
                      <a:srgbClr val="F79646">
                        <a:tint val="90000"/>
                        <a:satMod val="120000"/>
                      </a:srgbClr>
                    </a:gs>
                    <a:gs pos="25000">
                      <a:srgbClr val="F79646">
                        <a:tint val="93000"/>
                        <a:satMod val="120000"/>
                      </a:srgbClr>
                    </a:gs>
                    <a:gs pos="50000">
                      <a:srgbClr val="F79646">
                        <a:shade val="89000"/>
                        <a:satMod val="110000"/>
                      </a:srgbClr>
                    </a:gs>
                    <a:gs pos="75000">
                      <a:srgbClr val="F79646">
                        <a:tint val="93000"/>
                        <a:satMod val="120000"/>
                      </a:srgbClr>
                    </a:gs>
                    <a:gs pos="100000">
                      <a:srgbClr val="F79646">
                        <a:tint val="90000"/>
                        <a:satMod val="120000"/>
                      </a:srgbClr>
                    </a:gs>
                  </a:gsLst>
                  <a:lin ang="5400000"/>
                </a:gradFill>
              </a:rPr>
              <a:t>Xml</a:t>
            </a:r>
            <a:endParaRPr lang="fr-FR" altLang="fr-FR" sz="3600" dirty="0">
              <a:gradFill>
                <a:gsLst>
                  <a:gs pos="0">
                    <a:srgbClr val="F79646">
                      <a:tint val="90000"/>
                      <a:satMod val="120000"/>
                    </a:srgbClr>
                  </a:gs>
                  <a:gs pos="25000">
                    <a:srgbClr val="F79646">
                      <a:tint val="93000"/>
                      <a:satMod val="120000"/>
                    </a:srgbClr>
                  </a:gs>
                  <a:gs pos="50000">
                    <a:srgbClr val="F79646">
                      <a:shade val="89000"/>
                      <a:satMod val="110000"/>
                    </a:srgbClr>
                  </a:gs>
                  <a:gs pos="75000">
                    <a:srgbClr val="F79646">
                      <a:tint val="93000"/>
                      <a:satMod val="120000"/>
                    </a:srgbClr>
                  </a:gs>
                  <a:gs pos="100000">
                    <a:srgbClr val="F79646">
                      <a:tint val="90000"/>
                      <a:satMod val="120000"/>
                    </a:srgbClr>
                  </a:gs>
                </a:gsLst>
                <a:lin ang="5400000"/>
              </a:gradFill>
            </a:endParaRPr>
          </a:p>
        </p:txBody>
      </p:sp>
      <p:grpSp>
        <p:nvGrpSpPr>
          <p:cNvPr id="5" name="Groupe 4"/>
          <p:cNvGrpSpPr/>
          <p:nvPr/>
        </p:nvGrpSpPr>
        <p:grpSpPr>
          <a:xfrm>
            <a:off x="3309346" y="1952378"/>
            <a:ext cx="2214998" cy="1810258"/>
            <a:chOff x="2843808" y="2198666"/>
            <a:chExt cx="2214998" cy="1810258"/>
          </a:xfrm>
        </p:grpSpPr>
        <p:sp>
          <p:nvSpPr>
            <p:cNvPr id="11" name="Rectangle 10"/>
            <p:cNvSpPr/>
            <p:nvPr/>
          </p:nvSpPr>
          <p:spPr>
            <a:xfrm>
              <a:off x="2843808" y="3847473"/>
              <a:ext cx="2214998" cy="161451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/>
            </a:p>
          </p:txBody>
        </p:sp>
        <p:cxnSp>
          <p:nvCxnSpPr>
            <p:cNvPr id="13" name="Connecteur droit avec flèche 12"/>
            <p:cNvCxnSpPr>
              <a:cxnSpLocks/>
            </p:cNvCxnSpPr>
            <p:nvPr/>
          </p:nvCxnSpPr>
          <p:spPr>
            <a:xfrm flipH="1" flipV="1">
              <a:off x="2843808" y="2198666"/>
              <a:ext cx="887524" cy="1648808"/>
            </a:xfrm>
            <a:prstGeom prst="straightConnector1">
              <a:avLst/>
            </a:prstGeom>
            <a:ln w="254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e 7"/>
          <p:cNvGrpSpPr/>
          <p:nvPr/>
        </p:nvGrpSpPr>
        <p:grpSpPr>
          <a:xfrm>
            <a:off x="3309346" y="1977168"/>
            <a:ext cx="2214998" cy="2008620"/>
            <a:chOff x="2843808" y="2181231"/>
            <a:chExt cx="2214998" cy="2008620"/>
          </a:xfrm>
        </p:grpSpPr>
        <p:sp>
          <p:nvSpPr>
            <p:cNvPr id="20" name="Rectangle 19"/>
            <p:cNvSpPr/>
            <p:nvPr/>
          </p:nvSpPr>
          <p:spPr>
            <a:xfrm>
              <a:off x="2843808" y="3991489"/>
              <a:ext cx="2214998" cy="198362"/>
            </a:xfrm>
            <a:prstGeom prst="rect">
              <a:avLst/>
            </a:prstGeom>
            <a:noFill/>
            <a:ln>
              <a:solidFill>
                <a:srgbClr val="0033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/>
            </a:p>
          </p:txBody>
        </p:sp>
        <p:cxnSp>
          <p:nvCxnSpPr>
            <p:cNvPr id="24" name="Connecteur droit avec flèche 23"/>
            <p:cNvCxnSpPr>
              <a:cxnSpLocks/>
              <a:stCxn id="20" idx="0"/>
            </p:cNvCxnSpPr>
            <p:nvPr/>
          </p:nvCxnSpPr>
          <p:spPr>
            <a:xfrm flipH="1" flipV="1">
              <a:off x="3692757" y="2181231"/>
              <a:ext cx="258550" cy="1810258"/>
            </a:xfrm>
            <a:prstGeom prst="straightConnector1">
              <a:avLst/>
            </a:prstGeom>
            <a:ln w="25400">
              <a:solidFill>
                <a:srgbClr val="0033CC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1" name="Groupe 60">
            <a:extLst>
              <a:ext uri="{FF2B5EF4-FFF2-40B4-BE49-F238E27FC236}">
                <a16:creationId xmlns:a16="http://schemas.microsoft.com/office/drawing/2014/main" id="{9A5EE46B-D4CE-476A-9AB2-F8944125BC69}"/>
              </a:ext>
            </a:extLst>
          </p:cNvPr>
          <p:cNvGrpSpPr/>
          <p:nvPr/>
        </p:nvGrpSpPr>
        <p:grpSpPr>
          <a:xfrm>
            <a:off x="3652136" y="2032763"/>
            <a:ext cx="1872208" cy="2163913"/>
            <a:chOff x="3690710" y="2187370"/>
            <a:chExt cx="1872208" cy="2163913"/>
          </a:xfrm>
        </p:grpSpPr>
        <p:sp>
          <p:nvSpPr>
            <p:cNvPr id="10" name="Rectangle 9"/>
            <p:cNvSpPr/>
            <p:nvPr/>
          </p:nvSpPr>
          <p:spPr>
            <a:xfrm>
              <a:off x="3690710" y="4140395"/>
              <a:ext cx="1872208" cy="210888"/>
            </a:xfrm>
            <a:prstGeom prst="rect">
              <a:avLst/>
            </a:prstGeom>
            <a:noFill/>
            <a:ln>
              <a:solidFill>
                <a:srgbClr val="008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 dirty="0"/>
            </a:p>
          </p:txBody>
        </p:sp>
        <p:cxnSp>
          <p:nvCxnSpPr>
            <p:cNvPr id="47" name="Connecteur : en angle 46">
              <a:extLst>
                <a:ext uri="{FF2B5EF4-FFF2-40B4-BE49-F238E27FC236}">
                  <a16:creationId xmlns:a16="http://schemas.microsoft.com/office/drawing/2014/main" id="{92A136EF-E7FF-48BF-804F-065EE6824ED8}"/>
                </a:ext>
              </a:extLst>
            </p:cNvPr>
            <p:cNvCxnSpPr>
              <a:cxnSpLocks/>
              <a:stCxn id="10" idx="3"/>
            </p:cNvCxnSpPr>
            <p:nvPr/>
          </p:nvCxnSpPr>
          <p:spPr>
            <a:xfrm flipH="1" flipV="1">
              <a:off x="5301693" y="2187370"/>
              <a:ext cx="261225" cy="2058469"/>
            </a:xfrm>
            <a:prstGeom prst="bentConnector4">
              <a:avLst>
                <a:gd name="adj1" fmla="val -87511"/>
                <a:gd name="adj2" fmla="val 52561"/>
              </a:avLst>
            </a:prstGeom>
            <a:ln w="25400">
              <a:solidFill>
                <a:srgbClr val="008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49410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57E64B12-452B-437E-BAA6-B9372736D0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849" y="1158355"/>
            <a:ext cx="5361905" cy="5457143"/>
          </a:xfrm>
          <a:prstGeom prst="rect">
            <a:avLst/>
          </a:prstGeom>
        </p:spPr>
      </p:pic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255689" y="621849"/>
            <a:ext cx="8547883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>
            <a:defPPr>
              <a:defRPr lang="fr-FR"/>
            </a:defPPr>
            <a:lvl1pPr marL="342900" indent="-342900" algn="ctr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b="1" kern="120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Font typeface="Arial" pitchFamily="34" charset="0"/>
              <a:buNone/>
            </a:pPr>
            <a:r>
              <a:rPr lang="fr-FR" altLang="fr-FR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3.2. Aperçu du contenu du répertoire « S24_Data C9 »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971600" y="-3930"/>
            <a:ext cx="7211144" cy="5539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>
            <a:defPPr>
              <a:defRPr lang="fr-FR"/>
            </a:defPPr>
            <a:lvl1pPr algn="ctr" defTabSz="914400" rtl="0" eaLnBrk="1" latinLnBrk="0" hangingPunct="1">
              <a:spcBef>
                <a:spcPct val="0"/>
              </a:spcBef>
              <a:buNone/>
              <a:defRPr sz="2800" b="1" kern="120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fr-FR" altLang="fr-FR" sz="3600" dirty="0">
                <a:gradFill>
                  <a:gsLst>
                    <a:gs pos="0">
                      <a:srgbClr val="F79646">
                        <a:tint val="90000"/>
                        <a:satMod val="120000"/>
                      </a:srgbClr>
                    </a:gs>
                    <a:gs pos="25000">
                      <a:srgbClr val="F79646">
                        <a:tint val="93000"/>
                        <a:satMod val="120000"/>
                      </a:srgbClr>
                    </a:gs>
                    <a:gs pos="50000">
                      <a:srgbClr val="F79646">
                        <a:shade val="89000"/>
                        <a:satMod val="110000"/>
                      </a:srgbClr>
                    </a:gs>
                    <a:gs pos="75000">
                      <a:srgbClr val="F79646">
                        <a:tint val="93000"/>
                        <a:satMod val="120000"/>
                      </a:srgbClr>
                    </a:gs>
                    <a:gs pos="100000">
                      <a:srgbClr val="F79646">
                        <a:tint val="90000"/>
                        <a:satMod val="120000"/>
                      </a:srgbClr>
                    </a:gs>
                  </a:gsLst>
                  <a:lin ang="5400000"/>
                </a:gradFill>
              </a:rPr>
              <a:t>3. Lecture de la C2 </a:t>
            </a:r>
            <a:r>
              <a:rPr lang="fr-FR" altLang="fr-FR" sz="3600" dirty="0" err="1">
                <a:gradFill>
                  <a:gsLst>
                    <a:gs pos="0">
                      <a:srgbClr val="F79646">
                        <a:tint val="90000"/>
                        <a:satMod val="120000"/>
                      </a:srgbClr>
                    </a:gs>
                    <a:gs pos="25000">
                      <a:srgbClr val="F79646">
                        <a:tint val="93000"/>
                        <a:satMod val="120000"/>
                      </a:srgbClr>
                    </a:gs>
                    <a:gs pos="50000">
                      <a:srgbClr val="F79646">
                        <a:shade val="89000"/>
                        <a:satMod val="110000"/>
                      </a:srgbClr>
                    </a:gs>
                    <a:gs pos="75000">
                      <a:srgbClr val="F79646">
                        <a:tint val="93000"/>
                        <a:satMod val="120000"/>
                      </a:srgbClr>
                    </a:gs>
                    <a:gs pos="100000">
                      <a:srgbClr val="F79646">
                        <a:tint val="90000"/>
                        <a:satMod val="120000"/>
                      </a:srgbClr>
                    </a:gs>
                  </a:gsLst>
                  <a:lin ang="5400000"/>
                </a:gradFill>
              </a:rPr>
              <a:t>Xml</a:t>
            </a:r>
            <a:endParaRPr lang="fr-FR" altLang="fr-FR" sz="3600" dirty="0">
              <a:gradFill>
                <a:gsLst>
                  <a:gs pos="0">
                    <a:srgbClr val="F79646">
                      <a:tint val="90000"/>
                      <a:satMod val="120000"/>
                    </a:srgbClr>
                  </a:gs>
                  <a:gs pos="25000">
                    <a:srgbClr val="F79646">
                      <a:tint val="93000"/>
                      <a:satMod val="120000"/>
                    </a:srgbClr>
                  </a:gs>
                  <a:gs pos="50000">
                    <a:srgbClr val="F79646">
                      <a:shade val="89000"/>
                      <a:satMod val="110000"/>
                    </a:srgbClr>
                  </a:gs>
                  <a:gs pos="75000">
                    <a:srgbClr val="F79646">
                      <a:tint val="93000"/>
                      <a:satMod val="120000"/>
                    </a:srgbClr>
                  </a:gs>
                  <a:gs pos="100000">
                    <a:srgbClr val="F79646">
                      <a:tint val="90000"/>
                      <a:satMod val="120000"/>
                    </a:srgbClr>
                  </a:gs>
                </a:gsLst>
                <a:lin ang="5400000"/>
              </a:gradFill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C6DB142-7C0C-41E5-8420-C44A19AB56D1}"/>
              </a:ext>
            </a:extLst>
          </p:cNvPr>
          <p:cNvSpPr txBox="1"/>
          <p:nvPr/>
        </p:nvSpPr>
        <p:spPr>
          <a:xfrm>
            <a:off x="5961924" y="2260460"/>
            <a:ext cx="2935428" cy="43550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b="1" dirty="0">
                <a:solidFill>
                  <a:srgbClr val="7030A0"/>
                </a:solidFill>
              </a:rPr>
              <a:t>NISS de l’affilié</a:t>
            </a:r>
          </a:p>
          <a:p>
            <a:endParaRPr lang="fr-BE" dirty="0"/>
          </a:p>
          <a:p>
            <a:r>
              <a:rPr lang="fr-BE" b="1" dirty="0">
                <a:solidFill>
                  <a:srgbClr val="C00000"/>
                </a:solidFill>
              </a:rPr>
              <a:t>Identification du BC compétent</a:t>
            </a:r>
          </a:p>
          <a:p>
            <a:endParaRPr lang="fr-BE" sz="600" b="1" dirty="0">
              <a:solidFill>
                <a:srgbClr val="C00000"/>
              </a:solidFill>
            </a:endParaRPr>
          </a:p>
          <a:p>
            <a:r>
              <a:rPr lang="fr-BE" b="1" dirty="0">
                <a:solidFill>
                  <a:srgbClr val="008000"/>
                </a:solidFill>
              </a:rPr>
              <a:t>OP gestionnaire </a:t>
            </a:r>
            <a:r>
              <a:rPr lang="fr-BE" sz="1600" b="1" dirty="0">
                <a:solidFill>
                  <a:srgbClr val="008000"/>
                </a:solidFill>
              </a:rPr>
              <a:t>(2920=OP Wallon)</a:t>
            </a:r>
          </a:p>
          <a:p>
            <a:r>
              <a:rPr lang="fr-BE" b="1" dirty="0">
                <a:solidFill>
                  <a:srgbClr val="C00000"/>
                </a:solidFill>
              </a:rPr>
              <a:t> </a:t>
            </a:r>
          </a:p>
          <a:p>
            <a:endParaRPr lang="fr-BE" sz="1400" b="1" dirty="0">
              <a:solidFill>
                <a:srgbClr val="003399"/>
              </a:solidFill>
            </a:endParaRPr>
          </a:p>
          <a:p>
            <a:r>
              <a:rPr lang="fr-BE" b="1" dirty="0">
                <a:solidFill>
                  <a:srgbClr val="003399"/>
                </a:solidFill>
              </a:rPr>
              <a:t>Données d’identification</a:t>
            </a:r>
          </a:p>
          <a:p>
            <a:endParaRPr lang="fr-BE" b="1" dirty="0">
              <a:solidFill>
                <a:srgbClr val="003399"/>
              </a:solidFill>
            </a:endParaRPr>
          </a:p>
          <a:p>
            <a:endParaRPr lang="fr-BE" b="1" dirty="0">
              <a:solidFill>
                <a:srgbClr val="003399"/>
              </a:solidFill>
            </a:endParaRPr>
          </a:p>
          <a:p>
            <a:endParaRPr lang="fr-BE" b="1" dirty="0">
              <a:solidFill>
                <a:srgbClr val="003399"/>
              </a:solidFill>
            </a:endParaRPr>
          </a:p>
          <a:p>
            <a:endParaRPr lang="fr-BE" b="1" dirty="0">
              <a:solidFill>
                <a:srgbClr val="003399"/>
              </a:solidFill>
            </a:endParaRPr>
          </a:p>
          <a:p>
            <a:r>
              <a:rPr lang="fr-BE" b="1" dirty="0">
                <a:solidFill>
                  <a:schemeClr val="accent6">
                    <a:lumMod val="75000"/>
                  </a:schemeClr>
                </a:solidFill>
              </a:rPr>
              <a:t>Compte financier valable à la date d’émission de la C2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4077A86-4BDE-4747-9526-8C0608C0FB1C}"/>
              </a:ext>
            </a:extLst>
          </p:cNvPr>
          <p:cNvSpPr/>
          <p:nvPr/>
        </p:nvSpPr>
        <p:spPr>
          <a:xfrm>
            <a:off x="2949402" y="3056041"/>
            <a:ext cx="1368152" cy="14401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31DF2E58-38B3-4D92-9632-A2311DDD78EA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4317554" y="3124703"/>
            <a:ext cx="1652419" cy="3346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6AFF8D28-244C-49A5-B835-B4DBEB6AA8B4}"/>
              </a:ext>
            </a:extLst>
          </p:cNvPr>
          <p:cNvSpPr/>
          <p:nvPr/>
        </p:nvSpPr>
        <p:spPr>
          <a:xfrm>
            <a:off x="2949402" y="3473697"/>
            <a:ext cx="1566777" cy="144010"/>
          </a:xfrm>
          <a:prstGeom prst="rect">
            <a:avLst/>
          </a:prstGeom>
          <a:noFill/>
          <a:ln>
            <a:solidFill>
              <a:srgbClr val="008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>
              <a:solidFill>
                <a:srgbClr val="008000"/>
              </a:solidFill>
            </a:endParaRPr>
          </a:p>
        </p:txBody>
      </p: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AEC26C9A-BE04-4C96-BB96-02EC5591B80E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4516179" y="3545702"/>
            <a:ext cx="1500117" cy="154921"/>
          </a:xfrm>
          <a:prstGeom prst="straightConnector1">
            <a:avLst/>
          </a:prstGeom>
          <a:ln w="28575">
            <a:solidFill>
              <a:srgbClr val="008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3A65CAF5-3E9C-4B9E-9C6E-27E5B6C37FB7}"/>
              </a:ext>
            </a:extLst>
          </p:cNvPr>
          <p:cNvSpPr/>
          <p:nvPr/>
        </p:nvSpPr>
        <p:spPr>
          <a:xfrm>
            <a:off x="2989626" y="4176072"/>
            <a:ext cx="2704728" cy="870422"/>
          </a:xfrm>
          <a:prstGeom prst="rect">
            <a:avLst/>
          </a:prstGeom>
          <a:noFill/>
          <a:ln>
            <a:solidFill>
              <a:srgbClr val="0033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>
              <a:solidFill>
                <a:srgbClr val="008000"/>
              </a:solidFill>
            </a:endParaRPr>
          </a:p>
        </p:txBody>
      </p:sp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074AEA53-01AD-4A06-B865-B69852E91E2A}"/>
              </a:ext>
            </a:extLst>
          </p:cNvPr>
          <p:cNvCxnSpPr>
            <a:cxnSpLocks/>
            <a:stCxn id="20" idx="3"/>
          </p:cNvCxnSpPr>
          <p:nvPr/>
        </p:nvCxnSpPr>
        <p:spPr>
          <a:xfrm>
            <a:off x="5694354" y="4611283"/>
            <a:ext cx="356406" cy="0"/>
          </a:xfrm>
          <a:prstGeom prst="straightConnector1">
            <a:avLst/>
          </a:prstGeom>
          <a:ln w="28575">
            <a:solidFill>
              <a:srgbClr val="0033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CC59B372-B829-48D9-A420-39FD8F387CCC}"/>
              </a:ext>
            </a:extLst>
          </p:cNvPr>
          <p:cNvSpPr/>
          <p:nvPr/>
        </p:nvSpPr>
        <p:spPr>
          <a:xfrm>
            <a:off x="2900790" y="2216337"/>
            <a:ext cx="1942764" cy="176271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>
              <a:solidFill>
                <a:srgbClr val="008000"/>
              </a:solidFill>
            </a:endParaRPr>
          </a:p>
        </p:txBody>
      </p:sp>
      <p:cxnSp>
        <p:nvCxnSpPr>
          <p:cNvPr id="29" name="Connecteur droit avec flèche 28">
            <a:extLst>
              <a:ext uri="{FF2B5EF4-FFF2-40B4-BE49-F238E27FC236}">
                <a16:creationId xmlns:a16="http://schemas.microsoft.com/office/drawing/2014/main" id="{4177B486-8AAA-435C-AF92-2A2D52DA58A1}"/>
              </a:ext>
            </a:extLst>
          </p:cNvPr>
          <p:cNvCxnSpPr>
            <a:cxnSpLocks/>
          </p:cNvCxnSpPr>
          <p:nvPr/>
        </p:nvCxnSpPr>
        <p:spPr>
          <a:xfrm>
            <a:off x="4860032" y="2348880"/>
            <a:ext cx="1101892" cy="61103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2A95F4F4-F627-480C-9CA8-BED3DE5758C0}"/>
              </a:ext>
            </a:extLst>
          </p:cNvPr>
          <p:cNvSpPr/>
          <p:nvPr/>
        </p:nvSpPr>
        <p:spPr>
          <a:xfrm>
            <a:off x="3012801" y="5806125"/>
            <a:ext cx="2535306" cy="725704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>
              <a:solidFill>
                <a:srgbClr val="008000"/>
              </a:solidFill>
            </a:endParaRPr>
          </a:p>
        </p:txBody>
      </p:sp>
      <p:cxnSp>
        <p:nvCxnSpPr>
          <p:cNvPr id="39" name="Connecteur droit avec flèche 38">
            <a:extLst>
              <a:ext uri="{FF2B5EF4-FFF2-40B4-BE49-F238E27FC236}">
                <a16:creationId xmlns:a16="http://schemas.microsoft.com/office/drawing/2014/main" id="{32B07740-E74A-462E-B75C-5F63C31494D9}"/>
              </a:ext>
            </a:extLst>
          </p:cNvPr>
          <p:cNvCxnSpPr>
            <a:cxnSpLocks/>
          </p:cNvCxnSpPr>
          <p:nvPr/>
        </p:nvCxnSpPr>
        <p:spPr>
          <a:xfrm>
            <a:off x="5548107" y="6336879"/>
            <a:ext cx="388280" cy="0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7507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5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9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0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3" dur="10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allAtOnce"/>
      <p:bldP spid="4" grpId="1" uiExpand="1" build="allAtOnce"/>
      <p:bldP spid="4" grpId="2" uiExpand="1" build="allAtOnce"/>
      <p:bldP spid="4" grpId="3" uiExpand="1" build="allAtOnce"/>
      <p:bldP spid="5" grpId="0" animBg="1"/>
      <p:bldP spid="5" grpId="1" animBg="1"/>
      <p:bldP spid="14" grpId="0" animBg="1"/>
      <p:bldP spid="14" grpId="1" animBg="1"/>
      <p:bldP spid="20" grpId="0" animBg="1"/>
      <p:bldP spid="20" grpId="1" animBg="1"/>
      <p:bldP spid="28" grpId="0" animBg="1"/>
      <p:bldP spid="28" grpId="1" animBg="1"/>
      <p:bldP spid="3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9C2657A4-F9B6-4FE3-AC54-8DDFC4FCB7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646" y="1486804"/>
            <a:ext cx="7060175" cy="2490216"/>
          </a:xfrm>
          <a:prstGeom prst="rect">
            <a:avLst/>
          </a:prstGeom>
        </p:spPr>
      </p:pic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255690" y="621849"/>
            <a:ext cx="7772694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>
            <a:defPPr>
              <a:defRPr lang="fr-FR"/>
            </a:defPPr>
            <a:lvl1pPr marL="342900" indent="-342900" algn="ctr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b="1" kern="120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Font typeface="Arial" pitchFamily="34" charset="0"/>
              <a:buNone/>
            </a:pPr>
            <a:r>
              <a:rPr lang="fr-FR" altLang="fr-FR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3.3. Exemple d’analyse du contenu de la C2 Xml :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971600" y="-3930"/>
            <a:ext cx="7211144" cy="5539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>
            <a:defPPr>
              <a:defRPr lang="fr-FR"/>
            </a:defPPr>
            <a:lvl1pPr algn="ctr" defTabSz="914400" rtl="0" eaLnBrk="1" latinLnBrk="0" hangingPunct="1">
              <a:spcBef>
                <a:spcPct val="0"/>
              </a:spcBef>
              <a:buNone/>
              <a:defRPr sz="2800" b="1" kern="120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fr-FR" altLang="fr-FR" sz="3600" dirty="0">
                <a:gradFill>
                  <a:gsLst>
                    <a:gs pos="0">
                      <a:srgbClr val="F79646">
                        <a:tint val="90000"/>
                        <a:satMod val="120000"/>
                      </a:srgbClr>
                    </a:gs>
                    <a:gs pos="25000">
                      <a:srgbClr val="F79646">
                        <a:tint val="93000"/>
                        <a:satMod val="120000"/>
                      </a:srgbClr>
                    </a:gs>
                    <a:gs pos="50000">
                      <a:srgbClr val="F79646">
                        <a:shade val="89000"/>
                        <a:satMod val="110000"/>
                      </a:srgbClr>
                    </a:gs>
                    <a:gs pos="75000">
                      <a:srgbClr val="F79646">
                        <a:tint val="93000"/>
                        <a:satMod val="120000"/>
                      </a:srgbClr>
                    </a:gs>
                    <a:gs pos="100000">
                      <a:srgbClr val="F79646">
                        <a:tint val="90000"/>
                        <a:satMod val="120000"/>
                      </a:srgbClr>
                    </a:gs>
                  </a:gsLst>
                  <a:lin ang="5400000"/>
                </a:gradFill>
              </a:rPr>
              <a:t>3. Lecture de la C2 </a:t>
            </a:r>
            <a:r>
              <a:rPr lang="fr-FR" altLang="fr-FR" sz="3600" dirty="0" err="1">
                <a:gradFill>
                  <a:gsLst>
                    <a:gs pos="0">
                      <a:srgbClr val="F79646">
                        <a:tint val="90000"/>
                        <a:satMod val="120000"/>
                      </a:srgbClr>
                    </a:gs>
                    <a:gs pos="25000">
                      <a:srgbClr val="F79646">
                        <a:tint val="93000"/>
                        <a:satMod val="120000"/>
                      </a:srgbClr>
                    </a:gs>
                    <a:gs pos="50000">
                      <a:srgbClr val="F79646">
                        <a:shade val="89000"/>
                        <a:satMod val="110000"/>
                      </a:srgbClr>
                    </a:gs>
                    <a:gs pos="75000">
                      <a:srgbClr val="F79646">
                        <a:tint val="93000"/>
                        <a:satMod val="120000"/>
                      </a:srgbClr>
                    </a:gs>
                    <a:gs pos="100000">
                      <a:srgbClr val="F79646">
                        <a:tint val="90000"/>
                        <a:satMod val="120000"/>
                      </a:srgbClr>
                    </a:gs>
                  </a:gsLst>
                  <a:lin ang="5400000"/>
                </a:gradFill>
              </a:rPr>
              <a:t>Xml</a:t>
            </a:r>
            <a:endParaRPr lang="fr-FR" altLang="fr-FR" sz="3600" dirty="0">
              <a:gradFill>
                <a:gsLst>
                  <a:gs pos="0">
                    <a:srgbClr val="F79646">
                      <a:tint val="90000"/>
                      <a:satMod val="120000"/>
                    </a:srgbClr>
                  </a:gs>
                  <a:gs pos="25000">
                    <a:srgbClr val="F79646">
                      <a:tint val="93000"/>
                      <a:satMod val="120000"/>
                    </a:srgbClr>
                  </a:gs>
                  <a:gs pos="50000">
                    <a:srgbClr val="F79646">
                      <a:shade val="89000"/>
                      <a:satMod val="110000"/>
                    </a:srgbClr>
                  </a:gs>
                  <a:gs pos="75000">
                    <a:srgbClr val="F79646">
                      <a:tint val="93000"/>
                      <a:satMod val="120000"/>
                    </a:srgbClr>
                  </a:gs>
                  <a:gs pos="100000">
                    <a:srgbClr val="F79646">
                      <a:tint val="90000"/>
                      <a:satMod val="120000"/>
                    </a:srgbClr>
                  </a:gs>
                </a:gsLst>
                <a:lin ang="5400000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4054387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 12">
            <a:extLst>
              <a:ext uri="{FF2B5EF4-FFF2-40B4-BE49-F238E27FC236}">
                <a16:creationId xmlns:a16="http://schemas.microsoft.com/office/drawing/2014/main" id="{D70D9C4C-981C-43C3-AE64-666E86E069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11" y="942136"/>
            <a:ext cx="3539791" cy="5688632"/>
          </a:xfrm>
          <a:prstGeom prst="rect">
            <a:avLst/>
          </a:prstGeom>
        </p:spPr>
      </p:pic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255690" y="621849"/>
            <a:ext cx="8060726" cy="90178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>
            <a:defPPr>
              <a:defRPr lang="fr-FR"/>
            </a:defPPr>
            <a:lvl1pPr marL="342900" indent="-342900" algn="ctr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b="1" kern="120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fr-FR" altLang="fr-FR" sz="2500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3.3. Exemple d’analyse du contenu de la C2 Xml :</a:t>
            </a:r>
          </a:p>
          <a:p>
            <a:pPr marL="0" indent="0" algn="l">
              <a:buFont typeface="Arial" pitchFamily="34" charset="0"/>
              <a:buNone/>
            </a:pPr>
            <a:endParaRPr lang="fr-FR" altLang="fr-FR" u="sng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971600" y="-3930"/>
            <a:ext cx="7211144" cy="5539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>
            <a:defPPr>
              <a:defRPr lang="fr-FR"/>
            </a:defPPr>
            <a:lvl1pPr algn="ctr" defTabSz="914400" rtl="0" eaLnBrk="1" latinLnBrk="0" hangingPunct="1">
              <a:spcBef>
                <a:spcPct val="0"/>
              </a:spcBef>
              <a:buNone/>
              <a:defRPr sz="2800" b="1" kern="120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fr-FR" altLang="fr-FR" sz="3600" dirty="0">
                <a:gradFill>
                  <a:gsLst>
                    <a:gs pos="0">
                      <a:srgbClr val="F79646">
                        <a:tint val="90000"/>
                        <a:satMod val="120000"/>
                      </a:srgbClr>
                    </a:gs>
                    <a:gs pos="25000">
                      <a:srgbClr val="F79646">
                        <a:tint val="93000"/>
                        <a:satMod val="120000"/>
                      </a:srgbClr>
                    </a:gs>
                    <a:gs pos="50000">
                      <a:srgbClr val="F79646">
                        <a:shade val="89000"/>
                        <a:satMod val="110000"/>
                      </a:srgbClr>
                    </a:gs>
                    <a:gs pos="75000">
                      <a:srgbClr val="F79646">
                        <a:tint val="93000"/>
                        <a:satMod val="120000"/>
                      </a:srgbClr>
                    </a:gs>
                    <a:gs pos="100000">
                      <a:srgbClr val="F79646">
                        <a:tint val="90000"/>
                        <a:satMod val="120000"/>
                      </a:srgbClr>
                    </a:gs>
                  </a:gsLst>
                  <a:lin ang="5400000"/>
                </a:gradFill>
              </a:rPr>
              <a:t>3. Lecture de la C2 </a:t>
            </a:r>
            <a:r>
              <a:rPr lang="fr-FR" altLang="fr-FR" sz="3600" dirty="0" err="1">
                <a:gradFill>
                  <a:gsLst>
                    <a:gs pos="0">
                      <a:srgbClr val="F79646">
                        <a:tint val="90000"/>
                        <a:satMod val="120000"/>
                      </a:srgbClr>
                    </a:gs>
                    <a:gs pos="25000">
                      <a:srgbClr val="F79646">
                        <a:tint val="93000"/>
                        <a:satMod val="120000"/>
                      </a:srgbClr>
                    </a:gs>
                    <a:gs pos="50000">
                      <a:srgbClr val="F79646">
                        <a:shade val="89000"/>
                        <a:satMod val="110000"/>
                      </a:srgbClr>
                    </a:gs>
                    <a:gs pos="75000">
                      <a:srgbClr val="F79646">
                        <a:tint val="93000"/>
                        <a:satMod val="120000"/>
                      </a:srgbClr>
                    </a:gs>
                    <a:gs pos="100000">
                      <a:srgbClr val="F79646">
                        <a:tint val="90000"/>
                        <a:satMod val="120000"/>
                      </a:srgbClr>
                    </a:gs>
                  </a:gsLst>
                  <a:lin ang="5400000"/>
                </a:gradFill>
              </a:rPr>
              <a:t>Xml</a:t>
            </a:r>
            <a:endParaRPr lang="fr-FR" altLang="fr-FR" sz="3600" dirty="0">
              <a:gradFill>
                <a:gsLst>
                  <a:gs pos="0">
                    <a:srgbClr val="F79646">
                      <a:tint val="90000"/>
                      <a:satMod val="120000"/>
                    </a:srgbClr>
                  </a:gs>
                  <a:gs pos="25000">
                    <a:srgbClr val="F79646">
                      <a:tint val="93000"/>
                      <a:satMod val="120000"/>
                    </a:srgbClr>
                  </a:gs>
                  <a:gs pos="50000">
                    <a:srgbClr val="F79646">
                      <a:shade val="89000"/>
                      <a:satMod val="110000"/>
                    </a:srgbClr>
                  </a:gs>
                  <a:gs pos="75000">
                    <a:srgbClr val="F79646">
                      <a:tint val="93000"/>
                      <a:satMod val="120000"/>
                    </a:srgbClr>
                  </a:gs>
                  <a:gs pos="100000">
                    <a:srgbClr val="F79646">
                      <a:tint val="90000"/>
                      <a:satMod val="120000"/>
                    </a:srgbClr>
                  </a:gs>
                </a:gsLst>
                <a:lin ang="5400000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1660319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853745A3-6E28-4E34-A23F-8E8E925FC1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730" y="1196397"/>
            <a:ext cx="3524222" cy="5041272"/>
          </a:xfrm>
          <a:prstGeom prst="rect">
            <a:avLst/>
          </a:prstGeom>
        </p:spPr>
      </p:pic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255690" y="621849"/>
            <a:ext cx="7700686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>
            <a:defPPr>
              <a:defRPr lang="fr-FR"/>
            </a:defPPr>
            <a:lvl1pPr marL="342900" indent="-342900" algn="ctr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b="1" kern="120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fr-FR" altLang="fr-FR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3.3. Exemple d’analyse du contenu de la C2 Xml :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971600" y="-3930"/>
            <a:ext cx="7211144" cy="5539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>
            <a:defPPr>
              <a:defRPr lang="fr-FR"/>
            </a:defPPr>
            <a:lvl1pPr algn="ctr" defTabSz="914400" rtl="0" eaLnBrk="1" latinLnBrk="0" hangingPunct="1">
              <a:spcBef>
                <a:spcPct val="0"/>
              </a:spcBef>
              <a:buNone/>
              <a:defRPr sz="2800" b="1" kern="120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fr-FR" altLang="fr-FR" sz="3600" dirty="0">
                <a:gradFill>
                  <a:gsLst>
                    <a:gs pos="0">
                      <a:srgbClr val="F79646">
                        <a:tint val="90000"/>
                        <a:satMod val="120000"/>
                      </a:srgbClr>
                    </a:gs>
                    <a:gs pos="25000">
                      <a:srgbClr val="F79646">
                        <a:tint val="93000"/>
                        <a:satMod val="120000"/>
                      </a:srgbClr>
                    </a:gs>
                    <a:gs pos="50000">
                      <a:srgbClr val="F79646">
                        <a:shade val="89000"/>
                        <a:satMod val="110000"/>
                      </a:srgbClr>
                    </a:gs>
                    <a:gs pos="75000">
                      <a:srgbClr val="F79646">
                        <a:tint val="93000"/>
                        <a:satMod val="120000"/>
                      </a:srgbClr>
                    </a:gs>
                    <a:gs pos="100000">
                      <a:srgbClr val="F79646">
                        <a:tint val="90000"/>
                        <a:satMod val="120000"/>
                      </a:srgbClr>
                    </a:gs>
                  </a:gsLst>
                  <a:lin ang="5400000"/>
                </a:gradFill>
              </a:rPr>
              <a:t>3. Lecture de la C2 </a:t>
            </a:r>
            <a:r>
              <a:rPr lang="fr-FR" altLang="fr-FR" sz="3600" dirty="0" err="1">
                <a:gradFill>
                  <a:gsLst>
                    <a:gs pos="0">
                      <a:srgbClr val="F79646">
                        <a:tint val="90000"/>
                        <a:satMod val="120000"/>
                      </a:srgbClr>
                    </a:gs>
                    <a:gs pos="25000">
                      <a:srgbClr val="F79646">
                        <a:tint val="93000"/>
                        <a:satMod val="120000"/>
                      </a:srgbClr>
                    </a:gs>
                    <a:gs pos="50000">
                      <a:srgbClr val="F79646">
                        <a:shade val="89000"/>
                        <a:satMod val="110000"/>
                      </a:srgbClr>
                    </a:gs>
                    <a:gs pos="75000">
                      <a:srgbClr val="F79646">
                        <a:tint val="93000"/>
                        <a:satMod val="120000"/>
                      </a:srgbClr>
                    </a:gs>
                    <a:gs pos="100000">
                      <a:srgbClr val="F79646">
                        <a:tint val="90000"/>
                        <a:satMod val="120000"/>
                      </a:srgbClr>
                    </a:gs>
                  </a:gsLst>
                  <a:lin ang="5400000"/>
                </a:gradFill>
              </a:rPr>
              <a:t>Xml</a:t>
            </a:r>
            <a:endParaRPr lang="fr-FR" altLang="fr-FR" sz="3600" dirty="0">
              <a:gradFill>
                <a:gsLst>
                  <a:gs pos="0">
                    <a:srgbClr val="F79646">
                      <a:tint val="90000"/>
                      <a:satMod val="120000"/>
                    </a:srgbClr>
                  </a:gs>
                  <a:gs pos="25000">
                    <a:srgbClr val="F79646">
                      <a:tint val="93000"/>
                      <a:satMod val="120000"/>
                    </a:srgbClr>
                  </a:gs>
                  <a:gs pos="50000">
                    <a:srgbClr val="F79646">
                      <a:shade val="89000"/>
                      <a:satMod val="110000"/>
                    </a:srgbClr>
                  </a:gs>
                  <a:gs pos="75000">
                    <a:srgbClr val="F79646">
                      <a:tint val="93000"/>
                      <a:satMod val="120000"/>
                    </a:srgbClr>
                  </a:gs>
                  <a:gs pos="100000">
                    <a:srgbClr val="F79646">
                      <a:tint val="90000"/>
                      <a:satMod val="120000"/>
                    </a:srgbClr>
                  </a:gs>
                </a:gsLst>
                <a:lin ang="5400000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322282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B26BD24A-E7E9-4F73-B938-F429C8FAB5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270" y="1141153"/>
            <a:ext cx="3641658" cy="5369902"/>
          </a:xfrm>
          <a:prstGeom prst="rect">
            <a:avLst/>
          </a:prstGeom>
        </p:spPr>
      </p:pic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255690" y="621849"/>
            <a:ext cx="7700686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>
            <a:defPPr>
              <a:defRPr lang="fr-FR"/>
            </a:defPPr>
            <a:lvl1pPr marL="342900" indent="-342900" algn="ctr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b="1" kern="120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fr-FR" altLang="fr-FR" sz="2800" b="1" i="0" u="none" strike="noStrike" kern="1200" cap="none" spc="0" normalizeH="0" baseline="0" noProof="0" dirty="0">
                <a:ln w="10541" cmpd="sng">
                  <a:solidFill>
                    <a:srgbClr val="4F81BD">
                      <a:shade val="88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4F81BD">
                        <a:tint val="40000"/>
                        <a:satMod val="250000"/>
                      </a:srgbClr>
                    </a:gs>
                    <a:gs pos="9000">
                      <a:srgbClr val="4F81BD">
                        <a:tint val="52000"/>
                        <a:satMod val="300000"/>
                      </a:srgbClr>
                    </a:gs>
                    <a:gs pos="50000">
                      <a:srgbClr val="4F81BD">
                        <a:shade val="20000"/>
                        <a:satMod val="300000"/>
                      </a:srgbClr>
                    </a:gs>
                    <a:gs pos="79000">
                      <a:srgbClr val="4F81BD">
                        <a:tint val="52000"/>
                        <a:satMod val="300000"/>
                      </a:srgbClr>
                    </a:gs>
                    <a:gs pos="100000">
                      <a:srgbClr val="4F81BD">
                        <a:tint val="40000"/>
                        <a:satMod val="250000"/>
                      </a:srgbClr>
                    </a:gs>
                  </a:gsLst>
                  <a:lin ang="5400000"/>
                </a:gradFill>
                <a:effectLst/>
                <a:uLnTx/>
                <a:uFillTx/>
                <a:latin typeface="Calibri"/>
                <a:ea typeface="+mn-ea"/>
                <a:cs typeface="+mn-cs"/>
              </a:rPr>
              <a:t>3.3. Exemple d’analyse du contenu de la C2 Xml :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971600" y="-3930"/>
            <a:ext cx="7211144" cy="5539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>
            <a:defPPr>
              <a:defRPr lang="fr-FR"/>
            </a:defPPr>
            <a:lvl1pPr algn="ctr" defTabSz="914400" rtl="0" eaLnBrk="1" latinLnBrk="0" hangingPunct="1">
              <a:spcBef>
                <a:spcPct val="0"/>
              </a:spcBef>
              <a:buNone/>
              <a:defRPr sz="2800" b="1" kern="120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altLang="fr-FR" sz="3600" b="1" i="0" u="none" strike="noStrike" kern="1200" cap="none" spc="0" normalizeH="0" baseline="0" noProof="0" dirty="0">
                <a:ln w="11430"/>
                <a:gradFill>
                  <a:gsLst>
                    <a:gs pos="0">
                      <a:srgbClr val="F79646">
                        <a:tint val="90000"/>
                        <a:satMod val="120000"/>
                      </a:srgbClr>
                    </a:gs>
                    <a:gs pos="25000">
                      <a:srgbClr val="F79646">
                        <a:tint val="93000"/>
                        <a:satMod val="120000"/>
                      </a:srgbClr>
                    </a:gs>
                    <a:gs pos="50000">
                      <a:srgbClr val="F79646">
                        <a:shade val="89000"/>
                        <a:satMod val="110000"/>
                      </a:srgbClr>
                    </a:gs>
                    <a:gs pos="75000">
                      <a:srgbClr val="F79646">
                        <a:tint val="93000"/>
                        <a:satMod val="120000"/>
                      </a:srgbClr>
                    </a:gs>
                    <a:gs pos="100000">
                      <a:srgbClr val="F79646">
                        <a:tint val="90000"/>
                        <a:satMod val="120000"/>
                      </a:srgb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Calibri"/>
                <a:ea typeface="+mj-ea"/>
                <a:cs typeface="+mj-cs"/>
              </a:rPr>
              <a:t>3. Lecture de la C2 </a:t>
            </a:r>
            <a:r>
              <a:rPr kumimoji="0" lang="fr-FR" altLang="fr-FR" sz="3600" b="1" i="0" u="none" strike="noStrike" kern="1200" cap="none" spc="0" normalizeH="0" baseline="0" noProof="0" dirty="0" err="1">
                <a:ln w="11430"/>
                <a:gradFill>
                  <a:gsLst>
                    <a:gs pos="0">
                      <a:srgbClr val="F79646">
                        <a:tint val="90000"/>
                        <a:satMod val="120000"/>
                      </a:srgbClr>
                    </a:gs>
                    <a:gs pos="25000">
                      <a:srgbClr val="F79646">
                        <a:tint val="93000"/>
                        <a:satMod val="120000"/>
                      </a:srgbClr>
                    </a:gs>
                    <a:gs pos="50000">
                      <a:srgbClr val="F79646">
                        <a:shade val="89000"/>
                        <a:satMod val="110000"/>
                      </a:srgbClr>
                    </a:gs>
                    <a:gs pos="75000">
                      <a:srgbClr val="F79646">
                        <a:tint val="93000"/>
                        <a:satMod val="120000"/>
                      </a:srgbClr>
                    </a:gs>
                    <a:gs pos="100000">
                      <a:srgbClr val="F79646">
                        <a:tint val="90000"/>
                        <a:satMod val="120000"/>
                      </a:srgb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Calibri"/>
                <a:ea typeface="+mj-ea"/>
                <a:cs typeface="+mj-cs"/>
              </a:rPr>
              <a:t>Xml</a:t>
            </a:r>
            <a:endParaRPr kumimoji="0" lang="fr-FR" altLang="fr-FR" sz="3600" b="1" i="0" u="none" strike="noStrike" kern="1200" cap="none" spc="0" normalizeH="0" baseline="0" noProof="0" dirty="0">
              <a:ln w="11430"/>
              <a:gradFill>
                <a:gsLst>
                  <a:gs pos="0">
                    <a:srgbClr val="F79646">
                      <a:tint val="90000"/>
                      <a:satMod val="120000"/>
                    </a:srgbClr>
                  </a:gs>
                  <a:gs pos="25000">
                    <a:srgbClr val="F79646">
                      <a:tint val="93000"/>
                      <a:satMod val="120000"/>
                    </a:srgbClr>
                  </a:gs>
                  <a:gs pos="50000">
                    <a:srgbClr val="F79646">
                      <a:shade val="89000"/>
                      <a:satMod val="110000"/>
                    </a:srgbClr>
                  </a:gs>
                  <a:gs pos="75000">
                    <a:srgbClr val="F79646">
                      <a:tint val="93000"/>
                      <a:satMod val="120000"/>
                    </a:srgbClr>
                  </a:gs>
                  <a:gs pos="100000">
                    <a:srgbClr val="F79646">
                      <a:tint val="90000"/>
                      <a:satMod val="120000"/>
                    </a:srgb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uLnTx/>
              <a:uFillTx/>
              <a:latin typeface="Calibri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454345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9C4C1943-A9BD-4889-9BB3-63F5F15601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690" y="1340768"/>
            <a:ext cx="4250754" cy="5256584"/>
          </a:xfrm>
          <a:prstGeom prst="rect">
            <a:avLst/>
          </a:prstGeom>
        </p:spPr>
      </p:pic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255690" y="621849"/>
            <a:ext cx="7700686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>
            <a:defPPr>
              <a:defRPr lang="fr-FR"/>
            </a:defPPr>
            <a:lvl1pPr marL="342900" indent="-342900" algn="ctr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b="1" kern="120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fr-FR" altLang="fr-FR" sz="2800" b="1" i="0" u="none" strike="noStrike" kern="1200" cap="none" spc="0" normalizeH="0" baseline="0" noProof="0" dirty="0">
                <a:ln w="10541" cmpd="sng">
                  <a:solidFill>
                    <a:srgbClr val="4F81BD">
                      <a:shade val="88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4F81BD">
                        <a:tint val="40000"/>
                        <a:satMod val="250000"/>
                      </a:srgbClr>
                    </a:gs>
                    <a:gs pos="9000">
                      <a:srgbClr val="4F81BD">
                        <a:tint val="52000"/>
                        <a:satMod val="300000"/>
                      </a:srgbClr>
                    </a:gs>
                    <a:gs pos="50000">
                      <a:srgbClr val="4F81BD">
                        <a:shade val="20000"/>
                        <a:satMod val="300000"/>
                      </a:srgbClr>
                    </a:gs>
                    <a:gs pos="79000">
                      <a:srgbClr val="4F81BD">
                        <a:tint val="52000"/>
                        <a:satMod val="300000"/>
                      </a:srgbClr>
                    </a:gs>
                    <a:gs pos="100000">
                      <a:srgbClr val="4F81BD">
                        <a:tint val="40000"/>
                        <a:satMod val="250000"/>
                      </a:srgbClr>
                    </a:gs>
                  </a:gsLst>
                  <a:lin ang="5400000"/>
                </a:gradFill>
                <a:effectLst/>
                <a:uLnTx/>
                <a:uFillTx/>
                <a:latin typeface="Calibri"/>
                <a:ea typeface="+mn-ea"/>
                <a:cs typeface="+mn-cs"/>
              </a:rPr>
              <a:t>3.3. Exemple d’analyse du contenu de la C2 Xml :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971600" y="-3930"/>
            <a:ext cx="7211144" cy="5539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>
            <a:defPPr>
              <a:defRPr lang="fr-FR"/>
            </a:defPPr>
            <a:lvl1pPr algn="ctr" defTabSz="914400" rtl="0" eaLnBrk="1" latinLnBrk="0" hangingPunct="1">
              <a:spcBef>
                <a:spcPct val="0"/>
              </a:spcBef>
              <a:buNone/>
              <a:defRPr sz="2800" b="1" kern="120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altLang="fr-FR" sz="3600" b="1" i="0" u="none" strike="noStrike" kern="1200" cap="none" spc="0" normalizeH="0" baseline="0" noProof="0" dirty="0">
                <a:ln w="11430"/>
                <a:gradFill>
                  <a:gsLst>
                    <a:gs pos="0">
                      <a:srgbClr val="F79646">
                        <a:tint val="90000"/>
                        <a:satMod val="120000"/>
                      </a:srgbClr>
                    </a:gs>
                    <a:gs pos="25000">
                      <a:srgbClr val="F79646">
                        <a:tint val="93000"/>
                        <a:satMod val="120000"/>
                      </a:srgbClr>
                    </a:gs>
                    <a:gs pos="50000">
                      <a:srgbClr val="F79646">
                        <a:shade val="89000"/>
                        <a:satMod val="110000"/>
                      </a:srgbClr>
                    </a:gs>
                    <a:gs pos="75000">
                      <a:srgbClr val="F79646">
                        <a:tint val="93000"/>
                        <a:satMod val="120000"/>
                      </a:srgbClr>
                    </a:gs>
                    <a:gs pos="100000">
                      <a:srgbClr val="F79646">
                        <a:tint val="90000"/>
                        <a:satMod val="120000"/>
                      </a:srgb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Calibri"/>
                <a:ea typeface="+mj-ea"/>
                <a:cs typeface="+mj-cs"/>
              </a:rPr>
              <a:t>3. Lecture de la C2 </a:t>
            </a:r>
            <a:r>
              <a:rPr kumimoji="0" lang="fr-FR" altLang="fr-FR" sz="3600" b="1" i="0" u="none" strike="noStrike" kern="1200" cap="none" spc="0" normalizeH="0" baseline="0" noProof="0" dirty="0" err="1">
                <a:ln w="11430"/>
                <a:gradFill>
                  <a:gsLst>
                    <a:gs pos="0">
                      <a:srgbClr val="F79646">
                        <a:tint val="90000"/>
                        <a:satMod val="120000"/>
                      </a:srgbClr>
                    </a:gs>
                    <a:gs pos="25000">
                      <a:srgbClr val="F79646">
                        <a:tint val="93000"/>
                        <a:satMod val="120000"/>
                      </a:srgbClr>
                    </a:gs>
                    <a:gs pos="50000">
                      <a:srgbClr val="F79646">
                        <a:shade val="89000"/>
                        <a:satMod val="110000"/>
                      </a:srgbClr>
                    </a:gs>
                    <a:gs pos="75000">
                      <a:srgbClr val="F79646">
                        <a:tint val="93000"/>
                        <a:satMod val="120000"/>
                      </a:srgbClr>
                    </a:gs>
                    <a:gs pos="100000">
                      <a:srgbClr val="F79646">
                        <a:tint val="90000"/>
                        <a:satMod val="120000"/>
                      </a:srgb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Calibri"/>
                <a:ea typeface="+mj-ea"/>
                <a:cs typeface="+mj-cs"/>
              </a:rPr>
              <a:t>Xml</a:t>
            </a:r>
            <a:endParaRPr kumimoji="0" lang="fr-FR" altLang="fr-FR" sz="3600" b="1" i="0" u="none" strike="noStrike" kern="1200" cap="none" spc="0" normalizeH="0" baseline="0" noProof="0" dirty="0">
              <a:ln w="11430"/>
              <a:gradFill>
                <a:gsLst>
                  <a:gs pos="0">
                    <a:srgbClr val="F79646">
                      <a:tint val="90000"/>
                      <a:satMod val="120000"/>
                    </a:srgbClr>
                  </a:gs>
                  <a:gs pos="25000">
                    <a:srgbClr val="F79646">
                      <a:tint val="93000"/>
                      <a:satMod val="120000"/>
                    </a:srgbClr>
                  </a:gs>
                  <a:gs pos="50000">
                    <a:srgbClr val="F79646">
                      <a:shade val="89000"/>
                      <a:satMod val="110000"/>
                    </a:srgbClr>
                  </a:gs>
                  <a:gs pos="75000">
                    <a:srgbClr val="F79646">
                      <a:tint val="93000"/>
                      <a:satMod val="120000"/>
                    </a:srgbClr>
                  </a:gs>
                  <a:gs pos="100000">
                    <a:srgbClr val="F79646">
                      <a:tint val="90000"/>
                      <a:satMod val="120000"/>
                    </a:srgb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uLnTx/>
              <a:uFillTx/>
              <a:latin typeface="Calibri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735973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255690" y="621849"/>
            <a:ext cx="7268638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>
            <a:defPPr>
              <a:defRPr lang="fr-FR"/>
            </a:defPPr>
            <a:lvl1pPr marL="342900" indent="-342900" algn="ctr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b="1" kern="120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Font typeface="Arial" pitchFamily="34" charset="0"/>
              <a:buNone/>
            </a:pPr>
            <a:r>
              <a:rPr lang="fr-FR" altLang="fr-FR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3.4. C2 </a:t>
            </a:r>
            <a:r>
              <a:rPr lang="fr-FR" altLang="fr-FR" dirty="0" err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Xml</a:t>
            </a:r>
            <a:r>
              <a:rPr lang="fr-FR" altLang="fr-FR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: Modules S37 et S52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971600" y="-3930"/>
            <a:ext cx="7211144" cy="5539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>
            <a:defPPr>
              <a:defRPr lang="fr-FR"/>
            </a:defPPr>
            <a:lvl1pPr algn="ctr" defTabSz="914400" rtl="0" eaLnBrk="1" latinLnBrk="0" hangingPunct="1">
              <a:spcBef>
                <a:spcPct val="0"/>
              </a:spcBef>
              <a:buNone/>
              <a:defRPr sz="2800" b="1" kern="120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fr-FR" altLang="fr-FR" sz="3600" dirty="0">
                <a:gradFill>
                  <a:gsLst>
                    <a:gs pos="0">
                      <a:srgbClr val="F79646">
                        <a:tint val="90000"/>
                        <a:satMod val="120000"/>
                      </a:srgbClr>
                    </a:gs>
                    <a:gs pos="25000">
                      <a:srgbClr val="F79646">
                        <a:tint val="93000"/>
                        <a:satMod val="120000"/>
                      </a:srgbClr>
                    </a:gs>
                    <a:gs pos="50000">
                      <a:srgbClr val="F79646">
                        <a:shade val="89000"/>
                        <a:satMod val="110000"/>
                      </a:srgbClr>
                    </a:gs>
                    <a:gs pos="75000">
                      <a:srgbClr val="F79646">
                        <a:tint val="93000"/>
                        <a:satMod val="120000"/>
                      </a:srgbClr>
                    </a:gs>
                    <a:gs pos="100000">
                      <a:srgbClr val="F79646">
                        <a:tint val="90000"/>
                        <a:satMod val="120000"/>
                      </a:srgbClr>
                    </a:gs>
                  </a:gsLst>
                  <a:lin ang="5400000"/>
                </a:gradFill>
              </a:rPr>
              <a:t>3. Lecture de la C2 </a:t>
            </a:r>
            <a:r>
              <a:rPr lang="fr-FR" altLang="fr-FR" sz="3600" dirty="0" err="1">
                <a:gradFill>
                  <a:gsLst>
                    <a:gs pos="0">
                      <a:srgbClr val="F79646">
                        <a:tint val="90000"/>
                        <a:satMod val="120000"/>
                      </a:srgbClr>
                    </a:gs>
                    <a:gs pos="25000">
                      <a:srgbClr val="F79646">
                        <a:tint val="93000"/>
                        <a:satMod val="120000"/>
                      </a:srgbClr>
                    </a:gs>
                    <a:gs pos="50000">
                      <a:srgbClr val="F79646">
                        <a:shade val="89000"/>
                        <a:satMod val="110000"/>
                      </a:srgbClr>
                    </a:gs>
                    <a:gs pos="75000">
                      <a:srgbClr val="F79646">
                        <a:tint val="93000"/>
                        <a:satMod val="120000"/>
                      </a:srgbClr>
                    </a:gs>
                    <a:gs pos="100000">
                      <a:srgbClr val="F79646">
                        <a:tint val="90000"/>
                        <a:satMod val="120000"/>
                      </a:srgbClr>
                    </a:gs>
                  </a:gsLst>
                  <a:lin ang="5400000"/>
                </a:gradFill>
              </a:rPr>
              <a:t>Xml</a:t>
            </a:r>
            <a:endParaRPr lang="fr-FR" altLang="fr-FR" sz="3600" dirty="0">
              <a:gradFill>
                <a:gsLst>
                  <a:gs pos="0">
                    <a:srgbClr val="F79646">
                      <a:tint val="90000"/>
                      <a:satMod val="120000"/>
                    </a:srgbClr>
                  </a:gs>
                  <a:gs pos="25000">
                    <a:srgbClr val="F79646">
                      <a:tint val="93000"/>
                      <a:satMod val="120000"/>
                    </a:srgbClr>
                  </a:gs>
                  <a:gs pos="50000">
                    <a:srgbClr val="F79646">
                      <a:shade val="89000"/>
                      <a:satMod val="110000"/>
                    </a:srgbClr>
                  </a:gs>
                  <a:gs pos="75000">
                    <a:srgbClr val="F79646">
                      <a:tint val="93000"/>
                      <a:satMod val="120000"/>
                    </a:srgbClr>
                  </a:gs>
                  <a:gs pos="100000">
                    <a:srgbClr val="F79646">
                      <a:tint val="90000"/>
                      <a:satMod val="120000"/>
                    </a:srgbClr>
                  </a:gs>
                </a:gsLst>
                <a:lin ang="5400000"/>
              </a:gradFill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228412" y="1484784"/>
            <a:ext cx="7927054" cy="59246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BE" sz="2800" b="1" u="sng" dirty="0"/>
              <a:t>Modules S37</a:t>
            </a:r>
            <a:r>
              <a:rPr lang="fr-BE" sz="2800" b="1" dirty="0"/>
              <a:t>: </a:t>
            </a:r>
          </a:p>
          <a:p>
            <a:pPr>
              <a:spcBef>
                <a:spcPts val="600"/>
              </a:spcBef>
            </a:pPr>
            <a:r>
              <a:rPr lang="fr-BE" sz="2800" dirty="0"/>
              <a:t>Zone reprenant un </a:t>
            </a:r>
            <a:r>
              <a:rPr lang="fr-BE" sz="2800" b="1" dirty="0">
                <a:solidFill>
                  <a:srgbClr val="C00000"/>
                </a:solidFill>
              </a:rPr>
              <a:t>commentaire à destination de l’OP</a:t>
            </a:r>
          </a:p>
          <a:p>
            <a:pPr marL="1182688" lvl="1" indent="-457200">
              <a:buFont typeface="Wingdings" panose="05000000000000000000" pitchFamily="2" charset="2"/>
              <a:buChar char="è"/>
            </a:pPr>
            <a:r>
              <a:rPr lang="fr-BE" sz="2800" dirty="0">
                <a:sym typeface="Wingdings" panose="05000000000000000000" pitchFamily="2" charset="2"/>
              </a:rPr>
              <a:t>Motif en cas de prolongation de C2 après introduction d’un C9 type Z obligatoirement renseigné (= avis de non révision)</a:t>
            </a:r>
          </a:p>
          <a:p>
            <a:pPr marL="725488" lvl="1"/>
            <a:r>
              <a:rPr lang="fr-BE" sz="2800" b="1" dirty="0">
                <a:sym typeface="Wingdings" panose="05000000000000000000" pitchFamily="2" charset="2"/>
              </a:rPr>
              <a:t> </a:t>
            </a:r>
          </a:p>
          <a:p>
            <a:pPr marL="268288" lvl="1" indent="-268288">
              <a:buFont typeface="Arial" panose="020B0604020202020204" pitchFamily="34" charset="0"/>
              <a:buChar char="•"/>
            </a:pPr>
            <a:r>
              <a:rPr lang="fr-BE" sz="2800" b="1" u="sng" dirty="0">
                <a:sym typeface="Wingdings" panose="05000000000000000000" pitchFamily="2" charset="2"/>
              </a:rPr>
              <a:t>Module S52:</a:t>
            </a:r>
          </a:p>
          <a:p>
            <a:pPr marL="0" lvl="1">
              <a:spcBef>
                <a:spcPts val="600"/>
              </a:spcBef>
            </a:pPr>
            <a:r>
              <a:rPr lang="fr-BE" sz="2800" dirty="0">
                <a:sym typeface="Wingdings" panose="05000000000000000000" pitchFamily="2" charset="2"/>
              </a:rPr>
              <a:t>Motif de refus d’une dispense ou d’une autorisation</a:t>
            </a:r>
          </a:p>
          <a:p>
            <a:pPr marL="725488" lvl="1">
              <a:spcBef>
                <a:spcPts val="600"/>
              </a:spcBef>
            </a:pPr>
            <a:r>
              <a:rPr lang="fr-BE" sz="2800" b="1" dirty="0">
                <a:sym typeface="Wingdings" panose="05000000000000000000" pitchFamily="2" charset="2"/>
              </a:rPr>
              <a:t> Valable également pour les demandes C54 refusées  </a:t>
            </a:r>
            <a:br>
              <a:rPr lang="fr-BE" sz="2800" b="1" dirty="0">
                <a:sym typeface="Wingdings" panose="05000000000000000000" pitchFamily="2" charset="2"/>
              </a:rPr>
            </a:br>
            <a:endParaRPr lang="fr-BE" sz="2800" b="1" dirty="0">
              <a:sym typeface="Wingdings" panose="05000000000000000000" pitchFamily="2" charset="2"/>
            </a:endParaRPr>
          </a:p>
          <a:p>
            <a:pPr lvl="1" indent="-457200">
              <a:buFont typeface="Arial" panose="020B0604020202020204" pitchFamily="34" charset="0"/>
              <a:buChar char="•"/>
            </a:pPr>
            <a:endParaRPr lang="fr-BE" sz="2800" b="1" dirty="0">
              <a:sym typeface="Wingdings" panose="05000000000000000000" pitchFamily="2" charset="2"/>
            </a:endParaRPr>
          </a:p>
        </p:txBody>
      </p:sp>
      <p:sp>
        <p:nvSpPr>
          <p:cNvPr id="8" name="Rectangle 7">
            <a:hlinkClick r:id="" action="ppaction://noaction"/>
          </p:cNvPr>
          <p:cNvSpPr/>
          <p:nvPr/>
        </p:nvSpPr>
        <p:spPr>
          <a:xfrm>
            <a:off x="228412" y="1484784"/>
            <a:ext cx="2615396" cy="5760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A0575E2-C3DF-0365-73A0-EF1D1F038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34B3C26-925A-9ADB-F662-9E49F6E44B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594725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theme/theme1.xml><?xml version="1.0" encoding="utf-8"?>
<a:theme xmlns:a="http://schemas.openxmlformats.org/drawingml/2006/main" name="2_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762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D8C07EE20480F44AE4960B9D2A32DA0" ma:contentTypeVersion="4" ma:contentTypeDescription="Crée un document." ma:contentTypeScope="" ma:versionID="f91216ef509c6a584f12053dcd624016">
  <xsd:schema xmlns:xsd="http://www.w3.org/2001/XMLSchema" xmlns:xs="http://www.w3.org/2001/XMLSchema" xmlns:p="http://schemas.microsoft.com/office/2006/metadata/properties" xmlns:ns2="badce1e3-4228-484a-9cea-a1abab477a44" xmlns:ns3="f1b85f46-8f47-4c7a-8346-9752567dac4a" targetNamespace="http://schemas.microsoft.com/office/2006/metadata/properties" ma:root="true" ma:fieldsID="0302afb9b051af15bdd7c100f38d2307" ns2:_="" ns3:_="">
    <xsd:import namespace="badce1e3-4228-484a-9cea-a1abab477a44"/>
    <xsd:import namespace="f1b85f46-8f47-4c7a-8346-9752567dac4a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dce1e3-4228-484a-9cea-a1abab477a44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b85f46-8f47-4c7a-8346-9752567dac4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C607886-6DD8-407A-B3F8-910E34AE714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adce1e3-4228-484a-9cea-a1abab477a44"/>
    <ds:schemaRef ds:uri="f1b85f46-8f47-4c7a-8346-9752567dac4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80AE624-48A9-4E9A-888B-DFB20D73439D}">
  <ds:schemaRefs>
    <ds:schemaRef ds:uri="1e832426-6819-49af-b751-404cdfce1567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bdec1399-7c99-4025-bfb6-e1e799e6630a"/>
    <ds:schemaRef ds:uri="http://schemas.microsoft.com/office/infopath/2007/PartnerControls"/>
    <ds:schemaRef ds:uri="http://purl.org/dc/terms/"/>
    <ds:schemaRef ds:uri="7d2a3af0-b854-4018-b3fb-98bf2b75e19a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B1BB7622-268C-420F-9D8A-F8282022A9F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15948</TotalTime>
  <Words>679</Words>
  <Application>Microsoft Office PowerPoint</Application>
  <PresentationFormat>Affichage à l'écran (4:3)</PresentationFormat>
  <Paragraphs>118</Paragraphs>
  <Slides>17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17</vt:i4>
      </vt:variant>
    </vt:vector>
  </HeadingPairs>
  <TitlesOfParts>
    <vt:vector size="22" baseType="lpstr">
      <vt:lpstr>Arial</vt:lpstr>
      <vt:lpstr>Calibri</vt:lpstr>
      <vt:lpstr>Wingdings</vt:lpstr>
      <vt:lpstr>2_Thème Office</vt:lpstr>
      <vt:lpstr>Thème Office</vt:lpstr>
      <vt:lpstr> La C2 XML  </vt:lpstr>
      <vt:lpstr>Présentation PowerPoint</vt:lpstr>
      <vt:lpstr>Introduction</vt:lpstr>
      <vt:lpstr>Introduction</vt:lpstr>
      <vt:lpstr>Introduction </vt:lpstr>
      <vt:lpstr>Structure de base la C2 Xml</vt:lpstr>
      <vt:lpstr>Structure de base la C2 Xml</vt:lpstr>
      <vt:lpstr>Structure de base la C2 Xml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ACV-CSC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FCJ-M41-Lecture C2 Xml-FLT</dc:title>
  <dc:creator>u99lge</dc:creator>
  <cp:lastModifiedBy>Ali Bakhouch</cp:lastModifiedBy>
  <cp:revision>659</cp:revision>
  <cp:lastPrinted>2015-12-02T11:32:11Z</cp:lastPrinted>
  <dcterms:created xsi:type="dcterms:W3CDTF">2010-09-22T12:12:06Z</dcterms:created>
  <dcterms:modified xsi:type="dcterms:W3CDTF">2023-11-23T08:29:47Z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0x010100BD8C07EE20480F44AE4960B9D2A32DA0</vt:lpwstr>
  </property>
  <property fmtid="{D5CDD505-2E9C-101B-9397-08002B2CF9AE}" pid="3" name="Type formation">
    <vt:lpwstr>42;#FCJ formation junior|010f76d4-1162-4810-b874-62b7f270a9bc</vt:lpwstr>
  </property>
  <property fmtid="{D5CDD505-2E9C-101B-9397-08002B2CF9AE}" pid="4" name="Type document">
    <vt:lpwstr>29;#Présentation|66a9a075-20e6-47e0-8483-85d2e9240401</vt:lpwstr>
  </property>
  <property fmtid="{D5CDD505-2E9C-101B-9397-08002B2CF9AE}" pid="5" name="Public Cible">
    <vt:lpwstr>12;#FLT|f342c2bc-e504-4fe0-8d5d-34c04f2f783f</vt:lpwstr>
  </property>
  <property fmtid="{D5CDD505-2E9C-101B-9397-08002B2CF9AE}" pid="6" name="Domaine">
    <vt:lpwstr>17;#Admissibilité|d1ac0b1f-1e4c-4aa8-9a97-5b01e61985ba;#18;#Vérités|91331765-02c2-47c0-8605-37a5a3e877f2</vt:lpwstr>
  </property>
  <property fmtid="{D5CDD505-2E9C-101B-9397-08002B2CF9AE}" pid="7" name="Thème">
    <vt:lpwstr>163;#Lecture C2|3b403e12-639c-4231-a065-a116b08894d6</vt:lpwstr>
  </property>
  <property fmtid="{D5CDD505-2E9C-101B-9397-08002B2CF9AE}" pid="8" name="Order">
    <vt:r8>133800</vt:r8>
  </property>
  <property fmtid="{D5CDD505-2E9C-101B-9397-08002B2CF9AE}" pid="9" name="_dlc_DocIdItemGuid">
    <vt:lpwstr>1cea407c-c86e-4f9b-9a25-181631bb578d</vt:lpwstr>
  </property>
</Properties>
</file>