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314" r:id="rId5"/>
    <p:sldId id="315" r:id="rId6"/>
    <p:sldId id="263" r:id="rId7"/>
    <p:sldId id="264" r:id="rId8"/>
    <p:sldId id="265" r:id="rId9"/>
    <p:sldId id="266" r:id="rId10"/>
    <p:sldId id="267" r:id="rId11"/>
    <p:sldId id="283" r:id="rId12"/>
    <p:sldId id="284" r:id="rId13"/>
    <p:sldId id="293" r:id="rId14"/>
    <p:sldId id="294" r:id="rId15"/>
    <p:sldId id="295" r:id="rId16"/>
    <p:sldId id="296" r:id="rId17"/>
    <p:sldId id="297" r:id="rId18"/>
    <p:sldId id="307" r:id="rId19"/>
    <p:sldId id="303" r:id="rId20"/>
    <p:sldId id="308" r:id="rId21"/>
    <p:sldId id="298" r:id="rId22"/>
    <p:sldId id="299" r:id="rId23"/>
    <p:sldId id="309" r:id="rId24"/>
    <p:sldId id="311" r:id="rId25"/>
    <p:sldId id="313" r:id="rId26"/>
    <p:sldId id="312" r:id="rId27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82" autoAdjust="0"/>
    <p:restoredTop sz="80935" autoAdjust="0"/>
  </p:normalViewPr>
  <p:slideViewPr>
    <p:cSldViewPr>
      <p:cViewPr varScale="1">
        <p:scale>
          <a:sx n="66" d="100"/>
          <a:sy n="66" d="100"/>
        </p:scale>
        <p:origin x="14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9" cy="495348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6" y="0"/>
            <a:ext cx="2889939" cy="495348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F525AEAC-78EE-4929-8D97-85BB56C6BA41}" type="datetimeFigureOut">
              <a:rPr lang="en-US" smtClean="0"/>
              <a:t>12/5/2022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8"/>
            <a:ext cx="2889939" cy="495347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6" y="9377318"/>
            <a:ext cx="2889939" cy="495347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751A8F15-AE8F-4C02-B5CC-F4D1BAD4D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355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6" y="0"/>
            <a:ext cx="2889939" cy="493634"/>
          </a:xfrm>
          <a:prstGeom prst="rect">
            <a:avLst/>
          </a:prstGeom>
        </p:spPr>
        <p:txBody>
          <a:bodyPr vert="horz" lIns="91815" tIns="45907" rIns="91815" bIns="45907" rtlCol="0"/>
          <a:lstStyle>
            <a:lvl1pPr algn="r">
              <a:defRPr sz="1200"/>
            </a:lvl1pPr>
          </a:lstStyle>
          <a:p>
            <a:fld id="{E6D34DC5-836A-4F76-8ED7-963AD4E84C01}" type="datetimeFigureOut">
              <a:rPr lang="fr-BE" smtClean="0"/>
              <a:t>05-12-22</a:t>
            </a:fld>
            <a:endParaRPr lang="fr-BE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7" rIns="91815" bIns="45907" rtlCol="0" anchor="ctr"/>
          <a:lstStyle/>
          <a:p>
            <a:endParaRPr lang="fr-BE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7"/>
            <a:ext cx="5335270" cy="4442699"/>
          </a:xfrm>
          <a:prstGeom prst="rect">
            <a:avLst/>
          </a:prstGeom>
        </p:spPr>
        <p:txBody>
          <a:bodyPr vert="horz" lIns="91815" tIns="45907" rIns="91815" bIns="45907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88993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6" y="9377316"/>
            <a:ext cx="2889939" cy="493634"/>
          </a:xfrm>
          <a:prstGeom prst="rect">
            <a:avLst/>
          </a:prstGeom>
        </p:spPr>
        <p:txBody>
          <a:bodyPr vert="horz" lIns="91815" tIns="45907" rIns="91815" bIns="45907" rtlCol="0" anchor="b"/>
          <a:lstStyle>
            <a:lvl1pPr algn="r">
              <a:defRPr sz="1200"/>
            </a:lvl1pPr>
          </a:lstStyle>
          <a:p>
            <a:fld id="{CDD7832A-697F-48BA-927B-F45C67DA6C55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0444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655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4179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4023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674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1118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1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9765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022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9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984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="0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952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11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07022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BE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914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2375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BE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2206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BE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090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16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98269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17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66809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8903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5569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fr-BE" baseline="0" noProof="0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D7832A-697F-48BA-927B-F45C67DA6C55}" type="slidenum">
              <a:rPr lang="fr-BE" smtClean="0"/>
              <a:t>20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24956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5193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3769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987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35ACE-901E-48A9-AB06-55DF87AE599E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93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5954-8CC5-48F6-9624-841FCF504730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09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DD25-F3C2-4C9B-90F6-D78B17FCD293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2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E090-B63A-4A9A-BE41-327FF65E52B8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929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D584-BCDA-4094-9410-299A8819F8BC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10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488D5-2528-4C05-A201-2C6D318F2C3D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4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2AC53-DCFF-4B2F-AA40-2531079F0430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87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3F4-C9C3-4FC0-8F2D-DA6294A0BA3F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34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9ED1-FA67-444B-AC11-F159B8321884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57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3B9A-F8ED-4307-89BD-4A6661B8A8BD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9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65102-5991-465B-8DB3-9B5C77CEF8D9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73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D3745-03DE-4D4C-9CA7-A0AFF8A49B0D}" type="datetime1">
              <a:rPr lang="fr-BE" smtClean="0">
                <a:solidFill>
                  <a:prstClr val="black">
                    <a:tint val="75000"/>
                  </a:prstClr>
                </a:solidFill>
              </a:rPr>
              <a:t>05-12-22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6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56793"/>
            <a:ext cx="7772400" cy="2808312"/>
          </a:xfrm>
        </p:spPr>
        <p:txBody>
          <a:bodyPr>
            <a:normAutofit/>
          </a:bodyPr>
          <a:lstStyle/>
          <a:p>
            <a:r>
              <a:rPr lang="fr-BE" b="1" i="1" dirty="0"/>
              <a:t>FCJ Module 36 :</a:t>
            </a:r>
            <a:br>
              <a:rPr lang="fr-BE" b="1" i="1" dirty="0"/>
            </a:br>
            <a:r>
              <a:rPr lang="fr-BE" b="1" i="1" dirty="0"/>
              <a:t>LE TRAVAIL A TEMPS PARTIEL AVEC MAINTIEN DES DROITS</a:t>
            </a:r>
            <a:br>
              <a:rPr lang="fr-BE" b="1" i="1" dirty="0"/>
            </a:br>
            <a:r>
              <a:rPr lang="fr-BE" sz="3600" b="1" i="1" dirty="0"/>
              <a:t>Niv.2</a:t>
            </a:r>
            <a:endParaRPr lang="fr-BE" b="1" i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b="1" i="1" dirty="0">
              <a:solidFill>
                <a:schemeClr val="tx1"/>
              </a:solidFill>
            </a:endParaRPr>
          </a:p>
          <a:p>
            <a:r>
              <a:rPr lang="fr-BE" b="1" i="1" dirty="0">
                <a:solidFill>
                  <a:schemeClr val="tx1"/>
                </a:solidFill>
              </a:rPr>
              <a:t>AR 29 – AR 131 bis  </a:t>
            </a:r>
            <a:endParaRPr lang="fr-FR" b="1" i="1" dirty="0">
              <a:solidFill>
                <a:schemeClr val="tx1"/>
              </a:solidFill>
            </a:endParaRP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1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dirty="0"/>
              <a:t>05.12.2022 </a:t>
            </a:r>
          </a:p>
        </p:txBody>
      </p:sp>
    </p:spTree>
    <p:extLst>
      <p:ext uri="{BB962C8B-B14F-4D97-AF65-F5344CB8AC3E}">
        <p14:creationId xmlns:p14="http://schemas.microsoft.com/office/powerpoint/2010/main" val="221584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/>
              <a:t>TABLE DES MATIERES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2</a:t>
            </a:fld>
            <a:endParaRPr lang="fr-BE" dirty="0"/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75B87D6D-D60E-4EDC-92CD-BAE1DD678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815263"/>
              </p:ext>
            </p:extLst>
          </p:nvPr>
        </p:nvGraphicFramePr>
        <p:xfrm>
          <a:off x="1187624" y="1628800"/>
          <a:ext cx="6954647" cy="407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75040">
                  <a:extLst>
                    <a:ext uri="{9D8B030D-6E8A-4147-A177-3AD203B41FA5}">
                      <a16:colId xmlns:a16="http://schemas.microsoft.com/office/drawing/2014/main" val="1325186098"/>
                    </a:ext>
                  </a:extLst>
                </a:gridCol>
                <a:gridCol w="679607">
                  <a:extLst>
                    <a:ext uri="{9D8B030D-6E8A-4147-A177-3AD203B41FA5}">
                      <a16:colId xmlns:a16="http://schemas.microsoft.com/office/drawing/2014/main" val="546972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Régularisation 29§2bis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855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Proportionner l’IC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46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Début d’occupation et AGR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951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AGR plusieurs occupations à temps partiel (même mois)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38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Début d’une 2</a:t>
                      </a:r>
                      <a:r>
                        <a:rPr lang="fr-BE" b="0" baseline="30000" dirty="0"/>
                        <a:t>ème</a:t>
                      </a:r>
                      <a:r>
                        <a:rPr lang="fr-BE" b="0" dirty="0"/>
                        <a:t> occupation à temps partiel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88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57→99 ou 99→57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082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TTPMD avec AGR &amp; vacances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25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Requalification des heures A en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0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Disponibilité adaptée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4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Période de carence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255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0" dirty="0"/>
                        <a:t>Tâches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b="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87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53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258204" cy="1082660"/>
          </a:xfrm>
          <a:ln>
            <a:noFill/>
          </a:ln>
        </p:spPr>
        <p:txBody>
          <a:bodyPr>
            <a:normAutofit/>
          </a:bodyPr>
          <a:lstStyle/>
          <a:p>
            <a:pPr algn="r">
              <a:defRPr/>
            </a:pPr>
            <a:r>
              <a:rPr lang="fr-BE" b="1" i="1" dirty="0"/>
              <a:t>Régularisation 29§2 bis</a:t>
            </a:r>
            <a:endParaRPr lang="fr-FR" b="1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fr-BE" sz="3200" b="1" dirty="0">
                <a:solidFill>
                  <a:srgbClr val="C00000"/>
                </a:solidFill>
                <a:sym typeface="Wingdings" pitchFamily="2" charset="2"/>
              </a:rPr>
              <a:t>Si l’introduction de la demande de TTPMD est hors délai</a:t>
            </a:r>
            <a:r>
              <a:rPr lang="fr-BE" sz="3200" dirty="0">
                <a:sym typeface="Wingdings" pitchFamily="2" charset="2"/>
              </a:rPr>
              <a:t>, un statut de TTPMD peut être octroyé si :</a:t>
            </a:r>
          </a:p>
          <a:p>
            <a:pPr marL="725488" lvl="1" indent="-373063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i="1" dirty="0">
                <a:sym typeface="Wingdings" pitchFamily="2" charset="2"/>
              </a:rPr>
              <a:t> Une demande de TTPMD est introduite,</a:t>
            </a:r>
          </a:p>
          <a:p>
            <a:pPr marL="514350" lvl="1" indent="-514350">
              <a:spcBef>
                <a:spcPts val="0"/>
              </a:spcBef>
              <a:buNone/>
            </a:pPr>
            <a:r>
              <a:rPr lang="fr-BE" sz="3200" b="1" i="1" dirty="0">
                <a:sym typeface="Wingdings" pitchFamily="2" charset="2"/>
              </a:rPr>
              <a:t>ET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i="1" dirty="0">
                <a:sym typeface="Wingdings" pitchFamily="2" charset="2"/>
              </a:rPr>
              <a:t>Si au moment de la DA, il satisfait aux conditions pour être admis au bénéfice des allocations à temps plein.</a:t>
            </a:r>
          </a:p>
          <a:p>
            <a:pPr marL="514350" lvl="1" indent="-514350">
              <a:spcBef>
                <a:spcPts val="0"/>
              </a:spcBef>
              <a:buNone/>
            </a:pPr>
            <a:endParaRPr lang="fr-BE" sz="2800" b="1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87405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258204" cy="1082660"/>
          </a:xfrm>
          <a:ln>
            <a:noFill/>
          </a:ln>
        </p:spPr>
        <p:txBody>
          <a:bodyPr>
            <a:normAutofit/>
          </a:bodyPr>
          <a:lstStyle/>
          <a:p>
            <a:pPr algn="r">
              <a:defRPr/>
            </a:pPr>
            <a:r>
              <a:rPr lang="fr-BE" b="1" i="1" dirty="0"/>
              <a:t>Régularisation 29§2 bis</a:t>
            </a:r>
            <a:endParaRPr lang="fr-FR" b="1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712968" cy="4525963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fr-BE" sz="3200" i="1" dirty="0">
                <a:sym typeface="Wingdings" pitchFamily="2" charset="2"/>
              </a:rPr>
              <a:t>Il existe 3 situations de demande de régularisation 29§2 bis :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3200" dirty="0">
              <a:sym typeface="Wingdings" pitchFamily="2" charset="2"/>
            </a:endParaRPr>
          </a:p>
          <a:p>
            <a:pPr marL="914400" lvl="2" indent="-514350">
              <a:spcBef>
                <a:spcPts val="0"/>
              </a:spcBef>
              <a:buFont typeface="+mj-lt"/>
              <a:buAutoNum type="alphaUcPeriod"/>
            </a:pPr>
            <a:r>
              <a:rPr lang="fr-BE" sz="3200" b="1" i="1" dirty="0">
                <a:solidFill>
                  <a:srgbClr val="C00000"/>
                </a:solidFill>
                <a:sym typeface="Wingdings" pitchFamily="2" charset="2"/>
              </a:rPr>
              <a:t>Pendant l’occupation ;</a:t>
            </a:r>
          </a:p>
          <a:p>
            <a:pPr marL="514350" lvl="1" indent="-514350">
              <a:spcBef>
                <a:spcPts val="0"/>
              </a:spcBef>
              <a:buNone/>
            </a:pPr>
            <a:endParaRPr lang="fr-BE" sz="3200" b="1" i="1" dirty="0">
              <a:solidFill>
                <a:srgbClr val="C00000"/>
              </a:solidFill>
              <a:sym typeface="Wingdings" pitchFamily="2" charset="2"/>
            </a:endParaRPr>
          </a:p>
          <a:p>
            <a:pPr marL="914400" lvl="2" indent="-514350">
              <a:spcBef>
                <a:spcPts val="0"/>
              </a:spcBef>
              <a:buFont typeface="+mj-lt"/>
              <a:buAutoNum type="alphaUcPeriod" startAt="2"/>
            </a:pPr>
            <a:r>
              <a:rPr lang="fr-BE" sz="3200" b="1" i="1" dirty="0">
                <a:solidFill>
                  <a:srgbClr val="C00000"/>
                </a:solidFill>
                <a:sym typeface="Wingdings" pitchFamily="2" charset="2"/>
              </a:rPr>
              <a:t>En cas de chômage temporaire ;</a:t>
            </a:r>
          </a:p>
          <a:p>
            <a:pPr marL="514350" lvl="1" indent="-514350">
              <a:spcBef>
                <a:spcPts val="0"/>
              </a:spcBef>
              <a:buNone/>
            </a:pPr>
            <a:endParaRPr lang="fr-BE" sz="3200" b="1" i="1" dirty="0">
              <a:solidFill>
                <a:srgbClr val="C00000"/>
              </a:solidFill>
              <a:sym typeface="Wingdings" pitchFamily="2" charset="2"/>
            </a:endParaRPr>
          </a:p>
          <a:p>
            <a:pPr marL="914400" lvl="2" indent="-514350">
              <a:spcBef>
                <a:spcPts val="0"/>
              </a:spcBef>
              <a:buFont typeface="+mj-lt"/>
              <a:buAutoNum type="alphaUcPeriod" startAt="3"/>
            </a:pPr>
            <a:r>
              <a:rPr lang="fr-BE" sz="3200" b="1" i="1" dirty="0">
                <a:solidFill>
                  <a:srgbClr val="C00000"/>
                </a:solidFill>
                <a:sym typeface="Wingdings" pitchFamily="2" charset="2"/>
              </a:rPr>
              <a:t>A la fin de l’occupation.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3200" i="1" dirty="0">
              <a:sym typeface="Wingdings" pitchFamily="2" charset="2"/>
            </a:endParaRPr>
          </a:p>
          <a:p>
            <a:pPr marL="0" lvl="1" indent="0">
              <a:spcBef>
                <a:spcPts val="0"/>
              </a:spcBef>
              <a:buFont typeface="Wingdings" pitchFamily="2" charset="2"/>
              <a:buChar char="§"/>
            </a:pPr>
            <a:endParaRPr lang="fr-BE" sz="3200" i="1" dirty="0">
              <a:sym typeface="Wingdings" pitchFamily="2" charset="2"/>
            </a:endParaRPr>
          </a:p>
          <a:p>
            <a:pPr marL="514350" lvl="1" indent="-514350">
              <a:spcBef>
                <a:spcPts val="0"/>
              </a:spcBef>
              <a:buNone/>
            </a:pPr>
            <a:endParaRPr lang="fr-BE" sz="2800" b="1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9911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258204" cy="1082660"/>
          </a:xfrm>
          <a:ln>
            <a:noFill/>
          </a:ln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fr-BE" b="1" i="1" dirty="0"/>
              <a:t>Régularisation 29§2 bis</a:t>
            </a:r>
            <a:br>
              <a:rPr lang="fr-BE" b="1" i="1" dirty="0"/>
            </a:br>
            <a:r>
              <a:rPr lang="fr-BE" b="1" i="1" dirty="0"/>
              <a:t>A. Pendant l’occupation </a:t>
            </a:r>
            <a:endParaRPr lang="fr-FR" b="1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3272" cy="4525963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fr-BE" sz="3000" dirty="0">
                <a:sym typeface="Wingdings" pitchFamily="2" charset="2"/>
              </a:rPr>
              <a:t>L’intéressé doit :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i="1" dirty="0">
                <a:sym typeface="Wingdings" pitchFamily="2" charset="2"/>
              </a:rPr>
              <a:t>Etre admissible et indemnisable à temps plein </a:t>
            </a:r>
            <a:r>
              <a:rPr lang="fr-BE" sz="2400" i="1" dirty="0">
                <a:sym typeface="Wingdings" pitchFamily="2" charset="2"/>
              </a:rPr>
              <a:t>(AR29§2 1°) </a:t>
            </a:r>
            <a:r>
              <a:rPr lang="fr-BE" sz="3000" i="1" dirty="0">
                <a:sym typeface="Wingdings" pitchFamily="2" charset="2"/>
              </a:rPr>
              <a:t>au début de l’occupation.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i="1" dirty="0">
                <a:sym typeface="Wingdings" pitchFamily="2" charset="2"/>
              </a:rPr>
              <a:t>Etre toujours admissible à temps plein au moment de la réception de la DA au BC.</a:t>
            </a:r>
          </a:p>
          <a:p>
            <a:pPr marL="809625" lvl="1" indent="-457200">
              <a:spcBef>
                <a:spcPts val="0"/>
              </a:spcBef>
              <a:buNone/>
            </a:pPr>
            <a:endParaRPr lang="fr-BE" i="1" dirty="0">
              <a:sym typeface="Wingdings" pitchFamily="2" charset="2"/>
            </a:endParaRP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400" i="1" dirty="0">
                <a:sym typeface="Wingdings" pitchFamily="2" charset="2"/>
              </a:rPr>
              <a:t>L’admissibilité peut être prouvée sur base de l’AR 30, 36 ou 42.</a:t>
            </a: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400" i="1" dirty="0">
                <a:sym typeface="Wingdings" pitchFamily="2" charset="2"/>
              </a:rPr>
              <a:t>Le statut de TTPMD pour les autres secteurs de la sécurité sociale sera accordé à la date de réception.</a:t>
            </a:r>
          </a:p>
          <a:p>
            <a:pPr marL="0" lvl="1" indent="0">
              <a:spcBef>
                <a:spcPts val="0"/>
              </a:spcBef>
              <a:buFont typeface="Wingdings" pitchFamily="2" charset="2"/>
              <a:buChar char="§"/>
            </a:pPr>
            <a:endParaRPr lang="fr-BE" sz="3200" i="1" dirty="0">
              <a:sym typeface="Wingdings" pitchFamily="2" charset="2"/>
            </a:endParaRPr>
          </a:p>
          <a:p>
            <a:pPr marL="514350" lvl="1" indent="-514350">
              <a:spcBef>
                <a:spcPts val="0"/>
              </a:spcBef>
              <a:buNone/>
            </a:pPr>
            <a:endParaRPr lang="fr-BE" sz="2800" b="1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84142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258204" cy="1082660"/>
          </a:xfrm>
          <a:ln>
            <a:noFill/>
          </a:ln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fr-BE" b="1" i="1" dirty="0"/>
              <a:t>Régularisation 29§2 bis</a:t>
            </a:r>
            <a:br>
              <a:rPr lang="fr-BE" b="1" i="1" dirty="0"/>
            </a:br>
            <a:r>
              <a:rPr lang="fr-BE" b="1" i="1" dirty="0"/>
              <a:t>B. En cas de DA en CT</a:t>
            </a:r>
            <a:endParaRPr lang="fr-FR" b="1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640960" cy="4525963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fr-BE" sz="3000" dirty="0">
                <a:sym typeface="Wingdings" pitchFamily="2" charset="2"/>
              </a:rPr>
              <a:t>L’intéressé doit :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i="1" dirty="0">
                <a:sym typeface="Wingdings" pitchFamily="2" charset="2"/>
              </a:rPr>
              <a:t>Etre admissible et indemnisable à temps plein au début de l’occupation.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i="1" dirty="0">
                <a:sym typeface="Wingdings" pitchFamily="2" charset="2"/>
              </a:rPr>
              <a:t>Etre toujours admissible à temps plein au moment de la réception de la DA au BC.</a:t>
            </a:r>
          </a:p>
          <a:p>
            <a:pPr marL="809625" lvl="1" indent="-457200">
              <a:spcBef>
                <a:spcPts val="0"/>
              </a:spcBef>
              <a:buNone/>
            </a:pPr>
            <a:endParaRPr lang="fr-BE" i="1" dirty="0">
              <a:sym typeface="Wingdings" pitchFamily="2" charset="2"/>
            </a:endParaRP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400" i="1" dirty="0">
                <a:sym typeface="Wingdings" pitchFamily="2" charset="2"/>
              </a:rPr>
              <a:t>L’admissibilité peut être prouvée sur base de l’AR 30, 36 ou 42.</a:t>
            </a: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400" i="1" dirty="0">
                <a:sym typeface="Wingdings" pitchFamily="2" charset="2"/>
              </a:rPr>
              <a:t>Le statut de TTPMD pour les autres secteurs de la sécurité sociale sera accordé à la date de réception.</a:t>
            </a:r>
          </a:p>
          <a:p>
            <a:pPr marL="0" lvl="1" indent="0">
              <a:spcBef>
                <a:spcPts val="0"/>
              </a:spcBef>
              <a:buFont typeface="Wingdings" pitchFamily="2" charset="2"/>
              <a:buChar char="§"/>
            </a:pPr>
            <a:endParaRPr lang="fr-BE" sz="3200" i="1" dirty="0">
              <a:sym typeface="Wingdings" pitchFamily="2" charset="2"/>
            </a:endParaRPr>
          </a:p>
          <a:p>
            <a:pPr marL="514350" lvl="1" indent="-514350">
              <a:spcBef>
                <a:spcPts val="0"/>
              </a:spcBef>
              <a:buNone/>
            </a:pPr>
            <a:endParaRPr lang="fr-BE" sz="2800" b="1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21776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258204" cy="1082660"/>
          </a:xfrm>
          <a:ln>
            <a:noFill/>
          </a:ln>
        </p:spPr>
        <p:txBody>
          <a:bodyPr>
            <a:normAutofit fontScale="90000"/>
          </a:bodyPr>
          <a:lstStyle/>
          <a:p>
            <a:pPr algn="r">
              <a:defRPr/>
            </a:pPr>
            <a:r>
              <a:rPr lang="fr-BE" b="1" i="1" dirty="0"/>
              <a:t>Régularisation 29§2 bis</a:t>
            </a:r>
            <a:br>
              <a:rPr lang="fr-BE" b="1" i="1" dirty="0"/>
            </a:br>
            <a:r>
              <a:rPr lang="fr-BE" b="1" i="1" dirty="0"/>
              <a:t>C. A la fin de l’occupation</a:t>
            </a:r>
            <a:endParaRPr lang="fr-FR" b="1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00634"/>
          </a:xfrm>
          <a:noFill/>
          <a:ln>
            <a:noFill/>
          </a:ln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buNone/>
            </a:pPr>
            <a:r>
              <a:rPr lang="fr-BE" dirty="0">
                <a:sym typeface="Wingdings" pitchFamily="2" charset="2"/>
              </a:rPr>
              <a:t>L’intéressé doit :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i="1" dirty="0">
                <a:sym typeface="Wingdings" pitchFamily="2" charset="2"/>
              </a:rPr>
              <a:t>Etre admissible et indemnisable à temps plein au début de l’occupation.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i="1" dirty="0">
                <a:sym typeface="Wingdings" pitchFamily="2" charset="2"/>
              </a:rPr>
              <a:t>Etre toujours admissible à temps plein au moment de la DA et être IDE à temps plein.</a:t>
            </a:r>
          </a:p>
          <a:p>
            <a:pPr marL="809625" lvl="1" indent="-457200">
              <a:spcBef>
                <a:spcPts val="0"/>
              </a:spcBef>
              <a:buFont typeface="Wingdings" pitchFamily="2" charset="2"/>
              <a:buChar char="§"/>
            </a:pPr>
            <a:endParaRPr lang="fr-BE" sz="1200" i="1" dirty="0">
              <a:sym typeface="Wingdings" pitchFamily="2" charset="2"/>
            </a:endParaRPr>
          </a:p>
          <a:p>
            <a:pPr marL="809625" lvl="1" indent="-457200">
              <a:spcBef>
                <a:spcPts val="0"/>
              </a:spcBef>
              <a:buNone/>
            </a:pPr>
            <a:endParaRPr lang="fr-BE" sz="300" i="1" dirty="0">
              <a:sym typeface="Wingdings" pitchFamily="2" charset="2"/>
            </a:endParaRP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600" i="1" dirty="0">
                <a:sym typeface="Wingdings" pitchFamily="2" charset="2"/>
              </a:rPr>
              <a:t>Préfixe 01/ à la DA mais pour les autres secteurs de la sécurité sociale l’occupation reste du TTPV.</a:t>
            </a: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600" b="1" i="1" dirty="0">
                <a:solidFill>
                  <a:srgbClr val="C00000"/>
                </a:solidFill>
                <a:sym typeface="Wingdings" pitchFamily="2" charset="2"/>
              </a:rPr>
              <a:t>Une mention ‘’demande de régularisation 29§2bis’’ doit être indiquée sur le C4.</a:t>
            </a:r>
          </a:p>
          <a:p>
            <a:pPr marL="442913" lvl="1" indent="-442913">
              <a:spcBef>
                <a:spcPts val="0"/>
              </a:spcBef>
              <a:buFont typeface="Wingdings"/>
              <a:buChar char="è"/>
              <a:tabLst>
                <a:tab pos="442913" algn="l"/>
              </a:tabLst>
            </a:pPr>
            <a:r>
              <a:rPr lang="fr-BE" sz="2600" b="1" i="1" dirty="0">
                <a:solidFill>
                  <a:srgbClr val="C00000"/>
                </a:solidFill>
                <a:sym typeface="Wingdings" pitchFamily="2" charset="2"/>
              </a:rPr>
              <a:t>Les C131A WECH 503 employeur et travailleur ne sont pas utiles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209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Proportionner l’IC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BE" sz="1400" b="1" dirty="0">
              <a:sym typeface="Wingdings" panose="05000000000000000000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fr-BE" sz="2600" b="1" dirty="0">
                <a:sym typeface="Wingdings" panose="05000000000000000000" pitchFamily="2" charset="2"/>
              </a:rPr>
              <a:t>Licenciement d’un 57/ avec paiement d’une indemnité de congé :</a:t>
            </a:r>
          </a:p>
          <a:p>
            <a:pPr marL="0" indent="0">
              <a:spcBef>
                <a:spcPts val="0"/>
              </a:spcBef>
              <a:buNone/>
            </a:pPr>
            <a:endParaRPr lang="fr-BE" sz="2600" b="1" dirty="0">
              <a:sym typeface="Wingdings" panose="05000000000000000000" pitchFamily="2" charset="2"/>
            </a:endParaRPr>
          </a:p>
          <a:p>
            <a:pPr marL="346075" lvl="1" indent="0">
              <a:spcBef>
                <a:spcPts val="0"/>
              </a:spcBef>
              <a:buNone/>
            </a:pPr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600" dirty="0">
                <a:sym typeface="Wingdings" panose="05000000000000000000" pitchFamily="2" charset="2"/>
              </a:rPr>
              <a:t> Pas d’AGR pendant l’IC.</a:t>
            </a:r>
          </a:p>
          <a:p>
            <a:pPr marL="346075" lvl="1" indent="0">
              <a:spcBef>
                <a:spcPts val="0"/>
              </a:spcBef>
              <a:buNone/>
            </a:pPr>
            <a:endParaRPr lang="fr-BE" sz="2000" dirty="0">
              <a:sym typeface="Wingdings" panose="05000000000000000000" pitchFamily="2" charset="2"/>
            </a:endParaRPr>
          </a:p>
          <a:p>
            <a:pPr marL="346075" lvl="1" indent="0">
              <a:spcBef>
                <a:spcPts val="0"/>
              </a:spcBef>
              <a:buNone/>
            </a:pPr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600" dirty="0">
                <a:sym typeface="Wingdings" panose="05000000000000000000" pitchFamily="2" charset="2"/>
              </a:rPr>
              <a:t> Obligation de proportionner la période couverte par l’IC.</a:t>
            </a:r>
          </a:p>
          <a:p>
            <a:pPr marL="0" indent="0">
              <a:spcBef>
                <a:spcPts val="0"/>
              </a:spcBef>
              <a:buNone/>
            </a:pPr>
            <a:endParaRPr lang="fr-BE" sz="1400" b="1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8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1809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Proportionner l’IC </a:t>
            </a:r>
            <a:endParaRPr lang="fr-BE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548301"/>
              </p:ext>
            </p:extLst>
          </p:nvPr>
        </p:nvGraphicFramePr>
        <p:xfrm>
          <a:off x="457200" y="1600200"/>
          <a:ext cx="8229600" cy="348278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3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u="none" strike="noStrike" kern="1200" baseline="0" dirty="0"/>
                        <a:t>Situation : l’intéressé était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Multiplier par </a:t>
                      </a:r>
                      <a:r>
                        <a:rPr lang="fr-BE" sz="24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4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u="none" strike="noStrike" kern="1200" baseline="0" dirty="0"/>
                        <a:t>TTPMD avec AGR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Q/S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30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u="none" strike="noStrike" kern="1200" baseline="0" dirty="0"/>
                        <a:t>Travailleur à temps partiel volontaire avec AGR </a:t>
                      </a:r>
                      <a:endParaRPr lang="fr-B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Q/(S x n/12)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00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u="none" strike="noStrike" kern="1200" baseline="0" dirty="0"/>
                        <a:t>Travailleur en interruption de carrière ou crédit-temps avec des allocations interruption 	</a:t>
                      </a:r>
                      <a:endParaRPr lang="fr-B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Q/Sant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9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9501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85720" y="500042"/>
            <a:ext cx="84296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BE" sz="4400" b="1" i="1" dirty="0"/>
              <a:t> Début d’occupation et AGR</a:t>
            </a:r>
            <a:endParaRPr lang="en-US" sz="4400" b="1" i="1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endParaRPr lang="fr-BE" b="1" i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Procédure de calcul de l’AGR en cas d’occupation à temps partiel en cours de mois</a:t>
            </a:r>
          </a:p>
          <a:p>
            <a:pPr>
              <a:spcBef>
                <a:spcPts val="0"/>
              </a:spcBef>
              <a:buNone/>
            </a:pPr>
            <a:r>
              <a:rPr lang="fr-BE" dirty="0"/>
              <a:t>ET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Calcul de l’AGR lorsqu’il y a des jours non indemnisables suite à du travail occasionnel</a:t>
            </a:r>
          </a:p>
          <a:p>
            <a:pPr>
              <a:spcBef>
                <a:spcPts val="0"/>
              </a:spcBef>
              <a:buNone/>
            </a:pPr>
            <a:endParaRPr lang="fr-BE" sz="2800" b="1" i="1" dirty="0"/>
          </a:p>
          <a:p>
            <a:pPr>
              <a:spcBef>
                <a:spcPts val="0"/>
              </a:spcBef>
              <a:buNone/>
            </a:pPr>
            <a:r>
              <a:rPr lang="fr-BE" b="1" i="1" dirty="0">
                <a:solidFill>
                  <a:srgbClr val="C00000"/>
                </a:solidFill>
                <a:sym typeface="Wingdings" pitchFamily="2" charset="2"/>
              </a:rPr>
              <a:t>	</a:t>
            </a:r>
            <a:r>
              <a:rPr lang="fr-BE" sz="2800" b="1" i="1" dirty="0">
                <a:solidFill>
                  <a:srgbClr val="C00000"/>
                </a:solidFill>
                <a:sym typeface="Wingdings" pitchFamily="2" charset="2"/>
              </a:rPr>
              <a:t> </a:t>
            </a:r>
            <a:r>
              <a:rPr lang="fr-BE" sz="2800" b="1" i="1" dirty="0">
                <a:solidFill>
                  <a:srgbClr val="C00000"/>
                </a:solidFill>
              </a:rPr>
              <a:t>Voir Commentaire 28, Schéma III de l’AR 131 bis</a:t>
            </a:r>
          </a:p>
          <a:p>
            <a:pPr>
              <a:spcBef>
                <a:spcPts val="0"/>
              </a:spcBef>
              <a:buNone/>
            </a:pPr>
            <a:endParaRPr lang="fr-BE" sz="2800" b="1" i="1" dirty="0">
              <a:solidFill>
                <a:srgbClr val="C00000"/>
              </a:solidFill>
            </a:endParaRPr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15338" y="6143645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88020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AGR suite plusieurs occupations à temps partiel le même mois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Chez </a:t>
            </a:r>
            <a:r>
              <a:rPr lang="fr-BE" b="1" dirty="0"/>
              <a:t>2</a:t>
            </a:r>
            <a:r>
              <a:rPr lang="fr-BE" dirty="0"/>
              <a:t> employeurs :</a:t>
            </a:r>
          </a:p>
          <a:p>
            <a:pPr marL="0" indent="0">
              <a:buNone/>
            </a:pPr>
            <a:endParaRPr lang="fr-BE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92315"/>
              </p:ext>
            </p:extLst>
          </p:nvPr>
        </p:nvGraphicFramePr>
        <p:xfrm>
          <a:off x="611560" y="2204864"/>
          <a:ext cx="7848872" cy="36518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2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871">
                <a:tc>
                  <a:txBody>
                    <a:bodyPr/>
                    <a:lstStyle/>
                    <a:p>
                      <a:pPr algn="ctr"/>
                      <a:r>
                        <a:rPr lang="fr-BE" sz="2800" dirty="0"/>
                        <a:t>Interruption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dirty="0"/>
                        <a:t>Procédure 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1685">
                <a:tc>
                  <a:txBody>
                    <a:bodyPr/>
                    <a:lstStyle/>
                    <a:p>
                      <a:pPr algn="ctr"/>
                      <a:r>
                        <a:rPr lang="fr-BE" sz="2400" kern="1200" dirty="0"/>
                        <a:t>consécutifs sans ou avec interruption(p.ex. passage de l’employeur </a:t>
                      </a:r>
                      <a:r>
                        <a:rPr lang="fr-BE" sz="2400" b="1" kern="1200" dirty="0"/>
                        <a:t>A</a:t>
                      </a:r>
                      <a:r>
                        <a:rPr lang="fr-BE" sz="2400" kern="1200" dirty="0"/>
                        <a:t> vers le </a:t>
                      </a:r>
                      <a:r>
                        <a:rPr lang="fr-BE" sz="2400" b="1" kern="1200" dirty="0"/>
                        <a:t>B</a:t>
                      </a:r>
                      <a:r>
                        <a:rPr lang="fr-BE" sz="2400" kern="1200" dirty="0"/>
                        <a:t> interrompu ou non par une période de chômage complet)</a:t>
                      </a:r>
                      <a:endParaRPr lang="fr-B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deux calculs</a:t>
                      </a:r>
                      <a:br>
                        <a:rPr lang="fr-BE" sz="2400" dirty="0"/>
                      </a:br>
                      <a:r>
                        <a:rPr lang="fr-B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 base de deux DRS</a:t>
                      </a:r>
                      <a:endParaRPr lang="fr-B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772">
                <a:tc>
                  <a:txBody>
                    <a:bodyPr/>
                    <a:lstStyle/>
                    <a:p>
                      <a:pPr algn="ctr"/>
                      <a:r>
                        <a:rPr lang="fr-BE" sz="2400" kern="1200" dirty="0"/>
                        <a:t>simultanément </a:t>
                      </a:r>
                    </a:p>
                    <a:p>
                      <a:pPr algn="ctr"/>
                      <a:r>
                        <a:rPr lang="fr-BE" sz="2400" kern="1200" dirty="0"/>
                        <a:t>(au moins un jour)</a:t>
                      </a:r>
                      <a:endParaRPr lang="fr-B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 calcul selon la procédure « occupation simultanée chez plusieurs employeurs »</a:t>
                      </a:r>
                      <a:endParaRPr lang="fr-BE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11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260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 Début d’une 2</a:t>
            </a:r>
            <a:r>
              <a:rPr lang="fr-BE" b="1" i="1" baseline="30000" dirty="0"/>
              <a:t>ème</a:t>
            </a:r>
            <a:r>
              <a:rPr lang="fr-BE" b="1" i="1" dirty="0"/>
              <a:t> occupation à temps partiel 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dirty="0"/>
              <a:t>Si en raison d’un </a:t>
            </a:r>
            <a:r>
              <a:rPr lang="fr-BE" sz="2800" b="1" dirty="0"/>
              <a:t>avenant au contrat à temps partiel ou en raison d’un contrat à temps partiel supplémentaire</a:t>
            </a:r>
            <a:r>
              <a:rPr lang="fr-BE" sz="2800" dirty="0"/>
              <a:t> (dans les 2 cas </a:t>
            </a:r>
            <a:r>
              <a:rPr lang="fr-BE" sz="2800" b="1" u="sng" dirty="0"/>
              <a:t>chez le même employeur</a:t>
            </a:r>
            <a:r>
              <a:rPr lang="fr-BE" sz="2800" dirty="0"/>
              <a:t>), et que </a:t>
            </a:r>
            <a:r>
              <a:rPr lang="fr-BE" sz="2800" b="1" dirty="0"/>
              <a:t>Q est temporairement égal à S</a:t>
            </a:r>
            <a:r>
              <a:rPr lang="fr-BE" sz="2800" dirty="0"/>
              <a:t> :</a:t>
            </a:r>
          </a:p>
          <a:p>
            <a:pPr lvl="0"/>
            <a:r>
              <a:rPr lang="fr-BE" sz="2800" dirty="0"/>
              <a:t>cette occupation n’est pas considérée comme une occupation temps plein ,</a:t>
            </a:r>
          </a:p>
          <a:p>
            <a:pPr lvl="0"/>
            <a:r>
              <a:rPr lang="fr-BE" sz="2800" dirty="0"/>
              <a:t>possibilité de regrouper la période « temps plein » avec l’occupation à temps partiel.</a:t>
            </a:r>
          </a:p>
          <a:p>
            <a:pPr marL="0" lvl="0" indent="0">
              <a:buNone/>
            </a:pPr>
            <a:r>
              <a:rPr lang="fr-BE" sz="2800" dirty="0">
                <a:sym typeface="Wingdings" panose="05000000000000000000" pitchFamily="2" charset="2"/>
              </a:rPr>
              <a:t> </a:t>
            </a:r>
            <a:r>
              <a:rPr lang="fr-BE" sz="2800" dirty="0"/>
              <a:t>le </a:t>
            </a:r>
            <a:r>
              <a:rPr lang="fr-BE" sz="2800" b="1" dirty="0"/>
              <a:t>regroupement</a:t>
            </a:r>
            <a:r>
              <a:rPr lang="fr-BE" sz="2800" dirty="0"/>
              <a:t> des </a:t>
            </a:r>
            <a:r>
              <a:rPr lang="fr-BE" sz="2800" b="1" u="sng" dirty="0">
                <a:solidFill>
                  <a:srgbClr val="FF0000"/>
                </a:solidFill>
              </a:rPr>
              <a:t>occupations temporairement à temps plein</a:t>
            </a:r>
            <a:r>
              <a:rPr lang="fr-BE" sz="2800" dirty="0"/>
              <a:t> est </a:t>
            </a:r>
            <a:r>
              <a:rPr lang="fr-BE" sz="2800" b="1" dirty="0"/>
              <a:t>limité à maximum 3 mois.</a:t>
            </a:r>
            <a:endParaRPr lang="fr-BE" sz="2800" dirty="0"/>
          </a:p>
        </p:txBody>
      </p:sp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143644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5937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Début d’une 2</a:t>
            </a:r>
            <a:r>
              <a:rPr lang="fr-BE" sz="4000" b="1" i="1" baseline="30000" dirty="0"/>
              <a:t>ème</a:t>
            </a:r>
            <a:r>
              <a:rPr lang="fr-BE" sz="4000" b="1" i="1" dirty="0"/>
              <a:t> occupation à temps partiel :</a:t>
            </a:r>
            <a:r>
              <a:rPr lang="fr-BE" sz="4000" b="1" dirty="0">
                <a:solidFill>
                  <a:srgbClr val="C00000"/>
                </a:solidFill>
              </a:rPr>
              <a:t> « temps plein temporaire » 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501355" y="3841168"/>
            <a:ext cx="8075240" cy="1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908503" y="240100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08503" y="2401008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1971741" y="240100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9523" y="3123221"/>
            <a:ext cx="1065835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19/38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899522" y="4573515"/>
            <a:ext cx="7497933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- 19/38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2646345" y="5362054"/>
            <a:ext cx="4207177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- 19/38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2633094" y="1825602"/>
            <a:ext cx="7548" cy="38880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46116" y="336153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rgbClr val="C00000"/>
                </a:solidFill>
              </a:rPr>
              <a:t>57/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55982" y="2395700"/>
            <a:ext cx="108779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87614" y="3117913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rgbClr val="C00000"/>
                </a:solidFill>
              </a:rPr>
              <a:t>27,87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070950" y="241005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2022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4" name="Connecteur droit 33"/>
          <p:cNvCxnSpPr/>
          <p:nvPr/>
        </p:nvCxnSpPr>
        <p:spPr>
          <a:xfrm>
            <a:off x="4134277" y="237264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071245" y="3115476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38/38</a:t>
            </a:r>
            <a:endParaRPr lang="en-US" sz="1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154520" y="2390825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Janvier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7" name="Connecteur droit 36"/>
          <p:cNvCxnSpPr/>
          <p:nvPr/>
        </p:nvCxnSpPr>
        <p:spPr>
          <a:xfrm>
            <a:off x="5217758" y="2390825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145540" y="3113038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38/38</a:t>
            </a:r>
            <a:endParaRPr lang="en-US" sz="1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3" name="Connecteur droit 42"/>
          <p:cNvCxnSpPr/>
          <p:nvPr/>
        </p:nvCxnSpPr>
        <p:spPr>
          <a:xfrm>
            <a:off x="7340571" y="239991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6845974" y="1825602"/>
            <a:ext cx="7548" cy="38880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217702" y="2399917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Février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25149" y="3122130"/>
            <a:ext cx="105859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3">
                    <a:lumMod val="50000"/>
                  </a:schemeClr>
                </a:solidFill>
              </a:rPr>
              <a:t>38/38</a:t>
            </a:r>
            <a:endParaRPr lang="en-US" sz="1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350272" y="2410051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Avril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3" name="Connecteur droit 52"/>
          <p:cNvCxnSpPr/>
          <p:nvPr/>
        </p:nvCxnSpPr>
        <p:spPr>
          <a:xfrm>
            <a:off x="8419711" y="2374094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366351" y="3109574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19/38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68353" y="3122130"/>
            <a:ext cx="1033907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rgbClr val="C00000"/>
                </a:solidFill>
              </a:rPr>
              <a:t>28,81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77333" y="2399917"/>
            <a:ext cx="1047183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Mars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Accolade ouvrante 18"/>
          <p:cNvSpPr/>
          <p:nvPr/>
        </p:nvSpPr>
        <p:spPr>
          <a:xfrm rot="5400000">
            <a:off x="4567270" y="697426"/>
            <a:ext cx="206230" cy="3221108"/>
          </a:xfrm>
          <a:prstGeom prst="leftBrace">
            <a:avLst/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ZoneTexte 19"/>
          <p:cNvSpPr txBox="1"/>
          <p:nvPr/>
        </p:nvSpPr>
        <p:spPr>
          <a:xfrm>
            <a:off x="3083520" y="1825602"/>
            <a:ext cx="32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Max. 3 mois calendrier complet.</a:t>
            </a:r>
            <a:endParaRPr lang="en-US" dirty="0"/>
          </a:p>
        </p:txBody>
      </p:sp>
      <p:cxnSp>
        <p:nvCxnSpPr>
          <p:cNvPr id="31" name="Connecteur droit 30"/>
          <p:cNvCxnSpPr/>
          <p:nvPr/>
        </p:nvCxnSpPr>
        <p:spPr>
          <a:xfrm>
            <a:off x="3059832" y="239570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6280940" y="2399917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5" name="ZoneTexte 44"/>
          <p:cNvSpPr txBox="1"/>
          <p:nvPr/>
        </p:nvSpPr>
        <p:spPr>
          <a:xfrm>
            <a:off x="2035651" y="1523013"/>
            <a:ext cx="122138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17.11.2022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6239055" y="1517825"/>
            <a:ext cx="122138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16.03.2023</a:t>
            </a:r>
          </a:p>
        </p:txBody>
      </p:sp>
    </p:spTree>
    <p:extLst>
      <p:ext uri="{BB962C8B-B14F-4D97-AF65-F5344CB8AC3E}">
        <p14:creationId xmlns:p14="http://schemas.microsoft.com/office/powerpoint/2010/main" val="50951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animBg="1"/>
      <p:bldP spid="28" grpId="0" animBg="1"/>
      <p:bldP spid="32" grpId="0"/>
      <p:bldP spid="35" grpId="0"/>
      <p:bldP spid="38" grpId="0"/>
      <p:bldP spid="41" grpId="0"/>
      <p:bldP spid="54" grpId="0"/>
      <p:bldP spid="44" grpId="0"/>
      <p:bldP spid="19" grpId="0" animBg="1"/>
      <p:bldP spid="20" grpId="0"/>
      <p:bldP spid="45" grpId="0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 Début d’une 2</a:t>
            </a:r>
            <a:r>
              <a:rPr lang="fr-BE" b="1" i="1" baseline="30000" dirty="0"/>
              <a:t>ème</a:t>
            </a:r>
            <a:r>
              <a:rPr lang="fr-BE" b="1" i="1" dirty="0"/>
              <a:t> occupation à temps partiel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3000" b="1" dirty="0">
                <a:solidFill>
                  <a:srgbClr val="C00000"/>
                </a:solidFill>
              </a:rPr>
              <a:t>Procédure en cas de passage vers une occupation non indemnisable en cours de mois</a:t>
            </a:r>
            <a:r>
              <a:rPr lang="fr-BE" sz="3000" dirty="0"/>
              <a:t> :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Début d’une 2</a:t>
            </a:r>
            <a:r>
              <a:rPr lang="fr-BE" sz="3000" baseline="30000" dirty="0"/>
              <a:t>ème</a:t>
            </a:r>
            <a:r>
              <a:rPr lang="fr-BE" sz="3000" dirty="0"/>
              <a:t> occupation </a:t>
            </a:r>
            <a:r>
              <a:rPr lang="fr-BE" sz="3000" u="sng" dirty="0"/>
              <a:t>chez le même employeur</a:t>
            </a:r>
            <a:r>
              <a:rPr lang="fr-BE" sz="3000" dirty="0"/>
              <a:t> ( </a:t>
            </a:r>
            <a:r>
              <a:rPr lang="fr-BE" sz="3000" i="1" dirty="0"/>
              <a:t>autre que « temps plein temporaire »</a:t>
            </a:r>
            <a:r>
              <a:rPr lang="fr-BE" sz="3000" dirty="0"/>
              <a:t>) </a:t>
            </a:r>
            <a:r>
              <a:rPr lang="fr-BE" sz="3000" b="1" dirty="0"/>
              <a:t>ou</a:t>
            </a:r>
            <a:r>
              <a:rPr lang="fr-BE" sz="3000" dirty="0"/>
              <a:t> </a:t>
            </a:r>
            <a:r>
              <a:rPr lang="fr-BE" sz="3000" u="sng" dirty="0"/>
              <a:t>chez un employeur différent</a:t>
            </a:r>
            <a:r>
              <a:rPr lang="fr-BE" sz="3000" dirty="0"/>
              <a:t>, entrainant un dépassement du 4/5 et/ou du salaire de référence ou une demande de préfixe 99.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La demande 99/ peut être introduite au 1</a:t>
            </a:r>
            <a:r>
              <a:rPr lang="fr-BE" sz="3000" baseline="30000" dirty="0"/>
              <a:t>ier</a:t>
            </a:r>
            <a:r>
              <a:rPr lang="fr-BE" sz="3000" dirty="0"/>
              <a:t> du mois qui suit afin d’indemniser une AGR le mois au cours duquel la 2</a:t>
            </a:r>
            <a:r>
              <a:rPr lang="fr-BE" sz="3000" baseline="30000" dirty="0"/>
              <a:t>ème</a:t>
            </a:r>
            <a:r>
              <a:rPr lang="fr-BE" sz="3000" dirty="0"/>
              <a:t> occupation débute.</a:t>
            </a:r>
          </a:p>
        </p:txBody>
      </p:sp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143644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37706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 Début d’une 2</a:t>
            </a:r>
            <a:r>
              <a:rPr lang="fr-BE" b="1" i="1" baseline="30000" dirty="0"/>
              <a:t>ème</a:t>
            </a:r>
            <a:r>
              <a:rPr lang="fr-BE" b="1" i="1" dirty="0"/>
              <a:t> occupation à temps partiel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3000" b="1" dirty="0">
                <a:solidFill>
                  <a:srgbClr val="C00000"/>
                </a:solidFill>
              </a:rPr>
              <a:t>Procédure en cas de passage vers une occupation non indemnisable en cours de mois</a:t>
            </a:r>
            <a:r>
              <a:rPr lang="fr-BE" sz="3000" dirty="0"/>
              <a:t> :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Début d’une 2</a:t>
            </a:r>
            <a:r>
              <a:rPr lang="fr-BE" sz="3000" baseline="30000" dirty="0"/>
              <a:t>ème</a:t>
            </a:r>
            <a:r>
              <a:rPr lang="fr-BE" sz="3000" dirty="0"/>
              <a:t> occupation </a:t>
            </a:r>
            <a:r>
              <a:rPr lang="fr-BE" sz="3000" u="sng" dirty="0"/>
              <a:t>chez le même employeur</a:t>
            </a:r>
            <a:r>
              <a:rPr lang="fr-BE" sz="3000" dirty="0"/>
              <a:t> ( </a:t>
            </a:r>
            <a:r>
              <a:rPr lang="fr-BE" sz="3000" i="1" dirty="0"/>
              <a:t>autre que « temps plein temporaire »</a:t>
            </a:r>
            <a:r>
              <a:rPr lang="fr-BE" sz="3000" dirty="0"/>
              <a:t>) </a:t>
            </a:r>
            <a:r>
              <a:rPr lang="fr-BE" sz="3000" b="1" dirty="0"/>
              <a:t>ou</a:t>
            </a:r>
            <a:r>
              <a:rPr lang="fr-BE" sz="3000" dirty="0"/>
              <a:t> </a:t>
            </a:r>
            <a:r>
              <a:rPr lang="fr-BE" sz="3000" u="sng" dirty="0"/>
              <a:t>chez un employeur différent</a:t>
            </a:r>
            <a:r>
              <a:rPr lang="fr-BE" sz="3000" dirty="0"/>
              <a:t>, entrainant un dépassement du 4/5 et/ou du salaire de référence ou une demande de préfixe 99.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La demande 99/ peut être introduite au 1</a:t>
            </a:r>
            <a:r>
              <a:rPr lang="fr-BE" sz="3000" baseline="30000" dirty="0"/>
              <a:t>ier</a:t>
            </a:r>
            <a:r>
              <a:rPr lang="fr-BE" sz="3000" dirty="0"/>
              <a:t> du mois qui suit afin d’indemniser une AGR le mois au cours duquel la 2</a:t>
            </a:r>
            <a:r>
              <a:rPr lang="fr-BE" sz="3000" baseline="30000" dirty="0"/>
              <a:t>ème</a:t>
            </a:r>
            <a:r>
              <a:rPr lang="fr-BE" sz="3000" dirty="0"/>
              <a:t> occupation débute.</a:t>
            </a:r>
          </a:p>
        </p:txBody>
      </p:sp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86776" y="6143644"/>
            <a:ext cx="490526" cy="357189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9062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57</a:t>
            </a:r>
            <a:r>
              <a:rPr lang="fr-BE" sz="2800" b="1" i="1" dirty="0"/>
              <a:t> </a:t>
            </a:r>
            <a:r>
              <a:rPr lang="fr-BE" sz="2800" b="1" i="1" dirty="0">
                <a:sym typeface="Wingdings" pitchFamily="2" charset="2"/>
              </a:rPr>
              <a:t> </a:t>
            </a:r>
            <a:r>
              <a:rPr lang="fr-BE" b="1" i="1" dirty="0">
                <a:sym typeface="Wingdings" pitchFamily="2" charset="2"/>
              </a:rPr>
              <a:t>99   OU   99</a:t>
            </a:r>
            <a:r>
              <a:rPr lang="fr-BE" sz="2800" b="1" i="1" dirty="0">
                <a:sym typeface="Wingdings" pitchFamily="2" charset="2"/>
              </a:rPr>
              <a:t>  </a:t>
            </a:r>
            <a:r>
              <a:rPr lang="fr-BE" b="1" i="1" dirty="0">
                <a:sym typeface="Wingdings" pitchFamily="2" charset="2"/>
              </a:rPr>
              <a:t>57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200" dirty="0"/>
              <a:t>Possibilité de </a:t>
            </a:r>
            <a:r>
              <a:rPr lang="fr-BE" sz="3200" b="1" dirty="0">
                <a:solidFill>
                  <a:srgbClr val="C00000"/>
                </a:solidFill>
              </a:rPr>
              <a:t>passer du statut TTPMD (99) au statut TTPMD avec AGR (57) et vice versa</a:t>
            </a:r>
            <a:r>
              <a:rPr lang="fr-BE" sz="3200" dirty="0"/>
              <a:t>, à tout moment.</a:t>
            </a:r>
          </a:p>
          <a:p>
            <a:pPr marL="1588" lvl="1" indent="0">
              <a:lnSpc>
                <a:spcPct val="90000"/>
              </a:lnSpc>
              <a:buNone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200" dirty="0"/>
              <a:t>Il suffit d’introduire une DA auprès de l’ONEm, avec éventuellement la preuve d’IDE auprès du Forem/Actiris/ADG.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16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1541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sym typeface="Wingdings" pitchFamily="2" charset="2"/>
              </a:rPr>
              <a:t>99</a:t>
            </a:r>
            <a:r>
              <a:rPr lang="fr-BE" sz="2800" b="1" i="1" dirty="0">
                <a:sym typeface="Wingdings" pitchFamily="2" charset="2"/>
              </a:rPr>
              <a:t>  </a:t>
            </a:r>
            <a:r>
              <a:rPr lang="fr-BE" b="1" i="1" dirty="0">
                <a:sym typeface="Wingdings" pitchFamily="2" charset="2"/>
              </a:rPr>
              <a:t>57 après le 01.04.2020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97000"/>
            <a:ext cx="8229600" cy="4729163"/>
          </a:xfrm>
        </p:spPr>
        <p:txBody>
          <a:bodyPr>
            <a:normAutofit/>
          </a:bodyPr>
          <a:lstStyle/>
          <a:p>
            <a:pPr marL="1588" lvl="1" indent="0">
              <a:lnSpc>
                <a:spcPct val="90000"/>
              </a:lnSpc>
              <a:buNone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endParaRPr lang="fr-BE" sz="3200" dirty="0"/>
          </a:p>
          <a:p>
            <a:pPr marL="458788" lvl="1" indent="-457200">
              <a:lnSpc>
                <a:spcPct val="90000"/>
              </a:lnSpc>
              <a:buFont typeface="Wingdings" pitchFamily="2" charset="2"/>
              <a:buChar char="§"/>
            </a:pPr>
            <a:r>
              <a:rPr lang="fr-BE" sz="3200" dirty="0"/>
              <a:t>Régularisation possible 57/ au lieu du 99/: </a:t>
            </a:r>
          </a:p>
          <a:p>
            <a:pPr marL="1588" lvl="1" indent="0">
              <a:lnSpc>
                <a:spcPct val="90000"/>
              </a:lnSpc>
              <a:buNone/>
            </a:pPr>
            <a:r>
              <a:rPr lang="fr-BE" sz="3200" dirty="0">
                <a:sym typeface="Wingdings" panose="05000000000000000000" pitchFamily="2" charset="2"/>
              </a:rPr>
              <a:t> </a:t>
            </a:r>
            <a:r>
              <a:rPr lang="fr-BE" sz="3200" dirty="0"/>
              <a:t>introduire une nouvelle DRS WECH503 (ou rectificative) avec C131A Travailleur 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17</a:t>
            </a:fld>
            <a:endParaRPr lang="fr-BE" dirty="0"/>
          </a:p>
        </p:txBody>
      </p:sp>
      <p:graphicFrame>
        <p:nvGraphicFramePr>
          <p:cNvPr id="13" name="Tableau 13">
            <a:extLst>
              <a:ext uri="{FF2B5EF4-FFF2-40B4-BE49-F238E27FC236}">
                <a16:creationId xmlns:a16="http://schemas.microsoft.com/office/drawing/2014/main" id="{5FDC5DAD-D09E-4F83-B630-8C8C4DA0E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544310"/>
              </p:ext>
            </p:extLst>
          </p:nvPr>
        </p:nvGraphicFramePr>
        <p:xfrm>
          <a:off x="457200" y="1397000"/>
          <a:ext cx="7787208" cy="260806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46802">
                  <a:extLst>
                    <a:ext uri="{9D8B030D-6E8A-4147-A177-3AD203B41FA5}">
                      <a16:colId xmlns:a16="http://schemas.microsoft.com/office/drawing/2014/main" val="3293079179"/>
                    </a:ext>
                  </a:extLst>
                </a:gridCol>
                <a:gridCol w="1946802">
                  <a:extLst>
                    <a:ext uri="{9D8B030D-6E8A-4147-A177-3AD203B41FA5}">
                      <a16:colId xmlns:a16="http://schemas.microsoft.com/office/drawing/2014/main" val="1917702657"/>
                    </a:ext>
                  </a:extLst>
                </a:gridCol>
                <a:gridCol w="1946802">
                  <a:extLst>
                    <a:ext uri="{9D8B030D-6E8A-4147-A177-3AD203B41FA5}">
                      <a16:colId xmlns:a16="http://schemas.microsoft.com/office/drawing/2014/main" val="3943170521"/>
                    </a:ext>
                  </a:extLst>
                </a:gridCol>
                <a:gridCol w="1946802">
                  <a:extLst>
                    <a:ext uri="{9D8B030D-6E8A-4147-A177-3AD203B41FA5}">
                      <a16:colId xmlns:a16="http://schemas.microsoft.com/office/drawing/2014/main" val="1258719566"/>
                    </a:ext>
                  </a:extLst>
                </a:gridCol>
              </a:tblGrid>
              <a:tr h="521613"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>
                          <a:solidFill>
                            <a:schemeClr val="tx1"/>
                          </a:solidFill>
                          <a:effectLst/>
                        </a:rPr>
                        <a:t>C131A Trav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>
                          <a:solidFill>
                            <a:schemeClr val="tx1"/>
                          </a:solidFill>
                          <a:effectLst/>
                        </a:rPr>
                        <a:t>WECH503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>
                          <a:solidFill>
                            <a:schemeClr val="tx1"/>
                          </a:solidFill>
                          <a:effectLst/>
                        </a:rPr>
                        <a:t>Décision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>
                          <a:solidFill>
                            <a:schemeClr val="tx1"/>
                          </a:solidFill>
                          <a:effectLst/>
                        </a:rPr>
                        <a:t>C29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623753"/>
                  </a:ext>
                </a:extLst>
              </a:tr>
              <a:tr h="521613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57/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784187"/>
                  </a:ext>
                </a:extLst>
              </a:tr>
              <a:tr h="521613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99/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788538"/>
                  </a:ext>
                </a:extLst>
              </a:tr>
              <a:tr h="521613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99/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Oui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979829"/>
                  </a:ext>
                </a:extLst>
              </a:tr>
              <a:tr h="521613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99/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117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53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FR" b="1" i="1" dirty="0"/>
              <a:t>TTPMD avec AGR &amp; Vacances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FR" dirty="0"/>
              <a:t>L’employeur via la WECH506 limite le nombre d’heures de vacances annuelles à </a:t>
            </a:r>
            <a:r>
              <a:rPr lang="fr-FR" b="1" dirty="0">
                <a:solidFill>
                  <a:srgbClr val="C00000"/>
                </a:solidFill>
              </a:rPr>
              <a:t>« Q x 4 ».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FR" dirty="0"/>
              <a:t>La WECH506 renseigne les heures de vacances et le salaire brut indiqué 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fr-FR" sz="3200" dirty="0"/>
              <a:t>Pour les </a:t>
            </a:r>
            <a:r>
              <a:rPr lang="fr-FR" sz="3200" b="1" dirty="0"/>
              <a:t>employés</a:t>
            </a:r>
            <a:r>
              <a:rPr lang="fr-FR" sz="3200" dirty="0"/>
              <a:t> reprend le salaire afférent aux heures de vacances ;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fr-FR" sz="3200" dirty="0"/>
              <a:t>Pour les </a:t>
            </a:r>
            <a:r>
              <a:rPr lang="fr-FR" sz="3200" b="1" dirty="0"/>
              <a:t>ouvriers</a:t>
            </a:r>
            <a:r>
              <a:rPr lang="fr-FR" sz="3200" dirty="0"/>
              <a:t>, ne reprend pas les heures de vacances. </a:t>
            </a:r>
            <a:r>
              <a:rPr lang="fr-FR" sz="2400" i="1" dirty="0">
                <a:sym typeface="Wingdings" pitchFamily="2" charset="2"/>
              </a:rPr>
              <a:t> </a:t>
            </a:r>
            <a:r>
              <a:rPr lang="fr-FR" sz="3200" i="1" dirty="0">
                <a:sym typeface="Wingdings" pitchFamily="2" charset="2"/>
              </a:rPr>
              <a:t>Pour le calcul de l’AGR, le salaire brut devra être majoré …</a:t>
            </a:r>
            <a:endParaRPr lang="fr-FR" b="1" i="1" u="sng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7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fr-BE" b="1" i="1" dirty="0"/>
              <a:t>TTPMD avec AGR &amp; Vacances</a:t>
            </a:r>
            <a:endParaRPr lang="en-GB" b="1" i="1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FR" dirty="0"/>
              <a:t>L’ONEm applique une procédure plus souple. La limitation des heures de vacances est calculée sur base d’un crédit </a:t>
            </a:r>
            <a:r>
              <a:rPr lang="fr-FR" b="1" dirty="0">
                <a:solidFill>
                  <a:srgbClr val="C00000"/>
                </a:solidFill>
              </a:rPr>
              <a:t>« S X 3,2 ».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fr-FR" dirty="0"/>
              <a:t>Ce crédit permet de 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fr-FR" sz="3200" dirty="0"/>
              <a:t>Déduire des heures de vacances supplémentaires ;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fr-FR" sz="3200" b="1" dirty="0">
                <a:solidFill>
                  <a:srgbClr val="C00000"/>
                </a:solidFill>
              </a:rPr>
              <a:t>Requalifier les heures A en heures V.</a:t>
            </a:r>
          </a:p>
          <a:p>
            <a:pPr marL="457200" lvl="1" indent="0" algn="ctr">
              <a:lnSpc>
                <a:spcPct val="90000"/>
              </a:lnSpc>
              <a:buNone/>
            </a:pPr>
            <a:r>
              <a:rPr lang="fr-FR" sz="3200" b="1" i="1" dirty="0"/>
              <a:t>Cette reconversion est automatique pour l’ONEm et notre système.</a:t>
            </a:r>
            <a:endParaRPr lang="fr-FR" sz="3200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18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b="1" i="1" dirty="0"/>
              <a:t>Requalification des heures A en V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u="sng" dirty="0"/>
              <a:t>EXEMPLE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Durant toute l’année 2021 , occupation 19/38 </a:t>
            </a:r>
            <a:r>
              <a:rPr lang="fr-BE" dirty="0">
                <a:sym typeface="Wingdings" panose="05000000000000000000" pitchFamily="2" charset="2"/>
              </a:rPr>
              <a:t> droit à 12 J = 76 heures de V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Prend 4 semaines de vacances en 04.2022 soit 76 hrs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dirty="0"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En 07/2022, il prend 38 heures d’absence.</a:t>
            </a:r>
            <a:r>
              <a:rPr lang="fr-BE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dirty="0">
                <a:sym typeface="Wingdings" panose="05000000000000000000" pitchFamily="2" charset="2"/>
              </a:rPr>
              <a:t>	 Déduction de combien de jours ??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0D16C-02EB-45C2-9ABE-342C9CE9B66C}" type="slidenum">
              <a:rPr lang="fr-BE" smtClean="0"/>
              <a:t>20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3561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>
                <a:cs typeface="Times New Roman" pitchFamily="18" charset="0"/>
              </a:rPr>
              <a:t>Disponibilité adaptée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100000"/>
              <a:buFont typeface="Wingdings" pitchFamily="2" charset="2"/>
              <a:buChar char="§"/>
            </a:pPr>
            <a:endParaRPr lang="fr-BE" b="1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- Les TTPMD avec </a:t>
            </a:r>
            <a:r>
              <a:rPr lang="fr-FR" b="1" dirty="0">
                <a:sym typeface="Wingdings" panose="05000000000000000000" pitchFamily="2" charset="2"/>
              </a:rPr>
              <a:t>AGR &lt;  ½ temps </a:t>
            </a:r>
            <a:r>
              <a:rPr lang="fr-FR" sz="2800" dirty="0">
                <a:sym typeface="Wingdings" panose="05000000000000000000" pitchFamily="2" charset="2"/>
              </a:rPr>
              <a:t>(après 12 mois et 1 évaluation positive « dispo Active ») </a:t>
            </a:r>
          </a:p>
          <a:p>
            <a:pPr>
              <a:buFontTx/>
              <a:buChar char="-"/>
            </a:pPr>
            <a:r>
              <a:rPr lang="fr-FR" dirty="0">
                <a:sym typeface="Wingdings" panose="05000000000000000000" pitchFamily="2" charset="2"/>
              </a:rPr>
              <a:t>Les TTPMD avec </a:t>
            </a:r>
            <a:r>
              <a:rPr lang="fr-FR" b="1" dirty="0">
                <a:sym typeface="Wingdings" panose="05000000000000000000" pitchFamily="2" charset="2"/>
              </a:rPr>
              <a:t>AGR  ≥ ½ temps </a:t>
            </a:r>
          </a:p>
          <a:p>
            <a:pPr marL="0" indent="0">
              <a:buNone/>
            </a:pPr>
            <a:endParaRPr lang="fr-FR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sont soumis à une </a:t>
            </a:r>
            <a:r>
              <a:rPr lang="fr-FR" b="1" dirty="0">
                <a:solidFill>
                  <a:srgbClr val="C00000"/>
                </a:solidFill>
                <a:sym typeface="Wingdings" panose="05000000000000000000" pitchFamily="2" charset="2"/>
              </a:rPr>
              <a:t>disponibilité adaptée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 Dispense de recherche active d’emploi</a:t>
            </a:r>
          </a:p>
          <a:p>
            <a:pPr>
              <a:buSzPct val="100000"/>
              <a:buFont typeface="Wingdings" pitchFamily="2" charset="2"/>
              <a:buChar char="§"/>
            </a:pPr>
            <a:endParaRPr lang="fr-BE" dirty="0">
              <a:cs typeface="Times New Roman" pitchFamily="18" charset="0"/>
            </a:endParaRPr>
          </a:p>
          <a:p>
            <a:pPr marL="817563" indent="-457200">
              <a:buSzPct val="100000"/>
              <a:buFont typeface="Wingdings" panose="05000000000000000000" pitchFamily="2" charset="2"/>
              <a:buChar char="§"/>
            </a:pPr>
            <a:endParaRPr lang="fr-BE" b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1430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>
                <a:cs typeface="Times New Roman" pitchFamily="18" charset="0"/>
              </a:rPr>
              <a:t>Période de carence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SzPct val="100000"/>
              <a:buNone/>
            </a:pPr>
            <a:r>
              <a:rPr lang="fr-BE" dirty="0">
                <a:cs typeface="Times New Roman" pitchFamily="18" charset="0"/>
              </a:rPr>
              <a:t>Le bénéfice de l’AGR ne peut être accordé pendant une période de 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trois mois </a:t>
            </a:r>
            <a:r>
              <a:rPr lang="fr-BE" dirty="0">
                <a:cs typeface="Times New Roman" pitchFamily="18" charset="0"/>
              </a:rPr>
              <a:t>dans une occupation à temps partiel suivant une occupation à temps plein prenant cours le jour qui suit la fin de la période de préavis ou de l’IC pour le même employeur.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0673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>
                <a:cs typeface="Times New Roman" pitchFamily="18" charset="0"/>
              </a:rPr>
              <a:t>TTPMD tâches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100000"/>
              <a:buFont typeface="Wingdings" pitchFamily="2" charset="2"/>
              <a:buChar char="§"/>
            </a:pPr>
            <a:endParaRPr lang="fr-BE" b="1" dirty="0">
              <a:cs typeface="Times New Roman" pitchFamily="18" charset="0"/>
            </a:endParaRPr>
          </a:p>
          <a:p>
            <a:pPr>
              <a:buSzPct val="100000"/>
              <a:buFont typeface="Wingdings" pitchFamily="2" charset="2"/>
              <a:buChar char="§"/>
            </a:pPr>
            <a:r>
              <a:rPr lang="fr-BE" b="1" dirty="0">
                <a:cs typeface="Times New Roman" pitchFamily="18" charset="0"/>
              </a:rPr>
              <a:t>« Pas de compteur facteur J »</a:t>
            </a:r>
          </a:p>
          <a:p>
            <a:pPr>
              <a:buSzPct val="100000"/>
              <a:buFont typeface="Wingdings" pitchFamily="2" charset="2"/>
              <a:buChar char="§"/>
            </a:pPr>
            <a:r>
              <a:rPr lang="fr-BE" b="1" dirty="0">
                <a:cs typeface="Times New Roman" pitchFamily="18" charset="0"/>
              </a:rPr>
              <a:t>« Contrôle paiement wech506 »</a:t>
            </a:r>
            <a:endParaRPr lang="fr-BE" dirty="0">
              <a:cs typeface="Times New Roman" pitchFamily="18" charset="0"/>
            </a:endParaRPr>
          </a:p>
          <a:p>
            <a:pPr>
              <a:buSzPct val="100000"/>
              <a:buFont typeface="Wingdings" pitchFamily="2" charset="2"/>
              <a:buChar char="§"/>
            </a:pPr>
            <a:endParaRPr lang="fr-BE" dirty="0">
              <a:cs typeface="Times New Roman" pitchFamily="18" charset="0"/>
            </a:endParaRPr>
          </a:p>
          <a:p>
            <a:pPr marL="817563" indent="-457200">
              <a:buSzPct val="100000"/>
              <a:buFont typeface="Wingdings" panose="05000000000000000000" pitchFamily="2" charset="2"/>
              <a:buChar char="§"/>
            </a:pPr>
            <a:endParaRPr lang="fr-BE" b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92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DEAF36-08E2-4273-885C-0CCAE0319C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9B32E7-C039-4D1A-96BA-4C08E05B71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9EECDB-D3A2-4117-B66C-AB49FEB23C11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7d2a3af0-b854-4018-b3fb-98bf2b75e19a"/>
    <ds:schemaRef ds:uri="http://purl.org/dc/elements/1.1/"/>
    <ds:schemaRef ds:uri="1e832426-6819-49af-b751-404cdfce1567"/>
    <ds:schemaRef ds:uri="http://schemas.microsoft.com/office/infopath/2007/PartnerControls"/>
    <ds:schemaRef ds:uri="bdec1399-7c99-4025-bfb6-e1e799e6630a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8822</TotalTime>
  <Words>1398</Words>
  <Application>Microsoft Office PowerPoint</Application>
  <PresentationFormat>On-screen Show (4:3)</PresentationFormat>
  <Paragraphs>251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1_Thème Office</vt:lpstr>
      <vt:lpstr>FCJ Module 36 : LE TRAVAIL A TEMPS PARTIEL AVEC MAINTIEN DES DROITS Niv.2</vt:lpstr>
      <vt:lpstr>TABLE DES MATIERES</vt:lpstr>
      <vt:lpstr>Régularisation 29§2 bis</vt:lpstr>
      <vt:lpstr>Régularisation 29§2 bis</vt:lpstr>
      <vt:lpstr>Régularisation 29§2 bis A. Pendant l’occupation </vt:lpstr>
      <vt:lpstr>Régularisation 29§2 bis B. En cas de DA en CT</vt:lpstr>
      <vt:lpstr>Régularisation 29§2 bis C. A la fin de l’occupation</vt:lpstr>
      <vt:lpstr>Proportionner l’IC </vt:lpstr>
      <vt:lpstr>Proportionner l’IC </vt:lpstr>
      <vt:lpstr>PowerPoint Presentation</vt:lpstr>
      <vt:lpstr>AGR suite plusieurs occupations à temps partiel le même mois</vt:lpstr>
      <vt:lpstr> Début d’une 2ème occupation à temps partiel </vt:lpstr>
      <vt:lpstr>Début d’une 2ème occupation à temps partiel : « temps plein temporaire » </vt:lpstr>
      <vt:lpstr> Début d’une 2ème occupation à temps partiel</vt:lpstr>
      <vt:lpstr> Début d’une 2ème occupation à temps partiel</vt:lpstr>
      <vt:lpstr>57  99   OU   99  57</vt:lpstr>
      <vt:lpstr>99  57 après le 01.04.2020 </vt:lpstr>
      <vt:lpstr>TTPMD avec AGR &amp; Vacances</vt:lpstr>
      <vt:lpstr>TTPMD avec AGR &amp; Vacances</vt:lpstr>
      <vt:lpstr>Requalification des heures A en V</vt:lpstr>
      <vt:lpstr>Disponibilité adaptée</vt:lpstr>
      <vt:lpstr>Période de carence</vt:lpstr>
      <vt:lpstr>TTPMD tâches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FCJ-M36-TTPMD (niv. 2)-Participants</dc:title>
  <dc:creator>Ramon Robledillo Moreno</dc:creator>
  <cp:lastModifiedBy>Jerome Martini</cp:lastModifiedBy>
  <cp:revision>267</cp:revision>
  <cp:lastPrinted>2017-09-06T07:37:24Z</cp:lastPrinted>
  <dcterms:created xsi:type="dcterms:W3CDTF">2013-11-25T07:58:34Z</dcterms:created>
  <dcterms:modified xsi:type="dcterms:W3CDTF">2022-12-05T11:09:32Z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17;#Admissibilité|d1ac0b1f-1e4c-4aa8-9a97-5b01e61985ba;#22;#Indemnisabilité|b5f95997-28b8-41b1-bbb7-1a3d8a5995b4;#26;#Paiement|bbe82f01-f3c6-4a35-a642-de01f3e9fac7;#18;#Vérités|91331765-02c2-47c0-8605-37a5a3e877f2</vt:lpwstr>
  </property>
  <property fmtid="{D5CDD505-2E9C-101B-9397-08002B2CF9AE}" pid="7" name="Thème">
    <vt:lpwstr>82;#TTPMD - Avancé|4ac7cd3f-1101-4f4e-88b5-6a8ad673b4cb</vt:lpwstr>
  </property>
  <property fmtid="{D5CDD505-2E9C-101B-9397-08002B2CF9AE}" pid="8" name="_dlc_DocIdItemGuid">
    <vt:lpwstr>a8cb20b9-756e-48dd-982b-5acd88a1481d</vt:lpwstr>
  </property>
</Properties>
</file>