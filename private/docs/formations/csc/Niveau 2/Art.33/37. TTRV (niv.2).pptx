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Lst>
  <p:notesMasterIdLst>
    <p:notesMasterId r:id="rId48"/>
  </p:notesMasterIdLst>
  <p:handoutMasterIdLst>
    <p:handoutMasterId r:id="rId49"/>
  </p:handoutMasterIdLst>
  <p:sldIdLst>
    <p:sldId id="363" r:id="rId5"/>
    <p:sldId id="825" r:id="rId6"/>
    <p:sldId id="826" r:id="rId7"/>
    <p:sldId id="795" r:id="rId8"/>
    <p:sldId id="808" r:id="rId9"/>
    <p:sldId id="827" r:id="rId10"/>
    <p:sldId id="807" r:id="rId11"/>
    <p:sldId id="739" r:id="rId12"/>
    <p:sldId id="740" r:id="rId13"/>
    <p:sldId id="746" r:id="rId14"/>
    <p:sldId id="754" r:id="rId15"/>
    <p:sldId id="757" r:id="rId16"/>
    <p:sldId id="758" r:id="rId17"/>
    <p:sldId id="828" r:id="rId18"/>
    <p:sldId id="749" r:id="rId19"/>
    <p:sldId id="750" r:id="rId20"/>
    <p:sldId id="262" r:id="rId21"/>
    <p:sldId id="263" r:id="rId22"/>
    <p:sldId id="272" r:id="rId23"/>
    <p:sldId id="796" r:id="rId24"/>
    <p:sldId id="751" r:id="rId25"/>
    <p:sldId id="752" r:id="rId26"/>
    <p:sldId id="762" r:id="rId27"/>
    <p:sldId id="763" r:id="rId28"/>
    <p:sldId id="766" r:id="rId29"/>
    <p:sldId id="767" r:id="rId30"/>
    <p:sldId id="768" r:id="rId31"/>
    <p:sldId id="770" r:id="rId32"/>
    <p:sldId id="775" r:id="rId33"/>
    <p:sldId id="776" r:id="rId34"/>
    <p:sldId id="777" r:id="rId35"/>
    <p:sldId id="809" r:id="rId36"/>
    <p:sldId id="810" r:id="rId37"/>
    <p:sldId id="811" r:id="rId38"/>
    <p:sldId id="415" r:id="rId39"/>
    <p:sldId id="812" r:id="rId40"/>
    <p:sldId id="813" r:id="rId41"/>
    <p:sldId id="814" r:id="rId42"/>
    <p:sldId id="815" r:id="rId43"/>
    <p:sldId id="765" r:id="rId44"/>
    <p:sldId id="817" r:id="rId45"/>
    <p:sldId id="818" r:id="rId46"/>
    <p:sldId id="816" r:id="rId47"/>
  </p:sldIdLst>
  <p:sldSz cx="9144000" cy="6858000" type="screen4x3"/>
  <p:notesSz cx="6735763" cy="98663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33CC"/>
    <a:srgbClr val="FF9933"/>
    <a:srgbClr val="669900"/>
    <a:srgbClr val="00FF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1080" autoAdjust="0"/>
  </p:normalViewPr>
  <p:slideViewPr>
    <p:cSldViewPr>
      <p:cViewPr varScale="1">
        <p:scale>
          <a:sx n="97" d="100"/>
          <a:sy n="97" d="100"/>
        </p:scale>
        <p:origin x="564" y="78"/>
      </p:cViewPr>
      <p:guideLst>
        <p:guide orient="horz" pos="2160"/>
        <p:guide pos="2880"/>
      </p:guideLst>
    </p:cSldViewPr>
  </p:slideViewPr>
  <p:outlineViewPr>
    <p:cViewPr>
      <p:scale>
        <a:sx n="33" d="100"/>
        <a:sy n="33" d="100"/>
      </p:scale>
      <p:origin x="0" y="-5083"/>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3.xml"/><Relationship Id="rId18" Type="http://schemas.openxmlformats.org/officeDocument/2006/relationships/slide" Target="slides/slide18.xml"/><Relationship Id="rId26" Type="http://schemas.openxmlformats.org/officeDocument/2006/relationships/slide" Target="slides/slide26.xml"/><Relationship Id="rId39" Type="http://schemas.openxmlformats.org/officeDocument/2006/relationships/slide" Target="slides/slide39.xml"/><Relationship Id="rId3" Type="http://schemas.openxmlformats.org/officeDocument/2006/relationships/slide" Target="slides/slide3.xml"/><Relationship Id="rId21" Type="http://schemas.openxmlformats.org/officeDocument/2006/relationships/slide" Target="slides/slide21.xml"/><Relationship Id="rId34" Type="http://schemas.openxmlformats.org/officeDocument/2006/relationships/slide" Target="slides/slide34.xml"/><Relationship Id="rId42" Type="http://schemas.openxmlformats.org/officeDocument/2006/relationships/slide" Target="slides/slide42.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7.xml"/><Relationship Id="rId25" Type="http://schemas.openxmlformats.org/officeDocument/2006/relationships/slide" Target="slides/slide25.xml"/><Relationship Id="rId33" Type="http://schemas.openxmlformats.org/officeDocument/2006/relationships/slide" Target="slides/slide33.xml"/><Relationship Id="rId38" Type="http://schemas.openxmlformats.org/officeDocument/2006/relationships/slide" Target="slides/slide38.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20.xml"/><Relationship Id="rId29" Type="http://schemas.openxmlformats.org/officeDocument/2006/relationships/slide" Target="slides/slide29.xml"/><Relationship Id="rId41" Type="http://schemas.openxmlformats.org/officeDocument/2006/relationships/slide" Target="slides/slide41.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24.xml"/><Relationship Id="rId32" Type="http://schemas.openxmlformats.org/officeDocument/2006/relationships/slide" Target="slides/slide32.xml"/><Relationship Id="rId37" Type="http://schemas.openxmlformats.org/officeDocument/2006/relationships/slide" Target="slides/slide37.xml"/><Relationship Id="rId40" Type="http://schemas.openxmlformats.org/officeDocument/2006/relationships/slide" Target="slides/slide40.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23.xml"/><Relationship Id="rId28" Type="http://schemas.openxmlformats.org/officeDocument/2006/relationships/slide" Target="slides/slide28.xml"/><Relationship Id="rId36" Type="http://schemas.openxmlformats.org/officeDocument/2006/relationships/slide" Target="slides/slide36.xml"/><Relationship Id="rId10" Type="http://schemas.openxmlformats.org/officeDocument/2006/relationships/slide" Target="slides/slide10.xml"/><Relationship Id="rId19" Type="http://schemas.openxmlformats.org/officeDocument/2006/relationships/slide" Target="slides/slide19.xml"/><Relationship Id="rId31" Type="http://schemas.openxmlformats.org/officeDocument/2006/relationships/slide" Target="slides/slide31.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2.xml"/><Relationship Id="rId27" Type="http://schemas.openxmlformats.org/officeDocument/2006/relationships/slide" Target="slides/slide27.xml"/><Relationship Id="rId30" Type="http://schemas.openxmlformats.org/officeDocument/2006/relationships/slide" Target="slides/slide30.xml"/><Relationship Id="rId35" Type="http://schemas.openxmlformats.org/officeDocument/2006/relationships/slide" Target="slides/slide35.xml"/><Relationship Id="rId43"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0" cy="493316"/>
          </a:xfrm>
          <a:prstGeom prst="rect">
            <a:avLst/>
          </a:prstGeom>
        </p:spPr>
        <p:txBody>
          <a:bodyPr vert="horz" lIns="93177" tIns="46589" rIns="93177" bIns="46589" rtlCol="0"/>
          <a:lstStyle>
            <a:lvl1pPr algn="l">
              <a:defRPr sz="1200"/>
            </a:lvl1pPr>
          </a:lstStyle>
          <a:p>
            <a:endParaRPr lang="fr-FR" dirty="0"/>
          </a:p>
        </p:txBody>
      </p:sp>
      <p:sp>
        <p:nvSpPr>
          <p:cNvPr id="3" name="Espace réservé de la date 2"/>
          <p:cNvSpPr>
            <a:spLocks noGrp="1"/>
          </p:cNvSpPr>
          <p:nvPr>
            <p:ph type="dt" sz="quarter" idx="1"/>
          </p:nvPr>
        </p:nvSpPr>
        <p:spPr>
          <a:xfrm>
            <a:off x="3815374" y="0"/>
            <a:ext cx="2918830" cy="493316"/>
          </a:xfrm>
          <a:prstGeom prst="rect">
            <a:avLst/>
          </a:prstGeom>
        </p:spPr>
        <p:txBody>
          <a:bodyPr vert="horz" lIns="93177" tIns="46589" rIns="93177" bIns="46589" rtlCol="0"/>
          <a:lstStyle>
            <a:lvl1pPr algn="r">
              <a:defRPr sz="1200"/>
            </a:lvl1pPr>
          </a:lstStyle>
          <a:p>
            <a:fld id="{E47068CA-F0DC-447A-B9ED-AE95D731C7D8}" type="datetimeFigureOut">
              <a:rPr lang="fr-FR" smtClean="0"/>
              <a:pPr/>
              <a:t>06/12/2022</a:t>
            </a:fld>
            <a:endParaRPr lang="fr-FR" dirty="0"/>
          </a:p>
        </p:txBody>
      </p:sp>
      <p:sp>
        <p:nvSpPr>
          <p:cNvPr id="4" name="Espace réservé du pied de page 3"/>
          <p:cNvSpPr>
            <a:spLocks noGrp="1"/>
          </p:cNvSpPr>
          <p:nvPr>
            <p:ph type="ftr" sz="quarter" idx="2"/>
          </p:nvPr>
        </p:nvSpPr>
        <p:spPr>
          <a:xfrm>
            <a:off x="0" y="9371285"/>
            <a:ext cx="2918830" cy="493316"/>
          </a:xfrm>
          <a:prstGeom prst="rect">
            <a:avLst/>
          </a:prstGeom>
        </p:spPr>
        <p:txBody>
          <a:bodyPr vert="horz" lIns="93177" tIns="46589" rIns="93177" bIns="46589" rtlCol="0" anchor="b"/>
          <a:lstStyle>
            <a:lvl1pPr algn="l">
              <a:defRPr sz="1200"/>
            </a:lvl1pPr>
          </a:lstStyle>
          <a:p>
            <a:endParaRPr lang="fr-FR" dirty="0"/>
          </a:p>
        </p:txBody>
      </p:sp>
      <p:sp>
        <p:nvSpPr>
          <p:cNvPr id="5" name="Espace réservé du numéro de diapositive 4"/>
          <p:cNvSpPr>
            <a:spLocks noGrp="1"/>
          </p:cNvSpPr>
          <p:nvPr>
            <p:ph type="sldNum" sz="quarter" idx="3"/>
          </p:nvPr>
        </p:nvSpPr>
        <p:spPr>
          <a:xfrm>
            <a:off x="3815374" y="9371285"/>
            <a:ext cx="2918830" cy="493316"/>
          </a:xfrm>
          <a:prstGeom prst="rect">
            <a:avLst/>
          </a:prstGeom>
        </p:spPr>
        <p:txBody>
          <a:bodyPr vert="horz" lIns="93177" tIns="46589" rIns="93177" bIns="46589" rtlCol="0" anchor="b"/>
          <a:lstStyle>
            <a:lvl1pPr algn="r">
              <a:defRPr sz="1200"/>
            </a:lvl1pPr>
          </a:lstStyle>
          <a:p>
            <a:fld id="{49110657-391D-4BAF-82B8-BBA3EA77C61C}" type="slidenum">
              <a:rPr lang="fr-FR" smtClean="0"/>
              <a:pPr/>
              <a:t>‹N°›</a:t>
            </a:fld>
            <a:endParaRPr lang="fr-FR" dirty="0"/>
          </a:p>
        </p:txBody>
      </p:sp>
    </p:spTree>
    <p:extLst>
      <p:ext uri="{BB962C8B-B14F-4D97-AF65-F5344CB8AC3E}">
        <p14:creationId xmlns:p14="http://schemas.microsoft.com/office/powerpoint/2010/main" val="39398872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0" cy="493316"/>
          </a:xfrm>
          <a:prstGeom prst="rect">
            <a:avLst/>
          </a:prstGeom>
        </p:spPr>
        <p:txBody>
          <a:bodyPr vert="horz" lIns="93177" tIns="46589" rIns="93177" bIns="46589" rtlCol="0"/>
          <a:lstStyle>
            <a:lvl1pPr algn="l">
              <a:defRPr sz="1200"/>
            </a:lvl1pPr>
          </a:lstStyle>
          <a:p>
            <a:endParaRPr lang="fr-FR" dirty="0"/>
          </a:p>
        </p:txBody>
      </p:sp>
      <p:sp>
        <p:nvSpPr>
          <p:cNvPr id="3" name="Espace réservé de la date 2"/>
          <p:cNvSpPr>
            <a:spLocks noGrp="1"/>
          </p:cNvSpPr>
          <p:nvPr>
            <p:ph type="dt" idx="1"/>
          </p:nvPr>
        </p:nvSpPr>
        <p:spPr>
          <a:xfrm>
            <a:off x="3815374" y="0"/>
            <a:ext cx="2918830" cy="493316"/>
          </a:xfrm>
          <a:prstGeom prst="rect">
            <a:avLst/>
          </a:prstGeom>
        </p:spPr>
        <p:txBody>
          <a:bodyPr vert="horz" lIns="93177" tIns="46589" rIns="93177" bIns="46589" rtlCol="0"/>
          <a:lstStyle>
            <a:lvl1pPr algn="r">
              <a:defRPr sz="1200"/>
            </a:lvl1pPr>
          </a:lstStyle>
          <a:p>
            <a:fld id="{B000F49C-6693-442B-81D1-9FE7387508D2}" type="datetimeFigureOut">
              <a:rPr lang="fr-FR" smtClean="0"/>
              <a:pPr/>
              <a:t>06/12/2022</a:t>
            </a:fld>
            <a:endParaRPr lang="fr-FR" dirty="0"/>
          </a:p>
        </p:txBody>
      </p:sp>
      <p:sp>
        <p:nvSpPr>
          <p:cNvPr id="4" name="Espace réservé de l'image des diapositives 3"/>
          <p:cNvSpPr>
            <a:spLocks noGrp="1" noRot="1" noChangeAspect="1"/>
          </p:cNvSpPr>
          <p:nvPr>
            <p:ph type="sldImg" idx="2"/>
          </p:nvPr>
        </p:nvSpPr>
        <p:spPr>
          <a:xfrm>
            <a:off x="900113" y="739775"/>
            <a:ext cx="4935537" cy="3700463"/>
          </a:xfrm>
          <a:prstGeom prst="rect">
            <a:avLst/>
          </a:prstGeom>
          <a:noFill/>
          <a:ln w="12700">
            <a:solidFill>
              <a:prstClr val="black"/>
            </a:solidFill>
          </a:ln>
        </p:spPr>
        <p:txBody>
          <a:bodyPr vert="horz" lIns="93177" tIns="46589" rIns="93177" bIns="46589" rtlCol="0" anchor="ctr"/>
          <a:lstStyle/>
          <a:p>
            <a:endParaRPr lang="fr-FR" dirty="0"/>
          </a:p>
        </p:txBody>
      </p:sp>
      <p:sp>
        <p:nvSpPr>
          <p:cNvPr id="5" name="Espace réservé des commentaires 4"/>
          <p:cNvSpPr>
            <a:spLocks noGrp="1"/>
          </p:cNvSpPr>
          <p:nvPr>
            <p:ph type="body" sz="quarter" idx="3"/>
          </p:nvPr>
        </p:nvSpPr>
        <p:spPr>
          <a:xfrm>
            <a:off x="673577" y="4686502"/>
            <a:ext cx="5388610" cy="4439841"/>
          </a:xfrm>
          <a:prstGeom prst="rect">
            <a:avLst/>
          </a:prstGeom>
        </p:spPr>
        <p:txBody>
          <a:bodyPr vert="horz" lIns="93177" tIns="46589" rIns="93177" bIns="46589"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1285"/>
            <a:ext cx="2918830" cy="493316"/>
          </a:xfrm>
          <a:prstGeom prst="rect">
            <a:avLst/>
          </a:prstGeom>
        </p:spPr>
        <p:txBody>
          <a:bodyPr vert="horz" lIns="93177" tIns="46589" rIns="93177" bIns="46589"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15374" y="9371285"/>
            <a:ext cx="2918830" cy="493316"/>
          </a:xfrm>
          <a:prstGeom prst="rect">
            <a:avLst/>
          </a:prstGeom>
        </p:spPr>
        <p:txBody>
          <a:bodyPr vert="horz" lIns="93177" tIns="46589" rIns="93177" bIns="46589" rtlCol="0" anchor="b"/>
          <a:lstStyle>
            <a:lvl1pPr algn="r">
              <a:defRPr sz="1200"/>
            </a:lvl1pPr>
          </a:lstStyle>
          <a:p>
            <a:fld id="{784742A2-A700-4112-A494-09AD92282681}" type="slidenum">
              <a:rPr lang="fr-FR" smtClean="0"/>
              <a:pPr/>
              <a:t>‹N°›</a:t>
            </a:fld>
            <a:endParaRPr lang="fr-FR" dirty="0"/>
          </a:p>
        </p:txBody>
      </p:sp>
    </p:spTree>
    <p:extLst>
      <p:ext uri="{BB962C8B-B14F-4D97-AF65-F5344CB8AC3E}">
        <p14:creationId xmlns:p14="http://schemas.microsoft.com/office/powerpoint/2010/main" val="3372269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1</a:t>
            </a:fld>
            <a:endParaRPr lang="fr-FR" dirty="0">
              <a:solidFill>
                <a:prstClr val="black"/>
              </a:solidFill>
            </a:endParaRPr>
          </a:p>
        </p:txBody>
      </p:sp>
    </p:spTree>
    <p:extLst>
      <p:ext uri="{BB962C8B-B14F-4D97-AF65-F5344CB8AC3E}">
        <p14:creationId xmlns:p14="http://schemas.microsoft.com/office/powerpoint/2010/main" val="3590205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C2C15D-7255-4745-8092-5A14B4E35AD3}" type="slidenum">
              <a:rPr lang="fr-FR">
                <a:solidFill>
                  <a:prstClr val="black"/>
                </a:solidFill>
              </a:rPr>
              <a:pPr/>
              <a:t>3</a:t>
            </a:fld>
            <a:endParaRPr lang="fr-FR" dirty="0">
              <a:solidFill>
                <a:prstClr val="black"/>
              </a:solidFill>
            </a:endParaRPr>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endParaRPr lang="fr-FR" baseline="0" dirty="0"/>
          </a:p>
        </p:txBody>
      </p:sp>
    </p:spTree>
    <p:extLst>
      <p:ext uri="{BB962C8B-B14F-4D97-AF65-F5344CB8AC3E}">
        <p14:creationId xmlns:p14="http://schemas.microsoft.com/office/powerpoint/2010/main" val="1366771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C2C15D-7255-4745-8092-5A14B4E35AD3}" type="slidenum">
              <a:rPr lang="fr-FR">
                <a:solidFill>
                  <a:prstClr val="black"/>
                </a:solidFill>
              </a:rPr>
              <a:pPr/>
              <a:t>6</a:t>
            </a:fld>
            <a:endParaRPr lang="fr-FR" dirty="0">
              <a:solidFill>
                <a:prstClr val="black"/>
              </a:solidFill>
            </a:endParaRPr>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endParaRPr lang="fr-FR" baseline="0" dirty="0"/>
          </a:p>
        </p:txBody>
      </p:sp>
    </p:spTree>
    <p:extLst>
      <p:ext uri="{BB962C8B-B14F-4D97-AF65-F5344CB8AC3E}">
        <p14:creationId xmlns:p14="http://schemas.microsoft.com/office/powerpoint/2010/main" val="3888719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Méthodo !!!</a:t>
            </a:r>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8</a:t>
            </a:fld>
            <a:endParaRPr lang="fr-FR" dirty="0"/>
          </a:p>
        </p:txBody>
      </p:sp>
    </p:spTree>
    <p:extLst>
      <p:ext uri="{BB962C8B-B14F-4D97-AF65-F5344CB8AC3E}">
        <p14:creationId xmlns:p14="http://schemas.microsoft.com/office/powerpoint/2010/main" val="1634041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13</a:t>
            </a:fld>
            <a:endParaRPr lang="fr-FR" dirty="0"/>
          </a:p>
        </p:txBody>
      </p:sp>
    </p:spTree>
    <p:extLst>
      <p:ext uri="{BB962C8B-B14F-4D97-AF65-F5344CB8AC3E}">
        <p14:creationId xmlns:p14="http://schemas.microsoft.com/office/powerpoint/2010/main" val="2953094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dirty="0"/>
          </a:p>
        </p:txBody>
      </p:sp>
    </p:spTree>
    <p:extLst>
      <p:ext uri="{BB962C8B-B14F-4D97-AF65-F5344CB8AC3E}">
        <p14:creationId xmlns:p14="http://schemas.microsoft.com/office/powerpoint/2010/main" val="711691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17</a:t>
            </a:fld>
            <a:endParaRPr lang="fr-FR" dirty="0"/>
          </a:p>
        </p:txBody>
      </p:sp>
    </p:spTree>
    <p:extLst>
      <p:ext uri="{BB962C8B-B14F-4D97-AF65-F5344CB8AC3E}">
        <p14:creationId xmlns:p14="http://schemas.microsoft.com/office/powerpoint/2010/main" val="4128599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18</a:t>
            </a:fld>
            <a:endParaRPr lang="fr-FR" dirty="0"/>
          </a:p>
        </p:txBody>
      </p:sp>
    </p:spTree>
    <p:extLst>
      <p:ext uri="{BB962C8B-B14F-4D97-AF65-F5344CB8AC3E}">
        <p14:creationId xmlns:p14="http://schemas.microsoft.com/office/powerpoint/2010/main" val="3954520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defTabSz="918149">
              <a:defRPr/>
            </a:pPr>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dirty="0"/>
          </a:p>
        </p:txBody>
      </p:sp>
    </p:spTree>
    <p:extLst>
      <p:ext uri="{BB962C8B-B14F-4D97-AF65-F5344CB8AC3E}">
        <p14:creationId xmlns:p14="http://schemas.microsoft.com/office/powerpoint/2010/main" val="770126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dirty="0"/>
          </a:p>
        </p:txBody>
      </p:sp>
    </p:spTree>
    <p:extLst>
      <p:ext uri="{BB962C8B-B14F-4D97-AF65-F5344CB8AC3E}">
        <p14:creationId xmlns:p14="http://schemas.microsoft.com/office/powerpoint/2010/main" val="1823131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méthodo</a:t>
            </a:r>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23</a:t>
            </a:fld>
            <a:endParaRPr lang="fr-FR" dirty="0"/>
          </a:p>
        </p:txBody>
      </p:sp>
    </p:spTree>
    <p:extLst>
      <p:ext uri="{BB962C8B-B14F-4D97-AF65-F5344CB8AC3E}">
        <p14:creationId xmlns:p14="http://schemas.microsoft.com/office/powerpoint/2010/main" val="3023911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BE" baseline="0" dirty="0"/>
          </a:p>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25</a:t>
            </a:fld>
            <a:endParaRPr lang="fr-FR" dirty="0">
              <a:solidFill>
                <a:prstClr val="black"/>
              </a:solidFill>
            </a:endParaRPr>
          </a:p>
        </p:txBody>
      </p:sp>
    </p:spTree>
    <p:extLst>
      <p:ext uri="{BB962C8B-B14F-4D97-AF65-F5344CB8AC3E}">
        <p14:creationId xmlns:p14="http://schemas.microsoft.com/office/powerpoint/2010/main" val="4186160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26</a:t>
            </a:fld>
            <a:endParaRPr lang="fr-FR" dirty="0">
              <a:solidFill>
                <a:prstClr val="black"/>
              </a:solidFill>
            </a:endParaRPr>
          </a:p>
        </p:txBody>
      </p:sp>
    </p:spTree>
    <p:extLst>
      <p:ext uri="{BB962C8B-B14F-4D97-AF65-F5344CB8AC3E}">
        <p14:creationId xmlns:p14="http://schemas.microsoft.com/office/powerpoint/2010/main" val="282701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27</a:t>
            </a:fld>
            <a:endParaRPr lang="fr-FR" dirty="0">
              <a:solidFill>
                <a:prstClr val="black"/>
              </a:solidFill>
            </a:endParaRPr>
          </a:p>
        </p:txBody>
      </p:sp>
    </p:spTree>
    <p:extLst>
      <p:ext uri="{BB962C8B-B14F-4D97-AF65-F5344CB8AC3E}">
        <p14:creationId xmlns:p14="http://schemas.microsoft.com/office/powerpoint/2010/main" val="1439647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28</a:t>
            </a:fld>
            <a:endParaRPr lang="fr-FR" dirty="0">
              <a:solidFill>
                <a:prstClr val="black"/>
              </a:solidFill>
            </a:endParaRPr>
          </a:p>
        </p:txBody>
      </p:sp>
    </p:spTree>
    <p:extLst>
      <p:ext uri="{BB962C8B-B14F-4D97-AF65-F5344CB8AC3E}">
        <p14:creationId xmlns:p14="http://schemas.microsoft.com/office/powerpoint/2010/main" val="1480097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indent="0">
              <a:buFontTx/>
              <a:buNone/>
            </a:pPr>
            <a:endParaRPr lang="en-US" sz="1100" b="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29</a:t>
            </a:fld>
            <a:endParaRPr lang="fr-FR" dirty="0">
              <a:solidFill>
                <a:prstClr val="black"/>
              </a:solidFill>
            </a:endParaRPr>
          </a:p>
        </p:txBody>
      </p:sp>
    </p:spTree>
    <p:extLst>
      <p:ext uri="{BB962C8B-B14F-4D97-AF65-F5344CB8AC3E}">
        <p14:creationId xmlns:p14="http://schemas.microsoft.com/office/powerpoint/2010/main" val="316567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30</a:t>
            </a:fld>
            <a:endParaRPr lang="fr-FR" dirty="0">
              <a:solidFill>
                <a:prstClr val="black"/>
              </a:solidFill>
            </a:endParaRPr>
          </a:p>
        </p:txBody>
      </p:sp>
    </p:spTree>
    <p:extLst>
      <p:ext uri="{BB962C8B-B14F-4D97-AF65-F5344CB8AC3E}">
        <p14:creationId xmlns:p14="http://schemas.microsoft.com/office/powerpoint/2010/main" val="1843502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31</a:t>
            </a:fld>
            <a:endParaRPr lang="fr-FR" dirty="0">
              <a:solidFill>
                <a:prstClr val="black"/>
              </a:solidFill>
            </a:endParaRPr>
          </a:p>
        </p:txBody>
      </p:sp>
    </p:spTree>
    <p:extLst>
      <p:ext uri="{BB962C8B-B14F-4D97-AF65-F5344CB8AC3E}">
        <p14:creationId xmlns:p14="http://schemas.microsoft.com/office/powerpoint/2010/main" val="310464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BD354707-722F-4A60-9660-96DE0BD69967}" type="datetime1">
              <a:rPr lang="fr-FR" smtClean="0"/>
              <a:pPr/>
              <a:t>06/12/2022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58CC7C1-4123-4C24-970B-DF08A948B31A}" type="datetime1">
              <a:rPr lang="fr-FR" smtClean="0"/>
              <a:pPr/>
              <a:t>06/12/2022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2A1D4349-2926-4739-B2B4-B0A22C79AD76}" type="datetime1">
              <a:rPr lang="fr-FR" smtClean="0"/>
              <a:pPr/>
              <a:t>06/12/2022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441A9A2-D604-4289-935B-9578668F5708}" type="datetime1">
              <a:rPr lang="fr-FR" smtClean="0"/>
              <a:pPr/>
              <a:t>06/12/2022</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112F17A7-122D-4D2C-981C-2563884CC80D}" type="datetime1">
              <a:rPr lang="fr-FR" smtClean="0"/>
              <a:pPr/>
              <a:t>06/12/2022</a:t>
            </a:fld>
            <a:endParaRPr lang="fr-FR" dirty="0"/>
          </a:p>
        </p:txBody>
      </p:sp>
      <p:sp>
        <p:nvSpPr>
          <p:cNvPr id="8" name="Espace réservé du pied de page 7"/>
          <p:cNvSpPr>
            <a:spLocks noGrp="1"/>
          </p:cNvSpPr>
          <p:nvPr>
            <p:ph type="ftr" sz="quarter" idx="11"/>
          </p:nvPr>
        </p:nvSpPr>
        <p:spPr/>
        <p:txBody>
          <a:bodyPr/>
          <a:lstStyle/>
          <a:p>
            <a:endParaRPr lang="fr-FR" dirty="0"/>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14A64D67-A364-4951-A604-4FB7C704199C}" type="datetime1">
              <a:rPr lang="fr-FR" smtClean="0"/>
              <a:pPr/>
              <a:t>06/12/2022</a:t>
            </a:fld>
            <a:endParaRPr lang="fr-FR" dirty="0"/>
          </a:p>
        </p:txBody>
      </p:sp>
      <p:sp>
        <p:nvSpPr>
          <p:cNvPr id="4" name="Espace réservé du pied de page 3"/>
          <p:cNvSpPr>
            <a:spLocks noGrp="1"/>
          </p:cNvSpPr>
          <p:nvPr>
            <p:ph type="ftr" sz="quarter" idx="11"/>
          </p:nvPr>
        </p:nvSpPr>
        <p:spPr/>
        <p:txBody>
          <a:bodyPr/>
          <a:lstStyle/>
          <a:p>
            <a:endParaRPr lang="fr-FR"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1AB0018-CA76-4639-9B9A-2AF7193C4869}" type="datetime1">
              <a:rPr lang="fr-FR" smtClean="0"/>
              <a:pPr/>
              <a:t>06/12/2022</a:t>
            </a:fld>
            <a:endParaRPr lang="fr-FR" dirty="0"/>
          </a:p>
        </p:txBody>
      </p:sp>
      <p:sp>
        <p:nvSpPr>
          <p:cNvPr id="3" name="Espace réservé du pied de page 2"/>
          <p:cNvSpPr>
            <a:spLocks noGrp="1"/>
          </p:cNvSpPr>
          <p:nvPr>
            <p:ph type="ftr" sz="quarter" idx="11"/>
          </p:nvPr>
        </p:nvSpPr>
        <p:spPr/>
        <p:txBody>
          <a:bodyPr/>
          <a:lstStyle/>
          <a:p>
            <a:endParaRPr lang="fr-FR"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0F25FB98-594B-4234-8183-CBD2456B9B9F}" type="datetime1">
              <a:rPr lang="fr-FR" smtClean="0"/>
              <a:pPr/>
              <a:t>06/12/2022</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D6778DC-9C57-4CFF-828C-427A77C042C6}" type="datetime1">
              <a:rPr lang="fr-FR" smtClean="0"/>
              <a:pPr/>
              <a:t>06/12/2022</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ABD243E-C9CA-4284-A135-5AD0E7301BAF}" type="datetime1">
              <a:rPr lang="fr-FR" smtClean="0"/>
              <a:pPr/>
              <a:t>06/12/2022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C25C91F-E0F1-4223-AF77-52AB0CC9E474}" type="datetime1">
              <a:rPr lang="fr-FR" smtClean="0"/>
              <a:pPr/>
              <a:t>06/12/2022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7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319711-FEBE-4F6F-8DA5-FF72666C7073}" type="datetime1">
              <a:rPr lang="fr-FR" smtClean="0"/>
              <a:pPr/>
              <a:t>06/12/2022</a:t>
            </a:fld>
            <a:endParaRPr lang="fr-FR" dirty="0"/>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ctrTitle"/>
          </p:nvPr>
        </p:nvSpPr>
        <p:spPr>
          <a:xfrm>
            <a:off x="685800" y="1571612"/>
            <a:ext cx="7772400" cy="2786083"/>
          </a:xfrm>
        </p:spPr>
        <p:txBody>
          <a:bodyPr>
            <a:noAutofit/>
          </a:bodyPr>
          <a:lstStyle/>
          <a:p>
            <a:pPr marL="609600" indent="-609600"/>
            <a:r>
              <a:rPr lang="fr-BE" sz="5400" b="1" i="1" dirty="0"/>
              <a:t>Admission sur base d’un travail salarié à temps partiel volontaire </a:t>
            </a:r>
            <a:br>
              <a:rPr lang="fr-BE" sz="4800" b="1" i="1" dirty="0"/>
            </a:br>
            <a:r>
              <a:rPr lang="fr-BE" sz="3500" b="1" i="1" dirty="0"/>
              <a:t>(niv. 2)</a:t>
            </a:r>
            <a:endParaRPr lang="fr-FR" sz="3500" dirty="0"/>
          </a:p>
        </p:txBody>
      </p:sp>
      <p:sp>
        <p:nvSpPr>
          <p:cNvPr id="4" name="Espace réservé du numéro de diapositive 3"/>
          <p:cNvSpPr>
            <a:spLocks noGrp="1"/>
          </p:cNvSpPr>
          <p:nvPr>
            <p:ph type="sldNum" sz="quarter" idx="12"/>
          </p:nvPr>
        </p:nvSpPr>
        <p:spPr>
          <a:xfrm>
            <a:off x="8286776" y="6072206"/>
            <a:ext cx="400024" cy="365125"/>
          </a:xfrm>
        </p:spPr>
        <p:txBody>
          <a:bodyPr/>
          <a:lstStyle/>
          <a:p>
            <a:fld id="{55E9056B-6A30-4F99-BDE9-C450E66AE125}" type="slidenum">
              <a:rPr lang="fr-FR" smtClean="0">
                <a:solidFill>
                  <a:prstClr val="black">
                    <a:tint val="75000"/>
                  </a:prstClr>
                </a:solidFill>
              </a:rPr>
              <a:pPr/>
              <a:t>1</a:t>
            </a:fld>
            <a:endParaRPr lang="fr-FR" dirty="0">
              <a:solidFill>
                <a:prstClr val="black">
                  <a:tint val="75000"/>
                </a:prstClr>
              </a:solidFill>
            </a:endParaRPr>
          </a:p>
        </p:txBody>
      </p:sp>
      <p:sp>
        <p:nvSpPr>
          <p:cNvPr id="7" name="Sous-titre 6"/>
          <p:cNvSpPr>
            <a:spLocks noGrp="1"/>
          </p:cNvSpPr>
          <p:nvPr>
            <p:ph type="subTitle" idx="1"/>
          </p:nvPr>
        </p:nvSpPr>
        <p:spPr>
          <a:xfrm>
            <a:off x="685800" y="4681554"/>
            <a:ext cx="7772400" cy="1066792"/>
          </a:xfrm>
        </p:spPr>
        <p:txBody>
          <a:bodyPr>
            <a:normAutofit/>
          </a:bodyPr>
          <a:lstStyle/>
          <a:p>
            <a:pPr lvl="0"/>
            <a:r>
              <a:rPr lang="fr-BE" sz="4800" b="1" i="1" dirty="0">
                <a:solidFill>
                  <a:srgbClr val="C0504D">
                    <a:lumMod val="75000"/>
                  </a:srgbClr>
                </a:solidFill>
              </a:rPr>
              <a:t>Art. 33 </a:t>
            </a:r>
            <a:r>
              <a:rPr lang="fr-BE" sz="4800" b="1" i="1" dirty="0">
                <a:solidFill>
                  <a:prstClr val="black"/>
                </a:solidFill>
              </a:rPr>
              <a:t>de l’</a:t>
            </a:r>
            <a:r>
              <a:rPr lang="fr-BE" sz="4800" b="1" i="1" dirty="0">
                <a:solidFill>
                  <a:srgbClr val="C0504D">
                    <a:lumMod val="75000"/>
                  </a:srgbClr>
                </a:solidFill>
              </a:rPr>
              <a:t>AR</a:t>
            </a:r>
            <a:r>
              <a:rPr lang="fr-BE" sz="4800" b="1" i="1" dirty="0">
                <a:solidFill>
                  <a:prstClr val="black"/>
                </a:solidFill>
              </a:rPr>
              <a:t> du 25.11.1991</a:t>
            </a:r>
          </a:p>
          <a:p>
            <a:endParaRPr lang="fr-FR" sz="3300" b="1" i="1" dirty="0">
              <a:solidFill>
                <a:schemeClr val="tx1"/>
              </a:solidFill>
            </a:endParaRPr>
          </a:p>
        </p:txBody>
      </p:sp>
      <p:sp>
        <p:nvSpPr>
          <p:cNvPr id="2" name="Rectangle 1">
            <a:extLst>
              <a:ext uri="{FF2B5EF4-FFF2-40B4-BE49-F238E27FC236}">
                <a16:creationId xmlns:a16="http://schemas.microsoft.com/office/drawing/2014/main" id="{0A328D5D-E7E2-4BB0-BC2E-86264E39048D}"/>
              </a:ext>
            </a:extLst>
          </p:cNvPr>
          <p:cNvSpPr/>
          <p:nvPr/>
        </p:nvSpPr>
        <p:spPr>
          <a:xfrm>
            <a:off x="251520" y="6072206"/>
            <a:ext cx="1368152" cy="2371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07.12.2022</a:t>
            </a:r>
          </a:p>
        </p:txBody>
      </p:sp>
    </p:spTree>
    <p:extLst>
      <p:ext uri="{BB962C8B-B14F-4D97-AF65-F5344CB8AC3E}">
        <p14:creationId xmlns:p14="http://schemas.microsoft.com/office/powerpoint/2010/main" val="52766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0" fill="hold"/>
                                        <p:tgtEl>
                                          <p:spTgt spid="6"/>
                                        </p:tgtEl>
                                        <p:attrNameLst>
                                          <p:attrName>ppt_w</p:attrName>
                                        </p:attrNameLst>
                                      </p:cBhvr>
                                      <p:tavLst>
                                        <p:tav tm="0">
                                          <p:val>
                                            <p:fltVal val="0"/>
                                          </p:val>
                                        </p:tav>
                                        <p:tav tm="100000">
                                          <p:val>
                                            <p:strVal val="#ppt_w"/>
                                          </p:val>
                                        </p:tav>
                                      </p:tavLst>
                                    </p:anim>
                                    <p:anim calcmode="lin" valueType="num">
                                      <p:cBhvr>
                                        <p:cTn id="8" dur="2000" fill="hold"/>
                                        <p:tgtEl>
                                          <p:spTgt spid="6"/>
                                        </p:tgtEl>
                                        <p:attrNameLst>
                                          <p:attrName>ppt_h</p:attrName>
                                        </p:attrNameLst>
                                      </p:cBhvr>
                                      <p:tavLst>
                                        <p:tav tm="0">
                                          <p:val>
                                            <p:fltVal val="0"/>
                                          </p:val>
                                        </p:tav>
                                        <p:tav tm="100000">
                                          <p:val>
                                            <p:strVal val="#ppt_h"/>
                                          </p:val>
                                        </p:tav>
                                      </p:tavLst>
                                    </p:anim>
                                    <p:anim calcmode="lin" valueType="num">
                                      <p:cBhvr>
                                        <p:cTn id="9" dur="2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2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p:cTn id="15" dur="2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6" dur="2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17" dur="2000" fill="hold"/>
                                        <p:tgtEl>
                                          <p:spTgt spid="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2000" fill="hold"/>
                                        <p:tgtEl>
                                          <p:spTgt spid="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26BE6A-55EC-4C79-86F8-21F20375B0A2}"/>
              </a:ext>
            </a:extLst>
          </p:cNvPr>
          <p:cNvSpPr>
            <a:spLocks noGrp="1"/>
          </p:cNvSpPr>
          <p:nvPr>
            <p:ph type="title"/>
          </p:nvPr>
        </p:nvSpPr>
        <p:spPr/>
        <p:txBody>
          <a:bodyPr/>
          <a:lstStyle/>
          <a:p>
            <a:pPr algn="r"/>
            <a:r>
              <a:rPr lang="fr-BE" b="1" i="1" dirty="0">
                <a:solidFill>
                  <a:srgbClr val="C00000"/>
                </a:solidFill>
              </a:rPr>
              <a:t>Table des matières</a:t>
            </a:r>
          </a:p>
        </p:txBody>
      </p:sp>
      <p:sp>
        <p:nvSpPr>
          <p:cNvPr id="3" name="Espace réservé du contenu 2">
            <a:extLst>
              <a:ext uri="{FF2B5EF4-FFF2-40B4-BE49-F238E27FC236}">
                <a16:creationId xmlns:a16="http://schemas.microsoft.com/office/drawing/2014/main" id="{7A80271E-7C07-40C5-95DF-004A17CDA29A}"/>
              </a:ext>
            </a:extLst>
          </p:cNvPr>
          <p:cNvSpPr>
            <a:spLocks noGrp="1"/>
          </p:cNvSpPr>
          <p:nvPr>
            <p:ph idx="1"/>
          </p:nvPr>
        </p:nvSpPr>
        <p:spPr/>
        <p:txBody>
          <a:bodyPr/>
          <a:lstStyle/>
          <a:p>
            <a:pPr>
              <a:buFontTx/>
              <a:buNone/>
            </a:pPr>
            <a:endParaRPr lang="fr-FR" sz="2400" dirty="0"/>
          </a:p>
          <a:p>
            <a:pPr>
              <a:buFontTx/>
              <a:buNone/>
            </a:pPr>
            <a:endParaRPr lang="fr-FR" sz="2400" dirty="0"/>
          </a:p>
          <a:p>
            <a:endParaRPr lang="fr-FR" sz="2400" dirty="0"/>
          </a:p>
          <a:p>
            <a:endParaRPr lang="fr-BE" dirty="0"/>
          </a:p>
        </p:txBody>
      </p:sp>
      <p:sp>
        <p:nvSpPr>
          <p:cNvPr id="4" name="Espace réservé du numéro de diapositive 3">
            <a:extLst>
              <a:ext uri="{FF2B5EF4-FFF2-40B4-BE49-F238E27FC236}">
                <a16:creationId xmlns:a16="http://schemas.microsoft.com/office/drawing/2014/main" id="{9622911A-3943-4EB5-9A85-7D333DDE0CC8}"/>
              </a:ext>
            </a:extLst>
          </p:cNvPr>
          <p:cNvSpPr>
            <a:spLocks noGrp="1"/>
          </p:cNvSpPr>
          <p:nvPr>
            <p:ph type="sldNum" sz="quarter" idx="12"/>
          </p:nvPr>
        </p:nvSpPr>
        <p:spPr/>
        <p:txBody>
          <a:bodyPr/>
          <a:lstStyle/>
          <a:p>
            <a:fld id="{55E9056B-6A30-4F99-BDE9-C450E66AE125}" type="slidenum">
              <a:rPr lang="fr-FR" smtClean="0"/>
              <a:pPr/>
              <a:t>2</a:t>
            </a:fld>
            <a:endParaRPr lang="fr-FR" dirty="0"/>
          </a:p>
        </p:txBody>
      </p:sp>
      <p:sp>
        <p:nvSpPr>
          <p:cNvPr id="8" name="ZoneTexte 7">
            <a:extLst>
              <a:ext uri="{FF2B5EF4-FFF2-40B4-BE49-F238E27FC236}">
                <a16:creationId xmlns:a16="http://schemas.microsoft.com/office/drawing/2014/main" id="{BE58596B-B32B-4F41-B7AD-9EEC01963B27}"/>
              </a:ext>
            </a:extLst>
          </p:cNvPr>
          <p:cNvSpPr txBox="1"/>
          <p:nvPr/>
        </p:nvSpPr>
        <p:spPr>
          <a:xfrm>
            <a:off x="457200" y="1600200"/>
            <a:ext cx="8229600" cy="4893647"/>
          </a:xfrm>
          <a:prstGeom prst="rect">
            <a:avLst/>
          </a:prstGeom>
          <a:noFill/>
        </p:spPr>
        <p:txBody>
          <a:bodyPr wrap="square">
            <a:spAutoFit/>
          </a:bodyPr>
          <a:lstStyle/>
          <a:p>
            <a:r>
              <a:rPr lang="fr-FR" sz="2400" i="1" dirty="0">
                <a:latin typeface="+mj-lt"/>
              </a:rPr>
              <a:t>Admissibilité art. 33 de l’AR du 25.11.1991			pg.03</a:t>
            </a:r>
            <a:r>
              <a:rPr lang="fr-BE" sz="2400" i="1" dirty="0">
                <a:latin typeface="+mj-lt"/>
              </a:rPr>
              <a:t> </a:t>
            </a:r>
            <a:endParaRPr lang="fr-FR" sz="2400" i="1" dirty="0">
              <a:latin typeface="+mj-lt"/>
            </a:endParaRPr>
          </a:p>
          <a:p>
            <a:r>
              <a:rPr lang="fr-FR" sz="2400" i="1" dirty="0">
                <a:latin typeface="+mj-lt"/>
              </a:rPr>
              <a:t>Détermination du statut					pg.06</a:t>
            </a:r>
          </a:p>
          <a:p>
            <a:r>
              <a:rPr lang="fr-BE" sz="2400" i="1" dirty="0">
                <a:latin typeface="+mj-lt"/>
                <a:cs typeface="Times New Roman" pitchFamily="18" charset="0"/>
              </a:rPr>
              <a:t>Sélection de l’occupation à temps partiel			pg.10</a:t>
            </a:r>
            <a:endParaRPr lang="fr-FR" sz="2400" i="1" dirty="0">
              <a:latin typeface="+mj-lt"/>
            </a:endParaRPr>
          </a:p>
          <a:p>
            <a:r>
              <a:rPr lang="fr-BE" sz="2400" i="1" dirty="0">
                <a:solidFill>
                  <a:prstClr val="black"/>
                </a:solidFill>
                <a:latin typeface="+mj-lt"/>
              </a:rPr>
              <a:t>Admission </a:t>
            </a:r>
            <a:r>
              <a:rPr lang="fr-BE" sz="2400" i="1" dirty="0">
                <a:solidFill>
                  <a:prstClr val="black"/>
                </a:solidFill>
              </a:rPr>
              <a:t>: assouplissements à la règle générale AR 33	pg.15</a:t>
            </a:r>
            <a:br>
              <a:rPr lang="fr-BE" sz="2400" i="1" dirty="0">
                <a:solidFill>
                  <a:prstClr val="black"/>
                </a:solidFill>
                <a:latin typeface="+mj-lt"/>
              </a:rPr>
            </a:br>
            <a:r>
              <a:rPr lang="fr-BE" sz="2400" i="1" dirty="0">
                <a:solidFill>
                  <a:prstClr val="black"/>
                </a:solidFill>
                <a:latin typeface="+mj-lt"/>
              </a:rPr>
              <a:t>particularité du travail à l’étranger				pg.17</a:t>
            </a:r>
            <a:endParaRPr lang="fr-FR" sz="2400" i="1" dirty="0">
              <a:latin typeface="+mj-lt"/>
            </a:endParaRPr>
          </a:p>
          <a:p>
            <a:r>
              <a:rPr lang="fr-BE" sz="2400" i="1" dirty="0">
                <a:solidFill>
                  <a:prstClr val="black"/>
                </a:solidFill>
                <a:latin typeface="+mj-lt"/>
              </a:rPr>
              <a:t>Admission : régularisation ONSS				pg.20</a:t>
            </a:r>
            <a:endParaRPr lang="fr-FR" sz="2400" i="1" dirty="0">
              <a:latin typeface="+mj-lt"/>
            </a:endParaRPr>
          </a:p>
          <a:p>
            <a:r>
              <a:rPr lang="fr-BE" sz="2400" i="1" dirty="0">
                <a:latin typeface="+mj-lt"/>
              </a:rPr>
              <a:t>Calcul du code chiffré						pg.21</a:t>
            </a:r>
          </a:p>
          <a:p>
            <a:r>
              <a:rPr lang="fr-BE" sz="2400" i="1" dirty="0">
                <a:latin typeface="+mj-lt"/>
              </a:rPr>
              <a:t>Révision du code chiffré					pg.23</a:t>
            </a:r>
          </a:p>
          <a:p>
            <a:r>
              <a:rPr lang="fr-BE" sz="2400" i="1" dirty="0">
                <a:latin typeface="+mj-lt"/>
              </a:rPr>
              <a:t>Régime d’indemnisation: facteur N				pg.24</a:t>
            </a:r>
          </a:p>
          <a:p>
            <a:r>
              <a:rPr lang="fr-FR" sz="2400" i="1" dirty="0">
                <a:latin typeface="+mj-lt"/>
              </a:rPr>
              <a:t>Statut TTRV et reprise de travail				pg.28</a:t>
            </a:r>
          </a:p>
          <a:p>
            <a:r>
              <a:rPr lang="fr-BE" sz="2400" i="1" dirty="0">
                <a:latin typeface="+mj-lt"/>
                <a:cs typeface="Times New Roman" pitchFamily="18" charset="0"/>
              </a:rPr>
              <a:t>Passage 03/ </a:t>
            </a:r>
            <a:r>
              <a:rPr lang="fr-BE" sz="2400" i="1" dirty="0">
                <a:latin typeface="+mj-lt"/>
                <a:cs typeface="Times New Roman" pitchFamily="18" charset="0"/>
                <a:sym typeface="Wingdings" panose="05000000000000000000" pitchFamily="2" charset="2"/>
              </a:rPr>
              <a:t> 58/ OU 58/  03/				pg.41</a:t>
            </a:r>
          </a:p>
          <a:p>
            <a:r>
              <a:rPr lang="fr-BE" sz="2400" i="1" dirty="0">
                <a:cs typeface="Times New Roman" pitchFamily="18" charset="0"/>
              </a:rPr>
              <a:t>Art. 116§1 &amp; Régime d’indemnisation – facteur N		pg.46</a:t>
            </a:r>
            <a:endParaRPr lang="fr-FR" sz="2400" i="1" dirty="0"/>
          </a:p>
          <a:p>
            <a:endParaRPr lang="fr-FR" sz="2400" i="1" dirty="0">
              <a:latin typeface="+mj-lt"/>
            </a:endParaRPr>
          </a:p>
        </p:txBody>
      </p:sp>
    </p:spTree>
    <p:extLst>
      <p:ext uri="{BB962C8B-B14F-4D97-AF65-F5344CB8AC3E}">
        <p14:creationId xmlns:p14="http://schemas.microsoft.com/office/powerpoint/2010/main" val="928982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Espace réservé du numéro de diapositive 5"/>
          <p:cNvSpPr>
            <a:spLocks noGrp="1"/>
          </p:cNvSpPr>
          <p:nvPr>
            <p:ph type="sldNum" sz="quarter" idx="12"/>
          </p:nvPr>
        </p:nvSpPr>
        <p:spPr/>
        <p:txBody>
          <a:bodyPr/>
          <a:lstStyle/>
          <a:p>
            <a:fld id="{0DFA28B1-8BF2-4845-98F9-EBF0F41C6C79}" type="slidenum">
              <a:rPr lang="en-US">
                <a:solidFill>
                  <a:prstClr val="black">
                    <a:tint val="75000"/>
                  </a:prstClr>
                </a:solidFill>
              </a:rPr>
              <a:pPr/>
              <a:t>3</a:t>
            </a:fld>
            <a:endParaRPr lang="en-US" dirty="0">
              <a:solidFill>
                <a:prstClr val="black">
                  <a:tint val="75000"/>
                </a:prstClr>
              </a:solidFill>
            </a:endParaRPr>
          </a:p>
        </p:txBody>
      </p:sp>
      <p:sp>
        <p:nvSpPr>
          <p:cNvPr id="40962" name="Rectangle 2"/>
          <p:cNvSpPr>
            <a:spLocks noGrp="1" noChangeArrowheads="1"/>
          </p:cNvSpPr>
          <p:nvPr>
            <p:ph type="title"/>
          </p:nvPr>
        </p:nvSpPr>
        <p:spPr>
          <a:xfrm>
            <a:off x="685800" y="448707"/>
            <a:ext cx="7772400" cy="820054"/>
          </a:xfrm>
          <a:noFill/>
          <a:ln/>
        </p:spPr>
        <p:txBody>
          <a:bodyPr lIns="92075" tIns="46038" rIns="92075" bIns="46038">
            <a:normAutofit fontScale="90000"/>
          </a:bodyPr>
          <a:lstStyle/>
          <a:p>
            <a:pPr algn="r"/>
            <a:r>
              <a:rPr lang="fr-FR" sz="4000" b="1" i="1" dirty="0"/>
              <a:t>Admissibilité art. 33 de l’AR du 25.11.1991</a:t>
            </a:r>
            <a:r>
              <a:rPr lang="fr-BE" sz="4000" b="1" i="1" dirty="0"/>
              <a:t> </a:t>
            </a:r>
            <a:endParaRPr lang="fr-FR" sz="3600" b="1" i="1" dirty="0"/>
          </a:p>
        </p:txBody>
      </p:sp>
      <p:sp>
        <p:nvSpPr>
          <p:cNvPr id="40963" name="Rectangle 3"/>
          <p:cNvSpPr>
            <a:spLocks noGrp="1" noChangeArrowheads="1"/>
          </p:cNvSpPr>
          <p:nvPr>
            <p:ph type="body" idx="1"/>
          </p:nvPr>
        </p:nvSpPr>
        <p:spPr>
          <a:xfrm>
            <a:off x="304800" y="1700808"/>
            <a:ext cx="8534400" cy="4824536"/>
          </a:xfrm>
          <a:noFill/>
          <a:ln/>
        </p:spPr>
        <p:txBody>
          <a:bodyPr lIns="92075" tIns="46038" rIns="92075" bIns="46038">
            <a:normAutofit fontScale="85000" lnSpcReduction="20000"/>
          </a:bodyPr>
          <a:lstStyle/>
          <a:p>
            <a:pPr>
              <a:buNone/>
            </a:pPr>
            <a:r>
              <a:rPr lang="fr-FR" sz="3100" b="1" u="sng" dirty="0"/>
              <a:t>Enoncé 1</a:t>
            </a:r>
            <a:r>
              <a:rPr lang="fr-FR" sz="3100" b="1" dirty="0"/>
              <a:t>:</a:t>
            </a:r>
          </a:p>
          <a:p>
            <a:pPr>
              <a:buFontTx/>
              <a:buNone/>
            </a:pPr>
            <a:endParaRPr lang="fr-FR" sz="2800" dirty="0"/>
          </a:p>
          <a:p>
            <a:pPr>
              <a:buFontTx/>
              <a:buNone/>
            </a:pPr>
            <a:endParaRPr lang="fr-FR" sz="2800" dirty="0"/>
          </a:p>
          <a:p>
            <a:pPr>
              <a:buFontTx/>
              <a:buNone/>
            </a:pPr>
            <a:endParaRPr lang="fr-FR" sz="2400" dirty="0"/>
          </a:p>
          <a:p>
            <a:pPr>
              <a:buFontTx/>
              <a:buNone/>
            </a:pPr>
            <a:endParaRPr lang="fr-FR" sz="2300" b="1" dirty="0"/>
          </a:p>
          <a:p>
            <a:pPr>
              <a:buFontTx/>
              <a:buNone/>
            </a:pPr>
            <a:endParaRPr lang="fr-FR" sz="2300" b="1" dirty="0"/>
          </a:p>
          <a:p>
            <a:pPr>
              <a:buFontTx/>
              <a:buNone/>
            </a:pPr>
            <a:r>
              <a:rPr lang="fr-FR" sz="2300" b="1" dirty="0"/>
              <a:t>L’intéressé est-il admissible art. 30 ou 33 à la date du 05.12.2022 ?</a:t>
            </a:r>
          </a:p>
          <a:p>
            <a:pPr>
              <a:buFontTx/>
              <a:buNone/>
            </a:pPr>
            <a:r>
              <a:rPr lang="fr-FR" sz="2300" dirty="0"/>
              <a:t>Employeur I : occupation du 01.12.2021 au 30.04.2022</a:t>
            </a:r>
          </a:p>
          <a:p>
            <a:pPr>
              <a:buFontTx/>
              <a:buNone/>
            </a:pPr>
            <a:r>
              <a:rPr lang="fr-FR" sz="2300" dirty="0"/>
              <a:t>			04/2021 : 22 R5</a:t>
            </a:r>
          </a:p>
          <a:p>
            <a:pPr>
              <a:buFontTx/>
              <a:buNone/>
            </a:pPr>
            <a:r>
              <a:rPr lang="fr-FR" sz="2300" dirty="0"/>
              <a:t>			01/2022 : 65 R5</a:t>
            </a:r>
          </a:p>
          <a:p>
            <a:pPr>
              <a:buFontTx/>
              <a:buNone/>
            </a:pPr>
            <a:r>
              <a:rPr lang="fr-FR" sz="2300" dirty="0"/>
              <a:t>			02/2022 : 21 R5</a:t>
            </a:r>
          </a:p>
          <a:p>
            <a:pPr>
              <a:buFontTx/>
              <a:buNone/>
            </a:pPr>
            <a:r>
              <a:rPr lang="fr-FR" sz="2300" dirty="0"/>
              <a:t>Employeur II : occupation du 02.05.2022 au 04.12.2022</a:t>
            </a:r>
          </a:p>
          <a:p>
            <a:pPr>
              <a:buFontTx/>
              <a:buNone/>
            </a:pPr>
            <a:r>
              <a:rPr lang="fr-FR" sz="2300" dirty="0"/>
              <a:t>			02/2022 : 173h</a:t>
            </a:r>
          </a:p>
          <a:p>
            <a:pPr>
              <a:buFontTx/>
              <a:buNone/>
            </a:pPr>
            <a:r>
              <a:rPr lang="fr-FR" sz="2300" dirty="0"/>
              <a:t>			03/2022 : 260h</a:t>
            </a:r>
          </a:p>
          <a:p>
            <a:pPr>
              <a:buFontTx/>
              <a:buNone/>
            </a:pPr>
            <a:r>
              <a:rPr lang="fr-FR" sz="2300" dirty="0"/>
              <a:t>			04/2022 : pas d’interruption</a:t>
            </a:r>
          </a:p>
          <a:p>
            <a:pPr>
              <a:buFontTx/>
              <a:buNone/>
            </a:pPr>
            <a:endParaRPr lang="fr-FR" sz="2800" dirty="0"/>
          </a:p>
          <a:p>
            <a:pPr>
              <a:buFontTx/>
              <a:buNone/>
            </a:pPr>
            <a:endParaRPr lang="fr-FR" sz="2800" dirty="0"/>
          </a:p>
          <a:p>
            <a:endParaRPr lang="fr-FR" sz="2800" dirty="0"/>
          </a:p>
        </p:txBody>
      </p:sp>
      <p:graphicFrame>
        <p:nvGraphicFramePr>
          <p:cNvPr id="12" name="Tableau 11"/>
          <p:cNvGraphicFramePr>
            <a:graphicFrameLocks noGrp="1" noChangeAspect="1"/>
          </p:cNvGraphicFramePr>
          <p:nvPr/>
        </p:nvGraphicFramePr>
        <p:xfrm>
          <a:off x="575556" y="2338887"/>
          <a:ext cx="7992888" cy="1066800"/>
        </p:xfrm>
        <a:graphic>
          <a:graphicData uri="http://schemas.openxmlformats.org/drawingml/2006/table">
            <a:tbl>
              <a:tblPr firstRow="1" bandRow="1">
                <a:tableStyleId>{5C22544A-7EE6-4342-B048-85BDC9FD1C3A}</a:tableStyleId>
              </a:tblPr>
              <a:tblGrid>
                <a:gridCol w="2160843">
                  <a:extLst>
                    <a:ext uri="{9D8B030D-6E8A-4147-A177-3AD203B41FA5}">
                      <a16:colId xmlns:a16="http://schemas.microsoft.com/office/drawing/2014/main" val="20000"/>
                    </a:ext>
                  </a:extLst>
                </a:gridCol>
                <a:gridCol w="2304900">
                  <a:extLst>
                    <a:ext uri="{9D8B030D-6E8A-4147-A177-3AD203B41FA5}">
                      <a16:colId xmlns:a16="http://schemas.microsoft.com/office/drawing/2014/main" val="20001"/>
                    </a:ext>
                  </a:extLst>
                </a:gridCol>
                <a:gridCol w="2347866">
                  <a:extLst>
                    <a:ext uri="{9D8B030D-6E8A-4147-A177-3AD203B41FA5}">
                      <a16:colId xmlns:a16="http://schemas.microsoft.com/office/drawing/2014/main" val="20002"/>
                    </a:ext>
                  </a:extLst>
                </a:gridCol>
                <a:gridCol w="1179279">
                  <a:extLst>
                    <a:ext uri="{9D8B030D-6E8A-4147-A177-3AD203B41FA5}">
                      <a16:colId xmlns:a16="http://schemas.microsoft.com/office/drawing/2014/main" val="20003"/>
                    </a:ext>
                  </a:extLst>
                </a:gridCol>
              </a:tblGrid>
              <a:tr h="1028962">
                <a:tc>
                  <a:txBody>
                    <a:bodyPr/>
                    <a:lstStyle/>
                    <a:p>
                      <a:pPr algn="ctr"/>
                      <a:r>
                        <a:rPr lang="fr-BE" sz="1600" dirty="0">
                          <a:solidFill>
                            <a:schemeClr val="tx1"/>
                          </a:solidFill>
                        </a:rPr>
                        <a:t>Inactivité</a:t>
                      </a:r>
                    </a:p>
                    <a:p>
                      <a:pPr algn="ctr"/>
                      <a:r>
                        <a:rPr lang="fr-BE" sz="1600" dirty="0">
                          <a:solidFill>
                            <a:schemeClr val="tx1"/>
                          </a:solidFill>
                        </a:rPr>
                        <a:t>Du</a:t>
                      </a:r>
                      <a:r>
                        <a:rPr lang="fr-BE" sz="1600" baseline="0" dirty="0">
                          <a:solidFill>
                            <a:schemeClr val="tx1"/>
                          </a:solidFill>
                        </a:rPr>
                        <a:t> 01.05.19</a:t>
                      </a:r>
                    </a:p>
                    <a:p>
                      <a:pPr algn="ctr"/>
                      <a:r>
                        <a:rPr lang="fr-BE" sz="1600" baseline="0" dirty="0">
                          <a:solidFill>
                            <a:schemeClr val="tx1"/>
                          </a:solidFill>
                        </a:rPr>
                        <a:t>Au 30.11.21</a:t>
                      </a:r>
                      <a:endParaRPr lang="en-US" sz="1600" dirty="0">
                        <a:solidFill>
                          <a:schemeClr val="tx1"/>
                        </a:solidFill>
                      </a:endParaRPr>
                    </a:p>
                  </a:txBody>
                  <a:tcPr>
                    <a:solidFill>
                      <a:srgbClr val="92D050"/>
                    </a:solidFill>
                  </a:tcPr>
                </a:tc>
                <a:tc>
                  <a:txBody>
                    <a:bodyPr/>
                    <a:lstStyle/>
                    <a:p>
                      <a:pPr algn="ctr"/>
                      <a:r>
                        <a:rPr lang="fr-BE" sz="1600" dirty="0">
                          <a:solidFill>
                            <a:schemeClr val="tx1"/>
                          </a:solidFill>
                        </a:rPr>
                        <a:t>Employeur I</a:t>
                      </a:r>
                    </a:p>
                    <a:p>
                      <a:pPr algn="ctr"/>
                      <a:r>
                        <a:rPr lang="fr-BE" sz="1600" dirty="0">
                          <a:solidFill>
                            <a:schemeClr val="tx1"/>
                          </a:solidFill>
                        </a:rPr>
                        <a:t>38h/38h</a:t>
                      </a:r>
                      <a:r>
                        <a:rPr lang="fr-BE" sz="1600" baseline="0" dirty="0">
                          <a:solidFill>
                            <a:schemeClr val="tx1"/>
                          </a:solidFill>
                        </a:rPr>
                        <a:t> semaine</a:t>
                      </a:r>
                    </a:p>
                    <a:p>
                      <a:pPr algn="ctr"/>
                      <a:r>
                        <a:rPr lang="fr-BE" sz="1600" baseline="0" dirty="0">
                          <a:solidFill>
                            <a:schemeClr val="tx1"/>
                          </a:solidFill>
                        </a:rPr>
                        <a:t>Du 01.12.21 au 30.04.22</a:t>
                      </a:r>
                    </a:p>
                    <a:p>
                      <a:pPr algn="ctr"/>
                      <a:r>
                        <a:rPr lang="fr-BE" sz="1600" baseline="0" dirty="0">
                          <a:solidFill>
                            <a:schemeClr val="tx1"/>
                          </a:solidFill>
                        </a:rPr>
                        <a:t>2427€ brut/mois</a:t>
                      </a:r>
                      <a:endParaRPr lang="en-US" sz="1600" dirty="0">
                        <a:solidFill>
                          <a:schemeClr val="tx1"/>
                        </a:solidFill>
                      </a:endParaRPr>
                    </a:p>
                  </a:txBody>
                  <a:tcPr>
                    <a:solidFill>
                      <a:srgbClr val="92D050"/>
                    </a:solidFill>
                  </a:tcPr>
                </a:tc>
                <a:tc>
                  <a:txBody>
                    <a:bodyPr/>
                    <a:lstStyle/>
                    <a:p>
                      <a:pPr algn="ctr"/>
                      <a:r>
                        <a:rPr lang="fr-BE" sz="1600" dirty="0">
                          <a:solidFill>
                            <a:schemeClr val="tx1"/>
                          </a:solidFill>
                        </a:rPr>
                        <a:t>Employeur II</a:t>
                      </a:r>
                    </a:p>
                    <a:p>
                      <a:pPr algn="ctr"/>
                      <a:r>
                        <a:rPr lang="fr-BE" sz="1600" dirty="0">
                          <a:solidFill>
                            <a:schemeClr val="tx1"/>
                          </a:solidFill>
                        </a:rPr>
                        <a:t>20h/38h</a:t>
                      </a:r>
                      <a:r>
                        <a:rPr lang="fr-BE" sz="1600" baseline="0" dirty="0">
                          <a:solidFill>
                            <a:schemeClr val="tx1"/>
                          </a:solidFill>
                        </a:rPr>
                        <a:t> semaine</a:t>
                      </a:r>
                    </a:p>
                    <a:p>
                      <a:pPr algn="ctr"/>
                      <a:r>
                        <a:rPr lang="fr-BE" sz="1600" baseline="0" dirty="0">
                          <a:solidFill>
                            <a:schemeClr val="tx1"/>
                          </a:solidFill>
                        </a:rPr>
                        <a:t>Du 02.05.22 au 03.12.22</a:t>
                      </a:r>
                    </a:p>
                    <a:p>
                      <a:pPr algn="ctr"/>
                      <a:r>
                        <a:rPr lang="fr-BE" sz="1600" baseline="0" dirty="0">
                          <a:solidFill>
                            <a:schemeClr val="tx1"/>
                          </a:solidFill>
                        </a:rPr>
                        <a:t>1700€ brut/mois</a:t>
                      </a:r>
                      <a:endParaRPr lang="en-US" sz="1600" dirty="0">
                        <a:solidFill>
                          <a:schemeClr val="tx1"/>
                        </a:solidFill>
                      </a:endParaRPr>
                    </a:p>
                  </a:txBody>
                  <a:tcPr>
                    <a:solidFill>
                      <a:srgbClr val="92D050"/>
                    </a:solidFill>
                  </a:tcPr>
                </a:tc>
                <a:tc>
                  <a:txBody>
                    <a:bodyPr/>
                    <a:lstStyle/>
                    <a:p>
                      <a:pPr algn="ctr"/>
                      <a:r>
                        <a:rPr lang="fr-BE" sz="1600" dirty="0">
                          <a:solidFill>
                            <a:schemeClr val="tx1"/>
                          </a:solidFill>
                        </a:rPr>
                        <a:t>DA</a:t>
                      </a:r>
                      <a:r>
                        <a:rPr lang="fr-BE" sz="1600" baseline="0" dirty="0">
                          <a:solidFill>
                            <a:schemeClr val="tx1"/>
                          </a:solidFill>
                        </a:rPr>
                        <a:t> au 05.12.2022</a:t>
                      </a:r>
                    </a:p>
                    <a:p>
                      <a:pPr algn="ctr"/>
                      <a:r>
                        <a:rPr lang="fr-BE" sz="1200" baseline="0" dirty="0">
                          <a:solidFill>
                            <a:schemeClr val="tx1"/>
                          </a:solidFill>
                        </a:rPr>
                        <a:t>&lt; 36 ans</a:t>
                      </a:r>
                    </a:p>
                    <a:p>
                      <a:pPr algn="ctr"/>
                      <a:r>
                        <a:rPr lang="fr-BE" sz="1200" baseline="0" dirty="0">
                          <a:solidFill>
                            <a:schemeClr val="tx1"/>
                          </a:solidFill>
                        </a:rPr>
                        <a:t>cohabitant</a:t>
                      </a:r>
                      <a:endParaRPr lang="en-US" sz="1200" dirty="0"/>
                    </a:p>
                  </a:txBody>
                  <a:tcPr>
                    <a:solidFill>
                      <a:srgbClr val="00B05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82057612"/>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6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96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96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96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96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96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634082"/>
          </a:xfrm>
        </p:spPr>
        <p:txBody>
          <a:bodyPr>
            <a:noAutofit/>
          </a:bodyPr>
          <a:lstStyle/>
          <a:p>
            <a:pPr algn="r"/>
            <a:r>
              <a:rPr lang="fr-FR" sz="4000" b="1" i="1" dirty="0"/>
              <a:t>Admissibilité art. 33 de l’AR du 25.11.1991</a:t>
            </a:r>
            <a:r>
              <a:rPr lang="fr-BE" sz="4000" b="1" i="1" dirty="0"/>
              <a:t> </a:t>
            </a:r>
            <a:endParaRPr lang="en-US" b="1" i="1" dirty="0"/>
          </a:p>
        </p:txBody>
      </p:sp>
      <p:sp>
        <p:nvSpPr>
          <p:cNvPr id="3" name="Espace réservé du contenu 2"/>
          <p:cNvSpPr>
            <a:spLocks noGrp="1"/>
          </p:cNvSpPr>
          <p:nvPr>
            <p:ph idx="1"/>
          </p:nvPr>
        </p:nvSpPr>
        <p:spPr>
          <a:xfrm>
            <a:off x="457200" y="1412776"/>
            <a:ext cx="8229600" cy="4943574"/>
          </a:xfrm>
        </p:spPr>
        <p:txBody>
          <a:bodyPr>
            <a:normAutofit/>
          </a:bodyPr>
          <a:lstStyle/>
          <a:p>
            <a:pPr marL="0" indent="0">
              <a:buNone/>
            </a:pPr>
            <a:r>
              <a:rPr lang="fr-BE" sz="2800" b="1" u="sng" dirty="0"/>
              <a:t>Solution</a:t>
            </a:r>
            <a:r>
              <a:rPr lang="fr-BE" sz="2800" b="1" dirty="0"/>
              <a:t> :</a:t>
            </a:r>
          </a:p>
          <a:p>
            <a:pPr marL="0" indent="0">
              <a:buNone/>
            </a:pPr>
            <a:endParaRPr lang="fr-BE" sz="18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a:t>
            </a:fld>
            <a:endParaRPr lang="fr-FR" dirty="0"/>
          </a:p>
        </p:txBody>
      </p:sp>
    </p:spTree>
    <p:extLst>
      <p:ext uri="{BB962C8B-B14F-4D97-AF65-F5344CB8AC3E}">
        <p14:creationId xmlns:p14="http://schemas.microsoft.com/office/powerpoint/2010/main" val="2304259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634082"/>
          </a:xfrm>
        </p:spPr>
        <p:txBody>
          <a:bodyPr>
            <a:normAutofit fontScale="90000"/>
          </a:bodyPr>
          <a:lstStyle/>
          <a:p>
            <a:pPr algn="r"/>
            <a:r>
              <a:rPr lang="fr-FR" b="1" i="1" dirty="0"/>
              <a:t>Admissibilité art. 33 de l’AR du 25.11.1991</a:t>
            </a:r>
            <a:r>
              <a:rPr lang="fr-BE" b="1" i="1" dirty="0"/>
              <a:t> </a:t>
            </a:r>
            <a:endParaRPr lang="en-US" b="1" i="1" dirty="0"/>
          </a:p>
        </p:txBody>
      </p:sp>
      <p:sp>
        <p:nvSpPr>
          <p:cNvPr id="3" name="Espace réservé du contenu 2"/>
          <p:cNvSpPr>
            <a:spLocks noGrp="1"/>
          </p:cNvSpPr>
          <p:nvPr>
            <p:ph idx="1"/>
          </p:nvPr>
        </p:nvSpPr>
        <p:spPr>
          <a:xfrm>
            <a:off x="457200" y="1412776"/>
            <a:ext cx="8229600" cy="4943574"/>
          </a:xfrm>
        </p:spPr>
        <p:txBody>
          <a:bodyPr>
            <a:normAutofit/>
          </a:bodyPr>
          <a:lstStyle/>
          <a:p>
            <a:pPr marL="0" indent="0">
              <a:buNone/>
            </a:pPr>
            <a:r>
              <a:rPr lang="fr-BE" sz="2800" b="1" u="sng" dirty="0"/>
              <a:t>Solution</a:t>
            </a:r>
            <a:r>
              <a:rPr lang="fr-BE" sz="2800" b="1" dirty="0"/>
              <a:t> :</a:t>
            </a:r>
          </a:p>
          <a:p>
            <a:pPr marL="0" indent="0">
              <a:buNone/>
            </a:pPr>
            <a:endParaRPr lang="fr-BE" sz="18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5</a:t>
            </a:fld>
            <a:endParaRPr lang="fr-FR" dirty="0"/>
          </a:p>
        </p:txBody>
      </p:sp>
    </p:spTree>
    <p:extLst>
      <p:ext uri="{BB962C8B-B14F-4D97-AF65-F5344CB8AC3E}">
        <p14:creationId xmlns:p14="http://schemas.microsoft.com/office/powerpoint/2010/main" val="92638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Espace réservé du numéro de diapositive 5"/>
          <p:cNvSpPr>
            <a:spLocks noGrp="1"/>
          </p:cNvSpPr>
          <p:nvPr>
            <p:ph type="sldNum" sz="quarter" idx="12"/>
          </p:nvPr>
        </p:nvSpPr>
        <p:spPr/>
        <p:txBody>
          <a:bodyPr/>
          <a:lstStyle/>
          <a:p>
            <a:fld id="{0DFA28B1-8BF2-4845-98F9-EBF0F41C6C79}" type="slidenum">
              <a:rPr lang="en-US">
                <a:solidFill>
                  <a:prstClr val="black">
                    <a:tint val="75000"/>
                  </a:prstClr>
                </a:solidFill>
              </a:rPr>
              <a:pPr/>
              <a:t>6</a:t>
            </a:fld>
            <a:endParaRPr lang="en-US" dirty="0">
              <a:solidFill>
                <a:prstClr val="black">
                  <a:tint val="75000"/>
                </a:prstClr>
              </a:solidFill>
            </a:endParaRPr>
          </a:p>
        </p:txBody>
      </p:sp>
      <p:sp>
        <p:nvSpPr>
          <p:cNvPr id="40962" name="Rectangle 2"/>
          <p:cNvSpPr>
            <a:spLocks noGrp="1" noChangeArrowheads="1"/>
          </p:cNvSpPr>
          <p:nvPr>
            <p:ph type="title"/>
          </p:nvPr>
        </p:nvSpPr>
        <p:spPr>
          <a:xfrm>
            <a:off x="685800" y="448707"/>
            <a:ext cx="7772400" cy="820054"/>
          </a:xfrm>
          <a:noFill/>
          <a:ln/>
        </p:spPr>
        <p:txBody>
          <a:bodyPr lIns="92075" tIns="46038" rIns="92075" bIns="46038">
            <a:normAutofit/>
          </a:bodyPr>
          <a:lstStyle/>
          <a:p>
            <a:pPr algn="r"/>
            <a:r>
              <a:rPr lang="fr-FR" sz="3600" b="1" i="1" dirty="0"/>
              <a:t>Détermination du statut</a:t>
            </a:r>
            <a:r>
              <a:rPr lang="fr-BE" sz="3600" b="1" i="1" dirty="0"/>
              <a:t> </a:t>
            </a:r>
            <a:endParaRPr lang="fr-FR" sz="3200" b="1" i="1" dirty="0"/>
          </a:p>
        </p:txBody>
      </p:sp>
      <p:sp>
        <p:nvSpPr>
          <p:cNvPr id="40963" name="Rectangle 3"/>
          <p:cNvSpPr>
            <a:spLocks noGrp="1" noChangeArrowheads="1"/>
          </p:cNvSpPr>
          <p:nvPr>
            <p:ph type="body" idx="1"/>
          </p:nvPr>
        </p:nvSpPr>
        <p:spPr>
          <a:xfrm>
            <a:off x="304800" y="1700808"/>
            <a:ext cx="8534400" cy="4824536"/>
          </a:xfrm>
          <a:noFill/>
          <a:ln/>
        </p:spPr>
        <p:txBody>
          <a:bodyPr lIns="92075" tIns="46038" rIns="92075" bIns="46038">
            <a:normAutofit fontScale="77500" lnSpcReduction="20000"/>
          </a:bodyPr>
          <a:lstStyle/>
          <a:p>
            <a:pPr>
              <a:buNone/>
            </a:pPr>
            <a:r>
              <a:rPr lang="fr-FR" sz="3100" b="1" u="sng" dirty="0"/>
              <a:t>Enoncé 2</a:t>
            </a:r>
            <a:r>
              <a:rPr lang="fr-FR" sz="3100" b="1" dirty="0"/>
              <a:t>:</a:t>
            </a:r>
          </a:p>
          <a:p>
            <a:pPr>
              <a:buFontTx/>
              <a:buNone/>
            </a:pPr>
            <a:endParaRPr lang="fr-FR" sz="2800" dirty="0"/>
          </a:p>
          <a:p>
            <a:pPr>
              <a:buFontTx/>
              <a:buNone/>
            </a:pPr>
            <a:endParaRPr lang="fr-FR" sz="2800" dirty="0"/>
          </a:p>
          <a:p>
            <a:pPr>
              <a:buFontTx/>
              <a:buNone/>
            </a:pPr>
            <a:endParaRPr lang="fr-FR" sz="2400" dirty="0"/>
          </a:p>
          <a:p>
            <a:pPr>
              <a:buFontTx/>
              <a:buNone/>
            </a:pPr>
            <a:endParaRPr lang="fr-FR" sz="2300" b="1" dirty="0"/>
          </a:p>
          <a:p>
            <a:pPr>
              <a:buFontTx/>
              <a:buNone/>
            </a:pPr>
            <a:endParaRPr lang="fr-FR" sz="2300" b="1" dirty="0"/>
          </a:p>
          <a:p>
            <a:pPr algn="just">
              <a:buFontTx/>
              <a:buNone/>
            </a:pPr>
            <a:r>
              <a:rPr lang="fr-FR" sz="2300" b="1" dirty="0"/>
              <a:t>Et si l’intéressé avait terminé avec 5 mois de temps plein, serait-il admissible art. 30 ou 33 à la DA du 01.12.2022?</a:t>
            </a:r>
          </a:p>
          <a:p>
            <a:pPr>
              <a:buFontTx/>
              <a:buNone/>
            </a:pPr>
            <a:endParaRPr lang="fr-FR" sz="2300" b="1" dirty="0"/>
          </a:p>
          <a:p>
            <a:pPr>
              <a:buFontTx/>
              <a:buNone/>
            </a:pPr>
            <a:r>
              <a:rPr lang="fr-FR" sz="2300" dirty="0"/>
              <a:t>Employeur I : occupation du 01.05.2021 au 30.11.2021</a:t>
            </a:r>
          </a:p>
          <a:p>
            <a:pPr>
              <a:buFontTx/>
              <a:buNone/>
            </a:pPr>
            <a:r>
              <a:rPr lang="fr-FR" sz="2300" dirty="0"/>
              <a:t>			04/2021 : 172 h</a:t>
            </a:r>
          </a:p>
          <a:p>
            <a:pPr>
              <a:buFontTx/>
              <a:buNone/>
            </a:pPr>
            <a:r>
              <a:rPr lang="fr-FR" sz="2300" dirty="0"/>
              <a:t>			01/2022 : 264 h</a:t>
            </a:r>
          </a:p>
          <a:p>
            <a:pPr>
              <a:buFontTx/>
              <a:buNone/>
            </a:pPr>
            <a:r>
              <a:rPr lang="fr-FR" sz="2300" dirty="0"/>
              <a:t>			02/2022 : 264 h</a:t>
            </a:r>
          </a:p>
          <a:p>
            <a:pPr>
              <a:buFontTx/>
              <a:buNone/>
            </a:pPr>
            <a:r>
              <a:rPr lang="fr-FR" sz="2300" dirty="0"/>
              <a:t>Employeur II : occupation du 01.07.2022 au 30.11.2022</a:t>
            </a:r>
          </a:p>
          <a:p>
            <a:pPr>
              <a:buFontTx/>
              <a:buNone/>
            </a:pPr>
            <a:r>
              <a:rPr lang="fr-FR" sz="2300" dirty="0"/>
              <a:t>			03/2022 : 65 R5</a:t>
            </a:r>
          </a:p>
          <a:p>
            <a:pPr>
              <a:buFontTx/>
              <a:buNone/>
            </a:pPr>
            <a:r>
              <a:rPr lang="fr-FR" sz="2300" dirty="0"/>
              <a:t>			04/2022 : pas d’interruption</a:t>
            </a:r>
          </a:p>
          <a:p>
            <a:pPr>
              <a:buFontTx/>
              <a:buNone/>
            </a:pPr>
            <a:endParaRPr lang="fr-FR" sz="2800" dirty="0"/>
          </a:p>
          <a:p>
            <a:pPr>
              <a:buFontTx/>
              <a:buNone/>
            </a:pPr>
            <a:endParaRPr lang="fr-FR" sz="2800" dirty="0"/>
          </a:p>
          <a:p>
            <a:endParaRPr lang="fr-FR" sz="2800" dirty="0"/>
          </a:p>
        </p:txBody>
      </p:sp>
      <p:graphicFrame>
        <p:nvGraphicFramePr>
          <p:cNvPr id="12" name="Tableau 11"/>
          <p:cNvGraphicFramePr>
            <a:graphicFrameLocks noGrp="1" noChangeAspect="1"/>
          </p:cNvGraphicFramePr>
          <p:nvPr/>
        </p:nvGraphicFramePr>
        <p:xfrm>
          <a:off x="575556" y="2338887"/>
          <a:ext cx="7992888" cy="1066800"/>
        </p:xfrm>
        <a:graphic>
          <a:graphicData uri="http://schemas.openxmlformats.org/drawingml/2006/table">
            <a:tbl>
              <a:tblPr firstRow="1" bandRow="1">
                <a:tableStyleId>{5C22544A-7EE6-4342-B048-85BDC9FD1C3A}</a:tableStyleId>
              </a:tblPr>
              <a:tblGrid>
                <a:gridCol w="2160843">
                  <a:extLst>
                    <a:ext uri="{9D8B030D-6E8A-4147-A177-3AD203B41FA5}">
                      <a16:colId xmlns:a16="http://schemas.microsoft.com/office/drawing/2014/main" val="20000"/>
                    </a:ext>
                  </a:extLst>
                </a:gridCol>
                <a:gridCol w="2304900">
                  <a:extLst>
                    <a:ext uri="{9D8B030D-6E8A-4147-A177-3AD203B41FA5}">
                      <a16:colId xmlns:a16="http://schemas.microsoft.com/office/drawing/2014/main" val="20001"/>
                    </a:ext>
                  </a:extLst>
                </a:gridCol>
                <a:gridCol w="2347866">
                  <a:extLst>
                    <a:ext uri="{9D8B030D-6E8A-4147-A177-3AD203B41FA5}">
                      <a16:colId xmlns:a16="http://schemas.microsoft.com/office/drawing/2014/main" val="20002"/>
                    </a:ext>
                  </a:extLst>
                </a:gridCol>
                <a:gridCol w="1179279">
                  <a:extLst>
                    <a:ext uri="{9D8B030D-6E8A-4147-A177-3AD203B41FA5}">
                      <a16:colId xmlns:a16="http://schemas.microsoft.com/office/drawing/2014/main" val="20003"/>
                    </a:ext>
                  </a:extLst>
                </a:gridCol>
              </a:tblGrid>
              <a:tr h="1028962">
                <a:tc>
                  <a:txBody>
                    <a:bodyPr/>
                    <a:lstStyle/>
                    <a:p>
                      <a:pPr algn="ctr"/>
                      <a:r>
                        <a:rPr lang="fr-BE" sz="1600" dirty="0">
                          <a:solidFill>
                            <a:schemeClr val="tx1"/>
                          </a:solidFill>
                        </a:rPr>
                        <a:t>Inactivité</a:t>
                      </a:r>
                    </a:p>
                    <a:p>
                      <a:pPr algn="ctr"/>
                      <a:r>
                        <a:rPr lang="fr-BE" sz="1600" dirty="0">
                          <a:solidFill>
                            <a:schemeClr val="tx1"/>
                          </a:solidFill>
                        </a:rPr>
                        <a:t>Du</a:t>
                      </a:r>
                      <a:r>
                        <a:rPr lang="fr-BE" sz="1600" baseline="0" dirty="0">
                          <a:solidFill>
                            <a:schemeClr val="tx1"/>
                          </a:solidFill>
                        </a:rPr>
                        <a:t> 01.05.19</a:t>
                      </a:r>
                    </a:p>
                    <a:p>
                      <a:pPr algn="ctr"/>
                      <a:r>
                        <a:rPr lang="fr-BE" sz="1600" baseline="0" dirty="0">
                          <a:solidFill>
                            <a:schemeClr val="tx1"/>
                          </a:solidFill>
                        </a:rPr>
                        <a:t>Au 31.10.21</a:t>
                      </a:r>
                      <a:endParaRPr lang="en-US" sz="1600" dirty="0">
                        <a:solidFill>
                          <a:schemeClr val="tx1"/>
                        </a:solidFill>
                      </a:endParaRPr>
                    </a:p>
                  </a:txBody>
                  <a:tcPr>
                    <a:solidFill>
                      <a:srgbClr val="92D050"/>
                    </a:solidFill>
                  </a:tcPr>
                </a:tc>
                <a:tc>
                  <a:txBody>
                    <a:bodyPr/>
                    <a:lstStyle/>
                    <a:p>
                      <a:pPr algn="ctr"/>
                      <a:r>
                        <a:rPr lang="fr-BE" sz="1600" dirty="0">
                          <a:solidFill>
                            <a:schemeClr val="tx1"/>
                          </a:solidFill>
                        </a:rPr>
                        <a:t>Employeur I</a:t>
                      </a:r>
                    </a:p>
                    <a:p>
                      <a:pPr algn="ctr"/>
                      <a:r>
                        <a:rPr lang="fr-BE" sz="1600" dirty="0">
                          <a:solidFill>
                            <a:schemeClr val="tx1"/>
                          </a:solidFill>
                        </a:rPr>
                        <a:t>20h/38h</a:t>
                      </a:r>
                      <a:r>
                        <a:rPr lang="fr-BE" sz="1600" baseline="0" dirty="0">
                          <a:solidFill>
                            <a:schemeClr val="tx1"/>
                          </a:solidFill>
                        </a:rPr>
                        <a:t> semaine</a:t>
                      </a:r>
                    </a:p>
                    <a:p>
                      <a:pPr algn="ctr"/>
                      <a:r>
                        <a:rPr lang="fr-BE" sz="1600" baseline="0" dirty="0">
                          <a:solidFill>
                            <a:schemeClr val="tx1"/>
                          </a:solidFill>
                        </a:rPr>
                        <a:t>Du 01.11.21 au 30.06.22</a:t>
                      </a:r>
                    </a:p>
                    <a:p>
                      <a:pPr algn="ctr"/>
                      <a:r>
                        <a:rPr lang="fr-BE" sz="1600" baseline="0" dirty="0">
                          <a:solidFill>
                            <a:schemeClr val="tx1"/>
                          </a:solidFill>
                        </a:rPr>
                        <a:t>1700€ brut/mois</a:t>
                      </a:r>
                      <a:endParaRPr lang="en-US" sz="1600" dirty="0">
                        <a:solidFill>
                          <a:schemeClr val="tx1"/>
                        </a:solidFill>
                      </a:endParaRPr>
                    </a:p>
                  </a:txBody>
                  <a:tcPr>
                    <a:solidFill>
                      <a:srgbClr val="92D050"/>
                    </a:solidFill>
                  </a:tcPr>
                </a:tc>
                <a:tc>
                  <a:txBody>
                    <a:bodyPr/>
                    <a:lstStyle/>
                    <a:p>
                      <a:pPr algn="ctr"/>
                      <a:r>
                        <a:rPr lang="fr-BE" sz="1600" dirty="0">
                          <a:solidFill>
                            <a:schemeClr val="tx1"/>
                          </a:solidFill>
                        </a:rPr>
                        <a:t>Employeur II</a:t>
                      </a:r>
                    </a:p>
                    <a:p>
                      <a:pPr algn="ctr"/>
                      <a:r>
                        <a:rPr lang="fr-BE" sz="1600" dirty="0">
                          <a:solidFill>
                            <a:schemeClr val="tx1"/>
                          </a:solidFill>
                        </a:rPr>
                        <a:t>38h/38h</a:t>
                      </a:r>
                      <a:r>
                        <a:rPr lang="fr-BE" sz="1600" baseline="0" dirty="0">
                          <a:solidFill>
                            <a:schemeClr val="tx1"/>
                          </a:solidFill>
                        </a:rPr>
                        <a:t> semaine</a:t>
                      </a:r>
                    </a:p>
                    <a:p>
                      <a:pPr algn="ctr"/>
                      <a:r>
                        <a:rPr lang="fr-BE" sz="1600" baseline="0" dirty="0">
                          <a:solidFill>
                            <a:schemeClr val="tx1"/>
                          </a:solidFill>
                        </a:rPr>
                        <a:t>Du 01.07.22 au 30.11.22</a:t>
                      </a:r>
                    </a:p>
                    <a:p>
                      <a:pPr algn="ctr"/>
                      <a:r>
                        <a:rPr lang="fr-BE" sz="1600" baseline="0" dirty="0">
                          <a:solidFill>
                            <a:schemeClr val="tx1"/>
                          </a:solidFill>
                        </a:rPr>
                        <a:t>2427€ brut/mois</a:t>
                      </a:r>
                      <a:endParaRPr lang="en-US" sz="1600" dirty="0">
                        <a:solidFill>
                          <a:schemeClr val="tx1"/>
                        </a:solidFill>
                      </a:endParaRPr>
                    </a:p>
                  </a:txBody>
                  <a:tcPr>
                    <a:solidFill>
                      <a:srgbClr val="92D050"/>
                    </a:solidFill>
                  </a:tcPr>
                </a:tc>
                <a:tc>
                  <a:txBody>
                    <a:bodyPr/>
                    <a:lstStyle/>
                    <a:p>
                      <a:pPr algn="ctr"/>
                      <a:r>
                        <a:rPr lang="fr-BE" sz="1600" dirty="0">
                          <a:solidFill>
                            <a:schemeClr val="tx1"/>
                          </a:solidFill>
                        </a:rPr>
                        <a:t>DA</a:t>
                      </a:r>
                      <a:r>
                        <a:rPr lang="fr-BE" sz="1600" baseline="0" dirty="0">
                          <a:solidFill>
                            <a:schemeClr val="tx1"/>
                          </a:solidFill>
                        </a:rPr>
                        <a:t> au 01.12.2022</a:t>
                      </a:r>
                    </a:p>
                    <a:p>
                      <a:pPr algn="ctr"/>
                      <a:r>
                        <a:rPr lang="fr-BE" sz="1200" baseline="0" dirty="0">
                          <a:solidFill>
                            <a:schemeClr val="tx1"/>
                          </a:solidFill>
                        </a:rPr>
                        <a:t>&lt; 36 ans</a:t>
                      </a:r>
                      <a:endParaRPr lang="en-US" sz="1200" dirty="0"/>
                    </a:p>
                  </a:txBody>
                  <a:tcPr>
                    <a:solidFill>
                      <a:srgbClr val="00B05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66982922"/>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96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963">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6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96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96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634082"/>
          </a:xfrm>
        </p:spPr>
        <p:txBody>
          <a:bodyPr>
            <a:normAutofit fontScale="90000"/>
          </a:bodyPr>
          <a:lstStyle/>
          <a:p>
            <a:pPr algn="r"/>
            <a:r>
              <a:rPr lang="fr-FR" sz="4000" b="1" i="1" dirty="0"/>
              <a:t>Détermination du statut</a:t>
            </a:r>
            <a:r>
              <a:rPr lang="fr-BE" sz="4000" b="1" i="1" dirty="0"/>
              <a:t> </a:t>
            </a:r>
            <a:endParaRPr lang="en-US" b="1" i="1" dirty="0"/>
          </a:p>
        </p:txBody>
      </p:sp>
      <p:sp>
        <p:nvSpPr>
          <p:cNvPr id="3" name="Espace réservé du contenu 2"/>
          <p:cNvSpPr>
            <a:spLocks noGrp="1"/>
          </p:cNvSpPr>
          <p:nvPr>
            <p:ph idx="1"/>
          </p:nvPr>
        </p:nvSpPr>
        <p:spPr>
          <a:xfrm>
            <a:off x="457200" y="1412776"/>
            <a:ext cx="8229600" cy="4943574"/>
          </a:xfrm>
        </p:spPr>
        <p:txBody>
          <a:bodyPr>
            <a:normAutofit/>
          </a:bodyPr>
          <a:lstStyle/>
          <a:p>
            <a:pPr marL="0" indent="0">
              <a:buNone/>
            </a:pPr>
            <a:r>
              <a:rPr lang="fr-BE" sz="2800" b="1" u="sng" dirty="0"/>
              <a:t>Solution</a:t>
            </a:r>
            <a:r>
              <a:rPr lang="fr-BE" sz="2800" b="1" dirty="0"/>
              <a:t> :</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7</a:t>
            </a:fld>
            <a:endParaRPr lang="fr-FR" dirty="0"/>
          </a:p>
        </p:txBody>
      </p:sp>
      <p:sp>
        <p:nvSpPr>
          <p:cNvPr id="6" name="ZoneTexte 5">
            <a:extLst>
              <a:ext uri="{FF2B5EF4-FFF2-40B4-BE49-F238E27FC236}">
                <a16:creationId xmlns:a16="http://schemas.microsoft.com/office/drawing/2014/main" id="{BDE17CA8-5F49-4F3B-9E8F-53C33364BE4C}"/>
              </a:ext>
            </a:extLst>
          </p:cNvPr>
          <p:cNvSpPr txBox="1"/>
          <p:nvPr/>
        </p:nvSpPr>
        <p:spPr>
          <a:xfrm>
            <a:off x="8686800" y="2046858"/>
            <a:ext cx="184731" cy="369332"/>
          </a:xfrm>
          <a:prstGeom prst="rect">
            <a:avLst/>
          </a:prstGeom>
          <a:noFill/>
        </p:spPr>
        <p:txBody>
          <a:bodyPr wrap="none" rtlCol="0">
            <a:spAutoFit/>
          </a:bodyPr>
          <a:lstStyle/>
          <a:p>
            <a:endParaRPr lang="fr-BE" dirty="0"/>
          </a:p>
        </p:txBody>
      </p:sp>
    </p:spTree>
    <p:extLst>
      <p:ext uri="{BB962C8B-B14F-4D97-AF65-F5344CB8AC3E}">
        <p14:creationId xmlns:p14="http://schemas.microsoft.com/office/powerpoint/2010/main" val="4014635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AC0942-69F1-48E8-9E53-A7EFA1D98184}"/>
              </a:ext>
            </a:extLst>
          </p:cNvPr>
          <p:cNvSpPr>
            <a:spLocks noGrp="1"/>
          </p:cNvSpPr>
          <p:nvPr>
            <p:ph type="title"/>
          </p:nvPr>
        </p:nvSpPr>
        <p:spPr/>
        <p:txBody>
          <a:bodyPr>
            <a:normAutofit/>
          </a:bodyPr>
          <a:lstStyle/>
          <a:p>
            <a:pPr algn="r"/>
            <a:r>
              <a:rPr lang="fr-FR" sz="3600" b="1" i="1" dirty="0"/>
              <a:t>Détermination du statut</a:t>
            </a:r>
            <a:r>
              <a:rPr lang="fr-BE" sz="3600" b="1" i="1" dirty="0"/>
              <a:t> </a:t>
            </a:r>
            <a:endParaRPr lang="fr-BE" sz="3600" dirty="0"/>
          </a:p>
        </p:txBody>
      </p:sp>
      <p:sp>
        <p:nvSpPr>
          <p:cNvPr id="3" name="Espace réservé du contenu 2">
            <a:extLst>
              <a:ext uri="{FF2B5EF4-FFF2-40B4-BE49-F238E27FC236}">
                <a16:creationId xmlns:a16="http://schemas.microsoft.com/office/drawing/2014/main" id="{67E40008-DBE0-4230-9ED9-DF8B0FD5490C}"/>
              </a:ext>
            </a:extLst>
          </p:cNvPr>
          <p:cNvSpPr>
            <a:spLocks noGrp="1"/>
          </p:cNvSpPr>
          <p:nvPr>
            <p:ph idx="1"/>
          </p:nvPr>
        </p:nvSpPr>
        <p:spPr/>
        <p:txBody>
          <a:bodyPr>
            <a:normAutofit lnSpcReduction="10000"/>
          </a:bodyPr>
          <a:lstStyle/>
          <a:p>
            <a:r>
              <a:rPr lang="fr-BE" b="1" dirty="0"/>
              <a:t>Préfixe 03/ ?</a:t>
            </a:r>
          </a:p>
          <a:p>
            <a:pPr>
              <a:buNone/>
            </a:pPr>
            <a:r>
              <a:rPr lang="fr-BE" sz="3000" dirty="0">
                <a:latin typeface="+mj-lt"/>
              </a:rPr>
              <a:t>Est </a:t>
            </a:r>
            <a:r>
              <a:rPr lang="fr-BE" sz="3000" b="1" dirty="0">
                <a:solidFill>
                  <a:schemeClr val="accent2">
                    <a:lumMod val="75000"/>
                  </a:schemeClr>
                </a:solidFill>
                <a:latin typeface="+mj-lt"/>
              </a:rPr>
              <a:t>considéré comme TTRV</a:t>
            </a:r>
            <a:r>
              <a:rPr lang="fr-BE" sz="3000" dirty="0">
                <a:latin typeface="+mj-lt"/>
              </a:rPr>
              <a:t>, le travailleur qui :</a:t>
            </a:r>
          </a:p>
          <a:p>
            <a:pPr>
              <a:buNone/>
            </a:pPr>
            <a:endParaRPr lang="fr-BE" sz="3000" dirty="0">
              <a:latin typeface="+mj-lt"/>
            </a:endParaRPr>
          </a:p>
          <a:p>
            <a:pPr lvl="1">
              <a:buFont typeface="Wingdings" pitchFamily="2" charset="2"/>
              <a:buChar char="§"/>
            </a:pPr>
            <a:r>
              <a:rPr lang="fr-BE" sz="3000" dirty="0">
                <a:latin typeface="+mj-lt"/>
              </a:rPr>
              <a:t>N’est pas à un travailleur à temps plein ou assimilé,</a:t>
            </a:r>
          </a:p>
          <a:p>
            <a:pPr marL="457200" lvl="1" indent="0">
              <a:buNone/>
            </a:pPr>
            <a:r>
              <a:rPr lang="fr-BE" sz="3000" b="1" u="sng" dirty="0">
                <a:solidFill>
                  <a:schemeClr val="accent2">
                    <a:lumMod val="75000"/>
                  </a:schemeClr>
                </a:solidFill>
                <a:latin typeface="+mj-lt"/>
              </a:rPr>
              <a:t>ET</a:t>
            </a:r>
            <a:r>
              <a:rPr lang="fr-BE" sz="3000" dirty="0">
                <a:solidFill>
                  <a:schemeClr val="accent2">
                    <a:lumMod val="75000"/>
                  </a:schemeClr>
                </a:solidFill>
                <a:latin typeface="+mj-lt"/>
              </a:rPr>
              <a:t> </a:t>
            </a:r>
          </a:p>
          <a:p>
            <a:pPr lvl="1">
              <a:buFont typeface="Wingdings" pitchFamily="2" charset="2"/>
              <a:buChar char="§"/>
            </a:pPr>
            <a:r>
              <a:rPr lang="fr-BE" sz="3000" dirty="0">
                <a:latin typeface="+mj-lt"/>
              </a:rPr>
              <a:t>Ne remplit pas les conditions pour obtenir le statut de TTPMD, même après tentative de régularisation.</a:t>
            </a:r>
            <a:endParaRPr lang="fr-BE" dirty="0"/>
          </a:p>
        </p:txBody>
      </p:sp>
      <p:sp>
        <p:nvSpPr>
          <p:cNvPr id="4" name="Espace réservé du numéro de diapositive 3">
            <a:extLst>
              <a:ext uri="{FF2B5EF4-FFF2-40B4-BE49-F238E27FC236}">
                <a16:creationId xmlns:a16="http://schemas.microsoft.com/office/drawing/2014/main" id="{8D5EF029-5264-4386-88AA-58651F93920C}"/>
              </a:ext>
            </a:extLst>
          </p:cNvPr>
          <p:cNvSpPr>
            <a:spLocks noGrp="1"/>
          </p:cNvSpPr>
          <p:nvPr>
            <p:ph type="sldNum" sz="quarter" idx="12"/>
          </p:nvPr>
        </p:nvSpPr>
        <p:spPr/>
        <p:txBody>
          <a:bodyPr/>
          <a:lstStyle/>
          <a:p>
            <a:fld id="{55E9056B-6A30-4F99-BDE9-C450E66AE125}" type="slidenum">
              <a:rPr lang="fr-FR" smtClean="0"/>
              <a:pPr/>
              <a:t>8</a:t>
            </a:fld>
            <a:endParaRPr lang="fr-FR" dirty="0"/>
          </a:p>
        </p:txBody>
      </p:sp>
    </p:spTree>
    <p:extLst>
      <p:ext uri="{BB962C8B-B14F-4D97-AF65-F5344CB8AC3E}">
        <p14:creationId xmlns:p14="http://schemas.microsoft.com/office/powerpoint/2010/main" val="252931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AC0942-69F1-48E8-9E53-A7EFA1D98184}"/>
              </a:ext>
            </a:extLst>
          </p:cNvPr>
          <p:cNvSpPr>
            <a:spLocks noGrp="1"/>
          </p:cNvSpPr>
          <p:nvPr>
            <p:ph type="title"/>
          </p:nvPr>
        </p:nvSpPr>
        <p:spPr/>
        <p:txBody>
          <a:bodyPr>
            <a:normAutofit/>
          </a:bodyPr>
          <a:lstStyle/>
          <a:p>
            <a:pPr algn="r"/>
            <a:r>
              <a:rPr lang="fr-FR" sz="3600" b="1" i="1" dirty="0"/>
              <a:t>Détermination du statut</a:t>
            </a:r>
            <a:r>
              <a:rPr lang="fr-BE" sz="3600" b="1" i="1" dirty="0"/>
              <a:t> </a:t>
            </a:r>
            <a:endParaRPr lang="fr-BE" sz="3600" dirty="0"/>
          </a:p>
        </p:txBody>
      </p:sp>
      <p:sp>
        <p:nvSpPr>
          <p:cNvPr id="3" name="Espace réservé du contenu 2">
            <a:extLst>
              <a:ext uri="{FF2B5EF4-FFF2-40B4-BE49-F238E27FC236}">
                <a16:creationId xmlns:a16="http://schemas.microsoft.com/office/drawing/2014/main" id="{67E40008-DBE0-4230-9ED9-DF8B0FD5490C}"/>
              </a:ext>
            </a:extLst>
          </p:cNvPr>
          <p:cNvSpPr>
            <a:spLocks noGrp="1"/>
          </p:cNvSpPr>
          <p:nvPr>
            <p:ph idx="1"/>
          </p:nvPr>
        </p:nvSpPr>
        <p:spPr/>
        <p:txBody>
          <a:bodyPr>
            <a:normAutofit fontScale="85000" lnSpcReduction="20000"/>
          </a:bodyPr>
          <a:lstStyle/>
          <a:p>
            <a:pPr marL="0" indent="0">
              <a:buNone/>
            </a:pPr>
            <a:r>
              <a:rPr lang="fr-FR" b="1" dirty="0"/>
              <a:t>Envisager 01/ ou 03/ ?</a:t>
            </a:r>
          </a:p>
          <a:p>
            <a:pPr marL="0" indent="0">
              <a:spcBef>
                <a:spcPts val="1200"/>
              </a:spcBef>
              <a:buNone/>
            </a:pPr>
            <a:r>
              <a:rPr lang="fr-FR" sz="3200" b="1" dirty="0">
                <a:solidFill>
                  <a:srgbClr val="C00000"/>
                </a:solidFill>
              </a:rPr>
              <a:t>Rappel:</a:t>
            </a:r>
            <a:r>
              <a:rPr lang="fr-FR" sz="3200" b="1" dirty="0"/>
              <a:t> </a:t>
            </a:r>
            <a:r>
              <a:rPr lang="fr-FR" sz="3200" dirty="0"/>
              <a:t>Le </a:t>
            </a:r>
            <a:r>
              <a:rPr lang="fr-BE" sz="3200" dirty="0"/>
              <a:t>statut est déterminé sur base de la </a:t>
            </a:r>
            <a:r>
              <a:rPr lang="fr-BE" sz="3200" b="1" u="sng" dirty="0"/>
              <a:t>dernière occupation d’au moins une semaine</a:t>
            </a:r>
            <a:endParaRPr lang="fr-FR" sz="3200" b="1" u="sng" dirty="0"/>
          </a:p>
          <a:p>
            <a:pPr marL="0" indent="0">
              <a:buNone/>
            </a:pPr>
            <a:endParaRPr lang="fr-FR" sz="1800" b="1" u="sng" dirty="0"/>
          </a:p>
          <a:p>
            <a:pPr marL="0" indent="0">
              <a:buNone/>
            </a:pPr>
            <a:endParaRPr lang="fr-FR" sz="1800" b="1" u="sng" dirty="0"/>
          </a:p>
          <a:p>
            <a:pPr marL="0" indent="0">
              <a:buNone/>
            </a:pPr>
            <a:r>
              <a:rPr lang="fr-FR" b="1" u="sng" dirty="0"/>
              <a:t>Particularité</a:t>
            </a:r>
            <a:r>
              <a:rPr lang="fr-FR" b="1" dirty="0"/>
              <a:t>:</a:t>
            </a:r>
            <a:endParaRPr lang="fr-FR" b="1" u="sng" dirty="0"/>
          </a:p>
          <a:p>
            <a:pPr marL="0" indent="0">
              <a:spcBef>
                <a:spcPts val="1200"/>
              </a:spcBef>
              <a:buNone/>
            </a:pPr>
            <a:r>
              <a:rPr lang="fr-FR" sz="3200" dirty="0"/>
              <a:t>Si la </a:t>
            </a:r>
            <a:r>
              <a:rPr lang="fr-FR" sz="3200" b="1" dirty="0"/>
              <a:t>dernière occupation est à temps plein </a:t>
            </a:r>
            <a:r>
              <a:rPr lang="fr-FR" sz="3200" dirty="0"/>
              <a:t>et que </a:t>
            </a:r>
            <a:r>
              <a:rPr lang="fr-FR" sz="3200" b="1" dirty="0"/>
              <a:t>pas d’admission sur base de l’art 30</a:t>
            </a:r>
            <a:r>
              <a:rPr lang="fr-FR" sz="3200" dirty="0"/>
              <a:t>, l’admissibilité dans le régime du </a:t>
            </a:r>
            <a:r>
              <a:rPr lang="fr-FR" sz="3200" b="1" dirty="0"/>
              <a:t>TTRV (art.33) peut être envisagée si: </a:t>
            </a:r>
          </a:p>
          <a:p>
            <a:pPr marL="0" indent="0">
              <a:spcBef>
                <a:spcPts val="1200"/>
              </a:spcBef>
              <a:buNone/>
            </a:pPr>
            <a:endParaRPr lang="fr-FR" sz="900" b="1" dirty="0"/>
          </a:p>
          <a:p>
            <a:pPr marL="0" indent="0">
              <a:buNone/>
            </a:pPr>
            <a:r>
              <a:rPr lang="fr-FR" sz="3200" b="1" dirty="0">
                <a:solidFill>
                  <a:srgbClr val="C00000"/>
                </a:solidFill>
                <a:sym typeface="Wingdings" panose="05000000000000000000" pitchFamily="2" charset="2"/>
              </a:rPr>
              <a:t> T</a:t>
            </a:r>
            <a:r>
              <a:rPr lang="fr-FR" sz="3200" b="1" dirty="0">
                <a:solidFill>
                  <a:srgbClr val="C00000"/>
                </a:solidFill>
              </a:rPr>
              <a:t>ravail à temps partiel pendant 1/3 au moins de la période de référence prévue à l’article 30.  </a:t>
            </a:r>
          </a:p>
          <a:p>
            <a:endParaRPr lang="fr-BE" dirty="0"/>
          </a:p>
        </p:txBody>
      </p:sp>
      <p:sp>
        <p:nvSpPr>
          <p:cNvPr id="4" name="Espace réservé du numéro de diapositive 3">
            <a:extLst>
              <a:ext uri="{FF2B5EF4-FFF2-40B4-BE49-F238E27FC236}">
                <a16:creationId xmlns:a16="http://schemas.microsoft.com/office/drawing/2014/main" id="{8D5EF029-5264-4386-88AA-58651F93920C}"/>
              </a:ext>
            </a:extLst>
          </p:cNvPr>
          <p:cNvSpPr>
            <a:spLocks noGrp="1"/>
          </p:cNvSpPr>
          <p:nvPr>
            <p:ph type="sldNum" sz="quarter" idx="12"/>
          </p:nvPr>
        </p:nvSpPr>
        <p:spPr/>
        <p:txBody>
          <a:bodyPr/>
          <a:lstStyle/>
          <a:p>
            <a:fld id="{55E9056B-6A30-4F99-BDE9-C450E66AE125}" type="slidenum">
              <a:rPr lang="fr-FR" smtClean="0"/>
              <a:pPr/>
              <a:t>9</a:t>
            </a:fld>
            <a:endParaRPr lang="fr-FR" dirty="0"/>
          </a:p>
        </p:txBody>
      </p:sp>
    </p:spTree>
    <p:extLst>
      <p:ext uri="{BB962C8B-B14F-4D97-AF65-F5344CB8AC3E}">
        <p14:creationId xmlns:p14="http://schemas.microsoft.com/office/powerpoint/2010/main" val="350256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AC0942-69F1-48E8-9E53-A7EFA1D98184}"/>
              </a:ext>
            </a:extLst>
          </p:cNvPr>
          <p:cNvSpPr>
            <a:spLocks noGrp="1"/>
          </p:cNvSpPr>
          <p:nvPr>
            <p:ph type="title"/>
          </p:nvPr>
        </p:nvSpPr>
        <p:spPr/>
        <p:txBody>
          <a:bodyPr>
            <a:noAutofit/>
          </a:bodyPr>
          <a:lstStyle/>
          <a:p>
            <a:pPr algn="r"/>
            <a:r>
              <a:rPr lang="fr-BE" sz="3600" b="1" i="1" dirty="0">
                <a:cs typeface="Times New Roman" pitchFamily="18" charset="0"/>
              </a:rPr>
              <a:t>Sélection de l’occupation à temps partiel</a:t>
            </a:r>
            <a:endParaRPr lang="fr-BE" sz="3600" dirty="0"/>
          </a:p>
        </p:txBody>
      </p:sp>
      <p:sp>
        <p:nvSpPr>
          <p:cNvPr id="3" name="Espace réservé du contenu 2">
            <a:extLst>
              <a:ext uri="{FF2B5EF4-FFF2-40B4-BE49-F238E27FC236}">
                <a16:creationId xmlns:a16="http://schemas.microsoft.com/office/drawing/2014/main" id="{67E40008-DBE0-4230-9ED9-DF8B0FD5490C}"/>
              </a:ext>
            </a:extLst>
          </p:cNvPr>
          <p:cNvSpPr>
            <a:spLocks noGrp="1"/>
          </p:cNvSpPr>
          <p:nvPr>
            <p:ph idx="1"/>
          </p:nvPr>
        </p:nvSpPr>
        <p:spPr/>
        <p:txBody>
          <a:bodyPr/>
          <a:lstStyle/>
          <a:p>
            <a:pPr marL="609600" indent="-609600">
              <a:lnSpc>
                <a:spcPct val="110000"/>
              </a:lnSpc>
              <a:buNone/>
            </a:pPr>
            <a:r>
              <a:rPr lang="fr-BE" b="1" dirty="0">
                <a:solidFill>
                  <a:schemeClr val="accent2">
                    <a:lumMod val="75000"/>
                  </a:schemeClr>
                </a:solidFill>
                <a:cs typeface="Times New Roman" pitchFamily="18" charset="0"/>
              </a:rPr>
              <a:t>Calculer la durée hebdomadaire moyenne de travail (Q) : </a:t>
            </a:r>
          </a:p>
          <a:p>
            <a:pPr>
              <a:buFont typeface="Wingdings" pitchFamily="2" charset="2"/>
              <a:buChar char="§"/>
            </a:pPr>
            <a:r>
              <a:rPr lang="fr-FR" sz="3200" dirty="0"/>
              <a:t>On tient compte de la </a:t>
            </a:r>
            <a:r>
              <a:rPr lang="fr-FR" sz="3200" b="1" dirty="0"/>
              <a:t>dernière</a:t>
            </a:r>
            <a:r>
              <a:rPr lang="fr-FR" sz="3200" dirty="0"/>
              <a:t> occupation à temps partiel d’au moins </a:t>
            </a:r>
            <a:r>
              <a:rPr lang="fr-FR" sz="3200" b="1" dirty="0"/>
              <a:t>4 semaines consécutives chez le même employeur</a:t>
            </a:r>
            <a:r>
              <a:rPr lang="fr-FR" sz="3200" dirty="0"/>
              <a:t> ( sans remonter à + de 12 mois),</a:t>
            </a:r>
          </a:p>
          <a:p>
            <a:pPr>
              <a:buFont typeface="Wingdings" pitchFamily="2" charset="2"/>
              <a:buChar char="§"/>
            </a:pPr>
            <a:r>
              <a:rPr lang="fr-FR" sz="3200" dirty="0"/>
              <a:t>On ne tient pas compte d’une occupation à temps plein.</a:t>
            </a:r>
          </a:p>
          <a:p>
            <a:endParaRPr lang="fr-BE" dirty="0"/>
          </a:p>
        </p:txBody>
      </p:sp>
      <p:sp>
        <p:nvSpPr>
          <p:cNvPr id="4" name="Espace réservé du numéro de diapositive 3">
            <a:extLst>
              <a:ext uri="{FF2B5EF4-FFF2-40B4-BE49-F238E27FC236}">
                <a16:creationId xmlns:a16="http://schemas.microsoft.com/office/drawing/2014/main" id="{8D5EF029-5264-4386-88AA-58651F93920C}"/>
              </a:ext>
            </a:extLst>
          </p:cNvPr>
          <p:cNvSpPr>
            <a:spLocks noGrp="1"/>
          </p:cNvSpPr>
          <p:nvPr>
            <p:ph type="sldNum" sz="quarter" idx="12"/>
          </p:nvPr>
        </p:nvSpPr>
        <p:spPr/>
        <p:txBody>
          <a:bodyPr/>
          <a:lstStyle/>
          <a:p>
            <a:fld id="{55E9056B-6A30-4F99-BDE9-C450E66AE125}" type="slidenum">
              <a:rPr lang="fr-FR" smtClean="0"/>
              <a:pPr/>
              <a:t>10</a:t>
            </a:fld>
            <a:endParaRPr lang="fr-FR" dirty="0"/>
          </a:p>
        </p:txBody>
      </p:sp>
    </p:spTree>
    <p:extLst>
      <p:ext uri="{BB962C8B-B14F-4D97-AF65-F5344CB8AC3E}">
        <p14:creationId xmlns:p14="http://schemas.microsoft.com/office/powerpoint/2010/main" val="178626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AC0942-69F1-48E8-9E53-A7EFA1D98184}"/>
              </a:ext>
            </a:extLst>
          </p:cNvPr>
          <p:cNvSpPr>
            <a:spLocks noGrp="1"/>
          </p:cNvSpPr>
          <p:nvPr>
            <p:ph type="title"/>
          </p:nvPr>
        </p:nvSpPr>
        <p:spPr/>
        <p:txBody>
          <a:bodyPr>
            <a:normAutofit fontScale="90000"/>
          </a:bodyPr>
          <a:lstStyle/>
          <a:p>
            <a:pPr algn="r"/>
            <a:r>
              <a:rPr lang="fr-BE" sz="4400" b="1" i="1" dirty="0">
                <a:cs typeface="Times New Roman" pitchFamily="18" charset="0"/>
              </a:rPr>
              <a:t>Sélection de l’occupation à temps partiel</a:t>
            </a:r>
            <a:endParaRPr lang="fr-BE" dirty="0"/>
          </a:p>
        </p:txBody>
      </p:sp>
      <p:sp>
        <p:nvSpPr>
          <p:cNvPr id="3" name="Espace réservé du contenu 2">
            <a:extLst>
              <a:ext uri="{FF2B5EF4-FFF2-40B4-BE49-F238E27FC236}">
                <a16:creationId xmlns:a16="http://schemas.microsoft.com/office/drawing/2014/main" id="{67E40008-DBE0-4230-9ED9-DF8B0FD5490C}"/>
              </a:ext>
            </a:extLst>
          </p:cNvPr>
          <p:cNvSpPr>
            <a:spLocks noGrp="1"/>
          </p:cNvSpPr>
          <p:nvPr>
            <p:ph idx="1"/>
          </p:nvPr>
        </p:nvSpPr>
        <p:spPr/>
        <p:txBody>
          <a:bodyPr>
            <a:normAutofit lnSpcReduction="10000"/>
          </a:bodyPr>
          <a:lstStyle/>
          <a:p>
            <a:pPr>
              <a:buNone/>
            </a:pPr>
            <a:r>
              <a:rPr lang="fr-FR" b="1" dirty="0"/>
              <a:t>Sur la base de l’occupation sélectionnée ou des occupations sélectionnées:</a:t>
            </a:r>
          </a:p>
          <a:p>
            <a:pPr>
              <a:buNone/>
            </a:pPr>
            <a:endParaRPr lang="fr-FR" sz="2800" dirty="0"/>
          </a:p>
          <a:p>
            <a:r>
              <a:rPr lang="fr-FR" sz="3200" b="1" u="sng" dirty="0">
                <a:solidFill>
                  <a:schemeClr val="accent2">
                    <a:lumMod val="75000"/>
                  </a:schemeClr>
                </a:solidFill>
              </a:rPr>
              <a:t>Totaliser</a:t>
            </a:r>
            <a:r>
              <a:rPr lang="fr-FR" sz="3200" dirty="0"/>
              <a:t> les heures de travail et les heures assimilées situées dans la période de travail limitée aux 12 derniers mois</a:t>
            </a:r>
          </a:p>
          <a:p>
            <a:r>
              <a:rPr lang="fr-FR" sz="3200" dirty="0"/>
              <a:t>Et </a:t>
            </a:r>
            <a:r>
              <a:rPr lang="fr-FR" sz="3200" b="1" u="sng" dirty="0">
                <a:solidFill>
                  <a:schemeClr val="accent2">
                    <a:lumMod val="75000"/>
                  </a:schemeClr>
                </a:solidFill>
              </a:rPr>
              <a:t>diviser</a:t>
            </a:r>
            <a:r>
              <a:rPr lang="fr-FR" sz="3200" dirty="0"/>
              <a:t> le résultat obtenu par le nombre de semaines situées dans la période d’occupation (max 52 semaines)</a:t>
            </a:r>
          </a:p>
          <a:p>
            <a:endParaRPr lang="fr-BE" dirty="0"/>
          </a:p>
        </p:txBody>
      </p:sp>
      <p:sp>
        <p:nvSpPr>
          <p:cNvPr id="4" name="Espace réservé du numéro de diapositive 3">
            <a:extLst>
              <a:ext uri="{FF2B5EF4-FFF2-40B4-BE49-F238E27FC236}">
                <a16:creationId xmlns:a16="http://schemas.microsoft.com/office/drawing/2014/main" id="{8D5EF029-5264-4386-88AA-58651F93920C}"/>
              </a:ext>
            </a:extLst>
          </p:cNvPr>
          <p:cNvSpPr>
            <a:spLocks noGrp="1"/>
          </p:cNvSpPr>
          <p:nvPr>
            <p:ph type="sldNum" sz="quarter" idx="12"/>
          </p:nvPr>
        </p:nvSpPr>
        <p:spPr/>
        <p:txBody>
          <a:bodyPr/>
          <a:lstStyle/>
          <a:p>
            <a:fld id="{55E9056B-6A30-4F99-BDE9-C450E66AE125}" type="slidenum">
              <a:rPr lang="fr-FR" smtClean="0"/>
              <a:pPr/>
              <a:t>11</a:t>
            </a:fld>
            <a:endParaRPr lang="fr-FR" dirty="0"/>
          </a:p>
        </p:txBody>
      </p:sp>
    </p:spTree>
    <p:extLst>
      <p:ext uri="{BB962C8B-B14F-4D97-AF65-F5344CB8AC3E}">
        <p14:creationId xmlns:p14="http://schemas.microsoft.com/office/powerpoint/2010/main" val="401231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sz="4400" b="1" i="1" dirty="0">
                <a:cs typeface="Times New Roman" pitchFamily="18" charset="0"/>
              </a:rPr>
              <a:t>Sélection de l’occupation à temps partiel</a:t>
            </a:r>
            <a:endParaRPr lang="en-US" b="1" i="1" dirty="0"/>
          </a:p>
        </p:txBody>
      </p:sp>
      <p:sp>
        <p:nvSpPr>
          <p:cNvPr id="3" name="Espace réservé du contenu 2"/>
          <p:cNvSpPr>
            <a:spLocks noGrp="1"/>
          </p:cNvSpPr>
          <p:nvPr>
            <p:ph idx="1"/>
          </p:nvPr>
        </p:nvSpPr>
        <p:spPr/>
        <p:txBody>
          <a:bodyPr/>
          <a:lstStyle/>
          <a:p>
            <a:r>
              <a:rPr lang="fr-BE" u="sng" dirty="0"/>
              <a:t>Si le travailleur est occupé à temps partiel simultanément </a:t>
            </a:r>
            <a:r>
              <a:rPr lang="fr-BE" b="1" u="sng" dirty="0"/>
              <a:t>chez plusieurs employeurs</a:t>
            </a:r>
            <a:r>
              <a:rPr lang="fr-BE" b="1" dirty="0"/>
              <a:t> </a:t>
            </a:r>
            <a:r>
              <a:rPr lang="fr-BE" dirty="0"/>
              <a:t>:</a:t>
            </a:r>
          </a:p>
          <a:p>
            <a:pPr marL="0" indent="0">
              <a:buNone/>
            </a:pPr>
            <a:endParaRPr lang="fr-BE" dirty="0"/>
          </a:p>
          <a:p>
            <a:pPr marL="0" indent="0">
              <a:buNone/>
            </a:pPr>
            <a:r>
              <a:rPr lang="fr-BE" dirty="0"/>
              <a:t>Les différentes occupations sont sélectionnées si le travailleur a été occupé simultanément au moins 4 semaines dans chaque emploi  </a:t>
            </a:r>
            <a:r>
              <a:rPr lang="fr-BE" sz="2800" dirty="0"/>
              <a:t>(sans remonter à + de 12 mois).</a:t>
            </a:r>
            <a:endParaRPr lang="en-US" sz="28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12</a:t>
            </a:fld>
            <a:endParaRPr lang="fr-FR" dirty="0"/>
          </a:p>
        </p:txBody>
      </p:sp>
    </p:spTree>
    <p:extLst>
      <p:ext uri="{BB962C8B-B14F-4D97-AF65-F5344CB8AC3E}">
        <p14:creationId xmlns:p14="http://schemas.microsoft.com/office/powerpoint/2010/main" val="274141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sz="4400" b="1" i="1" dirty="0">
                <a:cs typeface="Times New Roman" pitchFamily="18" charset="0"/>
              </a:rPr>
              <a:t>Sélection de l’occupation à temps partiel</a:t>
            </a:r>
            <a:endParaRPr lang="en-US" b="1" i="1"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13</a:t>
            </a:fld>
            <a:endParaRPr lang="fr-FR" dirty="0"/>
          </a:p>
        </p:txBody>
      </p:sp>
      <p:sp>
        <p:nvSpPr>
          <p:cNvPr id="7" name="ZoneTexte 6"/>
          <p:cNvSpPr txBox="1"/>
          <p:nvPr/>
        </p:nvSpPr>
        <p:spPr>
          <a:xfrm>
            <a:off x="204781" y="3184155"/>
            <a:ext cx="8640960" cy="830997"/>
          </a:xfrm>
          <a:prstGeom prst="rect">
            <a:avLst/>
          </a:prstGeom>
          <a:noFill/>
        </p:spPr>
        <p:txBody>
          <a:bodyPr wrap="square" rtlCol="0">
            <a:spAutoFit/>
          </a:bodyPr>
          <a:lstStyle/>
          <a:p>
            <a:r>
              <a:rPr lang="fr-BE" sz="2400" b="1" dirty="0"/>
              <a:t>La période d’occupation de 10 mois chez les 2 employeurs est sélectionnées</a:t>
            </a:r>
            <a:endParaRPr lang="en-US" sz="2400" b="1" dirty="0"/>
          </a:p>
        </p:txBody>
      </p:sp>
      <p:sp>
        <p:nvSpPr>
          <p:cNvPr id="11" name="ZoneTexte 10"/>
          <p:cNvSpPr txBox="1"/>
          <p:nvPr/>
        </p:nvSpPr>
        <p:spPr>
          <a:xfrm>
            <a:off x="179512" y="5805264"/>
            <a:ext cx="8640960" cy="830997"/>
          </a:xfrm>
          <a:prstGeom prst="rect">
            <a:avLst/>
          </a:prstGeom>
          <a:noFill/>
        </p:spPr>
        <p:txBody>
          <a:bodyPr wrap="square" rtlCol="0">
            <a:spAutoFit/>
          </a:bodyPr>
          <a:lstStyle/>
          <a:p>
            <a:r>
              <a:rPr lang="fr-BE" sz="2400" b="1" dirty="0"/>
              <a:t>Durant 2 mois, occupation uniquement chez l’employeur 2 =&gt; c’est cette occupation qui est sélectionnée</a:t>
            </a:r>
            <a:endParaRPr lang="en-US" sz="2400" b="1" dirty="0"/>
          </a:p>
        </p:txBody>
      </p:sp>
      <p:graphicFrame>
        <p:nvGraphicFramePr>
          <p:cNvPr id="9" name="Tableau 8"/>
          <p:cNvGraphicFramePr>
            <a:graphicFrameLocks noGrp="1"/>
          </p:cNvGraphicFramePr>
          <p:nvPr/>
        </p:nvGraphicFramePr>
        <p:xfrm>
          <a:off x="3131840" y="1512893"/>
          <a:ext cx="5554960" cy="691971"/>
        </p:xfrm>
        <a:graphic>
          <a:graphicData uri="http://schemas.openxmlformats.org/drawingml/2006/table">
            <a:tbl>
              <a:tblPr firstRow="1" bandRow="1">
                <a:tableStyleId>{5C22544A-7EE6-4342-B048-85BDC9FD1C3A}</a:tableStyleId>
              </a:tblPr>
              <a:tblGrid>
                <a:gridCol w="3960440">
                  <a:extLst>
                    <a:ext uri="{9D8B030D-6E8A-4147-A177-3AD203B41FA5}">
                      <a16:colId xmlns:a16="http://schemas.microsoft.com/office/drawing/2014/main" val="20000"/>
                    </a:ext>
                  </a:extLst>
                </a:gridCol>
                <a:gridCol w="1594520">
                  <a:extLst>
                    <a:ext uri="{9D8B030D-6E8A-4147-A177-3AD203B41FA5}">
                      <a16:colId xmlns:a16="http://schemas.microsoft.com/office/drawing/2014/main" val="20001"/>
                    </a:ext>
                  </a:extLst>
                </a:gridCol>
              </a:tblGrid>
              <a:tr h="691971">
                <a:tc>
                  <a:txBody>
                    <a:bodyPr/>
                    <a:lstStyle/>
                    <a:p>
                      <a:pPr algn="ctr"/>
                      <a:r>
                        <a:rPr lang="fr-BE" dirty="0"/>
                        <a:t>Employeur 2 : 10 mois</a:t>
                      </a:r>
                      <a:r>
                        <a:rPr lang="fr-BE" baseline="0" dirty="0"/>
                        <a:t> de travail</a:t>
                      </a:r>
                      <a:endParaRPr lang="en-US" dirty="0"/>
                    </a:p>
                  </a:txBody>
                  <a:tcPr>
                    <a:solidFill>
                      <a:schemeClr val="accent3"/>
                    </a:solidFill>
                  </a:tcPr>
                </a:tc>
                <a:tc>
                  <a:txBody>
                    <a:bodyPr/>
                    <a:lstStyle/>
                    <a:p>
                      <a:pPr algn="ctr"/>
                      <a:r>
                        <a:rPr lang="fr-BE" dirty="0"/>
                        <a:t>DA</a:t>
                      </a:r>
                      <a:endParaRPr lang="en-US" dirty="0"/>
                    </a:p>
                  </a:txBody>
                  <a:tcPr>
                    <a:solidFill>
                      <a:schemeClr val="accent3"/>
                    </a:solidFill>
                  </a:tcPr>
                </a:tc>
                <a:extLst>
                  <a:ext uri="{0D108BD9-81ED-4DB2-BD59-A6C34878D82A}">
                    <a16:rowId xmlns:a16="http://schemas.microsoft.com/office/drawing/2014/main" val="10000"/>
                  </a:ext>
                </a:extLst>
              </a:tr>
            </a:tbl>
          </a:graphicData>
        </a:graphic>
      </p:graphicFrame>
      <p:graphicFrame>
        <p:nvGraphicFramePr>
          <p:cNvPr id="12" name="Tableau 11"/>
          <p:cNvGraphicFramePr>
            <a:graphicFrameLocks noGrp="1"/>
          </p:cNvGraphicFramePr>
          <p:nvPr/>
        </p:nvGraphicFramePr>
        <p:xfrm>
          <a:off x="457200" y="2246678"/>
          <a:ext cx="8229600" cy="681171"/>
        </p:xfrm>
        <a:graphic>
          <a:graphicData uri="http://schemas.openxmlformats.org/drawingml/2006/table">
            <a:tbl>
              <a:tblPr firstRow="1" bandRow="1">
                <a:tableStyleId>{5C22544A-7EE6-4342-B048-85BDC9FD1C3A}</a:tableStyleId>
              </a:tblPr>
              <a:tblGrid>
                <a:gridCol w="6635080">
                  <a:extLst>
                    <a:ext uri="{9D8B030D-6E8A-4147-A177-3AD203B41FA5}">
                      <a16:colId xmlns:a16="http://schemas.microsoft.com/office/drawing/2014/main" val="20000"/>
                    </a:ext>
                  </a:extLst>
                </a:gridCol>
                <a:gridCol w="1594520">
                  <a:extLst>
                    <a:ext uri="{9D8B030D-6E8A-4147-A177-3AD203B41FA5}">
                      <a16:colId xmlns:a16="http://schemas.microsoft.com/office/drawing/2014/main" val="20001"/>
                    </a:ext>
                  </a:extLst>
                </a:gridCol>
              </a:tblGrid>
              <a:tr h="681171">
                <a:tc>
                  <a:txBody>
                    <a:bodyPr/>
                    <a:lstStyle/>
                    <a:p>
                      <a:r>
                        <a:rPr lang="fr-BE" dirty="0"/>
                        <a:t>Employeur 1 : 18 mois de travail</a:t>
                      </a:r>
                      <a:endParaRPr lang="en-US" dirty="0"/>
                    </a:p>
                  </a:txBody>
                  <a:tcPr>
                    <a:solidFill>
                      <a:schemeClr val="accent3"/>
                    </a:solidFill>
                  </a:tcPr>
                </a:tc>
                <a:tc>
                  <a:txBody>
                    <a:bodyPr/>
                    <a:lstStyle/>
                    <a:p>
                      <a:pPr algn="ctr"/>
                      <a:r>
                        <a:rPr lang="fr-BE" dirty="0"/>
                        <a:t>DA</a:t>
                      </a:r>
                      <a:endParaRPr lang="en-US" dirty="0"/>
                    </a:p>
                  </a:txBody>
                  <a:tcPr>
                    <a:solidFill>
                      <a:schemeClr val="accent3"/>
                    </a:solidFill>
                  </a:tcPr>
                </a:tc>
                <a:extLst>
                  <a:ext uri="{0D108BD9-81ED-4DB2-BD59-A6C34878D82A}">
                    <a16:rowId xmlns:a16="http://schemas.microsoft.com/office/drawing/2014/main" val="10000"/>
                  </a:ext>
                </a:extLst>
              </a:tr>
            </a:tbl>
          </a:graphicData>
        </a:graphic>
      </p:graphicFrame>
      <p:graphicFrame>
        <p:nvGraphicFramePr>
          <p:cNvPr id="13" name="Tableau 12"/>
          <p:cNvGraphicFramePr>
            <a:graphicFrameLocks noGrp="1"/>
          </p:cNvGraphicFramePr>
          <p:nvPr/>
        </p:nvGraphicFramePr>
        <p:xfrm>
          <a:off x="2578850" y="4086038"/>
          <a:ext cx="6096000" cy="711114"/>
        </p:xfrm>
        <a:graphic>
          <a:graphicData uri="http://schemas.openxmlformats.org/drawingml/2006/table">
            <a:tbl>
              <a:tblPr firstRow="1" bandRow="1">
                <a:tableStyleId>{5C22544A-7EE6-4342-B048-85BDC9FD1C3A}</a:tableStyleId>
              </a:tblPr>
              <a:tblGrid>
                <a:gridCol w="4513430">
                  <a:extLst>
                    <a:ext uri="{9D8B030D-6E8A-4147-A177-3AD203B41FA5}">
                      <a16:colId xmlns:a16="http://schemas.microsoft.com/office/drawing/2014/main" val="20000"/>
                    </a:ext>
                  </a:extLst>
                </a:gridCol>
                <a:gridCol w="1582570">
                  <a:extLst>
                    <a:ext uri="{9D8B030D-6E8A-4147-A177-3AD203B41FA5}">
                      <a16:colId xmlns:a16="http://schemas.microsoft.com/office/drawing/2014/main" val="20001"/>
                    </a:ext>
                  </a:extLst>
                </a:gridCol>
              </a:tblGrid>
              <a:tr h="711114">
                <a:tc>
                  <a:txBody>
                    <a:bodyPr/>
                    <a:lstStyle/>
                    <a:p>
                      <a:pPr algn="ctr"/>
                      <a:r>
                        <a:rPr lang="fr-BE" dirty="0"/>
                        <a:t>Employeur 2 : 26</a:t>
                      </a:r>
                      <a:r>
                        <a:rPr lang="fr-BE" baseline="0" dirty="0"/>
                        <a:t> mois de travail</a:t>
                      </a:r>
                      <a:endParaRPr lang="en-US" dirty="0"/>
                    </a:p>
                  </a:txBody>
                  <a:tcPr>
                    <a:solidFill>
                      <a:schemeClr val="accent3"/>
                    </a:solidFill>
                  </a:tcPr>
                </a:tc>
                <a:tc>
                  <a:txBody>
                    <a:bodyPr/>
                    <a:lstStyle/>
                    <a:p>
                      <a:pPr algn="ctr"/>
                      <a:r>
                        <a:rPr lang="fr-BE" dirty="0"/>
                        <a:t>DA</a:t>
                      </a:r>
                      <a:endParaRPr lang="en-US" dirty="0"/>
                    </a:p>
                  </a:txBody>
                  <a:tcPr>
                    <a:solidFill>
                      <a:schemeClr val="accent3"/>
                    </a:solidFill>
                  </a:tcPr>
                </a:tc>
                <a:extLst>
                  <a:ext uri="{0D108BD9-81ED-4DB2-BD59-A6C34878D82A}">
                    <a16:rowId xmlns:a16="http://schemas.microsoft.com/office/drawing/2014/main" val="10000"/>
                  </a:ext>
                </a:extLst>
              </a:tr>
            </a:tbl>
          </a:graphicData>
        </a:graphic>
      </p:graphicFrame>
      <p:graphicFrame>
        <p:nvGraphicFramePr>
          <p:cNvPr id="14" name="Tableau 13"/>
          <p:cNvGraphicFramePr>
            <a:graphicFrameLocks noGrp="1"/>
          </p:cNvGraphicFramePr>
          <p:nvPr/>
        </p:nvGraphicFramePr>
        <p:xfrm>
          <a:off x="1259632" y="4837844"/>
          <a:ext cx="5060264" cy="751396"/>
        </p:xfrm>
        <a:graphic>
          <a:graphicData uri="http://schemas.openxmlformats.org/drawingml/2006/table">
            <a:tbl>
              <a:tblPr firstRow="1" bandRow="1">
                <a:tableStyleId>{5C22544A-7EE6-4342-B048-85BDC9FD1C3A}</a:tableStyleId>
              </a:tblPr>
              <a:tblGrid>
                <a:gridCol w="5060264">
                  <a:extLst>
                    <a:ext uri="{9D8B030D-6E8A-4147-A177-3AD203B41FA5}">
                      <a16:colId xmlns:a16="http://schemas.microsoft.com/office/drawing/2014/main" val="20000"/>
                    </a:ext>
                  </a:extLst>
                </a:gridCol>
              </a:tblGrid>
              <a:tr h="751396">
                <a:tc>
                  <a:txBody>
                    <a:bodyPr/>
                    <a:lstStyle/>
                    <a:p>
                      <a:pPr algn="ctr"/>
                      <a:r>
                        <a:rPr lang="fr-BE" dirty="0"/>
                        <a:t>Employeur 1 : 24 mois de travail</a:t>
                      </a:r>
                      <a:endParaRPr lang="en-US" dirty="0"/>
                    </a:p>
                  </a:txBody>
                  <a:tcPr>
                    <a:solidFill>
                      <a:schemeClr val="accent3"/>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9386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sz="3600" b="1" i="1" dirty="0">
                <a:cs typeface="Times New Roman" pitchFamily="18" charset="0"/>
              </a:rPr>
              <a:t>Sélection de l’occupation à temps partiel</a:t>
            </a:r>
            <a:endParaRPr lang="en-US" sz="3600" b="1" i="1"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14</a:t>
            </a:fld>
            <a:endParaRPr lang="fr-FR" dirty="0"/>
          </a:p>
        </p:txBody>
      </p:sp>
      <p:graphicFrame>
        <p:nvGraphicFramePr>
          <p:cNvPr id="7" name="Espace réservé du contenu 6"/>
          <p:cNvGraphicFramePr>
            <a:graphicFrameLocks noGrp="1" noChangeAspect="1"/>
          </p:cNvGraphicFramePr>
          <p:nvPr>
            <p:ph idx="1"/>
          </p:nvPr>
        </p:nvGraphicFramePr>
        <p:xfrm>
          <a:off x="457200" y="2421449"/>
          <a:ext cx="8229600" cy="2331448"/>
        </p:xfrm>
        <a:graphic>
          <a:graphicData uri="http://schemas.openxmlformats.org/drawingml/2006/table">
            <a:tbl>
              <a:tblPr firstRow="1" bandRow="1">
                <a:tableStyleId>{F5AB1C69-6EDB-4FF4-983F-18BD219EF322}</a:tableStyleId>
              </a:tblPr>
              <a:tblGrid>
                <a:gridCol w="1594520">
                  <a:extLst>
                    <a:ext uri="{9D8B030D-6E8A-4147-A177-3AD203B41FA5}">
                      <a16:colId xmlns:a16="http://schemas.microsoft.com/office/drawing/2014/main" val="20000"/>
                    </a:ext>
                  </a:extLst>
                </a:gridCol>
                <a:gridCol w="16973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19768">
                <a:tc>
                  <a:txBody>
                    <a:bodyPr/>
                    <a:lstStyle/>
                    <a:p>
                      <a:pPr algn="ctr"/>
                      <a:r>
                        <a:rPr lang="fr-BE" sz="1400" dirty="0"/>
                        <a:t>Employeur A</a:t>
                      </a:r>
                      <a:endParaRPr lang="en-US" sz="1400" dirty="0"/>
                    </a:p>
                  </a:txBody>
                  <a:tcPr/>
                </a:tc>
                <a:tc>
                  <a:txBody>
                    <a:bodyPr/>
                    <a:lstStyle/>
                    <a:p>
                      <a:pPr algn="ctr"/>
                      <a:r>
                        <a:rPr lang="fr-BE" sz="1400" dirty="0"/>
                        <a:t>Employeur B</a:t>
                      </a:r>
                      <a:endParaRPr lang="en-US" sz="1400" dirty="0"/>
                    </a:p>
                  </a:txBody>
                  <a:tcPr/>
                </a:tc>
                <a:tc>
                  <a:txBody>
                    <a:bodyPr/>
                    <a:lstStyle/>
                    <a:p>
                      <a:pPr algn="ctr"/>
                      <a:r>
                        <a:rPr lang="fr-BE" sz="1400" dirty="0"/>
                        <a:t>Employeur C</a:t>
                      </a:r>
                      <a:endParaRPr lang="en-US" sz="1400" dirty="0"/>
                    </a:p>
                  </a:txBody>
                  <a:tcPr/>
                </a:tc>
                <a:tc>
                  <a:txBody>
                    <a:bodyPr/>
                    <a:lstStyle/>
                    <a:p>
                      <a:pPr algn="ctr"/>
                      <a:r>
                        <a:rPr lang="fr-BE" sz="1400" dirty="0"/>
                        <a:t>Employeur D</a:t>
                      </a:r>
                      <a:endParaRPr lang="en-US" sz="1400" dirty="0"/>
                    </a:p>
                  </a:txBody>
                  <a:tcPr/>
                </a:tc>
                <a:tc>
                  <a:txBody>
                    <a:bodyPr/>
                    <a:lstStyle/>
                    <a:p>
                      <a:pPr algn="ctr"/>
                      <a:r>
                        <a:rPr lang="fr-BE" sz="1400" dirty="0"/>
                        <a:t>DA</a:t>
                      </a:r>
                      <a:endParaRPr lang="en-US" sz="1400" dirty="0"/>
                    </a:p>
                  </a:txBody>
                  <a:tcPr/>
                </a:tc>
                <a:extLst>
                  <a:ext uri="{0D108BD9-81ED-4DB2-BD59-A6C34878D82A}">
                    <a16:rowId xmlns:a16="http://schemas.microsoft.com/office/drawing/2014/main" val="10000"/>
                  </a:ext>
                </a:extLst>
              </a:tr>
              <a:tr h="1809349">
                <a:tc>
                  <a:txBody>
                    <a:bodyPr/>
                    <a:lstStyle/>
                    <a:p>
                      <a:pPr algn="ctr"/>
                      <a:r>
                        <a:rPr lang="fr-BE" sz="1400" dirty="0"/>
                        <a:t>Travail </a:t>
                      </a:r>
                    </a:p>
                    <a:p>
                      <a:pPr algn="ctr"/>
                      <a:r>
                        <a:rPr lang="fr-BE" sz="1400" dirty="0"/>
                        <a:t>du 01/07/19</a:t>
                      </a:r>
                      <a:r>
                        <a:rPr lang="fr-BE" sz="1400" baseline="0" dirty="0"/>
                        <a:t> </a:t>
                      </a:r>
                    </a:p>
                    <a:p>
                      <a:pPr algn="ctr"/>
                      <a:r>
                        <a:rPr lang="fr-BE" sz="1400" baseline="0" dirty="0"/>
                        <a:t>au 30/06/22</a:t>
                      </a:r>
                    </a:p>
                    <a:p>
                      <a:pPr algn="ctr"/>
                      <a:endParaRPr lang="fr-BE" sz="1400" b="1" baseline="0" dirty="0"/>
                    </a:p>
                    <a:p>
                      <a:pPr algn="ctr"/>
                      <a:r>
                        <a:rPr lang="fr-BE" sz="1400" b="1" baseline="0" dirty="0"/>
                        <a:t>24/38</a:t>
                      </a:r>
                      <a:endParaRPr lang="en-US" sz="1400" b="1" dirty="0"/>
                    </a:p>
                  </a:txBody>
                  <a:tcPr>
                    <a:solidFill>
                      <a:schemeClr val="accent3"/>
                    </a:solidFill>
                  </a:tcPr>
                </a:tc>
                <a:tc>
                  <a:txBody>
                    <a:bodyPr/>
                    <a:lstStyle/>
                    <a:p>
                      <a:pPr algn="ctr"/>
                      <a:r>
                        <a:rPr lang="fr-BE" sz="1400" baseline="0" dirty="0"/>
                        <a:t>04/07/22 au 31/07/22</a:t>
                      </a:r>
                    </a:p>
                    <a:p>
                      <a:pPr algn="ctr"/>
                      <a:r>
                        <a:rPr lang="fr-BE" sz="1400" b="1" baseline="0" dirty="0"/>
                        <a:t>17/38</a:t>
                      </a:r>
                    </a:p>
                    <a:p>
                      <a:pPr algn="ctr"/>
                      <a:r>
                        <a:rPr lang="fr-BE" sz="1400" b="0" baseline="0" dirty="0"/>
                        <a:t>01/08/22 au 14/08/22</a:t>
                      </a:r>
                    </a:p>
                    <a:p>
                      <a:pPr algn="ctr"/>
                      <a:r>
                        <a:rPr lang="fr-BE" sz="1400" b="1" baseline="0" dirty="0"/>
                        <a:t>38/38</a:t>
                      </a:r>
                    </a:p>
                    <a:p>
                      <a:pPr algn="ctr"/>
                      <a:r>
                        <a:rPr lang="fr-BE" sz="1400" b="0" baseline="0" dirty="0"/>
                        <a:t>15/08/22 au 11/09/22</a:t>
                      </a:r>
                    </a:p>
                    <a:p>
                      <a:pPr algn="ctr"/>
                      <a:r>
                        <a:rPr lang="fr-BE" sz="1400" b="1" baseline="0" dirty="0"/>
                        <a:t>20/38</a:t>
                      </a:r>
                      <a:endParaRPr lang="en-US" sz="1400" b="1" dirty="0"/>
                    </a:p>
                  </a:txBody>
                  <a:tcPr>
                    <a:solidFill>
                      <a:schemeClr val="accent3"/>
                    </a:solidFill>
                  </a:tcPr>
                </a:tc>
                <a:tc>
                  <a:txBody>
                    <a:bodyPr/>
                    <a:lstStyle/>
                    <a:p>
                      <a:pPr algn="ctr"/>
                      <a:r>
                        <a:rPr lang="fr-BE" sz="1400" dirty="0"/>
                        <a:t>Travail </a:t>
                      </a:r>
                    </a:p>
                    <a:p>
                      <a:pPr algn="ctr"/>
                      <a:r>
                        <a:rPr lang="fr-BE" sz="1400" dirty="0"/>
                        <a:t>Du 12/09/22 </a:t>
                      </a:r>
                    </a:p>
                    <a:p>
                      <a:pPr algn="ctr"/>
                      <a:r>
                        <a:rPr lang="fr-BE" sz="1400" dirty="0"/>
                        <a:t>Au</a:t>
                      </a:r>
                      <a:r>
                        <a:rPr lang="fr-BE" sz="1400" baseline="0" dirty="0"/>
                        <a:t> 15/10/22</a:t>
                      </a:r>
                    </a:p>
                    <a:p>
                      <a:pPr algn="ctr"/>
                      <a:r>
                        <a:rPr lang="fr-BE" sz="1400" b="1" baseline="0" dirty="0"/>
                        <a:t>38/38</a:t>
                      </a:r>
                      <a:endParaRPr lang="en-US" sz="1400" b="1" dirty="0"/>
                    </a:p>
                  </a:txBody>
                  <a:tcPr>
                    <a:solidFill>
                      <a:schemeClr val="accent3"/>
                    </a:solidFill>
                  </a:tcPr>
                </a:tc>
                <a:tc>
                  <a:txBody>
                    <a:bodyPr/>
                    <a:lstStyle/>
                    <a:p>
                      <a:pPr algn="ctr"/>
                      <a:r>
                        <a:rPr lang="fr-BE" sz="1400" dirty="0"/>
                        <a:t>Travail </a:t>
                      </a:r>
                    </a:p>
                    <a:p>
                      <a:pPr algn="ctr"/>
                      <a:r>
                        <a:rPr lang="fr-BE" sz="1400" dirty="0"/>
                        <a:t>Du 17/10/22</a:t>
                      </a:r>
                    </a:p>
                    <a:p>
                      <a:pPr algn="ctr"/>
                      <a:r>
                        <a:rPr lang="fr-BE" sz="1400" dirty="0"/>
                        <a:t>Au 08/11/22</a:t>
                      </a:r>
                    </a:p>
                    <a:p>
                      <a:pPr algn="ctr"/>
                      <a:r>
                        <a:rPr lang="fr-BE" sz="1400" b="1" dirty="0"/>
                        <a:t>15/38</a:t>
                      </a:r>
                      <a:endParaRPr lang="en-US" sz="1400" b="1" dirty="0"/>
                    </a:p>
                  </a:txBody>
                  <a:tcPr>
                    <a:solidFill>
                      <a:schemeClr val="accent3"/>
                    </a:solidFill>
                  </a:tcPr>
                </a:tc>
                <a:tc>
                  <a:txBody>
                    <a:bodyPr/>
                    <a:lstStyle/>
                    <a:p>
                      <a:pPr algn="ctr"/>
                      <a:r>
                        <a:rPr lang="fr-BE" sz="1400" b="1" dirty="0"/>
                        <a:t>09/11/22</a:t>
                      </a:r>
                      <a:endParaRPr lang="en-US" sz="1400" b="1" dirty="0"/>
                    </a:p>
                  </a:txBody>
                  <a:tcPr>
                    <a:solidFill>
                      <a:schemeClr val="accent3"/>
                    </a:solidFill>
                  </a:tcPr>
                </a:tc>
                <a:extLst>
                  <a:ext uri="{0D108BD9-81ED-4DB2-BD59-A6C34878D82A}">
                    <a16:rowId xmlns:a16="http://schemas.microsoft.com/office/drawing/2014/main" val="10001"/>
                  </a:ext>
                </a:extLst>
              </a:tr>
            </a:tbl>
          </a:graphicData>
        </a:graphic>
      </p:graphicFrame>
      <p:sp>
        <p:nvSpPr>
          <p:cNvPr id="8" name="ZoneTexte 7"/>
          <p:cNvSpPr txBox="1"/>
          <p:nvPr/>
        </p:nvSpPr>
        <p:spPr>
          <a:xfrm>
            <a:off x="453883" y="4762425"/>
            <a:ext cx="7214461" cy="2308324"/>
          </a:xfrm>
          <a:prstGeom prst="rect">
            <a:avLst/>
          </a:prstGeom>
          <a:noFill/>
        </p:spPr>
        <p:txBody>
          <a:bodyPr wrap="square" rtlCol="0">
            <a:spAutoFit/>
          </a:bodyPr>
          <a:lstStyle/>
          <a:p>
            <a:r>
              <a:rPr lang="fr-BE" b="1" dirty="0"/>
              <a:t>Sélection de l’employeur      ??</a:t>
            </a:r>
          </a:p>
          <a:p>
            <a:r>
              <a:rPr lang="fr-FR" dirty="0"/>
              <a:t>Durée hebdomadaire moyenne de travail </a:t>
            </a:r>
          </a:p>
          <a:p>
            <a:r>
              <a:rPr lang="fr-FR" dirty="0"/>
              <a:t>Q = </a:t>
            </a:r>
            <a:r>
              <a:rPr lang="fr-FR" u="sng" dirty="0"/>
              <a:t> </a:t>
            </a:r>
          </a:p>
          <a:p>
            <a:r>
              <a:rPr lang="fr-FR" dirty="0"/>
              <a:t>    </a:t>
            </a:r>
          </a:p>
          <a:p>
            <a:r>
              <a:rPr lang="fr-FR" b="1" dirty="0">
                <a:solidFill>
                  <a:schemeClr val="accent2">
                    <a:lumMod val="75000"/>
                  </a:schemeClr>
                </a:solidFill>
                <a:sym typeface="Wingdings" panose="05000000000000000000" pitchFamily="2" charset="2"/>
              </a:rPr>
              <a:t>  SI </a:t>
            </a:r>
            <a:r>
              <a:rPr lang="fr-FR" b="1" dirty="0">
                <a:solidFill>
                  <a:srgbClr val="C00000"/>
                </a:solidFill>
                <a:sym typeface="Wingdings" panose="05000000000000000000" pitchFamily="2" charset="2"/>
              </a:rPr>
              <a:t> </a:t>
            </a:r>
            <a:r>
              <a:rPr lang="fr-FR" b="1" cap="all" dirty="0">
                <a:solidFill>
                  <a:schemeClr val="accent2">
                    <a:lumMod val="75000"/>
                  </a:schemeClr>
                </a:solidFill>
                <a:sym typeface="Wingdings" panose="05000000000000000000" pitchFamily="2" charset="2"/>
              </a:rPr>
              <a:t>A</a:t>
            </a:r>
            <a:r>
              <a:rPr lang="fr-FR" b="1" cap="all" dirty="0">
                <a:solidFill>
                  <a:schemeClr val="accent2">
                    <a:lumMod val="75000"/>
                  </a:schemeClr>
                </a:solidFill>
              </a:rPr>
              <a:t>u moins 12h ou 1/3 temps = On peut poursuivre l’examen de l’admissibilité</a:t>
            </a:r>
            <a:r>
              <a:rPr lang="fr-FR" b="1" cap="all" dirty="0">
                <a:solidFill>
                  <a:srgbClr val="C00000"/>
                </a:solidFill>
              </a:rPr>
              <a:t>. </a:t>
            </a:r>
          </a:p>
          <a:p>
            <a:endParaRPr lang="fr-BE" dirty="0"/>
          </a:p>
          <a:p>
            <a:endParaRPr lang="en-US" dirty="0"/>
          </a:p>
        </p:txBody>
      </p:sp>
      <p:sp>
        <p:nvSpPr>
          <p:cNvPr id="3" name="ZoneTexte 2">
            <a:extLst>
              <a:ext uri="{FF2B5EF4-FFF2-40B4-BE49-F238E27FC236}">
                <a16:creationId xmlns:a16="http://schemas.microsoft.com/office/drawing/2014/main" id="{129F7541-AF03-4D9C-9FF3-065C93AAA900}"/>
              </a:ext>
            </a:extLst>
          </p:cNvPr>
          <p:cNvSpPr txBox="1"/>
          <p:nvPr/>
        </p:nvSpPr>
        <p:spPr>
          <a:xfrm>
            <a:off x="611560" y="1844824"/>
            <a:ext cx="2232248" cy="461665"/>
          </a:xfrm>
          <a:prstGeom prst="rect">
            <a:avLst/>
          </a:prstGeom>
          <a:noFill/>
        </p:spPr>
        <p:txBody>
          <a:bodyPr wrap="square" rtlCol="0">
            <a:spAutoFit/>
          </a:bodyPr>
          <a:lstStyle/>
          <a:p>
            <a:r>
              <a:rPr lang="fr-BE" sz="2400" b="1" u="sng" dirty="0"/>
              <a:t>Enoncé 3</a:t>
            </a:r>
            <a:r>
              <a:rPr lang="fr-BE" sz="2400" b="1" dirty="0"/>
              <a:t>:</a:t>
            </a:r>
            <a:endParaRPr lang="fr-BE" sz="2400" b="1" u="sng" dirty="0"/>
          </a:p>
        </p:txBody>
      </p:sp>
    </p:spTree>
    <p:extLst>
      <p:ext uri="{BB962C8B-B14F-4D97-AF65-F5344CB8AC3E}">
        <p14:creationId xmlns:p14="http://schemas.microsoft.com/office/powerpoint/2010/main" val="258337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3" name="Image 2"/>
          <p:cNvPicPr>
            <a:picLocks noChangeAspect="1"/>
          </p:cNvPicPr>
          <p:nvPr/>
        </p:nvPicPr>
        <p:blipFill>
          <a:blip r:embed="rId2"/>
          <a:stretch>
            <a:fillRect/>
          </a:stretch>
        </p:blipFill>
        <p:spPr>
          <a:xfrm>
            <a:off x="457200" y="1840619"/>
            <a:ext cx="8205927" cy="4698293"/>
          </a:xfrm>
          <a:prstGeom prst="rect">
            <a:avLst/>
          </a:prstGeom>
        </p:spPr>
      </p:pic>
      <p:sp>
        <p:nvSpPr>
          <p:cNvPr id="4" name="ZoneTexte 3"/>
          <p:cNvSpPr txBox="1"/>
          <p:nvPr/>
        </p:nvSpPr>
        <p:spPr>
          <a:xfrm>
            <a:off x="469036" y="404664"/>
            <a:ext cx="8205927" cy="132343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BE" sz="4000" b="1" i="1" dirty="0">
                <a:solidFill>
                  <a:prstClr val="black"/>
                </a:solidFill>
                <a:latin typeface="Calibri"/>
              </a:rPr>
              <a:t>Admission : assouplissements à la règle générale AR 33</a:t>
            </a:r>
            <a:endParaRPr kumimoji="0" lang="fr-BE" sz="4000" b="1" i="1"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86430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3" name="Image 2"/>
          <p:cNvPicPr>
            <a:picLocks noChangeAspect="1"/>
          </p:cNvPicPr>
          <p:nvPr/>
        </p:nvPicPr>
        <p:blipFill>
          <a:blip r:embed="rId2"/>
          <a:stretch>
            <a:fillRect/>
          </a:stretch>
        </p:blipFill>
        <p:spPr>
          <a:xfrm>
            <a:off x="469036" y="1570359"/>
            <a:ext cx="8205927" cy="4968553"/>
          </a:xfrm>
          <a:prstGeom prst="rect">
            <a:avLst/>
          </a:prstGeom>
        </p:spPr>
      </p:pic>
      <p:sp>
        <p:nvSpPr>
          <p:cNvPr id="4" name="ZoneTexte 3"/>
          <p:cNvSpPr txBox="1"/>
          <p:nvPr/>
        </p:nvSpPr>
        <p:spPr>
          <a:xfrm>
            <a:off x="469036" y="188640"/>
            <a:ext cx="8135412" cy="132343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BE" sz="4000" b="1" i="1" dirty="0">
                <a:solidFill>
                  <a:prstClr val="black"/>
                </a:solidFill>
                <a:latin typeface="Calibri"/>
              </a:rPr>
              <a:t>Admission : assouplissements à la règle générale AR 33</a:t>
            </a:r>
            <a:endParaRPr kumimoji="0" lang="fr-BE" sz="4000" b="1" i="1"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4024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algn="r"/>
            <a:r>
              <a:rPr lang="fr-BE" sz="4400" b="1" i="1" dirty="0">
                <a:solidFill>
                  <a:prstClr val="black"/>
                </a:solidFill>
                <a:latin typeface="Calibri"/>
              </a:rPr>
              <a:t>Admission : </a:t>
            </a:r>
            <a:br>
              <a:rPr lang="fr-BE" sz="4400" b="1" i="1" dirty="0">
                <a:solidFill>
                  <a:prstClr val="black"/>
                </a:solidFill>
                <a:latin typeface="Calibri"/>
              </a:rPr>
            </a:br>
            <a:r>
              <a:rPr lang="fr-BE" sz="4400" b="1" i="1" dirty="0">
                <a:solidFill>
                  <a:prstClr val="black"/>
                </a:solidFill>
                <a:latin typeface="Calibri"/>
              </a:rPr>
              <a:t>particularité du travail à l’étranger</a:t>
            </a:r>
            <a:endParaRPr lang="fr-FR" b="1" i="1" dirty="0"/>
          </a:p>
        </p:txBody>
      </p:sp>
      <p:sp>
        <p:nvSpPr>
          <p:cNvPr id="7171" name="Rectangle 3"/>
          <p:cNvSpPr>
            <a:spLocks noGrp="1" noChangeArrowheads="1"/>
          </p:cNvSpPr>
          <p:nvPr>
            <p:ph type="body" idx="1"/>
          </p:nvPr>
        </p:nvSpPr>
        <p:spPr/>
        <p:txBody>
          <a:bodyPr>
            <a:normAutofit fontScale="92500" lnSpcReduction="10000"/>
          </a:bodyPr>
          <a:lstStyle/>
          <a:p>
            <a:pPr marL="0" indent="0">
              <a:buClr>
                <a:schemeClr val="tx1"/>
              </a:buClr>
              <a:buNone/>
            </a:pPr>
            <a:r>
              <a:rPr lang="fr-BE" sz="2800" dirty="0">
                <a:ea typeface="Times New Roman" panose="02020603050405020304" pitchFamily="18" charset="0"/>
              </a:rPr>
              <a:t>Le </a:t>
            </a:r>
            <a:r>
              <a:rPr lang="fr-BE" sz="2800" b="1" u="sng" dirty="0">
                <a:ea typeface="Times New Roman" panose="02020603050405020304" pitchFamily="18" charset="0"/>
              </a:rPr>
              <a:t>travail</a:t>
            </a:r>
            <a:r>
              <a:rPr lang="fr-BE" sz="2800" dirty="0">
                <a:ea typeface="Times New Roman" panose="02020603050405020304" pitchFamily="18" charset="0"/>
              </a:rPr>
              <a:t> effectué à l'étranger et </a:t>
            </a:r>
            <a:r>
              <a:rPr lang="fr-BE" sz="2800" b="1" u="sng" dirty="0">
                <a:ea typeface="Times New Roman" panose="02020603050405020304" pitchFamily="18" charset="0"/>
              </a:rPr>
              <a:t>les journées assimilées </a:t>
            </a:r>
            <a:r>
              <a:rPr lang="fr-BE" sz="2800" dirty="0">
                <a:ea typeface="Times New Roman" panose="02020603050405020304" pitchFamily="18" charset="0"/>
              </a:rPr>
              <a:t>à l’étranger </a:t>
            </a:r>
            <a:r>
              <a:rPr lang="fr-BE" sz="2800" b="1" u="sng" dirty="0">
                <a:ea typeface="Times New Roman" panose="02020603050405020304" pitchFamily="18" charset="0"/>
              </a:rPr>
              <a:t>ne sont pris en considération que dans les limites des conventions bilatérales et internationales</a:t>
            </a:r>
            <a:r>
              <a:rPr lang="fr-BE" sz="2800" dirty="0">
                <a:ea typeface="Times New Roman" panose="02020603050405020304" pitchFamily="18" charset="0"/>
              </a:rPr>
              <a:t>  et pour autant que le travailleur ait, </a:t>
            </a:r>
            <a:r>
              <a:rPr lang="fr-BE" sz="2800" b="1" u="sng" dirty="0">
                <a:ea typeface="Times New Roman" panose="02020603050405020304" pitchFamily="18" charset="0"/>
              </a:rPr>
              <a:t>après le travail effectué à l'étranger</a:t>
            </a:r>
            <a:r>
              <a:rPr lang="fr-BE" sz="2800" dirty="0">
                <a:ea typeface="Times New Roman" panose="02020603050405020304" pitchFamily="18" charset="0"/>
              </a:rPr>
              <a:t>, accompli des périodes de </a:t>
            </a:r>
            <a:r>
              <a:rPr lang="fr-BE" sz="2800" b="1" u="sng" dirty="0">
                <a:ea typeface="Times New Roman" panose="02020603050405020304" pitchFamily="18" charset="0"/>
              </a:rPr>
              <a:t>travail comme salarié selon la réglementation belge, pendant au moins trois mois</a:t>
            </a:r>
            <a:r>
              <a:rPr lang="fr-BE" sz="2800" dirty="0">
                <a:ea typeface="Times New Roman" panose="02020603050405020304" pitchFamily="18" charset="0"/>
              </a:rPr>
              <a:t> </a:t>
            </a:r>
            <a:r>
              <a:rPr lang="fr-BE" sz="2800" dirty="0"/>
              <a:t>(AR 37§2 et 38§2) </a:t>
            </a:r>
          </a:p>
          <a:p>
            <a:pPr marL="0" indent="0">
              <a:buClr>
                <a:schemeClr val="tx1"/>
              </a:buClr>
              <a:buNone/>
            </a:pPr>
            <a:endParaRPr lang="fr-BE" sz="2800" dirty="0"/>
          </a:p>
          <a:p>
            <a:pPr marL="0" indent="0">
              <a:buClr>
                <a:schemeClr val="tx1"/>
              </a:buClr>
              <a:buNone/>
            </a:pPr>
            <a:r>
              <a:rPr lang="fr-BE" sz="2800" dirty="0">
                <a:sym typeface="Wingdings" panose="05000000000000000000" pitchFamily="2" charset="2"/>
              </a:rPr>
              <a:t> 2 conditions: </a:t>
            </a:r>
            <a:r>
              <a:rPr lang="fr-BE" sz="2800" b="1" dirty="0">
                <a:solidFill>
                  <a:srgbClr val="C00000"/>
                </a:solidFill>
                <a:sym typeface="Wingdings" panose="05000000000000000000" pitchFamily="2" charset="2"/>
              </a:rPr>
              <a:t>« être situé dans un pays partie à convention »</a:t>
            </a:r>
            <a:r>
              <a:rPr lang="fr-BE" sz="2800" dirty="0">
                <a:solidFill>
                  <a:srgbClr val="FF0000"/>
                </a:solidFill>
                <a:sym typeface="Wingdings" panose="05000000000000000000" pitchFamily="2" charset="2"/>
              </a:rPr>
              <a:t> </a:t>
            </a:r>
            <a:r>
              <a:rPr lang="fr-BE" sz="2800" dirty="0">
                <a:sym typeface="Wingdings" panose="05000000000000000000" pitchFamily="2" charset="2"/>
              </a:rPr>
              <a:t>et </a:t>
            </a:r>
            <a:r>
              <a:rPr lang="fr-BE" sz="2800" b="1" dirty="0">
                <a:solidFill>
                  <a:srgbClr val="C00000"/>
                </a:solidFill>
                <a:sym typeface="Wingdings" panose="05000000000000000000" pitchFamily="2" charset="2"/>
              </a:rPr>
              <a:t>« suivi d’au moins 3 mois de travail soumis à la réglementation belge ».</a:t>
            </a:r>
            <a:endParaRPr lang="fr-BE" sz="2800" b="1" dirty="0">
              <a:solidFill>
                <a:srgbClr val="C00000"/>
              </a:solidFill>
            </a:endParaRPr>
          </a:p>
          <a:p>
            <a:pPr>
              <a:buClr>
                <a:schemeClr val="tx1"/>
              </a:buClr>
            </a:pPr>
            <a:endParaRPr lang="fr-BE" dirty="0"/>
          </a:p>
          <a:p>
            <a:pPr marL="0" indent="0">
              <a:buNone/>
            </a:pPr>
            <a:endParaRPr lang="fr-FR" sz="28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17</a:t>
            </a:fld>
            <a:endParaRPr lang="fr-FR" dirty="0"/>
          </a:p>
        </p:txBody>
      </p:sp>
    </p:spTree>
    <p:extLst>
      <p:ext uri="{BB962C8B-B14F-4D97-AF65-F5344CB8AC3E}">
        <p14:creationId xmlns:p14="http://schemas.microsoft.com/office/powerpoint/2010/main" val="167193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10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1000"/>
                                        <p:tgtEl>
                                          <p:spTgt spid="7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sz="4400" b="1" i="1" dirty="0">
                <a:solidFill>
                  <a:prstClr val="black"/>
                </a:solidFill>
                <a:latin typeface="Calibri"/>
              </a:rPr>
              <a:t>Admission : </a:t>
            </a:r>
            <a:br>
              <a:rPr lang="fr-BE" sz="4400" b="1" i="1" dirty="0">
                <a:solidFill>
                  <a:prstClr val="black"/>
                </a:solidFill>
                <a:latin typeface="Calibri"/>
              </a:rPr>
            </a:br>
            <a:r>
              <a:rPr lang="fr-BE" sz="4400" b="1" i="1" dirty="0">
                <a:solidFill>
                  <a:prstClr val="black"/>
                </a:solidFill>
                <a:latin typeface="Calibri"/>
              </a:rPr>
              <a:t>particularité du travail à l’étranger</a:t>
            </a:r>
            <a:endParaRPr lang="fr-BE" dirty="0"/>
          </a:p>
        </p:txBody>
      </p:sp>
      <p:sp>
        <p:nvSpPr>
          <p:cNvPr id="3" name="Espace réservé du contenu 2"/>
          <p:cNvSpPr>
            <a:spLocks noGrp="1"/>
          </p:cNvSpPr>
          <p:nvPr>
            <p:ph idx="1"/>
          </p:nvPr>
        </p:nvSpPr>
        <p:spPr>
          <a:xfrm>
            <a:off x="457200" y="1600200"/>
            <a:ext cx="8229600" cy="4983162"/>
          </a:xfrm>
        </p:spPr>
        <p:txBody>
          <a:bodyPr/>
          <a:lstStyle/>
          <a:p>
            <a:pPr>
              <a:buFont typeface="Wingdings" panose="05000000000000000000" pitchFamily="2" charset="2"/>
              <a:buChar char="Ø"/>
            </a:pPr>
            <a:r>
              <a:rPr lang="fr-BE" dirty="0"/>
              <a:t>1</a:t>
            </a:r>
            <a:r>
              <a:rPr lang="fr-BE" baseline="30000" dirty="0"/>
              <a:t>ère</a:t>
            </a:r>
            <a:r>
              <a:rPr lang="fr-BE" dirty="0"/>
              <a:t> condition</a:t>
            </a:r>
            <a:r>
              <a:rPr lang="fr-BE" b="1" dirty="0">
                <a:solidFill>
                  <a:srgbClr val="C00000"/>
                </a:solidFill>
              </a:rPr>
              <a:t>: « être situé dans un  pays partie à convention »</a:t>
            </a:r>
          </a:p>
          <a:p>
            <a:pPr marL="363538" lvl="3" indent="0">
              <a:buNone/>
            </a:pPr>
            <a:endParaRPr lang="fr-BE" dirty="0"/>
          </a:p>
          <a:p>
            <a:pPr>
              <a:buFont typeface="Wingdings" panose="05000000000000000000" pitchFamily="2" charset="2"/>
              <a:buChar char="Ø"/>
            </a:pPr>
            <a:r>
              <a:rPr lang="fr-BE" dirty="0"/>
              <a:t>2</a:t>
            </a:r>
            <a:r>
              <a:rPr lang="fr-BE" baseline="30000" dirty="0"/>
              <a:t>ème</a:t>
            </a:r>
            <a:r>
              <a:rPr lang="fr-BE" dirty="0"/>
              <a:t> condition: </a:t>
            </a:r>
            <a:r>
              <a:rPr lang="fr-BE" b="1" dirty="0">
                <a:solidFill>
                  <a:srgbClr val="C00000"/>
                </a:solidFill>
              </a:rPr>
              <a:t>« suivi d’</a:t>
            </a:r>
            <a:r>
              <a:rPr lang="fr-BE" b="1" u="sng" dirty="0">
                <a:solidFill>
                  <a:srgbClr val="C00000"/>
                </a:solidFill>
              </a:rPr>
              <a:t>au moins</a:t>
            </a:r>
            <a:r>
              <a:rPr lang="fr-BE" b="1" dirty="0">
                <a:solidFill>
                  <a:srgbClr val="C00000"/>
                </a:solidFill>
              </a:rPr>
              <a:t> 3 mois de travail »</a:t>
            </a:r>
          </a:p>
          <a:p>
            <a:pPr marL="0" indent="0">
              <a:buNone/>
            </a:pPr>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18</a:t>
            </a:fld>
            <a:endParaRPr lang="fr-FR" dirty="0"/>
          </a:p>
        </p:txBody>
      </p:sp>
      <p:graphicFrame>
        <p:nvGraphicFramePr>
          <p:cNvPr id="5" name="Tableau 5">
            <a:extLst>
              <a:ext uri="{FF2B5EF4-FFF2-40B4-BE49-F238E27FC236}">
                <a16:creationId xmlns:a16="http://schemas.microsoft.com/office/drawing/2014/main" id="{7A6A306B-7E03-4FA6-AEC6-BC9EDF8823CC}"/>
              </a:ext>
            </a:extLst>
          </p:cNvPr>
          <p:cNvGraphicFramePr>
            <a:graphicFrameLocks noGrp="1"/>
          </p:cNvGraphicFramePr>
          <p:nvPr/>
        </p:nvGraphicFramePr>
        <p:xfrm>
          <a:off x="647564" y="4436110"/>
          <a:ext cx="7848872" cy="1920240"/>
        </p:xfrm>
        <a:graphic>
          <a:graphicData uri="http://schemas.openxmlformats.org/drawingml/2006/table">
            <a:tbl>
              <a:tblPr firstRow="1" bandRow="1">
                <a:tableStyleId>{F5AB1C69-6EDB-4FF4-983F-18BD219EF322}</a:tableStyleId>
              </a:tblPr>
              <a:tblGrid>
                <a:gridCol w="5400600">
                  <a:extLst>
                    <a:ext uri="{9D8B030D-6E8A-4147-A177-3AD203B41FA5}">
                      <a16:colId xmlns:a16="http://schemas.microsoft.com/office/drawing/2014/main" val="3990804621"/>
                    </a:ext>
                  </a:extLst>
                </a:gridCol>
                <a:gridCol w="2448272">
                  <a:extLst>
                    <a:ext uri="{9D8B030D-6E8A-4147-A177-3AD203B41FA5}">
                      <a16:colId xmlns:a16="http://schemas.microsoft.com/office/drawing/2014/main" val="1902536583"/>
                    </a:ext>
                  </a:extLst>
                </a:gridCol>
              </a:tblGrid>
              <a:tr h="594624">
                <a:tc>
                  <a:txBody>
                    <a:bodyPr/>
                    <a:lstStyle/>
                    <a:p>
                      <a:pPr algn="ctr"/>
                      <a:r>
                        <a:rPr lang="fr-BE" sz="2000" dirty="0">
                          <a:solidFill>
                            <a:schemeClr val="tx1"/>
                          </a:solidFill>
                        </a:rPr>
                        <a:t>Dans quel pays?</a:t>
                      </a:r>
                    </a:p>
                  </a:txBody>
                  <a:tcPr/>
                </a:tc>
                <a:tc>
                  <a:txBody>
                    <a:bodyPr/>
                    <a:lstStyle/>
                    <a:p>
                      <a:pPr algn="ctr"/>
                      <a:r>
                        <a:rPr lang="fr-BE" b="1" dirty="0">
                          <a:solidFill>
                            <a:schemeClr val="tx1"/>
                          </a:solidFill>
                        </a:rPr>
                        <a:t>Durée d’occupation requise en Belgique</a:t>
                      </a:r>
                    </a:p>
                  </a:txBody>
                  <a:tcPr/>
                </a:tc>
                <a:extLst>
                  <a:ext uri="{0D108BD9-81ED-4DB2-BD59-A6C34878D82A}">
                    <a16:rowId xmlns:a16="http://schemas.microsoft.com/office/drawing/2014/main" val="3287840544"/>
                  </a:ext>
                </a:extLst>
              </a:tr>
              <a:tr h="594624">
                <a:tc>
                  <a:txBody>
                    <a:bodyPr/>
                    <a:lstStyle/>
                    <a:p>
                      <a:r>
                        <a:rPr lang="fr-BE" dirty="0"/>
                        <a:t>UE, ROYAUME UNI, ISLANDE, LIECHTENSTEIN, NORVÈGE, SUISSE, ALGERIE, TURQUIE, MAROC</a:t>
                      </a:r>
                    </a:p>
                  </a:txBody>
                  <a:tcPr/>
                </a:tc>
                <a:tc>
                  <a:txBody>
                    <a:bodyPr/>
                    <a:lstStyle/>
                    <a:p>
                      <a:pPr algn="ctr"/>
                      <a:r>
                        <a:rPr lang="fr-BE" sz="2400" b="1" dirty="0"/>
                        <a:t>3 MOIS</a:t>
                      </a:r>
                    </a:p>
                  </a:txBody>
                  <a:tcPr/>
                </a:tc>
                <a:extLst>
                  <a:ext uri="{0D108BD9-81ED-4DB2-BD59-A6C34878D82A}">
                    <a16:rowId xmlns:a16="http://schemas.microsoft.com/office/drawing/2014/main" val="1581089106"/>
                  </a:ext>
                </a:extLst>
              </a:tr>
              <a:tr h="594624">
                <a:tc>
                  <a:txBody>
                    <a:bodyPr/>
                    <a:lstStyle/>
                    <a:p>
                      <a:r>
                        <a:rPr lang="fr-BE" dirty="0"/>
                        <a:t>TUNISIE, BOSNIE-HERZÉGOVINE, ARY DE MACEDOINE, MONTENEGRO</a:t>
                      </a:r>
                    </a:p>
                  </a:txBody>
                  <a:tcPr/>
                </a:tc>
                <a:tc>
                  <a:txBody>
                    <a:bodyPr/>
                    <a:lstStyle/>
                    <a:p>
                      <a:pPr algn="ctr"/>
                      <a:r>
                        <a:rPr lang="fr-BE" sz="2400" b="1" dirty="0"/>
                        <a:t>6 MOIS</a:t>
                      </a:r>
                    </a:p>
                  </a:txBody>
                  <a:tcPr/>
                </a:tc>
                <a:extLst>
                  <a:ext uri="{0D108BD9-81ED-4DB2-BD59-A6C34878D82A}">
                    <a16:rowId xmlns:a16="http://schemas.microsoft.com/office/drawing/2014/main" val="405646686"/>
                  </a:ext>
                </a:extLst>
              </a:tr>
            </a:tbl>
          </a:graphicData>
        </a:graphic>
      </p:graphicFrame>
    </p:spTree>
    <p:extLst>
      <p:ext uri="{BB962C8B-B14F-4D97-AF65-F5344CB8AC3E}">
        <p14:creationId xmlns:p14="http://schemas.microsoft.com/office/powerpoint/2010/main" val="112893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fontScale="90000"/>
          </a:bodyPr>
          <a:lstStyle/>
          <a:p>
            <a:pPr algn="r"/>
            <a:r>
              <a:rPr lang="fr-BE" sz="4400" b="1" i="1" dirty="0">
                <a:solidFill>
                  <a:prstClr val="black"/>
                </a:solidFill>
                <a:latin typeface="Calibri"/>
              </a:rPr>
              <a:t>Admission : </a:t>
            </a:r>
            <a:br>
              <a:rPr lang="fr-BE" sz="4400" b="1" i="1" dirty="0">
                <a:solidFill>
                  <a:prstClr val="black"/>
                </a:solidFill>
                <a:latin typeface="Calibri"/>
              </a:rPr>
            </a:br>
            <a:r>
              <a:rPr lang="fr-BE" sz="4400" b="1" i="1" dirty="0">
                <a:solidFill>
                  <a:prstClr val="black"/>
                </a:solidFill>
                <a:latin typeface="Calibri"/>
              </a:rPr>
              <a:t>particularité du travail à l’étranger</a:t>
            </a:r>
            <a:endParaRPr lang="en-GB" b="1" i="1" dirty="0"/>
          </a:p>
        </p:txBody>
      </p:sp>
      <p:sp>
        <p:nvSpPr>
          <p:cNvPr id="65539" name="Rectangle 3"/>
          <p:cNvSpPr>
            <a:spLocks noGrp="1" noChangeArrowheads="1"/>
          </p:cNvSpPr>
          <p:nvPr>
            <p:ph type="body" idx="1"/>
          </p:nvPr>
        </p:nvSpPr>
        <p:spPr/>
        <p:txBody>
          <a:bodyPr>
            <a:normAutofit lnSpcReduction="10000"/>
          </a:bodyPr>
          <a:lstStyle/>
          <a:p>
            <a:pPr marL="0" indent="0">
              <a:buClr>
                <a:schemeClr val="tx1"/>
              </a:buClr>
              <a:buNone/>
            </a:pPr>
            <a:r>
              <a:rPr lang="fr-BE" i="1" u="sng" dirty="0"/>
              <a:t>Si le </a:t>
            </a:r>
            <a:r>
              <a:rPr lang="fr-BE" b="1" i="1" u="sng" dirty="0"/>
              <a:t>travail à l’étranger ne peut pas être pris en compte</a:t>
            </a:r>
            <a:r>
              <a:rPr lang="fr-BE" i="1" u="sng" dirty="0"/>
              <a:t> pour une admissibilité :</a:t>
            </a:r>
          </a:p>
          <a:p>
            <a:pPr indent="11113">
              <a:buClr>
                <a:schemeClr val="tx1"/>
              </a:buClr>
              <a:buFont typeface="Wingdings" pitchFamily="2" charset="2"/>
              <a:buNone/>
            </a:pPr>
            <a:r>
              <a:rPr lang="fr-BE" dirty="0"/>
              <a:t>Le considérer comme du </a:t>
            </a:r>
            <a:r>
              <a:rPr lang="fr-BE" b="1" dirty="0">
                <a:solidFill>
                  <a:srgbClr val="C00000"/>
                </a:solidFill>
              </a:rPr>
              <a:t>travail sans ONSS secteur chômage</a:t>
            </a:r>
            <a:r>
              <a:rPr lang="fr-BE" dirty="0"/>
              <a:t> </a:t>
            </a:r>
            <a:r>
              <a:rPr lang="fr-BE" dirty="0">
                <a:solidFill>
                  <a:srgbClr val="C00000"/>
                </a:solidFill>
              </a:rPr>
              <a:t>:</a:t>
            </a:r>
          </a:p>
          <a:p>
            <a:pPr indent="11113">
              <a:buClr>
                <a:schemeClr val="tx1"/>
              </a:buClr>
              <a:buFont typeface="Wingdings" pitchFamily="2" charset="2"/>
              <a:buNone/>
            </a:pPr>
            <a:endParaRPr lang="fr-BE" dirty="0"/>
          </a:p>
          <a:p>
            <a:pPr>
              <a:buClr>
                <a:schemeClr val="tx1"/>
              </a:buClr>
              <a:buFont typeface="Wingdings" panose="05000000000000000000" pitchFamily="2" charset="2"/>
              <a:buChar char="è"/>
            </a:pPr>
            <a:r>
              <a:rPr lang="fr-BE" dirty="0">
                <a:sym typeface="Wingdings" pitchFamily="2" charset="2"/>
              </a:rPr>
              <a:t> permet de prolonger la période de référence </a:t>
            </a:r>
            <a:r>
              <a:rPr lang="fr-BE" sz="2800" dirty="0">
                <a:sym typeface="Wingdings" pitchFamily="2" charset="2"/>
              </a:rPr>
              <a:t>(AR 30 et AR 42),</a:t>
            </a:r>
          </a:p>
          <a:p>
            <a:pPr>
              <a:buClr>
                <a:schemeClr val="tx1"/>
              </a:buClr>
              <a:buFont typeface="Wingdings" panose="05000000000000000000" pitchFamily="2" charset="2"/>
              <a:buChar char="è"/>
            </a:pPr>
            <a:r>
              <a:rPr lang="fr-BE" dirty="0">
                <a:sym typeface="Wingdings" pitchFamily="2" charset="2"/>
              </a:rPr>
              <a:t> permet de prolonger les périodes d’indemnisation </a:t>
            </a:r>
            <a:r>
              <a:rPr lang="fr-BE" sz="2800" dirty="0">
                <a:sym typeface="Wingdings" pitchFamily="2" charset="2"/>
              </a:rPr>
              <a:t>(AR 116§2).</a:t>
            </a:r>
            <a:endParaRPr lang="fr-BE" sz="2800" dirty="0"/>
          </a:p>
          <a:p>
            <a:pPr>
              <a:buClr>
                <a:schemeClr val="tx1"/>
              </a:buClr>
              <a:buFont typeface="Wingdings" pitchFamily="2" charset="2"/>
              <a:buChar char="ü"/>
            </a:pPr>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19</a:t>
            </a:fld>
            <a:endParaRPr lang="fr-FR" dirty="0"/>
          </a:p>
        </p:txBody>
      </p:sp>
    </p:spTree>
    <p:extLst>
      <p:ext uri="{BB962C8B-B14F-4D97-AF65-F5344CB8AC3E}">
        <p14:creationId xmlns:p14="http://schemas.microsoft.com/office/powerpoint/2010/main" val="62898228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fade">
                                      <p:cBhvr>
                                        <p:cTn id="7" dur="10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fade">
                                      <p:cBhvr>
                                        <p:cTn id="12" dur="1000"/>
                                        <p:tgtEl>
                                          <p:spTgt spid="65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539">
                                            <p:txEl>
                                              <p:pRg st="3" end="3"/>
                                            </p:txEl>
                                          </p:spTgt>
                                        </p:tgtEl>
                                        <p:attrNameLst>
                                          <p:attrName>style.visibility</p:attrName>
                                        </p:attrNameLst>
                                      </p:cBhvr>
                                      <p:to>
                                        <p:strVal val="visible"/>
                                      </p:to>
                                    </p:set>
                                    <p:animEffect transition="in" filter="fade">
                                      <p:cBhvr>
                                        <p:cTn id="17" dur="1000"/>
                                        <p:tgtEl>
                                          <p:spTgt spid="655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5539">
                                            <p:txEl>
                                              <p:pRg st="4" end="4"/>
                                            </p:txEl>
                                          </p:spTgt>
                                        </p:tgtEl>
                                        <p:attrNameLst>
                                          <p:attrName>style.visibility</p:attrName>
                                        </p:attrNameLst>
                                      </p:cBhvr>
                                      <p:to>
                                        <p:strVal val="visible"/>
                                      </p:to>
                                    </p:set>
                                    <p:animEffect transition="in" filter="fade">
                                      <p:cBhvr>
                                        <p:cTn id="22" dur="1000"/>
                                        <p:tgtEl>
                                          <p:spTgt spid="655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2"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algn="r"/>
            <a:r>
              <a:rPr lang="fr-BE" sz="4400" b="1" i="1" dirty="0">
                <a:solidFill>
                  <a:prstClr val="black"/>
                </a:solidFill>
                <a:latin typeface="Calibri"/>
              </a:rPr>
              <a:t>Admission : </a:t>
            </a:r>
            <a:br>
              <a:rPr lang="fr-BE" sz="4400" b="1" i="1" dirty="0">
                <a:solidFill>
                  <a:prstClr val="black"/>
                </a:solidFill>
                <a:latin typeface="Calibri"/>
              </a:rPr>
            </a:br>
            <a:r>
              <a:rPr lang="fr-BE" sz="4400" b="1" i="1" dirty="0">
                <a:solidFill>
                  <a:prstClr val="black"/>
                </a:solidFill>
                <a:latin typeface="Calibri"/>
              </a:rPr>
              <a:t>régularisation ONSS</a:t>
            </a:r>
            <a:endParaRPr lang="fr-FR" b="1" i="1" dirty="0"/>
          </a:p>
        </p:txBody>
      </p:sp>
      <p:sp>
        <p:nvSpPr>
          <p:cNvPr id="7171" name="Rectangle 3"/>
          <p:cNvSpPr>
            <a:spLocks noGrp="1" noChangeArrowheads="1"/>
          </p:cNvSpPr>
          <p:nvPr>
            <p:ph type="body" idx="1"/>
          </p:nvPr>
        </p:nvSpPr>
        <p:spPr/>
        <p:txBody>
          <a:bodyPr>
            <a:normAutofit/>
          </a:bodyPr>
          <a:lstStyle/>
          <a:p>
            <a:pPr marL="0" indent="0">
              <a:buClr>
                <a:schemeClr val="tx1"/>
              </a:buClr>
              <a:buNone/>
            </a:pPr>
            <a:r>
              <a:rPr lang="fr-BE" i="1" u="sng" dirty="0"/>
              <a:t>Peuvent être prise en considération </a:t>
            </a:r>
            <a:r>
              <a:rPr lang="fr-BE" i="1" dirty="0"/>
              <a:t>: </a:t>
            </a:r>
          </a:p>
          <a:p>
            <a:pPr marL="0" indent="0">
              <a:buClr>
                <a:schemeClr val="tx1"/>
              </a:buClr>
              <a:buNone/>
            </a:pPr>
            <a:r>
              <a:rPr lang="fr-BE" i="1" dirty="0"/>
              <a:t>périodes de travail en Belgique non assujetties à la sécurité sociale (cf. le personnel statutaire des pouvoirs publics et personnel enseignant nommé) s'il y a régularisation ONSS à l'issue de l'occupation.</a:t>
            </a:r>
            <a:endParaRPr lang="fr-BE" dirty="0"/>
          </a:p>
          <a:p>
            <a:pPr marL="0" indent="0">
              <a:buNone/>
            </a:pPr>
            <a:endParaRPr lang="fr-FR" sz="28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20</a:t>
            </a:fld>
            <a:endParaRPr lang="fr-FR" dirty="0"/>
          </a:p>
        </p:txBody>
      </p:sp>
    </p:spTree>
    <p:extLst>
      <p:ext uri="{BB962C8B-B14F-4D97-AF65-F5344CB8AC3E}">
        <p14:creationId xmlns:p14="http://schemas.microsoft.com/office/powerpoint/2010/main" val="243653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AC0942-69F1-48E8-9E53-A7EFA1D98184}"/>
              </a:ext>
            </a:extLst>
          </p:cNvPr>
          <p:cNvSpPr>
            <a:spLocks noGrp="1"/>
          </p:cNvSpPr>
          <p:nvPr>
            <p:ph type="title"/>
          </p:nvPr>
        </p:nvSpPr>
        <p:spPr/>
        <p:txBody>
          <a:bodyPr>
            <a:normAutofit/>
          </a:bodyPr>
          <a:lstStyle/>
          <a:p>
            <a:pPr algn="r"/>
            <a:r>
              <a:rPr lang="fr-BE" sz="4000" b="1" i="1" dirty="0"/>
              <a:t>Calcul du code chiffré</a:t>
            </a:r>
            <a:endParaRPr lang="fr-BE" sz="4000" dirty="0"/>
          </a:p>
        </p:txBody>
      </p:sp>
      <p:sp>
        <p:nvSpPr>
          <p:cNvPr id="3" name="Espace réservé du contenu 2">
            <a:extLst>
              <a:ext uri="{FF2B5EF4-FFF2-40B4-BE49-F238E27FC236}">
                <a16:creationId xmlns:a16="http://schemas.microsoft.com/office/drawing/2014/main" id="{67E40008-DBE0-4230-9ED9-DF8B0FD5490C}"/>
              </a:ext>
            </a:extLst>
          </p:cNvPr>
          <p:cNvSpPr>
            <a:spLocks noGrp="1"/>
          </p:cNvSpPr>
          <p:nvPr>
            <p:ph idx="1"/>
          </p:nvPr>
        </p:nvSpPr>
        <p:spPr/>
        <p:txBody>
          <a:bodyPr>
            <a:normAutofit lnSpcReduction="10000"/>
          </a:bodyPr>
          <a:lstStyle/>
          <a:p>
            <a:pPr marL="0" indent="0">
              <a:buNone/>
            </a:pPr>
            <a:r>
              <a:rPr lang="fr-BE" dirty="0"/>
              <a:t>Code chiffré ?</a:t>
            </a:r>
          </a:p>
          <a:p>
            <a:r>
              <a:rPr lang="fr-BE" dirty="0"/>
              <a:t>On tient compte de la rémunération moyenne perçue au cours de la </a:t>
            </a:r>
            <a:r>
              <a:rPr lang="fr-BE" b="1" dirty="0">
                <a:solidFill>
                  <a:schemeClr val="accent2">
                    <a:lumMod val="75000"/>
                  </a:schemeClr>
                </a:solidFill>
              </a:rPr>
              <a:t>dernière période ininterrompue d’au moins 4 semaines </a:t>
            </a:r>
            <a:r>
              <a:rPr lang="fr-BE" dirty="0"/>
              <a:t>d’occupation auprès du même employeur,</a:t>
            </a:r>
          </a:p>
          <a:p>
            <a:r>
              <a:rPr lang="fr-BE" b="1" dirty="0">
                <a:solidFill>
                  <a:schemeClr val="accent2">
                    <a:lumMod val="75000"/>
                  </a:schemeClr>
                </a:solidFill>
              </a:rPr>
              <a:t>A défaut </a:t>
            </a:r>
            <a:r>
              <a:rPr lang="fr-BE" dirty="0"/>
              <a:t>d’une occupation ininterrompue d’au moins 4 semaines chez le même employeur, le code chiffré est </a:t>
            </a:r>
            <a:r>
              <a:rPr lang="fr-BE" b="1" dirty="0"/>
              <a:t>calculé sur base du salaire de référence.</a:t>
            </a:r>
            <a:endParaRPr lang="en-US" b="1" dirty="0"/>
          </a:p>
          <a:p>
            <a:endParaRPr lang="fr-BE" dirty="0"/>
          </a:p>
        </p:txBody>
      </p:sp>
      <p:sp>
        <p:nvSpPr>
          <p:cNvPr id="4" name="Espace réservé du numéro de diapositive 3">
            <a:extLst>
              <a:ext uri="{FF2B5EF4-FFF2-40B4-BE49-F238E27FC236}">
                <a16:creationId xmlns:a16="http://schemas.microsoft.com/office/drawing/2014/main" id="{8D5EF029-5264-4386-88AA-58651F93920C}"/>
              </a:ext>
            </a:extLst>
          </p:cNvPr>
          <p:cNvSpPr>
            <a:spLocks noGrp="1"/>
          </p:cNvSpPr>
          <p:nvPr>
            <p:ph type="sldNum" sz="quarter" idx="12"/>
          </p:nvPr>
        </p:nvSpPr>
        <p:spPr/>
        <p:txBody>
          <a:bodyPr/>
          <a:lstStyle/>
          <a:p>
            <a:fld id="{55E9056B-6A30-4F99-BDE9-C450E66AE125}" type="slidenum">
              <a:rPr lang="fr-FR" smtClean="0"/>
              <a:pPr/>
              <a:t>21</a:t>
            </a:fld>
            <a:endParaRPr lang="fr-FR" dirty="0"/>
          </a:p>
        </p:txBody>
      </p:sp>
    </p:spTree>
    <p:extLst>
      <p:ext uri="{BB962C8B-B14F-4D97-AF65-F5344CB8AC3E}">
        <p14:creationId xmlns:p14="http://schemas.microsoft.com/office/powerpoint/2010/main" val="105327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AC0942-69F1-48E8-9E53-A7EFA1D98184}"/>
              </a:ext>
            </a:extLst>
          </p:cNvPr>
          <p:cNvSpPr>
            <a:spLocks noGrp="1"/>
          </p:cNvSpPr>
          <p:nvPr>
            <p:ph type="title"/>
          </p:nvPr>
        </p:nvSpPr>
        <p:spPr/>
        <p:txBody>
          <a:bodyPr/>
          <a:lstStyle/>
          <a:p>
            <a:pPr algn="r"/>
            <a:r>
              <a:rPr lang="fr-BE" sz="4400" b="1" i="1" dirty="0"/>
              <a:t>Calcul du code chiffré</a:t>
            </a:r>
            <a:endParaRPr lang="fr-BE" dirty="0"/>
          </a:p>
        </p:txBody>
      </p:sp>
      <p:sp>
        <p:nvSpPr>
          <p:cNvPr id="3" name="Espace réservé du contenu 2">
            <a:extLst>
              <a:ext uri="{FF2B5EF4-FFF2-40B4-BE49-F238E27FC236}">
                <a16:creationId xmlns:a16="http://schemas.microsoft.com/office/drawing/2014/main" id="{67E40008-DBE0-4230-9ED9-DF8B0FD5490C}"/>
              </a:ext>
            </a:extLst>
          </p:cNvPr>
          <p:cNvSpPr>
            <a:spLocks noGrp="1"/>
          </p:cNvSpPr>
          <p:nvPr>
            <p:ph idx="1"/>
          </p:nvPr>
        </p:nvSpPr>
        <p:spPr>
          <a:xfrm>
            <a:off x="457200" y="1600200"/>
            <a:ext cx="8229600" cy="4983162"/>
          </a:xfrm>
        </p:spPr>
        <p:txBody>
          <a:bodyPr>
            <a:normAutofit fontScale="25000" lnSpcReduction="20000"/>
          </a:bodyPr>
          <a:lstStyle/>
          <a:p>
            <a:pPr>
              <a:buFont typeface="Wingdings" pitchFamily="2" charset="2"/>
              <a:buChar char="§"/>
            </a:pPr>
            <a:r>
              <a:rPr lang="fr-BE" sz="11200" b="1" dirty="0"/>
              <a:t>Si salaire horaire :</a:t>
            </a:r>
            <a:endParaRPr lang="fr-BE" sz="11200" dirty="0"/>
          </a:p>
          <a:p>
            <a:pPr lvl="1">
              <a:buNone/>
            </a:pPr>
            <a:r>
              <a:rPr lang="fr-BE" sz="11200" dirty="0"/>
              <a:t>Salaire journalier moyen  </a:t>
            </a:r>
            <a:r>
              <a:rPr lang="fr-BE" sz="11200" dirty="0">
                <a:solidFill>
                  <a:schemeClr val="accent2">
                    <a:lumMod val="75000"/>
                  </a:schemeClr>
                </a:solidFill>
              </a:rPr>
              <a:t>=  </a:t>
            </a:r>
            <a:r>
              <a:rPr lang="fr-BE" sz="11200" b="1" u="sng" dirty="0">
                <a:solidFill>
                  <a:schemeClr val="accent2">
                    <a:lumMod val="75000"/>
                  </a:schemeClr>
                </a:solidFill>
              </a:rPr>
              <a:t>Salaire horaire x S</a:t>
            </a:r>
            <a:r>
              <a:rPr lang="fr-BE" sz="11200" b="1" dirty="0">
                <a:solidFill>
                  <a:schemeClr val="accent2">
                    <a:lumMod val="75000"/>
                  </a:schemeClr>
                </a:solidFill>
              </a:rPr>
              <a:t>	</a:t>
            </a:r>
          </a:p>
          <a:p>
            <a:pPr lvl="4">
              <a:buNone/>
            </a:pPr>
            <a:r>
              <a:rPr lang="fr-BE" sz="11200" b="1" dirty="0">
                <a:solidFill>
                  <a:schemeClr val="accent2">
                    <a:lumMod val="75000"/>
                  </a:schemeClr>
                </a:solidFill>
              </a:rPr>
              <a:t>    	                                    6</a:t>
            </a:r>
          </a:p>
          <a:p>
            <a:pPr lvl="4">
              <a:buNone/>
            </a:pPr>
            <a:endParaRPr lang="fr-BE" sz="5600" dirty="0"/>
          </a:p>
          <a:p>
            <a:pPr>
              <a:buFont typeface="Wingdings" pitchFamily="2" charset="2"/>
              <a:buChar char="§"/>
            </a:pPr>
            <a:r>
              <a:rPr lang="fr-BE" sz="11200" b="1" dirty="0"/>
              <a:t>Si salaire mensuel</a:t>
            </a:r>
            <a:r>
              <a:rPr lang="fr-BE" sz="11200" dirty="0"/>
              <a:t>:</a:t>
            </a:r>
          </a:p>
          <a:p>
            <a:pPr>
              <a:buNone/>
            </a:pPr>
            <a:r>
              <a:rPr lang="fr-BE" sz="11200" dirty="0"/>
              <a:t>   </a:t>
            </a:r>
            <a:r>
              <a:rPr lang="fr-BE" sz="11200" i="1" u="sng" dirty="0"/>
              <a:t>Première étape </a:t>
            </a:r>
            <a:r>
              <a:rPr lang="fr-BE" sz="11200" dirty="0"/>
              <a:t>:  </a:t>
            </a:r>
          </a:p>
          <a:p>
            <a:pPr>
              <a:buNone/>
            </a:pPr>
            <a:r>
              <a:rPr lang="fr-BE" sz="11200" dirty="0"/>
              <a:t>	</a:t>
            </a:r>
            <a:r>
              <a:rPr lang="fr-BE" sz="9600" dirty="0"/>
              <a:t>Salaire horaire moyen = </a:t>
            </a:r>
          </a:p>
          <a:p>
            <a:pPr algn="ctr">
              <a:buNone/>
            </a:pPr>
            <a:r>
              <a:rPr lang="fr-BE" sz="9600" b="1" dirty="0">
                <a:solidFill>
                  <a:schemeClr val="accent2">
                    <a:lumMod val="75000"/>
                  </a:schemeClr>
                </a:solidFill>
              </a:rPr>
              <a:t>  </a:t>
            </a:r>
            <a:r>
              <a:rPr lang="fr-BE" sz="11200" b="1" u="sng" dirty="0">
                <a:solidFill>
                  <a:schemeClr val="accent2">
                    <a:lumMod val="75000"/>
                  </a:schemeClr>
                </a:solidFill>
              </a:rPr>
              <a:t>salaire mensuel x 3</a:t>
            </a:r>
            <a:endParaRPr lang="fr-BE" sz="11200" b="1" dirty="0">
              <a:solidFill>
                <a:schemeClr val="accent2">
                  <a:lumMod val="75000"/>
                </a:schemeClr>
              </a:solidFill>
            </a:endParaRPr>
          </a:p>
          <a:p>
            <a:pPr algn="ctr">
              <a:buNone/>
            </a:pPr>
            <a:r>
              <a:rPr lang="fr-BE" sz="11200" b="1" dirty="0">
                <a:solidFill>
                  <a:schemeClr val="accent2">
                    <a:lumMod val="75000"/>
                  </a:schemeClr>
                </a:solidFill>
              </a:rPr>
              <a:t> 13 x Q</a:t>
            </a:r>
            <a:endParaRPr lang="fr-BE" sz="11200" b="1" u="sng" dirty="0">
              <a:solidFill>
                <a:schemeClr val="accent2">
                  <a:lumMod val="75000"/>
                </a:schemeClr>
              </a:solidFill>
            </a:endParaRPr>
          </a:p>
          <a:p>
            <a:pPr>
              <a:buNone/>
            </a:pPr>
            <a:r>
              <a:rPr lang="fr-BE" sz="11200" dirty="0"/>
              <a:t> </a:t>
            </a:r>
            <a:r>
              <a:rPr lang="fr-BE" sz="11200" i="1" u="sng" dirty="0"/>
              <a:t>Deuxième étape </a:t>
            </a:r>
            <a:r>
              <a:rPr lang="fr-BE" sz="11200" dirty="0"/>
              <a:t>:   </a:t>
            </a:r>
          </a:p>
          <a:p>
            <a:pPr>
              <a:buNone/>
            </a:pPr>
            <a:r>
              <a:rPr lang="fr-BE" sz="11200" dirty="0"/>
              <a:t>	Salaire journalier moyen = </a:t>
            </a:r>
            <a:r>
              <a:rPr lang="fr-BE" sz="11200" b="1" u="sng" dirty="0">
                <a:solidFill>
                  <a:schemeClr val="accent2">
                    <a:lumMod val="75000"/>
                  </a:schemeClr>
                </a:solidFill>
              </a:rPr>
              <a:t>Salaire horaire x S </a:t>
            </a:r>
          </a:p>
          <a:p>
            <a:pPr>
              <a:buNone/>
            </a:pPr>
            <a:r>
              <a:rPr lang="fr-BE" sz="11200" b="1" dirty="0">
                <a:solidFill>
                  <a:schemeClr val="accent2">
                    <a:lumMod val="75000"/>
                  </a:schemeClr>
                </a:solidFill>
              </a:rPr>
              <a:t>			                                  	6           </a:t>
            </a:r>
            <a:r>
              <a:rPr lang="fr-BE" sz="8800" b="1" dirty="0">
                <a:solidFill>
                  <a:srgbClr val="C00000"/>
                </a:solidFill>
              </a:rPr>
              <a:t>	</a:t>
            </a:r>
          </a:p>
          <a:p>
            <a:endParaRPr lang="fr-BE" dirty="0"/>
          </a:p>
        </p:txBody>
      </p:sp>
      <p:sp>
        <p:nvSpPr>
          <p:cNvPr id="4" name="Espace réservé du numéro de diapositive 3">
            <a:extLst>
              <a:ext uri="{FF2B5EF4-FFF2-40B4-BE49-F238E27FC236}">
                <a16:creationId xmlns:a16="http://schemas.microsoft.com/office/drawing/2014/main" id="{8D5EF029-5264-4386-88AA-58651F93920C}"/>
              </a:ext>
            </a:extLst>
          </p:cNvPr>
          <p:cNvSpPr>
            <a:spLocks noGrp="1"/>
          </p:cNvSpPr>
          <p:nvPr>
            <p:ph type="sldNum" sz="quarter" idx="12"/>
          </p:nvPr>
        </p:nvSpPr>
        <p:spPr/>
        <p:txBody>
          <a:bodyPr/>
          <a:lstStyle/>
          <a:p>
            <a:fld id="{55E9056B-6A30-4F99-BDE9-C450E66AE125}" type="slidenum">
              <a:rPr lang="fr-FR" smtClean="0"/>
              <a:pPr/>
              <a:t>22</a:t>
            </a:fld>
            <a:endParaRPr lang="fr-FR" dirty="0"/>
          </a:p>
        </p:txBody>
      </p:sp>
    </p:spTree>
    <p:extLst>
      <p:ext uri="{BB962C8B-B14F-4D97-AF65-F5344CB8AC3E}">
        <p14:creationId xmlns:p14="http://schemas.microsoft.com/office/powerpoint/2010/main" val="3032764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280197-D59B-4944-A1D1-0FC3AB5A92A2}"/>
              </a:ext>
            </a:extLst>
          </p:cNvPr>
          <p:cNvSpPr>
            <a:spLocks noGrp="1"/>
          </p:cNvSpPr>
          <p:nvPr>
            <p:ph type="title"/>
          </p:nvPr>
        </p:nvSpPr>
        <p:spPr/>
        <p:txBody>
          <a:bodyPr/>
          <a:lstStyle/>
          <a:p>
            <a:pPr algn="r"/>
            <a:r>
              <a:rPr lang="fr-BE" sz="4400" b="1" i="1" dirty="0"/>
              <a:t>Révision du code chiffré</a:t>
            </a:r>
            <a:endParaRPr lang="fr-BE" dirty="0"/>
          </a:p>
        </p:txBody>
      </p:sp>
      <p:sp>
        <p:nvSpPr>
          <p:cNvPr id="3" name="Espace réservé du contenu 2">
            <a:extLst>
              <a:ext uri="{FF2B5EF4-FFF2-40B4-BE49-F238E27FC236}">
                <a16:creationId xmlns:a16="http://schemas.microsoft.com/office/drawing/2014/main" id="{665F5930-133C-4764-A8EF-981E0EFFEAC1}"/>
              </a:ext>
            </a:extLst>
          </p:cNvPr>
          <p:cNvSpPr>
            <a:spLocks noGrp="1"/>
          </p:cNvSpPr>
          <p:nvPr>
            <p:ph idx="1"/>
          </p:nvPr>
        </p:nvSpPr>
        <p:spPr>
          <a:xfrm>
            <a:off x="457200" y="1600200"/>
            <a:ext cx="8229600" cy="4983162"/>
          </a:xfrm>
        </p:spPr>
        <p:txBody>
          <a:bodyPr>
            <a:normAutofit fontScale="92500"/>
          </a:bodyPr>
          <a:lstStyle/>
          <a:p>
            <a:pPr marL="0" indent="0">
              <a:buNone/>
            </a:pPr>
            <a:r>
              <a:rPr lang="fr-FR" sz="3200" dirty="0"/>
              <a:t>Les </a:t>
            </a:r>
            <a:r>
              <a:rPr lang="fr-FR" sz="3200" b="1" dirty="0">
                <a:solidFill>
                  <a:schemeClr val="accent2">
                    <a:lumMod val="75000"/>
                  </a:schemeClr>
                </a:solidFill>
              </a:rPr>
              <a:t>mêmes principes que pour le travailleur à temps plein</a:t>
            </a:r>
            <a:r>
              <a:rPr lang="fr-FR" sz="3200" dirty="0"/>
              <a:t> sont ici d'application : </a:t>
            </a:r>
          </a:p>
          <a:p>
            <a:pPr marL="357188" indent="0">
              <a:buNone/>
            </a:pPr>
            <a:r>
              <a:rPr lang="fr-FR" sz="3200" u="sng" dirty="0"/>
              <a:t>Principe général</a:t>
            </a:r>
            <a:r>
              <a:rPr lang="fr-FR" sz="3200" dirty="0"/>
              <a:t>: En cas de chômage complet, le code chiffré reste</a:t>
            </a:r>
            <a:r>
              <a:rPr lang="fr-FR" sz="3200" b="1" dirty="0"/>
              <a:t> </a:t>
            </a:r>
            <a:r>
              <a:rPr lang="fr-FR" sz="3200" dirty="0"/>
              <a:t>maintenu pendant toute la durée du chômage. </a:t>
            </a:r>
          </a:p>
          <a:p>
            <a:pPr marL="357188" indent="0">
              <a:buNone/>
            </a:pPr>
            <a:r>
              <a:rPr lang="fr-FR" sz="3200" u="sng" dirty="0"/>
              <a:t>Exception</a:t>
            </a:r>
            <a:r>
              <a:rPr lang="fr-FR" sz="3200" dirty="0"/>
              <a:t>: Il est toutefois révisé après une interruption du chômage de 24 mois au moins avec une reprise de travail d’au moins 4 semaines consécutives chez le même employeur (sauf si 45 ans ou plus à la date d’entrée en service).</a:t>
            </a:r>
          </a:p>
          <a:p>
            <a:endParaRPr lang="fr-BE" dirty="0"/>
          </a:p>
        </p:txBody>
      </p:sp>
      <p:sp>
        <p:nvSpPr>
          <p:cNvPr id="4" name="Espace réservé du numéro de diapositive 3">
            <a:extLst>
              <a:ext uri="{FF2B5EF4-FFF2-40B4-BE49-F238E27FC236}">
                <a16:creationId xmlns:a16="http://schemas.microsoft.com/office/drawing/2014/main" id="{C0E72789-2AF1-486C-9147-FFFA49231F55}"/>
              </a:ext>
            </a:extLst>
          </p:cNvPr>
          <p:cNvSpPr>
            <a:spLocks noGrp="1"/>
          </p:cNvSpPr>
          <p:nvPr>
            <p:ph type="sldNum" sz="quarter" idx="12"/>
          </p:nvPr>
        </p:nvSpPr>
        <p:spPr/>
        <p:txBody>
          <a:bodyPr/>
          <a:lstStyle/>
          <a:p>
            <a:fld id="{55E9056B-6A30-4F99-BDE9-C450E66AE125}" type="slidenum">
              <a:rPr lang="fr-FR" smtClean="0"/>
              <a:pPr/>
              <a:t>23</a:t>
            </a:fld>
            <a:endParaRPr lang="fr-FR" dirty="0"/>
          </a:p>
        </p:txBody>
      </p:sp>
    </p:spTree>
    <p:extLst>
      <p:ext uri="{BB962C8B-B14F-4D97-AF65-F5344CB8AC3E}">
        <p14:creationId xmlns:p14="http://schemas.microsoft.com/office/powerpoint/2010/main" val="288849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280197-D59B-4944-A1D1-0FC3AB5A92A2}"/>
              </a:ext>
            </a:extLst>
          </p:cNvPr>
          <p:cNvSpPr>
            <a:spLocks noGrp="1"/>
          </p:cNvSpPr>
          <p:nvPr>
            <p:ph type="title"/>
          </p:nvPr>
        </p:nvSpPr>
        <p:spPr/>
        <p:txBody>
          <a:bodyPr>
            <a:normAutofit fontScale="90000"/>
          </a:bodyPr>
          <a:lstStyle/>
          <a:p>
            <a:pPr algn="r"/>
            <a:r>
              <a:rPr lang="fr-BE" sz="4400" b="1" i="1" dirty="0"/>
              <a:t>Régime d’indemnisation: facteur N</a:t>
            </a:r>
            <a:endParaRPr lang="fr-BE" dirty="0"/>
          </a:p>
        </p:txBody>
      </p:sp>
      <p:sp>
        <p:nvSpPr>
          <p:cNvPr id="3" name="Espace réservé du contenu 2">
            <a:extLst>
              <a:ext uri="{FF2B5EF4-FFF2-40B4-BE49-F238E27FC236}">
                <a16:creationId xmlns:a16="http://schemas.microsoft.com/office/drawing/2014/main" id="{665F5930-133C-4764-A8EF-981E0EFFEAC1}"/>
              </a:ext>
            </a:extLst>
          </p:cNvPr>
          <p:cNvSpPr>
            <a:spLocks noGrp="1"/>
          </p:cNvSpPr>
          <p:nvPr>
            <p:ph idx="1"/>
          </p:nvPr>
        </p:nvSpPr>
        <p:spPr/>
        <p:txBody>
          <a:bodyPr>
            <a:normAutofit fontScale="92500" lnSpcReduction="10000"/>
          </a:bodyPr>
          <a:lstStyle/>
          <a:p>
            <a:pPr marL="0" indent="0">
              <a:buNone/>
            </a:pPr>
            <a:r>
              <a:rPr lang="fr-BE" dirty="0"/>
              <a:t>Quid du facteur N ?</a:t>
            </a:r>
          </a:p>
          <a:p>
            <a:r>
              <a:rPr lang="fr-BE" dirty="0"/>
              <a:t>En chômage, le TTRV bénéficie de ½ allocation: ce nombre de </a:t>
            </a:r>
            <a:r>
              <a:rPr lang="fr-BE" b="1" dirty="0">
                <a:solidFill>
                  <a:srgbClr val="C00000"/>
                </a:solidFill>
              </a:rPr>
              <a:t>½ allocation « n » </a:t>
            </a:r>
            <a:r>
              <a:rPr lang="fr-BE" dirty="0"/>
              <a:t>est obtenu suivant la formule:</a:t>
            </a:r>
          </a:p>
          <a:p>
            <a:pPr marL="0" indent="0" algn="ctr">
              <a:buNone/>
            </a:pPr>
            <a:r>
              <a:rPr lang="fr-BE" sz="4800" b="1" u="sng" dirty="0">
                <a:solidFill>
                  <a:srgbClr val="C00000"/>
                </a:solidFill>
              </a:rPr>
              <a:t>Q x 12</a:t>
            </a:r>
          </a:p>
          <a:p>
            <a:pPr marL="0" indent="0" algn="ctr">
              <a:buNone/>
            </a:pPr>
            <a:r>
              <a:rPr lang="fr-BE" sz="4800" b="1" dirty="0">
                <a:solidFill>
                  <a:srgbClr val="C00000"/>
                </a:solidFill>
              </a:rPr>
              <a:t>S</a:t>
            </a:r>
          </a:p>
          <a:p>
            <a:pPr marL="0" indent="0">
              <a:buNone/>
            </a:pPr>
            <a:r>
              <a:rPr lang="fr-BE" sz="2400" dirty="0"/>
              <a:t>Le résultat obtenu est arrondi comme suit :</a:t>
            </a:r>
          </a:p>
          <a:p>
            <a:pPr marL="0" indent="0">
              <a:buNone/>
            </a:pPr>
            <a:r>
              <a:rPr lang="fr-BE" sz="2400" dirty="0"/>
              <a:t>De 0,01 à 0,49 = 0</a:t>
            </a:r>
          </a:p>
          <a:p>
            <a:pPr marL="0" indent="0">
              <a:buNone/>
            </a:pPr>
            <a:r>
              <a:rPr lang="fr-BE" sz="2400" dirty="0"/>
              <a:t>De 0,50 à 0,99 = 1</a:t>
            </a:r>
          </a:p>
          <a:p>
            <a:pPr marL="0" indent="0">
              <a:buNone/>
            </a:pPr>
            <a:endParaRPr lang="fr-BE" dirty="0"/>
          </a:p>
        </p:txBody>
      </p:sp>
      <p:sp>
        <p:nvSpPr>
          <p:cNvPr id="4" name="Espace réservé du numéro de diapositive 3">
            <a:extLst>
              <a:ext uri="{FF2B5EF4-FFF2-40B4-BE49-F238E27FC236}">
                <a16:creationId xmlns:a16="http://schemas.microsoft.com/office/drawing/2014/main" id="{C0E72789-2AF1-486C-9147-FFFA49231F55}"/>
              </a:ext>
            </a:extLst>
          </p:cNvPr>
          <p:cNvSpPr>
            <a:spLocks noGrp="1"/>
          </p:cNvSpPr>
          <p:nvPr>
            <p:ph type="sldNum" sz="quarter" idx="12"/>
          </p:nvPr>
        </p:nvSpPr>
        <p:spPr/>
        <p:txBody>
          <a:bodyPr/>
          <a:lstStyle/>
          <a:p>
            <a:fld id="{55E9056B-6A30-4F99-BDE9-C450E66AE125}" type="slidenum">
              <a:rPr lang="fr-FR" smtClean="0"/>
              <a:pPr/>
              <a:t>24</a:t>
            </a:fld>
            <a:endParaRPr lang="fr-FR" dirty="0"/>
          </a:p>
        </p:txBody>
      </p:sp>
    </p:spTree>
    <p:extLst>
      <p:ext uri="{BB962C8B-B14F-4D97-AF65-F5344CB8AC3E}">
        <p14:creationId xmlns:p14="http://schemas.microsoft.com/office/powerpoint/2010/main" val="428645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0"/>
            <a:ext cx="8229600" cy="1143000"/>
          </a:xfrm>
        </p:spPr>
        <p:txBody>
          <a:bodyPr>
            <a:normAutofit/>
          </a:bodyPr>
          <a:lstStyle/>
          <a:p>
            <a:pPr algn="r"/>
            <a:r>
              <a:rPr lang="fr-FR" b="1" i="1" dirty="0"/>
              <a:t>Statut TTRV et reprise de travail</a:t>
            </a:r>
            <a:endParaRPr lang="en-US" i="1" dirty="0"/>
          </a:p>
        </p:txBody>
      </p:sp>
      <p:sp>
        <p:nvSpPr>
          <p:cNvPr id="3" name="Espace réservé du contenu 2"/>
          <p:cNvSpPr>
            <a:spLocks noGrp="1"/>
          </p:cNvSpPr>
          <p:nvPr>
            <p:ph idx="1"/>
          </p:nvPr>
        </p:nvSpPr>
        <p:spPr>
          <a:xfrm>
            <a:off x="457200" y="1196752"/>
            <a:ext cx="8229600" cy="5661248"/>
          </a:xfrm>
        </p:spPr>
        <p:txBody>
          <a:bodyPr>
            <a:normAutofit lnSpcReduction="10000"/>
          </a:bodyPr>
          <a:lstStyle/>
          <a:p>
            <a:pPr>
              <a:buFont typeface="Wingdings" pitchFamily="2" charset="2"/>
              <a:buChar char="§"/>
            </a:pPr>
            <a:r>
              <a:rPr lang="fr-FR" sz="2800" dirty="0"/>
              <a:t>Un travailleur à temps partiel volontaire </a:t>
            </a:r>
            <a:r>
              <a:rPr lang="fr-FR" sz="2800" b="1" u="sng" dirty="0"/>
              <a:t>peut continuer à bénéficier d’allocations de chômage </a:t>
            </a:r>
            <a:r>
              <a:rPr lang="fr-FR" sz="2800" dirty="0"/>
              <a:t>pendant toute la période de la reprise du travail </a:t>
            </a:r>
          </a:p>
          <a:p>
            <a:pPr>
              <a:buFont typeface="Wingdings" pitchFamily="2" charset="2"/>
              <a:buChar char="§"/>
            </a:pPr>
            <a:r>
              <a:rPr lang="fr-FR" sz="2800" dirty="0"/>
              <a:t>Le travailleur peut choisir entre </a:t>
            </a:r>
            <a:r>
              <a:rPr lang="fr-FR" sz="2800" b="1" dirty="0">
                <a:solidFill>
                  <a:schemeClr val="accent2">
                    <a:lumMod val="75000"/>
                  </a:schemeClr>
                </a:solidFill>
              </a:rPr>
              <a:t>2 hypothèses</a:t>
            </a:r>
            <a:r>
              <a:rPr lang="fr-FR" sz="2800" dirty="0"/>
              <a:t>:  </a:t>
            </a:r>
          </a:p>
          <a:p>
            <a:pPr marL="0" indent="0">
              <a:buNone/>
            </a:pPr>
            <a:endParaRPr lang="fr-FR" sz="1500" dirty="0"/>
          </a:p>
          <a:p>
            <a:pPr marL="0" indent="0">
              <a:buNone/>
            </a:pPr>
            <a:r>
              <a:rPr lang="fr-FR" sz="2800" dirty="0">
                <a:sym typeface="Wingdings" panose="05000000000000000000" pitchFamily="2" charset="2"/>
              </a:rPr>
              <a:t> </a:t>
            </a:r>
            <a:r>
              <a:rPr lang="fr-FR" sz="2800" dirty="0"/>
              <a:t> maintenir son indemnisation via sa </a:t>
            </a:r>
            <a:r>
              <a:rPr lang="fr-FR" sz="2800" b="1" dirty="0">
                <a:solidFill>
                  <a:schemeClr val="accent2">
                    <a:lumMod val="75000"/>
                  </a:schemeClr>
                </a:solidFill>
              </a:rPr>
              <a:t>carte C3 ou EC3</a:t>
            </a:r>
          </a:p>
          <a:p>
            <a:pPr marL="0" indent="0">
              <a:buNone/>
            </a:pPr>
            <a:r>
              <a:rPr lang="fr-FR" sz="2800" dirty="0"/>
              <a:t>	ou</a:t>
            </a:r>
          </a:p>
          <a:p>
            <a:pPr marL="0" indent="0">
              <a:buNone/>
            </a:pPr>
            <a:r>
              <a:rPr lang="fr-FR" sz="2800" dirty="0">
                <a:sym typeface="Wingdings" panose="05000000000000000000" pitchFamily="2" charset="2"/>
              </a:rPr>
              <a:t>  demander l’ </a:t>
            </a:r>
            <a:r>
              <a:rPr lang="fr-FR" sz="2800" b="1" u="sng" dirty="0">
                <a:solidFill>
                  <a:schemeClr val="accent2">
                    <a:lumMod val="75000"/>
                  </a:schemeClr>
                </a:solidFill>
                <a:sym typeface="Wingdings" panose="05000000000000000000" pitchFamily="2" charset="2"/>
              </a:rPr>
              <a:t>A</a:t>
            </a:r>
            <a:r>
              <a:rPr lang="fr-FR" sz="2800" b="1" dirty="0">
                <a:solidFill>
                  <a:schemeClr val="accent2">
                    <a:lumMod val="75000"/>
                  </a:schemeClr>
                </a:solidFill>
                <a:sym typeface="Wingdings" panose="05000000000000000000" pitchFamily="2" charset="2"/>
              </a:rPr>
              <a:t>llocation de </a:t>
            </a:r>
            <a:r>
              <a:rPr lang="fr-FR" sz="2800" b="1" u="sng" dirty="0">
                <a:solidFill>
                  <a:schemeClr val="accent2">
                    <a:lumMod val="75000"/>
                  </a:schemeClr>
                </a:solidFill>
                <a:sym typeface="Wingdings" panose="05000000000000000000" pitchFamily="2" charset="2"/>
              </a:rPr>
              <a:t>G</a:t>
            </a:r>
            <a:r>
              <a:rPr lang="fr-FR" sz="2800" b="1" dirty="0">
                <a:solidFill>
                  <a:schemeClr val="accent2">
                    <a:lumMod val="75000"/>
                  </a:schemeClr>
                </a:solidFill>
                <a:sym typeface="Wingdings" panose="05000000000000000000" pitchFamily="2" charset="2"/>
              </a:rPr>
              <a:t>arantie de </a:t>
            </a:r>
            <a:r>
              <a:rPr lang="fr-FR" sz="2800" b="1" u="sng" dirty="0">
                <a:solidFill>
                  <a:schemeClr val="accent2">
                    <a:lumMod val="75000"/>
                  </a:schemeClr>
                </a:solidFill>
                <a:sym typeface="Wingdings" panose="05000000000000000000" pitchFamily="2" charset="2"/>
              </a:rPr>
              <a:t>R</a:t>
            </a:r>
            <a:r>
              <a:rPr lang="fr-FR" sz="2800" b="1" dirty="0">
                <a:solidFill>
                  <a:schemeClr val="accent2">
                    <a:lumMod val="75000"/>
                  </a:schemeClr>
                </a:solidFill>
                <a:sym typeface="Wingdings" panose="05000000000000000000" pitchFamily="2" charset="2"/>
              </a:rPr>
              <a:t>evenus</a:t>
            </a:r>
          </a:p>
          <a:p>
            <a:pPr marL="0" indent="0">
              <a:buNone/>
            </a:pPr>
            <a:endParaRPr lang="fr-FR" sz="1500" dirty="0">
              <a:solidFill>
                <a:srgbClr val="C00000"/>
              </a:solidFill>
              <a:sym typeface="Wingdings" panose="05000000000000000000" pitchFamily="2" charset="2"/>
            </a:endParaRPr>
          </a:p>
          <a:p>
            <a:pPr marL="0" indent="0">
              <a:buNone/>
            </a:pPr>
            <a:r>
              <a:rPr lang="fr-FR" sz="2800" dirty="0">
                <a:sym typeface="Wingdings" panose="05000000000000000000" pitchFamily="2" charset="2"/>
              </a:rPr>
              <a:t>Ce choix est valable au début de l’occupation ou au cours d’occupation mais le passage de l’un à l’autre est possible uniquement au 1</a:t>
            </a:r>
            <a:r>
              <a:rPr lang="fr-FR" sz="2800" baseline="30000" dirty="0">
                <a:sym typeface="Wingdings" panose="05000000000000000000" pitchFamily="2" charset="2"/>
              </a:rPr>
              <a:t>er </a:t>
            </a:r>
            <a:r>
              <a:rPr lang="fr-FR" sz="2800" dirty="0">
                <a:sym typeface="Wingdings" panose="05000000000000000000" pitchFamily="2" charset="2"/>
              </a:rPr>
              <a:t>jour du mois.  </a:t>
            </a:r>
            <a:endParaRPr lang="fr-FR" sz="2800" dirty="0"/>
          </a:p>
          <a:p>
            <a:pPr>
              <a:buNone/>
            </a:pPr>
            <a:r>
              <a:rPr lang="fr-FR" sz="2800" b="1" i="1" dirty="0">
                <a:solidFill>
                  <a:srgbClr val="C00000"/>
                </a:solidFill>
              </a:rPr>
              <a:t>	</a:t>
            </a:r>
          </a:p>
        </p:txBody>
      </p:sp>
      <p:sp>
        <p:nvSpPr>
          <p:cNvPr id="5" name="Espace réservé du numéro de diapositive 3"/>
          <p:cNvSpPr>
            <a:spLocks noGrp="1"/>
          </p:cNvSpPr>
          <p:nvPr>
            <p:ph type="sldNum" sz="quarter" idx="12"/>
          </p:nvPr>
        </p:nvSpPr>
        <p:spPr>
          <a:xfrm>
            <a:off x="8286776" y="6072206"/>
            <a:ext cx="400024" cy="365125"/>
          </a:xfrm>
        </p:spPr>
        <p:txBody>
          <a:bodyPr/>
          <a:lstStyle/>
          <a:p>
            <a:fld id="{55E9056B-6A30-4F99-BDE9-C450E66AE125}" type="slidenum">
              <a:rPr lang="fr-FR" smtClean="0">
                <a:solidFill>
                  <a:prstClr val="black">
                    <a:tint val="75000"/>
                  </a:prstClr>
                </a:solidFill>
              </a:rPr>
              <a:pPr/>
              <a:t>25</a:t>
            </a:fld>
            <a:endParaRPr lang="fr-FR" dirty="0">
              <a:solidFill>
                <a:prstClr val="black">
                  <a:tint val="75000"/>
                </a:prstClr>
              </a:solidFill>
            </a:endParaRPr>
          </a:p>
        </p:txBody>
      </p:sp>
    </p:spTree>
    <p:extLst>
      <p:ext uri="{BB962C8B-B14F-4D97-AF65-F5344CB8AC3E}">
        <p14:creationId xmlns:p14="http://schemas.microsoft.com/office/powerpoint/2010/main" val="320435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b="1" i="1" dirty="0"/>
              <a:t>Reprise de travail avec C3A/EC3</a:t>
            </a:r>
            <a:endParaRPr lang="en-US" dirty="0"/>
          </a:p>
        </p:txBody>
      </p:sp>
      <p:sp>
        <p:nvSpPr>
          <p:cNvPr id="3" name="Espace réservé du contenu 2"/>
          <p:cNvSpPr>
            <a:spLocks noGrp="1"/>
          </p:cNvSpPr>
          <p:nvPr>
            <p:ph idx="1"/>
          </p:nvPr>
        </p:nvSpPr>
        <p:spPr>
          <a:xfrm>
            <a:off x="457200" y="1268760"/>
            <a:ext cx="8229600" cy="5256584"/>
          </a:xfrm>
        </p:spPr>
        <p:txBody>
          <a:bodyPr>
            <a:noAutofit/>
          </a:bodyPr>
          <a:lstStyle/>
          <a:p>
            <a:pPr>
              <a:buNone/>
            </a:pPr>
            <a:r>
              <a:rPr lang="fr-FR" sz="2000" b="1" u="sng" dirty="0"/>
              <a:t>1</a:t>
            </a:r>
            <a:r>
              <a:rPr lang="fr-FR" sz="2000" b="1" u="sng" baseline="30000" dirty="0"/>
              <a:t>er</a:t>
            </a:r>
            <a:r>
              <a:rPr lang="fr-FR" sz="2000" b="1" u="sng" dirty="0"/>
              <a:t> hypothèse</a:t>
            </a:r>
            <a:r>
              <a:rPr lang="fr-FR" sz="2000" b="1" dirty="0"/>
              <a:t>:  Choix C3A ou EC3 </a:t>
            </a:r>
            <a:r>
              <a:rPr lang="fr-FR" sz="2000" dirty="0">
                <a:sym typeface="Wingdings" panose="05000000000000000000" pitchFamily="2" charset="2"/>
              </a:rPr>
              <a:t> dans ce cas</a:t>
            </a:r>
            <a:r>
              <a:rPr lang="fr-FR" sz="2000" dirty="0"/>
              <a:t>, le </a:t>
            </a:r>
            <a:r>
              <a:rPr lang="fr-FR" sz="2000" b="1" dirty="0">
                <a:solidFill>
                  <a:schemeClr val="accent2">
                    <a:lumMod val="75000"/>
                  </a:schemeClr>
                </a:solidFill>
              </a:rPr>
              <a:t>nombre de demi-allocations</a:t>
            </a:r>
            <a:r>
              <a:rPr lang="fr-FR" sz="2000" b="1" dirty="0">
                <a:solidFill>
                  <a:srgbClr val="C00000"/>
                </a:solidFill>
              </a:rPr>
              <a:t> </a:t>
            </a:r>
            <a:r>
              <a:rPr lang="fr-FR" sz="2000" dirty="0"/>
              <a:t>auquel le travailleur aurait normalement droit pour le mois considéré est </a:t>
            </a:r>
            <a:r>
              <a:rPr lang="fr-FR" sz="2000" b="1" dirty="0">
                <a:solidFill>
                  <a:schemeClr val="accent2">
                    <a:lumMod val="75000"/>
                  </a:schemeClr>
                </a:solidFill>
              </a:rPr>
              <a:t>diminué de </a:t>
            </a:r>
            <a:r>
              <a:rPr lang="fr-FR" sz="2000" dirty="0">
                <a:solidFill>
                  <a:srgbClr val="C00000"/>
                </a:solidFill>
              </a:rPr>
              <a:t>: </a:t>
            </a:r>
          </a:p>
          <a:p>
            <a:pPr>
              <a:buFont typeface="Wingdings" pitchFamily="2" charset="2"/>
              <a:buChar char="§"/>
            </a:pPr>
            <a:r>
              <a:rPr lang="fr-FR" sz="2000" b="1" u="sng" dirty="0">
                <a:solidFill>
                  <a:schemeClr val="accent2">
                    <a:lumMod val="75000"/>
                  </a:schemeClr>
                </a:solidFill>
              </a:rPr>
              <a:t>2 demi-allocations</a:t>
            </a:r>
            <a:r>
              <a:rPr lang="fr-FR" sz="2000" b="1" dirty="0">
                <a:solidFill>
                  <a:schemeClr val="accent2">
                    <a:lumMod val="75000"/>
                  </a:schemeClr>
                </a:solidFill>
              </a:rPr>
              <a:t> </a:t>
            </a:r>
            <a:r>
              <a:rPr lang="fr-FR" sz="2000" dirty="0"/>
              <a:t>pour: </a:t>
            </a:r>
          </a:p>
          <a:p>
            <a:pPr lvl="1">
              <a:buFont typeface="Wingdings" pitchFamily="2" charset="2"/>
              <a:buChar char="§"/>
            </a:pPr>
            <a:r>
              <a:rPr lang="fr-FR" sz="2000" dirty="0"/>
              <a:t>Chaque jour de travail salarié, travail occasionnel pour son propre compte ou pour le compte de tiers.</a:t>
            </a:r>
          </a:p>
          <a:p>
            <a:pPr lvl="1">
              <a:buFont typeface="Wingdings" pitchFamily="2" charset="2"/>
              <a:buChar char="§"/>
            </a:pPr>
            <a:r>
              <a:rPr lang="fr-FR" sz="2000" dirty="0"/>
              <a:t>Les jours fériés payés par l’employeur, situés ou non pendant une occupation. </a:t>
            </a:r>
          </a:p>
          <a:p>
            <a:pPr lvl="1">
              <a:buFont typeface="Wingdings" pitchFamily="2" charset="2"/>
              <a:buChar char="§"/>
            </a:pPr>
            <a:r>
              <a:rPr lang="fr-FR" sz="2000" dirty="0"/>
              <a:t>Tous les samedis qui sont assimilé à </a:t>
            </a:r>
            <a:r>
              <a:rPr lang="fr-FR" sz="2000" b="1" dirty="0"/>
              <a:t>une journée </a:t>
            </a:r>
            <a:r>
              <a:rPr lang="fr-FR" sz="2000" dirty="0"/>
              <a:t>non indemnisable. </a:t>
            </a:r>
            <a:r>
              <a:rPr lang="fr-FR" sz="2000" b="1" i="1" dirty="0"/>
              <a:t>( cf. AM21)</a:t>
            </a:r>
          </a:p>
          <a:p>
            <a:pPr>
              <a:buFont typeface="Wingdings" pitchFamily="2" charset="2"/>
              <a:buChar char="§"/>
            </a:pPr>
            <a:r>
              <a:rPr lang="fr-FR" sz="2000" b="1" u="sng" dirty="0">
                <a:solidFill>
                  <a:schemeClr val="accent2">
                    <a:lumMod val="75000"/>
                  </a:schemeClr>
                </a:solidFill>
              </a:rPr>
              <a:t>1 demi-allocation</a:t>
            </a:r>
            <a:r>
              <a:rPr lang="fr-FR" sz="2000" b="1" dirty="0">
                <a:solidFill>
                  <a:schemeClr val="accent2">
                    <a:lumMod val="75000"/>
                  </a:schemeClr>
                </a:solidFill>
              </a:rPr>
              <a:t> </a:t>
            </a:r>
            <a:r>
              <a:rPr lang="fr-FR" sz="2000" dirty="0"/>
              <a:t>pour tous les samedis qui sont assimilés à </a:t>
            </a:r>
            <a:r>
              <a:rPr lang="fr-FR" sz="2000" b="1" dirty="0"/>
              <a:t>une demi-journée </a:t>
            </a:r>
            <a:r>
              <a:rPr lang="fr-FR" sz="2000" dirty="0"/>
              <a:t>non indemnisable. </a:t>
            </a:r>
          </a:p>
          <a:p>
            <a:pPr>
              <a:buFont typeface="Wingdings" pitchFamily="2" charset="2"/>
              <a:buChar char="§"/>
            </a:pPr>
            <a:r>
              <a:rPr lang="fr-FR" sz="2000" b="1" u="sng" dirty="0">
                <a:solidFill>
                  <a:schemeClr val="accent2">
                    <a:lumMod val="75000"/>
                  </a:schemeClr>
                </a:solidFill>
              </a:rPr>
              <a:t>Du nombre de demi-allocations</a:t>
            </a:r>
            <a:r>
              <a:rPr lang="fr-FR" sz="2000" dirty="0"/>
              <a:t> prévues pour ces journées conformément au régime d’indemnisation</a:t>
            </a:r>
            <a:r>
              <a:rPr lang="fr-FR" sz="2000" dirty="0">
                <a:solidFill>
                  <a:schemeClr val="accent2">
                    <a:lumMod val="75000"/>
                  </a:schemeClr>
                </a:solidFill>
              </a:rPr>
              <a:t> </a:t>
            </a:r>
            <a:r>
              <a:rPr lang="fr-FR" sz="2000" dirty="0"/>
              <a:t>pour les autres jours non indemnisables (VP, M, A)</a:t>
            </a:r>
            <a:endParaRPr lang="fr-FR" sz="2400" dirty="0"/>
          </a:p>
        </p:txBody>
      </p:sp>
      <p:sp>
        <p:nvSpPr>
          <p:cNvPr id="6" name="Espace réservé du numéro de diapositive 3"/>
          <p:cNvSpPr>
            <a:spLocks noGrp="1"/>
          </p:cNvSpPr>
          <p:nvPr>
            <p:ph type="sldNum" sz="quarter" idx="12"/>
          </p:nvPr>
        </p:nvSpPr>
        <p:spPr>
          <a:xfrm>
            <a:off x="8286776" y="6072206"/>
            <a:ext cx="400024" cy="365125"/>
          </a:xfrm>
        </p:spPr>
        <p:txBody>
          <a:bodyPr/>
          <a:lstStyle/>
          <a:p>
            <a:fld id="{55E9056B-6A30-4F99-BDE9-C450E66AE125}" type="slidenum">
              <a:rPr lang="fr-FR" smtClean="0">
                <a:solidFill>
                  <a:prstClr val="black">
                    <a:tint val="75000"/>
                  </a:prstClr>
                </a:solidFill>
              </a:rPr>
              <a:pPr/>
              <a:t>26</a:t>
            </a:fld>
            <a:endParaRPr lang="fr-FR" dirty="0">
              <a:solidFill>
                <a:prstClr val="black">
                  <a:tint val="75000"/>
                </a:prstClr>
              </a:solidFill>
            </a:endParaRPr>
          </a:p>
        </p:txBody>
      </p:sp>
    </p:spTree>
    <p:extLst>
      <p:ext uri="{BB962C8B-B14F-4D97-AF65-F5344CB8AC3E}">
        <p14:creationId xmlns:p14="http://schemas.microsoft.com/office/powerpoint/2010/main" val="189703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FR" sz="4000" b="1" i="1" dirty="0"/>
              <a:t>Reprise de travail avec C3A/EC3</a:t>
            </a:r>
            <a:endParaRPr lang="en-US" sz="4000" i="1" dirty="0"/>
          </a:p>
        </p:txBody>
      </p:sp>
      <p:sp>
        <p:nvSpPr>
          <p:cNvPr id="3" name="Espace réservé du contenu 2"/>
          <p:cNvSpPr>
            <a:spLocks noGrp="1"/>
          </p:cNvSpPr>
          <p:nvPr>
            <p:ph idx="1"/>
          </p:nvPr>
        </p:nvSpPr>
        <p:spPr/>
        <p:txBody>
          <a:bodyPr>
            <a:normAutofit/>
          </a:bodyPr>
          <a:lstStyle/>
          <a:p>
            <a:pPr>
              <a:buNone/>
            </a:pPr>
            <a:r>
              <a:rPr lang="fr-BE" dirty="0"/>
              <a:t>	</a:t>
            </a:r>
          </a:p>
          <a:p>
            <a:pPr>
              <a:buNone/>
            </a:pPr>
            <a:r>
              <a:rPr lang="fr-BE" dirty="0"/>
              <a:t>	Si le chômeur n’a pas reçu d’allocations pour le mois précédent en tant que chômeur complet, on ne tient pas compte des jours de reprise du travail ou des samedis situés </a:t>
            </a:r>
            <a:r>
              <a:rPr lang="fr-BE" b="1" dirty="0"/>
              <a:t>avant</a:t>
            </a:r>
            <a:r>
              <a:rPr lang="fr-BE" dirty="0"/>
              <a:t> </a:t>
            </a:r>
            <a:r>
              <a:rPr lang="fr-BE" b="1" dirty="0"/>
              <a:t>le premier jour indemnisable</a:t>
            </a:r>
            <a:r>
              <a:rPr lang="fr-BE" dirty="0"/>
              <a:t> du mois considéré. </a:t>
            </a:r>
            <a:endParaRPr lang="fr-FR" dirty="0"/>
          </a:p>
        </p:txBody>
      </p:sp>
      <p:sp>
        <p:nvSpPr>
          <p:cNvPr id="5" name="Espace réservé du numéro de diapositive 3"/>
          <p:cNvSpPr>
            <a:spLocks noGrp="1"/>
          </p:cNvSpPr>
          <p:nvPr>
            <p:ph type="sldNum" sz="quarter" idx="12"/>
          </p:nvPr>
        </p:nvSpPr>
        <p:spPr>
          <a:xfrm>
            <a:off x="8286776" y="6072206"/>
            <a:ext cx="400024" cy="365125"/>
          </a:xfrm>
        </p:spPr>
        <p:txBody>
          <a:bodyPr/>
          <a:lstStyle/>
          <a:p>
            <a:fld id="{55E9056B-6A30-4F99-BDE9-C450E66AE125}" type="slidenum">
              <a:rPr lang="fr-FR" smtClean="0">
                <a:solidFill>
                  <a:prstClr val="black">
                    <a:tint val="75000"/>
                  </a:prstClr>
                </a:solidFill>
              </a:rPr>
              <a:pPr/>
              <a:t>27</a:t>
            </a:fld>
            <a:endParaRPr lang="fr-FR" dirty="0">
              <a:solidFill>
                <a:prstClr val="black">
                  <a:tint val="75000"/>
                </a:prstClr>
              </a:solidFill>
            </a:endParaRPr>
          </a:p>
        </p:txBody>
      </p:sp>
    </p:spTree>
    <p:extLst>
      <p:ext uri="{BB962C8B-B14F-4D97-AF65-F5344CB8AC3E}">
        <p14:creationId xmlns:p14="http://schemas.microsoft.com/office/powerpoint/2010/main" val="21238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b="1" i="1" dirty="0"/>
              <a:t>Reprise de travail avec C3A/EC3</a:t>
            </a:r>
            <a:endParaRPr lang="en-US" i="1" dirty="0"/>
          </a:p>
        </p:txBody>
      </p:sp>
      <p:sp>
        <p:nvSpPr>
          <p:cNvPr id="3" name="Espace réservé du contenu 2"/>
          <p:cNvSpPr>
            <a:spLocks noGrp="1"/>
          </p:cNvSpPr>
          <p:nvPr>
            <p:ph idx="1"/>
          </p:nvPr>
        </p:nvSpPr>
        <p:spPr/>
        <p:txBody>
          <a:bodyPr>
            <a:normAutofit fontScale="92500" lnSpcReduction="20000"/>
          </a:bodyPr>
          <a:lstStyle/>
          <a:p>
            <a:pPr algn="just">
              <a:buNone/>
            </a:pPr>
            <a:r>
              <a:rPr lang="fr-FR" sz="2800" dirty="0"/>
              <a:t>	Lors de la reprise d’un</a:t>
            </a:r>
            <a:r>
              <a:rPr lang="fr-BE" sz="2800" dirty="0"/>
              <a:t> travail à temps partiel, suite à la déduction des jours , il se peut que le travailleur ne perçoive plus d'allocations pour le mois considéré et qu‘il connaisse donc une </a:t>
            </a:r>
            <a:r>
              <a:rPr lang="fr-BE" sz="2800" b="1" dirty="0"/>
              <a:t>interruption d'au moins 4 semaines dans l'indemnisation</a:t>
            </a:r>
            <a:r>
              <a:rPr lang="fr-BE" sz="2800" dirty="0"/>
              <a:t>. </a:t>
            </a:r>
          </a:p>
          <a:p>
            <a:pPr indent="12700" algn="just">
              <a:buNone/>
            </a:pPr>
            <a:r>
              <a:rPr lang="fr-BE" sz="2800" b="1" dirty="0"/>
              <a:t>Dans ce cas le travailleur est dispensé de l'introduction d’une DA pour autant qu’/que</a:t>
            </a:r>
            <a:r>
              <a:rPr lang="fr-BE" sz="2800" dirty="0"/>
              <a:t>: </a:t>
            </a:r>
          </a:p>
          <a:p>
            <a:pPr algn="just">
              <a:buFontTx/>
              <a:buChar char="-"/>
            </a:pPr>
            <a:r>
              <a:rPr lang="fr-BE" sz="2800" dirty="0"/>
              <a:t>il n'y a pas une période </a:t>
            </a:r>
            <a:r>
              <a:rPr lang="fr-BE" sz="2800" b="1" dirty="0"/>
              <a:t>ininterrompue</a:t>
            </a:r>
            <a:r>
              <a:rPr lang="fr-BE" sz="2800" dirty="0"/>
              <a:t> de travail ou de maladie ou de “lettre A” d'au moins 4 semaines consécutives.</a:t>
            </a:r>
          </a:p>
          <a:p>
            <a:pPr algn="just">
              <a:buFontTx/>
              <a:buChar char="-"/>
            </a:pPr>
            <a:r>
              <a:rPr lang="fr-BE" sz="2800" dirty="0"/>
              <a:t>l'OP </a:t>
            </a:r>
            <a:r>
              <a:rPr lang="fr-BE" sz="2800" b="1" dirty="0"/>
              <a:t>joint les cartes C3 / EC3 non indemnisables </a:t>
            </a:r>
            <a:r>
              <a:rPr lang="fr-BE" sz="2800" dirty="0"/>
              <a:t>au dossier paiement relatif au premier mois indemnisable qui suit.</a:t>
            </a:r>
            <a:endParaRPr lang="fr-FR" sz="2800" i="1" dirty="0"/>
          </a:p>
        </p:txBody>
      </p:sp>
      <p:sp>
        <p:nvSpPr>
          <p:cNvPr id="5" name="Espace réservé du numéro de diapositive 3"/>
          <p:cNvSpPr>
            <a:spLocks noGrp="1"/>
          </p:cNvSpPr>
          <p:nvPr>
            <p:ph type="sldNum" sz="quarter" idx="12"/>
          </p:nvPr>
        </p:nvSpPr>
        <p:spPr>
          <a:xfrm>
            <a:off x="8286776" y="6072206"/>
            <a:ext cx="400024" cy="365125"/>
          </a:xfrm>
        </p:spPr>
        <p:txBody>
          <a:bodyPr/>
          <a:lstStyle/>
          <a:p>
            <a:fld id="{55E9056B-6A30-4F99-BDE9-C450E66AE125}" type="slidenum">
              <a:rPr lang="fr-FR" smtClean="0">
                <a:solidFill>
                  <a:prstClr val="black">
                    <a:tint val="75000"/>
                  </a:prstClr>
                </a:solidFill>
              </a:rPr>
              <a:pPr/>
              <a:t>28</a:t>
            </a:fld>
            <a:endParaRPr lang="fr-FR" dirty="0">
              <a:solidFill>
                <a:prstClr val="black">
                  <a:tint val="75000"/>
                </a:prstClr>
              </a:solidFill>
            </a:endParaRPr>
          </a:p>
        </p:txBody>
      </p:sp>
    </p:spTree>
    <p:extLst>
      <p:ext uri="{BB962C8B-B14F-4D97-AF65-F5344CB8AC3E}">
        <p14:creationId xmlns:p14="http://schemas.microsoft.com/office/powerpoint/2010/main" val="990729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sz="3600" b="1" i="1" dirty="0"/>
              <a:t>Reprise de travail avec AGR</a:t>
            </a:r>
            <a:endParaRPr lang="en-US" sz="3600" dirty="0">
              <a:solidFill>
                <a:srgbClr val="C00000"/>
              </a:solidFill>
            </a:endParaRPr>
          </a:p>
        </p:txBody>
      </p:sp>
      <p:sp>
        <p:nvSpPr>
          <p:cNvPr id="3" name="Espace réservé du contenu 2"/>
          <p:cNvSpPr>
            <a:spLocks noGrp="1"/>
          </p:cNvSpPr>
          <p:nvPr>
            <p:ph idx="1"/>
          </p:nvPr>
        </p:nvSpPr>
        <p:spPr>
          <a:xfrm>
            <a:off x="457200" y="1268760"/>
            <a:ext cx="8229600" cy="5256584"/>
          </a:xfrm>
        </p:spPr>
        <p:txBody>
          <a:bodyPr>
            <a:noAutofit/>
          </a:bodyPr>
          <a:lstStyle/>
          <a:p>
            <a:pPr>
              <a:buNone/>
            </a:pPr>
            <a:r>
              <a:rPr lang="fr-FR" u="sng" dirty="0"/>
              <a:t>2</a:t>
            </a:r>
            <a:r>
              <a:rPr lang="fr-FR" u="sng" baseline="30000" dirty="0"/>
              <a:t>ème</a:t>
            </a:r>
            <a:r>
              <a:rPr lang="fr-FR" u="sng" dirty="0"/>
              <a:t> hypothèse</a:t>
            </a:r>
            <a:r>
              <a:rPr lang="fr-FR" dirty="0"/>
              <a:t>:  </a:t>
            </a:r>
          </a:p>
          <a:p>
            <a:pPr>
              <a:buNone/>
            </a:pPr>
            <a:r>
              <a:rPr lang="fr-FR" dirty="0"/>
              <a:t>Le travailleur choisit l’AGR</a:t>
            </a:r>
          </a:p>
          <a:p>
            <a:pPr>
              <a:buFont typeface="Wingdings" panose="05000000000000000000" pitchFamily="2" charset="2"/>
              <a:buChar char="Ø"/>
            </a:pPr>
            <a:r>
              <a:rPr lang="fr-FR" dirty="0"/>
              <a:t>Conditions cumulatives à remplir:</a:t>
            </a:r>
          </a:p>
          <a:p>
            <a:pPr lvl="1">
              <a:buFont typeface="Wingdings" pitchFamily="2" charset="2"/>
              <a:buChar char="§"/>
            </a:pPr>
            <a:r>
              <a:rPr lang="fr-FR" sz="3000" dirty="0"/>
              <a:t>Occupation </a:t>
            </a:r>
            <a:r>
              <a:rPr lang="fr-FR" sz="3000" b="1" dirty="0">
                <a:solidFill>
                  <a:schemeClr val="accent2">
                    <a:lumMod val="75000"/>
                  </a:schemeClr>
                </a:solidFill>
              </a:rPr>
              <a:t>≥ 1/3 </a:t>
            </a:r>
            <a:r>
              <a:rPr lang="fr-FR" sz="3000" dirty="0"/>
              <a:t>du temps plein (sauf dérogation)</a:t>
            </a:r>
          </a:p>
          <a:p>
            <a:pPr lvl="1">
              <a:buFont typeface="Wingdings" pitchFamily="2" charset="2"/>
              <a:buChar char="§"/>
            </a:pPr>
            <a:r>
              <a:rPr lang="fr-FR" sz="3000" dirty="0"/>
              <a:t>Occupation </a:t>
            </a:r>
            <a:r>
              <a:rPr lang="fr-FR" sz="3000" b="1" dirty="0">
                <a:solidFill>
                  <a:schemeClr val="accent2">
                    <a:lumMod val="75000"/>
                  </a:schemeClr>
                </a:solidFill>
              </a:rPr>
              <a:t>≤ 4/5 </a:t>
            </a:r>
            <a:r>
              <a:rPr lang="fr-FR" sz="3000" dirty="0"/>
              <a:t>du temps plein  </a:t>
            </a:r>
          </a:p>
          <a:p>
            <a:pPr lvl="1">
              <a:buFont typeface="Wingdings" pitchFamily="2" charset="2"/>
              <a:buChar char="§"/>
            </a:pPr>
            <a:r>
              <a:rPr lang="fr-FR" sz="3000" dirty="0"/>
              <a:t>Avoir droit à une rémunération mensuelle brute inférieure au salaire de référence </a:t>
            </a:r>
            <a:r>
              <a:rPr lang="fr-FR" sz="3000" b="1" dirty="0"/>
              <a:t>AR 131bis </a:t>
            </a:r>
            <a:r>
              <a:rPr lang="fr-FR" sz="3000" dirty="0"/>
              <a:t>: 1954,99€ (barème au 01.12.2022</a:t>
            </a:r>
            <a:r>
              <a:rPr lang="fr-FR" dirty="0"/>
              <a:t>)</a:t>
            </a:r>
          </a:p>
        </p:txBody>
      </p:sp>
      <p:sp>
        <p:nvSpPr>
          <p:cNvPr id="6" name="Espace réservé du numéro de diapositive 3"/>
          <p:cNvSpPr>
            <a:spLocks noGrp="1"/>
          </p:cNvSpPr>
          <p:nvPr>
            <p:ph type="sldNum" sz="quarter" idx="12"/>
          </p:nvPr>
        </p:nvSpPr>
        <p:spPr>
          <a:xfrm>
            <a:off x="8286776" y="6072206"/>
            <a:ext cx="400024" cy="365125"/>
          </a:xfrm>
        </p:spPr>
        <p:txBody>
          <a:bodyPr/>
          <a:lstStyle/>
          <a:p>
            <a:fld id="{55E9056B-6A30-4F99-BDE9-C450E66AE125}" type="slidenum">
              <a:rPr lang="fr-FR" smtClean="0">
                <a:solidFill>
                  <a:prstClr val="black">
                    <a:tint val="75000"/>
                  </a:prstClr>
                </a:solidFill>
              </a:rPr>
              <a:pPr/>
              <a:t>29</a:t>
            </a:fld>
            <a:endParaRPr lang="fr-FR" dirty="0">
              <a:solidFill>
                <a:prstClr val="black">
                  <a:tint val="75000"/>
                </a:prstClr>
              </a:solidFill>
            </a:endParaRPr>
          </a:p>
        </p:txBody>
      </p:sp>
    </p:spTree>
    <p:extLst>
      <p:ext uri="{BB962C8B-B14F-4D97-AF65-F5344CB8AC3E}">
        <p14:creationId xmlns:p14="http://schemas.microsoft.com/office/powerpoint/2010/main" val="76261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sz="3600" b="1" i="1" dirty="0"/>
              <a:t>Reprise de travail avec AGR</a:t>
            </a:r>
            <a:endParaRPr lang="fr-BE" sz="3600" b="1" i="1" dirty="0"/>
          </a:p>
        </p:txBody>
      </p:sp>
      <p:sp>
        <p:nvSpPr>
          <p:cNvPr id="3" name="Espace réservé du contenu 2"/>
          <p:cNvSpPr>
            <a:spLocks noGrp="1"/>
          </p:cNvSpPr>
          <p:nvPr>
            <p:ph idx="1"/>
          </p:nvPr>
        </p:nvSpPr>
        <p:spPr/>
        <p:txBody>
          <a:bodyPr>
            <a:normAutofit/>
          </a:bodyPr>
          <a:lstStyle/>
          <a:p>
            <a:pPr>
              <a:buFont typeface="Wingdings" pitchFamily="2" charset="2"/>
              <a:buChar char="§"/>
            </a:pPr>
            <a:r>
              <a:rPr lang="fr-BE" sz="3200" dirty="0"/>
              <a:t>L’AGR est calculé à partir du montant </a:t>
            </a:r>
            <a:r>
              <a:rPr lang="fr-BE" sz="3200" b="1" dirty="0"/>
              <a:t>mensuel</a:t>
            </a:r>
            <a:r>
              <a:rPr lang="fr-BE" sz="3200" dirty="0"/>
              <a:t> de l’allocation de chômage à laquelle le chômeur peut théoriquement prétendre en cas de chômage complet TTRV</a:t>
            </a:r>
          </a:p>
          <a:p>
            <a:pPr marL="274638" indent="0">
              <a:buNone/>
            </a:pPr>
            <a:r>
              <a:rPr lang="fr-BE" sz="3200" b="1" dirty="0">
                <a:solidFill>
                  <a:schemeClr val="accent2">
                    <a:lumMod val="75000"/>
                  </a:schemeClr>
                </a:solidFill>
              </a:rPr>
              <a:t>= Allocation de référence</a:t>
            </a:r>
            <a:r>
              <a:rPr lang="fr-BE" sz="3200" dirty="0">
                <a:solidFill>
                  <a:schemeClr val="accent2">
                    <a:lumMod val="75000"/>
                  </a:schemeClr>
                </a:solidFill>
              </a:rPr>
              <a:t>.</a:t>
            </a:r>
          </a:p>
          <a:p>
            <a:pPr>
              <a:buFont typeface="Wingdings" pitchFamily="2" charset="2"/>
              <a:buChar char="§"/>
            </a:pPr>
            <a:r>
              <a:rPr lang="fr-BE" sz="3200" dirty="0"/>
              <a:t>Pendant toute la durée de l’occupation en tant que TTRV avec AGR,</a:t>
            </a:r>
            <a:r>
              <a:rPr lang="fr-BE" sz="3200" b="1" dirty="0"/>
              <a:t> </a:t>
            </a:r>
            <a:r>
              <a:rPr lang="fr-BE" sz="3200" b="1" dirty="0">
                <a:solidFill>
                  <a:schemeClr val="accent2">
                    <a:lumMod val="75000"/>
                  </a:schemeClr>
                </a:solidFill>
              </a:rPr>
              <a:t>la cascade d’indemnisation suit son cours.</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30</a:t>
            </a:fld>
            <a:endParaRPr lang="fr-FR" dirty="0">
              <a:solidFill>
                <a:prstClr val="black">
                  <a:tint val="75000"/>
                </a:prstClr>
              </a:solidFill>
            </a:endParaRPr>
          </a:p>
        </p:txBody>
      </p:sp>
    </p:spTree>
    <p:extLst>
      <p:ext uri="{BB962C8B-B14F-4D97-AF65-F5344CB8AC3E}">
        <p14:creationId xmlns:p14="http://schemas.microsoft.com/office/powerpoint/2010/main" val="399166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sz="3600" b="1" i="1" dirty="0"/>
              <a:t>Reprise de travail avec AGR</a:t>
            </a:r>
            <a:endParaRPr lang="fr-BE" sz="3600" dirty="0"/>
          </a:p>
        </p:txBody>
      </p:sp>
      <p:sp>
        <p:nvSpPr>
          <p:cNvPr id="3" name="Espace réservé du contenu 2"/>
          <p:cNvSpPr>
            <a:spLocks noGrp="1"/>
          </p:cNvSpPr>
          <p:nvPr>
            <p:ph idx="1"/>
          </p:nvPr>
        </p:nvSpPr>
        <p:spPr/>
        <p:txBody>
          <a:bodyPr>
            <a:normAutofit fontScale="92500" lnSpcReduction="20000"/>
          </a:bodyPr>
          <a:lstStyle/>
          <a:p>
            <a:r>
              <a:rPr lang="fr-BE" b="1" u="sng" dirty="0"/>
              <a:t>L'allocation journalière</a:t>
            </a:r>
            <a:r>
              <a:rPr lang="fr-BE" b="1" dirty="0"/>
              <a:t> </a:t>
            </a:r>
            <a:r>
              <a:rPr lang="fr-BE" dirty="0"/>
              <a:t>= (la demi-allocation journalière(de référence) x le nombre de demi-allocations hebdomadaire auquel le travailleur à temps partiel volontaire a droit comme chômeur complet)/6</a:t>
            </a:r>
          </a:p>
          <a:p>
            <a:r>
              <a:rPr lang="fr-BE" dirty="0"/>
              <a:t>Exemple: </a:t>
            </a:r>
          </a:p>
          <a:p>
            <a:pPr lvl="1"/>
            <a:r>
              <a:rPr lang="fr-BE" dirty="0"/>
              <a:t>Allocation journalière pour 03/75A2A = </a:t>
            </a:r>
            <a:r>
              <a:rPr lang="fr-BE" b="1" dirty="0">
                <a:solidFill>
                  <a:schemeClr val="accent2">
                    <a:lumMod val="75000"/>
                  </a:schemeClr>
                </a:solidFill>
              </a:rPr>
              <a:t>31,52€</a:t>
            </a:r>
          </a:p>
          <a:p>
            <a:pPr lvl="1"/>
            <a:r>
              <a:rPr lang="fr-BE" dirty="0"/>
              <a:t>Régime d’indemnisation : droit à </a:t>
            </a:r>
            <a:r>
              <a:rPr lang="fr-BE" b="1" dirty="0">
                <a:solidFill>
                  <a:schemeClr val="accent2">
                    <a:lumMod val="75000"/>
                  </a:schemeClr>
                </a:solidFill>
              </a:rPr>
              <a:t>8 ½</a:t>
            </a:r>
            <a:r>
              <a:rPr lang="fr-BE" dirty="0"/>
              <a:t> allocations par semaine</a:t>
            </a:r>
          </a:p>
          <a:p>
            <a:pPr lvl="1">
              <a:buFont typeface="Wingdings" panose="05000000000000000000" pitchFamily="2" charset="2"/>
              <a:buChar char="è"/>
            </a:pPr>
            <a:r>
              <a:rPr lang="fr-BE" dirty="0">
                <a:sym typeface="Wingdings" panose="05000000000000000000" pitchFamily="2" charset="2"/>
              </a:rPr>
              <a:t>31,52 X 8 / 6  = </a:t>
            </a:r>
            <a:r>
              <a:rPr lang="fr-BE" b="1" dirty="0">
                <a:solidFill>
                  <a:schemeClr val="accent2">
                    <a:lumMod val="75000"/>
                  </a:schemeClr>
                </a:solidFill>
                <a:sym typeface="Wingdings" panose="05000000000000000000" pitchFamily="2" charset="2"/>
              </a:rPr>
              <a:t>42,03 € *</a:t>
            </a:r>
          </a:p>
          <a:p>
            <a:pPr marL="457200" lvl="1" indent="0">
              <a:buNone/>
            </a:pPr>
            <a:r>
              <a:rPr lang="fr-BE" sz="2200" dirty="0">
                <a:sym typeface="Wingdings" panose="05000000000000000000" pitchFamily="2" charset="2"/>
              </a:rPr>
              <a:t>* arrondissement se fait au cent supérieur si le 3</a:t>
            </a:r>
            <a:r>
              <a:rPr lang="fr-BE" sz="2200" baseline="30000" dirty="0">
                <a:sym typeface="Wingdings" panose="05000000000000000000" pitchFamily="2" charset="2"/>
              </a:rPr>
              <a:t>ème</a:t>
            </a:r>
            <a:r>
              <a:rPr lang="fr-BE" sz="2200" dirty="0">
                <a:sym typeface="Wingdings" panose="05000000000000000000" pitchFamily="2" charset="2"/>
              </a:rPr>
              <a:t> chiffre après la virgule atteint 5.</a:t>
            </a:r>
            <a:endParaRPr lang="fr-BE" sz="22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31</a:t>
            </a:fld>
            <a:endParaRPr lang="fr-FR" dirty="0">
              <a:solidFill>
                <a:prstClr val="black">
                  <a:tint val="75000"/>
                </a:prstClr>
              </a:solidFill>
            </a:endParaRPr>
          </a:p>
        </p:txBody>
      </p:sp>
    </p:spTree>
    <p:extLst>
      <p:ext uri="{BB962C8B-B14F-4D97-AF65-F5344CB8AC3E}">
        <p14:creationId xmlns:p14="http://schemas.microsoft.com/office/powerpoint/2010/main" val="11143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C0C513-45E2-4940-9AD5-0EAFA5315ED7}"/>
              </a:ext>
            </a:extLst>
          </p:cNvPr>
          <p:cNvSpPr>
            <a:spLocks noGrp="1"/>
          </p:cNvSpPr>
          <p:nvPr>
            <p:ph type="title"/>
          </p:nvPr>
        </p:nvSpPr>
        <p:spPr/>
        <p:txBody>
          <a:bodyPr/>
          <a:lstStyle/>
          <a:p>
            <a:pPr algn="r"/>
            <a:r>
              <a:rPr lang="fr-FR" b="1" i="1" dirty="0"/>
              <a:t>Statut TTRV et reprise de travail</a:t>
            </a:r>
            <a:endParaRPr lang="fr-BE" dirty="0"/>
          </a:p>
        </p:txBody>
      </p:sp>
      <p:sp>
        <p:nvSpPr>
          <p:cNvPr id="3" name="Espace réservé du contenu 2">
            <a:extLst>
              <a:ext uri="{FF2B5EF4-FFF2-40B4-BE49-F238E27FC236}">
                <a16:creationId xmlns:a16="http://schemas.microsoft.com/office/drawing/2014/main" id="{DFAA1A26-A2AC-423F-9771-F4534F8CAA43}"/>
              </a:ext>
            </a:extLst>
          </p:cNvPr>
          <p:cNvSpPr>
            <a:spLocks noGrp="1"/>
          </p:cNvSpPr>
          <p:nvPr>
            <p:ph idx="1"/>
          </p:nvPr>
        </p:nvSpPr>
        <p:spPr/>
        <p:txBody>
          <a:bodyPr>
            <a:normAutofit lnSpcReduction="10000"/>
          </a:bodyPr>
          <a:lstStyle/>
          <a:p>
            <a:pPr marL="0" indent="0" algn="just">
              <a:buNone/>
            </a:pPr>
            <a:r>
              <a:rPr lang="fr-BE" sz="2200" b="1" u="sng" dirty="0"/>
              <a:t>Enoncé 4:</a:t>
            </a:r>
          </a:p>
          <a:p>
            <a:pPr marL="0" indent="0" algn="just">
              <a:buNone/>
            </a:pPr>
            <a:endParaRPr lang="fr-BE" sz="1800" b="1" u="sng" dirty="0"/>
          </a:p>
          <a:p>
            <a:pPr marL="0" indent="0" algn="just">
              <a:buNone/>
            </a:pPr>
            <a:r>
              <a:rPr lang="fr-BE" sz="1800" dirty="0"/>
              <a:t>Notre affilié est en chômage complet sur base d’un temps partiel volontaire au 03.05.2022 avec  N = 6     et connait la cascade suivante:</a:t>
            </a:r>
          </a:p>
          <a:p>
            <a:pPr marL="0" indent="0" algn="just">
              <a:buNone/>
            </a:pPr>
            <a:endParaRPr lang="fr-BE" sz="1800" dirty="0"/>
          </a:p>
          <a:p>
            <a:pPr marL="0" indent="0" algn="just">
              <a:buNone/>
            </a:pPr>
            <a:r>
              <a:rPr lang="fr-BE" sz="1800" dirty="0"/>
              <a:t>03.05.2022 - 03/78B11   art. d’admission 33</a:t>
            </a:r>
          </a:p>
          <a:p>
            <a:pPr marL="0" indent="0" algn="just">
              <a:buNone/>
            </a:pPr>
            <a:r>
              <a:rPr lang="fr-BE" sz="1800" dirty="0"/>
              <a:t>03.08.2022 - 03/78B12   art. d’indemnisation 110§3</a:t>
            </a:r>
          </a:p>
          <a:p>
            <a:pPr marL="0" indent="0" algn="just">
              <a:buNone/>
            </a:pPr>
            <a:r>
              <a:rPr lang="fr-BE" sz="1800" dirty="0"/>
              <a:t>03.11.2022 - 03/78B13</a:t>
            </a:r>
          </a:p>
          <a:p>
            <a:pPr marL="0" indent="0" algn="just">
              <a:buNone/>
            </a:pPr>
            <a:r>
              <a:rPr lang="fr-BE" sz="1800" dirty="0"/>
              <a:t>03.05.2023 - 03/78B2A</a:t>
            </a:r>
          </a:p>
          <a:p>
            <a:pPr marL="0" indent="0" algn="just">
              <a:buNone/>
            </a:pPr>
            <a:r>
              <a:rPr lang="fr-BE" sz="1800" dirty="0"/>
              <a:t>03.07.2023 - 03/78B29</a:t>
            </a:r>
          </a:p>
          <a:p>
            <a:pPr marL="0" indent="0" algn="just">
              <a:buNone/>
            </a:pPr>
            <a:endParaRPr lang="fr-BE" sz="1800" dirty="0"/>
          </a:p>
          <a:p>
            <a:pPr marL="0" indent="0" algn="just">
              <a:buNone/>
            </a:pPr>
            <a:r>
              <a:rPr lang="fr-BE" sz="1800" dirty="0"/>
              <a:t>Le 01.06.2022, il recommence à travailler en CDI sur base d’un 13/38 en tant qu’ouvrier. Il déclare travailler 8h tous les lundi, et 5h tous les mercredi. Enfin, il perçoit un salaire horaire de 14,07 €.</a:t>
            </a:r>
          </a:p>
          <a:p>
            <a:pPr marL="0" indent="0" algn="just">
              <a:buNone/>
            </a:pPr>
            <a:r>
              <a:rPr lang="fr-BE" sz="1800" dirty="0"/>
              <a:t>Que proposez-vous à l’affilié?</a:t>
            </a:r>
          </a:p>
          <a:p>
            <a:pPr marL="0" indent="0" algn="just">
              <a:buNone/>
            </a:pPr>
            <a:endParaRPr lang="fr-BE" sz="1800" dirty="0"/>
          </a:p>
        </p:txBody>
      </p:sp>
      <p:sp>
        <p:nvSpPr>
          <p:cNvPr id="4" name="Espace réservé du numéro de diapositive 3">
            <a:extLst>
              <a:ext uri="{FF2B5EF4-FFF2-40B4-BE49-F238E27FC236}">
                <a16:creationId xmlns:a16="http://schemas.microsoft.com/office/drawing/2014/main" id="{A70CAFA6-3327-4FB0-A046-A7E792AF4A80}"/>
              </a:ext>
            </a:extLst>
          </p:cNvPr>
          <p:cNvSpPr>
            <a:spLocks noGrp="1"/>
          </p:cNvSpPr>
          <p:nvPr>
            <p:ph type="sldNum" sz="quarter" idx="12"/>
          </p:nvPr>
        </p:nvSpPr>
        <p:spPr/>
        <p:txBody>
          <a:bodyPr/>
          <a:lstStyle/>
          <a:p>
            <a:fld id="{55E9056B-6A30-4F99-BDE9-C450E66AE125}" type="slidenum">
              <a:rPr lang="fr-FR" smtClean="0"/>
              <a:pPr/>
              <a:t>32</a:t>
            </a:fld>
            <a:endParaRPr lang="fr-FR" dirty="0"/>
          </a:p>
        </p:txBody>
      </p:sp>
    </p:spTree>
    <p:extLst>
      <p:ext uri="{BB962C8B-B14F-4D97-AF65-F5344CB8AC3E}">
        <p14:creationId xmlns:p14="http://schemas.microsoft.com/office/powerpoint/2010/main" val="2000882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2BA9C9-E378-4FB6-B7AD-D3472F3D1BC3}"/>
              </a:ext>
            </a:extLst>
          </p:cNvPr>
          <p:cNvSpPr>
            <a:spLocks noGrp="1"/>
          </p:cNvSpPr>
          <p:nvPr>
            <p:ph type="title"/>
          </p:nvPr>
        </p:nvSpPr>
        <p:spPr>
          <a:xfrm>
            <a:off x="409260" y="154424"/>
            <a:ext cx="8229600" cy="1143000"/>
          </a:xfrm>
        </p:spPr>
        <p:txBody>
          <a:bodyPr/>
          <a:lstStyle/>
          <a:p>
            <a:pPr algn="r"/>
            <a:r>
              <a:rPr lang="fr-FR" b="1" i="1" dirty="0"/>
              <a:t>Statut TTRV et reprise de travail</a:t>
            </a:r>
            <a:endParaRPr lang="fr-BE" dirty="0"/>
          </a:p>
        </p:txBody>
      </p:sp>
      <p:sp>
        <p:nvSpPr>
          <p:cNvPr id="4" name="Espace réservé du numéro de diapositive 3">
            <a:extLst>
              <a:ext uri="{FF2B5EF4-FFF2-40B4-BE49-F238E27FC236}">
                <a16:creationId xmlns:a16="http://schemas.microsoft.com/office/drawing/2014/main" id="{BC09490A-D1E8-4170-A78C-98C198DFCCC7}"/>
              </a:ext>
            </a:extLst>
          </p:cNvPr>
          <p:cNvSpPr>
            <a:spLocks noGrp="1"/>
          </p:cNvSpPr>
          <p:nvPr>
            <p:ph type="sldNum" sz="quarter" idx="12"/>
          </p:nvPr>
        </p:nvSpPr>
        <p:spPr/>
        <p:txBody>
          <a:bodyPr/>
          <a:lstStyle/>
          <a:p>
            <a:fld id="{55E9056B-6A30-4F99-BDE9-C450E66AE125}" type="slidenum">
              <a:rPr lang="fr-FR" smtClean="0"/>
              <a:pPr/>
              <a:t>33</a:t>
            </a:fld>
            <a:endParaRPr lang="fr-FR" dirty="0"/>
          </a:p>
        </p:txBody>
      </p:sp>
      <p:pic>
        <p:nvPicPr>
          <p:cNvPr id="1026" name="Picture 2" descr="Afficher l’image source">
            <a:extLst>
              <a:ext uri="{FF2B5EF4-FFF2-40B4-BE49-F238E27FC236}">
                <a16:creationId xmlns:a16="http://schemas.microsoft.com/office/drawing/2014/main" id="{2BA17B0A-45C6-4ADD-AEE5-BDE1A9E5F0D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09260" y="1916832"/>
            <a:ext cx="5972648" cy="452596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2FFB64D-4FA5-485D-A340-F0261A7B115A}"/>
              </a:ext>
            </a:extLst>
          </p:cNvPr>
          <p:cNvSpPr/>
          <p:nvPr/>
        </p:nvSpPr>
        <p:spPr>
          <a:xfrm>
            <a:off x="3023608" y="3024022"/>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7" name="Rectangle 6">
            <a:extLst>
              <a:ext uri="{FF2B5EF4-FFF2-40B4-BE49-F238E27FC236}">
                <a16:creationId xmlns:a16="http://schemas.microsoft.com/office/drawing/2014/main" id="{9EB6696E-B347-4ED4-BD24-239251CBF027}"/>
              </a:ext>
            </a:extLst>
          </p:cNvPr>
          <p:cNvSpPr/>
          <p:nvPr/>
        </p:nvSpPr>
        <p:spPr>
          <a:xfrm>
            <a:off x="3023608" y="3722627"/>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8" name="Rectangle 7">
            <a:extLst>
              <a:ext uri="{FF2B5EF4-FFF2-40B4-BE49-F238E27FC236}">
                <a16:creationId xmlns:a16="http://schemas.microsoft.com/office/drawing/2014/main" id="{763B7269-F520-4232-8BC3-9E183428AC81}"/>
              </a:ext>
            </a:extLst>
          </p:cNvPr>
          <p:cNvSpPr/>
          <p:nvPr/>
        </p:nvSpPr>
        <p:spPr>
          <a:xfrm>
            <a:off x="3020448" y="4411922"/>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9" name="Rectangle 8">
            <a:extLst>
              <a:ext uri="{FF2B5EF4-FFF2-40B4-BE49-F238E27FC236}">
                <a16:creationId xmlns:a16="http://schemas.microsoft.com/office/drawing/2014/main" id="{8D748F68-1C4D-4C4A-80D3-377B5F8DDD16}"/>
              </a:ext>
            </a:extLst>
          </p:cNvPr>
          <p:cNvSpPr/>
          <p:nvPr/>
        </p:nvSpPr>
        <p:spPr>
          <a:xfrm>
            <a:off x="3035544" y="5101217"/>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0" name="Rectangle 9">
            <a:extLst>
              <a:ext uri="{FF2B5EF4-FFF2-40B4-BE49-F238E27FC236}">
                <a16:creationId xmlns:a16="http://schemas.microsoft.com/office/drawing/2014/main" id="{A8CC8BD0-282A-4DB4-93BE-B0D4B62031E5}"/>
              </a:ext>
            </a:extLst>
          </p:cNvPr>
          <p:cNvSpPr/>
          <p:nvPr/>
        </p:nvSpPr>
        <p:spPr>
          <a:xfrm>
            <a:off x="3035544" y="5790512"/>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7" name="Rectangle 16">
            <a:extLst>
              <a:ext uri="{FF2B5EF4-FFF2-40B4-BE49-F238E27FC236}">
                <a16:creationId xmlns:a16="http://schemas.microsoft.com/office/drawing/2014/main" id="{A01026FF-C341-4730-913C-F97EDB4CA2EE}"/>
              </a:ext>
            </a:extLst>
          </p:cNvPr>
          <p:cNvSpPr/>
          <p:nvPr/>
        </p:nvSpPr>
        <p:spPr>
          <a:xfrm>
            <a:off x="1341316" y="3722627"/>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8" name="Rectangle 17">
            <a:extLst>
              <a:ext uri="{FF2B5EF4-FFF2-40B4-BE49-F238E27FC236}">
                <a16:creationId xmlns:a16="http://schemas.microsoft.com/office/drawing/2014/main" id="{43646296-9329-474C-ABE3-271EAEBAF1D7}"/>
              </a:ext>
            </a:extLst>
          </p:cNvPr>
          <p:cNvSpPr/>
          <p:nvPr/>
        </p:nvSpPr>
        <p:spPr>
          <a:xfrm>
            <a:off x="1341316" y="4411922"/>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9" name="Rectangle 18">
            <a:extLst>
              <a:ext uri="{FF2B5EF4-FFF2-40B4-BE49-F238E27FC236}">
                <a16:creationId xmlns:a16="http://schemas.microsoft.com/office/drawing/2014/main" id="{CF2AA901-A809-4AE8-A693-71EDD216DB75}"/>
              </a:ext>
            </a:extLst>
          </p:cNvPr>
          <p:cNvSpPr/>
          <p:nvPr/>
        </p:nvSpPr>
        <p:spPr>
          <a:xfrm>
            <a:off x="1328272" y="5101217"/>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20" name="Rectangle 19">
            <a:extLst>
              <a:ext uri="{FF2B5EF4-FFF2-40B4-BE49-F238E27FC236}">
                <a16:creationId xmlns:a16="http://schemas.microsoft.com/office/drawing/2014/main" id="{A1D36A03-155E-44CD-8225-FEBDD273DC57}"/>
              </a:ext>
            </a:extLst>
          </p:cNvPr>
          <p:cNvSpPr/>
          <p:nvPr/>
        </p:nvSpPr>
        <p:spPr>
          <a:xfrm>
            <a:off x="1328272" y="5790512"/>
            <a:ext cx="648072" cy="6068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3" name="ZoneTexte 2">
            <a:extLst>
              <a:ext uri="{FF2B5EF4-FFF2-40B4-BE49-F238E27FC236}">
                <a16:creationId xmlns:a16="http://schemas.microsoft.com/office/drawing/2014/main" id="{C3CD02EB-87FA-4932-8C3F-63FE8CD31B61}"/>
              </a:ext>
            </a:extLst>
          </p:cNvPr>
          <p:cNvSpPr txBox="1"/>
          <p:nvPr/>
        </p:nvSpPr>
        <p:spPr>
          <a:xfrm>
            <a:off x="409260" y="1484784"/>
            <a:ext cx="2146516" cy="369332"/>
          </a:xfrm>
          <a:prstGeom prst="rect">
            <a:avLst/>
          </a:prstGeom>
          <a:noFill/>
        </p:spPr>
        <p:txBody>
          <a:bodyPr wrap="square" rtlCol="0">
            <a:spAutoFit/>
          </a:bodyPr>
          <a:lstStyle/>
          <a:p>
            <a:r>
              <a:rPr lang="fr-BE" b="1" u="sng" dirty="0"/>
              <a:t>1</a:t>
            </a:r>
            <a:r>
              <a:rPr lang="fr-BE" b="1" u="sng" baseline="30000" dirty="0"/>
              <a:t>ère</a:t>
            </a:r>
            <a:r>
              <a:rPr lang="fr-BE" b="1" u="sng" dirty="0"/>
              <a:t> hypothèse:</a:t>
            </a:r>
          </a:p>
        </p:txBody>
      </p:sp>
    </p:spTree>
    <p:extLst>
      <p:ext uri="{BB962C8B-B14F-4D97-AF65-F5344CB8AC3E}">
        <p14:creationId xmlns:p14="http://schemas.microsoft.com/office/powerpoint/2010/main" val="2723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7" grpId="0" animBg="1"/>
      <p:bldP spid="18" grpId="0" animBg="1"/>
      <p:bldP spid="19" grpId="0" animBg="1"/>
      <p:bldP spid="20" grpId="0" animBg="1"/>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8DCC31-D40C-442E-8122-CC666AC9C987}"/>
              </a:ext>
            </a:extLst>
          </p:cNvPr>
          <p:cNvSpPr>
            <a:spLocks noGrp="1"/>
          </p:cNvSpPr>
          <p:nvPr>
            <p:ph type="title"/>
          </p:nvPr>
        </p:nvSpPr>
        <p:spPr>
          <a:xfrm>
            <a:off x="457200" y="289508"/>
            <a:ext cx="8229600" cy="1143000"/>
          </a:xfrm>
        </p:spPr>
        <p:txBody>
          <a:bodyPr/>
          <a:lstStyle/>
          <a:p>
            <a:pPr algn="r"/>
            <a:r>
              <a:rPr lang="fr-FR" b="1" i="1" dirty="0"/>
              <a:t>Statut TTRV et reprise de travail</a:t>
            </a:r>
            <a:endParaRPr lang="fr-BE" dirty="0"/>
          </a:p>
        </p:txBody>
      </p:sp>
      <p:pic>
        <p:nvPicPr>
          <p:cNvPr id="6" name="Espace réservé du contenu 5">
            <a:extLst>
              <a:ext uri="{FF2B5EF4-FFF2-40B4-BE49-F238E27FC236}">
                <a16:creationId xmlns:a16="http://schemas.microsoft.com/office/drawing/2014/main" id="{E0964DE4-1D49-463E-B196-9D077432788B}"/>
              </a:ext>
            </a:extLst>
          </p:cNvPr>
          <p:cNvPicPr>
            <a:picLocks noGrp="1" noChangeAspect="1"/>
          </p:cNvPicPr>
          <p:nvPr>
            <p:ph idx="1"/>
          </p:nvPr>
        </p:nvPicPr>
        <p:blipFill>
          <a:blip r:embed="rId2"/>
          <a:stretch>
            <a:fillRect/>
          </a:stretch>
        </p:blipFill>
        <p:spPr>
          <a:xfrm>
            <a:off x="457200" y="2029636"/>
            <a:ext cx="7210859" cy="3464697"/>
          </a:xfrm>
        </p:spPr>
      </p:pic>
      <p:sp>
        <p:nvSpPr>
          <p:cNvPr id="4" name="Espace réservé du numéro de diapositive 3">
            <a:extLst>
              <a:ext uri="{FF2B5EF4-FFF2-40B4-BE49-F238E27FC236}">
                <a16:creationId xmlns:a16="http://schemas.microsoft.com/office/drawing/2014/main" id="{DDA901EE-2AF1-4B24-89DF-06355C076C2D}"/>
              </a:ext>
            </a:extLst>
          </p:cNvPr>
          <p:cNvSpPr>
            <a:spLocks noGrp="1"/>
          </p:cNvSpPr>
          <p:nvPr>
            <p:ph type="sldNum" sz="quarter" idx="12"/>
          </p:nvPr>
        </p:nvSpPr>
        <p:spPr/>
        <p:txBody>
          <a:bodyPr/>
          <a:lstStyle/>
          <a:p>
            <a:fld id="{55E9056B-6A30-4F99-BDE9-C450E66AE125}" type="slidenum">
              <a:rPr lang="fr-FR" smtClean="0"/>
              <a:pPr/>
              <a:t>34</a:t>
            </a:fld>
            <a:endParaRPr lang="fr-FR" dirty="0"/>
          </a:p>
        </p:txBody>
      </p:sp>
      <p:sp>
        <p:nvSpPr>
          <p:cNvPr id="3" name="ZoneTexte 2">
            <a:extLst>
              <a:ext uri="{FF2B5EF4-FFF2-40B4-BE49-F238E27FC236}">
                <a16:creationId xmlns:a16="http://schemas.microsoft.com/office/drawing/2014/main" id="{3CF77975-067B-4678-8741-D947AAA6CFFD}"/>
              </a:ext>
            </a:extLst>
          </p:cNvPr>
          <p:cNvSpPr txBox="1"/>
          <p:nvPr/>
        </p:nvSpPr>
        <p:spPr>
          <a:xfrm>
            <a:off x="456915" y="1628800"/>
            <a:ext cx="2746933" cy="367052"/>
          </a:xfrm>
          <a:prstGeom prst="rect">
            <a:avLst/>
          </a:prstGeom>
          <a:noFill/>
        </p:spPr>
        <p:txBody>
          <a:bodyPr wrap="square" rtlCol="0">
            <a:spAutoFit/>
          </a:bodyPr>
          <a:lstStyle/>
          <a:p>
            <a:r>
              <a:rPr lang="fr-BE" b="1" u="sng" dirty="0"/>
              <a:t>2</a:t>
            </a:r>
            <a:r>
              <a:rPr lang="fr-BE" b="1" u="sng" baseline="30000" dirty="0"/>
              <a:t>ème</a:t>
            </a:r>
            <a:r>
              <a:rPr lang="fr-BE" b="1" u="sng" dirty="0"/>
              <a:t> hypothèse:</a:t>
            </a:r>
          </a:p>
        </p:txBody>
      </p:sp>
      <p:grpSp>
        <p:nvGrpSpPr>
          <p:cNvPr id="7" name="Groupe 6">
            <a:extLst>
              <a:ext uri="{FF2B5EF4-FFF2-40B4-BE49-F238E27FC236}">
                <a16:creationId xmlns:a16="http://schemas.microsoft.com/office/drawing/2014/main" id="{C8E2B227-E6AB-495E-B465-39C0DC7AB2FD}"/>
              </a:ext>
            </a:extLst>
          </p:cNvPr>
          <p:cNvGrpSpPr/>
          <p:nvPr/>
        </p:nvGrpSpPr>
        <p:grpSpPr>
          <a:xfrm>
            <a:off x="456915" y="5494333"/>
            <a:ext cx="7211144" cy="828233"/>
            <a:chOff x="456915" y="5494333"/>
            <a:chExt cx="7211144" cy="828233"/>
          </a:xfrm>
        </p:grpSpPr>
        <p:pic>
          <p:nvPicPr>
            <p:cNvPr id="8" name="Image 7">
              <a:extLst>
                <a:ext uri="{FF2B5EF4-FFF2-40B4-BE49-F238E27FC236}">
                  <a16:creationId xmlns:a16="http://schemas.microsoft.com/office/drawing/2014/main" id="{06462C9E-3193-4D7B-9D10-D83A29CFFD7A}"/>
                </a:ext>
              </a:extLst>
            </p:cNvPr>
            <p:cNvPicPr>
              <a:picLocks noChangeAspect="1"/>
            </p:cNvPicPr>
            <p:nvPr/>
          </p:nvPicPr>
          <p:blipFill>
            <a:blip r:embed="rId3"/>
            <a:stretch>
              <a:fillRect/>
            </a:stretch>
          </p:blipFill>
          <p:spPr>
            <a:xfrm>
              <a:off x="456915" y="5494333"/>
              <a:ext cx="7211144" cy="828233"/>
            </a:xfrm>
            <a:prstGeom prst="rect">
              <a:avLst/>
            </a:prstGeom>
          </p:spPr>
        </p:pic>
        <p:sp>
          <p:nvSpPr>
            <p:cNvPr id="5" name="Rectangle 4">
              <a:extLst>
                <a:ext uri="{FF2B5EF4-FFF2-40B4-BE49-F238E27FC236}">
                  <a16:creationId xmlns:a16="http://schemas.microsoft.com/office/drawing/2014/main" id="{FC908D41-1A42-473C-809E-1C935767657F}"/>
                </a:ext>
              </a:extLst>
            </p:cNvPr>
            <p:cNvSpPr/>
            <p:nvPr/>
          </p:nvSpPr>
          <p:spPr>
            <a:xfrm>
              <a:off x="2411760" y="5678140"/>
              <a:ext cx="136815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9" name="Rectangle 8">
              <a:extLst>
                <a:ext uri="{FF2B5EF4-FFF2-40B4-BE49-F238E27FC236}">
                  <a16:creationId xmlns:a16="http://schemas.microsoft.com/office/drawing/2014/main" id="{4F030341-6F2A-4369-B436-2FC3F7248074}"/>
                </a:ext>
              </a:extLst>
            </p:cNvPr>
            <p:cNvSpPr/>
            <p:nvPr/>
          </p:nvSpPr>
          <p:spPr>
            <a:xfrm>
              <a:off x="5734757" y="5732780"/>
              <a:ext cx="1368152" cy="233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10" name="Rectangle 9">
              <a:extLst>
                <a:ext uri="{FF2B5EF4-FFF2-40B4-BE49-F238E27FC236}">
                  <a16:creationId xmlns:a16="http://schemas.microsoft.com/office/drawing/2014/main" id="{00ED39AF-2C87-45A3-8F8D-F628F04DCE2F}"/>
                </a:ext>
              </a:extLst>
            </p:cNvPr>
            <p:cNvSpPr/>
            <p:nvPr/>
          </p:nvSpPr>
          <p:spPr>
            <a:xfrm>
              <a:off x="2396664" y="6034534"/>
              <a:ext cx="136815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11" name="Rectangle 10">
              <a:extLst>
                <a:ext uri="{FF2B5EF4-FFF2-40B4-BE49-F238E27FC236}">
                  <a16:creationId xmlns:a16="http://schemas.microsoft.com/office/drawing/2014/main" id="{ECEF0279-7529-4457-8F55-E5D10005181E}"/>
                </a:ext>
              </a:extLst>
            </p:cNvPr>
            <p:cNvSpPr/>
            <p:nvPr/>
          </p:nvSpPr>
          <p:spPr>
            <a:xfrm>
              <a:off x="5670037" y="5999956"/>
              <a:ext cx="136815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grpSp>
    </p:spTree>
    <p:extLst>
      <p:ext uri="{BB962C8B-B14F-4D97-AF65-F5344CB8AC3E}">
        <p14:creationId xmlns:p14="http://schemas.microsoft.com/office/powerpoint/2010/main" val="1809991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8E60C1-A220-42C7-93FD-FBCBE01BCE0A}"/>
              </a:ext>
            </a:extLst>
          </p:cNvPr>
          <p:cNvSpPr>
            <a:spLocks noGrp="1"/>
          </p:cNvSpPr>
          <p:nvPr>
            <p:ph type="title"/>
          </p:nvPr>
        </p:nvSpPr>
        <p:spPr/>
        <p:txBody>
          <a:bodyPr/>
          <a:lstStyle/>
          <a:p>
            <a:pPr algn="r"/>
            <a:r>
              <a:rPr lang="fr-FR" sz="4400" b="1" i="1" dirty="0"/>
              <a:t>Reprise de travail avec AGR</a:t>
            </a:r>
            <a:endParaRPr lang="fr-BE" b="1" i="1" dirty="0"/>
          </a:p>
        </p:txBody>
      </p:sp>
      <p:graphicFrame>
        <p:nvGraphicFramePr>
          <p:cNvPr id="6" name="Tableau 6">
            <a:extLst>
              <a:ext uri="{FF2B5EF4-FFF2-40B4-BE49-F238E27FC236}">
                <a16:creationId xmlns:a16="http://schemas.microsoft.com/office/drawing/2014/main" id="{21592638-0FBF-48DA-89B9-9002AB6A5AF7}"/>
              </a:ext>
            </a:extLst>
          </p:cNvPr>
          <p:cNvGraphicFramePr>
            <a:graphicFrameLocks noGrp="1"/>
          </p:cNvGraphicFramePr>
          <p:nvPr>
            <p:ph idx="1"/>
          </p:nvPr>
        </p:nvGraphicFramePr>
        <p:xfrm>
          <a:off x="457200" y="1600200"/>
          <a:ext cx="8229600" cy="4180840"/>
        </p:xfrm>
        <a:graphic>
          <a:graphicData uri="http://schemas.openxmlformats.org/drawingml/2006/table">
            <a:tbl>
              <a:tblPr firstRow="1" bandRow="1">
                <a:tableStyleId>{F5AB1C69-6EDB-4FF4-983F-18BD219EF322}</a:tableStyleId>
              </a:tblPr>
              <a:tblGrid>
                <a:gridCol w="2743200">
                  <a:extLst>
                    <a:ext uri="{9D8B030D-6E8A-4147-A177-3AD203B41FA5}">
                      <a16:colId xmlns:a16="http://schemas.microsoft.com/office/drawing/2014/main" val="1693666720"/>
                    </a:ext>
                  </a:extLst>
                </a:gridCol>
                <a:gridCol w="2743200">
                  <a:extLst>
                    <a:ext uri="{9D8B030D-6E8A-4147-A177-3AD203B41FA5}">
                      <a16:colId xmlns:a16="http://schemas.microsoft.com/office/drawing/2014/main" val="2997988598"/>
                    </a:ext>
                  </a:extLst>
                </a:gridCol>
                <a:gridCol w="2743200">
                  <a:extLst>
                    <a:ext uri="{9D8B030D-6E8A-4147-A177-3AD203B41FA5}">
                      <a16:colId xmlns:a16="http://schemas.microsoft.com/office/drawing/2014/main" val="492430775"/>
                    </a:ext>
                  </a:extLst>
                </a:gridCol>
              </a:tblGrid>
              <a:tr h="370840">
                <a:tc>
                  <a:txBody>
                    <a:bodyPr/>
                    <a:lstStyle/>
                    <a:p>
                      <a:pPr algn="ctr"/>
                      <a:r>
                        <a:rPr lang="fr-BE" sz="2000" dirty="0">
                          <a:solidFill>
                            <a:schemeClr val="tx1"/>
                          </a:solidFill>
                        </a:rPr>
                        <a:t>Situation familiale</a:t>
                      </a:r>
                    </a:p>
                  </a:txBody>
                  <a:tcPr>
                    <a:solidFill>
                      <a:srgbClr val="92D050"/>
                    </a:solidFill>
                  </a:tcPr>
                </a:tc>
                <a:tc>
                  <a:txBody>
                    <a:bodyPr/>
                    <a:lstStyle/>
                    <a:p>
                      <a:pPr algn="l"/>
                      <a:r>
                        <a:rPr lang="fr-BE" sz="2000" dirty="0">
                          <a:solidFill>
                            <a:schemeClr val="tx1"/>
                          </a:solidFill>
                        </a:rPr>
                        <a:t>Droit à l’AGR pendant la phase …</a:t>
                      </a:r>
                    </a:p>
                  </a:txBody>
                  <a:tcPr>
                    <a:solidFill>
                      <a:srgbClr val="92D050"/>
                    </a:solidFill>
                  </a:tcPr>
                </a:tc>
                <a:tc>
                  <a:txBody>
                    <a:bodyPr/>
                    <a:lstStyle/>
                    <a:p>
                      <a:r>
                        <a:rPr lang="fr-BE" sz="2000" dirty="0">
                          <a:solidFill>
                            <a:schemeClr val="tx1"/>
                          </a:solidFill>
                        </a:rPr>
                        <a:t>Allocation de référence</a:t>
                      </a:r>
                    </a:p>
                  </a:txBody>
                  <a:tcPr>
                    <a:solidFill>
                      <a:srgbClr val="92D050"/>
                    </a:solidFill>
                  </a:tcPr>
                </a:tc>
                <a:extLst>
                  <a:ext uri="{0D108BD9-81ED-4DB2-BD59-A6C34878D82A}">
                    <a16:rowId xmlns:a16="http://schemas.microsoft.com/office/drawing/2014/main" val="1781805021"/>
                  </a:ext>
                </a:extLst>
              </a:tr>
              <a:tr h="123613">
                <a:tc rowSpan="3">
                  <a:txBody>
                    <a:bodyPr/>
                    <a:lstStyle/>
                    <a:p>
                      <a:pPr algn="ctr"/>
                      <a:r>
                        <a:rPr lang="fr-BE" sz="2400" b="1" spc="600" dirty="0"/>
                        <a:t>A/N/B</a:t>
                      </a:r>
                    </a:p>
                  </a:txBody>
                  <a:tcPr>
                    <a:solidFill>
                      <a:schemeClr val="accent3">
                        <a:lumMod val="60000"/>
                        <a:lumOff val="40000"/>
                      </a:schemeClr>
                    </a:solidFill>
                  </a:tcPr>
                </a:tc>
                <a:tc>
                  <a:txBody>
                    <a:bodyPr/>
                    <a:lstStyle/>
                    <a:p>
                      <a:pPr algn="ctr"/>
                      <a:r>
                        <a:rPr lang="fr-BE" sz="2400" b="1" dirty="0"/>
                        <a:t>11</a:t>
                      </a:r>
                    </a:p>
                  </a:txBody>
                  <a:tcPr>
                    <a:solidFill>
                      <a:schemeClr val="accent3">
                        <a:lumMod val="60000"/>
                        <a:lumOff val="40000"/>
                      </a:schemeClr>
                    </a:solidFill>
                  </a:tcPr>
                </a:tc>
                <a:tc>
                  <a:txBody>
                    <a:bodyPr/>
                    <a:lstStyle/>
                    <a:p>
                      <a:pPr algn="ctr"/>
                      <a:r>
                        <a:rPr lang="fr-BE" sz="2400" b="1" dirty="0">
                          <a:solidFill>
                            <a:srgbClr val="C00000"/>
                          </a:solidFill>
                        </a:rPr>
                        <a:t>11</a:t>
                      </a:r>
                    </a:p>
                  </a:txBody>
                  <a:tcPr>
                    <a:solidFill>
                      <a:schemeClr val="accent3">
                        <a:lumMod val="60000"/>
                        <a:lumOff val="40000"/>
                      </a:schemeClr>
                    </a:solidFill>
                  </a:tcPr>
                </a:tc>
                <a:extLst>
                  <a:ext uri="{0D108BD9-81ED-4DB2-BD59-A6C34878D82A}">
                    <a16:rowId xmlns:a16="http://schemas.microsoft.com/office/drawing/2014/main" val="2843261751"/>
                  </a:ext>
                </a:extLst>
              </a:tr>
              <a:tr h="242147">
                <a:tc vMerge="1">
                  <a:txBody>
                    <a:bodyPr/>
                    <a:lstStyle/>
                    <a:p>
                      <a:endParaRPr lang="fr-BE"/>
                    </a:p>
                  </a:txBody>
                  <a:tcPr/>
                </a:tc>
                <a:tc>
                  <a:txBody>
                    <a:bodyPr/>
                    <a:lstStyle/>
                    <a:p>
                      <a:pPr algn="ctr"/>
                      <a:r>
                        <a:rPr lang="fr-BE" sz="2400" b="1" dirty="0"/>
                        <a:t>12</a:t>
                      </a:r>
                    </a:p>
                  </a:txBody>
                  <a:tcPr/>
                </a:tc>
                <a:tc>
                  <a:txBody>
                    <a:bodyPr/>
                    <a:lstStyle/>
                    <a:p>
                      <a:pPr algn="ctr"/>
                      <a:r>
                        <a:rPr lang="fr-BE" sz="2400" b="1" dirty="0">
                          <a:solidFill>
                            <a:srgbClr val="C00000"/>
                          </a:solidFill>
                        </a:rPr>
                        <a:t>12</a:t>
                      </a:r>
                    </a:p>
                  </a:txBody>
                  <a:tcPr/>
                </a:tc>
                <a:extLst>
                  <a:ext uri="{0D108BD9-81ED-4DB2-BD59-A6C34878D82A}">
                    <a16:rowId xmlns:a16="http://schemas.microsoft.com/office/drawing/2014/main" val="9118377"/>
                  </a:ext>
                </a:extLst>
              </a:tr>
              <a:tr h="123613">
                <a:tc vMerge="1">
                  <a:txBody>
                    <a:bodyPr/>
                    <a:lstStyle/>
                    <a:p>
                      <a:endParaRPr lang="fr-BE"/>
                    </a:p>
                  </a:txBody>
                  <a:tcPr/>
                </a:tc>
                <a:tc>
                  <a:txBody>
                    <a:bodyPr/>
                    <a:lstStyle/>
                    <a:p>
                      <a:pPr algn="ctr"/>
                      <a:r>
                        <a:rPr lang="fr-BE" sz="2400" b="1" dirty="0"/>
                        <a:t>13</a:t>
                      </a:r>
                    </a:p>
                  </a:txBody>
                  <a:tcPr>
                    <a:solidFill>
                      <a:schemeClr val="accent3">
                        <a:lumMod val="60000"/>
                        <a:lumOff val="40000"/>
                      </a:schemeClr>
                    </a:solidFill>
                  </a:tcPr>
                </a:tc>
                <a:tc>
                  <a:txBody>
                    <a:bodyPr/>
                    <a:lstStyle/>
                    <a:p>
                      <a:pPr algn="ctr"/>
                      <a:r>
                        <a:rPr lang="fr-BE" sz="2400" b="1" dirty="0">
                          <a:solidFill>
                            <a:srgbClr val="C00000"/>
                          </a:solidFill>
                        </a:rPr>
                        <a:t>13</a:t>
                      </a:r>
                    </a:p>
                  </a:txBody>
                  <a:tcPr>
                    <a:solidFill>
                      <a:schemeClr val="accent3">
                        <a:lumMod val="60000"/>
                        <a:lumOff val="40000"/>
                      </a:schemeClr>
                    </a:solidFill>
                  </a:tcPr>
                </a:tc>
                <a:extLst>
                  <a:ext uri="{0D108BD9-81ED-4DB2-BD59-A6C34878D82A}">
                    <a16:rowId xmlns:a16="http://schemas.microsoft.com/office/drawing/2014/main" val="1837410004"/>
                  </a:ext>
                </a:extLst>
              </a:tr>
              <a:tr h="370840">
                <a:tc>
                  <a:txBody>
                    <a:bodyPr/>
                    <a:lstStyle/>
                    <a:p>
                      <a:pPr algn="ctr"/>
                      <a:r>
                        <a:rPr lang="fr-BE" sz="2400" b="1" spc="600" dirty="0"/>
                        <a:t>A/N/B</a:t>
                      </a:r>
                    </a:p>
                  </a:txBody>
                  <a:tcPr/>
                </a:tc>
                <a:tc>
                  <a:txBody>
                    <a:bodyPr/>
                    <a:lstStyle/>
                    <a:p>
                      <a:pPr algn="ctr"/>
                      <a:r>
                        <a:rPr lang="fr-BE" sz="2400" b="1" dirty="0"/>
                        <a:t>2A, 2B, 21, 22, 23 ou 24</a:t>
                      </a:r>
                    </a:p>
                  </a:txBody>
                  <a:tcPr/>
                </a:tc>
                <a:tc>
                  <a:txBody>
                    <a:bodyPr/>
                    <a:lstStyle/>
                    <a:p>
                      <a:pPr algn="ctr"/>
                      <a:r>
                        <a:rPr lang="fr-BE" sz="2400" b="1" dirty="0">
                          <a:solidFill>
                            <a:srgbClr val="C00000"/>
                          </a:solidFill>
                        </a:rPr>
                        <a:t>2A</a:t>
                      </a:r>
                    </a:p>
                  </a:txBody>
                  <a:tcPr/>
                </a:tc>
                <a:extLst>
                  <a:ext uri="{0D108BD9-81ED-4DB2-BD59-A6C34878D82A}">
                    <a16:rowId xmlns:a16="http://schemas.microsoft.com/office/drawing/2014/main" val="1970954003"/>
                  </a:ext>
                </a:extLst>
              </a:tr>
              <a:tr h="370840">
                <a:tc>
                  <a:txBody>
                    <a:bodyPr/>
                    <a:lstStyle/>
                    <a:p>
                      <a:pPr algn="ctr"/>
                      <a:r>
                        <a:rPr lang="fr-BE" sz="2400" b="1" spc="600" dirty="0"/>
                        <a:t>A/N</a:t>
                      </a:r>
                    </a:p>
                  </a:txBody>
                  <a:tcPr>
                    <a:solidFill>
                      <a:schemeClr val="accent3">
                        <a:lumMod val="60000"/>
                        <a:lumOff val="40000"/>
                      </a:schemeClr>
                    </a:solidFill>
                  </a:tcPr>
                </a:tc>
                <a:tc>
                  <a:txBody>
                    <a:bodyPr/>
                    <a:lstStyle/>
                    <a:p>
                      <a:pPr algn="ctr"/>
                      <a:r>
                        <a:rPr lang="fr-BE" sz="2400" b="1" dirty="0"/>
                        <a:t>F</a:t>
                      </a:r>
                    </a:p>
                  </a:txBody>
                  <a:tcPr>
                    <a:solidFill>
                      <a:schemeClr val="accent3">
                        <a:lumMod val="60000"/>
                        <a:lumOff val="40000"/>
                      </a:schemeClr>
                    </a:solidFill>
                  </a:tcPr>
                </a:tc>
                <a:tc>
                  <a:txBody>
                    <a:bodyPr/>
                    <a:lstStyle/>
                    <a:p>
                      <a:pPr algn="ctr"/>
                      <a:r>
                        <a:rPr lang="fr-BE" sz="2400" b="1" dirty="0">
                          <a:solidFill>
                            <a:srgbClr val="C00000"/>
                          </a:solidFill>
                        </a:rPr>
                        <a:t>2A</a:t>
                      </a:r>
                    </a:p>
                  </a:txBody>
                  <a:tcPr>
                    <a:solidFill>
                      <a:schemeClr val="accent3">
                        <a:lumMod val="60000"/>
                        <a:lumOff val="40000"/>
                      </a:schemeClr>
                    </a:solidFill>
                  </a:tcPr>
                </a:tc>
                <a:extLst>
                  <a:ext uri="{0D108BD9-81ED-4DB2-BD59-A6C34878D82A}">
                    <a16:rowId xmlns:a16="http://schemas.microsoft.com/office/drawing/2014/main" val="1298798909"/>
                  </a:ext>
                </a:extLst>
              </a:tr>
              <a:tr h="370840">
                <a:tc>
                  <a:txBody>
                    <a:bodyPr/>
                    <a:lstStyle/>
                    <a:p>
                      <a:pPr algn="ctr"/>
                      <a:r>
                        <a:rPr lang="fr-BE" sz="2400" b="1" dirty="0"/>
                        <a:t>B</a:t>
                      </a:r>
                    </a:p>
                  </a:txBody>
                  <a:tcPr/>
                </a:tc>
                <a:tc>
                  <a:txBody>
                    <a:bodyPr/>
                    <a:lstStyle/>
                    <a:p>
                      <a:pPr algn="ctr"/>
                      <a:r>
                        <a:rPr lang="fr-BE" sz="2400" b="1" dirty="0"/>
                        <a:t>F</a:t>
                      </a:r>
                    </a:p>
                  </a:txBody>
                  <a:tcPr/>
                </a:tc>
                <a:tc>
                  <a:txBody>
                    <a:bodyPr/>
                    <a:lstStyle/>
                    <a:p>
                      <a:pPr algn="ctr"/>
                      <a:r>
                        <a:rPr lang="fr-BE" sz="2400" b="1" dirty="0">
                          <a:solidFill>
                            <a:srgbClr val="C00000"/>
                          </a:solidFill>
                        </a:rPr>
                        <a:t>BF</a:t>
                      </a:r>
                    </a:p>
                  </a:txBody>
                  <a:tcPr/>
                </a:tc>
                <a:extLst>
                  <a:ext uri="{0D108BD9-81ED-4DB2-BD59-A6C34878D82A}">
                    <a16:rowId xmlns:a16="http://schemas.microsoft.com/office/drawing/2014/main" val="1354414157"/>
                  </a:ext>
                </a:extLst>
              </a:tr>
              <a:tr h="370840">
                <a:tc gridSpan="3">
                  <a:txBody>
                    <a:bodyPr/>
                    <a:lstStyle/>
                    <a:p>
                      <a:endParaRPr lang="fr-BE" dirty="0"/>
                    </a:p>
                  </a:txBody>
                  <a:tcPr>
                    <a:solidFill>
                      <a:srgbClr val="92D050"/>
                    </a:solidFill>
                  </a:tcPr>
                </a:tc>
                <a:tc hMerge="1">
                  <a:txBody>
                    <a:bodyPr/>
                    <a:lstStyle/>
                    <a:p>
                      <a:endParaRPr lang="fr-BE" dirty="0"/>
                    </a:p>
                  </a:txBody>
                  <a:tcPr/>
                </a:tc>
                <a:tc hMerge="1">
                  <a:txBody>
                    <a:bodyPr/>
                    <a:lstStyle/>
                    <a:p>
                      <a:endParaRPr lang="fr-BE" dirty="0"/>
                    </a:p>
                  </a:txBody>
                  <a:tcPr/>
                </a:tc>
                <a:extLst>
                  <a:ext uri="{0D108BD9-81ED-4DB2-BD59-A6C34878D82A}">
                    <a16:rowId xmlns:a16="http://schemas.microsoft.com/office/drawing/2014/main" val="625081104"/>
                  </a:ext>
                </a:extLst>
              </a:tr>
            </a:tbl>
          </a:graphicData>
        </a:graphic>
      </p:graphicFrame>
      <p:sp>
        <p:nvSpPr>
          <p:cNvPr id="5" name="Espace réservé du numéro de diapositive 4">
            <a:extLst>
              <a:ext uri="{FF2B5EF4-FFF2-40B4-BE49-F238E27FC236}">
                <a16:creationId xmlns:a16="http://schemas.microsoft.com/office/drawing/2014/main" id="{E72A57C5-52F6-42C2-9FC4-A520FD38483F}"/>
              </a:ext>
            </a:extLst>
          </p:cNvPr>
          <p:cNvSpPr>
            <a:spLocks noGrp="1"/>
          </p:cNvSpPr>
          <p:nvPr>
            <p:ph type="sldNum" sz="quarter" idx="12"/>
          </p:nvPr>
        </p:nvSpPr>
        <p:spPr/>
        <p:txBody>
          <a:bodyPr/>
          <a:lstStyle/>
          <a:p>
            <a:fld id="{55E9056B-6A30-4F99-BDE9-C450E66AE125}" type="slidenum">
              <a:rPr lang="fr-FR" smtClean="0"/>
              <a:pPr/>
              <a:t>35</a:t>
            </a:fld>
            <a:endParaRPr lang="fr-FR" dirty="0"/>
          </a:p>
        </p:txBody>
      </p:sp>
    </p:spTree>
    <p:extLst>
      <p:ext uri="{BB962C8B-B14F-4D97-AF65-F5344CB8AC3E}">
        <p14:creationId xmlns:p14="http://schemas.microsoft.com/office/powerpoint/2010/main" val="3976038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BE1B84-1888-4006-B3F0-DB4C6FFA456E}"/>
              </a:ext>
            </a:extLst>
          </p:cNvPr>
          <p:cNvSpPr>
            <a:spLocks noGrp="1"/>
          </p:cNvSpPr>
          <p:nvPr>
            <p:ph type="title"/>
          </p:nvPr>
        </p:nvSpPr>
        <p:spPr/>
        <p:txBody>
          <a:bodyPr>
            <a:normAutofit/>
          </a:bodyPr>
          <a:lstStyle/>
          <a:p>
            <a:pPr algn="r"/>
            <a:r>
              <a:rPr lang="fr-BE" b="1" i="1" dirty="0"/>
              <a:t>Passage 03/</a:t>
            </a:r>
            <a:r>
              <a:rPr lang="fr-BE" b="1" i="1" dirty="0">
                <a:sym typeface="Wingdings" panose="05000000000000000000" pitchFamily="2" charset="2"/>
              </a:rPr>
              <a:t> 58/ OU 58/ 03/</a:t>
            </a:r>
            <a:endParaRPr lang="fr-BE" b="1" i="1" dirty="0"/>
          </a:p>
        </p:txBody>
      </p:sp>
      <p:sp>
        <p:nvSpPr>
          <p:cNvPr id="3" name="Espace réservé du contenu 2">
            <a:extLst>
              <a:ext uri="{FF2B5EF4-FFF2-40B4-BE49-F238E27FC236}">
                <a16:creationId xmlns:a16="http://schemas.microsoft.com/office/drawing/2014/main" id="{395F1422-3BCA-4D26-8097-629AAF42CB66}"/>
              </a:ext>
            </a:extLst>
          </p:cNvPr>
          <p:cNvSpPr>
            <a:spLocks noGrp="1"/>
          </p:cNvSpPr>
          <p:nvPr>
            <p:ph idx="1"/>
          </p:nvPr>
        </p:nvSpPr>
        <p:spPr/>
        <p:txBody>
          <a:bodyPr>
            <a:normAutofit/>
          </a:bodyPr>
          <a:lstStyle/>
          <a:p>
            <a:pPr marL="0" indent="0">
              <a:buNone/>
            </a:pPr>
            <a:r>
              <a:rPr lang="fr-BE" sz="2200" b="1" u="sng" dirty="0"/>
              <a:t>Enoncé 5:</a:t>
            </a:r>
          </a:p>
          <a:p>
            <a:pPr marL="0" indent="0">
              <a:buNone/>
            </a:pPr>
            <a:endParaRPr lang="fr-BE" sz="1800" dirty="0"/>
          </a:p>
          <a:p>
            <a:pPr marL="0" indent="0" algn="just">
              <a:buNone/>
            </a:pPr>
            <a:r>
              <a:rPr lang="fr-BE" sz="1800" dirty="0"/>
              <a:t>On continue avec notre affilié de l’énoncé 4.</a:t>
            </a:r>
          </a:p>
          <a:p>
            <a:pPr marL="0" indent="0" algn="just">
              <a:buNone/>
            </a:pPr>
            <a:r>
              <a:rPr lang="fr-BE" sz="1800" dirty="0"/>
              <a:t>Admis au 03/05/2022 au code   03/78.B11  avec un facteur N = 6.</a:t>
            </a:r>
          </a:p>
          <a:p>
            <a:pPr marL="0" indent="0" algn="just">
              <a:buNone/>
            </a:pPr>
            <a:endParaRPr lang="fr-BE" sz="1800" dirty="0"/>
          </a:p>
          <a:p>
            <a:pPr marL="0" indent="0" algn="just">
              <a:buNone/>
            </a:pPr>
            <a:r>
              <a:rPr lang="fr-BE" sz="1800" dirty="0"/>
              <a:t>Le 29.06.2022 son employeur décide de modifier son régime de travail et au lieu de prester tous les lundis et mercredi, il travaillera 5h tous les lundis et 4h tous les mercredis et jeudis. Ce nouveau régime sera applicable à partir du 04.07.2022.</a:t>
            </a:r>
          </a:p>
          <a:p>
            <a:pPr marL="0" indent="0" algn="just">
              <a:buNone/>
            </a:pPr>
            <a:endParaRPr lang="fr-BE" sz="1800" dirty="0"/>
          </a:p>
          <a:p>
            <a:pPr marL="0" indent="0" algn="just">
              <a:buNone/>
            </a:pPr>
            <a:r>
              <a:rPr lang="fr-BE" sz="1800" dirty="0"/>
              <a:t>Que lui proposez-vous?</a:t>
            </a:r>
          </a:p>
        </p:txBody>
      </p:sp>
      <p:sp>
        <p:nvSpPr>
          <p:cNvPr id="4" name="Espace réservé du numéro de diapositive 3">
            <a:extLst>
              <a:ext uri="{FF2B5EF4-FFF2-40B4-BE49-F238E27FC236}">
                <a16:creationId xmlns:a16="http://schemas.microsoft.com/office/drawing/2014/main" id="{3E1FDC7A-7512-4AA1-B5F1-0A6796A5CB30}"/>
              </a:ext>
            </a:extLst>
          </p:cNvPr>
          <p:cNvSpPr>
            <a:spLocks noGrp="1"/>
          </p:cNvSpPr>
          <p:nvPr>
            <p:ph type="sldNum" sz="quarter" idx="12"/>
          </p:nvPr>
        </p:nvSpPr>
        <p:spPr/>
        <p:txBody>
          <a:bodyPr/>
          <a:lstStyle/>
          <a:p>
            <a:fld id="{55E9056B-6A30-4F99-BDE9-C450E66AE125}" type="slidenum">
              <a:rPr lang="fr-FR" smtClean="0"/>
              <a:pPr/>
              <a:t>36</a:t>
            </a:fld>
            <a:endParaRPr lang="fr-FR" dirty="0"/>
          </a:p>
        </p:txBody>
      </p:sp>
    </p:spTree>
    <p:extLst>
      <p:ext uri="{BB962C8B-B14F-4D97-AF65-F5344CB8AC3E}">
        <p14:creationId xmlns:p14="http://schemas.microsoft.com/office/powerpoint/2010/main" val="1457821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BE1B84-1888-4006-B3F0-DB4C6FFA456E}"/>
              </a:ext>
            </a:extLst>
          </p:cNvPr>
          <p:cNvSpPr>
            <a:spLocks noGrp="1"/>
          </p:cNvSpPr>
          <p:nvPr>
            <p:ph type="title"/>
          </p:nvPr>
        </p:nvSpPr>
        <p:spPr/>
        <p:txBody>
          <a:bodyPr>
            <a:normAutofit/>
          </a:bodyPr>
          <a:lstStyle/>
          <a:p>
            <a:pPr algn="r"/>
            <a:r>
              <a:rPr lang="fr-BE" b="1" i="1" dirty="0"/>
              <a:t>Passage 03/</a:t>
            </a:r>
            <a:r>
              <a:rPr lang="fr-BE" b="1" i="1" dirty="0">
                <a:sym typeface="Wingdings" panose="05000000000000000000" pitchFamily="2" charset="2"/>
              </a:rPr>
              <a:t> 58/ OU 58/ 03/</a:t>
            </a:r>
            <a:endParaRPr lang="fr-BE" b="1" i="1" dirty="0"/>
          </a:p>
        </p:txBody>
      </p:sp>
      <p:sp>
        <p:nvSpPr>
          <p:cNvPr id="4" name="Espace réservé du numéro de diapositive 3">
            <a:extLst>
              <a:ext uri="{FF2B5EF4-FFF2-40B4-BE49-F238E27FC236}">
                <a16:creationId xmlns:a16="http://schemas.microsoft.com/office/drawing/2014/main" id="{3E1FDC7A-7512-4AA1-B5F1-0A6796A5CB30}"/>
              </a:ext>
            </a:extLst>
          </p:cNvPr>
          <p:cNvSpPr>
            <a:spLocks noGrp="1"/>
          </p:cNvSpPr>
          <p:nvPr>
            <p:ph type="sldNum" sz="quarter" idx="12"/>
          </p:nvPr>
        </p:nvSpPr>
        <p:spPr/>
        <p:txBody>
          <a:bodyPr/>
          <a:lstStyle/>
          <a:p>
            <a:fld id="{55E9056B-6A30-4F99-BDE9-C450E66AE125}" type="slidenum">
              <a:rPr lang="fr-FR" smtClean="0"/>
              <a:pPr/>
              <a:t>37</a:t>
            </a:fld>
            <a:endParaRPr lang="fr-FR" dirty="0"/>
          </a:p>
        </p:txBody>
      </p:sp>
      <p:pic>
        <p:nvPicPr>
          <p:cNvPr id="2050" name="Picture 2" descr="Afficher l’image source">
            <a:extLst>
              <a:ext uri="{FF2B5EF4-FFF2-40B4-BE49-F238E27FC236}">
                <a16:creationId xmlns:a16="http://schemas.microsoft.com/office/drawing/2014/main" id="{950C8404-36D6-4B8C-8887-D40AD39021C7}"/>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830387"/>
            <a:ext cx="5972648" cy="452596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B7D8D30-0A54-483E-8CC4-9C2C223F0B79}"/>
              </a:ext>
            </a:extLst>
          </p:cNvPr>
          <p:cNvSpPr/>
          <p:nvPr/>
        </p:nvSpPr>
        <p:spPr>
          <a:xfrm>
            <a:off x="1506494" y="3429000"/>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7" name="Rectangle 6">
            <a:extLst>
              <a:ext uri="{FF2B5EF4-FFF2-40B4-BE49-F238E27FC236}">
                <a16:creationId xmlns:a16="http://schemas.microsoft.com/office/drawing/2014/main" id="{FE1E60B7-2B10-4736-A93C-36D0AABF2EB1}"/>
              </a:ext>
            </a:extLst>
          </p:cNvPr>
          <p:cNvSpPr/>
          <p:nvPr/>
        </p:nvSpPr>
        <p:spPr>
          <a:xfrm>
            <a:off x="1506494" y="4003415"/>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8" name="Rectangle 7">
            <a:extLst>
              <a:ext uri="{FF2B5EF4-FFF2-40B4-BE49-F238E27FC236}">
                <a16:creationId xmlns:a16="http://schemas.microsoft.com/office/drawing/2014/main" id="{55B0569B-514D-4687-9EE6-9210551F8FF6}"/>
              </a:ext>
            </a:extLst>
          </p:cNvPr>
          <p:cNvSpPr/>
          <p:nvPr/>
        </p:nvSpPr>
        <p:spPr>
          <a:xfrm>
            <a:off x="1506494" y="4618608"/>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9" name="Rectangle 8">
            <a:extLst>
              <a:ext uri="{FF2B5EF4-FFF2-40B4-BE49-F238E27FC236}">
                <a16:creationId xmlns:a16="http://schemas.microsoft.com/office/drawing/2014/main" id="{E74BD713-D8A2-43ED-83BC-1CE10D965111}"/>
              </a:ext>
            </a:extLst>
          </p:cNvPr>
          <p:cNvSpPr/>
          <p:nvPr/>
        </p:nvSpPr>
        <p:spPr>
          <a:xfrm>
            <a:off x="1506494" y="5194672"/>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0" name="Rectangle 9">
            <a:extLst>
              <a:ext uri="{FF2B5EF4-FFF2-40B4-BE49-F238E27FC236}">
                <a16:creationId xmlns:a16="http://schemas.microsoft.com/office/drawing/2014/main" id="{B3D22844-303F-4410-B64A-86F49A0AF5B6}"/>
              </a:ext>
            </a:extLst>
          </p:cNvPr>
          <p:cNvSpPr/>
          <p:nvPr/>
        </p:nvSpPr>
        <p:spPr>
          <a:xfrm>
            <a:off x="3203860" y="3460502"/>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1" name="Rectangle 10">
            <a:extLst>
              <a:ext uri="{FF2B5EF4-FFF2-40B4-BE49-F238E27FC236}">
                <a16:creationId xmlns:a16="http://schemas.microsoft.com/office/drawing/2014/main" id="{5CFF4996-4E3B-49F0-B690-86A687015F78}"/>
              </a:ext>
            </a:extLst>
          </p:cNvPr>
          <p:cNvSpPr/>
          <p:nvPr/>
        </p:nvSpPr>
        <p:spPr>
          <a:xfrm>
            <a:off x="3203860" y="4014465"/>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2" name="Rectangle 11">
            <a:extLst>
              <a:ext uri="{FF2B5EF4-FFF2-40B4-BE49-F238E27FC236}">
                <a16:creationId xmlns:a16="http://schemas.microsoft.com/office/drawing/2014/main" id="{284DDF60-9191-4DA3-88D3-BC6BDAA73AF2}"/>
              </a:ext>
            </a:extLst>
          </p:cNvPr>
          <p:cNvSpPr/>
          <p:nvPr/>
        </p:nvSpPr>
        <p:spPr>
          <a:xfrm>
            <a:off x="3203860" y="4579479"/>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3" name="Rectangle 12">
            <a:extLst>
              <a:ext uri="{FF2B5EF4-FFF2-40B4-BE49-F238E27FC236}">
                <a16:creationId xmlns:a16="http://schemas.microsoft.com/office/drawing/2014/main" id="{1EC550C7-B432-4EF1-80C4-7FAE0F9E14BC}"/>
              </a:ext>
            </a:extLst>
          </p:cNvPr>
          <p:cNvSpPr/>
          <p:nvPr/>
        </p:nvSpPr>
        <p:spPr>
          <a:xfrm>
            <a:off x="3203860" y="5155543"/>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4" name="Rectangle 13">
            <a:extLst>
              <a:ext uri="{FF2B5EF4-FFF2-40B4-BE49-F238E27FC236}">
                <a16:creationId xmlns:a16="http://schemas.microsoft.com/office/drawing/2014/main" id="{22024304-6B07-4F2C-A85D-6B4AA8AB6BE5}"/>
              </a:ext>
            </a:extLst>
          </p:cNvPr>
          <p:cNvSpPr/>
          <p:nvPr/>
        </p:nvSpPr>
        <p:spPr>
          <a:xfrm>
            <a:off x="4026964" y="3454296"/>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5" name="Rectangle 14">
            <a:extLst>
              <a:ext uri="{FF2B5EF4-FFF2-40B4-BE49-F238E27FC236}">
                <a16:creationId xmlns:a16="http://schemas.microsoft.com/office/drawing/2014/main" id="{C4159365-8A85-4652-88DC-97A759D3FD1E}"/>
              </a:ext>
            </a:extLst>
          </p:cNvPr>
          <p:cNvSpPr/>
          <p:nvPr/>
        </p:nvSpPr>
        <p:spPr>
          <a:xfrm>
            <a:off x="4026964" y="4030360"/>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6" name="Rectangle 15">
            <a:extLst>
              <a:ext uri="{FF2B5EF4-FFF2-40B4-BE49-F238E27FC236}">
                <a16:creationId xmlns:a16="http://schemas.microsoft.com/office/drawing/2014/main" id="{532CAA5C-DA6A-47DF-9A47-526DDF036510}"/>
              </a:ext>
            </a:extLst>
          </p:cNvPr>
          <p:cNvSpPr/>
          <p:nvPr/>
        </p:nvSpPr>
        <p:spPr>
          <a:xfrm>
            <a:off x="4026964" y="4606424"/>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7" name="Rectangle 16">
            <a:extLst>
              <a:ext uri="{FF2B5EF4-FFF2-40B4-BE49-F238E27FC236}">
                <a16:creationId xmlns:a16="http://schemas.microsoft.com/office/drawing/2014/main" id="{224A1048-BCF9-4F57-9EDA-7C7CA35DE879}"/>
              </a:ext>
            </a:extLst>
          </p:cNvPr>
          <p:cNvSpPr/>
          <p:nvPr/>
        </p:nvSpPr>
        <p:spPr>
          <a:xfrm>
            <a:off x="4026964" y="5182488"/>
            <a:ext cx="648072" cy="57606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8" name="ZoneTexte 17">
            <a:extLst>
              <a:ext uri="{FF2B5EF4-FFF2-40B4-BE49-F238E27FC236}">
                <a16:creationId xmlns:a16="http://schemas.microsoft.com/office/drawing/2014/main" id="{D59B6A00-4C0B-492C-9574-F2B416241BAC}"/>
              </a:ext>
            </a:extLst>
          </p:cNvPr>
          <p:cNvSpPr txBox="1"/>
          <p:nvPr/>
        </p:nvSpPr>
        <p:spPr>
          <a:xfrm>
            <a:off x="457200" y="1484784"/>
            <a:ext cx="5972648" cy="430887"/>
          </a:xfrm>
          <a:prstGeom prst="rect">
            <a:avLst/>
          </a:prstGeom>
          <a:noFill/>
        </p:spPr>
        <p:txBody>
          <a:bodyPr wrap="square" rtlCol="0">
            <a:spAutoFit/>
          </a:bodyPr>
          <a:lstStyle/>
          <a:p>
            <a:r>
              <a:rPr lang="fr-BE" sz="2200" b="1" u="sng" dirty="0"/>
              <a:t>1</a:t>
            </a:r>
            <a:r>
              <a:rPr lang="fr-BE" sz="2200" b="1" u="sng" baseline="30000" dirty="0"/>
              <a:t>ère</a:t>
            </a:r>
            <a:r>
              <a:rPr lang="fr-BE" sz="2200" b="1" u="sng" dirty="0"/>
              <a:t> hypothèse</a:t>
            </a:r>
          </a:p>
        </p:txBody>
      </p:sp>
    </p:spTree>
    <p:extLst>
      <p:ext uri="{BB962C8B-B14F-4D97-AF65-F5344CB8AC3E}">
        <p14:creationId xmlns:p14="http://schemas.microsoft.com/office/powerpoint/2010/main" val="168139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BD5B99-D01D-47D9-9123-0E5576CDFABF}"/>
              </a:ext>
            </a:extLst>
          </p:cNvPr>
          <p:cNvSpPr>
            <a:spLocks noGrp="1"/>
          </p:cNvSpPr>
          <p:nvPr>
            <p:ph type="title"/>
          </p:nvPr>
        </p:nvSpPr>
        <p:spPr/>
        <p:txBody>
          <a:bodyPr/>
          <a:lstStyle/>
          <a:p>
            <a:r>
              <a:rPr lang="fr-BE" b="1" i="1" dirty="0"/>
              <a:t>Passage 03/</a:t>
            </a:r>
            <a:r>
              <a:rPr lang="fr-BE" b="1" i="1" dirty="0">
                <a:sym typeface="Wingdings" panose="05000000000000000000" pitchFamily="2" charset="2"/>
              </a:rPr>
              <a:t> 58/ OU 58/ 03/</a:t>
            </a:r>
            <a:endParaRPr lang="fr-BE" dirty="0"/>
          </a:p>
        </p:txBody>
      </p:sp>
      <p:pic>
        <p:nvPicPr>
          <p:cNvPr id="6" name="Espace réservé du contenu 5">
            <a:extLst>
              <a:ext uri="{FF2B5EF4-FFF2-40B4-BE49-F238E27FC236}">
                <a16:creationId xmlns:a16="http://schemas.microsoft.com/office/drawing/2014/main" id="{A0439C90-68DF-4DF3-B704-C52DD4F1041F}"/>
              </a:ext>
            </a:extLst>
          </p:cNvPr>
          <p:cNvPicPr>
            <a:picLocks noGrp="1" noChangeAspect="1"/>
          </p:cNvPicPr>
          <p:nvPr>
            <p:ph idx="1"/>
          </p:nvPr>
        </p:nvPicPr>
        <p:blipFill>
          <a:blip r:embed="rId2"/>
          <a:stretch>
            <a:fillRect/>
          </a:stretch>
        </p:blipFill>
        <p:spPr>
          <a:xfrm>
            <a:off x="683567" y="2193601"/>
            <a:ext cx="8003233" cy="3202634"/>
          </a:xfrm>
        </p:spPr>
      </p:pic>
      <p:sp>
        <p:nvSpPr>
          <p:cNvPr id="4" name="Espace réservé du numéro de diapositive 3">
            <a:extLst>
              <a:ext uri="{FF2B5EF4-FFF2-40B4-BE49-F238E27FC236}">
                <a16:creationId xmlns:a16="http://schemas.microsoft.com/office/drawing/2014/main" id="{C13FA13A-BE5D-4405-8458-A760EDCD9A48}"/>
              </a:ext>
            </a:extLst>
          </p:cNvPr>
          <p:cNvSpPr>
            <a:spLocks noGrp="1"/>
          </p:cNvSpPr>
          <p:nvPr>
            <p:ph type="sldNum" sz="quarter" idx="12"/>
          </p:nvPr>
        </p:nvSpPr>
        <p:spPr/>
        <p:txBody>
          <a:bodyPr/>
          <a:lstStyle/>
          <a:p>
            <a:fld id="{55E9056B-6A30-4F99-BDE9-C450E66AE125}" type="slidenum">
              <a:rPr lang="fr-FR" smtClean="0"/>
              <a:pPr/>
              <a:t>38</a:t>
            </a:fld>
            <a:endParaRPr lang="fr-FR" dirty="0"/>
          </a:p>
        </p:txBody>
      </p:sp>
      <p:sp>
        <p:nvSpPr>
          <p:cNvPr id="9" name="ZoneTexte 8">
            <a:extLst>
              <a:ext uri="{FF2B5EF4-FFF2-40B4-BE49-F238E27FC236}">
                <a16:creationId xmlns:a16="http://schemas.microsoft.com/office/drawing/2014/main" id="{D1F7479E-7897-493B-8146-886D26713EC3}"/>
              </a:ext>
            </a:extLst>
          </p:cNvPr>
          <p:cNvSpPr txBox="1"/>
          <p:nvPr/>
        </p:nvSpPr>
        <p:spPr>
          <a:xfrm>
            <a:off x="683567" y="1628800"/>
            <a:ext cx="7208591" cy="430887"/>
          </a:xfrm>
          <a:prstGeom prst="rect">
            <a:avLst/>
          </a:prstGeom>
          <a:noFill/>
        </p:spPr>
        <p:txBody>
          <a:bodyPr wrap="square" rtlCol="0">
            <a:spAutoFit/>
          </a:bodyPr>
          <a:lstStyle/>
          <a:p>
            <a:r>
              <a:rPr lang="fr-BE" sz="2200" b="1" u="sng" dirty="0"/>
              <a:t>2</a:t>
            </a:r>
            <a:r>
              <a:rPr lang="fr-BE" sz="2200" b="1" u="sng" baseline="30000" dirty="0"/>
              <a:t>ème</a:t>
            </a:r>
            <a:r>
              <a:rPr lang="fr-BE" sz="2200" b="1" u="sng" dirty="0"/>
              <a:t> hypothèse</a:t>
            </a:r>
          </a:p>
        </p:txBody>
      </p:sp>
      <p:grpSp>
        <p:nvGrpSpPr>
          <p:cNvPr id="5" name="Groupe 4">
            <a:extLst>
              <a:ext uri="{FF2B5EF4-FFF2-40B4-BE49-F238E27FC236}">
                <a16:creationId xmlns:a16="http://schemas.microsoft.com/office/drawing/2014/main" id="{CBB8BB4F-2BAA-4E1C-AF1F-18988660BB90}"/>
              </a:ext>
            </a:extLst>
          </p:cNvPr>
          <p:cNvGrpSpPr/>
          <p:nvPr/>
        </p:nvGrpSpPr>
        <p:grpSpPr>
          <a:xfrm>
            <a:off x="683568" y="5445224"/>
            <a:ext cx="8003232" cy="813147"/>
            <a:chOff x="683568" y="5445224"/>
            <a:chExt cx="8003232" cy="813147"/>
          </a:xfrm>
        </p:grpSpPr>
        <p:pic>
          <p:nvPicPr>
            <p:cNvPr id="8" name="Image 7">
              <a:extLst>
                <a:ext uri="{FF2B5EF4-FFF2-40B4-BE49-F238E27FC236}">
                  <a16:creationId xmlns:a16="http://schemas.microsoft.com/office/drawing/2014/main" id="{2C91B483-05DC-4B77-96A7-9C35B10283F2}"/>
                </a:ext>
              </a:extLst>
            </p:cNvPr>
            <p:cNvPicPr>
              <a:picLocks noChangeAspect="1"/>
            </p:cNvPicPr>
            <p:nvPr/>
          </p:nvPicPr>
          <p:blipFill>
            <a:blip r:embed="rId3"/>
            <a:stretch>
              <a:fillRect/>
            </a:stretch>
          </p:blipFill>
          <p:spPr>
            <a:xfrm>
              <a:off x="683568" y="5445224"/>
              <a:ext cx="8003232" cy="813147"/>
            </a:xfrm>
            <a:prstGeom prst="rect">
              <a:avLst/>
            </a:prstGeom>
          </p:spPr>
        </p:pic>
        <p:sp>
          <p:nvSpPr>
            <p:cNvPr id="3" name="Rectangle 2">
              <a:extLst>
                <a:ext uri="{FF2B5EF4-FFF2-40B4-BE49-F238E27FC236}">
                  <a16:creationId xmlns:a16="http://schemas.microsoft.com/office/drawing/2014/main" id="{B609F5F8-E182-46AA-9383-E1ADF99535A4}"/>
                </a:ext>
              </a:extLst>
            </p:cNvPr>
            <p:cNvSpPr/>
            <p:nvPr/>
          </p:nvSpPr>
          <p:spPr>
            <a:xfrm>
              <a:off x="2843808" y="5661248"/>
              <a:ext cx="151216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10" name="Rectangle 9">
              <a:extLst>
                <a:ext uri="{FF2B5EF4-FFF2-40B4-BE49-F238E27FC236}">
                  <a16:creationId xmlns:a16="http://schemas.microsoft.com/office/drawing/2014/main" id="{0F09720C-4BF6-4A53-A20F-95A4B3D5E014}"/>
                </a:ext>
              </a:extLst>
            </p:cNvPr>
            <p:cNvSpPr/>
            <p:nvPr/>
          </p:nvSpPr>
          <p:spPr>
            <a:xfrm>
              <a:off x="6553200" y="5656768"/>
              <a:ext cx="148103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11" name="Rectangle 10">
              <a:extLst>
                <a:ext uri="{FF2B5EF4-FFF2-40B4-BE49-F238E27FC236}">
                  <a16:creationId xmlns:a16="http://schemas.microsoft.com/office/drawing/2014/main" id="{512F9FE0-5E82-450C-B50C-FB6166E26E5E}"/>
                </a:ext>
              </a:extLst>
            </p:cNvPr>
            <p:cNvSpPr/>
            <p:nvPr/>
          </p:nvSpPr>
          <p:spPr>
            <a:xfrm>
              <a:off x="2951706" y="5993784"/>
              <a:ext cx="1336156" cy="2273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12" name="Rectangle 11">
              <a:extLst>
                <a:ext uri="{FF2B5EF4-FFF2-40B4-BE49-F238E27FC236}">
                  <a16:creationId xmlns:a16="http://schemas.microsoft.com/office/drawing/2014/main" id="{62DA4537-1AA9-4D1A-A9C2-AEABDE2FDE96}"/>
                </a:ext>
              </a:extLst>
            </p:cNvPr>
            <p:cNvSpPr/>
            <p:nvPr/>
          </p:nvSpPr>
          <p:spPr>
            <a:xfrm>
              <a:off x="6625640" y="5996259"/>
              <a:ext cx="1336156" cy="2273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grpSp>
    </p:spTree>
    <p:extLst>
      <p:ext uri="{BB962C8B-B14F-4D97-AF65-F5344CB8AC3E}">
        <p14:creationId xmlns:p14="http://schemas.microsoft.com/office/powerpoint/2010/main" val="30453883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BD5B99-D01D-47D9-9123-0E5576CDFABF}"/>
              </a:ext>
            </a:extLst>
          </p:cNvPr>
          <p:cNvSpPr>
            <a:spLocks noGrp="1"/>
          </p:cNvSpPr>
          <p:nvPr>
            <p:ph type="title"/>
          </p:nvPr>
        </p:nvSpPr>
        <p:spPr/>
        <p:txBody>
          <a:bodyPr>
            <a:normAutofit/>
          </a:bodyPr>
          <a:lstStyle/>
          <a:p>
            <a:pPr algn="r"/>
            <a:r>
              <a:rPr lang="fr-BE" sz="3600" b="1" i="1" dirty="0"/>
              <a:t>Passage 03/</a:t>
            </a:r>
            <a:r>
              <a:rPr lang="fr-BE" sz="3600" b="1" i="1" dirty="0">
                <a:sym typeface="Wingdings" panose="05000000000000000000" pitchFamily="2" charset="2"/>
              </a:rPr>
              <a:t> 58/ OU 58/ 03/</a:t>
            </a:r>
            <a:endParaRPr lang="fr-BE" sz="3600" dirty="0"/>
          </a:p>
        </p:txBody>
      </p:sp>
      <p:sp>
        <p:nvSpPr>
          <p:cNvPr id="7" name="Espace réservé du contenu 6">
            <a:extLst>
              <a:ext uri="{FF2B5EF4-FFF2-40B4-BE49-F238E27FC236}">
                <a16:creationId xmlns:a16="http://schemas.microsoft.com/office/drawing/2014/main" id="{AD78C1A6-2090-4212-9931-BACD13D17DA6}"/>
              </a:ext>
            </a:extLst>
          </p:cNvPr>
          <p:cNvSpPr>
            <a:spLocks noGrp="1"/>
          </p:cNvSpPr>
          <p:nvPr>
            <p:ph idx="1"/>
          </p:nvPr>
        </p:nvSpPr>
        <p:spPr/>
        <p:txBody>
          <a:bodyPr>
            <a:normAutofit fontScale="62500" lnSpcReduction="20000"/>
          </a:bodyPr>
          <a:lstStyle/>
          <a:p>
            <a:r>
              <a:rPr lang="fr-BE" sz="2900" b="1" i="1" u="sng" dirty="0"/>
              <a:t>Passage 03/ </a:t>
            </a:r>
            <a:r>
              <a:rPr lang="fr-BE" sz="2900" b="1" i="1" u="sng" dirty="0">
                <a:sym typeface="Wingdings" panose="05000000000000000000" pitchFamily="2" charset="2"/>
              </a:rPr>
              <a:t> 58/:</a:t>
            </a:r>
          </a:p>
          <a:p>
            <a:pPr marL="0" indent="0">
              <a:buNone/>
            </a:pPr>
            <a:endParaRPr lang="fr-BE" sz="2900" b="1" i="1" u="sng" dirty="0">
              <a:sym typeface="Wingdings" panose="05000000000000000000" pitchFamily="2" charset="2"/>
            </a:endParaRPr>
          </a:p>
          <a:p>
            <a:pPr>
              <a:buFontTx/>
              <a:buChar char="-"/>
            </a:pPr>
            <a:r>
              <a:rPr lang="fr-BE" sz="2900" dirty="0">
                <a:sym typeface="Wingdings" panose="05000000000000000000" pitchFamily="2" charset="2"/>
              </a:rPr>
              <a:t>C131A travailleur</a:t>
            </a:r>
          </a:p>
          <a:p>
            <a:pPr>
              <a:buFontTx/>
              <a:buChar char="-"/>
            </a:pPr>
            <a:r>
              <a:rPr lang="fr-BE" sz="2900" dirty="0">
                <a:sym typeface="Wingdings" panose="05000000000000000000" pitchFamily="2" charset="2"/>
              </a:rPr>
              <a:t>Wech503</a:t>
            </a:r>
          </a:p>
          <a:p>
            <a:pPr>
              <a:buFontTx/>
              <a:buChar char="-"/>
            </a:pPr>
            <a:r>
              <a:rPr lang="fr-BE" sz="2900" dirty="0">
                <a:sym typeface="Wingdings" panose="05000000000000000000" pitchFamily="2" charset="2"/>
              </a:rPr>
              <a:t>Attestation du SRE déclarant son occupation à temps partiel et reste inscrit comme demandeur d’emploi à temps plein </a:t>
            </a:r>
          </a:p>
          <a:p>
            <a:pPr marL="0" indent="0">
              <a:buNone/>
            </a:pPr>
            <a:r>
              <a:rPr lang="fr-BE" sz="2900" b="1" dirty="0">
                <a:solidFill>
                  <a:srgbClr val="C00000"/>
                </a:solidFill>
                <a:sym typeface="Wingdings" panose="05000000000000000000" pitchFamily="2" charset="2"/>
              </a:rPr>
              <a:t>art. d’indemnisation 104§1bis</a:t>
            </a:r>
          </a:p>
          <a:p>
            <a:pPr marL="0" indent="0">
              <a:buNone/>
            </a:pPr>
            <a:endParaRPr lang="fr-BE" sz="2900" dirty="0">
              <a:sym typeface="Wingdings" panose="05000000000000000000" pitchFamily="2" charset="2"/>
            </a:endParaRPr>
          </a:p>
          <a:p>
            <a:r>
              <a:rPr lang="fr-BE" sz="2900" b="1" i="1" u="sng" dirty="0">
                <a:sym typeface="Wingdings" panose="05000000000000000000" pitchFamily="2" charset="2"/>
              </a:rPr>
              <a:t>Passage 58/  03/:</a:t>
            </a:r>
          </a:p>
          <a:p>
            <a:pPr marL="0" indent="0">
              <a:buNone/>
            </a:pPr>
            <a:endParaRPr lang="fr-BE" sz="2900" b="1" i="1" u="sng" dirty="0">
              <a:sym typeface="Wingdings" panose="05000000000000000000" pitchFamily="2" charset="2"/>
            </a:endParaRPr>
          </a:p>
          <a:p>
            <a:pPr>
              <a:buFontTx/>
              <a:buChar char="-"/>
            </a:pPr>
            <a:r>
              <a:rPr lang="fr-BE" sz="2900" dirty="0">
                <a:sym typeface="Wingdings" panose="05000000000000000000" pitchFamily="2" charset="2"/>
              </a:rPr>
              <a:t>C109 indiquant « je demande le passage du préfixe 58/ au préfixe 03/. Ma rémunération est inférieure à la rémunération de référence »</a:t>
            </a:r>
          </a:p>
          <a:p>
            <a:pPr marL="0" indent="0">
              <a:buNone/>
            </a:pPr>
            <a:r>
              <a:rPr lang="fr-BE" sz="2900" dirty="0">
                <a:sym typeface="Wingdings" panose="05000000000000000000" pitchFamily="2" charset="2"/>
              </a:rPr>
              <a:t>	</a:t>
            </a:r>
          </a:p>
          <a:p>
            <a:pPr marL="0" indent="0">
              <a:buNone/>
            </a:pPr>
            <a:r>
              <a:rPr lang="fr-BE" sz="2900" dirty="0">
                <a:sym typeface="Wingdings" panose="05000000000000000000" pitchFamily="2" charset="2"/>
              </a:rPr>
              <a:t>	</a:t>
            </a:r>
          </a:p>
          <a:p>
            <a:pPr marL="0" indent="0">
              <a:buNone/>
            </a:pPr>
            <a:r>
              <a:rPr lang="fr-BE" sz="2900" dirty="0">
                <a:sym typeface="Wingdings" panose="05000000000000000000" pitchFamily="2" charset="2"/>
              </a:rPr>
              <a:t>	</a:t>
            </a:r>
            <a:r>
              <a:rPr lang="fr-FR" sz="2900" dirty="0">
                <a:sym typeface="Wingdings" panose="05000000000000000000" pitchFamily="2" charset="2"/>
              </a:rPr>
              <a:t>Le passage d’un préfixe à l’autre est possible uniquement au 1</a:t>
            </a:r>
            <a:r>
              <a:rPr lang="fr-FR" sz="2900" baseline="30000" dirty="0">
                <a:sym typeface="Wingdings" panose="05000000000000000000" pitchFamily="2" charset="2"/>
              </a:rPr>
              <a:t>er </a:t>
            </a:r>
            <a:r>
              <a:rPr lang="fr-FR" sz="2900" dirty="0">
                <a:sym typeface="Wingdings" panose="05000000000000000000" pitchFamily="2" charset="2"/>
              </a:rPr>
              <a:t>jour 	du 	mois. </a:t>
            </a:r>
            <a:endParaRPr lang="fr-BE" sz="2900" dirty="0">
              <a:sym typeface="Wingdings" panose="05000000000000000000" pitchFamily="2" charset="2"/>
            </a:endParaRPr>
          </a:p>
          <a:p>
            <a:pPr marL="0" indent="0">
              <a:buNone/>
            </a:pPr>
            <a:endParaRPr lang="fr-BE" sz="1800" dirty="0"/>
          </a:p>
        </p:txBody>
      </p:sp>
      <p:sp>
        <p:nvSpPr>
          <p:cNvPr id="4" name="Espace réservé du numéro de diapositive 3">
            <a:extLst>
              <a:ext uri="{FF2B5EF4-FFF2-40B4-BE49-F238E27FC236}">
                <a16:creationId xmlns:a16="http://schemas.microsoft.com/office/drawing/2014/main" id="{C13FA13A-BE5D-4405-8458-A760EDCD9A48}"/>
              </a:ext>
            </a:extLst>
          </p:cNvPr>
          <p:cNvSpPr>
            <a:spLocks noGrp="1"/>
          </p:cNvSpPr>
          <p:nvPr>
            <p:ph type="sldNum" sz="quarter" idx="12"/>
          </p:nvPr>
        </p:nvSpPr>
        <p:spPr/>
        <p:txBody>
          <a:bodyPr/>
          <a:lstStyle/>
          <a:p>
            <a:fld id="{55E9056B-6A30-4F99-BDE9-C450E66AE125}" type="slidenum">
              <a:rPr lang="fr-FR" smtClean="0"/>
              <a:pPr/>
              <a:t>39</a:t>
            </a:fld>
            <a:endParaRPr lang="fr-FR" dirty="0"/>
          </a:p>
        </p:txBody>
      </p:sp>
      <p:pic>
        <p:nvPicPr>
          <p:cNvPr id="11" name="Graphique 10" descr="Avertissement avec un remplissage uni">
            <a:extLst>
              <a:ext uri="{FF2B5EF4-FFF2-40B4-BE49-F238E27FC236}">
                <a16:creationId xmlns:a16="http://schemas.microsoft.com/office/drawing/2014/main" id="{779853A0-B7FD-4C60-9F89-90718BB327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536" y="5085184"/>
            <a:ext cx="914400" cy="914400"/>
          </a:xfrm>
          <a:prstGeom prst="rect">
            <a:avLst/>
          </a:prstGeom>
        </p:spPr>
      </p:pic>
    </p:spTree>
    <p:extLst>
      <p:ext uri="{BB962C8B-B14F-4D97-AF65-F5344CB8AC3E}">
        <p14:creationId xmlns:p14="http://schemas.microsoft.com/office/powerpoint/2010/main" val="32064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280197-D59B-4944-A1D1-0FC3AB5A92A2}"/>
              </a:ext>
            </a:extLst>
          </p:cNvPr>
          <p:cNvSpPr>
            <a:spLocks noGrp="1"/>
          </p:cNvSpPr>
          <p:nvPr>
            <p:ph type="title"/>
          </p:nvPr>
        </p:nvSpPr>
        <p:spPr/>
        <p:txBody>
          <a:bodyPr>
            <a:noAutofit/>
          </a:bodyPr>
          <a:lstStyle/>
          <a:p>
            <a:pPr algn="r"/>
            <a:r>
              <a:rPr lang="fr-BE" sz="3600" b="1" i="1" dirty="0"/>
              <a:t>Art. 116§1 &amp; </a:t>
            </a:r>
            <a:br>
              <a:rPr lang="fr-BE" sz="3600" b="1" i="1" dirty="0"/>
            </a:br>
            <a:r>
              <a:rPr lang="fr-BE" sz="3600" b="1" i="1" dirty="0"/>
              <a:t>Régime d’indemnisation- facteur N</a:t>
            </a:r>
            <a:endParaRPr lang="fr-BE" sz="3600" dirty="0"/>
          </a:p>
        </p:txBody>
      </p:sp>
      <p:sp>
        <p:nvSpPr>
          <p:cNvPr id="4" name="Espace réservé du numéro de diapositive 3">
            <a:extLst>
              <a:ext uri="{FF2B5EF4-FFF2-40B4-BE49-F238E27FC236}">
                <a16:creationId xmlns:a16="http://schemas.microsoft.com/office/drawing/2014/main" id="{C0E72789-2AF1-486C-9147-FFFA49231F55}"/>
              </a:ext>
            </a:extLst>
          </p:cNvPr>
          <p:cNvSpPr>
            <a:spLocks noGrp="1"/>
          </p:cNvSpPr>
          <p:nvPr>
            <p:ph type="sldNum" sz="quarter" idx="12"/>
          </p:nvPr>
        </p:nvSpPr>
        <p:spPr/>
        <p:txBody>
          <a:bodyPr/>
          <a:lstStyle/>
          <a:p>
            <a:fld id="{55E9056B-6A30-4F99-BDE9-C450E66AE125}" type="slidenum">
              <a:rPr lang="fr-FR" smtClean="0"/>
              <a:pPr/>
              <a:t>40</a:t>
            </a:fld>
            <a:endParaRPr lang="fr-FR" dirty="0"/>
          </a:p>
        </p:txBody>
      </p:sp>
      <p:sp>
        <p:nvSpPr>
          <p:cNvPr id="3" name="Espace réservé du contenu 2">
            <a:extLst>
              <a:ext uri="{FF2B5EF4-FFF2-40B4-BE49-F238E27FC236}">
                <a16:creationId xmlns:a16="http://schemas.microsoft.com/office/drawing/2014/main" id="{665F5930-133C-4764-A8EF-981E0EFFEAC1}"/>
              </a:ext>
            </a:extLst>
          </p:cNvPr>
          <p:cNvSpPr>
            <a:spLocks noGrp="1"/>
          </p:cNvSpPr>
          <p:nvPr>
            <p:ph idx="4294967295"/>
          </p:nvPr>
        </p:nvSpPr>
        <p:spPr>
          <a:xfrm>
            <a:off x="467152" y="1441158"/>
            <a:ext cx="8229600" cy="1867243"/>
          </a:xfrm>
        </p:spPr>
        <p:txBody>
          <a:bodyPr>
            <a:normAutofit lnSpcReduction="10000"/>
          </a:bodyPr>
          <a:lstStyle/>
          <a:p>
            <a:pPr marL="0" indent="0">
              <a:buNone/>
            </a:pPr>
            <a:r>
              <a:rPr lang="fr-BE" sz="2200" b="1" u="sng" dirty="0"/>
              <a:t>Enoncé 6:</a:t>
            </a:r>
          </a:p>
          <a:p>
            <a:pPr marL="0" indent="0">
              <a:buNone/>
            </a:pPr>
            <a:r>
              <a:rPr lang="fr-BE" sz="2200" dirty="0"/>
              <a:t>Notre affilié a travaillé du 01.06.2022 au 31.05.2023 à 13/38 en tant qu’ouvrier. Le 07.06.2023, il vient à notre permanence pour établir une demande d’allocation. Quelle cascade </a:t>
            </a:r>
            <a:r>
              <a:rPr lang="fr-BE" sz="2200" dirty="0" err="1"/>
              <a:t>va-t’il</a:t>
            </a:r>
            <a:r>
              <a:rPr lang="fr-BE" sz="2200" dirty="0"/>
              <a:t> percevoir? </a:t>
            </a:r>
          </a:p>
          <a:p>
            <a:pPr marL="0" indent="0">
              <a:buNone/>
            </a:pPr>
            <a:r>
              <a:rPr lang="fr-BE" sz="2200" dirty="0"/>
              <a:t>Sur base de la DMFA, nous obtenons les données A820 suivants:</a:t>
            </a:r>
          </a:p>
          <a:p>
            <a:pPr marL="0" indent="0">
              <a:buNone/>
            </a:pPr>
            <a:endParaRPr lang="fr-BE" sz="2200" dirty="0"/>
          </a:p>
        </p:txBody>
      </p:sp>
      <p:graphicFrame>
        <p:nvGraphicFramePr>
          <p:cNvPr id="9" name="Tableau 26">
            <a:extLst>
              <a:ext uri="{FF2B5EF4-FFF2-40B4-BE49-F238E27FC236}">
                <a16:creationId xmlns:a16="http://schemas.microsoft.com/office/drawing/2014/main" id="{EA7403B9-C23D-4324-BDE3-90E7FDA1C4C9}"/>
              </a:ext>
            </a:extLst>
          </p:cNvPr>
          <p:cNvGraphicFramePr>
            <a:graphicFrameLocks noGrp="1"/>
          </p:cNvGraphicFramePr>
          <p:nvPr>
            <p:extLst>
              <p:ext uri="{D42A27DB-BD31-4B8C-83A1-F6EECF244321}">
                <p14:modId xmlns:p14="http://schemas.microsoft.com/office/powerpoint/2010/main" val="2226752098"/>
              </p:ext>
            </p:extLst>
          </p:nvPr>
        </p:nvGraphicFramePr>
        <p:xfrm>
          <a:off x="481256" y="3212976"/>
          <a:ext cx="5314879" cy="3178987"/>
        </p:xfrm>
        <a:graphic>
          <a:graphicData uri="http://schemas.openxmlformats.org/drawingml/2006/table">
            <a:tbl>
              <a:tblPr firstRow="1" bandRow="1">
                <a:tableStyleId>{93296810-A885-4BE3-A3E7-6D5BEEA58F35}</a:tableStyleId>
              </a:tblPr>
              <a:tblGrid>
                <a:gridCol w="1714480">
                  <a:extLst>
                    <a:ext uri="{9D8B030D-6E8A-4147-A177-3AD203B41FA5}">
                      <a16:colId xmlns:a16="http://schemas.microsoft.com/office/drawing/2014/main" val="3984055329"/>
                    </a:ext>
                  </a:extLst>
                </a:gridCol>
                <a:gridCol w="576064">
                  <a:extLst>
                    <a:ext uri="{9D8B030D-6E8A-4147-A177-3AD203B41FA5}">
                      <a16:colId xmlns:a16="http://schemas.microsoft.com/office/drawing/2014/main" val="2175299259"/>
                    </a:ext>
                  </a:extLst>
                </a:gridCol>
                <a:gridCol w="864096">
                  <a:extLst>
                    <a:ext uri="{9D8B030D-6E8A-4147-A177-3AD203B41FA5}">
                      <a16:colId xmlns:a16="http://schemas.microsoft.com/office/drawing/2014/main" val="2593040329"/>
                    </a:ext>
                  </a:extLst>
                </a:gridCol>
                <a:gridCol w="792088">
                  <a:extLst>
                    <a:ext uri="{9D8B030D-6E8A-4147-A177-3AD203B41FA5}">
                      <a16:colId xmlns:a16="http://schemas.microsoft.com/office/drawing/2014/main" val="3705776743"/>
                    </a:ext>
                  </a:extLst>
                </a:gridCol>
                <a:gridCol w="1368151">
                  <a:extLst>
                    <a:ext uri="{9D8B030D-6E8A-4147-A177-3AD203B41FA5}">
                      <a16:colId xmlns:a16="http://schemas.microsoft.com/office/drawing/2014/main" val="1404521391"/>
                    </a:ext>
                  </a:extLst>
                </a:gridCol>
              </a:tblGrid>
              <a:tr h="3054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400" dirty="0"/>
                        <a:t>DMFA</a:t>
                      </a:r>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fr-BE" sz="1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fr-BE" sz="1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fr-BE" sz="1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fr-BE" sz="1400" dirty="0"/>
                    </a:p>
                  </a:txBody>
                  <a:tcPr marL="68580" marR="68580" marT="34290" marB="34290">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031744294"/>
                  </a:ext>
                </a:extLst>
              </a:tr>
              <a:tr h="3288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400" dirty="0"/>
                        <a:t>2</a:t>
                      </a:r>
                      <a:r>
                        <a:rPr lang="fr-BE" sz="1400" baseline="30000" dirty="0"/>
                        <a:t>ème</a:t>
                      </a:r>
                      <a:r>
                        <a:rPr lang="fr-BE" sz="1400" dirty="0"/>
                        <a:t>  trimestre  2022</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fr-BE" sz="1400" dirty="0"/>
                        <a:t>57h</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fr-BE" sz="1400" dirty="0"/>
                        <a:t>Code 1</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fr-BE" sz="1400" dirty="0"/>
                        <a:t>13/38</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fr-BE" sz="1400" dirty="0"/>
                        <a:t>Régime 5</a:t>
                      </a:r>
                    </a:p>
                  </a:txBody>
                  <a:tcPr marL="68580" marR="68580" marT="34290" marB="3429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4381283"/>
                  </a:ext>
                </a:extLst>
              </a:tr>
              <a:tr h="328842">
                <a:tc>
                  <a:txBody>
                    <a:bodyPr/>
                    <a:lstStyle/>
                    <a:p>
                      <a:r>
                        <a:rPr lang="fr-BE" sz="1400" dirty="0"/>
                        <a:t>3</a:t>
                      </a:r>
                      <a:r>
                        <a:rPr lang="fr-BE" sz="1400" baseline="30000" dirty="0"/>
                        <a:t>ème</a:t>
                      </a:r>
                      <a:r>
                        <a:rPr lang="fr-BE" sz="1400" dirty="0"/>
                        <a:t>  trimestre 2022</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169h</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Code 1</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13/38</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Régime 5</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0702123"/>
                  </a:ext>
                </a:extLst>
              </a:tr>
              <a:tr h="477494">
                <a:tc>
                  <a:txBody>
                    <a:bodyPr/>
                    <a:lstStyle/>
                    <a:p>
                      <a:r>
                        <a:rPr lang="fr-BE" sz="1400" dirty="0"/>
                        <a:t>4</a:t>
                      </a:r>
                      <a:r>
                        <a:rPr lang="fr-BE" sz="1400" baseline="30000" dirty="0"/>
                        <a:t>ème</a:t>
                      </a:r>
                      <a:r>
                        <a:rPr lang="fr-BE" sz="1400" dirty="0"/>
                        <a:t> trimestre 2022</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117h</a:t>
                      </a:r>
                    </a:p>
                    <a:p>
                      <a:r>
                        <a:rPr lang="fr-BE" sz="1400" dirty="0"/>
                        <a:t>52h</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Code 1</a:t>
                      </a:r>
                    </a:p>
                    <a:p>
                      <a:r>
                        <a:rPr lang="fr-BE" sz="1400" dirty="0"/>
                        <a:t>Code 2</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13/38</a:t>
                      </a:r>
                    </a:p>
                    <a:p>
                      <a:r>
                        <a:rPr lang="fr-BE" sz="1400" dirty="0"/>
                        <a:t>13/38</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Régime 5</a:t>
                      </a:r>
                    </a:p>
                    <a:p>
                      <a:r>
                        <a:rPr lang="fr-BE" sz="1400" dirty="0"/>
                        <a:t>Régime 5</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89806023"/>
                  </a:ext>
                </a:extLst>
              </a:tr>
              <a:tr h="4774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400" dirty="0"/>
                        <a:t>1</a:t>
                      </a:r>
                      <a:r>
                        <a:rPr lang="fr-BE" sz="1400" baseline="30000" dirty="0"/>
                        <a:t>er</a:t>
                      </a:r>
                      <a:r>
                        <a:rPr lang="fr-BE" sz="1400" dirty="0"/>
                        <a:t> trimestre 2023</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143h</a:t>
                      </a:r>
                    </a:p>
                    <a:p>
                      <a:r>
                        <a:rPr lang="fr-BE" sz="1400" dirty="0"/>
                        <a:t>26h</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Code 1</a:t>
                      </a:r>
                    </a:p>
                    <a:p>
                      <a:r>
                        <a:rPr lang="fr-BE" sz="1400" dirty="0"/>
                        <a:t>Code 30</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13/38</a:t>
                      </a:r>
                    </a:p>
                    <a:p>
                      <a:r>
                        <a:rPr lang="fr-BE" sz="1400" dirty="0"/>
                        <a:t>13/38</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BE" sz="1400" dirty="0"/>
                        <a:t>Régime 5</a:t>
                      </a:r>
                    </a:p>
                    <a:p>
                      <a:r>
                        <a:rPr lang="fr-BE" sz="1400" dirty="0"/>
                        <a:t>Régime 5</a:t>
                      </a: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8325663"/>
                  </a:ext>
                </a:extLst>
              </a:tr>
              <a:tr h="3603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400" dirty="0"/>
                        <a:t>2</a:t>
                      </a:r>
                      <a:r>
                        <a:rPr lang="fr-BE" sz="1400" baseline="30000" dirty="0"/>
                        <a:t>ème</a:t>
                      </a:r>
                      <a:r>
                        <a:rPr lang="fr-BE" sz="1400" dirty="0"/>
                        <a:t> trimestre 2023</a:t>
                      </a:r>
                    </a:p>
                  </a:txBody>
                  <a:tcPr marL="68580" marR="68580" marT="34290" marB="3429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4">
                  <a:txBody>
                    <a:bodyPr/>
                    <a:lstStyle/>
                    <a:p>
                      <a:r>
                        <a:rPr lang="fr-BE" sz="1400" dirty="0"/>
                        <a:t>Sans interruption</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BE" sz="1400" dirty="0"/>
                    </a:p>
                  </a:txBody>
                  <a:tcPr>
                    <a:lnB w="38100" cap="flat" cmpd="sng" algn="ctr">
                      <a:solidFill>
                        <a:schemeClr val="tx1"/>
                      </a:solidFill>
                      <a:prstDash val="solid"/>
                      <a:round/>
                      <a:headEnd type="none" w="med" len="med"/>
                      <a:tailEnd type="none" w="med" len="med"/>
                    </a:lnB>
                  </a:tcPr>
                </a:tc>
                <a:tc hMerge="1">
                  <a:txBody>
                    <a:bodyPr/>
                    <a:lstStyle/>
                    <a:p>
                      <a:endParaRPr lang="fr-BE" sz="1400" dirty="0"/>
                    </a:p>
                  </a:txBody>
                  <a:tcPr>
                    <a:lnB w="38100" cap="flat" cmpd="sng" algn="ctr">
                      <a:solidFill>
                        <a:schemeClr val="tx1"/>
                      </a:solidFill>
                      <a:prstDash val="solid"/>
                      <a:round/>
                      <a:headEnd type="none" w="med" len="med"/>
                      <a:tailEnd type="none" w="med" len="med"/>
                    </a:lnB>
                  </a:tcPr>
                </a:tc>
                <a:tc hMerge="1">
                  <a:txBody>
                    <a:bodyPr/>
                    <a:lstStyle/>
                    <a:p>
                      <a:endParaRPr lang="fr-BE"/>
                    </a:p>
                  </a:txBody>
                  <a:tcPr/>
                </a:tc>
                <a:extLst>
                  <a:ext uri="{0D108BD9-81ED-4DB2-BD59-A6C34878D82A}">
                    <a16:rowId xmlns:a16="http://schemas.microsoft.com/office/drawing/2014/main" val="1040399192"/>
                  </a:ext>
                </a:extLst>
              </a:tr>
              <a:tr h="4324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400" dirty="0"/>
                        <a:t>TOTAL</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gridSpan="4">
                  <a:txBody>
                    <a:bodyPr/>
                    <a:lstStyle/>
                    <a:p>
                      <a:endParaRPr lang="fr-BE" sz="14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709550842"/>
                  </a:ext>
                </a:extLst>
              </a:tr>
              <a:tr h="4324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400" dirty="0"/>
                        <a:t>limitation</a:t>
                      </a:r>
                    </a:p>
                  </a:txBody>
                  <a:tcPr marL="68580" marR="68580" marT="34290" marB="34290">
                    <a:lnL w="12700" cmpd="sng">
                      <a:noFill/>
                    </a:lnL>
                    <a:lnR w="12700" cmpd="sng">
                      <a:noFill/>
                    </a:lnR>
                    <a:lnT w="127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gridSpan="4">
                  <a:txBody>
                    <a:bodyPr/>
                    <a:lstStyle/>
                    <a:p>
                      <a:endParaRPr lang="fr-BE"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459072250"/>
                  </a:ext>
                </a:extLst>
              </a:tr>
            </a:tbl>
          </a:graphicData>
        </a:graphic>
      </p:graphicFrame>
    </p:spTree>
    <p:extLst>
      <p:ext uri="{BB962C8B-B14F-4D97-AF65-F5344CB8AC3E}">
        <p14:creationId xmlns:p14="http://schemas.microsoft.com/office/powerpoint/2010/main" val="382970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280197-D59B-4944-A1D1-0FC3AB5A92A2}"/>
              </a:ext>
            </a:extLst>
          </p:cNvPr>
          <p:cNvSpPr>
            <a:spLocks noGrp="1"/>
          </p:cNvSpPr>
          <p:nvPr>
            <p:ph type="title"/>
          </p:nvPr>
        </p:nvSpPr>
        <p:spPr/>
        <p:txBody>
          <a:bodyPr>
            <a:noAutofit/>
          </a:bodyPr>
          <a:lstStyle/>
          <a:p>
            <a:pPr algn="r"/>
            <a:r>
              <a:rPr lang="fr-BE" sz="3600" b="1" i="1" dirty="0"/>
              <a:t>Art. 116§1 &amp; </a:t>
            </a:r>
            <a:br>
              <a:rPr lang="fr-BE" sz="3600" b="1" i="1" dirty="0"/>
            </a:br>
            <a:r>
              <a:rPr lang="fr-BE" sz="3600" b="1" i="1" dirty="0"/>
              <a:t>Régime d’indemnisation - facteur N</a:t>
            </a:r>
            <a:endParaRPr lang="fr-BE" sz="3600" dirty="0"/>
          </a:p>
        </p:txBody>
      </p:sp>
      <p:sp>
        <p:nvSpPr>
          <p:cNvPr id="4" name="Espace réservé du numéro de diapositive 3">
            <a:extLst>
              <a:ext uri="{FF2B5EF4-FFF2-40B4-BE49-F238E27FC236}">
                <a16:creationId xmlns:a16="http://schemas.microsoft.com/office/drawing/2014/main" id="{C0E72789-2AF1-486C-9147-FFFA49231F55}"/>
              </a:ext>
            </a:extLst>
          </p:cNvPr>
          <p:cNvSpPr>
            <a:spLocks noGrp="1"/>
          </p:cNvSpPr>
          <p:nvPr>
            <p:ph type="sldNum" sz="quarter" idx="12"/>
          </p:nvPr>
        </p:nvSpPr>
        <p:spPr/>
        <p:txBody>
          <a:bodyPr/>
          <a:lstStyle/>
          <a:p>
            <a:fld id="{55E9056B-6A30-4F99-BDE9-C450E66AE125}" type="slidenum">
              <a:rPr lang="fr-FR" smtClean="0"/>
              <a:pPr/>
              <a:t>41</a:t>
            </a:fld>
            <a:endParaRPr lang="fr-FR" dirty="0"/>
          </a:p>
        </p:txBody>
      </p:sp>
      <p:sp>
        <p:nvSpPr>
          <p:cNvPr id="3" name="Espace réservé du contenu 2">
            <a:extLst>
              <a:ext uri="{FF2B5EF4-FFF2-40B4-BE49-F238E27FC236}">
                <a16:creationId xmlns:a16="http://schemas.microsoft.com/office/drawing/2014/main" id="{665F5930-133C-4764-A8EF-981E0EFFEAC1}"/>
              </a:ext>
            </a:extLst>
          </p:cNvPr>
          <p:cNvSpPr>
            <a:spLocks noGrp="1"/>
          </p:cNvSpPr>
          <p:nvPr>
            <p:ph idx="4294967295"/>
          </p:nvPr>
        </p:nvSpPr>
        <p:spPr>
          <a:xfrm>
            <a:off x="467152" y="1441158"/>
            <a:ext cx="8229600" cy="1867243"/>
          </a:xfrm>
        </p:spPr>
        <p:txBody>
          <a:bodyPr>
            <a:normAutofit/>
          </a:bodyPr>
          <a:lstStyle/>
          <a:p>
            <a:pPr marL="0" indent="0">
              <a:buNone/>
            </a:pPr>
            <a:r>
              <a:rPr lang="fr-BE" sz="2200" b="1" u="sng" dirty="0"/>
              <a:t>Enoncé 6: Solution</a:t>
            </a:r>
          </a:p>
        </p:txBody>
      </p:sp>
      <p:graphicFrame>
        <p:nvGraphicFramePr>
          <p:cNvPr id="8" name="Tableau 26">
            <a:extLst>
              <a:ext uri="{FF2B5EF4-FFF2-40B4-BE49-F238E27FC236}">
                <a16:creationId xmlns:a16="http://schemas.microsoft.com/office/drawing/2014/main" id="{6E81A0BA-E8FC-4A40-BE39-83606AB5A463}"/>
              </a:ext>
            </a:extLst>
          </p:cNvPr>
          <p:cNvGraphicFramePr>
            <a:graphicFrameLocks noGrp="1"/>
          </p:cNvGraphicFramePr>
          <p:nvPr>
            <p:extLst>
              <p:ext uri="{D42A27DB-BD31-4B8C-83A1-F6EECF244321}">
                <p14:modId xmlns:p14="http://schemas.microsoft.com/office/powerpoint/2010/main" val="2940141879"/>
              </p:ext>
            </p:extLst>
          </p:nvPr>
        </p:nvGraphicFramePr>
        <p:xfrm>
          <a:off x="481256" y="3399487"/>
          <a:ext cx="6071944" cy="2901585"/>
        </p:xfrm>
        <a:graphic>
          <a:graphicData uri="http://schemas.openxmlformats.org/drawingml/2006/table">
            <a:tbl>
              <a:tblPr firstRow="1" bandRow="1">
                <a:tableStyleId>{93296810-A885-4BE3-A3E7-6D5BEEA58F35}</a:tableStyleId>
              </a:tblPr>
              <a:tblGrid>
                <a:gridCol w="1426448">
                  <a:extLst>
                    <a:ext uri="{9D8B030D-6E8A-4147-A177-3AD203B41FA5}">
                      <a16:colId xmlns:a16="http://schemas.microsoft.com/office/drawing/2014/main" val="3984055329"/>
                    </a:ext>
                  </a:extLst>
                </a:gridCol>
                <a:gridCol w="504056">
                  <a:extLst>
                    <a:ext uri="{9D8B030D-6E8A-4147-A177-3AD203B41FA5}">
                      <a16:colId xmlns:a16="http://schemas.microsoft.com/office/drawing/2014/main" val="2175299259"/>
                    </a:ext>
                  </a:extLst>
                </a:gridCol>
                <a:gridCol w="648072">
                  <a:extLst>
                    <a:ext uri="{9D8B030D-6E8A-4147-A177-3AD203B41FA5}">
                      <a16:colId xmlns:a16="http://schemas.microsoft.com/office/drawing/2014/main" val="2593040329"/>
                    </a:ext>
                  </a:extLst>
                </a:gridCol>
                <a:gridCol w="504056">
                  <a:extLst>
                    <a:ext uri="{9D8B030D-6E8A-4147-A177-3AD203B41FA5}">
                      <a16:colId xmlns:a16="http://schemas.microsoft.com/office/drawing/2014/main" val="3705776743"/>
                    </a:ext>
                  </a:extLst>
                </a:gridCol>
                <a:gridCol w="720080">
                  <a:extLst>
                    <a:ext uri="{9D8B030D-6E8A-4147-A177-3AD203B41FA5}">
                      <a16:colId xmlns:a16="http://schemas.microsoft.com/office/drawing/2014/main" val="1404521391"/>
                    </a:ext>
                  </a:extLst>
                </a:gridCol>
                <a:gridCol w="2269232">
                  <a:extLst>
                    <a:ext uri="{9D8B030D-6E8A-4147-A177-3AD203B41FA5}">
                      <a16:colId xmlns:a16="http://schemas.microsoft.com/office/drawing/2014/main" val="1633494743"/>
                    </a:ext>
                  </a:extLst>
                </a:gridCol>
              </a:tblGrid>
              <a:tr h="2356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400" dirty="0"/>
                        <a:t>DMFA</a:t>
                      </a:r>
                    </a:p>
                  </a:txBody>
                  <a:tcPr marL="68580" marR="68580" marT="34290" marB="34290"/>
                </a:tc>
                <a:tc>
                  <a:txBody>
                    <a:bodyPr/>
                    <a:lstStyle/>
                    <a:p>
                      <a:endParaRPr lang="fr-BE" sz="1400" dirty="0"/>
                    </a:p>
                  </a:txBody>
                  <a:tcPr marL="68580" marR="68580" marT="34290" marB="34290"/>
                </a:tc>
                <a:tc>
                  <a:txBody>
                    <a:bodyPr/>
                    <a:lstStyle/>
                    <a:p>
                      <a:endParaRPr lang="fr-BE" sz="1400" dirty="0"/>
                    </a:p>
                  </a:txBody>
                  <a:tcPr marL="68580" marR="68580" marT="34290" marB="34290"/>
                </a:tc>
                <a:tc>
                  <a:txBody>
                    <a:bodyPr/>
                    <a:lstStyle/>
                    <a:p>
                      <a:endParaRPr lang="fr-BE" sz="1400" dirty="0"/>
                    </a:p>
                  </a:txBody>
                  <a:tcPr marL="68580" marR="68580" marT="34290" marB="34290"/>
                </a:tc>
                <a:tc>
                  <a:txBody>
                    <a:bodyPr/>
                    <a:lstStyle/>
                    <a:p>
                      <a:endParaRPr lang="fr-BE" sz="1400" dirty="0"/>
                    </a:p>
                  </a:txBody>
                  <a:tcPr marL="68580" marR="68580" marT="34290" marB="34290"/>
                </a:tc>
                <a:tc>
                  <a:txBody>
                    <a:bodyPr/>
                    <a:lstStyle/>
                    <a:p>
                      <a:endParaRPr lang="fr-BE" sz="1400" dirty="0"/>
                    </a:p>
                  </a:txBody>
                  <a:tcPr marL="68580" marR="68580" marT="34290" marB="34290"/>
                </a:tc>
                <a:extLst>
                  <a:ext uri="{0D108BD9-81ED-4DB2-BD59-A6C34878D82A}">
                    <a16:rowId xmlns:a16="http://schemas.microsoft.com/office/drawing/2014/main" val="2031744294"/>
                  </a:ext>
                </a:extLst>
              </a:tr>
              <a:tr h="3035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100" dirty="0"/>
                        <a:t>2</a:t>
                      </a:r>
                      <a:r>
                        <a:rPr lang="fr-BE" sz="1100" baseline="30000" dirty="0"/>
                        <a:t>ème</a:t>
                      </a:r>
                      <a:r>
                        <a:rPr lang="fr-BE" sz="1100" dirty="0"/>
                        <a:t>  trimestre  2022</a:t>
                      </a:r>
                    </a:p>
                  </a:txBody>
                  <a:tcPr marL="68580" marR="68580" marT="34290" marB="34290"/>
                </a:tc>
                <a:tc>
                  <a:txBody>
                    <a:bodyPr/>
                    <a:lstStyle/>
                    <a:p>
                      <a:r>
                        <a:rPr lang="fr-BE" sz="1100" dirty="0"/>
                        <a:t>57h</a:t>
                      </a:r>
                    </a:p>
                  </a:txBody>
                  <a:tcPr marL="68580" marR="68580" marT="34290" marB="34290"/>
                </a:tc>
                <a:tc>
                  <a:txBody>
                    <a:bodyPr/>
                    <a:lstStyle/>
                    <a:p>
                      <a:r>
                        <a:rPr lang="fr-BE" sz="1100" dirty="0"/>
                        <a:t>Code 1</a:t>
                      </a:r>
                    </a:p>
                  </a:txBody>
                  <a:tcPr marL="68580" marR="68580" marT="34290" marB="34290"/>
                </a:tc>
                <a:tc>
                  <a:txBody>
                    <a:bodyPr/>
                    <a:lstStyle/>
                    <a:p>
                      <a:r>
                        <a:rPr lang="fr-BE" sz="1100" dirty="0"/>
                        <a:t>13/38</a:t>
                      </a:r>
                    </a:p>
                  </a:txBody>
                  <a:tcPr marL="68580" marR="68580" marT="34290" marB="34290"/>
                </a:tc>
                <a:tc>
                  <a:txBody>
                    <a:bodyPr/>
                    <a:lstStyle/>
                    <a:p>
                      <a:r>
                        <a:rPr lang="fr-BE" sz="1100" dirty="0"/>
                        <a:t>Régime 5</a:t>
                      </a:r>
                    </a:p>
                  </a:txBody>
                  <a:tcPr marL="68580" marR="68580" marT="34290" marB="34290"/>
                </a:tc>
                <a:tc>
                  <a:txBody>
                    <a:bodyPr/>
                    <a:lstStyle/>
                    <a:p>
                      <a:endParaRPr lang="fr-BE" sz="1100" dirty="0"/>
                    </a:p>
                  </a:txBody>
                  <a:tcPr marL="68580" marR="68580" marT="34290" marB="34290"/>
                </a:tc>
                <a:extLst>
                  <a:ext uri="{0D108BD9-81ED-4DB2-BD59-A6C34878D82A}">
                    <a16:rowId xmlns:a16="http://schemas.microsoft.com/office/drawing/2014/main" val="3064381283"/>
                  </a:ext>
                </a:extLst>
              </a:tr>
              <a:tr h="303547">
                <a:tc>
                  <a:txBody>
                    <a:bodyPr/>
                    <a:lstStyle/>
                    <a:p>
                      <a:r>
                        <a:rPr lang="fr-BE" sz="1100" dirty="0"/>
                        <a:t>3</a:t>
                      </a:r>
                      <a:r>
                        <a:rPr lang="fr-BE" sz="1100" baseline="30000" dirty="0"/>
                        <a:t>ème</a:t>
                      </a:r>
                      <a:r>
                        <a:rPr lang="fr-BE" sz="1100" dirty="0"/>
                        <a:t>  trimestre 2022</a:t>
                      </a:r>
                    </a:p>
                  </a:txBody>
                  <a:tcPr marL="68580" marR="68580" marT="34290" marB="34290"/>
                </a:tc>
                <a:tc>
                  <a:txBody>
                    <a:bodyPr/>
                    <a:lstStyle/>
                    <a:p>
                      <a:r>
                        <a:rPr lang="fr-BE" sz="1100" dirty="0"/>
                        <a:t>169h</a:t>
                      </a:r>
                    </a:p>
                  </a:txBody>
                  <a:tcPr marL="68580" marR="68580" marT="34290" marB="34290"/>
                </a:tc>
                <a:tc>
                  <a:txBody>
                    <a:bodyPr/>
                    <a:lstStyle/>
                    <a:p>
                      <a:r>
                        <a:rPr lang="fr-BE" sz="1100" dirty="0"/>
                        <a:t>Code 1</a:t>
                      </a:r>
                    </a:p>
                  </a:txBody>
                  <a:tcPr marL="68580" marR="68580" marT="34290" marB="34290"/>
                </a:tc>
                <a:tc>
                  <a:txBody>
                    <a:bodyPr/>
                    <a:lstStyle/>
                    <a:p>
                      <a:r>
                        <a:rPr lang="fr-BE" sz="1100" dirty="0"/>
                        <a:t>13/38</a:t>
                      </a:r>
                    </a:p>
                  </a:txBody>
                  <a:tcPr marL="68580" marR="68580" marT="34290" marB="34290"/>
                </a:tc>
                <a:tc>
                  <a:txBody>
                    <a:bodyPr/>
                    <a:lstStyle/>
                    <a:p>
                      <a:r>
                        <a:rPr lang="fr-BE" sz="1100" dirty="0"/>
                        <a:t>Régime 5</a:t>
                      </a:r>
                    </a:p>
                  </a:txBody>
                  <a:tcPr marL="68580" marR="68580" marT="34290" marB="34290"/>
                </a:tc>
                <a:tc>
                  <a:txBody>
                    <a:bodyPr/>
                    <a:lstStyle/>
                    <a:p>
                      <a:endParaRPr lang="fr-BE" sz="1100" dirty="0"/>
                    </a:p>
                  </a:txBody>
                  <a:tcPr marL="68580" marR="68580" marT="34290" marB="34290"/>
                </a:tc>
                <a:extLst>
                  <a:ext uri="{0D108BD9-81ED-4DB2-BD59-A6C34878D82A}">
                    <a16:rowId xmlns:a16="http://schemas.microsoft.com/office/drawing/2014/main" val="3580702123"/>
                  </a:ext>
                </a:extLst>
              </a:tr>
              <a:tr h="440765">
                <a:tc>
                  <a:txBody>
                    <a:bodyPr/>
                    <a:lstStyle/>
                    <a:p>
                      <a:r>
                        <a:rPr lang="fr-BE" sz="1100" dirty="0"/>
                        <a:t>4</a:t>
                      </a:r>
                      <a:r>
                        <a:rPr lang="fr-BE" sz="1100" baseline="30000" dirty="0"/>
                        <a:t>ème</a:t>
                      </a:r>
                      <a:r>
                        <a:rPr lang="fr-BE" sz="1100" dirty="0"/>
                        <a:t> trimestre 2022</a:t>
                      </a:r>
                    </a:p>
                  </a:txBody>
                  <a:tcPr marL="68580" marR="68580" marT="34290" marB="34290"/>
                </a:tc>
                <a:tc>
                  <a:txBody>
                    <a:bodyPr/>
                    <a:lstStyle/>
                    <a:p>
                      <a:r>
                        <a:rPr lang="fr-BE" sz="1100" dirty="0"/>
                        <a:t>117h</a:t>
                      </a:r>
                    </a:p>
                    <a:p>
                      <a:r>
                        <a:rPr lang="fr-BE" sz="1100" dirty="0"/>
                        <a:t>52h</a:t>
                      </a:r>
                    </a:p>
                  </a:txBody>
                  <a:tcPr marL="68580" marR="68580" marT="34290" marB="34290"/>
                </a:tc>
                <a:tc>
                  <a:txBody>
                    <a:bodyPr/>
                    <a:lstStyle/>
                    <a:p>
                      <a:r>
                        <a:rPr lang="fr-BE" sz="1100" dirty="0"/>
                        <a:t>Code 1</a:t>
                      </a:r>
                    </a:p>
                    <a:p>
                      <a:r>
                        <a:rPr lang="fr-BE" sz="1100" dirty="0"/>
                        <a:t>Code 2</a:t>
                      </a:r>
                    </a:p>
                  </a:txBody>
                  <a:tcPr marL="68580" marR="68580" marT="34290" marB="34290"/>
                </a:tc>
                <a:tc>
                  <a:txBody>
                    <a:bodyPr/>
                    <a:lstStyle/>
                    <a:p>
                      <a:r>
                        <a:rPr lang="fr-BE" sz="1100" dirty="0"/>
                        <a:t>13/38</a:t>
                      </a:r>
                    </a:p>
                    <a:p>
                      <a:r>
                        <a:rPr lang="fr-BE" sz="1100" dirty="0"/>
                        <a:t>13/38</a:t>
                      </a:r>
                    </a:p>
                  </a:txBody>
                  <a:tcPr marL="68580" marR="68580" marT="34290" marB="34290"/>
                </a:tc>
                <a:tc>
                  <a:txBody>
                    <a:bodyPr/>
                    <a:lstStyle/>
                    <a:p>
                      <a:r>
                        <a:rPr lang="fr-BE" sz="1100" dirty="0"/>
                        <a:t>Régime 5</a:t>
                      </a:r>
                    </a:p>
                    <a:p>
                      <a:r>
                        <a:rPr lang="fr-BE" sz="1100" dirty="0"/>
                        <a:t>Régime 5</a:t>
                      </a:r>
                    </a:p>
                  </a:txBody>
                  <a:tcPr marL="68580" marR="68580" marT="34290" marB="34290"/>
                </a:tc>
                <a:tc>
                  <a:txBody>
                    <a:bodyPr/>
                    <a:lstStyle/>
                    <a:p>
                      <a:endParaRPr lang="fr-BE" sz="1100" dirty="0"/>
                    </a:p>
                  </a:txBody>
                  <a:tcPr marL="68580" marR="68580" marT="34290" marB="34290"/>
                </a:tc>
                <a:extLst>
                  <a:ext uri="{0D108BD9-81ED-4DB2-BD59-A6C34878D82A}">
                    <a16:rowId xmlns:a16="http://schemas.microsoft.com/office/drawing/2014/main" val="2289806023"/>
                  </a:ext>
                </a:extLst>
              </a:tr>
              <a:tr h="4407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100" dirty="0"/>
                        <a:t>1</a:t>
                      </a:r>
                      <a:r>
                        <a:rPr lang="fr-BE" sz="1100" baseline="30000" dirty="0"/>
                        <a:t>er</a:t>
                      </a:r>
                      <a:r>
                        <a:rPr lang="fr-BE" sz="1100" dirty="0"/>
                        <a:t> trimestre 2023</a:t>
                      </a:r>
                    </a:p>
                  </a:txBody>
                  <a:tcPr marL="68580" marR="68580" marT="34290" marB="34290"/>
                </a:tc>
                <a:tc>
                  <a:txBody>
                    <a:bodyPr/>
                    <a:lstStyle/>
                    <a:p>
                      <a:r>
                        <a:rPr lang="fr-BE" sz="1100" dirty="0"/>
                        <a:t>143h</a:t>
                      </a:r>
                    </a:p>
                    <a:p>
                      <a:r>
                        <a:rPr lang="fr-BE" sz="1100" dirty="0"/>
                        <a:t>26h</a:t>
                      </a:r>
                    </a:p>
                  </a:txBody>
                  <a:tcPr marL="68580" marR="68580" marT="34290" marB="34290"/>
                </a:tc>
                <a:tc>
                  <a:txBody>
                    <a:bodyPr/>
                    <a:lstStyle/>
                    <a:p>
                      <a:r>
                        <a:rPr lang="fr-BE" sz="1100" dirty="0"/>
                        <a:t>Code 1</a:t>
                      </a:r>
                    </a:p>
                    <a:p>
                      <a:r>
                        <a:rPr lang="fr-BE" sz="1100" dirty="0"/>
                        <a:t>Code 30</a:t>
                      </a:r>
                    </a:p>
                  </a:txBody>
                  <a:tcPr marL="68580" marR="68580" marT="34290" marB="34290"/>
                </a:tc>
                <a:tc>
                  <a:txBody>
                    <a:bodyPr/>
                    <a:lstStyle/>
                    <a:p>
                      <a:r>
                        <a:rPr lang="fr-BE" sz="1100" dirty="0"/>
                        <a:t>13/38</a:t>
                      </a:r>
                    </a:p>
                    <a:p>
                      <a:r>
                        <a:rPr lang="fr-BE" sz="1100" dirty="0"/>
                        <a:t>13/38</a:t>
                      </a:r>
                    </a:p>
                  </a:txBody>
                  <a:tcPr marL="68580" marR="68580" marT="34290" marB="34290"/>
                </a:tc>
                <a:tc>
                  <a:txBody>
                    <a:bodyPr/>
                    <a:lstStyle/>
                    <a:p>
                      <a:r>
                        <a:rPr lang="fr-BE" sz="1100" dirty="0"/>
                        <a:t>Régime 5</a:t>
                      </a:r>
                    </a:p>
                    <a:p>
                      <a:r>
                        <a:rPr lang="fr-BE" sz="1100" dirty="0"/>
                        <a:t>Régime 5</a:t>
                      </a:r>
                    </a:p>
                  </a:txBody>
                  <a:tcPr marL="68580" marR="68580" marT="34290" marB="34290"/>
                </a:tc>
                <a:tc>
                  <a:txBody>
                    <a:bodyPr/>
                    <a:lstStyle/>
                    <a:p>
                      <a:endParaRPr lang="fr-BE" sz="1100" dirty="0"/>
                    </a:p>
                  </a:txBody>
                  <a:tcPr marL="68580" marR="68580" marT="34290" marB="34290"/>
                </a:tc>
                <a:extLst>
                  <a:ext uri="{0D108BD9-81ED-4DB2-BD59-A6C34878D82A}">
                    <a16:rowId xmlns:a16="http://schemas.microsoft.com/office/drawing/2014/main" val="2138325663"/>
                  </a:ext>
                </a:extLst>
              </a:tr>
              <a:tr h="3326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100" dirty="0"/>
                        <a:t>2</a:t>
                      </a:r>
                      <a:r>
                        <a:rPr lang="fr-BE" sz="1100" baseline="30000" dirty="0"/>
                        <a:t>ème</a:t>
                      </a:r>
                      <a:r>
                        <a:rPr lang="fr-BE" sz="1100" dirty="0"/>
                        <a:t> trimestre 2023</a:t>
                      </a:r>
                    </a:p>
                  </a:txBody>
                  <a:tcPr marL="68580" marR="68580" marT="34290" marB="34290">
                    <a:lnB w="38100" cap="flat" cmpd="sng" algn="ctr">
                      <a:solidFill>
                        <a:schemeClr val="tx1"/>
                      </a:solidFill>
                      <a:prstDash val="solid"/>
                      <a:round/>
                      <a:headEnd type="none" w="med" len="med"/>
                      <a:tailEnd type="none" w="med" len="med"/>
                    </a:lnB>
                  </a:tcPr>
                </a:tc>
                <a:tc gridSpan="4">
                  <a:txBody>
                    <a:bodyPr/>
                    <a:lstStyle/>
                    <a:p>
                      <a:r>
                        <a:rPr lang="fr-BE" sz="1400" dirty="0"/>
                        <a:t>Sans interruption</a:t>
                      </a:r>
                    </a:p>
                  </a:txBody>
                  <a:tcPr>
                    <a:lnB w="38100" cap="flat" cmpd="sng" algn="ctr">
                      <a:solidFill>
                        <a:schemeClr val="tx1"/>
                      </a:solidFill>
                      <a:prstDash val="solid"/>
                      <a:round/>
                      <a:headEnd type="none" w="med" len="med"/>
                      <a:tailEnd type="none" w="med" len="med"/>
                    </a:lnB>
                  </a:tcPr>
                </a:tc>
                <a:tc hMerge="1">
                  <a:txBody>
                    <a:bodyPr/>
                    <a:lstStyle/>
                    <a:p>
                      <a:endParaRPr lang="fr-BE" sz="1400" dirty="0"/>
                    </a:p>
                  </a:txBody>
                  <a:tcPr>
                    <a:lnB w="38100" cap="flat" cmpd="sng" algn="ctr">
                      <a:solidFill>
                        <a:schemeClr val="tx1"/>
                      </a:solidFill>
                      <a:prstDash val="solid"/>
                      <a:round/>
                      <a:headEnd type="none" w="med" len="med"/>
                      <a:tailEnd type="none" w="med" len="med"/>
                    </a:lnB>
                  </a:tcPr>
                </a:tc>
                <a:tc hMerge="1">
                  <a:txBody>
                    <a:bodyPr/>
                    <a:lstStyle/>
                    <a:p>
                      <a:endParaRPr lang="fr-BE" sz="1400" dirty="0"/>
                    </a:p>
                  </a:txBody>
                  <a:tcPr>
                    <a:lnB w="38100" cap="flat" cmpd="sng" algn="ctr">
                      <a:solidFill>
                        <a:schemeClr val="tx1"/>
                      </a:solidFill>
                      <a:prstDash val="solid"/>
                      <a:round/>
                      <a:headEnd type="none" w="med" len="med"/>
                      <a:tailEnd type="none" w="med" len="med"/>
                    </a:lnB>
                  </a:tcPr>
                </a:tc>
                <a:tc hMerge="1">
                  <a:txBody>
                    <a:bodyPr/>
                    <a:lstStyle/>
                    <a:p>
                      <a:endParaRPr lang="fr-BE"/>
                    </a:p>
                  </a:txBody>
                  <a:tcPr/>
                </a:tc>
                <a:tc>
                  <a:txBody>
                    <a:bodyPr/>
                    <a:lstStyle/>
                    <a:p>
                      <a:endParaRPr lang="fr-BE" sz="1400" dirty="0"/>
                    </a:p>
                  </a:txBody>
                  <a:tcP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0399192"/>
                  </a:ext>
                </a:extLst>
              </a:tr>
              <a:tr h="3991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100" dirty="0"/>
                        <a:t>TOTAL</a:t>
                      </a:r>
                    </a:p>
                  </a:txBody>
                  <a:tcPr marL="68580" marR="68580" marT="34290" marB="34290">
                    <a:lnT w="38100" cap="flat" cmpd="sng" algn="ctr">
                      <a:solidFill>
                        <a:schemeClr val="tx1"/>
                      </a:solidFill>
                      <a:prstDash val="solid"/>
                      <a:round/>
                      <a:headEnd type="none" w="med" len="med"/>
                      <a:tailEnd type="none" w="med" len="med"/>
                    </a:lnT>
                  </a:tcPr>
                </a:tc>
                <a:tc gridSpan="4">
                  <a:txBody>
                    <a:bodyPr/>
                    <a:lstStyle/>
                    <a:p>
                      <a:endParaRPr lang="fr-BE" sz="1400" dirty="0"/>
                    </a:p>
                  </a:txBody>
                  <a:tcPr>
                    <a:lnT w="38100" cap="flat" cmpd="sng" algn="ctr">
                      <a:solidFill>
                        <a:schemeClr val="tx1"/>
                      </a:solidFill>
                      <a:prstDash val="solid"/>
                      <a:round/>
                      <a:headEnd type="none" w="med" len="med"/>
                      <a:tailEnd type="none" w="med" len="med"/>
                    </a:lnT>
                  </a:tcPr>
                </a:tc>
                <a:tc hMerge="1">
                  <a:txBody>
                    <a:bodyPr/>
                    <a:lstStyle/>
                    <a:p>
                      <a:endParaRPr lang="fr-BE"/>
                    </a:p>
                  </a:txBody>
                  <a:tcPr/>
                </a:tc>
                <a:tc hMerge="1">
                  <a:txBody>
                    <a:bodyPr/>
                    <a:lstStyle/>
                    <a:p>
                      <a:endParaRPr lang="fr-BE"/>
                    </a:p>
                  </a:txBody>
                  <a:tcPr/>
                </a:tc>
                <a:tc hMerge="1">
                  <a:txBody>
                    <a:bodyPr/>
                    <a:lstStyle/>
                    <a:p>
                      <a:endParaRPr lang="fr-BE"/>
                    </a:p>
                  </a:txBody>
                  <a:tcPr/>
                </a:tc>
                <a:tc>
                  <a:txBody>
                    <a:bodyPr/>
                    <a:lstStyle/>
                    <a:p>
                      <a:endParaRPr lang="fr-BE" dirty="0"/>
                    </a:p>
                  </a:txBody>
                  <a:tcP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09550842"/>
                  </a:ext>
                </a:extLst>
              </a:tr>
              <a:tr h="3991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100" dirty="0"/>
                        <a:t>limitation</a:t>
                      </a:r>
                    </a:p>
                  </a:txBody>
                  <a:tcPr marL="68580" marR="68580" marT="34290" marB="34290">
                    <a:lnB w="38100" cap="flat" cmpd="sng" algn="ctr">
                      <a:solidFill>
                        <a:schemeClr val="tx1"/>
                      </a:solidFill>
                      <a:prstDash val="solid"/>
                      <a:round/>
                      <a:headEnd type="none" w="med" len="med"/>
                      <a:tailEnd type="none" w="med" len="med"/>
                    </a:lnB>
                  </a:tcPr>
                </a:tc>
                <a:tc gridSpan="4">
                  <a:txBody>
                    <a:bodyPr/>
                    <a:lstStyle/>
                    <a:p>
                      <a:endParaRPr lang="fr-BE" sz="1400" dirty="0"/>
                    </a:p>
                  </a:txBody>
                  <a:tcPr/>
                </a:tc>
                <a:tc hMerge="1">
                  <a:txBody>
                    <a:bodyPr/>
                    <a:lstStyle/>
                    <a:p>
                      <a:endParaRPr lang="fr-BE"/>
                    </a:p>
                  </a:txBody>
                  <a:tcPr/>
                </a:tc>
                <a:tc hMerge="1">
                  <a:txBody>
                    <a:bodyPr/>
                    <a:lstStyle/>
                    <a:p>
                      <a:endParaRPr lang="fr-BE"/>
                    </a:p>
                  </a:txBody>
                  <a:tcPr/>
                </a:tc>
                <a:tc hMerge="1">
                  <a:txBody>
                    <a:bodyPr/>
                    <a:lstStyle/>
                    <a:p>
                      <a:endParaRPr lang="fr-BE"/>
                    </a:p>
                  </a:txBody>
                  <a:tcPr/>
                </a:tc>
                <a:tc>
                  <a:txBody>
                    <a:bodyPr/>
                    <a:lstStyle/>
                    <a:p>
                      <a:endParaRPr lang="fr-BE" sz="1600" b="1" dirty="0"/>
                    </a:p>
                  </a:txBody>
                  <a:tcPr/>
                </a:tc>
                <a:extLst>
                  <a:ext uri="{0D108BD9-81ED-4DB2-BD59-A6C34878D82A}">
                    <a16:rowId xmlns:a16="http://schemas.microsoft.com/office/drawing/2014/main" val="2459072250"/>
                  </a:ext>
                </a:extLst>
              </a:tr>
            </a:tbl>
          </a:graphicData>
        </a:graphic>
      </p:graphicFrame>
    </p:spTree>
    <p:extLst>
      <p:ext uri="{BB962C8B-B14F-4D97-AF65-F5344CB8AC3E}">
        <p14:creationId xmlns:p14="http://schemas.microsoft.com/office/powerpoint/2010/main" val="3837416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280197-D59B-4944-A1D1-0FC3AB5A92A2}"/>
              </a:ext>
            </a:extLst>
          </p:cNvPr>
          <p:cNvSpPr>
            <a:spLocks noGrp="1"/>
          </p:cNvSpPr>
          <p:nvPr>
            <p:ph type="title"/>
          </p:nvPr>
        </p:nvSpPr>
        <p:spPr/>
        <p:txBody>
          <a:bodyPr>
            <a:noAutofit/>
          </a:bodyPr>
          <a:lstStyle/>
          <a:p>
            <a:pPr algn="r"/>
            <a:r>
              <a:rPr lang="fr-BE" sz="3600" b="1" i="1" dirty="0"/>
              <a:t>Art. 116§1 &amp; </a:t>
            </a:r>
            <a:br>
              <a:rPr lang="fr-BE" sz="3600" b="1" i="1" dirty="0"/>
            </a:br>
            <a:r>
              <a:rPr lang="fr-BE" sz="3600" b="1" i="1" dirty="0"/>
              <a:t>Régime d’indemnisation - facteur N</a:t>
            </a:r>
            <a:endParaRPr lang="fr-BE" sz="3600" dirty="0"/>
          </a:p>
        </p:txBody>
      </p:sp>
      <p:sp>
        <p:nvSpPr>
          <p:cNvPr id="4" name="Espace réservé du numéro de diapositive 3">
            <a:extLst>
              <a:ext uri="{FF2B5EF4-FFF2-40B4-BE49-F238E27FC236}">
                <a16:creationId xmlns:a16="http://schemas.microsoft.com/office/drawing/2014/main" id="{C0E72789-2AF1-486C-9147-FFFA49231F55}"/>
              </a:ext>
            </a:extLst>
          </p:cNvPr>
          <p:cNvSpPr>
            <a:spLocks noGrp="1"/>
          </p:cNvSpPr>
          <p:nvPr>
            <p:ph type="sldNum" sz="quarter" idx="12"/>
          </p:nvPr>
        </p:nvSpPr>
        <p:spPr/>
        <p:txBody>
          <a:bodyPr/>
          <a:lstStyle/>
          <a:p>
            <a:fld id="{55E9056B-6A30-4F99-BDE9-C450E66AE125}" type="slidenum">
              <a:rPr lang="fr-FR" smtClean="0"/>
              <a:pPr/>
              <a:t>42</a:t>
            </a:fld>
            <a:endParaRPr lang="fr-FR" dirty="0"/>
          </a:p>
        </p:txBody>
      </p:sp>
      <p:sp>
        <p:nvSpPr>
          <p:cNvPr id="3" name="Espace réservé du contenu 2">
            <a:extLst>
              <a:ext uri="{FF2B5EF4-FFF2-40B4-BE49-F238E27FC236}">
                <a16:creationId xmlns:a16="http://schemas.microsoft.com/office/drawing/2014/main" id="{665F5930-133C-4764-A8EF-981E0EFFEAC1}"/>
              </a:ext>
            </a:extLst>
          </p:cNvPr>
          <p:cNvSpPr>
            <a:spLocks noGrp="1"/>
          </p:cNvSpPr>
          <p:nvPr>
            <p:ph idx="4294967295"/>
          </p:nvPr>
        </p:nvSpPr>
        <p:spPr>
          <a:xfrm>
            <a:off x="467152" y="1441158"/>
            <a:ext cx="8229600" cy="4652138"/>
          </a:xfrm>
        </p:spPr>
        <p:txBody>
          <a:bodyPr>
            <a:normAutofit/>
          </a:bodyPr>
          <a:lstStyle/>
          <a:p>
            <a:pPr marL="0" indent="0">
              <a:buNone/>
            </a:pPr>
            <a:r>
              <a:rPr lang="fr-BE" sz="2200" b="1" u="sng" dirty="0"/>
              <a:t>Enoncé 6: Solution</a:t>
            </a:r>
          </a:p>
          <a:p>
            <a:pPr marL="0" indent="0">
              <a:buNone/>
            </a:pPr>
            <a:endParaRPr lang="fr-BE" sz="2200" b="1" u="sng" dirty="0"/>
          </a:p>
        </p:txBody>
      </p:sp>
    </p:spTree>
    <p:extLst>
      <p:ext uri="{BB962C8B-B14F-4D97-AF65-F5344CB8AC3E}">
        <p14:creationId xmlns:p14="http://schemas.microsoft.com/office/powerpoint/2010/main" val="156603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280197-D59B-4944-A1D1-0FC3AB5A92A2}"/>
              </a:ext>
            </a:extLst>
          </p:cNvPr>
          <p:cNvSpPr>
            <a:spLocks noGrp="1"/>
          </p:cNvSpPr>
          <p:nvPr>
            <p:ph type="title"/>
          </p:nvPr>
        </p:nvSpPr>
        <p:spPr/>
        <p:txBody>
          <a:bodyPr>
            <a:normAutofit/>
          </a:bodyPr>
          <a:lstStyle/>
          <a:p>
            <a:pPr algn="r"/>
            <a:r>
              <a:rPr lang="fr-BE" sz="3600" b="1" i="1" dirty="0"/>
              <a:t>Régime d’indemnisation: facteur N</a:t>
            </a:r>
            <a:endParaRPr lang="fr-BE" sz="3600" dirty="0"/>
          </a:p>
        </p:txBody>
      </p:sp>
      <p:sp>
        <p:nvSpPr>
          <p:cNvPr id="3" name="Espace réservé du contenu 2">
            <a:extLst>
              <a:ext uri="{FF2B5EF4-FFF2-40B4-BE49-F238E27FC236}">
                <a16:creationId xmlns:a16="http://schemas.microsoft.com/office/drawing/2014/main" id="{665F5930-133C-4764-A8EF-981E0EFFEAC1}"/>
              </a:ext>
            </a:extLst>
          </p:cNvPr>
          <p:cNvSpPr>
            <a:spLocks noGrp="1"/>
          </p:cNvSpPr>
          <p:nvPr>
            <p:ph idx="1"/>
          </p:nvPr>
        </p:nvSpPr>
        <p:spPr/>
        <p:txBody>
          <a:bodyPr>
            <a:normAutofit fontScale="92500" lnSpcReduction="10000"/>
          </a:bodyPr>
          <a:lstStyle/>
          <a:p>
            <a:pPr marL="0" indent="0">
              <a:buNone/>
            </a:pPr>
            <a:r>
              <a:rPr lang="fr-BE" sz="3200" dirty="0"/>
              <a:t>Révision du </a:t>
            </a:r>
            <a:r>
              <a:rPr lang="fr-BE" sz="3200" b="1" dirty="0"/>
              <a:t>régime d’indemnisation </a:t>
            </a:r>
            <a:r>
              <a:rPr lang="fr-BE" sz="3200" dirty="0"/>
              <a:t>si reprise de travail d’au moins 12 mois et uniquement </a:t>
            </a:r>
            <a:r>
              <a:rPr lang="fr-BE" sz="3200" b="1" dirty="0"/>
              <a:t>si plus avantageux.</a:t>
            </a:r>
          </a:p>
          <a:p>
            <a:endParaRPr lang="fr-BE" dirty="0">
              <a:highlight>
                <a:srgbClr val="FFFF00"/>
              </a:highlight>
            </a:endParaRPr>
          </a:p>
          <a:p>
            <a:endParaRPr lang="fr-BE" dirty="0">
              <a:highlight>
                <a:srgbClr val="FFFF00"/>
              </a:highlight>
            </a:endParaRPr>
          </a:p>
          <a:p>
            <a:endParaRPr lang="fr-BE" dirty="0">
              <a:highlight>
                <a:srgbClr val="FFFF00"/>
              </a:highlight>
            </a:endParaRPr>
          </a:p>
          <a:p>
            <a:pPr marL="0" indent="0">
              <a:buNone/>
            </a:pPr>
            <a:r>
              <a:rPr lang="fr-BE" b="1" u="sng" dirty="0"/>
              <a:t>Retour en cas de TTRV </a:t>
            </a:r>
            <a:r>
              <a:rPr lang="fr-BE" dirty="0"/>
              <a:t>:</a:t>
            </a:r>
          </a:p>
          <a:p>
            <a:pPr marL="0" indent="0">
              <a:buNone/>
            </a:pPr>
            <a:r>
              <a:rPr lang="fr-BE" dirty="0"/>
              <a:t>Q ≥ 12 ou ≥ 1/3 S : 12 mois de travail sur une PR de 18 mois avec ≤ 156 jours d’interruption.</a:t>
            </a:r>
          </a:p>
          <a:p>
            <a:pPr marL="0" indent="0">
              <a:buNone/>
            </a:pPr>
            <a:endParaRPr lang="fr-BE" dirty="0">
              <a:highlight>
                <a:srgbClr val="FFFF00"/>
              </a:highlight>
            </a:endParaRPr>
          </a:p>
        </p:txBody>
      </p:sp>
      <p:sp>
        <p:nvSpPr>
          <p:cNvPr id="4" name="Espace réservé du numéro de diapositive 3">
            <a:extLst>
              <a:ext uri="{FF2B5EF4-FFF2-40B4-BE49-F238E27FC236}">
                <a16:creationId xmlns:a16="http://schemas.microsoft.com/office/drawing/2014/main" id="{C0E72789-2AF1-486C-9147-FFFA49231F55}"/>
              </a:ext>
            </a:extLst>
          </p:cNvPr>
          <p:cNvSpPr>
            <a:spLocks noGrp="1"/>
          </p:cNvSpPr>
          <p:nvPr>
            <p:ph type="sldNum" sz="quarter" idx="12"/>
          </p:nvPr>
        </p:nvSpPr>
        <p:spPr/>
        <p:txBody>
          <a:bodyPr/>
          <a:lstStyle/>
          <a:p>
            <a:fld id="{55E9056B-6A30-4F99-BDE9-C450E66AE125}" type="slidenum">
              <a:rPr lang="fr-FR" smtClean="0"/>
              <a:pPr/>
              <a:t>43</a:t>
            </a:fld>
            <a:endParaRPr lang="fr-FR" dirty="0"/>
          </a:p>
        </p:txBody>
      </p:sp>
      <p:sp>
        <p:nvSpPr>
          <p:cNvPr id="5" name="Titre 1">
            <a:extLst>
              <a:ext uri="{FF2B5EF4-FFF2-40B4-BE49-F238E27FC236}">
                <a16:creationId xmlns:a16="http://schemas.microsoft.com/office/drawing/2014/main" id="{E78AF063-7227-4C9E-8898-8227BC77F17B}"/>
              </a:ext>
            </a:extLst>
          </p:cNvPr>
          <p:cNvSpPr txBox="1">
            <a:spLocks/>
          </p:cNvSpPr>
          <p:nvPr/>
        </p:nvSpPr>
        <p:spPr>
          <a:xfrm>
            <a:off x="457200" y="3212976"/>
            <a:ext cx="8229600"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fr-BE" b="1" i="1" dirty="0">
                <a:latin typeface="+mn-lt"/>
              </a:rPr>
              <a:t>Application 116§1</a:t>
            </a:r>
            <a:endParaRPr lang="fr-BE" dirty="0"/>
          </a:p>
        </p:txBody>
      </p:sp>
    </p:spTree>
    <p:extLst>
      <p:ext uri="{BB962C8B-B14F-4D97-AF65-F5344CB8AC3E}">
        <p14:creationId xmlns:p14="http://schemas.microsoft.com/office/powerpoint/2010/main" val="18558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8C07EE20480F44AE4960B9D2A32DA0" ma:contentTypeVersion="4" ma:contentTypeDescription="Crée un document." ma:contentTypeScope="" ma:versionID="f91216ef509c6a584f12053dcd624016">
  <xsd:schema xmlns:xsd="http://www.w3.org/2001/XMLSchema" xmlns:xs="http://www.w3.org/2001/XMLSchema" xmlns:p="http://schemas.microsoft.com/office/2006/metadata/properties" xmlns:ns2="badce1e3-4228-484a-9cea-a1abab477a44" xmlns:ns3="f1b85f46-8f47-4c7a-8346-9752567dac4a" targetNamespace="http://schemas.microsoft.com/office/2006/metadata/properties" ma:root="true" ma:fieldsID="0302afb9b051af15bdd7c100f38d2307" ns2:_="" ns3:_="">
    <xsd:import namespace="badce1e3-4228-484a-9cea-a1abab477a44"/>
    <xsd:import namespace="f1b85f46-8f47-4c7a-8346-9752567dac4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dce1e3-4228-484a-9cea-a1abab477a44"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1b85f46-8f47-4c7a-8346-9752567dac4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076DAAF-0C46-43B3-911D-00AF15FB5100}">
  <ds:schemaRefs>
    <ds:schemaRef ds:uri="http://schemas.microsoft.com/sharepoint/v3/contenttype/forms"/>
  </ds:schemaRefs>
</ds:datastoreItem>
</file>

<file path=customXml/itemProps2.xml><?xml version="1.0" encoding="utf-8"?>
<ds:datastoreItem xmlns:ds="http://schemas.openxmlformats.org/officeDocument/2006/customXml" ds:itemID="{13AF4964-CB3A-4F27-B560-F73C387759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dce1e3-4228-484a-9cea-a1abab477a44"/>
    <ds:schemaRef ds:uri="f1b85f46-8f47-4c7a-8346-9752567dac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762757-8EBD-4662-9885-57867D47B973}">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f1b85f46-8f47-4c7a-8346-9752567dac4a"/>
    <ds:schemaRef ds:uri="badce1e3-4228-484a-9cea-a1abab477a44"/>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18281</TotalTime>
  <Words>2721</Words>
  <Application>Microsoft Office PowerPoint</Application>
  <PresentationFormat>Affichage à l'écran (4:3)</PresentationFormat>
  <Paragraphs>462</Paragraphs>
  <Slides>43</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43</vt:i4>
      </vt:variant>
    </vt:vector>
  </HeadingPairs>
  <TitlesOfParts>
    <vt:vector size="47" baseType="lpstr">
      <vt:lpstr>Arial</vt:lpstr>
      <vt:lpstr>Calibri</vt:lpstr>
      <vt:lpstr>Wingdings</vt:lpstr>
      <vt:lpstr>Thème Office</vt:lpstr>
      <vt:lpstr>Admission sur base d’un travail salarié à temps partiel volontaire  (niv. 2)</vt:lpstr>
      <vt:lpstr>Table des matières</vt:lpstr>
      <vt:lpstr>Admissibilité art. 33 de l’AR du 25.11.1991 </vt:lpstr>
      <vt:lpstr>Admissibilité art. 33 de l’AR du 25.11.1991 </vt:lpstr>
      <vt:lpstr>Admissibilité art. 33 de l’AR du 25.11.1991 </vt:lpstr>
      <vt:lpstr>Détermination du statut </vt:lpstr>
      <vt:lpstr>Détermination du statut </vt:lpstr>
      <vt:lpstr>Détermination du statut </vt:lpstr>
      <vt:lpstr>Détermination du statut </vt:lpstr>
      <vt:lpstr>Sélection de l’occupation à temps partiel</vt:lpstr>
      <vt:lpstr>Sélection de l’occupation à temps partiel</vt:lpstr>
      <vt:lpstr>Sélection de l’occupation à temps partiel</vt:lpstr>
      <vt:lpstr>Sélection de l’occupation à temps partiel</vt:lpstr>
      <vt:lpstr>Sélection de l’occupation à temps partiel</vt:lpstr>
      <vt:lpstr>Présentation PowerPoint</vt:lpstr>
      <vt:lpstr>Présentation PowerPoint</vt:lpstr>
      <vt:lpstr>Admission :  particularité du travail à l’étranger</vt:lpstr>
      <vt:lpstr>Admission :  particularité du travail à l’étranger</vt:lpstr>
      <vt:lpstr>Admission :  particularité du travail à l’étranger</vt:lpstr>
      <vt:lpstr>Admission :  régularisation ONSS</vt:lpstr>
      <vt:lpstr>Calcul du code chiffré</vt:lpstr>
      <vt:lpstr>Calcul du code chiffré</vt:lpstr>
      <vt:lpstr>Révision du code chiffré</vt:lpstr>
      <vt:lpstr>Régime d’indemnisation: facteur N</vt:lpstr>
      <vt:lpstr>Statut TTRV et reprise de travail</vt:lpstr>
      <vt:lpstr>Reprise de travail avec C3A/EC3</vt:lpstr>
      <vt:lpstr>Reprise de travail avec C3A/EC3</vt:lpstr>
      <vt:lpstr>Reprise de travail avec C3A/EC3</vt:lpstr>
      <vt:lpstr>Reprise de travail avec AGR</vt:lpstr>
      <vt:lpstr>Reprise de travail avec AGR</vt:lpstr>
      <vt:lpstr>Reprise de travail avec AGR</vt:lpstr>
      <vt:lpstr>Statut TTRV et reprise de travail</vt:lpstr>
      <vt:lpstr>Statut TTRV et reprise de travail</vt:lpstr>
      <vt:lpstr>Statut TTRV et reprise de travail</vt:lpstr>
      <vt:lpstr>Reprise de travail avec AGR</vt:lpstr>
      <vt:lpstr>Passage 03/ 58/ OU 58/ 03/</vt:lpstr>
      <vt:lpstr>Passage 03/ 58/ OU 58/ 03/</vt:lpstr>
      <vt:lpstr>Passage 03/ 58/ OU 58/ 03/</vt:lpstr>
      <vt:lpstr>Passage 03/ 58/ OU 58/ 03/</vt:lpstr>
      <vt:lpstr>Art. 116§1 &amp;  Régime d’indemnisation- facteur N</vt:lpstr>
      <vt:lpstr>Art. 116§1 &amp;  Régime d’indemnisation - facteur N</vt:lpstr>
      <vt:lpstr>Art. 116§1 &amp;  Régime d’indemnisation - facteur N</vt:lpstr>
      <vt:lpstr>Régime d’indemnisation: facteur N</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FCJ-M37-TTRV (niv.2)-FLT</dc:title>
  <dc:creator>u99lge</dc:creator>
  <cp:lastModifiedBy>Anja Sobkowiak</cp:lastModifiedBy>
  <cp:revision>935</cp:revision>
  <cp:lastPrinted>2016-11-29T13:55:28Z</cp:lastPrinted>
  <dcterms:created xsi:type="dcterms:W3CDTF">2010-09-22T12:12:06Z</dcterms:created>
  <dcterms:modified xsi:type="dcterms:W3CDTF">2022-12-06T11:18:28Z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0x01010011E8FC1629FD884B95A0235DC4123BD80037E0190D7060C1489B20FAF4695DD315</vt:lpwstr>
  </property>
  <property fmtid="{D5CDD505-2E9C-101B-9397-08002B2CF9AE}" pid="3" name="Type formation">
    <vt:lpwstr>42;#FCJ formation junior|010f76d4-1162-4810-b874-62b7f270a9bc</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17;#Admissibilité|d1ac0b1f-1e4c-4aa8-9a97-5b01e61985ba;#18;#Vérités|91331765-02c2-47c0-8605-37a5a3e877f2</vt:lpwstr>
  </property>
  <property fmtid="{D5CDD505-2E9C-101B-9397-08002B2CF9AE}" pid="7" name="Thème">
    <vt:lpwstr>101;#TTRV|df9221b6-637d-4751-a613-5fe4593ec07f</vt:lpwstr>
  </property>
  <property fmtid="{D5CDD505-2E9C-101B-9397-08002B2CF9AE}" pid="8" name="Order">
    <vt:r8>38900</vt:r8>
  </property>
  <property fmtid="{D5CDD505-2E9C-101B-9397-08002B2CF9AE}" pid="9" name="_dlc_DocIdItemGuid">
    <vt:lpwstr>82d32979-a653-45fd-96e0-8f251facdeaa</vt:lpwstr>
  </property>
  <property fmtid="{D5CDD505-2E9C-101B-9397-08002B2CF9AE}" pid="10" name="AuthorIds_UIVersion_2048">
    <vt:lpwstr>23</vt:lpwstr>
  </property>
</Properties>
</file>