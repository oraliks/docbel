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355" r:id="rId5"/>
    <p:sldId id="744" r:id="rId6"/>
    <p:sldId id="730" r:id="rId7"/>
    <p:sldId id="701" r:id="rId8"/>
    <p:sldId id="731" r:id="rId9"/>
    <p:sldId id="732" r:id="rId10"/>
    <p:sldId id="733" r:id="rId11"/>
    <p:sldId id="734" r:id="rId12"/>
    <p:sldId id="735" r:id="rId13"/>
    <p:sldId id="736" r:id="rId14"/>
    <p:sldId id="737" r:id="rId15"/>
    <p:sldId id="739" r:id="rId16"/>
    <p:sldId id="740" r:id="rId17"/>
    <p:sldId id="738" r:id="rId18"/>
    <p:sldId id="741" r:id="rId19"/>
    <p:sldId id="742" r:id="rId20"/>
    <p:sldId id="743" r:id="rId21"/>
    <p:sldId id="745" r:id="rId22"/>
    <p:sldId id="748" r:id="rId23"/>
    <p:sldId id="749" r:id="rId24"/>
    <p:sldId id="750" r:id="rId25"/>
    <p:sldId id="751" r:id="rId26"/>
    <p:sldId id="752" r:id="rId27"/>
    <p:sldId id="753" r:id="rId28"/>
    <p:sldId id="754" r:id="rId29"/>
    <p:sldId id="757" r:id="rId30"/>
    <p:sldId id="758" r:id="rId31"/>
    <p:sldId id="759" r:id="rId32"/>
    <p:sldId id="760" r:id="rId33"/>
    <p:sldId id="761" r:id="rId34"/>
    <p:sldId id="762" r:id="rId35"/>
    <p:sldId id="763" r:id="rId36"/>
  </p:sldIdLst>
  <p:sldSz cx="9144000" cy="6858000" type="screen4x3"/>
  <p:notesSz cx="6797675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9BBB59"/>
    <a:srgbClr val="0033CC"/>
    <a:srgbClr val="003399"/>
    <a:srgbClr val="00FF00"/>
    <a:srgbClr val="FF99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85" autoAdjust="0"/>
    <p:restoredTop sz="94063" autoAdjust="0"/>
  </p:normalViewPr>
  <p:slideViewPr>
    <p:cSldViewPr>
      <p:cViewPr varScale="1">
        <p:scale>
          <a:sx n="81" d="100"/>
          <a:sy n="81" d="100"/>
        </p:scale>
        <p:origin x="109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 Sobkowiak" userId="7f76af53-32f2-4907-b707-590db301fc0c" providerId="ADAL" clId="{D944B508-F6DE-4EFE-9FDE-49378A343FC2}"/>
    <pc:docChg chg="undo custSel modSld">
      <pc:chgData name="Anja Sobkowiak" userId="7f76af53-32f2-4907-b707-590db301fc0c" providerId="ADAL" clId="{D944B508-F6DE-4EFE-9FDE-49378A343FC2}" dt="2023-06-10T08:55:30.658" v="314" actId="20577"/>
      <pc:docMkLst>
        <pc:docMk/>
      </pc:docMkLst>
      <pc:sldChg chg="modSp mod addAnim delAnim">
        <pc:chgData name="Anja Sobkowiak" userId="7f76af53-32f2-4907-b707-590db301fc0c" providerId="ADAL" clId="{D944B508-F6DE-4EFE-9FDE-49378A343FC2}" dt="2023-06-10T08:27:48.140" v="229" actId="20577"/>
        <pc:sldMkLst>
          <pc:docMk/>
          <pc:sldMk cId="658865200" sldId="733"/>
        </pc:sldMkLst>
        <pc:graphicFrameChg chg="modGraphic">
          <ac:chgData name="Anja Sobkowiak" userId="7f76af53-32f2-4907-b707-590db301fc0c" providerId="ADAL" clId="{D944B508-F6DE-4EFE-9FDE-49378A343FC2}" dt="2023-06-10T08:27:48.140" v="229" actId="20577"/>
          <ac:graphicFrameMkLst>
            <pc:docMk/>
            <pc:sldMk cId="658865200" sldId="733"/>
            <ac:graphicFrameMk id="5" creationId="{CFAF5A2B-D617-4C81-AF5F-7C4F9955F2AA}"/>
          </ac:graphicFrameMkLst>
        </pc:graphicFrameChg>
      </pc:sldChg>
      <pc:sldChg chg="modSp mod">
        <pc:chgData name="Anja Sobkowiak" userId="7f76af53-32f2-4907-b707-590db301fc0c" providerId="ADAL" clId="{D944B508-F6DE-4EFE-9FDE-49378A343FC2}" dt="2023-06-10T08:55:30.658" v="314" actId="20577"/>
        <pc:sldMkLst>
          <pc:docMk/>
          <pc:sldMk cId="3086453176" sldId="737"/>
        </pc:sldMkLst>
        <pc:graphicFrameChg chg="modGraphic">
          <ac:chgData name="Anja Sobkowiak" userId="7f76af53-32f2-4907-b707-590db301fc0c" providerId="ADAL" clId="{D944B508-F6DE-4EFE-9FDE-49378A343FC2}" dt="2023-06-10T08:55:30.658" v="314" actId="20577"/>
          <ac:graphicFrameMkLst>
            <pc:docMk/>
            <pc:sldMk cId="3086453176" sldId="737"/>
            <ac:graphicFrameMk id="5" creationId="{FF09E403-01A6-4ED1-895F-B8D65705D3B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4872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7" rIns="91815" bIns="45907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689516"/>
            <a:ext cx="5438140" cy="4442699"/>
          </a:xfrm>
          <a:prstGeom prst="rect">
            <a:avLst/>
          </a:prstGeom>
        </p:spPr>
        <p:txBody>
          <a:bodyPr vert="horz" lIns="91815" tIns="45907" rIns="91815" bIns="45907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559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1487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71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4707-722F-4A60-9660-96DE0BD69967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C7C1-4123-4C24-970B-DF08A948B31A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4349-2926-4739-B2B4-B0A22C79AD76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A9A2-D604-4289-935B-9578668F5708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17A7-122D-4D2C-981C-2563884CC80D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4D67-A364-4951-A604-4FB7C704199C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B0018-CA76-4639-9B9A-2AF7193C4869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B98-594B-4234-8183-CBD2456B9B9F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778DC-9C57-4CFF-828C-427A77C042C6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243E-C9CA-4284-A135-5AD0E7301BAF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C91F-E0F1-4223-AF77-52AB0CC9E474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19711-FEBE-4F6F-8DA5-FF72666C7073}" type="datetime1">
              <a:rPr lang="fr-FR" smtClean="0"/>
              <a:pPr/>
              <a:t>10/06/2023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467544" y="980728"/>
            <a:ext cx="8229600" cy="4525963"/>
          </a:xfrm>
        </p:spPr>
        <p:txBody>
          <a:bodyPr>
            <a:noAutofit/>
          </a:bodyPr>
          <a:lstStyle/>
          <a:p>
            <a:pPr algn="ctr">
              <a:buNone/>
            </a:pPr>
            <a:endParaRPr lang="fr-BE" sz="5400" b="1" i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fr-BE" sz="6000" b="1" i="1" dirty="0">
                <a:latin typeface="Calibri" panose="020F0502020204030204" pitchFamily="34" charset="0"/>
                <a:cs typeface="Calibri" panose="020F0502020204030204" pitchFamily="34" charset="0"/>
              </a:rPr>
              <a:t>Pacte des générations </a:t>
            </a:r>
            <a:endParaRPr lang="en-GB" sz="60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None/>
            </a:pPr>
            <a:endParaRPr lang="en-GB" sz="48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GB" sz="4800" b="1" i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Outplacement </a:t>
            </a:r>
            <a:r>
              <a:rPr lang="en-GB" sz="4800" b="1" i="1" dirty="0">
                <a:latin typeface="+mj-lt"/>
                <a:cs typeface="Times New Roman" pitchFamily="18" charset="0"/>
              </a:rPr>
              <a:t>et </a:t>
            </a:r>
            <a:r>
              <a:rPr lang="fr-BE" sz="4800" b="1" i="1" dirty="0">
                <a:latin typeface="+mj-lt"/>
                <a:cs typeface="Times New Roman" pitchFamily="18" charset="0"/>
              </a:rPr>
              <a:t>Gestion</a:t>
            </a:r>
            <a:r>
              <a:rPr lang="en-GB" sz="4800" b="1" i="1" dirty="0">
                <a:latin typeface="+mj-lt"/>
                <a:cs typeface="Times New Roman" pitchFamily="18" charset="0"/>
              </a:rPr>
              <a:t> active des </a:t>
            </a:r>
            <a:r>
              <a:rPr lang="fr-BE" sz="4800" b="1" i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restructurations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B3AE1-9BB6-4266-B40E-3BBB55B7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solidFill>
                  <a:schemeClr val="accent2">
                    <a:lumMod val="75000"/>
                  </a:schemeClr>
                </a:solidFill>
              </a:rPr>
              <a:t>Table des matières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7350F9-98D8-4280-998E-08637DE9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507288" cy="516572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BE" sz="3000" dirty="0"/>
              <a:t>Introduction							</a:t>
            </a:r>
            <a:r>
              <a:rPr lang="fr-BE" sz="1800" dirty="0"/>
              <a:t>            </a:t>
            </a:r>
            <a:r>
              <a:rPr lang="fr-BE" sz="1800" dirty="0" err="1"/>
              <a:t>pg</a:t>
            </a:r>
            <a:r>
              <a:rPr lang="fr-BE" sz="1800" dirty="0"/>
              <a:t>. 3</a:t>
            </a:r>
            <a:endParaRPr lang="fr-BE" sz="3000" dirty="0"/>
          </a:p>
          <a:p>
            <a:pPr marL="514350" indent="-514350">
              <a:buAutoNum type="arabicPeriod"/>
            </a:pPr>
            <a:r>
              <a:rPr lang="fr-BE" sz="3000" b="1" dirty="0"/>
              <a:t>Outplacement – licenciement individuel</a:t>
            </a:r>
          </a:p>
          <a:p>
            <a:pPr marL="0" indent="0">
              <a:buNone/>
            </a:pPr>
            <a:r>
              <a:rPr lang="fr-BE" sz="3000" dirty="0"/>
              <a:t>	1.1. Définition					</a:t>
            </a:r>
            <a:r>
              <a:rPr lang="fr-BE" sz="1800" dirty="0"/>
              <a:t>            </a:t>
            </a:r>
            <a:r>
              <a:rPr lang="fr-BE" sz="1800" dirty="0" err="1"/>
              <a:t>pg</a:t>
            </a:r>
            <a:r>
              <a:rPr lang="fr-BE" sz="1800" dirty="0"/>
              <a:t>. 5</a:t>
            </a:r>
            <a:endParaRPr lang="fr-BE" sz="3000" dirty="0"/>
          </a:p>
          <a:p>
            <a:pPr marL="0" indent="0">
              <a:buNone/>
            </a:pPr>
            <a:r>
              <a:rPr lang="fr-BE" sz="3000" dirty="0"/>
              <a:t>	1.2. Régime général 					</a:t>
            </a:r>
            <a:r>
              <a:rPr lang="fr-BE" sz="1800" dirty="0"/>
              <a:t>            </a:t>
            </a:r>
            <a:r>
              <a:rPr lang="fr-BE" sz="1800" dirty="0" err="1"/>
              <a:t>pg</a:t>
            </a:r>
            <a:r>
              <a:rPr lang="fr-BE" sz="1800" dirty="0"/>
              <a:t>. 6</a:t>
            </a:r>
            <a:endParaRPr lang="fr-BE" sz="3000" dirty="0"/>
          </a:p>
          <a:p>
            <a:pPr marL="0" indent="0">
              <a:buNone/>
            </a:pPr>
            <a:r>
              <a:rPr lang="fr-BE" sz="3000" dirty="0"/>
              <a:t>	1.3. Régime dérogatoire CCT 82			</a:t>
            </a:r>
            <a:r>
              <a:rPr lang="fr-BE" sz="1800" dirty="0"/>
              <a:t>            </a:t>
            </a:r>
            <a:r>
              <a:rPr lang="fr-BE" sz="1800" dirty="0" err="1"/>
              <a:t>pg</a:t>
            </a:r>
            <a:r>
              <a:rPr lang="fr-BE" sz="1800" dirty="0"/>
              <a:t>. 8</a:t>
            </a:r>
            <a:endParaRPr lang="fr-BE" sz="3000" dirty="0"/>
          </a:p>
          <a:p>
            <a:pPr marL="0" indent="0">
              <a:buNone/>
            </a:pPr>
            <a:r>
              <a:rPr lang="fr-BE" sz="3000" dirty="0"/>
              <a:t>	1.4. Régime «force majeure médicale »                      </a:t>
            </a:r>
            <a:r>
              <a:rPr lang="fr-BE" sz="1800" dirty="0"/>
              <a:t> </a:t>
            </a:r>
            <a:r>
              <a:rPr lang="fr-BE" sz="1800" dirty="0" err="1"/>
              <a:t>pg</a:t>
            </a:r>
            <a:r>
              <a:rPr lang="fr-BE" sz="1800" dirty="0"/>
              <a:t>. 16</a:t>
            </a:r>
            <a:endParaRPr lang="fr-BE" sz="3000" dirty="0"/>
          </a:p>
          <a:p>
            <a:pPr marL="0" indent="0">
              <a:spcBef>
                <a:spcPts val="0"/>
              </a:spcBef>
              <a:buNone/>
              <a:tabLst>
                <a:tab pos="6369050" algn="l"/>
              </a:tabLst>
              <a:defRPr/>
            </a:pP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  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Outplacement – Licenciement Collectif – Restructuration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2.1. Définition					</a:t>
            </a:r>
            <a:r>
              <a:rPr lang="fr-BE" sz="1800" dirty="0">
                <a:solidFill>
                  <a:prstClr val="black"/>
                </a:solidFill>
                <a:latin typeface="Calibri"/>
              </a:rPr>
              <a:t>           </a:t>
            </a:r>
            <a:r>
              <a:rPr lang="fr-BE" sz="1800" dirty="0" err="1">
                <a:solidFill>
                  <a:prstClr val="black"/>
                </a:solidFill>
                <a:latin typeface="Calibri"/>
              </a:rPr>
              <a:t>pg</a:t>
            </a:r>
            <a:r>
              <a:rPr lang="fr-BE" sz="1800" dirty="0">
                <a:solidFill>
                  <a:prstClr val="black"/>
                </a:solidFill>
                <a:latin typeface="Calibri"/>
              </a:rPr>
              <a:t>. 19</a:t>
            </a:r>
            <a:endParaRPr kumimoji="0" lang="fr-BE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2.2. Création de la CPE	    			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</a:t>
            </a:r>
            <a:r>
              <a:rPr kumimoji="0" lang="fr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pg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20</a:t>
            </a:r>
            <a:endParaRPr lang="fr-BE" sz="300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2.3. </a:t>
            </a:r>
            <a:r>
              <a:rPr lang="fr-BE" sz="3000" dirty="0">
                <a:solidFill>
                  <a:prstClr val="black"/>
                </a:solidFill>
                <a:latin typeface="Calibri"/>
              </a:rPr>
              <a:t>Inscription à la CPE                                                  </a:t>
            </a:r>
            <a:r>
              <a:rPr lang="fr-BE" sz="1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fr-BE" sz="1800" dirty="0" err="1">
                <a:solidFill>
                  <a:prstClr val="black"/>
                </a:solidFill>
                <a:latin typeface="Calibri"/>
              </a:rPr>
              <a:t>pg</a:t>
            </a:r>
            <a:r>
              <a:rPr lang="fr-BE" sz="1800" dirty="0">
                <a:solidFill>
                  <a:prstClr val="black"/>
                </a:solidFill>
                <a:latin typeface="Calibri"/>
              </a:rPr>
              <a:t>. 24</a:t>
            </a:r>
            <a:endParaRPr lang="fr-BE" sz="300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2.4. </a:t>
            </a:r>
            <a:r>
              <a:rPr lang="fr-BE" sz="3000" dirty="0">
                <a:solidFill>
                  <a:prstClr val="black"/>
                </a:solidFill>
                <a:latin typeface="Calibri"/>
              </a:rPr>
              <a:t>Indemnité de reclassement			</a:t>
            </a:r>
            <a:r>
              <a:rPr lang="fr-BE" sz="1800" dirty="0">
                <a:solidFill>
                  <a:prstClr val="black"/>
                </a:solidFill>
                <a:latin typeface="Calibri"/>
              </a:rPr>
              <a:t>           </a:t>
            </a:r>
            <a:r>
              <a:rPr lang="fr-BE" sz="1800" dirty="0" err="1">
                <a:solidFill>
                  <a:prstClr val="black"/>
                </a:solidFill>
                <a:latin typeface="Calibri"/>
              </a:rPr>
              <a:t>pg</a:t>
            </a:r>
            <a:r>
              <a:rPr lang="fr-BE" sz="1800" dirty="0">
                <a:solidFill>
                  <a:prstClr val="black"/>
                </a:solidFill>
                <a:latin typeface="Calibri"/>
              </a:rPr>
              <a:t>. 27</a:t>
            </a:r>
            <a:endParaRPr kumimoji="0" lang="fr-BE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2.5. </a:t>
            </a:r>
            <a:r>
              <a:rPr lang="fr-BE" sz="3000" dirty="0">
                <a:solidFill>
                  <a:prstClr val="black"/>
                </a:solidFill>
                <a:latin typeface="Calibri"/>
              </a:rPr>
              <a:t>Allocation majorée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                                         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fr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pg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29</a:t>
            </a:r>
            <a:endParaRPr kumimoji="0" lang="fr-BE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buNone/>
            </a:pPr>
            <a:endParaRPr lang="fr-BE" sz="3000" dirty="0"/>
          </a:p>
          <a:p>
            <a:pPr marL="0" indent="0">
              <a:buNone/>
            </a:pPr>
            <a:endParaRPr lang="fr-BE" sz="3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28FDA1-B9B6-44F7-9E30-5A72DC44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104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A3B790-54E5-4C9C-B7D2-446A24803EAB}"/>
              </a:ext>
            </a:extLst>
          </p:cNvPr>
          <p:cNvSpPr/>
          <p:nvPr/>
        </p:nvSpPr>
        <p:spPr>
          <a:xfrm>
            <a:off x="457200" y="5257800"/>
            <a:ext cx="8229600" cy="5474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6C689-4901-4C21-AF32-2E7EE84CF0DE}"/>
              </a:ext>
            </a:extLst>
          </p:cNvPr>
          <p:cNvSpPr/>
          <p:nvPr/>
        </p:nvSpPr>
        <p:spPr>
          <a:xfrm>
            <a:off x="457200" y="2636912"/>
            <a:ext cx="8229600" cy="20162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53428D-CCFB-4ADE-B318-597F935F2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79310-440A-4ADD-8210-F009DCC74164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/>
              <a:t>On peut distinguer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4 systèmes d'outplacement </a:t>
            </a:r>
            <a:r>
              <a:rPr lang="fr-BE" dirty="0"/>
              <a:t>: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3">
                    <a:lumMod val="75000"/>
                  </a:schemeClr>
                </a:solidFill>
              </a:rPr>
              <a:t>1. Licenciement individuel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outplacement «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régime général </a:t>
            </a:r>
            <a:r>
              <a:rPr lang="fr-BE" dirty="0"/>
              <a:t>»;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outplacement «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régime particulier </a:t>
            </a:r>
            <a:r>
              <a:rPr lang="fr-BE" dirty="0"/>
              <a:t>» </a:t>
            </a:r>
            <a:r>
              <a:rPr lang="fr-BE" sz="3000" dirty="0"/>
              <a:t>(CCT 82)</a:t>
            </a:r>
            <a:r>
              <a:rPr lang="fr-BE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outplacement «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force majeure médicale </a:t>
            </a:r>
            <a:r>
              <a:rPr lang="fr-BE" dirty="0"/>
              <a:t>invoquée par l’employeur ».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3">
                    <a:lumMod val="75000"/>
                  </a:schemeClr>
                </a:solidFill>
              </a:rPr>
              <a:t>2. Licenciement collectif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outplacement dans la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cellule pour l'emploi </a:t>
            </a:r>
            <a:r>
              <a:rPr lang="fr-BE" dirty="0"/>
              <a:t>;</a:t>
            </a: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F7BE1D-528B-44E2-9D95-86BFB86E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912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357158" y="116632"/>
            <a:ext cx="8229600" cy="1143000"/>
          </a:xfrm>
        </p:spPr>
        <p:txBody>
          <a:bodyPr/>
          <a:lstStyle/>
          <a:p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BE" b="1" i="1" dirty="0">
                <a:solidFill>
                  <a:srgbClr val="FFFF00"/>
                </a:solidFill>
              </a:rPr>
              <a:t> </a:t>
            </a:r>
            <a:endParaRPr lang="en-US" sz="5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642910" y="1997839"/>
            <a:ext cx="81439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GB" dirty="0">
                <a:latin typeface="Comic Sans MS" pitchFamily="66" charset="0"/>
              </a:rPr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95536" y="1484784"/>
            <a:ext cx="8568951" cy="442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fr-BE" sz="3200" dirty="0">
                <a:latin typeface="+mj-lt"/>
                <a:cs typeface="Times New Roman" pitchFamily="18" charset="0"/>
              </a:rPr>
              <a:t> </a:t>
            </a:r>
          </a:p>
          <a:p>
            <a:pPr lvl="1" algn="ctr">
              <a:spcBef>
                <a:spcPct val="20000"/>
              </a:spcBef>
              <a:buClr>
                <a:schemeClr val="folHlink"/>
              </a:buClr>
              <a:buSzPct val="70000"/>
            </a:pPr>
            <a:r>
              <a:rPr lang="fr-BE" sz="4800" b="1" i="1" dirty="0">
                <a:latin typeface="+mj-lt"/>
                <a:cs typeface="Times New Roman" pitchFamily="18" charset="0"/>
              </a:rPr>
              <a:t>1.</a:t>
            </a:r>
            <a:r>
              <a:rPr lang="fr-BE" sz="5400" b="1" i="1" dirty="0">
                <a:latin typeface="+mj-lt"/>
                <a:cs typeface="Times New Roman" pitchFamily="18" charset="0"/>
              </a:rPr>
              <a:t> Outplacement</a:t>
            </a:r>
            <a:r>
              <a:rPr lang="fr-BE" sz="4800" i="1" dirty="0">
                <a:latin typeface="+mj-lt"/>
                <a:cs typeface="Times New Roman" pitchFamily="18" charset="0"/>
              </a:rPr>
              <a:t> </a:t>
            </a:r>
            <a:r>
              <a:rPr lang="fr-BE" sz="5400" b="1" i="1" dirty="0">
                <a:latin typeface="+mj-lt"/>
                <a:cs typeface="Times New Roman" pitchFamily="18" charset="0"/>
              </a:rPr>
              <a:t>dans le cadre d’un </a:t>
            </a:r>
            <a:r>
              <a:rPr lang="fr-BE" sz="5400" b="1" i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licenciement individuel.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</a:pPr>
            <a:endParaRPr lang="fr-BE" sz="3200" dirty="0">
              <a:latin typeface="+mj-lt"/>
              <a:cs typeface="Times New Roman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</a:pPr>
            <a:r>
              <a:rPr lang="fr-BE" sz="3200" dirty="0">
                <a:latin typeface="+mj-lt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601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D13645-18FF-4E1D-98F7-936B03416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1.1. Licenciement individuel: définition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8D7D96-B60A-4A40-9E69-8DA5534F0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C’est quoi ?</a:t>
            </a:r>
          </a:p>
          <a:p>
            <a:pPr marL="0" indent="0">
              <a:buNone/>
            </a:pPr>
            <a:r>
              <a:rPr lang="fr-BE" dirty="0"/>
              <a:t>On entend par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outplacement</a:t>
            </a:r>
            <a:r>
              <a:rPr lang="fr-BE" dirty="0"/>
              <a:t> ou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reclassement professionnel</a:t>
            </a:r>
            <a:r>
              <a:rPr lang="fr-BE" dirty="0"/>
              <a:t>, un accompagnement, un ensemble de services et de conseils de guidance fournis individuellement ou en groupe par un tiers, dénommé prestataire de services, pour le compte d’un employeur </a:t>
            </a:r>
            <a:r>
              <a:rPr lang="fr-BE" b="1" dirty="0"/>
              <a:t>dans le cadre d’un licenciement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F1C2E4-430E-4E9E-9AA5-E360CE28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037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8A383C-A084-418D-83BC-BEB03AD67EDE}"/>
              </a:ext>
            </a:extLst>
          </p:cNvPr>
          <p:cNvSpPr/>
          <p:nvPr/>
        </p:nvSpPr>
        <p:spPr>
          <a:xfrm>
            <a:off x="457200" y="4869160"/>
            <a:ext cx="8363272" cy="10801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A80EFB-7A66-4EBD-836E-8D7B4219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1.2. Licenciement individuel: régime général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626AC8-D7BC-4A17-9DA6-850FDF6FD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6852"/>
            <a:ext cx="8363272" cy="45259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fr-BE" b="1" u="sng" dirty="0"/>
              <a:t>Régime général</a:t>
            </a:r>
            <a:r>
              <a:rPr lang="fr-BE" b="1" dirty="0"/>
              <a:t> = régime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prioritaire</a:t>
            </a:r>
            <a:endParaRPr lang="fr-BE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Pour qui ?</a:t>
            </a:r>
          </a:p>
          <a:p>
            <a:pPr marL="0" indent="0">
              <a:buNone/>
            </a:pPr>
            <a:r>
              <a:rPr lang="fr-BE" dirty="0"/>
              <a:t>Tous les travailleurs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licenciés</a:t>
            </a:r>
            <a:r>
              <a:rPr lang="fr-BE" dirty="0"/>
              <a:t> qui ont droit à un délai de préavis ou à une indemnité de congé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d’au moins 30 semaines.</a:t>
            </a:r>
          </a:p>
          <a:p>
            <a:pPr marL="0" indent="0">
              <a:buNone/>
            </a:pPr>
            <a:endParaRPr lang="fr-BE" sz="3000" dirty="0"/>
          </a:p>
          <a:p>
            <a:pPr marL="0" indent="0">
              <a:buNone/>
            </a:pPr>
            <a:r>
              <a:rPr lang="fr-BE" sz="3000" dirty="0"/>
              <a:t>Une distinction est faite selon que le travailleur est licencié moyennant un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préavis</a:t>
            </a:r>
            <a:r>
              <a:rPr lang="fr-BE" sz="3000" dirty="0"/>
              <a:t> ou paiement d’une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IC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F69BCB-E8A2-4AE4-B105-FB657763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210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EF7DAA-6AA0-4060-A395-DE837554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1.2. Licenciement individuel: régime général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CFAF5A2B-D617-4C81-AF5F-7C4F9955F2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97057"/>
              </p:ext>
            </p:extLst>
          </p:nvPr>
        </p:nvGraphicFramePr>
        <p:xfrm>
          <a:off x="447894" y="2276872"/>
          <a:ext cx="8229600" cy="4434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27962">
                  <a:extLst>
                    <a:ext uri="{9D8B030D-6E8A-4147-A177-3AD203B41FA5}">
                      <a16:colId xmlns:a16="http://schemas.microsoft.com/office/drawing/2014/main" val="3087257099"/>
                    </a:ext>
                  </a:extLst>
                </a:gridCol>
                <a:gridCol w="2658438">
                  <a:extLst>
                    <a:ext uri="{9D8B030D-6E8A-4147-A177-3AD203B41FA5}">
                      <a16:colId xmlns:a16="http://schemas.microsoft.com/office/drawing/2014/main" val="428137263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55396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500" dirty="0"/>
                        <a:t>Régime général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500" dirty="0"/>
                        <a:t>Préavis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500" dirty="0"/>
                        <a:t>I.C.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18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Contenu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60h</a:t>
                      </a:r>
                      <a:r>
                        <a:rPr lang="fr-BE" sz="2000" dirty="0"/>
                        <a:t> </a:t>
                      </a:r>
                      <a:r>
                        <a:rPr lang="fr-BE" sz="2000" b="1" dirty="0"/>
                        <a:t>imputées au congé de sollicitation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60h</a:t>
                      </a:r>
                      <a:r>
                        <a:rPr lang="fr-BE" sz="2000" dirty="0"/>
                        <a:t> </a:t>
                      </a:r>
                      <a:r>
                        <a:rPr lang="fr-BE" sz="2000" b="1" dirty="0"/>
                        <a:t>déduites du montant de l’IC </a:t>
                      </a:r>
                    </a:p>
                    <a:p>
                      <a:r>
                        <a:rPr lang="fr-BE" sz="2000" dirty="0"/>
                        <a:t>(= 4 semaines)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4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Délai employeur </a:t>
                      </a:r>
                    </a:p>
                    <a:p>
                      <a:r>
                        <a:rPr lang="fr-BE" sz="2000" b="1" dirty="0"/>
                        <a:t>(= offre)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 semaines </a:t>
                      </a:r>
                      <a:r>
                        <a:rPr lang="fr-BE" sz="2000" dirty="0"/>
                        <a:t>après le début du préavis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15 jours </a:t>
                      </a:r>
                      <a:r>
                        <a:rPr lang="fr-BE" sz="2000" dirty="0"/>
                        <a:t>après la fin du contrat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36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Mise en demeure par le travailleur (= pas d’offre)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 semaines </a:t>
                      </a:r>
                      <a:r>
                        <a:rPr lang="fr-BE" sz="2000" dirty="0"/>
                        <a:t>après expiration du délai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39 semaines </a:t>
                      </a:r>
                      <a:r>
                        <a:rPr lang="fr-BE" sz="2000" dirty="0"/>
                        <a:t>après expiration du délai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01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Délai employeur après mise en demeure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 semaines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fr-BE" dirty="0"/>
                        <a:t>4 semaines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248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Délai travailleur après offre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 semaines</a:t>
                      </a:r>
                    </a:p>
                    <a:p>
                      <a:pPr algn="ctr"/>
                      <a:endParaRPr lang="fr-BE" sz="22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fr-BE" dirty="0"/>
                        <a:t>4 semaines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701158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186A79-3A62-4504-B37D-639D8527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DA5360-D33E-4CE8-A5E6-934843E1E0D1}"/>
              </a:ext>
            </a:extLst>
          </p:cNvPr>
          <p:cNvSpPr txBox="1"/>
          <p:nvPr/>
        </p:nvSpPr>
        <p:spPr>
          <a:xfrm>
            <a:off x="447894" y="1556792"/>
            <a:ext cx="5060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BE" sz="3200" b="1" dirty="0"/>
              <a:t>Quoi ? Quand ?</a:t>
            </a:r>
          </a:p>
        </p:txBody>
      </p:sp>
    </p:spTree>
    <p:extLst>
      <p:ext uri="{BB962C8B-B14F-4D97-AF65-F5344CB8AC3E}">
        <p14:creationId xmlns:p14="http://schemas.microsoft.com/office/powerpoint/2010/main" val="65886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4360DE-5AF8-43C4-AD79-207B52AA84AD}"/>
              </a:ext>
            </a:extLst>
          </p:cNvPr>
          <p:cNvSpPr/>
          <p:nvPr/>
        </p:nvSpPr>
        <p:spPr>
          <a:xfrm>
            <a:off x="457200" y="5445224"/>
            <a:ext cx="8363272" cy="9111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DD7566D-ED14-4F03-BFE5-205CA4ED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1.3. Licenciement individuel: CCT 82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C05DC9-01A6-4989-AF6B-94D8D00E8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9831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b="1" dirty="0"/>
              <a:t>2. </a:t>
            </a:r>
            <a:r>
              <a:rPr lang="fr-BE" b="1" u="sng" dirty="0"/>
              <a:t>Régime dérogatoire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Pour qui 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800" dirty="0"/>
              <a:t>Droit à un préavis ou une IC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&lt; 30 semaines </a:t>
            </a:r>
            <a:r>
              <a:rPr lang="fr-BE" sz="2800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800" dirty="0"/>
              <a:t>Au moins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45 ans </a:t>
            </a:r>
            <a:r>
              <a:rPr lang="fr-BE" sz="2800" dirty="0"/>
              <a:t>au moment de la notif du licenciement;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800" dirty="0"/>
              <a:t>Au moins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1 an d’ancienneté </a:t>
            </a:r>
            <a:r>
              <a:rPr lang="fr-BE" sz="2800" dirty="0"/>
              <a:t>ininterrompue;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800" dirty="0"/>
              <a:t>Licenciement ou fin de contrat </a:t>
            </a:r>
            <a:r>
              <a:rPr lang="fr-BE" sz="2800" i="1" dirty="0">
                <a:solidFill>
                  <a:schemeClr val="accent2">
                    <a:lumMod val="75000"/>
                  </a:schemeClr>
                </a:solidFill>
              </a:rPr>
              <a:t>≠ </a:t>
            </a:r>
            <a:r>
              <a:rPr lang="fr-BE" sz="2800" dirty="0"/>
              <a:t>force majeure, fin CDD, restructuration, pension, motif grave, démission;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800" dirty="0"/>
              <a:t>Contrat minimum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mi-temps</a:t>
            </a:r>
            <a:r>
              <a:rPr lang="fr-BE" sz="2800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800" dirty="0"/>
              <a:t>Occupé dans le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secteur privé</a:t>
            </a:r>
            <a:r>
              <a:rPr lang="fr-BE" sz="2800" dirty="0"/>
              <a:t>.</a:t>
            </a:r>
          </a:p>
          <a:p>
            <a:pPr marL="0" indent="0">
              <a:buNone/>
            </a:pPr>
            <a:endParaRPr lang="fr-BE" sz="2800" b="1" i="1" dirty="0"/>
          </a:p>
          <a:p>
            <a:pPr marL="0" indent="0">
              <a:buNone/>
            </a:pPr>
            <a:r>
              <a:rPr lang="fr-BE" sz="2800" b="1" i="1" dirty="0"/>
              <a:t>Remarque</a:t>
            </a:r>
            <a:r>
              <a:rPr lang="fr-BE" sz="2800" i="1" dirty="0"/>
              <a:t>: si faillite, le curateur reprend les obligations de l’employeur</a:t>
            </a:r>
          </a:p>
          <a:p>
            <a:pPr marL="0" indent="0">
              <a:buNone/>
            </a:pPr>
            <a:endParaRPr lang="fr-BE" sz="2800" dirty="0"/>
          </a:p>
          <a:p>
            <a:pPr marL="0" indent="0">
              <a:buNone/>
            </a:pPr>
            <a:endParaRPr lang="fr-BE" sz="2800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E93228-4ED2-440C-8750-83D5F52D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94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B4E14-955B-4EBF-A465-4F725D2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1.3. Licenciement individuel: CCT 82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B6319D-8694-4A05-ADC1-AAA3F1FCF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500" b="1" dirty="0"/>
              <a:t>Dispense </a:t>
            </a:r>
            <a:r>
              <a:rPr lang="fr-BE" sz="3500" dirty="0"/>
              <a:t>d’outplacement </a:t>
            </a:r>
            <a:r>
              <a:rPr lang="fr-BE" sz="3500" b="1" dirty="0"/>
              <a:t>CCT 82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Occupation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&lt; mi-temps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Occupation dans la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CP 328 </a:t>
            </a:r>
            <a:r>
              <a:rPr lang="fr-BE" sz="3200" dirty="0"/>
              <a:t>(transports urbains et régionaux (TEC, STIB, DE LIJN) ou dans la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CP 327</a:t>
            </a:r>
            <a:r>
              <a:rPr lang="fr-BE" sz="3200" dirty="0"/>
              <a:t> (entreprises de travail adapté) ou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PTP</a:t>
            </a:r>
            <a:r>
              <a:rPr lang="fr-BE" sz="3200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une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inaptitude</a:t>
            </a:r>
            <a:r>
              <a:rPr lang="fr-BE" sz="3200" dirty="0"/>
              <a:t> au travail de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&gt; 66%  </a:t>
            </a:r>
            <a:r>
              <a:rPr lang="fr-BE" sz="3200" dirty="0"/>
              <a:t>reconnue par l’</a:t>
            </a:r>
            <a:r>
              <a:rPr lang="fr-BE" sz="3200" dirty="0" err="1"/>
              <a:t>ONEm</a:t>
            </a:r>
            <a:endParaRPr lang="fr-BE" sz="3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Chômeur complet/RCC licencié :</a:t>
            </a:r>
          </a:p>
          <a:p>
            <a:pPr marL="1257300" lvl="2" indent="-457200">
              <a:buFont typeface="Courier New" panose="02070309020205020404" pitchFamily="49" charset="0"/>
              <a:buChar char="o"/>
            </a:pPr>
            <a:r>
              <a:rPr lang="fr-BE" sz="3000" dirty="0"/>
              <a:t>Avant le 01.12.2018 : 58 ans ou 38 ans de PP</a:t>
            </a:r>
          </a:p>
          <a:p>
            <a:pPr marL="1257300" lvl="2" indent="-457200">
              <a:buFont typeface="Courier New" panose="02070309020205020404" pitchFamily="49" charset="0"/>
              <a:buChar char="o"/>
            </a:pPr>
            <a:r>
              <a:rPr lang="fr-BE" sz="3000" dirty="0"/>
              <a:t>Après le 30.11.2018 : 62 ans ou 42 ans de PP  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96FBB0-5A37-49D9-A380-EA89B920E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940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E673B5-754B-4BEE-9DCD-FF3ABF84E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1.3. Licenciement individuel: CCT 82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A1DE19-38B5-4D54-AD99-4379FB7E8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Sont également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dispensés</a:t>
            </a:r>
            <a:r>
              <a:rPr lang="fr-BE" dirty="0"/>
              <a:t> d’outplacement, les travailleurs qui: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Ont repris un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travail salarié </a:t>
            </a:r>
            <a:r>
              <a:rPr lang="fr-BE" sz="3000" dirty="0"/>
              <a:t>ou entamé une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activité indépendante </a:t>
            </a:r>
            <a:r>
              <a:rPr lang="fr-BE" sz="3000" dirty="0"/>
              <a:t>immédiatement après la fin du contrat de travail pendant </a:t>
            </a:r>
            <a:r>
              <a:rPr lang="fr-BE" sz="3000" b="1" dirty="0"/>
              <a:t>au moins 2 mois ininterrompu </a:t>
            </a:r>
            <a:r>
              <a:rPr lang="fr-BE" sz="3000" dirty="0"/>
              <a:t>(joindre la preuve au dossier)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344E80-2172-4259-8929-C110C636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451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76C4CA-DB96-4420-8DAA-3F37ADDA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1.3. Licenciement individuel: CCT 82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FF09E403-01A6-4ED1-895F-B8D65705D3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424570"/>
              </p:ext>
            </p:extLst>
          </p:nvPr>
        </p:nvGraphicFramePr>
        <p:xfrm>
          <a:off x="457200" y="2132856"/>
          <a:ext cx="8229600" cy="4373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4640">
                  <a:extLst>
                    <a:ext uri="{9D8B030D-6E8A-4147-A177-3AD203B41FA5}">
                      <a16:colId xmlns:a16="http://schemas.microsoft.com/office/drawing/2014/main" val="2513708855"/>
                    </a:ext>
                  </a:extLst>
                </a:gridCol>
                <a:gridCol w="2811760">
                  <a:extLst>
                    <a:ext uri="{9D8B030D-6E8A-4147-A177-3AD203B41FA5}">
                      <a16:colId xmlns:a16="http://schemas.microsoft.com/office/drawing/2014/main" val="2353039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06151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500" dirty="0"/>
                        <a:t>CCT 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500" dirty="0"/>
                        <a:t>Préavis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500" dirty="0"/>
                        <a:t>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307991"/>
                  </a:ext>
                </a:extLst>
              </a:tr>
              <a:tr h="439048">
                <a:tc>
                  <a:txBody>
                    <a:bodyPr/>
                    <a:lstStyle/>
                    <a:p>
                      <a:r>
                        <a:rPr lang="fr-BE" sz="2000" b="1" dirty="0"/>
                        <a:t>Contenu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BE" sz="2000" dirty="0"/>
                        <a:t>3 phases: à raison de </a:t>
                      </a:r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 x 20h </a:t>
                      </a:r>
                      <a:r>
                        <a:rPr lang="fr-BE" sz="2000" dirty="0"/>
                        <a:t>sur une période de 12 mois maximum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040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Délai employeur</a:t>
                      </a:r>
                    </a:p>
                    <a:p>
                      <a:r>
                        <a:rPr lang="fr-BE" sz="2000" b="1"/>
                        <a:t>(= offre)</a:t>
                      </a:r>
                      <a:endParaRPr lang="fr-BE" sz="20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15 jours </a:t>
                      </a:r>
                      <a:r>
                        <a:rPr lang="fr-BE" sz="2000" b="1" dirty="0"/>
                        <a:t>après la fin du contrat </a:t>
                      </a:r>
                      <a:r>
                        <a:rPr lang="fr-BE" sz="2000" dirty="0"/>
                        <a:t>(envoyé par lettre recommandée)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310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Mise en demeure trav. </a:t>
                      </a:r>
                    </a:p>
                    <a:p>
                      <a:r>
                        <a:rPr lang="fr-BE" sz="2000" b="1" dirty="0"/>
                        <a:t>(= pas d’offre)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 mois </a:t>
                      </a:r>
                      <a:r>
                        <a:rPr lang="fr-BE" sz="2000" dirty="0"/>
                        <a:t>qui suit l’expiration du délai de 15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 mois </a:t>
                      </a:r>
                      <a:r>
                        <a:rPr lang="fr-BE" sz="2000" dirty="0"/>
                        <a:t>qui suit l’expiration du délai de 15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4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Délai employeur après mise en demeure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 mois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18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Délai travailleur après offre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 mois </a:t>
                      </a:r>
                      <a:r>
                        <a:rPr lang="fr-BE" sz="2000" b="1" dirty="0"/>
                        <a:t>après la fin du contrat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74874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640F92-FD70-45BD-BBB7-E094FE53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A4885F6-EA7B-4966-B237-40500E52E457}"/>
              </a:ext>
            </a:extLst>
          </p:cNvPr>
          <p:cNvSpPr txBox="1"/>
          <p:nvPr/>
        </p:nvSpPr>
        <p:spPr>
          <a:xfrm>
            <a:off x="457200" y="1417638"/>
            <a:ext cx="5770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BE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Quoi ? Quand ?</a:t>
            </a:r>
            <a:endParaRPr kumimoji="0" lang="fr-B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45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0D6D4E-D498-499D-82C7-3DC02839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1.3. Licenciement individuel: CCT 82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C1CFBC-2E89-431E-AC9F-173E5E8D2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Si reprise de travail dans un nouvel emploi: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Avant le début effectif de l’outplacement</a:t>
            </a:r>
          </a:p>
          <a:p>
            <a:pPr marL="857250" lvl="1" indent="-457200">
              <a:buFont typeface="Symbol" panose="05050102010706020507" pitchFamily="18" charset="2"/>
              <a:buChar char="®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Avertir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</a:rPr>
              <a:t> l’employeur </a:t>
            </a:r>
            <a:r>
              <a:rPr lang="fr-BE" sz="3000" dirty="0"/>
              <a:t>par recommandé</a:t>
            </a:r>
          </a:p>
          <a:p>
            <a:pPr marL="857250" lvl="1" indent="-457200">
              <a:buFont typeface="Symbol" panose="05050102010706020507" pitchFamily="18" charset="2"/>
              <a:buChar char="®"/>
            </a:pPr>
            <a:r>
              <a:rPr lang="fr-BE" sz="3000" dirty="0"/>
              <a:t>Pourra demander d’entamer l’outplacement si il </a:t>
            </a:r>
            <a:r>
              <a:rPr lang="fr-BE" sz="3000" b="1" dirty="0"/>
              <a:t>perd</a:t>
            </a:r>
            <a:r>
              <a:rPr lang="fr-BE" sz="3000" dirty="0"/>
              <a:t> son nouvel emploi dans les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3 mois </a:t>
            </a:r>
            <a:r>
              <a:rPr lang="fr-BE" sz="3000" dirty="0"/>
              <a:t>de son entrée en service</a:t>
            </a:r>
          </a:p>
          <a:p>
            <a:pPr marL="1257300" lvl="2" indent="-457200">
              <a:buFont typeface="Wingdings" panose="05000000000000000000" pitchFamily="2" charset="2"/>
              <a:buChar char="Ø"/>
            </a:pPr>
            <a:r>
              <a:rPr lang="fr-BE" sz="2800" dirty="0"/>
              <a:t>Délai de la demande: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1 mois </a:t>
            </a:r>
            <a:r>
              <a:rPr lang="fr-BE" sz="2800" dirty="0"/>
              <a:t>à dater de la fin du nouvel emploi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BB46E5-2684-417F-96DA-DD6E35F9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143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96B16F-8583-4D86-81B8-C08077E2A9A4}"/>
              </a:ext>
            </a:extLst>
          </p:cNvPr>
          <p:cNvSpPr/>
          <p:nvPr/>
        </p:nvSpPr>
        <p:spPr>
          <a:xfrm>
            <a:off x="457200" y="5661248"/>
            <a:ext cx="8229600" cy="7920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0D6D4E-D498-499D-82C7-3DC02839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1.3. Licenciement individuel: CCT 82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C1CFBC-2E89-431E-AC9F-173E5E8D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19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500" dirty="0"/>
              <a:t>Si reprise de travail dans un nouvel emploi: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Pendant la procédure d’outplacement</a:t>
            </a:r>
          </a:p>
          <a:p>
            <a:pPr marL="857250" lvl="1" indent="-457200">
              <a:buFont typeface="Symbol" panose="05050102010706020507" pitchFamily="18" charset="2"/>
              <a:buChar char="®"/>
            </a:pP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Avertir</a:t>
            </a:r>
            <a:r>
              <a:rPr lang="fr-BE" sz="3200" dirty="0">
                <a:solidFill>
                  <a:schemeClr val="accent2">
                    <a:lumMod val="75000"/>
                  </a:schemeClr>
                </a:solidFill>
              </a:rPr>
              <a:t> l’employeur </a:t>
            </a:r>
            <a:r>
              <a:rPr lang="fr-BE" sz="3200" dirty="0"/>
              <a:t>par recommandé pour suspendre la procédure</a:t>
            </a:r>
          </a:p>
          <a:p>
            <a:pPr marL="857250" lvl="1" indent="-457200">
              <a:buFont typeface="Symbol" panose="05050102010706020507" pitchFamily="18" charset="2"/>
              <a:buChar char="®"/>
            </a:pPr>
            <a:r>
              <a:rPr lang="fr-BE" sz="3200" dirty="0"/>
              <a:t>Pourra demander de reprendre la procédure dans la phase où elle a été interrompue si il </a:t>
            </a:r>
            <a:r>
              <a:rPr lang="fr-BE" sz="3200" b="1" dirty="0"/>
              <a:t>perd</a:t>
            </a:r>
            <a:r>
              <a:rPr lang="fr-BE" sz="3200" dirty="0"/>
              <a:t> son nouvel emploi dans les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3 mois </a:t>
            </a:r>
            <a:r>
              <a:rPr lang="fr-BE" sz="3200" dirty="0"/>
              <a:t>de son entrée en service</a:t>
            </a:r>
          </a:p>
          <a:p>
            <a:pPr marL="1257300" lvl="2" indent="-457200">
              <a:buFont typeface="Wingdings" panose="05000000000000000000" pitchFamily="2" charset="2"/>
              <a:buChar char="Ø"/>
            </a:pPr>
            <a:r>
              <a:rPr lang="fr-BE" sz="3000" dirty="0"/>
              <a:t>Délai de la demande: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1 mois </a:t>
            </a:r>
            <a:r>
              <a:rPr lang="fr-BE" sz="3000" dirty="0"/>
              <a:t>à dater de la fin du nouvel emploi</a:t>
            </a:r>
          </a:p>
          <a:p>
            <a:pPr marL="0" indent="0">
              <a:buNone/>
            </a:pPr>
            <a:r>
              <a:rPr lang="fr-BE" sz="3000" b="1" dirty="0"/>
              <a:t>Dans tous les cas, la procédure se termine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12 mois </a:t>
            </a:r>
            <a:r>
              <a:rPr lang="fr-BE" sz="3000" b="1" dirty="0"/>
              <a:t>après son début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BB46E5-2684-417F-96DA-DD6E35F9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83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B2F07F-B3B8-4A7D-9DE3-5C0683C7F671}"/>
              </a:ext>
            </a:extLst>
          </p:cNvPr>
          <p:cNvSpPr/>
          <p:nvPr/>
        </p:nvSpPr>
        <p:spPr>
          <a:xfrm>
            <a:off x="457200" y="4797151"/>
            <a:ext cx="8229600" cy="1351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9FD9B0D-0249-44DE-80AC-C537FB59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1.3. Licenciement individuel: CCT 82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F25242-F311-463C-88E6-BED30EDCB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19" y="1628899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Sanction</a:t>
            </a:r>
          </a:p>
          <a:p>
            <a:pPr marL="0" indent="0">
              <a:buNone/>
            </a:pPr>
            <a:r>
              <a:rPr lang="fr-BE" b="1" u="sng" dirty="0"/>
              <a:t>SI</a:t>
            </a:r>
            <a:r>
              <a:rPr lang="fr-BE" dirty="0"/>
              <a:t>:</a:t>
            </a:r>
          </a:p>
          <a:p>
            <a:pPr lvl="1">
              <a:buFont typeface="Symbol" panose="05050102010706020507" pitchFamily="18" charset="2"/>
              <a:buChar char="®"/>
            </a:pPr>
            <a:r>
              <a:rPr lang="fr-BE" dirty="0"/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Refus</a:t>
            </a:r>
            <a:r>
              <a:rPr lang="fr-BE" dirty="0"/>
              <a:t> d’une offre d’outplacement valable;</a:t>
            </a:r>
          </a:p>
          <a:p>
            <a:pPr lvl="1">
              <a:buFont typeface="Symbol" panose="05050102010706020507" pitchFamily="18" charset="2"/>
              <a:buChar char="®"/>
            </a:pPr>
            <a:r>
              <a:rPr lang="fr-BE" dirty="0"/>
              <a:t> Accepte/demande un outplacement mais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n’y collabore pas</a:t>
            </a:r>
            <a:r>
              <a:rPr lang="fr-BE" dirty="0"/>
              <a:t>;</a:t>
            </a:r>
          </a:p>
          <a:p>
            <a:pPr lvl="1">
              <a:buFont typeface="Symbol" panose="05050102010706020507" pitchFamily="18" charset="2"/>
              <a:buChar char="®"/>
            </a:pPr>
            <a:r>
              <a:rPr lang="fr-BE" dirty="0"/>
              <a:t> Pas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mise en demeure </a:t>
            </a:r>
            <a:r>
              <a:rPr lang="fr-BE" dirty="0"/>
              <a:t>dans le délai prévu.</a:t>
            </a:r>
          </a:p>
          <a:p>
            <a:pPr marL="457200" lvl="1" indent="0">
              <a:buNone/>
            </a:pPr>
            <a:endParaRPr lang="fr-BE" dirty="0"/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 Risque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suspension des allocations </a:t>
            </a:r>
            <a:r>
              <a:rPr lang="fr-BE" dirty="0"/>
              <a:t>pour une période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4 à 52 semaines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116698-967D-4D4B-A506-C6CC975A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09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981D8F-063D-49F9-9965-06558488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1.3. Licenciement individuel: CCT 82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C04ADA-A3BD-4A35-8245-751F838E4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Chèque outplacement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Le travailleur qui n’a pas reçu d’offre de son employeur peut demander, sous certaines conditions, à obtenir un outplacement à charge du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SRE</a:t>
            </a:r>
            <a:r>
              <a:rPr lang="fr-BE" sz="3000" dirty="0"/>
              <a:t> sous forme d’un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chèque outplacement</a:t>
            </a:r>
            <a:r>
              <a:rPr lang="fr-BE" sz="30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b="0" i="0" dirty="0">
                <a:effectLst/>
                <a:latin typeface="+mj-lt"/>
              </a:rPr>
              <a:t>Le formulaire de demande (accompagné des annexes nécessaires) doit être introduit dans un délai de </a:t>
            </a:r>
            <a:r>
              <a:rPr lang="fr-BE" sz="3000" b="1" i="0" dirty="0"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6 mois </a:t>
            </a:r>
            <a:r>
              <a:rPr lang="fr-BE" sz="3000" b="0" i="0" dirty="0">
                <a:effectLst/>
                <a:latin typeface="+mj-lt"/>
              </a:rPr>
              <a:t>de la mise en demeure. </a:t>
            </a:r>
          </a:p>
          <a:p>
            <a:pPr marL="400050" lvl="1" indent="0">
              <a:buNone/>
            </a:pPr>
            <a:r>
              <a:rPr lang="fr-BE" sz="3000" b="0" i="0" dirty="0">
                <a:effectLst/>
                <a:latin typeface="+mj-lt"/>
              </a:rPr>
              <a:t>Ce délai peut être prolongé en cas d’occupations de </a:t>
            </a:r>
            <a:r>
              <a:rPr lang="fr-BE" sz="3000" b="1" i="0" dirty="0">
                <a:solidFill>
                  <a:schemeClr val="accent2">
                    <a:lumMod val="75000"/>
                  </a:schemeClr>
                </a:solidFill>
                <a:effectLst/>
                <a:latin typeface="+mj-lt"/>
              </a:rPr>
              <a:t>moins de 3 mois</a:t>
            </a:r>
            <a:endParaRPr lang="fr-BE" sz="30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7AF0C2-53D5-4467-843E-766542BE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21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3ADEA6-0407-4660-8DA6-70054504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1.4. Licenciement individuel: Force majeure médicale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C3E396-1ED8-4A6D-BD51-A6EEC02AC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b="1" dirty="0"/>
              <a:t>3. </a:t>
            </a:r>
            <a:r>
              <a:rPr lang="fr-BE" b="1" u="sng" dirty="0"/>
              <a:t>Régime « force majeure médicale 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Pour qui ?</a:t>
            </a:r>
          </a:p>
          <a:p>
            <a:pPr marL="0" indent="0">
              <a:buNone/>
            </a:pPr>
            <a:r>
              <a:rPr lang="fr-BE" dirty="0"/>
              <a:t>Ce régime spécifique s'applique lorsque, </a:t>
            </a:r>
            <a:r>
              <a:rPr lang="fr-BE" b="1" dirty="0"/>
              <a:t>après la procédure spécifique de résiliation de contrat de travail pour FM</a:t>
            </a:r>
            <a:r>
              <a:rPr lang="fr-BE" dirty="0"/>
              <a:t>,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l'employeur </a:t>
            </a:r>
            <a:r>
              <a:rPr lang="fr-BE" dirty="0"/>
              <a:t>invoque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l'incapacité définitive </a:t>
            </a:r>
            <a:r>
              <a:rPr lang="fr-BE" dirty="0"/>
              <a:t>de travail dans le chef du travailleur pour mettre fin au contrat de travail.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894753-0D2C-42C7-A02B-0040C867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614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B38F2E-6131-49AB-B1B1-870C3E55B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1.4. Licenciement individuel: Force majeure médicale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C9213F-D1C3-4B19-B381-0410B18E6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Quoi ? Quand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8B9633-826F-4976-B933-AA814F4F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26F8DF6F-8DAE-4D03-9306-35F56899F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972254"/>
              </p:ext>
            </p:extLst>
          </p:nvPr>
        </p:nvGraphicFramePr>
        <p:xfrm>
          <a:off x="457200" y="2367280"/>
          <a:ext cx="8075240" cy="3642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4640">
                  <a:extLst>
                    <a:ext uri="{9D8B030D-6E8A-4147-A177-3AD203B41FA5}">
                      <a16:colId xmlns:a16="http://schemas.microsoft.com/office/drawing/2014/main" val="1493169987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1873859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BE" sz="2500" dirty="0"/>
                        <a:t>Régime « Force majeure médicale »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67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Contenu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30h</a:t>
                      </a:r>
                      <a:r>
                        <a:rPr lang="fr-BE" sz="2000" dirty="0"/>
                        <a:t> réparties sur 3 mois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92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Délai employeur </a:t>
                      </a:r>
                    </a:p>
                    <a:p>
                      <a:r>
                        <a:rPr lang="fr-BE" sz="2000" b="1" dirty="0"/>
                        <a:t>(= offre)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15 jours </a:t>
                      </a:r>
                      <a:r>
                        <a:rPr lang="fr-BE" sz="2000" dirty="0"/>
                        <a:t>après la fin du contrat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60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Délai travailleur </a:t>
                      </a:r>
                    </a:p>
                    <a:p>
                      <a:r>
                        <a:rPr lang="fr-BE" sz="2000" b="1" dirty="0"/>
                        <a:t>(= accord ou refus)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 semaines </a:t>
                      </a:r>
                      <a:r>
                        <a:rPr lang="fr-BE" sz="2000" dirty="0"/>
                        <a:t>à dater de l’offre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909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000" b="1" dirty="0"/>
                        <a:t>Autres démarches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b="1" dirty="0"/>
                        <a:t>Informer le médecin conseil </a:t>
                      </a:r>
                      <a:r>
                        <a:rPr lang="fr-BE" sz="2000" dirty="0"/>
                        <a:t>de la mutuelle du début et du contenu de l’outplacement dans un délai de </a:t>
                      </a:r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15 jours </a:t>
                      </a:r>
                      <a:r>
                        <a:rPr lang="fr-BE" sz="2000" dirty="0"/>
                        <a:t>après le début du reclassement professionnel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579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04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357158" y="116632"/>
            <a:ext cx="8229600" cy="1143000"/>
          </a:xfrm>
        </p:spPr>
        <p:txBody>
          <a:bodyPr/>
          <a:lstStyle/>
          <a:p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BE" b="1" i="1" dirty="0">
                <a:solidFill>
                  <a:srgbClr val="FFFF00"/>
                </a:solidFill>
              </a:rPr>
              <a:t> </a:t>
            </a:r>
            <a:endParaRPr lang="en-US" sz="5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2910" y="1997839"/>
            <a:ext cx="81439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536" y="1484784"/>
            <a:ext cx="8568951" cy="5182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0080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fr-B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0080"/>
              </a:buClr>
              <a:buSzPct val="70000"/>
              <a:buFontTx/>
              <a:buNone/>
              <a:tabLst/>
              <a:defRPr/>
            </a:pPr>
            <a:r>
              <a:rPr lang="fr-BE" sz="4800" b="1" i="1" dirty="0">
                <a:solidFill>
                  <a:prstClr val="black"/>
                </a:solidFill>
                <a:latin typeface="Calibri"/>
                <a:cs typeface="Times New Roman" pitchFamily="18" charset="0"/>
              </a:rPr>
              <a:t>2</a:t>
            </a:r>
            <a:r>
              <a:rPr kumimoji="0" lang="fr-BE" sz="4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.</a:t>
            </a:r>
            <a:r>
              <a:rPr kumimoji="0" lang="fr-BE" sz="5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Outplacement</a:t>
            </a:r>
            <a:r>
              <a:rPr kumimoji="0" lang="fr-BE" sz="4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  <a:r>
              <a:rPr kumimoji="0" lang="fr-BE" sz="5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dans le cadre d’un </a:t>
            </a:r>
            <a:r>
              <a:rPr kumimoji="0" lang="fr-BE" sz="5400" b="1" i="1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licenciement collectif.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0080"/>
              </a:buClr>
              <a:buSzPct val="70000"/>
              <a:buFontTx/>
              <a:buNone/>
              <a:tabLst/>
              <a:defRPr/>
            </a:pPr>
            <a:r>
              <a:rPr lang="fr-BE" sz="4100" i="1" dirty="0">
                <a:latin typeface="Calibri"/>
                <a:cs typeface="Times New Roman" pitchFamily="18" charset="0"/>
              </a:rPr>
              <a:t>La gestion active des restructurations</a:t>
            </a:r>
            <a:endParaRPr kumimoji="0" lang="fr-BE" sz="410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cs typeface="Times New Roman" pitchFamily="18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0080"/>
              </a:buClr>
              <a:buSzPct val="70000"/>
              <a:buFontTx/>
              <a:buNone/>
              <a:tabLst/>
              <a:defRPr/>
            </a:pPr>
            <a:endParaRPr kumimoji="0" lang="fr-BE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0080"/>
              </a:buClr>
              <a:buSzPct val="70000"/>
              <a:buFontTx/>
              <a:buNone/>
              <a:tabLst/>
              <a:defRPr/>
            </a:pPr>
            <a:r>
              <a:rPr kumimoji="0" lang="fr-B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122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F13A8A-85D0-4A81-903D-3EA4237B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2.1. Restructuration – licenciement collectif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1255A0-88E3-486A-946D-519E13F1C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/>
          <a:lstStyle/>
          <a:p>
            <a:pPr marL="0" indent="0">
              <a:buNone/>
            </a:pPr>
            <a:r>
              <a:rPr lang="fr-BE" dirty="0"/>
              <a:t>Un employeur est en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restructuration</a:t>
            </a:r>
            <a:r>
              <a:rPr lang="fr-BE" dirty="0"/>
              <a:t> lorsqu’il fait partie du secteur privé et qu’il annonce un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licenciement collectif</a:t>
            </a:r>
            <a:r>
              <a:rPr lang="fr-BE" dirty="0"/>
              <a:t>. </a:t>
            </a:r>
          </a:p>
          <a:p>
            <a:pPr marL="0" indent="0">
              <a:buNone/>
            </a:pPr>
            <a:r>
              <a:rPr lang="fr-BE" dirty="0"/>
              <a:t>Il est alors possible qu’il doive créer une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ellule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our l’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mploi</a:t>
            </a:r>
            <a:r>
              <a:rPr lang="fr-BE" dirty="0"/>
              <a:t> (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CPE</a:t>
            </a:r>
            <a:r>
              <a:rPr lang="fr-BE" dirty="0"/>
              <a:t>)</a:t>
            </a:r>
          </a:p>
          <a:p>
            <a:pPr marL="0" indent="0">
              <a:buNone/>
            </a:pPr>
            <a:r>
              <a:rPr lang="fr-BE" dirty="0"/>
              <a:t>La période durant laquelle il est en restructuration s’appelle « </a:t>
            </a:r>
            <a:r>
              <a:rPr lang="fr-BE" b="1" i="1" dirty="0">
                <a:solidFill>
                  <a:schemeClr val="accent2">
                    <a:lumMod val="75000"/>
                  </a:schemeClr>
                </a:solidFill>
              </a:rPr>
              <a:t>la période de reconnaissance </a:t>
            </a:r>
            <a:r>
              <a:rPr lang="fr-BE" dirty="0"/>
              <a:t>»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359016-67A8-4D14-AB27-C960094F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211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6623A-935F-4516-9B2B-F30EAF1A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2.2. Restructuration – la CPE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901D1D-A15E-456F-8A9A-C1767D358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C’est quoi ? </a:t>
            </a:r>
          </a:p>
          <a:p>
            <a:pPr marL="0" indent="0">
              <a:buNone/>
            </a:pPr>
            <a:r>
              <a:rPr lang="fr-BE" sz="3000" dirty="0"/>
              <a:t>Structure de coopération entre: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dirty="0"/>
              <a:t>L’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employeur</a:t>
            </a:r>
            <a:r>
              <a:rPr lang="fr-BE" sz="2900" dirty="0"/>
              <a:t> en restructuration;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dirty="0"/>
              <a:t>Un ou plusieurs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syndicats</a:t>
            </a:r>
            <a:r>
              <a:rPr lang="fr-BE" sz="29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dirty="0"/>
              <a:t>Le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service de l’emploi et de la formation </a:t>
            </a:r>
            <a:r>
              <a:rPr lang="fr-BE" sz="2900" dirty="0"/>
              <a:t>compétent</a:t>
            </a:r>
          </a:p>
          <a:p>
            <a:pPr marL="57150" indent="0">
              <a:buNone/>
            </a:pPr>
            <a:r>
              <a:rPr lang="fr-BE" sz="3000" dirty="0"/>
              <a:t>Elle est créée à la suite de la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restructuration</a:t>
            </a:r>
            <a:r>
              <a:rPr lang="fr-BE" sz="3000" dirty="0"/>
              <a:t>.</a:t>
            </a:r>
          </a:p>
          <a:p>
            <a:pPr marL="57150" indent="0">
              <a:buNone/>
            </a:pPr>
            <a:r>
              <a:rPr lang="fr-BE" sz="3000" dirty="0"/>
              <a:t>La mission principale de la cellule pour l’emploi est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l’offre d’outplacement </a:t>
            </a:r>
            <a:r>
              <a:rPr lang="fr-BE" sz="3000" dirty="0"/>
              <a:t>pour chaque travailleur inscrit</a:t>
            </a:r>
          </a:p>
          <a:p>
            <a:pPr marL="57150" indent="0">
              <a:buNone/>
            </a:pPr>
            <a:r>
              <a:rPr lang="fr-BE" sz="3000" dirty="0"/>
              <a:t>Dans un certain nombre de cas, l’employeur est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obligé</a:t>
            </a:r>
            <a:r>
              <a:rPr lang="fr-BE" sz="3000" dirty="0"/>
              <a:t> de créer un CPE, dans d’autres cas, il en a la possibilité.</a:t>
            </a:r>
          </a:p>
          <a:p>
            <a:pPr marL="57150" indent="0">
              <a:buNone/>
            </a:pPr>
            <a:endParaRPr lang="fr-BE" sz="31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FB424C-C53F-476E-91EC-5C2E988F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227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6A6B70-159A-481E-A328-3F688F47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2.2. Restructuration – la CPE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C0A628-D3D1-47E6-B583-4356C4722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75615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Quels sont les employeurs qui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DOIVENT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b="1" dirty="0"/>
              <a:t>créer une CPE ?</a:t>
            </a:r>
          </a:p>
          <a:p>
            <a:pPr marL="0" indent="0">
              <a:buNone/>
            </a:pPr>
            <a:r>
              <a:rPr lang="fr-BE" sz="3100" dirty="0"/>
              <a:t>Conditions cumulatives</a:t>
            </a:r>
            <a:r>
              <a:rPr lang="fr-BE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Tombe dans le champ d’application de la loi CCT (ex. entreprises, ASBL, …);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Annonce un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licenciement collectif </a:t>
            </a:r>
            <a:r>
              <a:rPr lang="fr-BE" sz="3100" dirty="0"/>
              <a:t>après le 06.04.2009;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Compte: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BE" sz="2800" dirty="0"/>
              <a:t>Soit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plus de 20 travailleurs;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BE" sz="2800" dirty="0"/>
              <a:t>Soit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max 20 travailleurs </a:t>
            </a:r>
            <a:r>
              <a:rPr lang="fr-BE" sz="2800" dirty="0"/>
              <a:t>et demande un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abaissement de l’âge normal du RCC.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8076B4-4A67-4443-8758-F17DE2017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880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196E1F-A688-4C32-9B0E-21109422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2.2. Restructuration – la CPE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C9A1E1-6900-4354-AC41-5509568CC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Quels sont les employeurs qui </a:t>
            </a:r>
            <a:r>
              <a:rPr lang="fr-BE" sz="3000" b="1" u="sng" dirty="0">
                <a:solidFill>
                  <a:schemeClr val="accent2">
                    <a:lumMod val="75000"/>
                  </a:schemeClr>
                </a:solidFill>
              </a:rPr>
              <a:t>PEUVENT</a:t>
            </a:r>
            <a:r>
              <a:rPr lang="fr-BE" sz="3000" b="1" dirty="0"/>
              <a:t> créer une CPE ? (= dispense)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fr-BE" sz="2900" dirty="0"/>
              <a:t>Tombe dans le champ d’application de la loi CCT;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fr-BE" sz="2900" dirty="0"/>
              <a:t>Et annonce un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licenciement collectif</a:t>
            </a:r>
            <a:r>
              <a:rPr lang="fr-BE" sz="2900" dirty="0"/>
              <a:t> après le 06.04.2009;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fr-BE" sz="2900" dirty="0"/>
              <a:t>Et :</a:t>
            </a:r>
          </a:p>
          <a:p>
            <a:pPr marL="1257300" lvl="2" indent="-457200">
              <a:buFont typeface="Courier New" panose="02070309020205020404" pitchFamily="49" charset="0"/>
              <a:buChar char="o"/>
            </a:pPr>
            <a:r>
              <a:rPr lang="fr-BE" sz="2600" dirty="0"/>
              <a:t>Soit compte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max 20 travailleurs </a:t>
            </a:r>
            <a:r>
              <a:rPr lang="fr-BE" sz="2600" dirty="0"/>
              <a:t>mais </a:t>
            </a:r>
            <a:r>
              <a:rPr lang="fr-BE" sz="2600" b="1" dirty="0"/>
              <a:t>ne demande pas</a:t>
            </a:r>
            <a:r>
              <a:rPr lang="fr-BE" sz="2600" dirty="0"/>
              <a:t> un abaissement de l’âge normal de RCC;</a:t>
            </a:r>
          </a:p>
          <a:p>
            <a:pPr marL="1257300" lvl="2" indent="-457200">
              <a:buFont typeface="Courier New" panose="02070309020205020404" pitchFamily="49" charset="0"/>
              <a:buChar char="o"/>
            </a:pPr>
            <a:r>
              <a:rPr lang="fr-BE" sz="2600" dirty="0"/>
              <a:t>Soit tombe dans le champ d’application de la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CP327</a:t>
            </a:r>
            <a:r>
              <a:rPr lang="fr-BE" sz="2600" dirty="0"/>
              <a:t> mais </a:t>
            </a:r>
            <a:r>
              <a:rPr lang="fr-BE" sz="2600" b="1" dirty="0"/>
              <a:t>uniquement pour les travailleurs handicapés</a:t>
            </a:r>
            <a:r>
              <a:rPr lang="fr-BE" sz="2200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6964A6-5908-49C8-840A-3636A685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0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574F8F-3DAB-4CE2-80BF-DDF131E1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2.2. Restructuration – la CPE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320D19-F814-4815-A8AF-FFF573B3F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83162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500" b="1" dirty="0"/>
              <a:t>Quels sont les employeurs qui </a:t>
            </a:r>
            <a:r>
              <a:rPr lang="fr-BE" sz="3500" b="1" u="sng" dirty="0">
                <a:solidFill>
                  <a:schemeClr val="accent2">
                    <a:lumMod val="75000"/>
                  </a:schemeClr>
                </a:solidFill>
              </a:rPr>
              <a:t>NE PEUVENT PAS </a:t>
            </a:r>
            <a:r>
              <a:rPr lang="fr-BE" sz="3500" b="1" dirty="0"/>
              <a:t>créer une CPE 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Les employeurs qui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n’ont pas procédé </a:t>
            </a:r>
            <a:r>
              <a:rPr lang="fr-BE" sz="3000" dirty="0"/>
              <a:t>à l’annonce d’un licenciement collectif;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Les employeurs de la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CP328</a:t>
            </a:r>
            <a:r>
              <a:rPr lang="fr-BE" sz="3000" dirty="0"/>
              <a:t> transport urbain et régional ou sous-commission paritaire (De </a:t>
            </a:r>
            <a:r>
              <a:rPr lang="fr-BE" sz="3000" dirty="0" err="1"/>
              <a:t>Lijn</a:t>
            </a:r>
            <a:r>
              <a:rPr lang="fr-BE" sz="3000" dirty="0"/>
              <a:t>, TEC ou STIB);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Les employeurs de la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CP225 – 152 </a:t>
            </a:r>
            <a:r>
              <a:rPr lang="fr-BE" sz="3000" dirty="0"/>
              <a:t>pour les institutions subsidiées de l’enseignement libre ou de la commission paritaire pour les employés de l’enseignement libre subsidié;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Les employeurs qui ne tombent pas dans le champ d’application de la loi CCT(services publics, </a:t>
            </a:r>
            <a:r>
              <a:rPr lang="fr-BE" sz="3000" dirty="0" err="1"/>
              <a:t>proximus</a:t>
            </a:r>
            <a:r>
              <a:rPr lang="fr-BE" sz="3000" dirty="0"/>
              <a:t>, …)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497A0B-2E1A-4066-A3E3-4C4B6861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262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34AAEF-D3EB-4223-A9C5-EE700977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i="1" dirty="0"/>
              <a:t>2.3. Restructuration – Inscription à la CPE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3F8758-871A-4E26-B7EB-C29DAEA82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Quels sont les travailleurs qui </a:t>
            </a:r>
            <a:r>
              <a:rPr lang="fr-BE" sz="3000" b="1" u="sng" dirty="0">
                <a:solidFill>
                  <a:schemeClr val="accent2">
                    <a:lumMod val="75000"/>
                  </a:schemeClr>
                </a:solidFill>
              </a:rPr>
              <a:t>DOIVENT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b="1" dirty="0"/>
              <a:t>s’inscrire à la CPE ?</a:t>
            </a:r>
          </a:p>
          <a:p>
            <a:pPr marL="0" indent="0">
              <a:buNone/>
            </a:pPr>
            <a:r>
              <a:rPr lang="fr-BE" sz="3000" dirty="0"/>
              <a:t>Conditions cumulatives: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fr-BE" sz="2900" dirty="0"/>
              <a:t>En service chez l’employeur « en restructuration »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au moment de l’annonce </a:t>
            </a:r>
            <a:r>
              <a:rPr lang="fr-BE" sz="2900" dirty="0"/>
              <a:t>du licenciement collectif;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Licenciés</a:t>
            </a:r>
            <a:r>
              <a:rPr lang="fr-BE" sz="2900" dirty="0"/>
              <a:t> pendant la période de reconnaissance;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fr-BE" sz="2900" dirty="0"/>
              <a:t>Ne peuvent invoquer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aucune exception</a:t>
            </a:r>
            <a:r>
              <a:rPr lang="fr-BE" sz="2900" dirty="0"/>
              <a:t>.</a:t>
            </a:r>
          </a:p>
          <a:p>
            <a:pPr marL="400050" lvl="1" indent="0">
              <a:buNone/>
            </a:pPr>
            <a:endParaRPr lang="fr-BE" sz="2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9C95D7-CC2B-4C1D-9F98-772E1162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900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34AAEF-D3EB-4223-A9C5-EE700977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i="1" dirty="0"/>
              <a:t>2.3. Restructuration – Inscription à la CPE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3F8758-871A-4E26-B7EB-C29DAEA82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Quels sont les travailleurs qui </a:t>
            </a:r>
            <a:r>
              <a:rPr lang="fr-BE" sz="3000" b="1" u="sng" dirty="0">
                <a:solidFill>
                  <a:schemeClr val="accent2">
                    <a:lumMod val="75000"/>
                  </a:schemeClr>
                </a:solidFill>
              </a:rPr>
              <a:t>NE DOIVENT PAS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mais peuvent </a:t>
            </a:r>
            <a:r>
              <a:rPr lang="fr-BE" sz="3000" b="1" dirty="0"/>
              <a:t>s’inscrire à la CPE (= dispense) 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b="1" dirty="0"/>
              <a:t>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CDD</a:t>
            </a:r>
            <a:r>
              <a:rPr lang="fr-BE" sz="2900" dirty="0"/>
              <a:t> ou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intérimaire</a:t>
            </a:r>
            <a:r>
              <a:rPr lang="fr-BE" sz="2900" dirty="0"/>
              <a:t> non prolongé </a:t>
            </a:r>
            <a:r>
              <a:rPr lang="fr-BE" sz="2900" b="1" dirty="0"/>
              <a:t>pendant la période de restructuration</a:t>
            </a:r>
            <a:r>
              <a:rPr lang="fr-BE" sz="2900" dirty="0"/>
              <a:t> et, à l’annonce du licenciement collectif, compte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au moins 1 an d’ancienneté</a:t>
            </a:r>
            <a:r>
              <a:rPr lang="fr-BE" sz="2900" dirty="0"/>
              <a:t> ininterrompue chez l’employeur;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dirty="0"/>
              <a:t>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RCC</a:t>
            </a:r>
            <a:r>
              <a:rPr lang="fr-BE" sz="2900" dirty="0"/>
              <a:t> sur la base d’un régime « </a:t>
            </a:r>
            <a:r>
              <a:rPr lang="fr-BE" sz="2900" b="1" dirty="0"/>
              <a:t>ordinaire</a:t>
            </a:r>
            <a:r>
              <a:rPr lang="fr-BE" sz="2900" dirty="0"/>
              <a:t> ».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9C95D7-CC2B-4C1D-9F98-772E1162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55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34AAEF-D3EB-4223-A9C5-EE700977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i="1" dirty="0"/>
              <a:t>2.3. Restructuration – Inscription à la CPE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3F8758-871A-4E26-B7EB-C29DAEA82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Quels est la durée de l’inscription à la CPE ?</a:t>
            </a:r>
          </a:p>
          <a:p>
            <a:pPr marL="0" indent="0">
              <a:buNone/>
            </a:pPr>
            <a:r>
              <a:rPr lang="fr-BE" sz="2900" dirty="0"/>
              <a:t>La durée minimum de l’inscription varie en fonction de l’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âge</a:t>
            </a:r>
            <a:r>
              <a:rPr lang="fr-BE" sz="2900" dirty="0"/>
              <a:t> du travailleur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au moment de l’annonce</a:t>
            </a:r>
            <a:r>
              <a:rPr lang="fr-BE" sz="2900" dirty="0"/>
              <a:t> </a:t>
            </a:r>
            <a:r>
              <a:rPr lang="fr-BE" sz="2900" b="1" dirty="0"/>
              <a:t>du licenciement collectif.</a:t>
            </a:r>
          </a:p>
          <a:p>
            <a:pPr marL="0" indent="0">
              <a:buNone/>
            </a:pPr>
            <a:r>
              <a:rPr lang="fr-BE" sz="2900" dirty="0"/>
              <a:t>Si le travailleur 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b="1" dirty="0"/>
              <a:t> ≥ 45 ans</a:t>
            </a:r>
            <a:r>
              <a:rPr lang="fr-BE" dirty="0"/>
              <a:t>, il doit rester inscrit auprès de la CPE pendant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6 mois </a:t>
            </a:r>
            <a:r>
              <a:rPr lang="fr-BE" dirty="0"/>
              <a:t>au minimum;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b="1" dirty="0"/>
              <a:t> &lt; 45 ans</a:t>
            </a:r>
            <a:r>
              <a:rPr lang="fr-BE" dirty="0"/>
              <a:t>, il doit rester inscrit auprès de la CPE pendant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3 mois </a:t>
            </a:r>
            <a:r>
              <a:rPr lang="fr-BE" dirty="0"/>
              <a:t>au minimum.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9C95D7-CC2B-4C1D-9F98-772E1162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72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A2EB49-F17B-46FD-A88C-F5066683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2.4.</a:t>
            </a:r>
            <a:r>
              <a:rPr lang="fr-BE" dirty="0"/>
              <a:t> </a:t>
            </a:r>
            <a:r>
              <a:rPr lang="fr-BE" b="1" i="1" dirty="0"/>
              <a:t>Restructuration: Indemnité de reclassement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B65AE7-390F-4DA6-BFC1-227AC5404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C’est quoi ?</a:t>
            </a:r>
          </a:p>
          <a:p>
            <a:pPr marL="0" indent="0">
              <a:buNone/>
            </a:pPr>
            <a:r>
              <a:rPr lang="fr-BE" sz="3000" b="0" i="0" dirty="0">
                <a:solidFill>
                  <a:srgbClr val="131517"/>
                </a:solidFill>
                <a:effectLst/>
                <a:latin typeface="Calibri (corps)"/>
              </a:rPr>
              <a:t>L'indemnité de reclassement correspond au </a:t>
            </a:r>
            <a:r>
              <a:rPr lang="fr-BE" sz="3000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 (corps)"/>
              </a:rPr>
              <a:t>salaire en cours et aux avantages acquis </a:t>
            </a:r>
            <a:r>
              <a:rPr lang="fr-BE" sz="3000" b="0" i="0" dirty="0">
                <a:solidFill>
                  <a:srgbClr val="131517"/>
                </a:solidFill>
                <a:effectLst/>
                <a:latin typeface="Calibri (corps)"/>
              </a:rPr>
              <a:t>en vertu du contrat de travail. </a:t>
            </a:r>
          </a:p>
          <a:p>
            <a:pPr marL="0" indent="0">
              <a:buNone/>
            </a:pPr>
            <a:r>
              <a:rPr lang="fr-BE" sz="3000" b="0" i="0" dirty="0">
                <a:solidFill>
                  <a:srgbClr val="131517"/>
                </a:solidFill>
                <a:effectLst/>
                <a:latin typeface="Calibri (corps)"/>
              </a:rPr>
              <a:t>Elle est assimilée à une indemnité compensatoire de préavis mais elle est </a:t>
            </a:r>
            <a:r>
              <a:rPr lang="fr-BE" sz="3000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 (corps)"/>
              </a:rPr>
              <a:t>payée mensuellement</a:t>
            </a:r>
            <a:r>
              <a:rPr lang="fr-BE" sz="3000" b="0" i="0" dirty="0">
                <a:solidFill>
                  <a:srgbClr val="131517"/>
                </a:solidFill>
                <a:effectLst/>
                <a:latin typeface="Calibri (corps)"/>
              </a:rPr>
              <a:t>.</a:t>
            </a:r>
          </a:p>
          <a:p>
            <a:pPr marL="0" indent="0">
              <a:buNone/>
            </a:pPr>
            <a:r>
              <a:rPr lang="fr-BE" sz="2800" dirty="0">
                <a:latin typeface="Calibri (corps)"/>
              </a:rPr>
              <a:t>Elle remplace, en totalité ou en partie, l'indemnité compensatoire de préavis dont le solde éventuel est payé après la fin de la période couverte par l'indemnité de reclassement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6FC9B1-3355-4457-A907-64F7ED9A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645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D86E73-CC7E-4580-8FD0-6CA448514994}"/>
              </a:ext>
            </a:extLst>
          </p:cNvPr>
          <p:cNvSpPr/>
          <p:nvPr/>
        </p:nvSpPr>
        <p:spPr>
          <a:xfrm>
            <a:off x="457200" y="1988840"/>
            <a:ext cx="8363272" cy="1440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FA2EB49-F17B-46FD-A88C-F5066683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2.4.</a:t>
            </a:r>
            <a:r>
              <a:rPr lang="fr-BE" dirty="0"/>
              <a:t> </a:t>
            </a:r>
            <a:r>
              <a:rPr lang="fr-BE" b="1" i="1" dirty="0"/>
              <a:t>Restructuration: Indemnité de reclassement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B65AE7-390F-4DA6-BFC1-227AC5404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121" y="1503994"/>
            <a:ext cx="8229600" cy="485313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Pour qui ?</a:t>
            </a:r>
          </a:p>
          <a:p>
            <a:pPr marL="0" indent="0" algn="l">
              <a:buNone/>
            </a:pPr>
            <a:r>
              <a:rPr lang="fr-BE" sz="3000" b="0" i="0" dirty="0">
                <a:effectLst/>
                <a:latin typeface="Calibri (corps)"/>
              </a:rPr>
              <a:t>Pour chaque travailleur occupé dans </a:t>
            </a:r>
            <a:r>
              <a:rPr lang="fr-BE" sz="3000" dirty="0">
                <a:latin typeface="Calibri (corps)"/>
              </a:rPr>
              <a:t>le cadre d’un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Calibri (corps)"/>
              </a:rPr>
              <a:t>CDI</a:t>
            </a:r>
            <a:r>
              <a:rPr lang="fr-BE" sz="3000" dirty="0">
                <a:latin typeface="Calibri (corps)"/>
              </a:rPr>
              <a:t>, </a:t>
            </a:r>
            <a:r>
              <a:rPr lang="fr-BE" sz="3000" b="0" i="0" dirty="0">
                <a:effectLst/>
                <a:latin typeface="Calibri (corps)"/>
              </a:rPr>
              <a:t>qui est </a:t>
            </a:r>
            <a:r>
              <a:rPr lang="fr-BE" sz="3000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 (corps)"/>
              </a:rPr>
              <a:t>inscrit auprès de la CPE </a:t>
            </a:r>
            <a:r>
              <a:rPr lang="fr-BE" sz="3000" b="0" i="0" dirty="0">
                <a:effectLst/>
                <a:latin typeface="Calibri (corps)"/>
              </a:rPr>
              <a:t>et qui, à la date de l'annonce du licenciement collectif, a au moins </a:t>
            </a:r>
            <a:r>
              <a:rPr lang="fr-BE" sz="3000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 (corps)"/>
              </a:rPr>
              <a:t>un an d’ancienneté</a:t>
            </a:r>
            <a:r>
              <a:rPr lang="fr-BE" sz="3000" b="0" i="0" dirty="0">
                <a:solidFill>
                  <a:schemeClr val="accent2">
                    <a:lumMod val="75000"/>
                  </a:schemeClr>
                </a:solidFill>
                <a:effectLst/>
                <a:latin typeface="Calibri (corps)"/>
              </a:rPr>
              <a:t> </a:t>
            </a:r>
            <a:r>
              <a:rPr lang="fr-BE" sz="3000" b="0" i="0" dirty="0">
                <a:effectLst/>
                <a:latin typeface="Calibri (corps)"/>
              </a:rPr>
              <a:t>ininterrompue auprès de l’employeur.</a:t>
            </a:r>
          </a:p>
          <a:p>
            <a:pPr marL="0" indent="0" algn="l">
              <a:buNone/>
            </a:pPr>
            <a:r>
              <a:rPr lang="fr-BE" sz="3000" b="0" i="0" dirty="0">
                <a:effectLst/>
                <a:latin typeface="Calibri (corps)"/>
              </a:rPr>
              <a:t>L’indemnité de reclassement est payée durant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b="0" i="0" dirty="0">
                <a:effectLst/>
                <a:latin typeface="Calibri (corps)"/>
              </a:rPr>
              <a:t> </a:t>
            </a:r>
            <a:r>
              <a:rPr lang="fr-BE" sz="2900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 (corps)"/>
              </a:rPr>
              <a:t>6 mois </a:t>
            </a:r>
            <a:r>
              <a:rPr lang="fr-BE" sz="2900" b="0" i="0" dirty="0">
                <a:effectLst/>
                <a:latin typeface="Calibri (corps)"/>
              </a:rPr>
              <a:t>si le travailleur licencié a </a:t>
            </a:r>
            <a:r>
              <a:rPr lang="fr-BE" sz="2900" b="1" i="0" dirty="0">
                <a:effectLst/>
                <a:latin typeface="Calibri (corps)"/>
              </a:rPr>
              <a:t>≥ 45 ans </a:t>
            </a:r>
            <a:r>
              <a:rPr lang="fr-BE" sz="2900" b="0" i="0" dirty="0">
                <a:effectLst/>
                <a:latin typeface="Calibri (corps)"/>
              </a:rPr>
              <a:t>au moment de l’annonce du licenciement collectif;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b="0" i="0" dirty="0">
                <a:effectLst/>
                <a:latin typeface="Calibri (corps)"/>
              </a:rPr>
              <a:t> </a:t>
            </a:r>
            <a:r>
              <a:rPr lang="fr-BE" sz="2900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 (corps)"/>
              </a:rPr>
              <a:t>3 mois </a:t>
            </a:r>
            <a:r>
              <a:rPr lang="fr-BE" sz="2900" b="0" i="0" dirty="0">
                <a:effectLst/>
                <a:latin typeface="Calibri (corps)"/>
              </a:rPr>
              <a:t>si le travailleur licencié a </a:t>
            </a:r>
            <a:r>
              <a:rPr lang="fr-BE" sz="2900" b="1" i="0" dirty="0">
                <a:effectLst/>
                <a:latin typeface="Calibri (corps)"/>
              </a:rPr>
              <a:t>&lt; 45 ans </a:t>
            </a:r>
            <a:r>
              <a:rPr lang="fr-BE" sz="2900" b="0" i="0" dirty="0">
                <a:effectLst/>
                <a:latin typeface="Calibri (corps)"/>
              </a:rPr>
              <a:t>au moment de l’annonce du licenciement collectif.</a:t>
            </a:r>
          </a:p>
          <a:p>
            <a:pPr marL="0" indent="0" algn="l">
              <a:buNone/>
            </a:pPr>
            <a:r>
              <a:rPr lang="fr-BE" sz="3000" b="0" i="0" dirty="0">
                <a:effectLst/>
                <a:latin typeface="Calibri (corps)"/>
              </a:rPr>
              <a:t>Elle reste également due en cas d’éventuelle reprise du travail auprès d’un nouvel employeur.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6FC9B1-3355-4457-A907-64F7ED9A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67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A9B5D-1DA5-4BC8-9ABE-3DC1951C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2.5. Restructuration: allocation majorée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4D3443-B1AB-4CAF-9E75-73D25E1F5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500" b="1" dirty="0"/>
              <a:t>Pour qui ?</a:t>
            </a:r>
          </a:p>
          <a:p>
            <a:pPr marL="0" indent="0">
              <a:buNone/>
            </a:pPr>
            <a:r>
              <a:rPr lang="fr-BE" dirty="0"/>
              <a:t>Le travailleur qui répond simultanément aux conditions suivantes: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CDD ou intérim </a:t>
            </a:r>
            <a:r>
              <a:rPr lang="fr-BE" sz="3100" dirty="0"/>
              <a:t>chez l’employeur en restructuration;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100" dirty="0"/>
              <a:t>Le contrat n’est </a:t>
            </a:r>
            <a:r>
              <a:rPr lang="fr-BE" sz="3100" b="1" dirty="0"/>
              <a:t>plus prolongé </a:t>
            </a:r>
            <a:r>
              <a:rPr lang="fr-BE" sz="3100" dirty="0"/>
              <a:t>pendant la période de restructuration (= le dernier contrat prend fin pendant la restructuration);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1 an d’ancienneté </a:t>
            </a:r>
            <a:r>
              <a:rPr lang="fr-BE" sz="3100" dirty="0"/>
              <a:t>de service ininterrompu au moment de l’annonce du licenciement collectif;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100" dirty="0"/>
              <a:t>Il est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inscrit dans la CPE.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CBAF9D-F4B8-47ED-8F97-5DF70564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982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7B3C6E-917D-4BD9-A104-3F009C57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2.5. Restructuration: allocation majorée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9126EA-92B0-45FA-A416-CD11EBFE5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75615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Combien ?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BE" sz="3000" b="1" dirty="0"/>
              <a:t>Montant min: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61,37€</a:t>
            </a:r>
            <a:r>
              <a:rPr lang="fr-BE" b="1" dirty="0"/>
              <a:t> &amp; </a:t>
            </a:r>
            <a:r>
              <a:rPr lang="fr-BE" sz="3000" b="1" dirty="0"/>
              <a:t>Montant Max: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79,98€ </a:t>
            </a:r>
            <a:r>
              <a:rPr lang="fr-BE" sz="2200" dirty="0"/>
              <a:t>(barème valable au 01.01.2023)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800" dirty="0"/>
              <a:t>Octroi d’un </a:t>
            </a:r>
            <a:r>
              <a:rPr lang="fr-BE" sz="2800" b="1" dirty="0"/>
              <a:t>suffixe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r>
              <a:rPr lang="fr-BE" sz="2800" dirty="0"/>
              <a:t> avec art. d’indemnisation «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 114&amp;7 </a:t>
            </a:r>
            <a:r>
              <a:rPr lang="fr-BE" sz="2800" dirty="0"/>
              <a:t>»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9F1EB0-3934-4BC4-9525-AAB56F22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 dirty="0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1972D1C6-D901-47E6-AF8A-10D8D65E0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277705"/>
              </p:ext>
            </p:extLst>
          </p:nvPr>
        </p:nvGraphicFramePr>
        <p:xfrm>
          <a:off x="437383" y="2240280"/>
          <a:ext cx="8363272" cy="2377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54760">
                  <a:extLst>
                    <a:ext uri="{9D8B030D-6E8A-4147-A177-3AD203B41FA5}">
                      <a16:colId xmlns:a16="http://schemas.microsoft.com/office/drawing/2014/main" val="1605065486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199031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500" dirty="0"/>
                        <a:t>Age à l’annonce du licenciement collectif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500" dirty="0"/>
                        <a:t>Durée de l’avantage</a:t>
                      </a:r>
                    </a:p>
                    <a:p>
                      <a:pPr algn="ctr"/>
                      <a:r>
                        <a:rPr lang="fr-BE" sz="2500" dirty="0"/>
                        <a:t>(code A, B et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75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&lt; 45 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65%</a:t>
                      </a:r>
                      <a:r>
                        <a:rPr lang="fr-BE" sz="2200" dirty="0"/>
                        <a:t> de la rémunération journalière moyenne pendant maximum </a:t>
                      </a:r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 mois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89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≥ 45 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65%</a:t>
                      </a:r>
                      <a:r>
                        <a:rPr lang="fr-BE" sz="2200" dirty="0"/>
                        <a:t> de la rémunération journalière moyenne pendant maximum </a:t>
                      </a:r>
                      <a:r>
                        <a:rPr lang="fr-BE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 mois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61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41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2649FE-B70B-4EC0-AA35-E9FACCCEC212}"/>
              </a:ext>
            </a:extLst>
          </p:cNvPr>
          <p:cNvSpPr/>
          <p:nvPr/>
        </p:nvSpPr>
        <p:spPr>
          <a:xfrm>
            <a:off x="457200" y="4581128"/>
            <a:ext cx="8363272" cy="1592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9C8B6EF-30B7-44F3-B4D0-D8AFF3EF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2.5. Restructuration: allocation majorée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B0F080-6CE3-4BF0-8054-D533BD539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17" y="1600200"/>
            <a:ext cx="8229600" cy="475615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500" b="1" dirty="0"/>
              <a:t>Comment ?</a:t>
            </a:r>
          </a:p>
          <a:p>
            <a:pPr marL="0" indent="0">
              <a:buNone/>
            </a:pPr>
            <a:r>
              <a:rPr lang="fr-BE" dirty="0"/>
              <a:t>Introduction d’une demande au BC avec: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Attestation d’inscription </a:t>
            </a:r>
            <a:r>
              <a:rPr lang="fr-BE" dirty="0"/>
              <a:t>à la CPE;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C109</a:t>
            </a:r>
            <a:r>
              <a:rPr lang="fr-BE" dirty="0"/>
              <a:t> spécifiant la demande de l’allocation majorée;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 </a:t>
            </a:r>
            <a:r>
              <a:rPr lang="fr-BE" b="1" dirty="0"/>
              <a:t>Eventuellement</a:t>
            </a:r>
            <a:r>
              <a:rPr lang="fr-BE" dirty="0"/>
              <a:t> copie du CDD.</a:t>
            </a:r>
          </a:p>
          <a:p>
            <a:pPr marL="0" indent="0">
              <a:buNone/>
            </a:pPr>
            <a:endParaRPr lang="fr-BE" sz="3000" i="1" dirty="0"/>
          </a:p>
          <a:p>
            <a:pPr marL="0" indent="0">
              <a:buNone/>
            </a:pPr>
            <a:r>
              <a:rPr lang="fr-BE" sz="3000" b="1" i="1" u="sng" dirty="0"/>
              <a:t>Remarque</a:t>
            </a:r>
            <a:r>
              <a:rPr lang="fr-BE" sz="3000" i="1" dirty="0"/>
              <a:t>: la demande peut se faire </a:t>
            </a:r>
            <a:r>
              <a:rPr lang="fr-BE" sz="3000" b="1" i="1" dirty="0">
                <a:solidFill>
                  <a:schemeClr val="accent2">
                    <a:lumMod val="75000"/>
                  </a:schemeClr>
                </a:solidFill>
              </a:rPr>
              <a:t>après l’envoi de la DA en CC</a:t>
            </a:r>
            <a:r>
              <a:rPr lang="fr-BE" sz="3000" i="1" dirty="0"/>
              <a:t> (vu le laps de temps qu’il peut y avoir entre la non prolongation du dernier contrat et la création de la CPE)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694DF1-A9C7-446D-9437-8B2A272E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820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EAF1FF-2D5C-4AA2-9891-BAA6BCBE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945282-9CB5-4308-891F-190D074292E4}"/>
              </a:ext>
            </a:extLst>
          </p:cNvPr>
          <p:cNvSpPr txBox="1"/>
          <p:nvPr/>
        </p:nvSpPr>
        <p:spPr>
          <a:xfrm>
            <a:off x="2913406" y="260648"/>
            <a:ext cx="3098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000" b="1" dirty="0"/>
              <a:t>Annonce licenciement collectif après le 06/04/09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FCF1EF-0ACB-43EF-8C9B-3726C6C7586F}"/>
              </a:ext>
            </a:extLst>
          </p:cNvPr>
          <p:cNvSpPr txBox="1"/>
          <p:nvPr/>
        </p:nvSpPr>
        <p:spPr>
          <a:xfrm>
            <a:off x="7380312" y="332656"/>
            <a:ext cx="1306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Excepté: </a:t>
            </a:r>
          </a:p>
          <a:p>
            <a:pPr algn="ctr"/>
            <a:r>
              <a:rPr lang="fr-BE" dirty="0"/>
              <a:t>CP 328</a:t>
            </a:r>
          </a:p>
          <a:p>
            <a:pPr algn="ctr"/>
            <a:r>
              <a:rPr lang="fr-BE" dirty="0"/>
              <a:t>CP 225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ADB185-1E91-4A60-BCE5-4308D594385F}"/>
              </a:ext>
            </a:extLst>
          </p:cNvPr>
          <p:cNvSpPr txBox="1"/>
          <p:nvPr/>
        </p:nvSpPr>
        <p:spPr>
          <a:xfrm>
            <a:off x="878098" y="1419133"/>
            <a:ext cx="20353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≤ </a:t>
            </a:r>
            <a:r>
              <a:rPr lang="fr-BE" sz="2000" dirty="0"/>
              <a:t>20 travailleurs </a:t>
            </a:r>
            <a:r>
              <a:rPr lang="fr-BE" sz="2000" b="1" u="sng" dirty="0">
                <a:solidFill>
                  <a:schemeClr val="accent2">
                    <a:lumMod val="75000"/>
                  </a:schemeClr>
                </a:solidFill>
              </a:rPr>
              <a:t>sans</a:t>
            </a:r>
            <a:r>
              <a:rPr lang="fr-BE" sz="2000" dirty="0"/>
              <a:t> abaissement âge pour RCC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55ECC4C-A5AA-4146-8F7F-88444D99DFA0}"/>
              </a:ext>
            </a:extLst>
          </p:cNvPr>
          <p:cNvSpPr txBox="1"/>
          <p:nvPr/>
        </p:nvSpPr>
        <p:spPr>
          <a:xfrm>
            <a:off x="3712665" y="1413126"/>
            <a:ext cx="20353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≤</a:t>
            </a:r>
            <a:r>
              <a:rPr lang="fr-BE" sz="2000" dirty="0"/>
              <a:t> 20 travailleurs </a:t>
            </a:r>
            <a:r>
              <a:rPr lang="fr-BE" sz="2000" b="1" u="sng" dirty="0">
                <a:solidFill>
                  <a:schemeClr val="accent2">
                    <a:lumMod val="75000"/>
                  </a:schemeClr>
                </a:solidFill>
              </a:rPr>
              <a:t>avec</a:t>
            </a:r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2000" dirty="0"/>
              <a:t>abaissement âge pour RCC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559EF7E-1348-4A5A-AB9F-55F331A4E82C}"/>
              </a:ext>
            </a:extLst>
          </p:cNvPr>
          <p:cNvSpPr txBox="1"/>
          <p:nvPr/>
        </p:nvSpPr>
        <p:spPr>
          <a:xfrm>
            <a:off x="6547233" y="1412776"/>
            <a:ext cx="1872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&gt;</a:t>
            </a:r>
            <a:r>
              <a:rPr lang="fr-BE" sz="2000" dirty="0"/>
              <a:t> 20 travailleurs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108D48E-71B4-412E-BE14-0BDFE43035D0}"/>
              </a:ext>
            </a:extLst>
          </p:cNvPr>
          <p:cNvSpPr txBox="1"/>
          <p:nvPr/>
        </p:nvSpPr>
        <p:spPr>
          <a:xfrm>
            <a:off x="213585" y="3075057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/>
              <a:t>Employeur décide de ne pas créer de CPE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66AFB2B-FA44-4135-8053-BA60C582C956}"/>
              </a:ext>
            </a:extLst>
          </p:cNvPr>
          <p:cNvSpPr txBox="1"/>
          <p:nvPr/>
        </p:nvSpPr>
        <p:spPr>
          <a:xfrm>
            <a:off x="3443716" y="3075057"/>
            <a:ext cx="2304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/>
              <a:t>Employeur décide de créer une CPE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C52BF9A-F5C5-4BB7-B5DA-4D270A9BA51F}"/>
              </a:ext>
            </a:extLst>
          </p:cNvPr>
          <p:cNvSpPr txBox="1"/>
          <p:nvPr/>
        </p:nvSpPr>
        <p:spPr>
          <a:xfrm>
            <a:off x="7097452" y="3075057"/>
            <a:ext cx="1872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/>
              <a:t>CPE </a:t>
            </a:r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obligatoire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F6F067C-B394-4FA1-A6C4-9283BFE2B475}"/>
              </a:ext>
            </a:extLst>
          </p:cNvPr>
          <p:cNvSpPr txBox="1"/>
          <p:nvPr/>
        </p:nvSpPr>
        <p:spPr>
          <a:xfrm>
            <a:off x="251520" y="4581128"/>
            <a:ext cx="2661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/>
              <a:t>Outplacement individuel </a:t>
            </a:r>
            <a:r>
              <a:rPr lang="fr-BE" sz="2000" dirty="0"/>
              <a:t>si </a:t>
            </a:r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≥ 45 </a:t>
            </a:r>
            <a:r>
              <a:rPr lang="fr-BE" sz="2000" b="1" dirty="0"/>
              <a:t>ans</a:t>
            </a:r>
            <a:r>
              <a:rPr lang="fr-BE" sz="2000" dirty="0"/>
              <a:t> </a:t>
            </a:r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et ≥ 1 an </a:t>
            </a:r>
            <a:r>
              <a:rPr lang="fr-BE" sz="2000" b="1" dirty="0"/>
              <a:t>d’ancienneté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3C66B50-A5CF-473D-88AD-FA8F66A32F04}"/>
              </a:ext>
            </a:extLst>
          </p:cNvPr>
          <p:cNvSpPr txBox="1"/>
          <p:nvPr/>
        </p:nvSpPr>
        <p:spPr>
          <a:xfrm>
            <a:off x="4139952" y="4368295"/>
            <a:ext cx="28803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/>
              <a:t>L’employeur </a:t>
            </a:r>
            <a:r>
              <a:rPr lang="fr-BE" sz="2000" b="1" dirty="0"/>
              <a:t>doit</a:t>
            </a:r>
            <a:r>
              <a:rPr lang="fr-BE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2000" dirty="0"/>
              <a:t>Garantir un outplacement à tous les travailleurs inscrits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2000" dirty="0"/>
              <a:t>Payer une indemnité de reclassement à tous les travailleurs inscrits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4830E-C523-4431-A7C2-3F703B9D952E}"/>
              </a:ext>
            </a:extLst>
          </p:cNvPr>
          <p:cNvSpPr/>
          <p:nvPr/>
        </p:nvSpPr>
        <p:spPr>
          <a:xfrm>
            <a:off x="2913405" y="260648"/>
            <a:ext cx="3170763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398DCC-005B-443E-9C1E-00B29566E5DD}"/>
              </a:ext>
            </a:extLst>
          </p:cNvPr>
          <p:cNvSpPr/>
          <p:nvPr/>
        </p:nvSpPr>
        <p:spPr>
          <a:xfrm>
            <a:off x="7596336" y="260648"/>
            <a:ext cx="1008112" cy="9953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27ED7-DB66-409B-A92D-88ED8AF8905D}"/>
              </a:ext>
            </a:extLst>
          </p:cNvPr>
          <p:cNvSpPr/>
          <p:nvPr/>
        </p:nvSpPr>
        <p:spPr>
          <a:xfrm>
            <a:off x="878098" y="1412776"/>
            <a:ext cx="2035306" cy="10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4E4F8C-0E88-4793-B3F8-A9EA861D0E34}"/>
              </a:ext>
            </a:extLst>
          </p:cNvPr>
          <p:cNvSpPr/>
          <p:nvPr/>
        </p:nvSpPr>
        <p:spPr>
          <a:xfrm>
            <a:off x="3712664" y="1412776"/>
            <a:ext cx="2035306" cy="10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FC0025-37F3-4847-BF92-BF556C4CC313}"/>
              </a:ext>
            </a:extLst>
          </p:cNvPr>
          <p:cNvSpPr/>
          <p:nvPr/>
        </p:nvSpPr>
        <p:spPr>
          <a:xfrm>
            <a:off x="6547229" y="1412776"/>
            <a:ext cx="2035306" cy="648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738285-2C07-48E9-9074-F6E49FC1364D}"/>
              </a:ext>
            </a:extLst>
          </p:cNvPr>
          <p:cNvSpPr/>
          <p:nvPr/>
        </p:nvSpPr>
        <p:spPr>
          <a:xfrm>
            <a:off x="251520" y="3075057"/>
            <a:ext cx="237626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1F5167-410F-4FEA-8179-5D0F2DE466F7}"/>
              </a:ext>
            </a:extLst>
          </p:cNvPr>
          <p:cNvSpPr/>
          <p:nvPr/>
        </p:nvSpPr>
        <p:spPr>
          <a:xfrm>
            <a:off x="3405781" y="3075057"/>
            <a:ext cx="230425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66C759-AFBB-4641-ADBF-C97CF2AF08F8}"/>
              </a:ext>
            </a:extLst>
          </p:cNvPr>
          <p:cNvSpPr/>
          <p:nvPr/>
        </p:nvSpPr>
        <p:spPr>
          <a:xfrm>
            <a:off x="7097452" y="3014141"/>
            <a:ext cx="1832963" cy="6480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C47313-42B7-488A-8BC5-E856E61376B9}"/>
              </a:ext>
            </a:extLst>
          </p:cNvPr>
          <p:cNvSpPr/>
          <p:nvPr/>
        </p:nvSpPr>
        <p:spPr>
          <a:xfrm>
            <a:off x="251519" y="4577950"/>
            <a:ext cx="2701129" cy="10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D0D358-DFB5-4B66-B39E-3CA422B18A0F}"/>
              </a:ext>
            </a:extLst>
          </p:cNvPr>
          <p:cNvSpPr/>
          <p:nvPr/>
        </p:nvSpPr>
        <p:spPr>
          <a:xfrm>
            <a:off x="4139951" y="4368295"/>
            <a:ext cx="2957501" cy="23531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3E343AF5-72E5-44AF-8657-35A43E946942}"/>
              </a:ext>
            </a:extLst>
          </p:cNvPr>
          <p:cNvCxnSpPr>
            <a:stCxn id="17" idx="2"/>
          </p:cNvCxnSpPr>
          <p:nvPr/>
        </p:nvCxnSpPr>
        <p:spPr>
          <a:xfrm>
            <a:off x="4498787" y="968534"/>
            <a:ext cx="1205" cy="444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FB596F17-5DD4-4318-A4B3-E82E76E6F265}"/>
              </a:ext>
            </a:extLst>
          </p:cNvPr>
          <p:cNvCxnSpPr>
            <a:cxnSpLocks/>
          </p:cNvCxnSpPr>
          <p:nvPr/>
        </p:nvCxnSpPr>
        <p:spPr>
          <a:xfrm>
            <a:off x="1811118" y="1111970"/>
            <a:ext cx="5569194" cy="127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8DF31019-B9C7-4582-8E84-1B98811AB2C3}"/>
              </a:ext>
            </a:extLst>
          </p:cNvPr>
          <p:cNvCxnSpPr/>
          <p:nvPr/>
        </p:nvCxnSpPr>
        <p:spPr>
          <a:xfrm>
            <a:off x="1811118" y="1111970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0A9D7B3-75C3-4643-9C71-03DE43AEA932}"/>
              </a:ext>
            </a:extLst>
          </p:cNvPr>
          <p:cNvCxnSpPr/>
          <p:nvPr/>
        </p:nvCxnSpPr>
        <p:spPr>
          <a:xfrm>
            <a:off x="7380312" y="1124744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7C1EC569-0943-4410-88AB-C96BF8660100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895751" y="2434796"/>
            <a:ext cx="0" cy="2538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DB7FD69B-F143-42DF-8402-82AF314D4BC8}"/>
              </a:ext>
            </a:extLst>
          </p:cNvPr>
          <p:cNvCxnSpPr>
            <a:cxnSpLocks/>
          </p:cNvCxnSpPr>
          <p:nvPr/>
        </p:nvCxnSpPr>
        <p:spPr>
          <a:xfrm>
            <a:off x="1403648" y="2708920"/>
            <a:ext cx="3154238" cy="202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C0157E85-6E1E-46F0-9C45-8DA70EB7E124}"/>
              </a:ext>
            </a:extLst>
          </p:cNvPr>
          <p:cNvCxnSpPr/>
          <p:nvPr/>
        </p:nvCxnSpPr>
        <p:spPr>
          <a:xfrm>
            <a:off x="1403648" y="2729185"/>
            <a:ext cx="0" cy="30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7E7D0A72-AAD7-4A95-BAB3-1E3F3EA0A1BD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4557909" y="2743200"/>
            <a:ext cx="23" cy="331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8F75DE6C-C775-438B-9E0A-C6761C8175C2}"/>
              </a:ext>
            </a:extLst>
          </p:cNvPr>
          <p:cNvCxnSpPr>
            <a:cxnSpLocks/>
          </p:cNvCxnSpPr>
          <p:nvPr/>
        </p:nvCxnSpPr>
        <p:spPr>
          <a:xfrm>
            <a:off x="7596118" y="2045032"/>
            <a:ext cx="218" cy="836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16EFB8D6-2780-442C-97A6-98BDB6732720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4730317" y="2434796"/>
            <a:ext cx="15616" cy="311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9BD68A55-6363-4DE2-94E6-7A25C9EB9F0D}"/>
              </a:ext>
            </a:extLst>
          </p:cNvPr>
          <p:cNvCxnSpPr>
            <a:cxnSpLocks/>
          </p:cNvCxnSpPr>
          <p:nvPr/>
        </p:nvCxnSpPr>
        <p:spPr>
          <a:xfrm>
            <a:off x="4745933" y="2743200"/>
            <a:ext cx="2794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F31E38F1-2759-4A82-B667-AA4B233C99C1}"/>
              </a:ext>
            </a:extLst>
          </p:cNvPr>
          <p:cNvCxnSpPr>
            <a:stCxn id="22" idx="2"/>
          </p:cNvCxnSpPr>
          <p:nvPr/>
        </p:nvCxnSpPr>
        <p:spPr>
          <a:xfrm>
            <a:off x="1439652" y="3782943"/>
            <a:ext cx="0" cy="798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D59CF353-8013-488E-98D2-D17D020C9558}"/>
              </a:ext>
            </a:extLst>
          </p:cNvPr>
          <p:cNvCxnSpPr/>
          <p:nvPr/>
        </p:nvCxnSpPr>
        <p:spPr>
          <a:xfrm>
            <a:off x="3443716" y="3782943"/>
            <a:ext cx="0" cy="1014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47898490-EB0B-4638-A3D6-A199B745FD4D}"/>
              </a:ext>
            </a:extLst>
          </p:cNvPr>
          <p:cNvCxnSpPr/>
          <p:nvPr/>
        </p:nvCxnSpPr>
        <p:spPr>
          <a:xfrm>
            <a:off x="3443716" y="4797152"/>
            <a:ext cx="55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596CB55E-B692-4F94-9F67-4483492A0FE0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8013934" y="3662213"/>
            <a:ext cx="0" cy="1092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28EEA5F5-EA7F-4006-9F11-4E4E9DE67192}"/>
              </a:ext>
            </a:extLst>
          </p:cNvPr>
          <p:cNvCxnSpPr/>
          <p:nvPr/>
        </p:nvCxnSpPr>
        <p:spPr>
          <a:xfrm flipH="1">
            <a:off x="7135387" y="4754985"/>
            <a:ext cx="898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473EA650-973D-49DB-95F8-C1DFAD986FF0}"/>
              </a:ext>
            </a:extLst>
          </p:cNvPr>
          <p:cNvCxnSpPr>
            <a:stCxn id="17" idx="3"/>
          </p:cNvCxnSpPr>
          <p:nvPr/>
        </p:nvCxnSpPr>
        <p:spPr>
          <a:xfrm>
            <a:off x="6084168" y="614591"/>
            <a:ext cx="1399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4044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D8E2B8-9B56-467A-97E2-3B5D9E2304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3749D9-5560-4EEF-B091-F421CC6BE6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03B6E0-007E-45DA-862B-803EF1390064}">
  <ds:schemaRefs>
    <ds:schemaRef ds:uri="http://purl.org/dc/terms/"/>
    <ds:schemaRef ds:uri="7d2a3af0-b854-4018-b3fb-98bf2b75e19a"/>
    <ds:schemaRef ds:uri="http://schemas.microsoft.com/office/2006/documentManagement/types"/>
    <ds:schemaRef ds:uri="1e832426-6819-49af-b751-404cdfce1567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bdec1399-7c99-4025-bfb6-e1e799e6630a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19289</TotalTime>
  <Words>2249</Words>
  <Application>Microsoft Office PowerPoint</Application>
  <PresentationFormat>Affichage à l'écran (4:3)</PresentationFormat>
  <Paragraphs>294</Paragraphs>
  <Slides>32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(corps)</vt:lpstr>
      <vt:lpstr>Comic Sans MS</vt:lpstr>
      <vt:lpstr>Courier New</vt:lpstr>
      <vt:lpstr>Symbol</vt:lpstr>
      <vt:lpstr>Times New Roman</vt:lpstr>
      <vt:lpstr>Wingdings</vt:lpstr>
      <vt:lpstr>Thème Office</vt:lpstr>
      <vt:lpstr>Présentation PowerPoint</vt:lpstr>
      <vt:lpstr>Table des matières</vt:lpstr>
      <vt:lpstr>Introduction</vt:lpstr>
      <vt:lpstr> </vt:lpstr>
      <vt:lpstr>1.1. Licenciement individuel: définition</vt:lpstr>
      <vt:lpstr>1.2. Licenciement individuel: régime général</vt:lpstr>
      <vt:lpstr>1.2. Licenciement individuel: régime général</vt:lpstr>
      <vt:lpstr>1.3. Licenciement individuel: CCT 82</vt:lpstr>
      <vt:lpstr>1.3. Licenciement individuel: CCT 82</vt:lpstr>
      <vt:lpstr>1.3. Licenciement individuel: CCT 82</vt:lpstr>
      <vt:lpstr>1.3. Licenciement individuel: CCT 82</vt:lpstr>
      <vt:lpstr>1.3. Licenciement individuel: CCT 82</vt:lpstr>
      <vt:lpstr>1.3. Licenciement individuel: CCT 82</vt:lpstr>
      <vt:lpstr>1.3. Licenciement individuel: CCT 82</vt:lpstr>
      <vt:lpstr>1.3. Licenciement individuel: CCT 82</vt:lpstr>
      <vt:lpstr>1.4. Licenciement individuel: Force majeure médicale</vt:lpstr>
      <vt:lpstr>1.4. Licenciement individuel: Force majeure médicale</vt:lpstr>
      <vt:lpstr> </vt:lpstr>
      <vt:lpstr>2.1. Restructuration – licenciement collectif</vt:lpstr>
      <vt:lpstr>2.2. Restructuration – la CPE</vt:lpstr>
      <vt:lpstr>2.2. Restructuration – la CPE</vt:lpstr>
      <vt:lpstr>2.2. Restructuration – la CPE</vt:lpstr>
      <vt:lpstr>2.2. Restructuration – la CPE</vt:lpstr>
      <vt:lpstr>2.3. Restructuration – Inscription à la CPE</vt:lpstr>
      <vt:lpstr>2.3. Restructuration – Inscription à la CPE</vt:lpstr>
      <vt:lpstr>2.3. Restructuration – Inscription à la CPE</vt:lpstr>
      <vt:lpstr>2.4. Restructuration: Indemnité de reclassement</vt:lpstr>
      <vt:lpstr>2.4. Restructuration: Indemnité de reclassement</vt:lpstr>
      <vt:lpstr>2.5. Restructuration: allocation majorée</vt:lpstr>
      <vt:lpstr>2.5. Restructuration: allocation majorée</vt:lpstr>
      <vt:lpstr>2.5. Restructuration: allocation majorée</vt:lpstr>
      <vt:lpstr>Présentation PowerPoint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FCS-M08-Outplacement-FLT</dc:title>
  <dc:creator>u99lge</dc:creator>
  <cp:lastModifiedBy>Anja Sobkowiak</cp:lastModifiedBy>
  <cp:revision>1065</cp:revision>
  <cp:lastPrinted>2020-02-10T10:15:36Z</cp:lastPrinted>
  <dcterms:created xsi:type="dcterms:W3CDTF">2010-09-22T12:12:06Z</dcterms:created>
  <dcterms:modified xsi:type="dcterms:W3CDTF">2023-06-10T08:55:38Z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139;#FCS formation senior|7e1aeef4-3046-4f78-a284-cec5c2bef1bf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72;#Outplacement ＆ Cellule pour l'emploi|e0e32c8d-4370-4750-9cf3-8b3f9fe2fad0</vt:lpwstr>
  </property>
  <property fmtid="{D5CDD505-2E9C-101B-9397-08002B2CF9AE}" pid="8" name="Order">
    <vt:r8>47500</vt:r8>
  </property>
  <property fmtid="{D5CDD505-2E9C-101B-9397-08002B2CF9AE}" pid="9" name="_dlc_DocIdItemGuid">
    <vt:lpwstr>5600e391-ff72-4b4f-8f50-e73aa556729a</vt:lpwstr>
  </property>
</Properties>
</file>